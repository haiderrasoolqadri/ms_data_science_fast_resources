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6" r:id="rId12"/>
    <p:sldId id="277" r:id="rId13"/>
    <p:sldId id="281" r:id="rId14"/>
    <p:sldId id="278" r:id="rId15"/>
    <p:sldId id="279" r:id="rId16"/>
    <p:sldId id="280" r:id="rId17"/>
    <p:sldId id="267" r:id="rId18"/>
    <p:sldId id="282" r:id="rId19"/>
    <p:sldId id="283" r:id="rId20"/>
    <p:sldId id="268" r:id="rId21"/>
    <p:sldId id="269" r:id="rId22"/>
    <p:sldId id="270" r:id="rId23"/>
    <p:sldId id="271" r:id="rId24"/>
    <p:sldId id="272" r:id="rId25"/>
    <p:sldId id="273" r:id="rId26"/>
    <p:sldId id="28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6482D1-C1B2-45D4-A896-6E31B0FCC09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B4FCACB-9696-4458-B0CD-6BA6A4E549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MAS = agents that collaborate and coordinate.</a:t>
          </a:r>
        </a:p>
      </dgm:t>
    </dgm:pt>
    <dgm:pt modelId="{6646462E-807D-4C8C-A33F-1EC193A6E8CC}" type="parTrans" cxnId="{84863E62-7FDC-48C2-BCC0-E69CBB36F5CF}">
      <dgm:prSet/>
      <dgm:spPr/>
      <dgm:t>
        <a:bodyPr/>
        <a:lstStyle/>
        <a:p>
          <a:endParaRPr lang="en-US"/>
        </a:p>
      </dgm:t>
    </dgm:pt>
    <dgm:pt modelId="{37BC9D75-7F9F-41E2-AB6E-D72D3B5FA7BD}" type="sibTrans" cxnId="{84863E62-7FDC-48C2-BCC0-E69CBB36F5CF}">
      <dgm:prSet/>
      <dgm:spPr/>
      <dgm:t>
        <a:bodyPr/>
        <a:lstStyle/>
        <a:p>
          <a:endParaRPr lang="en-US"/>
        </a:p>
      </dgm:t>
    </dgm:pt>
    <dgm:pt modelId="{4B1DB587-DA19-4219-8DFD-2ED8CB2283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 learned about CrewAI, and LangGraph all work within one process.</a:t>
          </a:r>
        </a:p>
      </dgm:t>
    </dgm:pt>
    <dgm:pt modelId="{D325A3D7-9804-44DE-9C02-D51E96E74A6F}" type="parTrans" cxnId="{DAF098D7-E241-49F9-BFFB-C0C83243ECDC}">
      <dgm:prSet/>
      <dgm:spPr/>
      <dgm:t>
        <a:bodyPr/>
        <a:lstStyle/>
        <a:p>
          <a:endParaRPr lang="en-US"/>
        </a:p>
      </dgm:t>
    </dgm:pt>
    <dgm:pt modelId="{60A1AF9B-C0E0-422E-AC99-96575DEE6B68}" type="sibTrans" cxnId="{DAF098D7-E241-49F9-BFFB-C0C83243ECDC}">
      <dgm:prSet/>
      <dgm:spPr/>
      <dgm:t>
        <a:bodyPr/>
        <a:lstStyle/>
        <a:p>
          <a:endParaRPr lang="en-US"/>
        </a:p>
      </dgm:t>
    </dgm:pt>
    <dgm:pt modelId="{36ACA517-654E-4D36-9370-383818394F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Agents exchange data through shared state graphs or orchestrators.</a:t>
          </a:r>
        </a:p>
      </dgm:t>
    </dgm:pt>
    <dgm:pt modelId="{B9BA79A1-6E52-4736-827D-35937FBC9445}" type="parTrans" cxnId="{C1E95745-37F6-43FB-93E3-F79C2D205F54}">
      <dgm:prSet/>
      <dgm:spPr/>
      <dgm:t>
        <a:bodyPr/>
        <a:lstStyle/>
        <a:p>
          <a:endParaRPr lang="en-US"/>
        </a:p>
      </dgm:t>
    </dgm:pt>
    <dgm:pt modelId="{69D4B848-38F9-4E87-B9A7-5B8491085838}" type="sibTrans" cxnId="{C1E95745-37F6-43FB-93E3-F79C2D205F54}">
      <dgm:prSet/>
      <dgm:spPr/>
      <dgm:t>
        <a:bodyPr/>
        <a:lstStyle/>
        <a:p>
          <a:endParaRPr lang="en-US"/>
        </a:p>
      </dgm:t>
    </dgm:pt>
    <dgm:pt modelId="{A2D0360F-BC43-4EB3-8778-F5B7759EFB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Great for simulation, not ideal for large-scale or distributed environments.</a:t>
          </a:r>
        </a:p>
      </dgm:t>
    </dgm:pt>
    <dgm:pt modelId="{64F1A2A7-C958-4C52-B4AC-49D19525086B}" type="parTrans" cxnId="{F5675F57-880C-4305-A7B7-F9BB0853F581}">
      <dgm:prSet/>
      <dgm:spPr/>
      <dgm:t>
        <a:bodyPr/>
        <a:lstStyle/>
        <a:p>
          <a:endParaRPr lang="en-US"/>
        </a:p>
      </dgm:t>
    </dgm:pt>
    <dgm:pt modelId="{D0A0331E-005A-4667-9C13-04F7CA69AAC4}" type="sibTrans" cxnId="{F5675F57-880C-4305-A7B7-F9BB0853F581}">
      <dgm:prSet/>
      <dgm:spPr/>
      <dgm:t>
        <a:bodyPr/>
        <a:lstStyle/>
        <a:p>
          <a:endParaRPr lang="en-US"/>
        </a:p>
      </dgm:t>
    </dgm:pt>
    <dgm:pt modelId="{DF6F541C-8607-4F7E-B4E2-057B70CE353D}" type="pres">
      <dgm:prSet presAssocID="{D76482D1-C1B2-45D4-A896-6E31B0FCC09F}" presName="root" presStyleCnt="0">
        <dgm:presLayoutVars>
          <dgm:dir/>
          <dgm:resizeHandles val="exact"/>
        </dgm:presLayoutVars>
      </dgm:prSet>
      <dgm:spPr/>
    </dgm:pt>
    <dgm:pt modelId="{E5DFBF41-9E30-44C1-968A-5E65FF492F60}" type="pres">
      <dgm:prSet presAssocID="{9B4FCACB-9696-4458-B0CD-6BA6A4E549B5}" presName="compNode" presStyleCnt="0"/>
      <dgm:spPr/>
    </dgm:pt>
    <dgm:pt modelId="{6C6DDDD9-27FE-43A7-8F70-71A842A8A9F6}" type="pres">
      <dgm:prSet presAssocID="{9B4FCACB-9696-4458-B0CD-6BA6A4E549B5}" presName="bgRect" presStyleLbl="bgShp" presStyleIdx="0" presStyleCnt="4"/>
      <dgm:spPr/>
    </dgm:pt>
    <dgm:pt modelId="{F52E61C9-DCC2-46FA-A27D-4CF40203D400}" type="pres">
      <dgm:prSet presAssocID="{9B4FCACB-9696-4458-B0CD-6BA6A4E549B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7F25797A-8DF4-4F5B-B83C-F1AB3BF10982}" type="pres">
      <dgm:prSet presAssocID="{9B4FCACB-9696-4458-B0CD-6BA6A4E549B5}" presName="spaceRect" presStyleCnt="0"/>
      <dgm:spPr/>
    </dgm:pt>
    <dgm:pt modelId="{C70B3B75-1A28-4081-B33E-C8AD5D36F38E}" type="pres">
      <dgm:prSet presAssocID="{9B4FCACB-9696-4458-B0CD-6BA6A4E549B5}" presName="parTx" presStyleLbl="revTx" presStyleIdx="0" presStyleCnt="4">
        <dgm:presLayoutVars>
          <dgm:chMax val="0"/>
          <dgm:chPref val="0"/>
        </dgm:presLayoutVars>
      </dgm:prSet>
      <dgm:spPr/>
    </dgm:pt>
    <dgm:pt modelId="{1EA6C26C-5633-4907-AEAD-99779CDA8D16}" type="pres">
      <dgm:prSet presAssocID="{37BC9D75-7F9F-41E2-AB6E-D72D3B5FA7BD}" presName="sibTrans" presStyleCnt="0"/>
      <dgm:spPr/>
    </dgm:pt>
    <dgm:pt modelId="{D94A1AD9-C4CB-4EEF-A1F1-A65578BBB489}" type="pres">
      <dgm:prSet presAssocID="{4B1DB587-DA19-4219-8DFD-2ED8CB22837B}" presName="compNode" presStyleCnt="0"/>
      <dgm:spPr/>
    </dgm:pt>
    <dgm:pt modelId="{A5DED66E-236E-4765-9AB3-BC3ADB47A2C3}" type="pres">
      <dgm:prSet presAssocID="{4B1DB587-DA19-4219-8DFD-2ED8CB22837B}" presName="bgRect" presStyleLbl="bgShp" presStyleIdx="1" presStyleCnt="4"/>
      <dgm:spPr/>
    </dgm:pt>
    <dgm:pt modelId="{9899095E-7AF3-411F-8B3E-3948C973784A}" type="pres">
      <dgm:prSet presAssocID="{4B1DB587-DA19-4219-8DFD-2ED8CB22837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69574C3B-E6A5-41DD-BC60-D752CF751C57}" type="pres">
      <dgm:prSet presAssocID="{4B1DB587-DA19-4219-8DFD-2ED8CB22837B}" presName="spaceRect" presStyleCnt="0"/>
      <dgm:spPr/>
    </dgm:pt>
    <dgm:pt modelId="{F3DDA8CF-9BD0-4E40-9760-0F3BFF6A8D05}" type="pres">
      <dgm:prSet presAssocID="{4B1DB587-DA19-4219-8DFD-2ED8CB22837B}" presName="parTx" presStyleLbl="revTx" presStyleIdx="1" presStyleCnt="4">
        <dgm:presLayoutVars>
          <dgm:chMax val="0"/>
          <dgm:chPref val="0"/>
        </dgm:presLayoutVars>
      </dgm:prSet>
      <dgm:spPr/>
    </dgm:pt>
    <dgm:pt modelId="{A85D410A-8D14-466D-AD0A-F64F6C0A7019}" type="pres">
      <dgm:prSet presAssocID="{60A1AF9B-C0E0-422E-AC99-96575DEE6B68}" presName="sibTrans" presStyleCnt="0"/>
      <dgm:spPr/>
    </dgm:pt>
    <dgm:pt modelId="{DDAF4DEE-7080-4A1F-88AF-27F6C2937921}" type="pres">
      <dgm:prSet presAssocID="{36ACA517-654E-4D36-9370-383818394F39}" presName="compNode" presStyleCnt="0"/>
      <dgm:spPr/>
    </dgm:pt>
    <dgm:pt modelId="{378A35DC-D5A0-49A0-B28E-AC13964CF715}" type="pres">
      <dgm:prSet presAssocID="{36ACA517-654E-4D36-9370-383818394F39}" presName="bgRect" presStyleLbl="bgShp" presStyleIdx="2" presStyleCnt="4"/>
      <dgm:spPr/>
    </dgm:pt>
    <dgm:pt modelId="{02CF0D54-FB4E-44D3-AE1E-B801F094B7A0}" type="pres">
      <dgm:prSet presAssocID="{36ACA517-654E-4D36-9370-383818394F3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F9B076B-8A26-4D2B-95E4-64B19A7EEB73}" type="pres">
      <dgm:prSet presAssocID="{36ACA517-654E-4D36-9370-383818394F39}" presName="spaceRect" presStyleCnt="0"/>
      <dgm:spPr/>
    </dgm:pt>
    <dgm:pt modelId="{F9BA795A-B644-4755-968D-39D16DDBAD00}" type="pres">
      <dgm:prSet presAssocID="{36ACA517-654E-4D36-9370-383818394F39}" presName="parTx" presStyleLbl="revTx" presStyleIdx="2" presStyleCnt="4">
        <dgm:presLayoutVars>
          <dgm:chMax val="0"/>
          <dgm:chPref val="0"/>
        </dgm:presLayoutVars>
      </dgm:prSet>
      <dgm:spPr/>
    </dgm:pt>
    <dgm:pt modelId="{44DA0C4A-35C5-4572-8591-DC18185EEB46}" type="pres">
      <dgm:prSet presAssocID="{69D4B848-38F9-4E87-B9A7-5B8491085838}" presName="sibTrans" presStyleCnt="0"/>
      <dgm:spPr/>
    </dgm:pt>
    <dgm:pt modelId="{8F056CAF-7FF1-4F61-AFB7-2722EBAF511A}" type="pres">
      <dgm:prSet presAssocID="{A2D0360F-BC43-4EB3-8778-F5B7759EFB12}" presName="compNode" presStyleCnt="0"/>
      <dgm:spPr/>
    </dgm:pt>
    <dgm:pt modelId="{195F26C5-3AF2-465F-A506-CB1040AC3DF6}" type="pres">
      <dgm:prSet presAssocID="{A2D0360F-BC43-4EB3-8778-F5B7759EFB12}" presName="bgRect" presStyleLbl="bgShp" presStyleIdx="3" presStyleCnt="4"/>
      <dgm:spPr/>
    </dgm:pt>
    <dgm:pt modelId="{1085C435-3609-4622-944E-A007EC89D478}" type="pres">
      <dgm:prSet presAssocID="{A2D0360F-BC43-4EB3-8778-F5B7759EFB1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95C9E8E-9619-4776-897A-4DD638A917FB}" type="pres">
      <dgm:prSet presAssocID="{A2D0360F-BC43-4EB3-8778-F5B7759EFB12}" presName="spaceRect" presStyleCnt="0"/>
      <dgm:spPr/>
    </dgm:pt>
    <dgm:pt modelId="{F72E01BA-A6AF-4A93-AAEF-11AD751D6D93}" type="pres">
      <dgm:prSet presAssocID="{A2D0360F-BC43-4EB3-8778-F5B7759EFB1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26A7719-F3E8-4DC0-8452-38AD8AB9608D}" type="presOf" srcId="{D76482D1-C1B2-45D4-A896-6E31B0FCC09F}" destId="{DF6F541C-8607-4F7E-B4E2-057B70CE353D}" srcOrd="0" destOrd="0" presId="urn:microsoft.com/office/officeart/2018/2/layout/IconVerticalSolidList"/>
    <dgm:cxn modelId="{84863E62-7FDC-48C2-BCC0-E69CBB36F5CF}" srcId="{D76482D1-C1B2-45D4-A896-6E31B0FCC09F}" destId="{9B4FCACB-9696-4458-B0CD-6BA6A4E549B5}" srcOrd="0" destOrd="0" parTransId="{6646462E-807D-4C8C-A33F-1EC193A6E8CC}" sibTransId="{37BC9D75-7F9F-41E2-AB6E-D72D3B5FA7BD}"/>
    <dgm:cxn modelId="{C1E95745-37F6-43FB-93E3-F79C2D205F54}" srcId="{D76482D1-C1B2-45D4-A896-6E31B0FCC09F}" destId="{36ACA517-654E-4D36-9370-383818394F39}" srcOrd="2" destOrd="0" parTransId="{B9BA79A1-6E52-4736-827D-35937FBC9445}" sibTransId="{69D4B848-38F9-4E87-B9A7-5B8491085838}"/>
    <dgm:cxn modelId="{0A993A4D-DC3E-4DD4-A427-6A2F51905B5F}" type="presOf" srcId="{9B4FCACB-9696-4458-B0CD-6BA6A4E549B5}" destId="{C70B3B75-1A28-4081-B33E-C8AD5D36F38E}" srcOrd="0" destOrd="0" presId="urn:microsoft.com/office/officeart/2018/2/layout/IconVerticalSolidList"/>
    <dgm:cxn modelId="{F5675F57-880C-4305-A7B7-F9BB0853F581}" srcId="{D76482D1-C1B2-45D4-A896-6E31B0FCC09F}" destId="{A2D0360F-BC43-4EB3-8778-F5B7759EFB12}" srcOrd="3" destOrd="0" parTransId="{64F1A2A7-C958-4C52-B4AC-49D19525086B}" sibTransId="{D0A0331E-005A-4667-9C13-04F7CA69AAC4}"/>
    <dgm:cxn modelId="{672B8058-1237-48D3-BEA8-F245D25CFAC1}" type="presOf" srcId="{A2D0360F-BC43-4EB3-8778-F5B7759EFB12}" destId="{F72E01BA-A6AF-4A93-AAEF-11AD751D6D93}" srcOrd="0" destOrd="0" presId="urn:microsoft.com/office/officeart/2018/2/layout/IconVerticalSolidList"/>
    <dgm:cxn modelId="{5F486F81-0E76-45F1-958E-DE004F24B812}" type="presOf" srcId="{36ACA517-654E-4D36-9370-383818394F39}" destId="{F9BA795A-B644-4755-968D-39D16DDBAD00}" srcOrd="0" destOrd="0" presId="urn:microsoft.com/office/officeart/2018/2/layout/IconVerticalSolidList"/>
    <dgm:cxn modelId="{9EC6D6C3-5A11-4B0D-9C6D-EA0B3480308C}" type="presOf" srcId="{4B1DB587-DA19-4219-8DFD-2ED8CB22837B}" destId="{F3DDA8CF-9BD0-4E40-9760-0F3BFF6A8D05}" srcOrd="0" destOrd="0" presId="urn:microsoft.com/office/officeart/2018/2/layout/IconVerticalSolidList"/>
    <dgm:cxn modelId="{DAF098D7-E241-49F9-BFFB-C0C83243ECDC}" srcId="{D76482D1-C1B2-45D4-A896-6E31B0FCC09F}" destId="{4B1DB587-DA19-4219-8DFD-2ED8CB22837B}" srcOrd="1" destOrd="0" parTransId="{D325A3D7-9804-44DE-9C02-D51E96E74A6F}" sibTransId="{60A1AF9B-C0E0-422E-AC99-96575DEE6B68}"/>
    <dgm:cxn modelId="{7A34716C-3B53-45DA-A278-56AD35B93760}" type="presParOf" srcId="{DF6F541C-8607-4F7E-B4E2-057B70CE353D}" destId="{E5DFBF41-9E30-44C1-968A-5E65FF492F60}" srcOrd="0" destOrd="0" presId="urn:microsoft.com/office/officeart/2018/2/layout/IconVerticalSolidList"/>
    <dgm:cxn modelId="{7CF53526-EF00-4750-A081-9AE7827C2F34}" type="presParOf" srcId="{E5DFBF41-9E30-44C1-968A-5E65FF492F60}" destId="{6C6DDDD9-27FE-43A7-8F70-71A842A8A9F6}" srcOrd="0" destOrd="0" presId="urn:microsoft.com/office/officeart/2018/2/layout/IconVerticalSolidList"/>
    <dgm:cxn modelId="{B244BCFE-6A00-4084-8957-46BC8C8B7CFC}" type="presParOf" srcId="{E5DFBF41-9E30-44C1-968A-5E65FF492F60}" destId="{F52E61C9-DCC2-46FA-A27D-4CF40203D400}" srcOrd="1" destOrd="0" presId="urn:microsoft.com/office/officeart/2018/2/layout/IconVerticalSolidList"/>
    <dgm:cxn modelId="{F722BE2E-55F7-474E-A189-EF401AADF955}" type="presParOf" srcId="{E5DFBF41-9E30-44C1-968A-5E65FF492F60}" destId="{7F25797A-8DF4-4F5B-B83C-F1AB3BF10982}" srcOrd="2" destOrd="0" presId="urn:microsoft.com/office/officeart/2018/2/layout/IconVerticalSolidList"/>
    <dgm:cxn modelId="{D3A5D012-C2A5-4BF9-8B3E-7D9C6F616EB7}" type="presParOf" srcId="{E5DFBF41-9E30-44C1-968A-5E65FF492F60}" destId="{C70B3B75-1A28-4081-B33E-C8AD5D36F38E}" srcOrd="3" destOrd="0" presId="urn:microsoft.com/office/officeart/2018/2/layout/IconVerticalSolidList"/>
    <dgm:cxn modelId="{E72A7BE9-CDAE-4E19-A60D-ADDBF3BE59C9}" type="presParOf" srcId="{DF6F541C-8607-4F7E-B4E2-057B70CE353D}" destId="{1EA6C26C-5633-4907-AEAD-99779CDA8D16}" srcOrd="1" destOrd="0" presId="urn:microsoft.com/office/officeart/2018/2/layout/IconVerticalSolidList"/>
    <dgm:cxn modelId="{294602B6-2614-4C9B-9608-783EB83DA457}" type="presParOf" srcId="{DF6F541C-8607-4F7E-B4E2-057B70CE353D}" destId="{D94A1AD9-C4CB-4EEF-A1F1-A65578BBB489}" srcOrd="2" destOrd="0" presId="urn:microsoft.com/office/officeart/2018/2/layout/IconVerticalSolidList"/>
    <dgm:cxn modelId="{CA7DECC5-CF72-4AC6-933C-6CC2687956DF}" type="presParOf" srcId="{D94A1AD9-C4CB-4EEF-A1F1-A65578BBB489}" destId="{A5DED66E-236E-4765-9AB3-BC3ADB47A2C3}" srcOrd="0" destOrd="0" presId="urn:microsoft.com/office/officeart/2018/2/layout/IconVerticalSolidList"/>
    <dgm:cxn modelId="{5F068C93-0AA4-4CCE-B1CE-F9AB72359C10}" type="presParOf" srcId="{D94A1AD9-C4CB-4EEF-A1F1-A65578BBB489}" destId="{9899095E-7AF3-411F-8B3E-3948C973784A}" srcOrd="1" destOrd="0" presId="urn:microsoft.com/office/officeart/2018/2/layout/IconVerticalSolidList"/>
    <dgm:cxn modelId="{626DE114-44A6-4386-8700-EDB0AB5260A8}" type="presParOf" srcId="{D94A1AD9-C4CB-4EEF-A1F1-A65578BBB489}" destId="{69574C3B-E6A5-41DD-BC60-D752CF751C57}" srcOrd="2" destOrd="0" presId="urn:microsoft.com/office/officeart/2018/2/layout/IconVerticalSolidList"/>
    <dgm:cxn modelId="{040C715B-5B6E-4ED4-A3ED-C886BF6BD648}" type="presParOf" srcId="{D94A1AD9-C4CB-4EEF-A1F1-A65578BBB489}" destId="{F3DDA8CF-9BD0-4E40-9760-0F3BFF6A8D05}" srcOrd="3" destOrd="0" presId="urn:microsoft.com/office/officeart/2018/2/layout/IconVerticalSolidList"/>
    <dgm:cxn modelId="{7677A158-2FC0-48BD-8E27-9A1292293ADC}" type="presParOf" srcId="{DF6F541C-8607-4F7E-B4E2-057B70CE353D}" destId="{A85D410A-8D14-466D-AD0A-F64F6C0A7019}" srcOrd="3" destOrd="0" presId="urn:microsoft.com/office/officeart/2018/2/layout/IconVerticalSolidList"/>
    <dgm:cxn modelId="{E383105A-A163-4A86-916A-A7A48DB5CCBA}" type="presParOf" srcId="{DF6F541C-8607-4F7E-B4E2-057B70CE353D}" destId="{DDAF4DEE-7080-4A1F-88AF-27F6C2937921}" srcOrd="4" destOrd="0" presId="urn:microsoft.com/office/officeart/2018/2/layout/IconVerticalSolidList"/>
    <dgm:cxn modelId="{5E84D96E-03F7-48F8-BF04-177CB07144B8}" type="presParOf" srcId="{DDAF4DEE-7080-4A1F-88AF-27F6C2937921}" destId="{378A35DC-D5A0-49A0-B28E-AC13964CF715}" srcOrd="0" destOrd="0" presId="urn:microsoft.com/office/officeart/2018/2/layout/IconVerticalSolidList"/>
    <dgm:cxn modelId="{81642316-D0E1-4C3C-9D9B-0E7A7A8034FC}" type="presParOf" srcId="{DDAF4DEE-7080-4A1F-88AF-27F6C2937921}" destId="{02CF0D54-FB4E-44D3-AE1E-B801F094B7A0}" srcOrd="1" destOrd="0" presId="urn:microsoft.com/office/officeart/2018/2/layout/IconVerticalSolidList"/>
    <dgm:cxn modelId="{B0235FCB-7019-4E1E-A253-2B86DEEA7318}" type="presParOf" srcId="{DDAF4DEE-7080-4A1F-88AF-27F6C2937921}" destId="{CF9B076B-8A26-4D2B-95E4-64B19A7EEB73}" srcOrd="2" destOrd="0" presId="urn:microsoft.com/office/officeart/2018/2/layout/IconVerticalSolidList"/>
    <dgm:cxn modelId="{50F2D216-DDE0-4B67-904B-72E2F0A2934D}" type="presParOf" srcId="{DDAF4DEE-7080-4A1F-88AF-27F6C2937921}" destId="{F9BA795A-B644-4755-968D-39D16DDBAD00}" srcOrd="3" destOrd="0" presId="urn:microsoft.com/office/officeart/2018/2/layout/IconVerticalSolidList"/>
    <dgm:cxn modelId="{C48CC90C-0904-4E9B-84FA-AAA88B7EF00D}" type="presParOf" srcId="{DF6F541C-8607-4F7E-B4E2-057B70CE353D}" destId="{44DA0C4A-35C5-4572-8591-DC18185EEB46}" srcOrd="5" destOrd="0" presId="urn:microsoft.com/office/officeart/2018/2/layout/IconVerticalSolidList"/>
    <dgm:cxn modelId="{89DCDFBA-0003-4B3D-8692-9CC272139D0A}" type="presParOf" srcId="{DF6F541C-8607-4F7E-B4E2-057B70CE353D}" destId="{8F056CAF-7FF1-4F61-AFB7-2722EBAF511A}" srcOrd="6" destOrd="0" presId="urn:microsoft.com/office/officeart/2018/2/layout/IconVerticalSolidList"/>
    <dgm:cxn modelId="{20A96EC1-70B7-4CC9-AFE3-C10727DEB032}" type="presParOf" srcId="{8F056CAF-7FF1-4F61-AFB7-2722EBAF511A}" destId="{195F26C5-3AF2-465F-A506-CB1040AC3DF6}" srcOrd="0" destOrd="0" presId="urn:microsoft.com/office/officeart/2018/2/layout/IconVerticalSolidList"/>
    <dgm:cxn modelId="{17CCC259-325B-4FB8-8611-6DB809327D27}" type="presParOf" srcId="{8F056CAF-7FF1-4F61-AFB7-2722EBAF511A}" destId="{1085C435-3609-4622-944E-A007EC89D478}" srcOrd="1" destOrd="0" presId="urn:microsoft.com/office/officeart/2018/2/layout/IconVerticalSolidList"/>
    <dgm:cxn modelId="{18AE0BDC-869F-4EB4-8714-46AE27C06D17}" type="presParOf" srcId="{8F056CAF-7FF1-4F61-AFB7-2722EBAF511A}" destId="{895C9E8E-9619-4776-897A-4DD638A917FB}" srcOrd="2" destOrd="0" presId="urn:microsoft.com/office/officeart/2018/2/layout/IconVerticalSolidList"/>
    <dgm:cxn modelId="{4361460D-7F36-4F5E-94FF-E433496ACF3F}" type="presParOf" srcId="{8F056CAF-7FF1-4F61-AFB7-2722EBAF511A}" destId="{F72E01BA-A6AF-4A93-AAEF-11AD751D6D9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4D3E6FE-7501-4CD7-B541-E4CF13BDCB1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58BC138-397C-4D1F-AC12-AA38B3D79ED8}">
      <dgm:prSet/>
      <dgm:spPr/>
      <dgm:t>
        <a:bodyPr/>
        <a:lstStyle/>
        <a:p>
          <a:r>
            <a:rPr lang="en-US"/>
            <a:t>LabAgent uploads patient report → stores as MCP pointer.</a:t>
          </a:r>
        </a:p>
      </dgm:t>
    </dgm:pt>
    <dgm:pt modelId="{FFE8C6F6-DF9D-44C3-B51E-B4DCA408DE70}" type="parTrans" cxnId="{9FEDAC5D-AAA4-4E27-BC56-A1AA99E7F348}">
      <dgm:prSet/>
      <dgm:spPr/>
      <dgm:t>
        <a:bodyPr/>
        <a:lstStyle/>
        <a:p>
          <a:endParaRPr lang="en-US"/>
        </a:p>
      </dgm:t>
    </dgm:pt>
    <dgm:pt modelId="{48AEE3A0-6304-4798-8E82-04D91D7BC48A}" type="sibTrans" cxnId="{9FEDAC5D-AAA4-4E27-BC56-A1AA99E7F348}">
      <dgm:prSet/>
      <dgm:spPr/>
      <dgm:t>
        <a:bodyPr/>
        <a:lstStyle/>
        <a:p>
          <a:endParaRPr lang="en-US"/>
        </a:p>
      </dgm:t>
    </dgm:pt>
    <dgm:pt modelId="{51A0436C-8658-4B56-893C-A70FB33821EB}">
      <dgm:prSet/>
      <dgm:spPr/>
      <dgm:t>
        <a:bodyPr/>
        <a:lstStyle/>
        <a:p>
          <a:r>
            <a:rPr lang="en-US"/>
            <a:t>DoctorAgent requests it via A2A.MCP grants read-only access.</a:t>
          </a:r>
        </a:p>
      </dgm:t>
    </dgm:pt>
    <dgm:pt modelId="{FAA5911D-479D-46A2-99F9-99CC3F23EAF7}" type="parTrans" cxnId="{E8033A61-438F-4FD0-878C-52DBB59B2DF6}">
      <dgm:prSet/>
      <dgm:spPr/>
      <dgm:t>
        <a:bodyPr/>
        <a:lstStyle/>
        <a:p>
          <a:endParaRPr lang="en-US"/>
        </a:p>
      </dgm:t>
    </dgm:pt>
    <dgm:pt modelId="{9EAC5FD0-3478-4E74-9BB9-213742630724}" type="sibTrans" cxnId="{E8033A61-438F-4FD0-878C-52DBB59B2DF6}">
      <dgm:prSet/>
      <dgm:spPr/>
      <dgm:t>
        <a:bodyPr/>
        <a:lstStyle/>
        <a:p>
          <a:endParaRPr lang="en-US"/>
        </a:p>
      </dgm:t>
    </dgm:pt>
    <dgm:pt modelId="{8E16FE20-D5F0-4CBC-A0A2-31F01C012868}">
      <dgm:prSet/>
      <dgm:spPr/>
      <dgm:t>
        <a:bodyPr/>
        <a:lstStyle/>
        <a:p>
          <a:r>
            <a:rPr lang="en-US" dirty="0" err="1"/>
            <a:t>BillingAgent</a:t>
          </a:r>
          <a:r>
            <a:rPr lang="en-US" dirty="0"/>
            <a:t> gets anonymized summary pointer.</a:t>
          </a:r>
        </a:p>
      </dgm:t>
    </dgm:pt>
    <dgm:pt modelId="{675C0A1D-1CA8-4DF1-9E49-F283CCFCC8DA}" type="parTrans" cxnId="{0A728573-914E-4DEB-8CA2-E6CB3B0C7D44}">
      <dgm:prSet/>
      <dgm:spPr/>
      <dgm:t>
        <a:bodyPr/>
        <a:lstStyle/>
        <a:p>
          <a:endParaRPr lang="en-US"/>
        </a:p>
      </dgm:t>
    </dgm:pt>
    <dgm:pt modelId="{E03FB824-7716-4C91-AAE4-4C01C177516D}" type="sibTrans" cxnId="{0A728573-914E-4DEB-8CA2-E6CB3B0C7D44}">
      <dgm:prSet/>
      <dgm:spPr/>
      <dgm:t>
        <a:bodyPr/>
        <a:lstStyle/>
        <a:p>
          <a:endParaRPr lang="en-US"/>
        </a:p>
      </dgm:t>
    </dgm:pt>
    <dgm:pt modelId="{732CE8DB-64BD-4E6E-BEAE-C0A6CECB2858}">
      <dgm:prSet/>
      <dgm:spPr/>
      <dgm:t>
        <a:bodyPr/>
        <a:lstStyle/>
        <a:p>
          <a:r>
            <a:rPr lang="en-US"/>
            <a:t>Result: Privacy, traceability, modularity.</a:t>
          </a:r>
        </a:p>
      </dgm:t>
    </dgm:pt>
    <dgm:pt modelId="{26C24C89-9176-4010-B8AD-E2D789B1A512}" type="parTrans" cxnId="{EA5C2083-E0AC-4ED1-B851-D3A434CA9643}">
      <dgm:prSet/>
      <dgm:spPr/>
      <dgm:t>
        <a:bodyPr/>
        <a:lstStyle/>
        <a:p>
          <a:endParaRPr lang="en-US"/>
        </a:p>
      </dgm:t>
    </dgm:pt>
    <dgm:pt modelId="{10541384-C1BD-4876-A7BD-B7A54691AA75}" type="sibTrans" cxnId="{EA5C2083-E0AC-4ED1-B851-D3A434CA9643}">
      <dgm:prSet/>
      <dgm:spPr/>
      <dgm:t>
        <a:bodyPr/>
        <a:lstStyle/>
        <a:p>
          <a:endParaRPr lang="en-US"/>
        </a:p>
      </dgm:t>
    </dgm:pt>
    <dgm:pt modelId="{35C4E83E-1DD7-40EB-9E6F-8BC08C70AB55}" type="pres">
      <dgm:prSet presAssocID="{F4D3E6FE-7501-4CD7-B541-E4CF13BDCB10}" presName="linear" presStyleCnt="0">
        <dgm:presLayoutVars>
          <dgm:animLvl val="lvl"/>
          <dgm:resizeHandles val="exact"/>
        </dgm:presLayoutVars>
      </dgm:prSet>
      <dgm:spPr/>
    </dgm:pt>
    <dgm:pt modelId="{F823EFDC-E25A-4981-8DF6-A0295B875A7E}" type="pres">
      <dgm:prSet presAssocID="{958BC138-397C-4D1F-AC12-AA38B3D79ED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5907DCA-5A36-4CBB-9F22-9B293A13AB56}" type="pres">
      <dgm:prSet presAssocID="{48AEE3A0-6304-4798-8E82-04D91D7BC48A}" presName="spacer" presStyleCnt="0"/>
      <dgm:spPr/>
    </dgm:pt>
    <dgm:pt modelId="{67ED37A3-2AF1-497D-9687-63B7C6B664D7}" type="pres">
      <dgm:prSet presAssocID="{51A0436C-8658-4B56-893C-A70FB33821E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C6FCCDE-A7A7-4584-97B3-FD429D7E3D5F}" type="pres">
      <dgm:prSet presAssocID="{9EAC5FD0-3478-4E74-9BB9-213742630724}" presName="spacer" presStyleCnt="0"/>
      <dgm:spPr/>
    </dgm:pt>
    <dgm:pt modelId="{F2E650E4-6C9C-4EB5-957A-6A8E0AE51B29}" type="pres">
      <dgm:prSet presAssocID="{8E16FE20-D5F0-4CBC-A0A2-31F01C01286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6D11E82-0AD2-43DA-86EC-499D7AA553D7}" type="pres">
      <dgm:prSet presAssocID="{E03FB824-7716-4C91-AAE4-4C01C177516D}" presName="spacer" presStyleCnt="0"/>
      <dgm:spPr/>
    </dgm:pt>
    <dgm:pt modelId="{6904E11F-3CAA-4B72-AC02-DEE9706C4DBA}" type="pres">
      <dgm:prSet presAssocID="{732CE8DB-64BD-4E6E-BEAE-C0A6CECB285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FA49703-F088-4DD4-89C2-49E1BFA4DA41}" type="presOf" srcId="{732CE8DB-64BD-4E6E-BEAE-C0A6CECB2858}" destId="{6904E11F-3CAA-4B72-AC02-DEE9706C4DBA}" srcOrd="0" destOrd="0" presId="urn:microsoft.com/office/officeart/2005/8/layout/vList2"/>
    <dgm:cxn modelId="{9FEDAC5D-AAA4-4E27-BC56-A1AA99E7F348}" srcId="{F4D3E6FE-7501-4CD7-B541-E4CF13BDCB10}" destId="{958BC138-397C-4D1F-AC12-AA38B3D79ED8}" srcOrd="0" destOrd="0" parTransId="{FFE8C6F6-DF9D-44C3-B51E-B4DCA408DE70}" sibTransId="{48AEE3A0-6304-4798-8E82-04D91D7BC48A}"/>
    <dgm:cxn modelId="{E8033A61-438F-4FD0-878C-52DBB59B2DF6}" srcId="{F4D3E6FE-7501-4CD7-B541-E4CF13BDCB10}" destId="{51A0436C-8658-4B56-893C-A70FB33821EB}" srcOrd="1" destOrd="0" parTransId="{FAA5911D-479D-46A2-99F9-99CC3F23EAF7}" sibTransId="{9EAC5FD0-3478-4E74-9BB9-213742630724}"/>
    <dgm:cxn modelId="{58280746-063F-4F5C-9749-4D4D0003488C}" type="presOf" srcId="{F4D3E6FE-7501-4CD7-B541-E4CF13BDCB10}" destId="{35C4E83E-1DD7-40EB-9E6F-8BC08C70AB55}" srcOrd="0" destOrd="0" presId="urn:microsoft.com/office/officeart/2005/8/layout/vList2"/>
    <dgm:cxn modelId="{0A728573-914E-4DEB-8CA2-E6CB3B0C7D44}" srcId="{F4D3E6FE-7501-4CD7-B541-E4CF13BDCB10}" destId="{8E16FE20-D5F0-4CBC-A0A2-31F01C012868}" srcOrd="2" destOrd="0" parTransId="{675C0A1D-1CA8-4DF1-9E49-F283CCFCC8DA}" sibTransId="{E03FB824-7716-4C91-AAE4-4C01C177516D}"/>
    <dgm:cxn modelId="{EA5C2083-E0AC-4ED1-B851-D3A434CA9643}" srcId="{F4D3E6FE-7501-4CD7-B541-E4CF13BDCB10}" destId="{732CE8DB-64BD-4E6E-BEAE-C0A6CECB2858}" srcOrd="3" destOrd="0" parTransId="{26C24C89-9176-4010-B8AD-E2D789B1A512}" sibTransId="{10541384-C1BD-4876-A7BD-B7A54691AA75}"/>
    <dgm:cxn modelId="{D5BBD5D3-EB09-4399-BFC1-8F58E32A99F7}" type="presOf" srcId="{958BC138-397C-4D1F-AC12-AA38B3D79ED8}" destId="{F823EFDC-E25A-4981-8DF6-A0295B875A7E}" srcOrd="0" destOrd="0" presId="urn:microsoft.com/office/officeart/2005/8/layout/vList2"/>
    <dgm:cxn modelId="{05F5E0E5-1EC4-4A7E-84E4-64997EF3655F}" type="presOf" srcId="{51A0436C-8658-4B56-893C-A70FB33821EB}" destId="{67ED37A3-2AF1-497D-9687-63B7C6B664D7}" srcOrd="0" destOrd="0" presId="urn:microsoft.com/office/officeart/2005/8/layout/vList2"/>
    <dgm:cxn modelId="{51F112F9-81AC-4926-ABB4-8CD98A7D3A99}" type="presOf" srcId="{8E16FE20-D5F0-4CBC-A0A2-31F01C012868}" destId="{F2E650E4-6C9C-4EB5-957A-6A8E0AE51B29}" srcOrd="0" destOrd="0" presId="urn:microsoft.com/office/officeart/2005/8/layout/vList2"/>
    <dgm:cxn modelId="{BC0583CE-BFF5-4322-A55B-E9E39D3CFC8B}" type="presParOf" srcId="{35C4E83E-1DD7-40EB-9E6F-8BC08C70AB55}" destId="{F823EFDC-E25A-4981-8DF6-A0295B875A7E}" srcOrd="0" destOrd="0" presId="urn:microsoft.com/office/officeart/2005/8/layout/vList2"/>
    <dgm:cxn modelId="{59FB546C-09FA-41AA-8019-8859063C791E}" type="presParOf" srcId="{35C4E83E-1DD7-40EB-9E6F-8BC08C70AB55}" destId="{25907DCA-5A36-4CBB-9F22-9B293A13AB56}" srcOrd="1" destOrd="0" presId="urn:microsoft.com/office/officeart/2005/8/layout/vList2"/>
    <dgm:cxn modelId="{FA19E090-9D5A-446D-80FD-1A759478CE50}" type="presParOf" srcId="{35C4E83E-1DD7-40EB-9E6F-8BC08C70AB55}" destId="{67ED37A3-2AF1-497D-9687-63B7C6B664D7}" srcOrd="2" destOrd="0" presId="urn:microsoft.com/office/officeart/2005/8/layout/vList2"/>
    <dgm:cxn modelId="{41EC25ED-697D-4DC4-8FE9-E76BCCE36388}" type="presParOf" srcId="{35C4E83E-1DD7-40EB-9E6F-8BC08C70AB55}" destId="{DC6FCCDE-A7A7-4584-97B3-FD429D7E3D5F}" srcOrd="3" destOrd="0" presId="urn:microsoft.com/office/officeart/2005/8/layout/vList2"/>
    <dgm:cxn modelId="{DE44B518-DED2-4A6C-9972-122F9B73F5D8}" type="presParOf" srcId="{35C4E83E-1DD7-40EB-9E6F-8BC08C70AB55}" destId="{F2E650E4-6C9C-4EB5-957A-6A8E0AE51B29}" srcOrd="4" destOrd="0" presId="urn:microsoft.com/office/officeart/2005/8/layout/vList2"/>
    <dgm:cxn modelId="{3150E206-9EDC-4CF7-83AD-732B69516E4A}" type="presParOf" srcId="{35C4E83E-1DD7-40EB-9E6F-8BC08C70AB55}" destId="{56D11E82-0AD2-43DA-86EC-499D7AA553D7}" srcOrd="5" destOrd="0" presId="urn:microsoft.com/office/officeart/2005/8/layout/vList2"/>
    <dgm:cxn modelId="{29699850-AA2A-4E89-8877-F4E8799286F9}" type="presParOf" srcId="{35C4E83E-1DD7-40EB-9E6F-8BC08C70AB55}" destId="{6904E11F-3CAA-4B72-AC02-DEE9706C4DB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6DDDD9-27FE-43A7-8F70-71A842A8A9F6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2E61C9-DCC2-46FA-A27D-4CF40203D400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0B3B75-1A28-4081-B33E-C8AD5D36F38E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MAS = agents that collaborate and coordinate.</a:t>
          </a:r>
        </a:p>
      </dsp:txBody>
      <dsp:txXfrm>
        <a:off x="1057183" y="1805"/>
        <a:ext cx="9458416" cy="915310"/>
      </dsp:txXfrm>
    </dsp:sp>
    <dsp:sp modelId="{A5DED66E-236E-4765-9AB3-BC3ADB47A2C3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99095E-7AF3-411F-8B3E-3948C973784A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DDA8CF-9BD0-4E40-9760-0F3BFF6A8D05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We learned about CrewAI, and LangGraph all work within one process.</a:t>
          </a:r>
        </a:p>
      </dsp:txBody>
      <dsp:txXfrm>
        <a:off x="1057183" y="1145944"/>
        <a:ext cx="9458416" cy="915310"/>
      </dsp:txXfrm>
    </dsp:sp>
    <dsp:sp modelId="{378A35DC-D5A0-49A0-B28E-AC13964CF715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CF0D54-FB4E-44D3-AE1E-B801F094B7A0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BA795A-B644-4755-968D-39D16DDBAD00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Agents exchange data through shared state graphs or orchestrators.</a:t>
          </a:r>
        </a:p>
      </dsp:txBody>
      <dsp:txXfrm>
        <a:off x="1057183" y="2290082"/>
        <a:ext cx="9458416" cy="915310"/>
      </dsp:txXfrm>
    </dsp:sp>
    <dsp:sp modelId="{195F26C5-3AF2-465F-A506-CB1040AC3DF6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85C435-3609-4622-944E-A007EC89D478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2E01BA-A6AF-4A93-AAEF-11AD751D6D93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Great for simulation, not ideal for large-scale or distributed environments.</a:t>
          </a:r>
        </a:p>
      </dsp:txBody>
      <dsp:txXfrm>
        <a:off x="1057183" y="3434221"/>
        <a:ext cx="9458416" cy="915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23EFDC-E25A-4981-8DF6-A0295B875A7E}">
      <dsp:nvSpPr>
        <dsp:cNvPr id="0" name=""/>
        <dsp:cNvSpPr/>
      </dsp:nvSpPr>
      <dsp:spPr>
        <a:xfrm>
          <a:off x="0" y="54610"/>
          <a:ext cx="10378440" cy="71253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LabAgent uploads patient report → stores as MCP pointer.</a:t>
          </a:r>
        </a:p>
      </dsp:txBody>
      <dsp:txXfrm>
        <a:off x="34783" y="89393"/>
        <a:ext cx="10308874" cy="642964"/>
      </dsp:txXfrm>
    </dsp:sp>
    <dsp:sp modelId="{67ED37A3-2AF1-497D-9687-63B7C6B664D7}">
      <dsp:nvSpPr>
        <dsp:cNvPr id="0" name=""/>
        <dsp:cNvSpPr/>
      </dsp:nvSpPr>
      <dsp:spPr>
        <a:xfrm>
          <a:off x="0" y="850660"/>
          <a:ext cx="10378440" cy="712530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DoctorAgent requests it via A2A.MCP grants read-only access.</a:t>
          </a:r>
        </a:p>
      </dsp:txBody>
      <dsp:txXfrm>
        <a:off x="34783" y="885443"/>
        <a:ext cx="10308874" cy="642964"/>
      </dsp:txXfrm>
    </dsp:sp>
    <dsp:sp modelId="{F2E650E4-6C9C-4EB5-957A-6A8E0AE51B29}">
      <dsp:nvSpPr>
        <dsp:cNvPr id="0" name=""/>
        <dsp:cNvSpPr/>
      </dsp:nvSpPr>
      <dsp:spPr>
        <a:xfrm>
          <a:off x="0" y="1646711"/>
          <a:ext cx="10378440" cy="712530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 err="1"/>
            <a:t>BillingAgent</a:t>
          </a:r>
          <a:r>
            <a:rPr lang="en-US" sz="2900" kern="1200" dirty="0"/>
            <a:t> gets anonymized summary pointer.</a:t>
          </a:r>
        </a:p>
      </dsp:txBody>
      <dsp:txXfrm>
        <a:off x="34783" y="1681494"/>
        <a:ext cx="10308874" cy="642964"/>
      </dsp:txXfrm>
    </dsp:sp>
    <dsp:sp modelId="{6904E11F-3CAA-4B72-AC02-DEE9706C4DBA}">
      <dsp:nvSpPr>
        <dsp:cNvPr id="0" name=""/>
        <dsp:cNvSpPr/>
      </dsp:nvSpPr>
      <dsp:spPr>
        <a:xfrm>
          <a:off x="0" y="2442761"/>
          <a:ext cx="10378440" cy="71253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Result: Privacy, traceability, modularity.</a:t>
          </a:r>
        </a:p>
      </dsp:txBody>
      <dsp:txXfrm>
        <a:off x="34783" y="2477544"/>
        <a:ext cx="10308874" cy="6429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0ECD5-E832-A98D-54A7-F93FF9F435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9F721F-2644-8EC6-FEF3-A3DB71C849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4BD7A-5C24-3DD6-D623-ADE515BC8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CD5C-045A-45E6-AF11-08AA60D4BA0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02778-3181-91DA-3921-61E8F60AD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2F3BA-6AC2-EA90-8238-D501426BD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0A3AA-21AF-472D-9808-5D3C4C4A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864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CB16D-3F76-E203-19E7-7E6654935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B84DF-F9E8-5F53-3E6D-E42899B57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47E6F-8D58-8885-1D28-015A00FBA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CD5C-045A-45E6-AF11-08AA60D4BA0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32AA4-C677-4F9B-06B6-43E49FA90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E3F06-DACC-6E50-CAEC-6550ADE6E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0A3AA-21AF-472D-9808-5D3C4C4A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558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60EB8-1F83-6A0B-E0F7-82EFF8093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A22D2-7F59-B271-0BF2-72C64A1BA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B71AA-A017-98B6-A6A8-C3D09DBF4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CD5C-045A-45E6-AF11-08AA60D4BA0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0B6C9-D62E-764A-92DC-57C41A254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8C6C7-FDB3-376F-FAB5-565168AF6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0A3AA-21AF-472D-9808-5D3C4C4A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730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64B9A-CD44-86CD-C693-83DC85363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7ACBF-0321-F66D-2061-82864F9701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5C0EEB-14B9-EBC0-057C-1AB539FE2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5A8CFD-7646-663F-9E31-61792727F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CD5C-045A-45E6-AF11-08AA60D4BA0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9F2170-A2B7-2D80-60FC-044349D42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BE460-462A-590B-8A9D-88AB6E28C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0A3AA-21AF-472D-9808-5D3C4C4A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153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C5E75-B1F0-07AB-33E6-A5C8E783E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2388A-CDBD-7E19-6612-D4596C0A7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46A928-0908-7A9E-67EE-9ECC47CBF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1368AE-35BA-BDBD-9220-44A98029B8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31FBBD-F678-6606-C4B8-1B051D70B0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1CBC6A-556A-A99D-02A0-F86EA5C19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CD5C-045A-45E6-AF11-08AA60D4BA0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73456A-961A-C265-7B88-675DEF32D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80733-1E83-87A2-E2F3-28248EC41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0A3AA-21AF-472D-9808-5D3C4C4A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472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F8D26-F114-AA72-9791-F0BF5F7C1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49AC5-FCC6-A004-179C-82556BF0B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CD5C-045A-45E6-AF11-08AA60D4BA0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58AC74-B2AA-3531-57DE-1223F704A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1B3920-86E1-66B5-B184-56628C92B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0A3AA-21AF-472D-9808-5D3C4C4A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281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E8F1CA-2E1D-CFDA-D552-153BF80C6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CD5C-045A-45E6-AF11-08AA60D4BA0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E2F853-8D96-771A-EC00-7D70E571F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4A1EB-479C-AEC6-BBD3-1E69A785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0A3AA-21AF-472D-9808-5D3C4C4A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78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3B5DB-0032-E90F-F76A-5C7C87646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D3212-78CC-ED71-5D18-751A6D158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574DD2-63B0-097C-7201-B996506D83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C75B6-7ED8-993C-E533-CFD490C07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CD5C-045A-45E6-AF11-08AA60D4BA0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C7C7D2-722D-D729-B0EB-9E15E8174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90F0D-2852-C160-55EB-CFDA8A3BC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0A3AA-21AF-472D-9808-5D3C4C4A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0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6726C-B9B5-5B1E-89D1-3F6A1F5C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233227-5871-34FA-C040-5151B630B2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652F16-5F7D-0C10-977E-4C490DE6C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AF7EC7-4303-97DC-D9D8-8341CA899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CD5C-045A-45E6-AF11-08AA60D4BA0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8509F-5D2A-029C-D351-4155D03C5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F9E92-C615-0FBD-D992-80D486D6E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0A3AA-21AF-472D-9808-5D3C4C4A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182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4A584-B262-3D13-01DF-F01008A44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CF0040-3BC7-78AE-34FA-683D3AE57F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27E48-0654-586E-6E06-5940780A1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CD5C-045A-45E6-AF11-08AA60D4BA0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7F43D-929E-C5E9-5D2E-3723EF137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D27C6-B3FB-DEFE-CD3C-D8CB9C8F9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0A3AA-21AF-472D-9808-5D3C4C4A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937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F1BAF9-7833-829A-4470-AF65E6D52C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6C362-DB4B-CFB3-9270-57EBBDF9A1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01B8A-755E-CD78-F66A-8182A358B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CD5C-045A-45E6-AF11-08AA60D4BA0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AC608-4DC1-62DF-4A99-4722A5E80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FEF67-08E9-D717-63D0-9643C6CCC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0A3AA-21AF-472D-9808-5D3C4C4A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788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F1AED8-177F-F61C-3639-D638071AD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DE7AA-5FF9-A4F6-EC54-4E1CC2802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1B696-84EC-E64E-F6E7-36FB0E1288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7DCD5C-045A-45E6-AF11-08AA60D4BA0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E6C0F-6455-8DC4-29D9-7AC4139C61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76479-F419-7792-BC40-03A5A78115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00A3AA-21AF-472D-9808-5D3C4C4A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78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813ADD-B025-31CC-14CF-3584E95BB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US" sz="6100"/>
              <a:t>From Shared Process Memory to True Multi-Agent Systems (A2A &amp; MCP)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0CA11-205F-5EBE-E63A-247FA5C28F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4034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7FB85-89B9-751E-90CD-E50BEDA82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Coordination to Communication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335AD4-BA86-0511-FC21-A101B9D7D66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3220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8F2563-B8B6-4617-AC0C-760F8E5DE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5100"/>
              <a:t>The Problem: Shared Process = Hidden Coupling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204AB-7364-432A-9D2E-33F2D8D5F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7035" y="623275"/>
            <a:ext cx="5077820" cy="533977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b="1" dirty="0"/>
              <a:t>Why We Need “Real” Communication</a:t>
            </a:r>
          </a:p>
          <a:p>
            <a:pPr lvl="1"/>
            <a:r>
              <a:rPr lang="en-US" sz="1800" dirty="0"/>
              <a:t>In </a:t>
            </a:r>
            <a:r>
              <a:rPr lang="en-US" sz="1800" dirty="0" err="1"/>
              <a:t>LangGraph</a:t>
            </a:r>
            <a:r>
              <a:rPr lang="en-US" sz="1800" dirty="0"/>
              <a:t> or </a:t>
            </a:r>
            <a:r>
              <a:rPr lang="en-US" sz="1800" dirty="0" err="1"/>
              <a:t>CrewAI</a:t>
            </a:r>
            <a:r>
              <a:rPr lang="en-US" sz="1800" dirty="0"/>
              <a:t>, all agents share process memory.</a:t>
            </a:r>
          </a:p>
          <a:p>
            <a:pPr lvl="1"/>
            <a:r>
              <a:rPr lang="en-US" sz="1800" dirty="0"/>
              <a:t>Supervisor sees everyone’s state → central dependency.</a:t>
            </a:r>
          </a:p>
          <a:p>
            <a:pPr lvl="1"/>
            <a:r>
              <a:rPr lang="en-US" sz="1800" dirty="0"/>
              <a:t>If one agent crashes, the whole system fails.</a:t>
            </a:r>
          </a:p>
          <a:p>
            <a:pPr lvl="1"/>
            <a:r>
              <a:rPr lang="en-US" sz="1800" dirty="0"/>
              <a:t>Privacy and autonomy are illusions if everything lives in one memory space.</a:t>
            </a:r>
          </a:p>
          <a:p>
            <a:pPr marL="0" indent="0">
              <a:buNone/>
            </a:pPr>
            <a:r>
              <a:rPr lang="en-US" sz="1800" b="1" dirty="0"/>
              <a:t>Analogy:</a:t>
            </a:r>
            <a:endParaRPr lang="en-US" sz="1800" dirty="0"/>
          </a:p>
          <a:p>
            <a:r>
              <a:rPr lang="en-US" sz="1800" dirty="0"/>
              <a:t>It’s like every department writing on the same whiteboard.</a:t>
            </a:r>
            <a:br>
              <a:rPr lang="en-US" sz="1800" dirty="0"/>
            </a:br>
            <a:r>
              <a:rPr lang="en-US" sz="1800" dirty="0"/>
              <a:t>HR can read Finance data. </a:t>
            </a:r>
          </a:p>
          <a:p>
            <a:r>
              <a:rPr lang="en-US" sz="1800" dirty="0"/>
              <a:t>One eraser = everyone loses notes.</a:t>
            </a:r>
          </a:p>
          <a:p>
            <a:pPr lvl="1"/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36868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D30E04-2CA6-912E-4048-115F6B7F4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5000"/>
              <a:t>Logical vs Physical Isolation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65DD05C-3BF5-5ACA-AB30-5771532A60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3536893"/>
              </p:ext>
            </p:extLst>
          </p:nvPr>
        </p:nvGraphicFramePr>
        <p:xfrm>
          <a:off x="1755588" y="2921000"/>
          <a:ext cx="7134120" cy="254375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890151">
                  <a:extLst>
                    <a:ext uri="{9D8B030D-6E8A-4147-A177-3AD203B41FA5}">
                      <a16:colId xmlns:a16="http://schemas.microsoft.com/office/drawing/2014/main" val="4155087885"/>
                    </a:ext>
                  </a:extLst>
                </a:gridCol>
                <a:gridCol w="2659838">
                  <a:extLst>
                    <a:ext uri="{9D8B030D-6E8A-4147-A177-3AD203B41FA5}">
                      <a16:colId xmlns:a16="http://schemas.microsoft.com/office/drawing/2014/main" val="3359522299"/>
                    </a:ext>
                  </a:extLst>
                </a:gridCol>
                <a:gridCol w="2584131">
                  <a:extLst>
                    <a:ext uri="{9D8B030D-6E8A-4147-A177-3AD203B41FA5}">
                      <a16:colId xmlns:a16="http://schemas.microsoft.com/office/drawing/2014/main" val="2695225737"/>
                    </a:ext>
                  </a:extLst>
                </a:gridCol>
              </a:tblGrid>
              <a:tr h="3997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Aspect</a:t>
                      </a:r>
                    </a:p>
                  </a:txBody>
                  <a:tcPr marL="90848" marR="90848" marT="45424" marB="454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Logical Isolation</a:t>
                      </a:r>
                    </a:p>
                  </a:txBody>
                  <a:tcPr marL="90848" marR="90848" marT="45424" marB="454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Physical Isolation</a:t>
                      </a:r>
                    </a:p>
                  </a:txBody>
                  <a:tcPr marL="90848" marR="90848" marT="45424" marB="45424" anchor="ctr"/>
                </a:tc>
                <a:extLst>
                  <a:ext uri="{0D108BD9-81ED-4DB2-BD59-A6C34878D82A}">
                    <a16:rowId xmlns:a16="http://schemas.microsoft.com/office/drawing/2014/main" val="805314218"/>
                  </a:ext>
                </a:extLst>
              </a:tr>
              <a:tr h="9448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What it means</a:t>
                      </a:r>
                    </a:p>
                  </a:txBody>
                  <a:tcPr marL="90848" marR="90848" marT="45424" marB="454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Each agent has its own dictionary/list in code.</a:t>
                      </a:r>
                    </a:p>
                  </a:txBody>
                  <a:tcPr marL="90848" marR="90848" marT="45424" marB="454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Each agent runs as an independent process/service.</a:t>
                      </a:r>
                    </a:p>
                  </a:txBody>
                  <a:tcPr marL="90848" marR="90848" marT="45424" marB="45424" anchor="ctr"/>
                </a:tc>
                <a:extLst>
                  <a:ext uri="{0D108BD9-81ED-4DB2-BD59-A6C34878D82A}">
                    <a16:rowId xmlns:a16="http://schemas.microsoft.com/office/drawing/2014/main" val="2709844514"/>
                  </a:ext>
                </a:extLst>
              </a:tr>
              <a:tr h="3997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Communication</a:t>
                      </a:r>
                    </a:p>
                  </a:txBody>
                  <a:tcPr marL="90848" marR="90848" marT="45424" marB="454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Shared variables</a:t>
                      </a:r>
                    </a:p>
                  </a:txBody>
                  <a:tcPr marL="90848" marR="90848" marT="45424" marB="454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Network messages</a:t>
                      </a:r>
                    </a:p>
                  </a:txBody>
                  <a:tcPr marL="90848" marR="90848" marT="45424" marB="45424" anchor="ctr"/>
                </a:tc>
                <a:extLst>
                  <a:ext uri="{0D108BD9-81ED-4DB2-BD59-A6C34878D82A}">
                    <a16:rowId xmlns:a16="http://schemas.microsoft.com/office/drawing/2014/main" val="2240566696"/>
                  </a:ext>
                </a:extLst>
              </a:tr>
              <a:tr h="3997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Privacy</a:t>
                      </a:r>
                    </a:p>
                  </a:txBody>
                  <a:tcPr marL="90848" marR="90848" marT="45424" marB="454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Weak</a:t>
                      </a:r>
                    </a:p>
                  </a:txBody>
                  <a:tcPr marL="90848" marR="90848" marT="45424" marB="454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Strong</a:t>
                      </a:r>
                    </a:p>
                  </a:txBody>
                  <a:tcPr marL="90848" marR="90848" marT="45424" marB="45424" anchor="ctr"/>
                </a:tc>
                <a:extLst>
                  <a:ext uri="{0D108BD9-81ED-4DB2-BD59-A6C34878D82A}">
                    <a16:rowId xmlns:a16="http://schemas.microsoft.com/office/drawing/2014/main" val="4145510171"/>
                  </a:ext>
                </a:extLst>
              </a:tr>
              <a:tr h="3997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Example</a:t>
                      </a:r>
                    </a:p>
                  </a:txBody>
                  <a:tcPr marL="90848" marR="90848" marT="45424" marB="454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LangGraph MAS code</a:t>
                      </a:r>
                    </a:p>
                  </a:txBody>
                  <a:tcPr marL="90848" marR="90848" marT="45424" marB="454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A2A or MCP system</a:t>
                      </a:r>
                    </a:p>
                  </a:txBody>
                  <a:tcPr marL="90848" marR="90848" marT="45424" marB="45424" anchor="ctr"/>
                </a:tc>
                <a:extLst>
                  <a:ext uri="{0D108BD9-81ED-4DB2-BD59-A6C34878D82A}">
                    <a16:rowId xmlns:a16="http://schemas.microsoft.com/office/drawing/2014/main" val="3163414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689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023BEB-22CF-7AEC-79E6-70FC0277B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en-US" sz="6600"/>
              <a:t>Real-World Need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E0B27-F6F7-EA6C-7E90-D9FF8162A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9050" y="689275"/>
            <a:ext cx="4869211" cy="5293183"/>
          </a:xfrm>
        </p:spPr>
        <p:txBody>
          <a:bodyPr anchor="ctr">
            <a:normAutofit lnSpcReduction="10000"/>
          </a:bodyPr>
          <a:lstStyle/>
          <a:p>
            <a:r>
              <a:rPr lang="en-US" sz="2400" dirty="0"/>
              <a:t>Distributed Ecosystems Require Real Communication</a:t>
            </a:r>
          </a:p>
          <a:p>
            <a:pPr lvl="1"/>
            <a:r>
              <a:rPr lang="en-US" sz="2000" dirty="0"/>
              <a:t>AI assistants running in different microservices.</a:t>
            </a:r>
          </a:p>
          <a:p>
            <a:pPr lvl="1"/>
            <a:r>
              <a:rPr lang="en-US" sz="2000" dirty="0"/>
              <a:t>IoT devices across different networks.</a:t>
            </a:r>
          </a:p>
          <a:p>
            <a:pPr lvl="1"/>
            <a:r>
              <a:rPr lang="en-US" sz="2000" dirty="0"/>
              <a:t>Autonomous vehicles coordinating on shared roads.</a:t>
            </a:r>
          </a:p>
          <a:p>
            <a:pPr lvl="1"/>
            <a:r>
              <a:rPr lang="en-US" sz="2000" dirty="0"/>
              <a:t>Enterprise systems integrating HR, Finance, Sales bots.</a:t>
            </a:r>
          </a:p>
          <a:p>
            <a:r>
              <a:rPr lang="en-US" sz="2400" dirty="0"/>
              <a:t>In modern distributed AI, agents don’t live in one Python file they’re on different servers, clouds, or devices.</a:t>
            </a:r>
            <a:br>
              <a:rPr lang="en-US" sz="2400" dirty="0"/>
            </a:br>
            <a:r>
              <a:rPr lang="en-US" sz="2400" dirty="0"/>
              <a:t>To coordinate, they must talk like humans: through messages.</a:t>
            </a:r>
          </a:p>
        </p:txBody>
      </p:sp>
    </p:spTree>
    <p:extLst>
      <p:ext uri="{BB962C8B-B14F-4D97-AF65-F5344CB8AC3E}">
        <p14:creationId xmlns:p14="http://schemas.microsoft.com/office/powerpoint/2010/main" val="484704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EBB5F6-A923-488C-C2D2-9E56F5619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en-US" sz="3100"/>
              <a:t>Understanding A2A (Agent-to-Agent) Communication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495BB-A06E-44C2-BCCF-273F1AE9C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4339" y="739741"/>
            <a:ext cx="4722316" cy="5491415"/>
          </a:xfrm>
        </p:spPr>
        <p:txBody>
          <a:bodyPr anchor="ctr">
            <a:normAutofit/>
          </a:bodyPr>
          <a:lstStyle/>
          <a:p>
            <a:r>
              <a:rPr lang="en-US" sz="1800" dirty="0"/>
              <a:t>A2A = The structured communication layer that allows autonomous agents to talk directly to one another  just like APIs for people.</a:t>
            </a:r>
          </a:p>
          <a:p>
            <a:r>
              <a:rPr lang="en-US" sz="1800" dirty="0"/>
              <a:t>FIPA-ACL was a </a:t>
            </a:r>
            <a:r>
              <a:rPr lang="en-US" sz="1800" b="1" dirty="0"/>
              <a:t>research-era standard</a:t>
            </a:r>
            <a:r>
              <a:rPr lang="en-US" sz="1800" dirty="0"/>
              <a:t>  formal, elegant, but built before modern LLMs, APIs, and distributed web systems.</a:t>
            </a:r>
          </a:p>
          <a:p>
            <a:r>
              <a:rPr lang="en-US" sz="1800" dirty="0"/>
              <a:t>A2A borrows FIPA’s message semantics (request, inform, etc.) but modernizes everything else </a:t>
            </a:r>
            <a:br>
              <a:rPr lang="en-US" sz="1800" dirty="0"/>
            </a:br>
            <a:r>
              <a:rPr lang="en-US" sz="1800" dirty="0"/>
              <a:t>• runs over HTTP instead of RMI(</a:t>
            </a:r>
            <a:r>
              <a:rPr lang="en-US" sz="1800" b="1" dirty="0"/>
              <a:t>Remote Method Invocation</a:t>
            </a:r>
            <a:r>
              <a:rPr lang="en-US" sz="1800" dirty="0"/>
              <a:t>),</a:t>
            </a:r>
            <a:br>
              <a:rPr lang="en-US" sz="1800" dirty="0"/>
            </a:br>
            <a:r>
              <a:rPr lang="en-US" sz="1800" dirty="0"/>
              <a:t>• carries text, JSON, or embeddings instead of symbolic logic,</a:t>
            </a:r>
            <a:br>
              <a:rPr lang="en-US" sz="1800" dirty="0"/>
            </a:br>
            <a:r>
              <a:rPr lang="en-US" sz="1800" dirty="0"/>
              <a:t>• and integrates with cloud APIs, memory stores, and the MCP protocol.</a:t>
            </a:r>
          </a:p>
          <a:p>
            <a:r>
              <a:rPr lang="en-US" sz="1800" dirty="0"/>
              <a:t>A2A is not replacing FIPA-ACL — it’s </a:t>
            </a:r>
            <a:r>
              <a:rPr lang="en-US" sz="1800" b="1" dirty="0"/>
              <a:t>FIPA’s spiritual successor</a:t>
            </a:r>
            <a:r>
              <a:rPr lang="en-US" sz="1800" dirty="0"/>
              <a:t> adapted for LLM-based agentic AI.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6866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706328-77DA-AA70-D1FE-3259551E4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en-US" sz="6600"/>
              <a:t>A2A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473E3-7291-21CD-18F3-A7D6F92F7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r>
              <a:rPr lang="en-US" sz="2400"/>
              <a:t>Agents send </a:t>
            </a:r>
            <a:r>
              <a:rPr lang="en-US" sz="2400" b="1"/>
              <a:t>messages</a:t>
            </a:r>
            <a:r>
              <a:rPr lang="en-US" sz="2400"/>
              <a:t> instead of function calls.</a:t>
            </a:r>
          </a:p>
          <a:p>
            <a:r>
              <a:rPr lang="en-US" sz="2400"/>
              <a:t>Each agent has:</a:t>
            </a:r>
          </a:p>
          <a:p>
            <a:pPr lvl="1"/>
            <a:r>
              <a:rPr lang="en-US" dirty="0"/>
              <a:t>A unique </a:t>
            </a:r>
            <a:r>
              <a:rPr lang="en-US" b="1" dirty="0"/>
              <a:t>ID</a:t>
            </a:r>
            <a:r>
              <a:rPr lang="en-US" dirty="0"/>
              <a:t> (identity).</a:t>
            </a:r>
          </a:p>
          <a:p>
            <a:pPr lvl="1"/>
            <a:r>
              <a:rPr lang="en-US" dirty="0"/>
              <a:t>An </a:t>
            </a:r>
            <a:r>
              <a:rPr lang="en-US" b="1" dirty="0"/>
              <a:t>inbox</a:t>
            </a:r>
            <a:r>
              <a:rPr lang="en-US" dirty="0"/>
              <a:t> or </a:t>
            </a:r>
            <a:r>
              <a:rPr lang="en-US" b="1" dirty="0"/>
              <a:t>message queue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policy</a:t>
            </a:r>
            <a:r>
              <a:rPr lang="en-US" dirty="0"/>
              <a:t> (how to respond).</a:t>
            </a:r>
          </a:p>
          <a:p>
            <a:r>
              <a:rPr lang="en-US" sz="2400"/>
              <a:t>Think of A2A as Gmail for agents  every agent has an address, can send structured emails, and decides how to reply.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583349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C88B72-B890-7E95-0E35-48F1E7375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5600"/>
              <a:t>The Structure of an A2A Message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89591-FC51-23B3-D315-EAED9A93D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US" sz="2400"/>
              <a:t>{  "sender": "Researcher",  "receiver": "Analyst",  "performative": "inform",  "content": "Found 3 key sources on EdTech growth.",  "conv_id": "conv-001"}</a:t>
            </a:r>
          </a:p>
        </p:txBody>
      </p:sp>
    </p:spTree>
    <p:extLst>
      <p:ext uri="{BB962C8B-B14F-4D97-AF65-F5344CB8AC3E}">
        <p14:creationId xmlns:p14="http://schemas.microsoft.com/office/powerpoint/2010/main" val="3813337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3E6738-73B9-F8BF-46BC-89D8A0E9D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1" y="1036674"/>
            <a:ext cx="3689096" cy="35143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Communication Models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2D3B74-D69E-FA44-DE04-D6E00408D2C6}"/>
              </a:ext>
            </a:extLst>
          </p:cNvPr>
          <p:cNvSpPr txBox="1"/>
          <p:nvPr/>
        </p:nvSpPr>
        <p:spPr>
          <a:xfrm>
            <a:off x="965202" y="4582814"/>
            <a:ext cx="3689094" cy="13126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true MAS, asynchronous communication dominates  agents keep working while waiting for replies.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9438026-4BCB-5200-7F97-8D7F793B18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380633"/>
              </p:ext>
            </p:extLst>
          </p:nvPr>
        </p:nvGraphicFramePr>
        <p:xfrm>
          <a:off x="5342862" y="1700016"/>
          <a:ext cx="4785876" cy="366580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627673">
                  <a:extLst>
                    <a:ext uri="{9D8B030D-6E8A-4147-A177-3AD203B41FA5}">
                      <a16:colId xmlns:a16="http://schemas.microsoft.com/office/drawing/2014/main" val="750412563"/>
                    </a:ext>
                  </a:extLst>
                </a:gridCol>
                <a:gridCol w="1325452">
                  <a:extLst>
                    <a:ext uri="{9D8B030D-6E8A-4147-A177-3AD203B41FA5}">
                      <a16:colId xmlns:a16="http://schemas.microsoft.com/office/drawing/2014/main" val="171852184"/>
                    </a:ext>
                  </a:extLst>
                </a:gridCol>
                <a:gridCol w="1832751">
                  <a:extLst>
                    <a:ext uri="{9D8B030D-6E8A-4147-A177-3AD203B41FA5}">
                      <a16:colId xmlns:a16="http://schemas.microsoft.com/office/drawing/2014/main" val="1616767112"/>
                    </a:ext>
                  </a:extLst>
                </a:gridCol>
              </a:tblGrid>
              <a:tr h="435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Type</a:t>
                      </a:r>
                    </a:p>
                  </a:txBody>
                  <a:tcPr marL="78136" marR="78136" marT="39068" marB="390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Analogy</a:t>
                      </a:r>
                    </a:p>
                  </a:txBody>
                  <a:tcPr marL="78136" marR="78136" marT="39068" marB="390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Description</a:t>
                      </a:r>
                    </a:p>
                  </a:txBody>
                  <a:tcPr marL="78136" marR="78136" marT="39068" marB="39068" anchor="ctr"/>
                </a:tc>
                <a:extLst>
                  <a:ext uri="{0D108BD9-81ED-4DB2-BD59-A6C34878D82A}">
                    <a16:rowId xmlns:a16="http://schemas.microsoft.com/office/drawing/2014/main" val="479644828"/>
                  </a:ext>
                </a:extLst>
              </a:tr>
              <a:tr h="733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Synchronous</a:t>
                      </a:r>
                      <a:endParaRPr lang="en-US" sz="1500"/>
                    </a:p>
                  </a:txBody>
                  <a:tcPr marL="78136" marR="78136" marT="39068" marB="390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Phone call</a:t>
                      </a:r>
                    </a:p>
                  </a:txBody>
                  <a:tcPr marL="78136" marR="78136" marT="39068" marB="390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Sender waits for a reply immediately.</a:t>
                      </a:r>
                    </a:p>
                  </a:txBody>
                  <a:tcPr marL="78136" marR="78136" marT="39068" marB="39068" anchor="ctr"/>
                </a:tc>
                <a:extLst>
                  <a:ext uri="{0D108BD9-81ED-4DB2-BD59-A6C34878D82A}">
                    <a16:rowId xmlns:a16="http://schemas.microsoft.com/office/drawing/2014/main" val="3590176848"/>
                  </a:ext>
                </a:extLst>
              </a:tr>
              <a:tr h="10303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Asynchronous</a:t>
                      </a:r>
                      <a:endParaRPr lang="en-US" sz="1500"/>
                    </a:p>
                  </a:txBody>
                  <a:tcPr marL="78136" marR="78136" marT="39068" marB="390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Email</a:t>
                      </a:r>
                    </a:p>
                  </a:txBody>
                  <a:tcPr marL="78136" marR="78136" marT="39068" marB="390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Sender sends message and continues.</a:t>
                      </a:r>
                    </a:p>
                  </a:txBody>
                  <a:tcPr marL="78136" marR="78136" marT="39068" marB="39068" anchor="ctr"/>
                </a:tc>
                <a:extLst>
                  <a:ext uri="{0D108BD9-81ED-4DB2-BD59-A6C34878D82A}">
                    <a16:rowId xmlns:a16="http://schemas.microsoft.com/office/drawing/2014/main" val="3763738960"/>
                  </a:ext>
                </a:extLst>
              </a:tr>
              <a:tr h="733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Broadcast</a:t>
                      </a:r>
                      <a:endParaRPr lang="en-US" sz="1500"/>
                    </a:p>
                  </a:txBody>
                  <a:tcPr marL="78136" marR="78136" marT="39068" marB="390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Group email</a:t>
                      </a:r>
                    </a:p>
                  </a:txBody>
                  <a:tcPr marL="78136" marR="78136" marT="39068" marB="390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One message to many receivers.</a:t>
                      </a:r>
                    </a:p>
                  </a:txBody>
                  <a:tcPr marL="78136" marR="78136" marT="39068" marB="39068" anchor="ctr"/>
                </a:tc>
                <a:extLst>
                  <a:ext uri="{0D108BD9-81ED-4DB2-BD59-A6C34878D82A}">
                    <a16:rowId xmlns:a16="http://schemas.microsoft.com/office/drawing/2014/main" val="3938991520"/>
                  </a:ext>
                </a:extLst>
              </a:tr>
              <a:tr h="733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Peer-to-peer</a:t>
                      </a:r>
                      <a:endParaRPr lang="en-US" sz="1500"/>
                    </a:p>
                  </a:txBody>
                  <a:tcPr marL="78136" marR="78136" marT="39068" marB="390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Direct chat</a:t>
                      </a:r>
                    </a:p>
                  </a:txBody>
                  <a:tcPr marL="78136" marR="78136" marT="39068" marB="390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Two agents talk privately.</a:t>
                      </a:r>
                    </a:p>
                  </a:txBody>
                  <a:tcPr marL="78136" marR="78136" marT="39068" marB="39068" anchor="ctr"/>
                </a:tc>
                <a:extLst>
                  <a:ext uri="{0D108BD9-81ED-4DB2-BD59-A6C34878D82A}">
                    <a16:rowId xmlns:a16="http://schemas.microsoft.com/office/drawing/2014/main" val="872496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7283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B45A3B-EED9-2A0D-8B19-7009F8AF4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5600" dirty="0"/>
              <a:t>How A2A Works Internally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347D6-B6DA-4307-D93D-31A0979A3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US" sz="2200" dirty="0"/>
              <a:t>Each agent exposes a communication endpoint (HTTP, WebSocket, MQTT).</a:t>
            </a:r>
          </a:p>
          <a:p>
            <a:r>
              <a:rPr lang="en-US" sz="2200" dirty="0"/>
              <a:t>Messages include sender, receiver, type, and payload.</a:t>
            </a:r>
          </a:p>
          <a:p>
            <a:r>
              <a:rPr lang="en-US" sz="2200" dirty="0"/>
              <a:t>A message queue or broker (RabbitMQ, Kafka, or custom) routes them.</a:t>
            </a:r>
          </a:p>
          <a:p>
            <a:r>
              <a:rPr lang="en-US" sz="2200" dirty="0"/>
              <a:t>Agents process messages and may respond with new ones.</a:t>
            </a:r>
          </a:p>
        </p:txBody>
      </p:sp>
    </p:spTree>
    <p:extLst>
      <p:ext uri="{BB962C8B-B14F-4D97-AF65-F5344CB8AC3E}">
        <p14:creationId xmlns:p14="http://schemas.microsoft.com/office/powerpoint/2010/main" val="3243358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CC8719-414F-83A1-2BE3-FCD22B064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n-US" sz="4100"/>
              <a:t>Each agent exposes a communication endpoint (HTTP, WebSocket, MQTT)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A003B-19DE-D197-A6C1-83DBC48A5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Every agent needs a way for others to contact it a “digital address.”</a:t>
            </a:r>
          </a:p>
          <a:p>
            <a:r>
              <a:rPr lang="en-US" sz="2000"/>
              <a:t>This is usually called an endpoint a place where messages arrive.</a:t>
            </a:r>
          </a:p>
          <a:p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31B13A-9EDE-0251-E96B-921142258B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398611"/>
              </p:ext>
            </p:extLst>
          </p:nvPr>
        </p:nvGraphicFramePr>
        <p:xfrm>
          <a:off x="635295" y="2993407"/>
          <a:ext cx="5150279" cy="277686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19529">
                  <a:extLst>
                    <a:ext uri="{9D8B030D-6E8A-4147-A177-3AD203B41FA5}">
                      <a16:colId xmlns:a16="http://schemas.microsoft.com/office/drawing/2014/main" val="2597713694"/>
                    </a:ext>
                  </a:extLst>
                </a:gridCol>
                <a:gridCol w="1915375">
                  <a:extLst>
                    <a:ext uri="{9D8B030D-6E8A-4147-A177-3AD203B41FA5}">
                      <a16:colId xmlns:a16="http://schemas.microsoft.com/office/drawing/2014/main" val="3172522930"/>
                    </a:ext>
                  </a:extLst>
                </a:gridCol>
                <a:gridCol w="1915375">
                  <a:extLst>
                    <a:ext uri="{9D8B030D-6E8A-4147-A177-3AD203B41FA5}">
                      <a16:colId xmlns:a16="http://schemas.microsoft.com/office/drawing/2014/main" val="1444257433"/>
                    </a:ext>
                  </a:extLst>
                </a:gridCol>
              </a:tblGrid>
              <a:tr h="3432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Protocol</a:t>
                      </a:r>
                    </a:p>
                  </a:txBody>
                  <a:tcPr marL="78002" marR="78002" marT="39001" marB="390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Use Case</a:t>
                      </a:r>
                    </a:p>
                  </a:txBody>
                  <a:tcPr marL="78002" marR="78002" marT="39001" marB="390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Analogy</a:t>
                      </a:r>
                    </a:p>
                  </a:txBody>
                  <a:tcPr marL="78002" marR="78002" marT="39001" marB="39001" anchor="ctr"/>
                </a:tc>
                <a:extLst>
                  <a:ext uri="{0D108BD9-81ED-4DB2-BD59-A6C34878D82A}">
                    <a16:rowId xmlns:a16="http://schemas.microsoft.com/office/drawing/2014/main" val="3755710023"/>
                  </a:ext>
                </a:extLst>
              </a:tr>
              <a:tr h="811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HTTP</a:t>
                      </a:r>
                      <a:endParaRPr lang="en-US" sz="1500"/>
                    </a:p>
                  </a:txBody>
                  <a:tcPr marL="78002" marR="78002" marT="39001" marB="390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Most common for APIs or web-based agents</a:t>
                      </a:r>
                    </a:p>
                  </a:txBody>
                  <a:tcPr marL="78002" marR="78002" marT="39001" marB="390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Like a website’s URL (e.g., /receive_message)</a:t>
                      </a:r>
                    </a:p>
                  </a:txBody>
                  <a:tcPr marL="78002" marR="78002" marT="39001" marB="39001" anchor="ctr"/>
                </a:tc>
                <a:extLst>
                  <a:ext uri="{0D108BD9-81ED-4DB2-BD59-A6C34878D82A}">
                    <a16:rowId xmlns:a16="http://schemas.microsoft.com/office/drawing/2014/main" val="762983724"/>
                  </a:ext>
                </a:extLst>
              </a:tr>
              <a:tr h="811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WebSocket</a:t>
                      </a:r>
                      <a:endParaRPr lang="en-US" sz="1500"/>
                    </a:p>
                  </a:txBody>
                  <a:tcPr marL="78002" marR="78002" marT="39001" marB="390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Continuous, real-time chat between agents</a:t>
                      </a:r>
                    </a:p>
                  </a:txBody>
                  <a:tcPr marL="78002" marR="78002" marT="39001" marB="390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Like a phone line open 24/7</a:t>
                      </a:r>
                    </a:p>
                  </a:txBody>
                  <a:tcPr marL="78002" marR="78002" marT="39001" marB="39001" anchor="ctr"/>
                </a:tc>
                <a:extLst>
                  <a:ext uri="{0D108BD9-81ED-4DB2-BD59-A6C34878D82A}">
                    <a16:rowId xmlns:a16="http://schemas.microsoft.com/office/drawing/2014/main" val="2569850863"/>
                  </a:ext>
                </a:extLst>
              </a:tr>
              <a:tr h="811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MQTT</a:t>
                      </a:r>
                      <a:endParaRPr lang="en-US" sz="1500"/>
                    </a:p>
                  </a:txBody>
                  <a:tcPr marL="78002" marR="78002" marT="39001" marB="390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Lightweight IoT messaging</a:t>
                      </a:r>
                    </a:p>
                  </a:txBody>
                  <a:tcPr marL="78002" marR="78002" marT="39001" marB="390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Like a radio channel where devices publish/subscribe</a:t>
                      </a:r>
                    </a:p>
                  </a:txBody>
                  <a:tcPr marL="78002" marR="78002" marT="39001" marB="39001" anchor="ctr"/>
                </a:tc>
                <a:extLst>
                  <a:ext uri="{0D108BD9-81ED-4DB2-BD59-A6C34878D82A}">
                    <a16:rowId xmlns:a16="http://schemas.microsoft.com/office/drawing/2014/main" val="3140840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5225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234D6D-97E6-C140-015B-624B3C5DC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endParaRPr lang="en-US" sz="540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33F24-4FA8-8146-908F-AB37F3ADA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/>
              <a:t>So if your </a:t>
            </a:r>
            <a:r>
              <a:rPr lang="en-US" sz="2400" i="1"/>
              <a:t>ResearcherAgent</a:t>
            </a:r>
            <a:r>
              <a:rPr lang="en-US" sz="2400"/>
              <a:t> lives on one server, and your </a:t>
            </a:r>
            <a:r>
              <a:rPr lang="en-US" sz="2400" i="1"/>
              <a:t>AnalystAgent</a:t>
            </a:r>
            <a:r>
              <a:rPr lang="en-US" sz="2400"/>
              <a:t> on another,</a:t>
            </a:r>
            <a:br>
              <a:rPr lang="en-US" sz="2400"/>
            </a:br>
            <a:r>
              <a:rPr lang="en-US" sz="2400"/>
              <a:t>the Researcher might send a message to:</a:t>
            </a:r>
          </a:p>
          <a:p>
            <a:r>
              <a:rPr lang="nn-NO" sz="2400"/>
              <a:t>POST http://analyst.agent.net/receive_message</a:t>
            </a:r>
          </a:p>
          <a:p>
            <a:r>
              <a:rPr lang="en-US" sz="2400"/>
              <a:t>That’s the </a:t>
            </a:r>
            <a:r>
              <a:rPr lang="en-US" sz="2400" b="1"/>
              <a:t>endpoint</a:t>
            </a:r>
            <a:r>
              <a:rPr lang="en-US" sz="2400"/>
              <a:t>.</a:t>
            </a:r>
          </a:p>
          <a:p>
            <a:r>
              <a:rPr lang="en-US" sz="2400"/>
              <a:t>Every agent has its own “mailbox” address — HTTP = mailbox on the web, WebSocket = walkie-talkie line, MQTT = radio frequency.</a:t>
            </a:r>
          </a:p>
        </p:txBody>
      </p:sp>
    </p:spTree>
    <p:extLst>
      <p:ext uri="{BB962C8B-B14F-4D97-AF65-F5344CB8AC3E}">
        <p14:creationId xmlns:p14="http://schemas.microsoft.com/office/powerpoint/2010/main" val="493482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1D8E5E-F7DC-7BE9-BFC2-8E378481F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3800"/>
              <a:t>Messages include sender, receiver, type, and payload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17F52-E6A4-71FD-5DAE-F398986ED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/>
              <a:t>Each message is a </a:t>
            </a:r>
            <a:r>
              <a:rPr lang="en-US" sz="2400" b="1"/>
              <a:t>structured JSON object</a:t>
            </a:r>
            <a:r>
              <a:rPr lang="en-US" sz="2400"/>
              <a:t> that tells the receiving agent:</a:t>
            </a:r>
          </a:p>
          <a:p>
            <a:r>
              <a:rPr lang="en-US" sz="2400" b="1"/>
              <a:t>Who</a:t>
            </a:r>
            <a:r>
              <a:rPr lang="en-US" sz="2400"/>
              <a:t> sent it (sender)</a:t>
            </a:r>
          </a:p>
          <a:p>
            <a:r>
              <a:rPr lang="en-US" sz="2400" b="1"/>
              <a:t>Who</a:t>
            </a:r>
            <a:r>
              <a:rPr lang="en-US" sz="2400"/>
              <a:t> it’s for (receiver)</a:t>
            </a:r>
          </a:p>
          <a:p>
            <a:r>
              <a:rPr lang="en-US" sz="2400" b="1"/>
              <a:t>What kind</a:t>
            </a:r>
            <a:r>
              <a:rPr lang="en-US" sz="2400"/>
              <a:t> of communication it is (performative or type)</a:t>
            </a:r>
          </a:p>
          <a:p>
            <a:r>
              <a:rPr lang="en-US" sz="2400" b="1"/>
              <a:t>What the content actually is</a:t>
            </a:r>
            <a:r>
              <a:rPr lang="en-US" sz="2400"/>
              <a:t> (payload)</a:t>
            </a:r>
          </a:p>
          <a:p>
            <a:r>
              <a:rPr lang="en-US" sz="2400"/>
              <a:t>{  "sender": "Researcher",  "receiver": "Analyst",  "type": "inform",  "payload": "I found 3 EdTech market reports with growth data.",  "conv_id": "conv-102"}</a:t>
            </a:r>
          </a:p>
        </p:txBody>
      </p:sp>
    </p:spTree>
    <p:extLst>
      <p:ext uri="{BB962C8B-B14F-4D97-AF65-F5344CB8AC3E}">
        <p14:creationId xmlns:p14="http://schemas.microsoft.com/office/powerpoint/2010/main" val="3844920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6E540B-F1E4-153F-B107-F5A0A7F14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100"/>
              <a:t>A message queue or broker (RabbitMQ, Kafka, or custom) routes them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4885E-6B62-499E-20F5-359D21813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344" y="1889612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In large systems, agents don’t send messages directly to each other instead, they drop them into a message broker, which handles delivery.</a:t>
            </a:r>
          </a:p>
          <a:p>
            <a:endParaRPr lang="en-US" sz="2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A976E84-6FA7-3547-2E7F-F28803CDDA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353925"/>
              </p:ext>
            </p:extLst>
          </p:nvPr>
        </p:nvGraphicFramePr>
        <p:xfrm>
          <a:off x="5911532" y="2890865"/>
          <a:ext cx="5150279" cy="290102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720239">
                  <a:extLst>
                    <a:ext uri="{9D8B030D-6E8A-4147-A177-3AD203B41FA5}">
                      <a16:colId xmlns:a16="http://schemas.microsoft.com/office/drawing/2014/main" val="3248369069"/>
                    </a:ext>
                  </a:extLst>
                </a:gridCol>
                <a:gridCol w="1678486">
                  <a:extLst>
                    <a:ext uri="{9D8B030D-6E8A-4147-A177-3AD203B41FA5}">
                      <a16:colId xmlns:a16="http://schemas.microsoft.com/office/drawing/2014/main" val="1699820100"/>
                    </a:ext>
                  </a:extLst>
                </a:gridCol>
                <a:gridCol w="1751554">
                  <a:extLst>
                    <a:ext uri="{9D8B030D-6E8A-4147-A177-3AD203B41FA5}">
                      <a16:colId xmlns:a16="http://schemas.microsoft.com/office/drawing/2014/main" val="2795357687"/>
                    </a:ext>
                  </a:extLst>
                </a:gridCol>
              </a:tblGrid>
              <a:tr h="330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Broker</a:t>
                      </a:r>
                    </a:p>
                  </a:txBody>
                  <a:tcPr marL="75156" marR="75156" marT="37578" marB="3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Description</a:t>
                      </a:r>
                    </a:p>
                  </a:txBody>
                  <a:tcPr marL="75156" marR="75156" marT="37578" marB="3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Analogy</a:t>
                      </a:r>
                    </a:p>
                  </a:txBody>
                  <a:tcPr marL="75156" marR="75156" marT="37578" marB="37578" anchor="ctr"/>
                </a:tc>
                <a:extLst>
                  <a:ext uri="{0D108BD9-81ED-4DB2-BD59-A6C34878D82A}">
                    <a16:rowId xmlns:a16="http://schemas.microsoft.com/office/drawing/2014/main" val="774059604"/>
                  </a:ext>
                </a:extLst>
              </a:tr>
              <a:tr h="1007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RabbitMQ</a:t>
                      </a:r>
                      <a:endParaRPr lang="en-US" sz="1500"/>
                    </a:p>
                  </a:txBody>
                  <a:tcPr marL="75156" marR="75156" marT="37578" marB="3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Reliable queue system for passing messages</a:t>
                      </a:r>
                    </a:p>
                  </a:txBody>
                  <a:tcPr marL="75156" marR="75156" marT="37578" marB="3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Like a postal service sorting center</a:t>
                      </a:r>
                    </a:p>
                  </a:txBody>
                  <a:tcPr marL="75156" marR="75156" marT="37578" marB="37578" anchor="ctr"/>
                </a:tc>
                <a:extLst>
                  <a:ext uri="{0D108BD9-81ED-4DB2-BD59-A6C34878D82A}">
                    <a16:rowId xmlns:a16="http://schemas.microsoft.com/office/drawing/2014/main" val="4107271123"/>
                  </a:ext>
                </a:extLst>
              </a:tr>
              <a:tr h="1007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Apache Kafka</a:t>
                      </a:r>
                      <a:endParaRPr lang="en-US" sz="1500"/>
                    </a:p>
                  </a:txBody>
                  <a:tcPr marL="75156" marR="75156" marT="37578" marB="3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High-speed stream for continuous event logs</a:t>
                      </a:r>
                    </a:p>
                  </a:txBody>
                  <a:tcPr marL="75156" marR="75156" marT="37578" marB="3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Like a news ticker distributing live updates</a:t>
                      </a:r>
                    </a:p>
                  </a:txBody>
                  <a:tcPr marL="75156" marR="75156" marT="37578" marB="37578" anchor="ctr"/>
                </a:tc>
                <a:extLst>
                  <a:ext uri="{0D108BD9-81ED-4DB2-BD59-A6C34878D82A}">
                    <a16:rowId xmlns:a16="http://schemas.microsoft.com/office/drawing/2014/main" val="196049150"/>
                  </a:ext>
                </a:extLst>
              </a:tr>
              <a:tr h="556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Custom Broker / Redis PubSub</a:t>
                      </a:r>
                      <a:endParaRPr lang="en-US" sz="1500"/>
                    </a:p>
                  </a:txBody>
                  <a:tcPr marL="75156" marR="75156" marT="37578" marB="3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Lightweight or domain-specific</a:t>
                      </a:r>
                    </a:p>
                  </a:txBody>
                  <a:tcPr marL="75156" marR="75156" marT="37578" marB="3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Like a local office mail clerk</a:t>
                      </a:r>
                    </a:p>
                  </a:txBody>
                  <a:tcPr marL="75156" marR="75156" marT="37578" marB="37578" anchor="ctr"/>
                </a:tc>
                <a:extLst>
                  <a:ext uri="{0D108BD9-81ED-4DB2-BD59-A6C34878D82A}">
                    <a16:rowId xmlns:a16="http://schemas.microsoft.com/office/drawing/2014/main" val="109071012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078868E-F62A-83E6-45EF-FC2503259E87}"/>
              </a:ext>
            </a:extLst>
          </p:cNvPr>
          <p:cNvSpPr txBox="1"/>
          <p:nvPr/>
        </p:nvSpPr>
        <p:spPr>
          <a:xfrm>
            <a:off x="962691" y="4642200"/>
            <a:ext cx="41402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Agents don’t drive to each other’s houses they drop letters in a post office (the broker), which handles who gets what and when.</a:t>
            </a:r>
          </a:p>
        </p:txBody>
      </p:sp>
    </p:spTree>
    <p:extLst>
      <p:ext uri="{BB962C8B-B14F-4D97-AF65-F5344CB8AC3E}">
        <p14:creationId xmlns:p14="http://schemas.microsoft.com/office/powerpoint/2010/main" val="1656785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3D86B8-C090-36F2-1E2E-07517AD2F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4100"/>
              <a:t>Agents process messages and may respond with new ones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B6FFD-C650-1288-9588-9DE073488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69"/>
            <a:ext cx="4521786" cy="4329899"/>
          </a:xfrm>
        </p:spPr>
        <p:txBody>
          <a:bodyPr anchor="ctr">
            <a:normAutofit lnSpcReduction="10000"/>
          </a:bodyPr>
          <a:lstStyle/>
          <a:p>
            <a:r>
              <a:rPr lang="en-US" sz="2000" dirty="0"/>
              <a:t>When a message arrives at an agent’s endpoint or inbox:</a:t>
            </a:r>
          </a:p>
          <a:p>
            <a:r>
              <a:rPr lang="en-US" sz="2000" dirty="0"/>
              <a:t>It gets parsed (read the JSON).</a:t>
            </a:r>
          </a:p>
          <a:p>
            <a:r>
              <a:rPr lang="en-US" sz="2000" dirty="0"/>
              <a:t>The agent’s </a:t>
            </a:r>
            <a:r>
              <a:rPr lang="en-US" sz="2000" b="1" dirty="0"/>
              <a:t>policy</a:t>
            </a:r>
            <a:r>
              <a:rPr lang="en-US" sz="2000" dirty="0"/>
              <a:t> decides what to do:</a:t>
            </a:r>
          </a:p>
          <a:p>
            <a:pPr lvl="1"/>
            <a:r>
              <a:rPr lang="en-US" sz="2000" dirty="0"/>
              <a:t>If type == "request" → perform task.</a:t>
            </a:r>
          </a:p>
          <a:p>
            <a:pPr lvl="1"/>
            <a:r>
              <a:rPr lang="en-US" sz="2000" dirty="0"/>
              <a:t>If type == "inform" → store information.</a:t>
            </a:r>
          </a:p>
          <a:p>
            <a:pPr lvl="1"/>
            <a:r>
              <a:rPr lang="en-US" sz="2000" dirty="0"/>
              <a:t>If type == "propose" → decide to accept or reject.</a:t>
            </a:r>
          </a:p>
          <a:p>
            <a:r>
              <a:rPr lang="en-US" sz="2000" dirty="0"/>
              <a:t>After acting, the agent </a:t>
            </a:r>
            <a:r>
              <a:rPr lang="en-US" sz="2000" b="1" dirty="0"/>
              <a:t>creates a new message</a:t>
            </a:r>
            <a:r>
              <a:rPr lang="en-US" sz="2000" dirty="0"/>
              <a:t> (like confirm or inform result) and sends it back via the same broker or HTTP channel.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69830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086CB-5E0A-4A95-BFAC-E04F9C35C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1537399"/>
            <a:ext cx="9154997" cy="4232466"/>
          </a:xfrm>
        </p:spPr>
        <p:txBody>
          <a:bodyPr anchor="t">
            <a:normAutofit/>
          </a:bodyPr>
          <a:lstStyle/>
          <a:p>
            <a:r>
              <a:rPr lang="en-US" sz="2400" dirty="0"/>
              <a:t>Analyst receives message:</a:t>
            </a:r>
          </a:p>
          <a:p>
            <a:pPr marL="0" indent="0">
              <a:buNone/>
            </a:pPr>
            <a:r>
              <a:rPr lang="en-US" sz="2400" dirty="0"/>
              <a:t>→ Reads payload “3 EdTech reports”</a:t>
            </a:r>
          </a:p>
          <a:p>
            <a:pPr marL="0" indent="0">
              <a:buNone/>
            </a:pPr>
            <a:r>
              <a:rPr lang="en-US" sz="2400" dirty="0"/>
              <a:t>→ Verifies the data</a:t>
            </a:r>
          </a:p>
          <a:p>
            <a:pPr marL="0" indent="0">
              <a:buNone/>
            </a:pPr>
            <a:r>
              <a:rPr lang="en-US" sz="2400" dirty="0"/>
              <a:t>→ Replies: {"sender":"Analyst","receiver":"Researcher","type":"confirm","payload":"2 verified reports"}</a:t>
            </a:r>
          </a:p>
          <a:p>
            <a:r>
              <a:rPr lang="en-US" sz="2400" dirty="0"/>
              <a:t>It’s like an office workflow:</a:t>
            </a:r>
            <a:br>
              <a:rPr lang="en-US" sz="2400" dirty="0"/>
            </a:br>
            <a:r>
              <a:rPr lang="en-US" sz="2400" dirty="0"/>
              <a:t>Mail clerk delivers a letter → you read it → take action → send a new reply letter.</a:t>
            </a:r>
          </a:p>
        </p:txBody>
      </p:sp>
    </p:spTree>
    <p:extLst>
      <p:ext uri="{BB962C8B-B14F-4D97-AF65-F5344CB8AC3E}">
        <p14:creationId xmlns:p14="http://schemas.microsoft.com/office/powerpoint/2010/main" val="2975796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417E31-B551-2C5D-C446-25E128A04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853" y="662488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5000"/>
              <a:t>Why A2A Alone Isn’t Enough</a:t>
            </a:r>
            <a:endParaRPr lang="en-US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8064C-B34F-4403-170E-8BB7B8964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280977"/>
            <a:ext cx="8074815" cy="3488888"/>
          </a:xfrm>
        </p:spPr>
        <p:txBody>
          <a:bodyPr anchor="t">
            <a:normAutofit/>
          </a:bodyPr>
          <a:lstStyle/>
          <a:p>
            <a:r>
              <a:rPr lang="en-US" sz="2000" dirty="0"/>
              <a:t>A2A defines how agents talk.</a:t>
            </a:r>
          </a:p>
          <a:p>
            <a:r>
              <a:rPr lang="en-US" sz="2000" dirty="0"/>
              <a:t>But what about what they share?</a:t>
            </a:r>
          </a:p>
          <a:p>
            <a:r>
              <a:rPr lang="en-US" sz="2000" dirty="0"/>
              <a:t>Without standards: Contexts can be huge (too much text).</a:t>
            </a:r>
          </a:p>
          <a:p>
            <a:r>
              <a:rPr lang="en-US" sz="2000" dirty="0"/>
              <a:t>Data may leak (no access control).</a:t>
            </a:r>
          </a:p>
          <a:p>
            <a:r>
              <a:rPr lang="en-US" sz="2000" dirty="0"/>
              <a:t>Agents can’t verify provenance.</a:t>
            </a:r>
          </a:p>
          <a:p>
            <a:r>
              <a:rPr lang="en-US" sz="2000" dirty="0"/>
              <a:t>A2A lets agents send messages but those messages might carry sensitive or massive payloads.</a:t>
            </a:r>
            <a:br>
              <a:rPr lang="en-US" sz="2000" dirty="0"/>
            </a:br>
            <a:r>
              <a:rPr lang="en-US" sz="2000" dirty="0"/>
              <a:t>We need a safer way to exchange context — that’s where MCP steps in.</a:t>
            </a:r>
          </a:p>
        </p:txBody>
      </p:sp>
    </p:spTree>
    <p:extLst>
      <p:ext uri="{BB962C8B-B14F-4D97-AF65-F5344CB8AC3E}">
        <p14:creationId xmlns:p14="http://schemas.microsoft.com/office/powerpoint/2010/main" val="527053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A68111-4E37-B1A6-237C-5BF700DD8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596496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3600" dirty="0"/>
              <a:t>What A2A does give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CD1F-C25B-9F0D-5BE9-C145E493B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106" y="2183120"/>
            <a:ext cx="8074815" cy="2800395"/>
          </a:xfrm>
        </p:spPr>
        <p:txBody>
          <a:bodyPr anchor="t">
            <a:normAutofit fontScale="92500" lnSpcReduction="10000"/>
          </a:bodyPr>
          <a:lstStyle/>
          <a:p>
            <a:r>
              <a:rPr lang="en-US" sz="2400" dirty="0"/>
              <a:t>In A2A, agents talk to each other through structured messages like:</a:t>
            </a:r>
          </a:p>
          <a:p>
            <a:r>
              <a:rPr lang="en-US" sz="2400" dirty="0"/>
              <a:t>{  "sender": "Researcher",  "receiver": "Analyst",  "type": "inform",  "payload": "Pakistan EdTech market grew 40% in 2024.",  "</a:t>
            </a:r>
            <a:r>
              <a:rPr lang="en-US" sz="2400" dirty="0" err="1"/>
              <a:t>conv_id</a:t>
            </a:r>
            <a:r>
              <a:rPr lang="en-US" sz="2400" dirty="0"/>
              <a:t>": "conv-001"}</a:t>
            </a:r>
          </a:p>
          <a:p>
            <a:r>
              <a:rPr lang="en-US" sz="2400" dirty="0"/>
              <a:t>You know who sent it — from the "sender" field.</a:t>
            </a:r>
          </a:p>
          <a:p>
            <a:r>
              <a:rPr lang="en-US" sz="2400" dirty="0"/>
              <a:t>You know what it says — from "payload".</a:t>
            </a:r>
          </a:p>
          <a:p>
            <a:r>
              <a:rPr lang="en-US" sz="2400" dirty="0"/>
              <a:t>But  that’s not enough for provenance.</a:t>
            </a:r>
          </a:p>
        </p:txBody>
      </p:sp>
    </p:spTree>
    <p:extLst>
      <p:ext uri="{BB962C8B-B14F-4D97-AF65-F5344CB8AC3E}">
        <p14:creationId xmlns:p14="http://schemas.microsoft.com/office/powerpoint/2010/main" val="4245330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378C52-AF75-73A5-C95F-D6AD51658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492291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3200" dirty="0"/>
              <a:t>Why A2A alone can’t verify provenance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93A8E-33A7-F996-DF2C-1A80866E3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027017"/>
            <a:ext cx="8074815" cy="4204139"/>
          </a:xfrm>
        </p:spPr>
        <p:txBody>
          <a:bodyPr anchor="t">
            <a:normAutofit fontScale="92500" lnSpcReduction="20000"/>
          </a:bodyPr>
          <a:lstStyle/>
          <a:p>
            <a:r>
              <a:rPr lang="en-US" sz="2400" dirty="0"/>
              <a:t>A2A messages are self-declared  meaning the sender tells you they are the “Researcher,”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but the receiver has no cryptographic or verifiable proof that:</a:t>
            </a:r>
          </a:p>
          <a:p>
            <a:r>
              <a:rPr lang="en-US" sz="2400" dirty="0"/>
              <a:t>The message truly came from that agent.</a:t>
            </a:r>
          </a:p>
          <a:p>
            <a:r>
              <a:rPr lang="en-US" sz="2400" dirty="0"/>
              <a:t>The payload hasn’t been altered in transit.</a:t>
            </a:r>
          </a:p>
          <a:p>
            <a:r>
              <a:rPr lang="en-US" sz="2400" dirty="0"/>
              <a:t>The content wasn’t fabricated or tampered with by an attacker or misbehaving agent.</a:t>
            </a:r>
          </a:p>
          <a:p>
            <a:r>
              <a:rPr lang="en-US" sz="2400" dirty="0"/>
              <a:t>The context (e.g., original data, tools, or sources used) is traceable.</a:t>
            </a:r>
          </a:p>
          <a:p>
            <a:r>
              <a:rPr lang="en-US" sz="2400" dirty="0"/>
              <a:t>So, in plain A2A systems:</a:t>
            </a:r>
          </a:p>
          <a:p>
            <a:r>
              <a:rPr lang="en-US" sz="2400" dirty="0"/>
              <a:t>“Agents talk  but they can’t prove who really said what, when, or how.”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36225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3C7EB6-70ED-0BBE-FC3F-66F9E3313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4000" dirty="0"/>
              <a:t>What is MCP?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CA02D-CCD5-588E-F065-A049C6386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311121"/>
            <a:ext cx="8074815" cy="3458743"/>
          </a:xfrm>
        </p:spPr>
        <p:txBody>
          <a:bodyPr anchor="t">
            <a:normAutofit lnSpcReduction="10000"/>
          </a:bodyPr>
          <a:lstStyle/>
          <a:p>
            <a:r>
              <a:rPr lang="en-US" sz="2400" dirty="0"/>
              <a:t>MCP (Model Context Protocol) defines how models and agents share context safely, across tools, frameworks, or even organizations.</a:t>
            </a:r>
          </a:p>
          <a:p>
            <a:r>
              <a:rPr lang="en-US" sz="2400" dirty="0"/>
              <a:t>Standardize how context is represented (metadata, pointers).</a:t>
            </a:r>
          </a:p>
          <a:p>
            <a:r>
              <a:rPr lang="en-US" sz="2400" dirty="0"/>
              <a:t>Prevent context leaks or duplication.</a:t>
            </a:r>
          </a:p>
          <a:p>
            <a:r>
              <a:rPr lang="en-US" sz="2400" dirty="0"/>
              <a:t>Enable provenance tracking (who created what, when).</a:t>
            </a:r>
          </a:p>
          <a:p>
            <a:r>
              <a:rPr lang="en-US" sz="2400" dirty="0"/>
              <a:t>Make context interoperable across systems (</a:t>
            </a:r>
            <a:r>
              <a:rPr lang="en-US" sz="2400" dirty="0" err="1"/>
              <a:t>CrewAI</a:t>
            </a:r>
            <a:r>
              <a:rPr lang="en-US" sz="2400" dirty="0"/>
              <a:t> ↔ </a:t>
            </a:r>
            <a:r>
              <a:rPr lang="en-US" sz="2400" dirty="0" err="1"/>
              <a:t>LangGraph</a:t>
            </a:r>
            <a:r>
              <a:rPr lang="en-US" sz="2400" dirty="0"/>
              <a:t> ↔ </a:t>
            </a:r>
            <a:r>
              <a:rPr lang="en-US" sz="2400" dirty="0" err="1"/>
              <a:t>OpenDevin</a:t>
            </a:r>
            <a:r>
              <a:rPr lang="en-US" sz="2400" dirty="0"/>
              <a:t>, etc.)</a:t>
            </a:r>
          </a:p>
        </p:txBody>
      </p:sp>
    </p:spTree>
    <p:extLst>
      <p:ext uri="{BB962C8B-B14F-4D97-AF65-F5344CB8AC3E}">
        <p14:creationId xmlns:p14="http://schemas.microsoft.com/office/powerpoint/2010/main" val="10674811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00FD08-2B90-C761-60EE-E202177F9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6100"/>
              <a:t>MCP Core Components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D2E7851-59BE-8FFA-387D-BF20B68E7E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9020055"/>
              </p:ext>
            </p:extLst>
          </p:nvPr>
        </p:nvGraphicFramePr>
        <p:xfrm>
          <a:off x="1285240" y="2411604"/>
          <a:ext cx="9366012" cy="291877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122004">
                  <a:extLst>
                    <a:ext uri="{9D8B030D-6E8A-4147-A177-3AD203B41FA5}">
                      <a16:colId xmlns:a16="http://schemas.microsoft.com/office/drawing/2014/main" val="169155023"/>
                    </a:ext>
                  </a:extLst>
                </a:gridCol>
                <a:gridCol w="3122004">
                  <a:extLst>
                    <a:ext uri="{9D8B030D-6E8A-4147-A177-3AD203B41FA5}">
                      <a16:colId xmlns:a16="http://schemas.microsoft.com/office/drawing/2014/main" val="372068154"/>
                    </a:ext>
                  </a:extLst>
                </a:gridCol>
                <a:gridCol w="3122004">
                  <a:extLst>
                    <a:ext uri="{9D8B030D-6E8A-4147-A177-3AD203B41FA5}">
                      <a16:colId xmlns:a16="http://schemas.microsoft.com/office/drawing/2014/main" val="1748724789"/>
                    </a:ext>
                  </a:extLst>
                </a:gridCol>
              </a:tblGrid>
              <a:tr h="396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MCP Concept</a:t>
                      </a:r>
                    </a:p>
                  </a:txBody>
                  <a:tcPr marL="70216" marR="70216" marT="35108" marB="351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Meaning</a:t>
                      </a:r>
                    </a:p>
                  </a:txBody>
                  <a:tcPr marL="70216" marR="70216" marT="35108" marB="351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Analogy</a:t>
                      </a:r>
                    </a:p>
                  </a:txBody>
                  <a:tcPr marL="70216" marR="70216" marT="35108" marB="35108" anchor="ctr"/>
                </a:tc>
                <a:extLst>
                  <a:ext uri="{0D108BD9-81ED-4DB2-BD59-A6C34878D82A}">
                    <a16:rowId xmlns:a16="http://schemas.microsoft.com/office/drawing/2014/main" val="4092433130"/>
                  </a:ext>
                </a:extLst>
              </a:tr>
              <a:tr h="396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Context Pointer</a:t>
                      </a:r>
                      <a:endParaRPr lang="en-US" sz="1600" dirty="0"/>
                    </a:p>
                  </a:txBody>
                  <a:tcPr marL="70216" marR="70216" marT="35108" marB="351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 link or ID to shared data</a:t>
                      </a:r>
                    </a:p>
                  </a:txBody>
                  <a:tcPr marL="70216" marR="70216" marT="35108" marB="351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Google Drive link</a:t>
                      </a:r>
                      <a:endParaRPr lang="en-US" sz="1600" dirty="0"/>
                    </a:p>
                  </a:txBody>
                  <a:tcPr marL="70216" marR="70216" marT="35108" marB="35108" anchor="ctr"/>
                </a:tc>
                <a:extLst>
                  <a:ext uri="{0D108BD9-81ED-4DB2-BD59-A6C34878D82A}">
                    <a16:rowId xmlns:a16="http://schemas.microsoft.com/office/drawing/2014/main" val="4268713073"/>
                  </a:ext>
                </a:extLst>
              </a:tr>
              <a:tr h="666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Capability Registry</a:t>
                      </a:r>
                      <a:endParaRPr lang="en-US" sz="1600"/>
                    </a:p>
                  </a:txBody>
                  <a:tcPr marL="70216" marR="70216" marT="35108" marB="351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Advertises what tools/skills the agent has</a:t>
                      </a:r>
                    </a:p>
                  </a:txBody>
                  <a:tcPr marL="70216" marR="70216" marT="35108" marB="351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LinkedIn profile</a:t>
                      </a:r>
                      <a:endParaRPr lang="en-US" sz="1600" dirty="0"/>
                    </a:p>
                  </a:txBody>
                  <a:tcPr marL="70216" marR="70216" marT="35108" marB="35108" anchor="ctr"/>
                </a:tc>
                <a:extLst>
                  <a:ext uri="{0D108BD9-81ED-4DB2-BD59-A6C34878D82A}">
                    <a16:rowId xmlns:a16="http://schemas.microsoft.com/office/drawing/2014/main" val="818722287"/>
                  </a:ext>
                </a:extLst>
              </a:tr>
              <a:tr h="396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Access Control</a:t>
                      </a:r>
                      <a:endParaRPr lang="en-US" sz="1600" dirty="0"/>
                    </a:p>
                  </a:txBody>
                  <a:tcPr marL="70216" marR="70216" marT="35108" marB="351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Restricts who can read/write</a:t>
                      </a:r>
                    </a:p>
                  </a:txBody>
                  <a:tcPr marL="70216" marR="70216" marT="35108" marB="351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File permissions</a:t>
                      </a:r>
                      <a:endParaRPr lang="en-US" sz="1600" dirty="0"/>
                    </a:p>
                  </a:txBody>
                  <a:tcPr marL="70216" marR="70216" marT="35108" marB="35108" anchor="ctr"/>
                </a:tc>
                <a:extLst>
                  <a:ext uri="{0D108BD9-81ED-4DB2-BD59-A6C34878D82A}">
                    <a16:rowId xmlns:a16="http://schemas.microsoft.com/office/drawing/2014/main" val="1512901096"/>
                  </a:ext>
                </a:extLst>
              </a:tr>
              <a:tr h="666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Provenance</a:t>
                      </a:r>
                      <a:endParaRPr lang="en-US" sz="1600"/>
                    </a:p>
                  </a:txBody>
                  <a:tcPr marL="70216" marR="70216" marT="35108" marB="351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Tracks who created data and when</a:t>
                      </a:r>
                    </a:p>
                  </a:txBody>
                  <a:tcPr marL="70216" marR="70216" marT="35108" marB="351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“Last modified by…”</a:t>
                      </a:r>
                      <a:endParaRPr lang="en-US" sz="1600" dirty="0"/>
                    </a:p>
                  </a:txBody>
                  <a:tcPr marL="70216" marR="70216" marT="35108" marB="35108" anchor="ctr"/>
                </a:tc>
                <a:extLst>
                  <a:ext uri="{0D108BD9-81ED-4DB2-BD59-A6C34878D82A}">
                    <a16:rowId xmlns:a16="http://schemas.microsoft.com/office/drawing/2014/main" val="3635929143"/>
                  </a:ext>
                </a:extLst>
              </a:tr>
              <a:tr h="396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Standardized Schemas</a:t>
                      </a:r>
                      <a:endParaRPr lang="en-US" sz="1600"/>
                    </a:p>
                  </a:txBody>
                  <a:tcPr marL="70216" marR="70216" marT="35108" marB="351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Shared structure for context</a:t>
                      </a:r>
                    </a:p>
                  </a:txBody>
                  <a:tcPr marL="70216" marR="70216" marT="35108" marB="351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CSV vs random notes</a:t>
                      </a:r>
                    </a:p>
                  </a:txBody>
                  <a:tcPr marL="70216" marR="70216" marT="35108" marB="35108" anchor="ctr"/>
                </a:tc>
                <a:extLst>
                  <a:ext uri="{0D108BD9-81ED-4DB2-BD59-A6C34878D82A}">
                    <a16:rowId xmlns:a16="http://schemas.microsoft.com/office/drawing/2014/main" val="1330791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4384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5F4BC-BB87-AFA7-6FB5-915F03FA4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MCP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E59F3-C608-43D5-41FA-D699BB98F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agent stores its context (e.g., memory, report, embeddings).</a:t>
            </a:r>
          </a:p>
          <a:p>
            <a:r>
              <a:rPr lang="en-US" dirty="0"/>
              <a:t>Instead of sending the data, it sends a pointer  a URL, hash, or UUID.</a:t>
            </a:r>
          </a:p>
          <a:p>
            <a:r>
              <a:rPr lang="en-US" dirty="0"/>
              <a:t>Receiver retrieves it if authorized.</a:t>
            </a:r>
          </a:p>
          <a:p>
            <a:r>
              <a:rPr lang="en-US" dirty="0"/>
              <a:t>Provenance ensures auditability.</a:t>
            </a:r>
          </a:p>
        </p:txBody>
      </p:sp>
    </p:spTree>
    <p:extLst>
      <p:ext uri="{BB962C8B-B14F-4D97-AF65-F5344CB8AC3E}">
        <p14:creationId xmlns:p14="http://schemas.microsoft.com/office/powerpoint/2010/main" val="33460861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21D43-8B0F-F155-1180-3FD1331EE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MCP Solves Four Problems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C587A93-7AEF-6086-7F54-472E11242A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2937958"/>
              </p:ext>
            </p:extLst>
          </p:nvPr>
        </p:nvGraphicFramePr>
        <p:xfrm>
          <a:off x="1819705" y="3017519"/>
          <a:ext cx="8548234" cy="320990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53647">
                  <a:extLst>
                    <a:ext uri="{9D8B030D-6E8A-4147-A177-3AD203B41FA5}">
                      <a16:colId xmlns:a16="http://schemas.microsoft.com/office/drawing/2014/main" val="3853771209"/>
                    </a:ext>
                  </a:extLst>
                </a:gridCol>
                <a:gridCol w="3376725">
                  <a:extLst>
                    <a:ext uri="{9D8B030D-6E8A-4147-A177-3AD203B41FA5}">
                      <a16:colId xmlns:a16="http://schemas.microsoft.com/office/drawing/2014/main" val="1796327122"/>
                    </a:ext>
                  </a:extLst>
                </a:gridCol>
                <a:gridCol w="3117862">
                  <a:extLst>
                    <a:ext uri="{9D8B030D-6E8A-4147-A177-3AD203B41FA5}">
                      <a16:colId xmlns:a16="http://schemas.microsoft.com/office/drawing/2014/main" val="1537284872"/>
                    </a:ext>
                  </a:extLst>
                </a:gridCol>
              </a:tblGrid>
              <a:tr h="455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Problem</a:t>
                      </a:r>
                    </a:p>
                  </a:txBody>
                  <a:tcPr marL="103545" marR="103545" marT="51773" marB="517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Without MCP</a:t>
                      </a:r>
                    </a:p>
                  </a:txBody>
                  <a:tcPr marL="103545" marR="103545" marT="51773" marB="517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With MCP</a:t>
                      </a:r>
                    </a:p>
                  </a:txBody>
                  <a:tcPr marL="103545" marR="103545" marT="51773" marB="51773" anchor="ctr"/>
                </a:tc>
                <a:extLst>
                  <a:ext uri="{0D108BD9-81ED-4DB2-BD59-A6C34878D82A}">
                    <a16:rowId xmlns:a16="http://schemas.microsoft.com/office/drawing/2014/main" val="2897769655"/>
                  </a:ext>
                </a:extLst>
              </a:tr>
              <a:tr h="455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Large Data</a:t>
                      </a:r>
                    </a:p>
                  </a:txBody>
                  <a:tcPr marL="103545" marR="103545" marT="51773" marB="517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Raw text bloats messages</a:t>
                      </a:r>
                    </a:p>
                  </a:txBody>
                  <a:tcPr marL="103545" marR="103545" marT="51773" marB="517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Pointers reduce traffic</a:t>
                      </a:r>
                    </a:p>
                  </a:txBody>
                  <a:tcPr marL="103545" marR="103545" marT="51773" marB="51773" anchor="ctr"/>
                </a:tc>
                <a:extLst>
                  <a:ext uri="{0D108BD9-81ED-4DB2-BD59-A6C34878D82A}">
                    <a16:rowId xmlns:a16="http://schemas.microsoft.com/office/drawing/2014/main" val="4077890939"/>
                  </a:ext>
                </a:extLst>
              </a:tr>
              <a:tr h="766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Privacy</a:t>
                      </a:r>
                    </a:p>
                  </a:txBody>
                  <a:tcPr marL="103545" marR="103545" marT="51773" marB="517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Any agent can read memory</a:t>
                      </a:r>
                    </a:p>
                  </a:txBody>
                  <a:tcPr marL="103545" marR="103545" marT="51773" marB="517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Access control enforced</a:t>
                      </a:r>
                    </a:p>
                  </a:txBody>
                  <a:tcPr marL="103545" marR="103545" marT="51773" marB="51773" anchor="ctr"/>
                </a:tc>
                <a:extLst>
                  <a:ext uri="{0D108BD9-81ED-4DB2-BD59-A6C34878D82A}">
                    <a16:rowId xmlns:a16="http://schemas.microsoft.com/office/drawing/2014/main" val="1261358104"/>
                  </a:ext>
                </a:extLst>
              </a:tr>
              <a:tr h="766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Trust</a:t>
                      </a:r>
                    </a:p>
                  </a:txBody>
                  <a:tcPr marL="103545" marR="103545" marT="51773" marB="517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No way to verify data source</a:t>
                      </a:r>
                    </a:p>
                  </a:txBody>
                  <a:tcPr marL="103545" marR="103545" marT="51773" marB="517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Provenance tracking</a:t>
                      </a:r>
                    </a:p>
                  </a:txBody>
                  <a:tcPr marL="103545" marR="103545" marT="51773" marB="51773" anchor="ctr"/>
                </a:tc>
                <a:extLst>
                  <a:ext uri="{0D108BD9-81ED-4DB2-BD59-A6C34878D82A}">
                    <a16:rowId xmlns:a16="http://schemas.microsoft.com/office/drawing/2014/main" val="1617768003"/>
                  </a:ext>
                </a:extLst>
              </a:tr>
              <a:tr h="766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Interoperability</a:t>
                      </a:r>
                    </a:p>
                  </a:txBody>
                  <a:tcPr marL="103545" marR="103545" marT="51773" marB="517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Each framework uses its own format</a:t>
                      </a:r>
                    </a:p>
                  </a:txBody>
                  <a:tcPr marL="103545" marR="103545" marT="51773" marB="517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Unified protocol</a:t>
                      </a:r>
                    </a:p>
                  </a:txBody>
                  <a:tcPr marL="103545" marR="103545" marT="51773" marB="51773" anchor="ctr"/>
                </a:tc>
                <a:extLst>
                  <a:ext uri="{0D108BD9-81ED-4DB2-BD59-A6C34878D82A}">
                    <a16:rowId xmlns:a16="http://schemas.microsoft.com/office/drawing/2014/main" val="2226085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2884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BD2E62-A043-0D77-0C09-D568E129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Example: Healthcare Case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82AC93-6946-0C29-CD7D-91D863A827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9339395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69906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E074F1-E463-A3A0-57F2-5D6949370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A2A + MCP Together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496392B-0F59-9804-2751-119E206887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3541883"/>
              </p:ext>
            </p:extLst>
          </p:nvPr>
        </p:nvGraphicFramePr>
        <p:xfrm>
          <a:off x="1686287" y="3264586"/>
          <a:ext cx="8815071" cy="271576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625177">
                  <a:extLst>
                    <a:ext uri="{9D8B030D-6E8A-4147-A177-3AD203B41FA5}">
                      <a16:colId xmlns:a16="http://schemas.microsoft.com/office/drawing/2014/main" val="1329457007"/>
                    </a:ext>
                  </a:extLst>
                </a:gridCol>
                <a:gridCol w="7189894">
                  <a:extLst>
                    <a:ext uri="{9D8B030D-6E8A-4147-A177-3AD203B41FA5}">
                      <a16:colId xmlns:a16="http://schemas.microsoft.com/office/drawing/2014/main" val="2669792050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Layer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Description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2791895977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A2A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Communication: who talks to whom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2278650883"/>
                  </a:ext>
                </a:extLst>
              </a:tr>
              <a:tr h="1240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MCP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Context: what they share, with what security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333123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17826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01D3C2E-B627-E39C-0966-887742C21F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0504" y="26005"/>
            <a:ext cx="10309573" cy="6873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6370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1680</Words>
  <Application>Microsoft Office PowerPoint</Application>
  <PresentationFormat>Widescreen</PresentationFormat>
  <Paragraphs>207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From Shared Process Memory to True Multi-Agent Systems (A2A &amp; MCP)</vt:lpstr>
      <vt:lpstr>From Coordination to Communication</vt:lpstr>
      <vt:lpstr>The Problem: Shared Process = Hidden Coupling</vt:lpstr>
      <vt:lpstr>Logical vs Physical Isolation</vt:lpstr>
      <vt:lpstr>Real-World Need</vt:lpstr>
      <vt:lpstr>Understanding A2A (Agent-to-Agent) Communication</vt:lpstr>
      <vt:lpstr>A2A</vt:lpstr>
      <vt:lpstr>The Structure of an A2A Message</vt:lpstr>
      <vt:lpstr>Communication Models</vt:lpstr>
      <vt:lpstr>How A2A Works Internally</vt:lpstr>
      <vt:lpstr>Each agent exposes a communication endpoint (HTTP, WebSocket, MQTT)</vt:lpstr>
      <vt:lpstr>PowerPoint Presentation</vt:lpstr>
      <vt:lpstr>Messages include sender, receiver, type, and payload</vt:lpstr>
      <vt:lpstr>A message queue or broker (RabbitMQ, Kafka, or custom) routes them</vt:lpstr>
      <vt:lpstr>Agents process messages and may respond with new ones</vt:lpstr>
      <vt:lpstr>PowerPoint Presentation</vt:lpstr>
      <vt:lpstr>Why A2A Alone Isn’t Enough</vt:lpstr>
      <vt:lpstr>What A2A does give you</vt:lpstr>
      <vt:lpstr>Why A2A alone can’t verify provenance</vt:lpstr>
      <vt:lpstr>What is MCP?</vt:lpstr>
      <vt:lpstr>MCP Core Components</vt:lpstr>
      <vt:lpstr>How MCP Works</vt:lpstr>
      <vt:lpstr>MCP Solves Four Problems</vt:lpstr>
      <vt:lpstr>Example: Healthcare Case</vt:lpstr>
      <vt:lpstr>A2A + MCP Together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usama imtiaz</dc:creator>
  <cp:lastModifiedBy>usama imtiaz</cp:lastModifiedBy>
  <cp:revision>16</cp:revision>
  <dcterms:created xsi:type="dcterms:W3CDTF">2025-10-21T18:53:42Z</dcterms:created>
  <dcterms:modified xsi:type="dcterms:W3CDTF">2026-04-02T10:37:20Z</dcterms:modified>
</cp:coreProperties>
</file>