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69" r:id="rId4"/>
    <p:sldId id="260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104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444479B-705B-4489-957E-7E8A228BDFA0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6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4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8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6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7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1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2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2E171BA-CC09-47C8-A6DF-F5C5CB59CEEC}" type="datetime1">
              <a:rPr lang="en-US" smtClean="0"/>
              <a:t>9/6/2025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50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6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6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9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lack chains">
            <a:extLst>
              <a:ext uri="{FF2B5EF4-FFF2-40B4-BE49-F238E27FC236}">
                <a16:creationId xmlns:a16="http://schemas.microsoft.com/office/drawing/2014/main" id="{1FB82078-100F-D40C-094B-35D274BCCD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3905" b="105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B87D2-A59E-B476-A589-51B1C4070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11500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LangChain Agents &amp; Chains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5B93B-E236-B73E-30D6-F96B619B1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/>
              <a:t>Orchestrating reasoning and tool use with LLMs</a:t>
            </a:r>
          </a:p>
        </p:txBody>
      </p:sp>
    </p:spTree>
    <p:extLst>
      <p:ext uri="{BB962C8B-B14F-4D97-AF65-F5344CB8AC3E}">
        <p14:creationId xmlns:p14="http://schemas.microsoft.com/office/powerpoint/2010/main" val="4193214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59500-39DB-97C1-8543-8BC408EF2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Quick Recap: What we built by hand (ReAct)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E3E52-FDBF-E05A-49FA-E3D822EA9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r>
              <a:rPr lang="en-US" dirty="0"/>
              <a:t>We prompted the LLM to reason → choose an Action → observe a tool result → repeat.</a:t>
            </a:r>
          </a:p>
          <a:p>
            <a:r>
              <a:rPr lang="en-US" dirty="0"/>
              <a:t>Tools were Python functions you wrote (e.g., calculator, </a:t>
            </a:r>
            <a:r>
              <a:rPr lang="en-US" dirty="0" err="1"/>
              <a:t>kb_search</a:t>
            </a:r>
            <a:r>
              <a:rPr lang="en-US" dirty="0"/>
              <a:t>).</a:t>
            </a:r>
          </a:p>
          <a:p>
            <a:r>
              <a:rPr lang="en-US" dirty="0"/>
              <a:t>We parsed the LLM’s text (“Action: …”, “Observation: …”) and managed the loop ourselves.</a:t>
            </a:r>
          </a:p>
          <a:p>
            <a:r>
              <a:rPr lang="en-US" b="1" dirty="0"/>
              <a:t>LangChain builds on the same principle but gives us a structured framework to avoid reinventing the wheel.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4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472A-F89D-250B-BEF4-FFC0484B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Framework at 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4F326-AA2F-2503-B23B-0ED7703C55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   Reduce Boilerplate</a:t>
            </a:r>
          </a:p>
          <a:p>
            <a:pPr marL="0" indent="0">
              <a:buNone/>
            </a:pPr>
            <a:r>
              <a:rPr lang="en-US" dirty="0"/>
              <a:t>Frameworks like LangChain automate the manual reasoning loops so we focus on the logic, not plumbing.</a:t>
            </a:r>
          </a:p>
          <a:p>
            <a:pPr marL="0" indent="0">
              <a:buNone/>
            </a:pPr>
            <a:r>
              <a:rPr lang="en-US" b="1" dirty="0"/>
              <a:t>2.    Standard Tool Interface</a:t>
            </a:r>
          </a:p>
          <a:p>
            <a:pPr marL="0" indent="0">
              <a:buNone/>
            </a:pPr>
            <a:r>
              <a:rPr lang="en-US" dirty="0"/>
              <a:t>Without LangChain, each function we create (search, calculator, DB) has its own custom format.</a:t>
            </a:r>
          </a:p>
          <a:p>
            <a:pPr marL="0" indent="0">
              <a:buNone/>
            </a:pPr>
            <a:r>
              <a:rPr lang="en-US" dirty="0"/>
              <a:t>LangChain enforces a uniform tool structure (name, description, input/output schema), so the LLM knows how to use them.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E1E20-C5DD-E65E-B24F-38595C912B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   Observability &amp; Debuggin</a:t>
            </a:r>
            <a:r>
              <a:rPr lang="en-US" dirty="0"/>
              <a:t>g</a:t>
            </a:r>
          </a:p>
          <a:p>
            <a:r>
              <a:rPr lang="en-US" dirty="0"/>
              <a:t>Manual agents are a “black box”: We have to print logs or add debug lines.</a:t>
            </a:r>
          </a:p>
          <a:p>
            <a:r>
              <a:rPr lang="en-US" dirty="0"/>
              <a:t>LangChain comes with built-in step tracking → We can see exactly what the agent “thought,” which tool it picked, and what result came back.</a:t>
            </a:r>
          </a:p>
          <a:p>
            <a:r>
              <a:rPr lang="en-US" b="1" dirty="0"/>
              <a:t>4.   Plug-and-Play Ecosystem</a:t>
            </a:r>
          </a:p>
          <a:p>
            <a:r>
              <a:rPr lang="en-US" dirty="0"/>
              <a:t>Instead of writing connectors to APIs, databases, or vector stores ourself, LangChain offers prebuilt integrations.</a:t>
            </a:r>
          </a:p>
          <a:p>
            <a:r>
              <a:rPr lang="en-US" dirty="0"/>
              <a:t>Examples: Google Search, Pinecone, SQL, Wikipedia, Zapier, Redis.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63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090937-65B6-4E69-8A51-DC43F55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089CF-F015-2147-3869-AF2F32E0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0" y="1059893"/>
            <a:ext cx="3462229" cy="4738211"/>
          </a:xfrm>
        </p:spPr>
        <p:txBody>
          <a:bodyPr>
            <a:normAutofit/>
          </a:bodyPr>
          <a:lstStyle/>
          <a:p>
            <a:r>
              <a:rPr lang="en-US"/>
              <a:t>What is LangChain?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F8026-88C8-40AD-89D3-AB638002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ED1E-92D9-B3FA-714A-92039ECF0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674" y="1059894"/>
            <a:ext cx="6349708" cy="4717972"/>
          </a:xfrm>
        </p:spPr>
        <p:txBody>
          <a:bodyPr anchor="ctr">
            <a:normAutofit/>
          </a:bodyPr>
          <a:lstStyle/>
          <a:p>
            <a:r>
              <a:rPr lang="en-US" dirty="0"/>
              <a:t>A Framework for AI Workflows</a:t>
            </a:r>
          </a:p>
          <a:p>
            <a:r>
              <a:rPr lang="en-US" dirty="0"/>
              <a:t>LangChain is not an AI model itself.</a:t>
            </a:r>
          </a:p>
          <a:p>
            <a:r>
              <a:rPr lang="en-US" dirty="0"/>
              <a:t>It is a toolbox and organizer that helps us build applications on top of Large Language Models (LLMs).</a:t>
            </a:r>
          </a:p>
          <a:p>
            <a:r>
              <a:rPr lang="en-US" dirty="0"/>
              <a:t>Two Core Ideas</a:t>
            </a:r>
          </a:p>
          <a:p>
            <a:pPr lvl="1"/>
            <a:r>
              <a:rPr lang="en-US" dirty="0"/>
              <a:t>Chains → pre-defined workflows where each step is fixed (like a recipe).</a:t>
            </a:r>
          </a:p>
          <a:p>
            <a:pPr lvl="1"/>
            <a:r>
              <a:rPr lang="en-US" dirty="0"/>
              <a:t>Agents → LLMs that can decide dynamically which tool to use (like a chef improvising).</a:t>
            </a:r>
          </a:p>
        </p:txBody>
      </p:sp>
    </p:spTree>
    <p:extLst>
      <p:ext uri="{BB962C8B-B14F-4D97-AF65-F5344CB8AC3E}">
        <p14:creationId xmlns:p14="http://schemas.microsoft.com/office/powerpoint/2010/main" val="963138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090937-65B6-4E69-8A51-DC43F55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3B246-0F45-5F54-DF5C-FFD0B5C6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0" y="1059893"/>
            <a:ext cx="3462229" cy="4738211"/>
          </a:xfrm>
        </p:spPr>
        <p:txBody>
          <a:bodyPr>
            <a:normAutofit/>
          </a:bodyPr>
          <a:lstStyle/>
          <a:p>
            <a:r>
              <a:rPr lang="en-US" dirty="0"/>
              <a:t>LangChain Intro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F8026-88C8-40AD-89D3-AB638002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A8A2-311E-2DEA-B2F0-EB5EAE79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674" y="446809"/>
            <a:ext cx="6349708" cy="6120246"/>
          </a:xfrm>
        </p:spPr>
        <p:txBody>
          <a:bodyPr anchor="ctr">
            <a:noAutofit/>
          </a:bodyPr>
          <a:lstStyle/>
          <a:p>
            <a:r>
              <a:rPr lang="en-US" b="1" dirty="0"/>
              <a:t>Why It Matters</a:t>
            </a:r>
          </a:p>
          <a:p>
            <a:pPr lvl="1"/>
            <a:r>
              <a:rPr lang="en-US" dirty="0"/>
              <a:t>Without LangChain, we must hand-code the entire reasoning loop (as we did with </a:t>
            </a:r>
            <a:r>
              <a:rPr lang="en-US" dirty="0" err="1"/>
              <a:t>ReAct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With LangChain, we get a ready-made structure where we only: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200" dirty="0"/>
              <a:t>Define tools you want the agent to use,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200" dirty="0"/>
              <a:t>Provide prompts/templates,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200" dirty="0"/>
              <a:t>Decide how you want results returned.</a:t>
            </a:r>
          </a:p>
          <a:p>
            <a:r>
              <a:rPr lang="en-US" b="1" dirty="0"/>
              <a:t>Key Features</a:t>
            </a:r>
          </a:p>
          <a:p>
            <a:pPr lvl="1"/>
            <a:r>
              <a:rPr lang="en-US" dirty="0"/>
              <a:t>Built-in memory (short-term + long-term).</a:t>
            </a:r>
          </a:p>
          <a:p>
            <a:pPr lvl="1"/>
            <a:r>
              <a:rPr lang="en-US" dirty="0"/>
              <a:t>Tool integrations (search, databases, APIs, document retrievers).</a:t>
            </a:r>
          </a:p>
          <a:p>
            <a:pPr lvl="1"/>
            <a:r>
              <a:rPr lang="en-US" dirty="0"/>
              <a:t>Support for multiple reasoning strategies (</a:t>
            </a:r>
            <a:r>
              <a:rPr lang="en-US" dirty="0" err="1"/>
              <a:t>ReAct</a:t>
            </a:r>
            <a:r>
              <a:rPr lang="en-US" dirty="0"/>
              <a:t>, Plan-Execute, Self-Ask).</a:t>
            </a:r>
          </a:p>
          <a:p>
            <a:pPr lvl="1"/>
            <a:r>
              <a:rPr lang="en-US" dirty="0"/>
              <a:t>Debugging and tracing to see every decision step.</a:t>
            </a:r>
          </a:p>
        </p:txBody>
      </p:sp>
    </p:spTree>
    <p:extLst>
      <p:ext uri="{BB962C8B-B14F-4D97-AF65-F5344CB8AC3E}">
        <p14:creationId xmlns:p14="http://schemas.microsoft.com/office/powerpoint/2010/main" val="2772778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5179-FF34-09D2-A9D1-2E4B52A8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Chains vs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9417-9038-677B-D095-1CE11F585A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Chains (Fixed Recipes)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Chain is a pre-programmed sequence of steps.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Example: “Take input → Summarize → Translate → Return.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Always follows the same path, no matter the input.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Strengths: Predictable, reliable, faster, easier to test.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Weakness: Not flexible — can’t adapt if a new type of query comes in.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BF359-C2DD-5098-8E83-EF4CED5CD2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Agents (Adaptive Chefs)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 Agent uses an LLM to decide which tool to use at each step.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If the question is math → call Calculator.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If the question is about history → call Wikipedia.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If the question is about a company policy → call PDF Retriever.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Strengths: Flexible, can handle diverse queries, mimics real problem-solving.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Weakness: Slightly slower, more complex, needs guardrails.</a:t>
            </a:r>
          </a:p>
        </p:txBody>
      </p:sp>
    </p:spTree>
    <p:extLst>
      <p:ext uri="{BB962C8B-B14F-4D97-AF65-F5344CB8AC3E}">
        <p14:creationId xmlns:p14="http://schemas.microsoft.com/office/powerpoint/2010/main" val="3486524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BE94D7-EDB9-3EA2-A784-EBAD27C3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Chains vs Agents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A555D-B1D3-30EC-4FC6-C7A4260B7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r>
              <a:rPr lang="en-US" dirty="0"/>
              <a:t>LangChain lets us build both:</a:t>
            </a:r>
          </a:p>
          <a:p>
            <a:pPr lvl="1"/>
            <a:r>
              <a:rPr lang="en-US" dirty="0"/>
              <a:t>Use Chains when we know the path.</a:t>
            </a:r>
          </a:p>
          <a:p>
            <a:pPr lvl="1"/>
            <a:r>
              <a:rPr lang="en-US" dirty="0"/>
              <a:t>Use Agents when the path depends on the question.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FE9F7-BFDB-4502-FBD1-93FFF1E8AD83}"/>
              </a:ext>
            </a:extLst>
          </p:cNvPr>
          <p:cNvSpPr txBox="1"/>
          <p:nvPr/>
        </p:nvSpPr>
        <p:spPr>
          <a:xfrm>
            <a:off x="806195" y="4546753"/>
            <a:ext cx="43165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Chains are great for: summarization, translation, rewriting, single-step Q&amp;A, form-filling, one-shot classification, even simple RAG where the steps never change.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01D51-BE98-9F19-54B9-6693C24045AA}"/>
              </a:ext>
            </a:extLst>
          </p:cNvPr>
          <p:cNvSpPr txBox="1"/>
          <p:nvPr/>
        </p:nvSpPr>
        <p:spPr>
          <a:xfrm>
            <a:off x="5717597" y="4886097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Think → Pick a tool → Run it → Observe → Repeat</a:t>
            </a:r>
            <a:r>
              <a:rPr lang="en-US" dirty="0"/>
              <a:t> until done.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FD3B6-528B-3D82-4863-FD0E9EFAC5D7}"/>
              </a:ext>
            </a:extLst>
          </p:cNvPr>
          <p:cNvSpPr txBox="1"/>
          <p:nvPr/>
        </p:nvSpPr>
        <p:spPr>
          <a:xfrm>
            <a:off x="3192606" y="6051796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Chains use tools in a predetermined pipeline; Agents choose tools dynamically during reasoning</a:t>
            </a:r>
          </a:p>
        </p:txBody>
      </p:sp>
    </p:spTree>
    <p:extLst>
      <p:ext uri="{BB962C8B-B14F-4D97-AF65-F5344CB8AC3E}">
        <p14:creationId xmlns:p14="http://schemas.microsoft.com/office/powerpoint/2010/main" val="41075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4A64-3DB7-2C1E-2BA3-3DA2A3D3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19FB41-58BC-CF9C-4B4B-6A476EAEBD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224" y="1603735"/>
            <a:ext cx="958890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you draw the same fixed flowchart for every input?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you need the model to decide “Should I search the web or query SQL or just answer?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fastest response (autocomplete, inline hints)?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LLM or 1-step Chain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to orchestrate multiple external systems depending on the question?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0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632E-41EE-7C7C-62B2-2A34CDF8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</a:t>
            </a:r>
            <a:r>
              <a:rPr lang="en-US" dirty="0" err="1"/>
              <a:t>ReAct</a:t>
            </a:r>
            <a:r>
              <a:rPr lang="en-US" dirty="0"/>
              <a:t> vs LangChain Agent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63ECA-2782-F0EB-5B04-1077FFD65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</a:t>
            </a:r>
            <a:r>
              <a:rPr lang="en-US" dirty="0" err="1"/>
              <a:t>ReAct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814BD-31ED-4ECE-E167-A6F30291C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We wrote the prompt, parsing logic, and loop </a:t>
            </a:r>
            <a:r>
              <a:rPr lang="en-US" sz="2000" dirty="0" err="1"/>
              <a:t>werself</a:t>
            </a:r>
            <a:r>
              <a:rPr lang="en-US" sz="2000" dirty="0"/>
              <a:t>.</a:t>
            </a:r>
          </a:p>
          <a:p>
            <a:r>
              <a:rPr lang="en-US" sz="2000" dirty="0"/>
              <a:t>Tools were plain Python functions (calculator, search, etc.).</a:t>
            </a:r>
          </a:p>
          <a:p>
            <a:r>
              <a:rPr lang="en-US" sz="2000" dirty="0"/>
              <a:t>Adding tools or fixing parsing errors meant changing </a:t>
            </a:r>
            <a:r>
              <a:rPr lang="en-US" sz="2000" dirty="0" err="1"/>
              <a:t>wer</a:t>
            </a:r>
            <a:r>
              <a:rPr lang="en-US" sz="2000" dirty="0"/>
              <a:t> code.</a:t>
            </a:r>
          </a:p>
          <a:p>
            <a:r>
              <a:rPr lang="en-US" sz="2000" dirty="0"/>
              <a:t>Debugging was harder — we had to print everything manually.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>
                <a:solidFill>
                  <a:schemeClr val="bg1"/>
                </a:solidFill>
              </a:rPr>
              <a:t>Key Building Blocks: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D8196-42DC-339B-7E31-3ED7219C6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LangChain Agent (framework):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C8AEAA-79D7-C83E-1605-AD623BCF39C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Comes with built-in </a:t>
            </a:r>
            <a:r>
              <a:rPr lang="en-US" sz="2000" dirty="0" err="1"/>
              <a:t>ReAct</a:t>
            </a:r>
            <a:r>
              <a:rPr lang="en-US" sz="2000" dirty="0"/>
              <a:t> prompts and a managed Reason → Act → Observe loop.</a:t>
            </a:r>
          </a:p>
          <a:p>
            <a:r>
              <a:rPr lang="en-US" sz="2000" dirty="0"/>
              <a:t>Tools are wrapped in a standard Tool(name, description, </a:t>
            </a:r>
            <a:r>
              <a:rPr lang="en-US" sz="2000" dirty="0" err="1"/>
              <a:t>func</a:t>
            </a:r>
            <a:r>
              <a:rPr lang="en-US" sz="2000" dirty="0"/>
              <a:t>) format.</a:t>
            </a:r>
          </a:p>
          <a:p>
            <a:r>
              <a:rPr lang="en-US" sz="2000" dirty="0"/>
              <a:t>The </a:t>
            </a:r>
            <a:r>
              <a:rPr lang="en-US" sz="2000" dirty="0" err="1"/>
              <a:t>AgentExecutor</a:t>
            </a:r>
            <a:r>
              <a:rPr lang="en-US" sz="2000" dirty="0"/>
              <a:t> runs the loop and handles parsing automatically.</a:t>
            </a:r>
          </a:p>
          <a:p>
            <a:r>
              <a:rPr lang="en-US" sz="2000" dirty="0"/>
              <a:t>Built-in step tracing and logs make debugging much easier.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45511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88FA52F-675E-4661-BA16-455C93943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FCE8FB-74E1-C988-4A2C-82FA8F5B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56" y="896684"/>
            <a:ext cx="2979252" cy="4979728"/>
          </a:xfrm>
        </p:spPr>
        <p:txBody>
          <a:bodyPr anchor="ctr">
            <a:normAutofit/>
          </a:bodyPr>
          <a:lstStyle/>
          <a:p>
            <a:pPr algn="r"/>
            <a:r>
              <a:rPr lang="en-US" sz="4000"/>
              <a:t>Agent Building Blocks (LangChain)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BC4E14-913C-46C0-ABF7-BDDAEC08A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440" y="2071116"/>
            <a:ext cx="0" cy="2715768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181AC0-BDE7-B54D-2252-F762564DF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172" y="896684"/>
            <a:ext cx="5484707" cy="5064633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LLM </a:t>
            </a:r>
          </a:p>
          <a:p>
            <a:pPr lvl="1"/>
            <a:r>
              <a:rPr lang="en-US" sz="1800" dirty="0"/>
              <a:t>The reasoning engine.</a:t>
            </a:r>
          </a:p>
          <a:p>
            <a:pPr lvl="1"/>
            <a:r>
              <a:rPr lang="en-US" sz="1800" dirty="0"/>
              <a:t>Decides what needs to be done step by step.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Tools</a:t>
            </a:r>
          </a:p>
          <a:p>
            <a:pPr lvl="1"/>
            <a:r>
              <a:rPr lang="en-US" sz="1800" dirty="0"/>
              <a:t>External functions or APIs the agent can use.</a:t>
            </a:r>
          </a:p>
          <a:p>
            <a:pPr lvl="1"/>
            <a:r>
              <a:rPr lang="en-US" sz="1800" dirty="0"/>
              <a:t>Examples: calculator, web search, database query, PDF retriever.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Prompt Template</a:t>
            </a:r>
          </a:p>
          <a:p>
            <a:pPr lvl="1"/>
            <a:r>
              <a:rPr lang="en-US" sz="1800" dirty="0"/>
              <a:t>Guides the LLM: how to reason, how to call tools, when to stop.</a:t>
            </a:r>
          </a:p>
          <a:p>
            <a:pPr lvl="1"/>
            <a:r>
              <a:rPr lang="en-US" sz="1800" dirty="0"/>
              <a:t>Often follows a </a:t>
            </a:r>
            <a:r>
              <a:rPr lang="en-US" sz="1800" dirty="0" err="1"/>
              <a:t>ReAct</a:t>
            </a:r>
            <a:r>
              <a:rPr lang="en-US" sz="1800" dirty="0"/>
              <a:t>-style format: “Thought → Action → Observation.”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Agent Executor</a:t>
            </a:r>
          </a:p>
          <a:p>
            <a:pPr lvl="1"/>
            <a:r>
              <a:rPr lang="en-US" sz="1800" dirty="0"/>
              <a:t>Runs the reasoning loop automatically.</a:t>
            </a:r>
          </a:p>
          <a:p>
            <a:pPr lvl="1"/>
            <a:r>
              <a:rPr lang="en-US" sz="1800" dirty="0"/>
              <a:t>Coordinates between the LLM and tools until a final answer is ready.</a:t>
            </a:r>
          </a:p>
        </p:txBody>
      </p:sp>
    </p:spTree>
    <p:extLst>
      <p:ext uri="{BB962C8B-B14F-4D97-AF65-F5344CB8AC3E}">
        <p14:creationId xmlns:p14="http://schemas.microsoft.com/office/powerpoint/2010/main" val="127000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E9E3B-87D4-8B82-257D-40BA599E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What Counts as a Tool?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E62C2-2896-5FAC-012B-41707320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Autofit/>
          </a:bodyPr>
          <a:lstStyle/>
          <a:p>
            <a:r>
              <a:rPr lang="en-US" sz="2000" dirty="0"/>
              <a:t>In LangChain, a </a:t>
            </a:r>
            <a:r>
              <a:rPr lang="en-US" sz="2000" b="1" dirty="0"/>
              <a:t>tool</a:t>
            </a:r>
            <a:r>
              <a:rPr lang="en-US" sz="2000" dirty="0"/>
              <a:t> is anything the agent can call to get information or perform an action.</a:t>
            </a:r>
          </a:p>
          <a:p>
            <a:r>
              <a:rPr lang="en-US" sz="2000" dirty="0"/>
              <a:t>Think of tools as the </a:t>
            </a:r>
            <a:r>
              <a:rPr lang="en-US" sz="2000" b="1" dirty="0"/>
              <a:t>agent’s toolbox</a:t>
            </a:r>
            <a:r>
              <a:rPr lang="en-US" sz="2000" dirty="0"/>
              <a:t> — we decide what to include.</a:t>
            </a:r>
          </a:p>
          <a:p>
            <a:r>
              <a:rPr lang="en-US" sz="2000" b="1" dirty="0"/>
              <a:t>Knowledge Tools</a:t>
            </a:r>
          </a:p>
          <a:p>
            <a:pPr lvl="1"/>
            <a:r>
              <a:rPr lang="en-US" sz="2000" dirty="0"/>
              <a:t>Let the agent access external knowledge.</a:t>
            </a:r>
          </a:p>
          <a:p>
            <a:pPr lvl="1"/>
            <a:r>
              <a:rPr lang="en-US" sz="2000" dirty="0"/>
              <a:t>Examples: Wikipedia search, Google search, document retrievers (PDFs, Notion, databases).</a:t>
            </a:r>
          </a:p>
          <a:p>
            <a:r>
              <a:rPr lang="en-US" sz="2000" b="1" dirty="0"/>
              <a:t>Utility Tools</a:t>
            </a:r>
          </a:p>
          <a:p>
            <a:pPr lvl="1"/>
            <a:r>
              <a:rPr lang="en-US" sz="2000" dirty="0"/>
              <a:t>Perform calculations or operations.</a:t>
            </a:r>
          </a:p>
          <a:p>
            <a:pPr lvl="1"/>
            <a:r>
              <a:rPr lang="en-US" sz="2000" dirty="0"/>
              <a:t>Examples: calculator, Python REPL, unit converters.</a:t>
            </a:r>
          </a:p>
          <a:p>
            <a:r>
              <a:rPr lang="en-US" sz="2000" b="1" dirty="0"/>
              <a:t>Data Tools</a:t>
            </a:r>
          </a:p>
          <a:p>
            <a:pPr lvl="1"/>
            <a:r>
              <a:rPr lang="en-US" sz="2000" dirty="0"/>
              <a:t>Query or update structured data.</a:t>
            </a:r>
          </a:p>
          <a:p>
            <a:pPr lvl="1"/>
            <a:r>
              <a:rPr lang="en-US" sz="2000" dirty="0"/>
              <a:t>Examples: SQL databases, spreadsheets, APIs returning JSON.</a:t>
            </a:r>
          </a:p>
          <a:p>
            <a:r>
              <a:rPr lang="en-US" sz="2000" b="1" dirty="0"/>
              <a:t>Enterprise Connectors</a:t>
            </a:r>
          </a:p>
          <a:p>
            <a:pPr lvl="1"/>
            <a:r>
              <a:rPr lang="en-US" sz="2000" dirty="0"/>
              <a:t>Integrate with apps and services.</a:t>
            </a:r>
          </a:p>
          <a:p>
            <a:pPr lvl="1"/>
            <a:r>
              <a:rPr lang="en-US" sz="2000" dirty="0"/>
              <a:t>Examples: Salesforce, Slack, Zapier, Gmail.</a:t>
            </a:r>
          </a:p>
        </p:txBody>
      </p:sp>
    </p:spTree>
    <p:extLst>
      <p:ext uri="{BB962C8B-B14F-4D97-AF65-F5344CB8AC3E}">
        <p14:creationId xmlns:p14="http://schemas.microsoft.com/office/powerpoint/2010/main" val="255112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3387C-0316-14E9-2365-25C5EFDB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93518"/>
            <a:ext cx="6235869" cy="6764481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Step Limits</a:t>
            </a:r>
          </a:p>
          <a:p>
            <a:pPr lvl="1"/>
            <a:r>
              <a:rPr lang="en-US" sz="2000" dirty="0"/>
              <a:t>Agents could get stuck in endless loops (“hallucinating” tool calls).</a:t>
            </a:r>
          </a:p>
          <a:p>
            <a:pPr lvl="1"/>
            <a:r>
              <a:rPr lang="en-US" sz="2000" dirty="0"/>
              <a:t>LangChain lets you set a maximum number of tool calls per query (e.g., 5).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Tool Input Validation</a:t>
            </a:r>
          </a:p>
          <a:p>
            <a:pPr lvl="1"/>
            <a:r>
              <a:rPr lang="en-US" sz="2000" dirty="0"/>
              <a:t>Tools expect structured inputs.</a:t>
            </a:r>
          </a:p>
          <a:p>
            <a:pPr lvl="1"/>
            <a:r>
              <a:rPr lang="en-US" sz="2000" dirty="0"/>
              <a:t>LangChain enforces schemas so agents don’t pass nonsense arguments.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Restricted Tools</a:t>
            </a:r>
          </a:p>
          <a:p>
            <a:pPr lvl="1"/>
            <a:r>
              <a:rPr lang="en-US" sz="2000" dirty="0"/>
              <a:t>We decide which tools are available.</a:t>
            </a:r>
          </a:p>
          <a:p>
            <a:pPr lvl="1"/>
            <a:r>
              <a:rPr lang="en-US" sz="2000" dirty="0"/>
              <a:t>Sensitive tools (like database writes, emails, payments) can be kept out unless absolutely needed.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Moderation &amp; Filtering</a:t>
            </a:r>
          </a:p>
          <a:p>
            <a:pPr lvl="1"/>
            <a:r>
              <a:rPr lang="en-US" sz="2000" dirty="0"/>
              <a:t>LangChain integrates with content filters to block unsafe queries or outputs.</a:t>
            </a:r>
          </a:p>
          <a:p>
            <a:pPr lvl="1"/>
            <a:r>
              <a:rPr lang="en-US" sz="2000" dirty="0"/>
              <a:t>Example: prevent the agent from answering with personal data or executing malicious code.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BCB13-723B-C975-DBFE-6F3D39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Safety &amp; Guardrails in LangChain</a:t>
            </a:r>
          </a:p>
        </p:txBody>
      </p:sp>
    </p:spTree>
    <p:extLst>
      <p:ext uri="{BB962C8B-B14F-4D97-AF65-F5344CB8AC3E}">
        <p14:creationId xmlns:p14="http://schemas.microsoft.com/office/powerpoint/2010/main" val="1423425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8B312-0943-AC1E-D98E-859BF402F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When NOT to Use an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98EE-0889-A2FB-564D-03D23CF2C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942" y="498763"/>
            <a:ext cx="6140590" cy="617220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Agents are powerful, but they’re not always the right choice.</a:t>
            </a:r>
          </a:p>
          <a:p>
            <a:pPr lvl="1"/>
            <a:r>
              <a:rPr lang="en-US" sz="2000" dirty="0"/>
              <a:t>Simple, Predictable Tasks → Use Chains Instead</a:t>
            </a:r>
          </a:p>
          <a:p>
            <a:pPr lvl="1"/>
            <a:r>
              <a:rPr lang="en-US" sz="2000" dirty="0"/>
              <a:t>Example: Summarize → Translate → Return.</a:t>
            </a:r>
          </a:p>
          <a:p>
            <a:pPr lvl="1"/>
            <a:r>
              <a:rPr lang="en-US" sz="2000" dirty="0"/>
              <a:t>An agent is overkill here.</a:t>
            </a:r>
          </a:p>
          <a:p>
            <a:r>
              <a:rPr lang="en-US" sz="2000" dirty="0"/>
              <a:t>Tasks Without Tools → Just Use LLM</a:t>
            </a:r>
          </a:p>
          <a:p>
            <a:pPr lvl="1"/>
            <a:r>
              <a:rPr lang="en-US" sz="2000" dirty="0"/>
              <a:t>If the LLM can solve it with a single prompt, you don’t need an agent.</a:t>
            </a:r>
          </a:p>
          <a:p>
            <a:r>
              <a:rPr lang="en-US" sz="2000" dirty="0"/>
              <a:t>Latency-Sensitive Applications</a:t>
            </a:r>
          </a:p>
          <a:p>
            <a:pPr lvl="1"/>
            <a:r>
              <a:rPr lang="en-US" sz="2000" dirty="0"/>
              <a:t>Agents are slower because they may call multiple tools before finishing.</a:t>
            </a:r>
          </a:p>
          <a:p>
            <a:pPr lvl="1"/>
            <a:r>
              <a:rPr lang="en-US" sz="2000" dirty="0"/>
              <a:t>If you need instant answers (e.g., autocomplete), a chain or direct LLM is better.</a:t>
            </a:r>
          </a:p>
          <a:p>
            <a:r>
              <a:rPr lang="en-US" sz="2000" dirty="0"/>
              <a:t>When Stability &gt; Flexibility</a:t>
            </a:r>
          </a:p>
          <a:p>
            <a:pPr lvl="1"/>
            <a:r>
              <a:rPr lang="en-US" sz="2000" dirty="0"/>
              <a:t>Agents can behave unpredictably since the LLM decides the path.</a:t>
            </a:r>
          </a:p>
          <a:p>
            <a:pPr lvl="1"/>
            <a:r>
              <a:rPr lang="en-US" sz="2000" dirty="0"/>
              <a:t>If you need deterministic, repeatable results, stick to chains.</a:t>
            </a:r>
          </a:p>
        </p:txBody>
      </p:sp>
    </p:spTree>
    <p:extLst>
      <p:ext uri="{BB962C8B-B14F-4D97-AF65-F5344CB8AC3E}">
        <p14:creationId xmlns:p14="http://schemas.microsoft.com/office/powerpoint/2010/main" val="309029693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140</TotalTime>
  <Words>1296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 Light</vt:lpstr>
      <vt:lpstr>Wingdings</vt:lpstr>
      <vt:lpstr>Metropolitan</vt:lpstr>
      <vt:lpstr>LangChain Agents &amp; Chains</vt:lpstr>
      <vt:lpstr>Quick Recap: What we built by hand (ReAct)</vt:lpstr>
      <vt:lpstr>Why a Framework at All?</vt:lpstr>
      <vt:lpstr>What is LangChain?</vt:lpstr>
      <vt:lpstr>LangChain Intro</vt:lpstr>
      <vt:lpstr>Chains vs Agents</vt:lpstr>
      <vt:lpstr>Chains vs Agents</vt:lpstr>
      <vt:lpstr>Example</vt:lpstr>
      <vt:lpstr>Manual ReAct vs LangChain Agent</vt:lpstr>
      <vt:lpstr>Agent Building Blocks (LangChain)</vt:lpstr>
      <vt:lpstr>What Counts as a Tool?</vt:lpstr>
      <vt:lpstr>Safety &amp; Guardrails in LangChain</vt:lpstr>
      <vt:lpstr>When NOT to Use an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19</cp:revision>
  <dcterms:created xsi:type="dcterms:W3CDTF">2025-09-06T17:24:36Z</dcterms:created>
  <dcterms:modified xsi:type="dcterms:W3CDTF">2025-09-06T19:45:22Z</dcterms:modified>
</cp:coreProperties>
</file>