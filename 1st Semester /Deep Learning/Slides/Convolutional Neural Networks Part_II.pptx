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1593" r:id="rId4"/>
    <p:sldId id="1588" r:id="rId5"/>
    <p:sldId id="368" r:id="rId6"/>
    <p:sldId id="582" r:id="rId7"/>
    <p:sldId id="259" r:id="rId8"/>
    <p:sldId id="1573" r:id="rId9"/>
    <p:sldId id="395" r:id="rId10"/>
    <p:sldId id="1563" r:id="rId11"/>
    <p:sldId id="265" r:id="rId12"/>
    <p:sldId id="266" r:id="rId13"/>
    <p:sldId id="372" r:id="rId14"/>
    <p:sldId id="373" r:id="rId15"/>
    <p:sldId id="374" r:id="rId16"/>
    <p:sldId id="375" r:id="rId17"/>
    <p:sldId id="376" r:id="rId18"/>
    <p:sldId id="377" r:id="rId19"/>
    <p:sldId id="1564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1574" r:id="rId28"/>
    <p:sldId id="378" r:id="rId29"/>
    <p:sldId id="379" r:id="rId30"/>
    <p:sldId id="380" r:id="rId31"/>
    <p:sldId id="1586" r:id="rId32"/>
    <p:sldId id="1569" r:id="rId33"/>
    <p:sldId id="1570" r:id="rId34"/>
    <p:sldId id="1571" r:id="rId35"/>
    <p:sldId id="295" r:id="rId36"/>
    <p:sldId id="381" r:id="rId37"/>
    <p:sldId id="386" r:id="rId38"/>
    <p:sldId id="387" r:id="rId39"/>
    <p:sldId id="388" r:id="rId40"/>
    <p:sldId id="389" r:id="rId41"/>
    <p:sldId id="308" r:id="rId42"/>
    <p:sldId id="1575" r:id="rId43"/>
    <p:sldId id="1576" r:id="rId44"/>
    <p:sldId id="1577" r:id="rId45"/>
    <p:sldId id="155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CC"/>
    <a:srgbClr val="0F22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69" d="100"/>
          <a:sy n="69" d="100"/>
        </p:scale>
        <p:origin x="696" y="4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B02277-9392-41C3-AA11-A5F619BDEEA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892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7E9B09-8790-48B8-A98D-EF7D9605D023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30EE-7CBB-468D-82D5-0CB3227F21FD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ACA03-B8D2-4BC7-85A4-AA9771F12C4E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A497F-C3EE-4BC3-9B2C-0FA910FF0263}" type="datetime1">
              <a:rPr lang="en-US" smtClean="0"/>
              <a:t>2/27/2026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41B0D-AF38-4709-B613-45A9F260019B}" type="datetime1">
              <a:rPr lang="en-US" smtClean="0"/>
              <a:t>2/27/2026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986C5-D533-4C53-B05F-9ADDE0BED56E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C006-4328-4AA9-9E3B-76E1B8795CFB}" type="datetime1">
              <a:rPr lang="en-US" smtClean="0"/>
              <a:t>2/27/2026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B984-330B-4CD8-9A48-6D34E13D2E4D}" type="datetime1">
              <a:rPr lang="en-US" smtClean="0"/>
              <a:t>2/27/2026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82C2-FE44-42B2-9D3C-194B5FA95074}" type="datetime1">
              <a:rPr lang="en-US" smtClean="0"/>
              <a:t>2/27/2026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C99C6-8E21-4EE4-93E9-F9EB855D2514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EAE9-D36F-4934-8998-273A1D4E6B4D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28625" y="2610433"/>
            <a:ext cx="7134753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2"/>
            <a:ext cx="8534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6CE1D-BCEE-4E67-B296-F08946D6EC7B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8443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A3A3EE3-0242-4A0E-9800-BBBF27FCD581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9.png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8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7" Type="http://schemas.openxmlformats.org/officeDocument/2006/relationships/image" Target="../media/image31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jpg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14400" y="3168672"/>
            <a:ext cx="8892818" cy="520655"/>
          </a:xfrm>
          <a:prstGeom prst="rect">
            <a:avLst/>
          </a:prstGeom>
        </p:spPr>
        <p:txBody>
          <a:bodyPr vert="horz" wrap="square" lIns="0" tIns="33020" rIns="0" bIns="0" rtlCol="0" anchor="ctr">
            <a:spAutoFit/>
          </a:bodyPr>
          <a:lstStyle/>
          <a:p>
            <a:pPr marL="1085850" marR="5080" indent="-1073785">
              <a:lnSpc>
                <a:spcPts val="3800"/>
              </a:lnSpc>
              <a:spcBef>
                <a:spcPts val="260"/>
              </a:spcBef>
            </a:pPr>
            <a:r>
              <a:rPr spc="-5" dirty="0">
                <a:solidFill>
                  <a:srgbClr val="00B0F0"/>
                </a:solidFill>
              </a:rPr>
              <a:t>Introduction to Convolutional </a:t>
            </a:r>
            <a:r>
              <a:rPr dirty="0">
                <a:solidFill>
                  <a:srgbClr val="00B0F0"/>
                </a:solidFill>
              </a:rPr>
              <a:t>Neural</a:t>
            </a:r>
            <a:r>
              <a:rPr spc="-10" dirty="0">
                <a:solidFill>
                  <a:srgbClr val="00B0F0"/>
                </a:solidFill>
              </a:rPr>
              <a:t> </a:t>
            </a:r>
            <a:r>
              <a:rPr spc="-5" dirty="0">
                <a:solidFill>
                  <a:srgbClr val="00B0F0"/>
                </a:solidFill>
              </a:rPr>
              <a:t>Networks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EE322-26C3-458D-965E-AFC240B321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bg1"/>
                </a:solidFill>
              </a:rPr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4CA08F-71BD-48FD-BFF0-51E4D06F5AA0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856FBF0-D108-42D1-82EB-56810B995726}" type="datetime1">
              <a:rPr lang="en-US" smtClean="0">
                <a:solidFill>
                  <a:schemeClr val="bg1"/>
                </a:solidFill>
              </a:rPr>
              <a:t>2/27/2026</a:t>
            </a:fld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3756" y="1788561"/>
            <a:ext cx="9067799" cy="51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3200" dirty="0">
                <a:latin typeface="Calibri"/>
                <a:cs typeface="Calibri"/>
              </a:rPr>
              <a:t>CNN = </a:t>
            </a:r>
            <a:r>
              <a:rPr sz="3200" spc="-5" dirty="0">
                <a:latin typeface="Calibri"/>
                <a:cs typeface="Calibri"/>
              </a:rPr>
              <a:t>Neural Network with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20" dirty="0">
                <a:solidFill>
                  <a:srgbClr val="FF0000"/>
                </a:solidFill>
                <a:latin typeface="Calibri"/>
                <a:cs typeface="Calibri"/>
              </a:rPr>
              <a:t>convolu</a:t>
            </a:r>
            <a:r>
              <a:rPr lang="en-US" sz="3200" spc="20" dirty="0">
                <a:solidFill>
                  <a:srgbClr val="FF0000"/>
                </a:solidFill>
                <a:latin typeface="Calibri"/>
                <a:cs typeface="Calibri"/>
              </a:rPr>
              <a:t>ti</a:t>
            </a:r>
            <a:r>
              <a:rPr sz="3200" spc="20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32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25" dirty="0">
                <a:solidFill>
                  <a:srgbClr val="FF0000"/>
                </a:solidFill>
                <a:latin typeface="Calibri"/>
                <a:cs typeface="Calibri"/>
              </a:rPr>
              <a:t>opera</a:t>
            </a:r>
            <a:r>
              <a:rPr lang="en-US" sz="3200" spc="25" dirty="0">
                <a:solidFill>
                  <a:srgbClr val="FF0000"/>
                </a:solidFill>
                <a:latin typeface="Calibri"/>
                <a:cs typeface="Calibri"/>
              </a:rPr>
              <a:t>ti</a:t>
            </a:r>
            <a:r>
              <a:rPr sz="3200" spc="25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endParaRPr lang="en-US" sz="3200" spc="25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355600" indent="-34290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dirty="0"/>
              <a:t>Convolutional neural networks (</a:t>
            </a:r>
            <a:r>
              <a:rPr lang="en-US" sz="3200" dirty="0">
                <a:solidFill>
                  <a:srgbClr val="0070C0"/>
                </a:solidFill>
              </a:rPr>
              <a:t>CNN, </a:t>
            </a:r>
            <a:r>
              <a:rPr lang="en-US" sz="3200" dirty="0" err="1">
                <a:solidFill>
                  <a:srgbClr val="0070C0"/>
                </a:solidFill>
              </a:rPr>
              <a:t>ConvNet</a:t>
            </a:r>
            <a:r>
              <a:rPr lang="en-US" sz="3200" dirty="0"/>
              <a:t>) is a class of </a:t>
            </a:r>
            <a:r>
              <a:rPr lang="en-US" sz="3200" dirty="0">
                <a:solidFill>
                  <a:srgbClr val="FF0000"/>
                </a:solidFill>
              </a:rPr>
              <a:t>deep, feed-forward artificial neural networks </a:t>
            </a:r>
            <a:r>
              <a:rPr lang="en-US" sz="3200" dirty="0"/>
              <a:t>that are applied to </a:t>
            </a:r>
            <a:r>
              <a:rPr lang="en-US" sz="3200" dirty="0">
                <a:solidFill>
                  <a:srgbClr val="0070C0"/>
                </a:solidFill>
              </a:rPr>
              <a:t>analyzing visual imagery</a:t>
            </a:r>
            <a:r>
              <a:rPr lang="en-US" sz="3200" dirty="0"/>
              <a:t>. </a:t>
            </a:r>
          </a:p>
          <a:p>
            <a:pPr marL="355600" indent="-34290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25" dirty="0">
                <a:cs typeface="Calibri"/>
              </a:rPr>
              <a:t>Consists of </a:t>
            </a:r>
            <a:r>
              <a:rPr lang="en-US" sz="3200" spc="-5" dirty="0">
                <a:solidFill>
                  <a:srgbClr val="0070C0"/>
                </a:solidFill>
                <a:cs typeface="Calibri"/>
              </a:rPr>
              <a:t>Matrix Multiplication </a:t>
            </a:r>
            <a:r>
              <a:rPr lang="en-US" sz="3200" dirty="0">
                <a:cs typeface="Calibri"/>
              </a:rPr>
              <a:t>in at least </a:t>
            </a:r>
            <a:r>
              <a:rPr lang="en-US" sz="3200" spc="-5" dirty="0">
                <a:cs typeface="Calibri"/>
              </a:rPr>
              <a:t>one of </a:t>
            </a:r>
            <a:r>
              <a:rPr lang="en-US" sz="3200" dirty="0">
                <a:cs typeface="Calibri"/>
              </a:rPr>
              <a:t>the</a:t>
            </a:r>
            <a:r>
              <a:rPr lang="en-US" sz="3200" spc="-20" dirty="0">
                <a:cs typeface="Calibri"/>
              </a:rPr>
              <a:t> </a:t>
            </a:r>
            <a:r>
              <a:rPr lang="en-US" sz="3200" spc="-5" dirty="0">
                <a:cs typeface="Calibri"/>
              </a:rPr>
              <a:t>layers</a:t>
            </a:r>
          </a:p>
          <a:p>
            <a:pPr marL="355600" indent="-34290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sz="3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06422" y="1040053"/>
            <a:ext cx="3185160" cy="5740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Calibri"/>
                <a:cs typeface="Calibri"/>
              </a:rPr>
              <a:t>What are </a:t>
            </a:r>
            <a:r>
              <a:rPr dirty="0">
                <a:latin typeface="Calibri"/>
                <a:cs typeface="Calibri"/>
              </a:rPr>
              <a:t>CNNs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19D343-2212-4240-8DA8-3590F3D0C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D004237-5C13-48D9-B0BA-1356D3F02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5436D-A308-4D89-A8C3-C725952460B7}" type="datetime1">
              <a:rPr lang="en-US" smtClean="0"/>
              <a:t>2/27/2026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F1DBE6-5E4D-E018-8FAC-4CFB547B8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30EE-7CBB-468D-82D5-0CB3227F21FD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096295-27CB-9C18-89D9-CC4048010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F55C27C-90D5-7A99-0722-FDA121C11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Convolutional neural networks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8C2D5B8-BEE0-F4B8-E394-F4AD7283A48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00200"/>
            <a:ext cx="8153400" cy="486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3439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2A23D-0178-789B-4CC5-47D2575D1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530EE-7CBB-468D-82D5-0CB3227F21FD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1C670-0C70-82E4-8454-139C0F51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64C8FA2-8DF9-8383-C2AE-7D7F6850A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Convolutional neural networks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092F2A7-E598-4557-D605-3E863EBCEF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373" r="1482"/>
          <a:stretch/>
        </p:blipFill>
        <p:spPr bwMode="auto">
          <a:xfrm>
            <a:off x="152399" y="1430694"/>
            <a:ext cx="11250729" cy="5046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320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9E3735E6-3A9D-4DF0-84AD-86153F3CA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Smaller Network: 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85538-3C4F-D662-E3BF-B0C23381C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We know it is good to learn a small model.</a:t>
            </a:r>
          </a:p>
          <a:p>
            <a:r>
              <a:rPr lang="en-US" altLang="en-US" sz="2400" dirty="0"/>
              <a:t>From this fully connected model, do we really </a:t>
            </a:r>
            <a:r>
              <a:rPr lang="en-US" altLang="en-US" sz="2400" dirty="0">
                <a:solidFill>
                  <a:srgbClr val="FF0000"/>
                </a:solidFill>
              </a:rPr>
              <a:t>need all the edges</a:t>
            </a:r>
            <a:r>
              <a:rPr lang="en-US" altLang="en-US" sz="2400" dirty="0"/>
              <a:t>? </a:t>
            </a:r>
          </a:p>
          <a:p>
            <a:r>
              <a:rPr lang="en-US" altLang="en-US" sz="2400" dirty="0">
                <a:solidFill>
                  <a:srgbClr val="00B0F0"/>
                </a:solidFill>
              </a:rPr>
              <a:t>Can some of these be shared</a:t>
            </a:r>
            <a:r>
              <a:rPr lang="en-US" altLang="en-US" sz="2400" dirty="0"/>
              <a:t>?</a:t>
            </a:r>
          </a:p>
        </p:txBody>
      </p:sp>
      <p:pic>
        <p:nvPicPr>
          <p:cNvPr id="14339" name="Picture 3">
            <a:extLst>
              <a:ext uri="{FF2B5EF4-FFF2-40B4-BE49-F238E27FC236}">
                <a16:creationId xmlns:a16="http://schemas.microsoft.com/office/drawing/2014/main" id="{2FB30BAB-863C-1C1B-E053-E80F3EC2E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060700"/>
            <a:ext cx="6705600" cy="334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8956FC-893E-A5C3-66CE-457B5B7EE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7D8E2-D5AA-46E2-BBBA-DE84419D8F58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289891-E293-E226-2B29-0F156161C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418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 extraction architecture</a:t>
            </a:r>
          </a:p>
          <a:p>
            <a:pPr lvl="1"/>
            <a:r>
              <a:rPr lang="en-US" dirty="0"/>
              <a:t>After </a:t>
            </a:r>
            <a:r>
              <a:rPr lang="en-US" dirty="0">
                <a:solidFill>
                  <a:srgbClr val="FF0000"/>
                </a:solidFill>
              </a:rPr>
              <a:t>2 convolutional layers, a max-pooling </a:t>
            </a:r>
            <a:r>
              <a:rPr lang="en-US" dirty="0"/>
              <a:t>layer reduces the size of the feature maps (typically by 2)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00B0F0"/>
                </a:solidFill>
              </a:rPr>
              <a:t>fully convolutional and a </a:t>
            </a:r>
            <a:r>
              <a:rPr lang="en-US" dirty="0" err="1">
                <a:solidFill>
                  <a:srgbClr val="00B0F0"/>
                </a:solidFill>
              </a:rPr>
              <a:t>softmax</a:t>
            </a:r>
            <a:r>
              <a:rPr lang="en-US" dirty="0">
                <a:solidFill>
                  <a:srgbClr val="00B0F0"/>
                </a:solidFill>
              </a:rPr>
              <a:t> layers </a:t>
            </a:r>
            <a:r>
              <a:rPr lang="en-US" dirty="0"/>
              <a:t>are added last to perform classification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Convolutional Neural Networks (CNNs)</a:t>
            </a:r>
          </a:p>
        </p:txBody>
      </p:sp>
      <p:sp>
        <p:nvSpPr>
          <p:cNvPr id="4" name="Flowchart: Process 3"/>
          <p:cNvSpPr/>
          <p:nvPr/>
        </p:nvSpPr>
        <p:spPr bwMode="auto">
          <a:xfrm>
            <a:off x="4736219" y="3673154"/>
            <a:ext cx="137232" cy="1680882"/>
          </a:xfrm>
          <a:prstGeom prst="flowChartProcess">
            <a:avLst/>
          </a:prstGeom>
          <a:solidFill>
            <a:srgbClr val="F7615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35">
              <a:latin typeface="Arial" panose="020B0604020202020204" pitchFamily="34" charset="0"/>
              <a:ea typeface="ヒラギノ角ゴ Pro W3" pitchFamily="86" charset="-128"/>
            </a:endParaRPr>
          </a:p>
        </p:txBody>
      </p:sp>
      <p:sp>
        <p:nvSpPr>
          <p:cNvPr id="5" name="Flowchart: Process 4"/>
          <p:cNvSpPr/>
          <p:nvPr/>
        </p:nvSpPr>
        <p:spPr bwMode="auto">
          <a:xfrm>
            <a:off x="5316095" y="3915037"/>
            <a:ext cx="161288" cy="1210235"/>
          </a:xfrm>
          <a:prstGeom prst="flowChartProcess">
            <a:avLst/>
          </a:prstGeom>
          <a:solidFill>
            <a:srgbClr val="F7615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35">
              <a:latin typeface="Arial" panose="020B0604020202020204" pitchFamily="34" charset="0"/>
              <a:ea typeface="ヒラギノ角ゴ Pro W3" pitchFamily="86" charset="-128"/>
            </a:endParaRPr>
          </a:p>
        </p:txBody>
      </p:sp>
      <p:sp>
        <p:nvSpPr>
          <p:cNvPr id="6" name="Flowchart: Process 5"/>
          <p:cNvSpPr/>
          <p:nvPr/>
        </p:nvSpPr>
        <p:spPr bwMode="auto">
          <a:xfrm>
            <a:off x="6229339" y="4116743"/>
            <a:ext cx="180094" cy="806824"/>
          </a:xfrm>
          <a:prstGeom prst="flowChartProcess">
            <a:avLst/>
          </a:prstGeom>
          <a:solidFill>
            <a:srgbClr val="F7615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35">
              <a:latin typeface="Arial" panose="020B0604020202020204" pitchFamily="34" charset="0"/>
              <a:ea typeface="ヒラギノ角ゴ Pro W3" pitchFamily="86" charset="-128"/>
            </a:endParaRPr>
          </a:p>
        </p:txBody>
      </p:sp>
      <p:sp>
        <p:nvSpPr>
          <p:cNvPr id="7" name="Flowchart: Process 6"/>
          <p:cNvSpPr/>
          <p:nvPr/>
        </p:nvSpPr>
        <p:spPr bwMode="auto">
          <a:xfrm>
            <a:off x="7158971" y="4251214"/>
            <a:ext cx="205187" cy="537882"/>
          </a:xfrm>
          <a:prstGeom prst="flowChartProcess">
            <a:avLst/>
          </a:prstGeom>
          <a:solidFill>
            <a:srgbClr val="F7615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35">
              <a:latin typeface="Arial" panose="020B0604020202020204" pitchFamily="34" charset="0"/>
              <a:ea typeface="ヒラギノ角ゴ Pro W3" pitchFamily="86" charset="-128"/>
            </a:endParaRPr>
          </a:p>
        </p:txBody>
      </p:sp>
      <p:sp>
        <p:nvSpPr>
          <p:cNvPr id="8" name="Flowchart: Process 7"/>
          <p:cNvSpPr/>
          <p:nvPr/>
        </p:nvSpPr>
        <p:spPr bwMode="auto">
          <a:xfrm>
            <a:off x="8187661" y="4385120"/>
            <a:ext cx="128599" cy="275474"/>
          </a:xfrm>
          <a:prstGeom prst="flowChartProcess">
            <a:avLst/>
          </a:prstGeom>
          <a:solidFill>
            <a:srgbClr val="F7615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0682" tIns="40341" rIns="80682" bIns="40341" numCol="1" rtlCol="0" anchor="t" anchorCtr="0" compatLnSpc="1">
            <a:prstTxWarp prst="textNoShape">
              <a:avLst/>
            </a:prstTxWarp>
          </a:bodyPr>
          <a:lstStyle/>
          <a:p>
            <a:pPr defTabSz="80686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235">
              <a:latin typeface="Arial" panose="020B0604020202020204" pitchFamily="34" charset="0"/>
              <a:ea typeface="ヒラギノ角ゴ Pro W3" pitchFamily="86" charset="-128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332575" y="3242684"/>
            <a:ext cx="432897" cy="2420471"/>
            <a:chOff x="1776958" y="2133600"/>
            <a:chExt cx="680827" cy="2743200"/>
          </a:xfrm>
        </p:grpSpPr>
        <p:grpSp>
          <p:nvGrpSpPr>
            <p:cNvPr id="10" name="Group 9"/>
            <p:cNvGrpSpPr/>
            <p:nvPr/>
          </p:nvGrpSpPr>
          <p:grpSpPr>
            <a:xfrm>
              <a:off x="1942180" y="2133600"/>
              <a:ext cx="374456" cy="2743200"/>
              <a:chOff x="990601" y="2133600"/>
              <a:chExt cx="435971" cy="2667000"/>
            </a:xfrm>
          </p:grpSpPr>
          <p:sp>
            <p:nvSpPr>
              <p:cNvPr id="13" name="Flowchart: Process 12"/>
              <p:cNvSpPr/>
              <p:nvPr/>
            </p:nvSpPr>
            <p:spPr bwMode="auto">
              <a:xfrm>
                <a:off x="990601" y="2133600"/>
                <a:ext cx="163489" cy="2667000"/>
              </a:xfrm>
              <a:prstGeom prst="flowChartProcess">
                <a:avLst/>
              </a:prstGeom>
              <a:pattFill prst="narHorz">
                <a:fgClr>
                  <a:srgbClr val="F7615A"/>
                </a:fgClr>
                <a:bgClr>
                  <a:schemeClr val="bg1"/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80682" tIns="40341" rIns="80682" bIns="40341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806867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235">
                  <a:latin typeface="Arial" panose="020B0604020202020204" pitchFamily="34" charset="0"/>
                  <a:ea typeface="ヒラギノ角ゴ Pro W3" pitchFamily="86" charset="-128"/>
                </a:endParaRPr>
              </a:p>
            </p:txBody>
          </p:sp>
          <p:sp>
            <p:nvSpPr>
              <p:cNvPr id="14" name="Flowchart: Process 13"/>
              <p:cNvSpPr/>
              <p:nvPr/>
            </p:nvSpPr>
            <p:spPr bwMode="auto">
              <a:xfrm>
                <a:off x="1263083" y="2133600"/>
                <a:ext cx="163489" cy="2667000"/>
              </a:xfrm>
              <a:prstGeom prst="flowChartProcess">
                <a:avLst/>
              </a:prstGeom>
              <a:pattFill prst="narHorz">
                <a:fgClr>
                  <a:srgbClr val="F7615A"/>
                </a:fgClr>
                <a:bgClr>
                  <a:schemeClr val="bg1"/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80682" tIns="40341" rIns="80682" bIns="40341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806867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235">
                  <a:latin typeface="Arial" panose="020B0604020202020204" pitchFamily="34" charset="0"/>
                  <a:ea typeface="ヒラギノ角ゴ Pro W3" pitchFamily="86" charset="-128"/>
                </a:endParaRPr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 rot="16200000">
              <a:off x="1770414" y="3336095"/>
              <a:ext cx="457201" cy="444113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35" dirty="0">
                  <a:latin typeface="Garamond" panose="02020404030301010803" pitchFamily="18" charset="0"/>
                </a:rPr>
                <a:t>64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16200000">
              <a:off x="2007128" y="3356083"/>
              <a:ext cx="457202" cy="444113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35" dirty="0">
                  <a:latin typeface="Garamond" panose="02020404030301010803" pitchFamily="18" charset="0"/>
                </a:rPr>
                <a:t>64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843355" y="3673154"/>
            <a:ext cx="486116" cy="1680882"/>
            <a:chOff x="2580274" y="2621466"/>
            <a:chExt cx="764526" cy="1905000"/>
          </a:xfrm>
        </p:grpSpPr>
        <p:sp>
          <p:nvSpPr>
            <p:cNvPr id="16" name="Flowchart: Process 15"/>
            <p:cNvSpPr/>
            <p:nvPr/>
          </p:nvSpPr>
          <p:spPr bwMode="auto">
            <a:xfrm>
              <a:off x="2724095" y="2621466"/>
              <a:ext cx="215829" cy="1905000"/>
            </a:xfrm>
            <a:prstGeom prst="flowChartProcess">
              <a:avLst/>
            </a:prstGeom>
            <a:pattFill prst="narHorz">
              <a:fgClr>
                <a:srgbClr val="F7615A"/>
              </a:fgClr>
              <a:bgClr>
                <a:schemeClr val="bg1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80682" tIns="40341" rIns="80682" bIns="40341" numCol="1" rtlCol="0" anchor="t" anchorCtr="0" compatLnSpc="1">
              <a:prstTxWarp prst="textNoShape">
                <a:avLst/>
              </a:prstTxWarp>
            </a:bodyPr>
            <a:lstStyle/>
            <a:p>
              <a:pPr defTabSz="806867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35">
                <a:latin typeface="Arial" panose="020B0604020202020204" pitchFamily="34" charset="0"/>
                <a:ea typeface="ヒラギノ角ゴ Pro W3" pitchFamily="86" charset="-128"/>
              </a:endParaRPr>
            </a:p>
          </p:txBody>
        </p:sp>
        <p:sp>
          <p:nvSpPr>
            <p:cNvPr id="17" name="Flowchart: Process 16"/>
            <p:cNvSpPr/>
            <p:nvPr/>
          </p:nvSpPr>
          <p:spPr bwMode="auto">
            <a:xfrm>
              <a:off x="3041491" y="2621466"/>
              <a:ext cx="215829" cy="1905000"/>
            </a:xfrm>
            <a:prstGeom prst="flowChartProcess">
              <a:avLst/>
            </a:prstGeom>
            <a:pattFill prst="narHorz">
              <a:fgClr>
                <a:srgbClr val="F7615A"/>
              </a:fgClr>
              <a:bgClr>
                <a:schemeClr val="bg1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80682" tIns="40341" rIns="80682" bIns="40341" numCol="1" rtlCol="0" anchor="t" anchorCtr="0" compatLnSpc="1">
              <a:prstTxWarp prst="textNoShape">
                <a:avLst/>
              </a:prstTxWarp>
            </a:bodyPr>
            <a:lstStyle/>
            <a:p>
              <a:pPr defTabSz="806867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35">
                <a:latin typeface="Arial" panose="020B0604020202020204" pitchFamily="34" charset="0"/>
                <a:ea typeface="ヒラギノ角ゴ Pro W3" pitchFamily="86" charset="-128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 rot="16200000">
              <a:off x="2535629" y="3351910"/>
              <a:ext cx="533403" cy="444113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35" dirty="0">
                  <a:latin typeface="Garamond" panose="02020404030301010803" pitchFamily="18" charset="0"/>
                </a:rPr>
                <a:t>128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 rot="16200000">
              <a:off x="2856042" y="3370952"/>
              <a:ext cx="533403" cy="444113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35" dirty="0">
                  <a:latin typeface="Garamond" panose="02020404030301010803" pitchFamily="18" charset="0"/>
                </a:rPr>
                <a:t>128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493104" y="3915037"/>
            <a:ext cx="738940" cy="1210235"/>
            <a:chOff x="3602148" y="2895600"/>
            <a:chExt cx="1162148" cy="1371600"/>
          </a:xfrm>
        </p:grpSpPr>
        <p:sp>
          <p:nvSpPr>
            <p:cNvPr id="21" name="Flowchart: Process 20"/>
            <p:cNvSpPr/>
            <p:nvPr/>
          </p:nvSpPr>
          <p:spPr bwMode="auto">
            <a:xfrm>
              <a:off x="3696791" y="2895600"/>
              <a:ext cx="253661" cy="1371600"/>
            </a:xfrm>
            <a:prstGeom prst="flowChartProcess">
              <a:avLst/>
            </a:prstGeom>
            <a:pattFill prst="narHorz">
              <a:fgClr>
                <a:srgbClr val="F7615A"/>
              </a:fgClr>
              <a:bgClr>
                <a:schemeClr val="bg1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80682" tIns="40341" rIns="80682" bIns="40341" numCol="1" rtlCol="0" anchor="t" anchorCtr="0" compatLnSpc="1">
              <a:prstTxWarp prst="textNoShape">
                <a:avLst/>
              </a:prstTxWarp>
            </a:bodyPr>
            <a:lstStyle/>
            <a:p>
              <a:pPr defTabSz="806867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35">
                <a:latin typeface="Arial" panose="020B0604020202020204" pitchFamily="34" charset="0"/>
                <a:ea typeface="ヒラギノ角ゴ Pro W3" pitchFamily="86" charset="-128"/>
              </a:endParaRPr>
            </a:p>
          </p:txBody>
        </p:sp>
        <p:sp>
          <p:nvSpPr>
            <p:cNvPr id="22" name="Flowchart: Process 21"/>
            <p:cNvSpPr/>
            <p:nvPr/>
          </p:nvSpPr>
          <p:spPr bwMode="auto">
            <a:xfrm>
              <a:off x="4056393" y="2895600"/>
              <a:ext cx="253661" cy="1371600"/>
            </a:xfrm>
            <a:prstGeom prst="flowChartProcess">
              <a:avLst/>
            </a:prstGeom>
            <a:pattFill prst="narHorz">
              <a:fgClr>
                <a:srgbClr val="F7615A"/>
              </a:fgClr>
              <a:bgClr>
                <a:schemeClr val="bg1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80682" tIns="40341" rIns="80682" bIns="40341" numCol="1" rtlCol="0" anchor="t" anchorCtr="0" compatLnSpc="1">
              <a:prstTxWarp prst="textNoShape">
                <a:avLst/>
              </a:prstTxWarp>
            </a:bodyPr>
            <a:lstStyle/>
            <a:p>
              <a:pPr defTabSz="806867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35">
                <a:latin typeface="Arial" panose="020B0604020202020204" pitchFamily="34" charset="0"/>
                <a:ea typeface="ヒラギノ角ゴ Pro W3" pitchFamily="86" charset="-128"/>
              </a:endParaRPr>
            </a:p>
          </p:txBody>
        </p:sp>
        <p:sp>
          <p:nvSpPr>
            <p:cNvPr id="23" name="Flowchart: Process 22"/>
            <p:cNvSpPr/>
            <p:nvPr/>
          </p:nvSpPr>
          <p:spPr bwMode="auto">
            <a:xfrm>
              <a:off x="4415995" y="2895600"/>
              <a:ext cx="253661" cy="1371600"/>
            </a:xfrm>
            <a:prstGeom prst="flowChartProcess">
              <a:avLst/>
            </a:prstGeom>
            <a:pattFill prst="narHorz">
              <a:fgClr>
                <a:srgbClr val="F7615A"/>
              </a:fgClr>
              <a:bgClr>
                <a:schemeClr val="bg1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80682" tIns="40341" rIns="80682" bIns="40341" numCol="1" rtlCol="0" anchor="t" anchorCtr="0" compatLnSpc="1">
              <a:prstTxWarp prst="textNoShape">
                <a:avLst/>
              </a:prstTxWarp>
            </a:bodyPr>
            <a:lstStyle/>
            <a:p>
              <a:pPr defTabSz="806867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35">
                <a:latin typeface="Arial" panose="020B0604020202020204" pitchFamily="34" charset="0"/>
                <a:ea typeface="ヒラギノ角ゴ Pro W3" pitchFamily="86" charset="-128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 rot="16200000">
              <a:off x="3557503" y="3359342"/>
              <a:ext cx="533403" cy="444113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35" dirty="0">
                  <a:latin typeface="Garamond" panose="02020404030301010803" pitchFamily="18" charset="0"/>
                </a:rPr>
                <a:t>256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 rot="16200000">
              <a:off x="3907631" y="3359341"/>
              <a:ext cx="533403" cy="444113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35" dirty="0">
                  <a:latin typeface="Garamond" panose="02020404030301010803" pitchFamily="18" charset="0"/>
                </a:rPr>
                <a:t>256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 rot="16200000">
              <a:off x="4275538" y="3370953"/>
              <a:ext cx="533403" cy="444113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35" dirty="0">
                  <a:latin typeface="Garamond" panose="02020404030301010803" pitchFamily="18" charset="0"/>
                </a:rPr>
                <a:t>256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6397300" y="4110184"/>
            <a:ext cx="747173" cy="813383"/>
            <a:chOff x="5024198" y="3116766"/>
            <a:chExt cx="1175097" cy="921834"/>
          </a:xfrm>
        </p:grpSpPr>
        <p:sp>
          <p:nvSpPr>
            <p:cNvPr id="28" name="Flowchart: Process 27"/>
            <p:cNvSpPr/>
            <p:nvPr/>
          </p:nvSpPr>
          <p:spPr bwMode="auto">
            <a:xfrm>
              <a:off x="5131582" y="3116766"/>
              <a:ext cx="283238" cy="914400"/>
            </a:xfrm>
            <a:prstGeom prst="flowChartProcess">
              <a:avLst/>
            </a:prstGeom>
            <a:pattFill prst="narHorz">
              <a:fgClr>
                <a:srgbClr val="F7615A"/>
              </a:fgClr>
              <a:bgClr>
                <a:schemeClr val="bg1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80682" tIns="40341" rIns="80682" bIns="40341" numCol="1" rtlCol="0" anchor="t" anchorCtr="0" compatLnSpc="1">
              <a:prstTxWarp prst="textNoShape">
                <a:avLst/>
              </a:prstTxWarp>
            </a:bodyPr>
            <a:lstStyle/>
            <a:p>
              <a:pPr defTabSz="806867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35">
                <a:latin typeface="Arial" panose="020B0604020202020204" pitchFamily="34" charset="0"/>
                <a:ea typeface="ヒラギノ角ゴ Pro W3" pitchFamily="86" charset="-128"/>
              </a:endParaRPr>
            </a:p>
          </p:txBody>
        </p:sp>
        <p:sp>
          <p:nvSpPr>
            <p:cNvPr id="29" name="Flowchart: Process 28"/>
            <p:cNvSpPr/>
            <p:nvPr/>
          </p:nvSpPr>
          <p:spPr bwMode="auto">
            <a:xfrm>
              <a:off x="5491462" y="3124200"/>
              <a:ext cx="283238" cy="914400"/>
            </a:xfrm>
            <a:prstGeom prst="flowChartProcess">
              <a:avLst/>
            </a:prstGeom>
            <a:pattFill prst="narHorz">
              <a:fgClr>
                <a:srgbClr val="F7615A"/>
              </a:fgClr>
              <a:bgClr>
                <a:schemeClr val="bg1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80682" tIns="40341" rIns="80682" bIns="40341" numCol="1" rtlCol="0" anchor="t" anchorCtr="0" compatLnSpc="1">
              <a:prstTxWarp prst="textNoShape">
                <a:avLst/>
              </a:prstTxWarp>
            </a:bodyPr>
            <a:lstStyle/>
            <a:p>
              <a:pPr defTabSz="806867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35">
                <a:latin typeface="Arial" panose="020B0604020202020204" pitchFamily="34" charset="0"/>
                <a:ea typeface="ヒラギノ角ゴ Pro W3" pitchFamily="86" charset="-128"/>
              </a:endParaRPr>
            </a:p>
          </p:txBody>
        </p:sp>
        <p:sp>
          <p:nvSpPr>
            <p:cNvPr id="30" name="Flowchart: Process 29"/>
            <p:cNvSpPr/>
            <p:nvPr/>
          </p:nvSpPr>
          <p:spPr bwMode="auto">
            <a:xfrm>
              <a:off x="5849676" y="3116766"/>
              <a:ext cx="283238" cy="914400"/>
            </a:xfrm>
            <a:prstGeom prst="flowChartProcess">
              <a:avLst/>
            </a:prstGeom>
            <a:pattFill prst="narHorz">
              <a:fgClr>
                <a:srgbClr val="F7615A"/>
              </a:fgClr>
              <a:bgClr>
                <a:schemeClr val="bg1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80682" tIns="40341" rIns="80682" bIns="40341" numCol="1" rtlCol="0" anchor="t" anchorCtr="0" compatLnSpc="1">
              <a:prstTxWarp prst="textNoShape">
                <a:avLst/>
              </a:prstTxWarp>
            </a:bodyPr>
            <a:lstStyle/>
            <a:p>
              <a:pPr defTabSz="806867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35">
                <a:latin typeface="Arial" panose="020B0604020202020204" pitchFamily="34" charset="0"/>
                <a:ea typeface="ヒラギノ角ゴ Pro W3" pitchFamily="86" charset="-128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 rot="16200000">
              <a:off x="4979553" y="3359344"/>
              <a:ext cx="533404" cy="444113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35" dirty="0">
                  <a:latin typeface="Garamond" panose="02020404030301010803" pitchFamily="18" charset="0"/>
                </a:rPr>
                <a:t>512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 rot="16200000">
              <a:off x="5387278" y="3359344"/>
              <a:ext cx="533404" cy="444114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35" dirty="0">
                  <a:latin typeface="Garamond" panose="02020404030301010803" pitchFamily="18" charset="0"/>
                </a:rPr>
                <a:t>512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 rot="16200000">
              <a:off x="5710536" y="3370955"/>
              <a:ext cx="533404" cy="444114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35" dirty="0">
                  <a:latin typeface="Garamond" panose="02020404030301010803" pitchFamily="18" charset="0"/>
                </a:rPr>
                <a:t>512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7378039" y="4251214"/>
            <a:ext cx="787268" cy="541162"/>
            <a:chOff x="6566636" y="3276600"/>
            <a:chExt cx="1238156" cy="613317"/>
          </a:xfrm>
        </p:grpSpPr>
        <p:sp>
          <p:nvSpPr>
            <p:cNvPr id="35" name="Flowchart: Process 34"/>
            <p:cNvSpPr/>
            <p:nvPr/>
          </p:nvSpPr>
          <p:spPr bwMode="auto">
            <a:xfrm>
              <a:off x="6611234" y="3276600"/>
              <a:ext cx="322702" cy="609600"/>
            </a:xfrm>
            <a:prstGeom prst="flowChartProcess">
              <a:avLst/>
            </a:prstGeom>
            <a:pattFill prst="narHorz">
              <a:fgClr>
                <a:srgbClr val="F7615A"/>
              </a:fgClr>
              <a:bgClr>
                <a:schemeClr val="bg1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80682" tIns="40341" rIns="80682" bIns="40341" numCol="1" rtlCol="0" anchor="t" anchorCtr="0" compatLnSpc="1">
              <a:prstTxWarp prst="textNoShape">
                <a:avLst/>
              </a:prstTxWarp>
            </a:bodyPr>
            <a:lstStyle/>
            <a:p>
              <a:pPr defTabSz="806867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35">
                <a:latin typeface="Arial" panose="020B0604020202020204" pitchFamily="34" charset="0"/>
                <a:ea typeface="ヒラギノ角ゴ Pro W3" pitchFamily="86" charset="-128"/>
              </a:endParaRPr>
            </a:p>
          </p:txBody>
        </p:sp>
        <p:sp>
          <p:nvSpPr>
            <p:cNvPr id="36" name="Flowchart: Process 35"/>
            <p:cNvSpPr/>
            <p:nvPr/>
          </p:nvSpPr>
          <p:spPr bwMode="auto">
            <a:xfrm>
              <a:off x="7002273" y="3276600"/>
              <a:ext cx="322702" cy="609600"/>
            </a:xfrm>
            <a:prstGeom prst="flowChartProcess">
              <a:avLst/>
            </a:prstGeom>
            <a:pattFill prst="narHorz">
              <a:fgClr>
                <a:srgbClr val="F7615A"/>
              </a:fgClr>
              <a:bgClr>
                <a:schemeClr val="bg1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80682" tIns="40341" rIns="80682" bIns="40341" numCol="1" rtlCol="0" anchor="t" anchorCtr="0" compatLnSpc="1">
              <a:prstTxWarp prst="textNoShape">
                <a:avLst/>
              </a:prstTxWarp>
            </a:bodyPr>
            <a:lstStyle/>
            <a:p>
              <a:pPr defTabSz="806867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35">
                <a:latin typeface="Arial" panose="020B0604020202020204" pitchFamily="34" charset="0"/>
                <a:ea typeface="ヒラギノ角ゴ Pro W3" pitchFamily="86" charset="-128"/>
              </a:endParaRPr>
            </a:p>
          </p:txBody>
        </p:sp>
        <p:sp>
          <p:nvSpPr>
            <p:cNvPr id="37" name="Flowchart: Process 36"/>
            <p:cNvSpPr/>
            <p:nvPr/>
          </p:nvSpPr>
          <p:spPr bwMode="auto">
            <a:xfrm>
              <a:off x="7400906" y="3280317"/>
              <a:ext cx="322702" cy="609600"/>
            </a:xfrm>
            <a:prstGeom prst="flowChartProcess">
              <a:avLst/>
            </a:prstGeom>
            <a:pattFill prst="narHorz">
              <a:fgClr>
                <a:srgbClr val="F7615A"/>
              </a:fgClr>
              <a:bgClr>
                <a:schemeClr val="bg1"/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80682" tIns="40341" rIns="80682" bIns="40341" numCol="1" rtlCol="0" anchor="t" anchorCtr="0" compatLnSpc="1">
              <a:prstTxWarp prst="textNoShape">
                <a:avLst/>
              </a:prstTxWarp>
            </a:bodyPr>
            <a:lstStyle/>
            <a:p>
              <a:pPr defTabSz="806867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35">
                <a:latin typeface="Arial" panose="020B0604020202020204" pitchFamily="34" charset="0"/>
                <a:ea typeface="ヒラギノ角ゴ Pro W3" pitchFamily="86" charset="-128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 rot="16200000">
              <a:off x="6521990" y="3363988"/>
              <a:ext cx="533405" cy="444114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35" dirty="0">
                  <a:latin typeface="Garamond" panose="02020404030301010803" pitchFamily="18" charset="0"/>
                </a:rPr>
                <a:t>512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 rot="16200000">
              <a:off x="6912312" y="3370952"/>
              <a:ext cx="533405" cy="444114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35" dirty="0">
                  <a:latin typeface="Garamond" panose="02020404030301010803" pitchFamily="18" charset="0"/>
                </a:rPr>
                <a:t>512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 rot="16200000">
              <a:off x="7316032" y="3359341"/>
              <a:ext cx="533405" cy="444114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35" dirty="0">
                  <a:latin typeface="Garamond" panose="02020404030301010803" pitchFamily="18" charset="0"/>
                </a:rPr>
                <a:t>512</a:t>
              </a:r>
            </a:p>
          </p:txBody>
        </p:sp>
      </p:grpSp>
      <p:pic>
        <p:nvPicPr>
          <p:cNvPr id="41" name="Picture 4" descr="Image result for airbnb photos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0800000" flipV="1">
            <a:off x="2035903" y="3790698"/>
            <a:ext cx="2280831" cy="12276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/>
          <p:cNvSpPr txBox="1"/>
          <p:nvPr/>
        </p:nvSpPr>
        <p:spPr>
          <a:xfrm>
            <a:off x="6403763" y="5410614"/>
            <a:ext cx="401970" cy="911614"/>
          </a:xfrm>
          <a:prstGeom prst="rect">
            <a:avLst/>
          </a:prstGeom>
          <a:pattFill prst="narHorz">
            <a:fgClr>
              <a:srgbClr val="F7615A"/>
            </a:fgClr>
            <a:bgClr>
              <a:schemeClr val="bg1"/>
            </a:bgClr>
          </a:patt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12" dirty="0" err="1">
                <a:latin typeface="Garamond" panose="02020404030301010803" pitchFamily="18" charset="0"/>
              </a:rPr>
              <a:t>Conv</a:t>
            </a:r>
            <a:r>
              <a:rPr lang="en-US" sz="1412" dirty="0">
                <a:latin typeface="Garamond" panose="02020404030301010803" pitchFamily="18" charset="0"/>
              </a:rPr>
              <a:t> 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22999" y="5398631"/>
            <a:ext cx="401970" cy="911614"/>
          </a:xfrm>
          <a:prstGeom prst="rect">
            <a:avLst/>
          </a:prstGeom>
          <a:solidFill>
            <a:srgbClr val="F7615A"/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sz="1412" dirty="0">
                <a:solidFill>
                  <a:schemeClr val="bg1"/>
                </a:solidFill>
                <a:latin typeface="Garamond" panose="02020404030301010803" pitchFamily="18" charset="0"/>
              </a:rPr>
              <a:t>Max Pool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95592" y="5747985"/>
            <a:ext cx="1815942" cy="30963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wrap="square" rtlCol="0">
            <a:spAutoFit/>
          </a:bodyPr>
          <a:lstStyle/>
          <a:p>
            <a:pPr algn="ctr"/>
            <a:r>
              <a:rPr lang="en-US" sz="1412" dirty="0">
                <a:solidFill>
                  <a:schemeClr val="bg1"/>
                </a:solidFill>
                <a:latin typeface="Garamond" panose="02020404030301010803" pitchFamily="18" charset="0"/>
              </a:rPr>
              <a:t>Fully Connected Layer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0612" y="4404513"/>
            <a:ext cx="360272" cy="36394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wrap="square" rtlCol="0">
            <a:spAutoFit/>
          </a:bodyPr>
          <a:lstStyle/>
          <a:p>
            <a:pPr algn="ctr"/>
            <a:endParaRPr lang="en-US" sz="1765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125949" y="3238391"/>
            <a:ext cx="1003886" cy="28238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35" dirty="0">
                <a:latin typeface="Garamond" panose="02020404030301010803" pitchFamily="18" charset="0"/>
              </a:rPr>
              <a:t>Living Room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25949" y="3778608"/>
            <a:ext cx="1003886" cy="28238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35" dirty="0">
                <a:latin typeface="Garamond" panose="02020404030301010803" pitchFamily="18" charset="0"/>
              </a:rPr>
              <a:t>Bedroom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25949" y="4348516"/>
            <a:ext cx="1003886" cy="28238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35" dirty="0">
                <a:latin typeface="Garamond" panose="02020404030301010803" pitchFamily="18" charset="0"/>
              </a:rPr>
              <a:t>Kitchen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5854" y="4853407"/>
            <a:ext cx="1003886" cy="28238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35" dirty="0">
                <a:latin typeface="Garamond" panose="02020404030301010803" pitchFamily="18" charset="0"/>
              </a:rPr>
              <a:t>Bathroom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58448" y="5384345"/>
            <a:ext cx="1003886" cy="28238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35" dirty="0">
                <a:latin typeface="Garamond" panose="02020404030301010803" pitchFamily="18" charset="0"/>
              </a:rPr>
              <a:t>Outdoor</a:t>
            </a:r>
          </a:p>
        </p:txBody>
      </p:sp>
      <p:cxnSp>
        <p:nvCxnSpPr>
          <p:cNvPr id="66" name="Straight Arrow Connector 65"/>
          <p:cNvCxnSpPr>
            <a:endCxn id="61" idx="1"/>
          </p:cNvCxnSpPr>
          <p:nvPr/>
        </p:nvCxnSpPr>
        <p:spPr bwMode="auto">
          <a:xfrm flipV="1">
            <a:off x="8817096" y="3379584"/>
            <a:ext cx="308853" cy="11301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Straight Arrow Connector 66"/>
          <p:cNvCxnSpPr>
            <a:endCxn id="62" idx="1"/>
          </p:cNvCxnSpPr>
          <p:nvPr/>
        </p:nvCxnSpPr>
        <p:spPr bwMode="auto">
          <a:xfrm flipV="1">
            <a:off x="8817096" y="3919801"/>
            <a:ext cx="308853" cy="58992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Arrow Connector 67"/>
          <p:cNvCxnSpPr>
            <a:endCxn id="63" idx="1"/>
          </p:cNvCxnSpPr>
          <p:nvPr/>
        </p:nvCxnSpPr>
        <p:spPr bwMode="auto">
          <a:xfrm flipV="1">
            <a:off x="8817096" y="4489709"/>
            <a:ext cx="308853" cy="2001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Straight Arrow Connector 68"/>
          <p:cNvCxnSpPr>
            <a:endCxn id="64" idx="1"/>
          </p:cNvCxnSpPr>
          <p:nvPr/>
        </p:nvCxnSpPr>
        <p:spPr bwMode="auto">
          <a:xfrm>
            <a:off x="8817096" y="4509723"/>
            <a:ext cx="328758" cy="4848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Straight Arrow Connector 69"/>
          <p:cNvCxnSpPr>
            <a:endCxn id="65" idx="1"/>
          </p:cNvCxnSpPr>
          <p:nvPr/>
        </p:nvCxnSpPr>
        <p:spPr bwMode="auto">
          <a:xfrm>
            <a:off x="8817097" y="4509724"/>
            <a:ext cx="341351" cy="101581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" name="Date Placeholder 46">
            <a:extLst>
              <a:ext uri="{FF2B5EF4-FFF2-40B4-BE49-F238E27FC236}">
                <a16:creationId xmlns:a16="http://schemas.microsoft.com/office/drawing/2014/main" id="{6C646A0F-54ED-BEEF-AC13-A2C9BF5E6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85BD-9BE4-4E6E-91B8-CF735741CC0F}" type="datetime1">
              <a:rPr lang="en-US" smtClean="0"/>
              <a:t>2/27/2026</a:t>
            </a:fld>
            <a:endParaRPr lang="en-US"/>
          </a:p>
        </p:txBody>
      </p:sp>
      <p:sp>
        <p:nvSpPr>
          <p:cNvPr id="49" name="Slide Number Placeholder 48">
            <a:extLst>
              <a:ext uri="{FF2B5EF4-FFF2-40B4-BE49-F238E27FC236}">
                <a16:creationId xmlns:a16="http://schemas.microsoft.com/office/drawing/2014/main" id="{F35AF277-9C79-0F8C-66E3-D29CFB938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833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35221" y="1040053"/>
            <a:ext cx="4928235" cy="5740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35" dirty="0">
                <a:solidFill>
                  <a:srgbClr val="0070C0"/>
                </a:solidFill>
              </a:rPr>
              <a:t>CNN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4CB46-1A4A-41ED-A068-4972AC6B7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6DE7DF-6B65-4D90-99AA-7F5C4D349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76A1-3DB3-41F0-900E-4A225DF59352}" type="datetime1">
              <a:rPr lang="en-US" smtClean="0"/>
              <a:t>2/27/2026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AB5712F-01BE-2131-09E9-1BBC32556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33600"/>
            <a:ext cx="12192000" cy="404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5F23EC-A886-4319-B61E-5ACF93A0F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nutshell,</a:t>
            </a:r>
            <a:br>
              <a:rPr lang="en-US" dirty="0"/>
            </a:br>
            <a:r>
              <a:rPr lang="en-US" dirty="0"/>
              <a:t>A </a:t>
            </a:r>
            <a:r>
              <a:rPr lang="en-US" dirty="0" err="1"/>
              <a:t>ConvNet</a:t>
            </a:r>
            <a:r>
              <a:rPr lang="en-US" dirty="0"/>
              <a:t> usually has 3 types of layers:</a:t>
            </a:r>
            <a:br>
              <a:rPr lang="en-US" dirty="0"/>
            </a:br>
            <a:r>
              <a:rPr lang="en-US" dirty="0"/>
              <a:t>1) </a:t>
            </a:r>
            <a:r>
              <a:rPr lang="en-US" b="1" dirty="0"/>
              <a:t>Convolutional Layer</a:t>
            </a:r>
            <a:r>
              <a:rPr lang="en-US" dirty="0"/>
              <a:t> (</a:t>
            </a:r>
            <a:r>
              <a:rPr lang="en-US" i="1" dirty="0"/>
              <a:t>CONV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2) </a:t>
            </a:r>
            <a:r>
              <a:rPr lang="en-US" b="1" dirty="0"/>
              <a:t>Pooling Layer</a:t>
            </a:r>
            <a:r>
              <a:rPr lang="en-US" dirty="0"/>
              <a:t> (</a:t>
            </a:r>
            <a:r>
              <a:rPr lang="en-US" i="1" dirty="0"/>
              <a:t>POOL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3) </a:t>
            </a:r>
            <a:r>
              <a:rPr lang="en-US" b="1" dirty="0"/>
              <a:t>Fully Connected Layer</a:t>
            </a:r>
            <a:r>
              <a:rPr lang="en-US" dirty="0"/>
              <a:t> (</a:t>
            </a:r>
            <a:r>
              <a:rPr lang="en-US" i="1" dirty="0"/>
              <a:t>FC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B20D6-EDB7-4FA6-AE84-6134DF7D2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BECF84F-19ED-4C81-AB9C-A83541D89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Convolutional Neural Networks (</a:t>
            </a:r>
            <a:r>
              <a:rPr lang="en-US" sz="3200" dirty="0" err="1"/>
              <a:t>CovNet</a:t>
            </a:r>
            <a:r>
              <a:rPr lang="en-US" sz="3200" dirty="0"/>
              <a:t>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178D7DD-2ACF-4ADA-8579-EBC617908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21A05-E715-446A-8093-1022DDC6723C}" type="datetime1">
              <a:rPr lang="en-US" smtClean="0"/>
              <a:t>2/27/2026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75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AD458-C304-8C6D-F77A-D1022A031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0A50EBCB-6D1A-98CB-46E1-E256A1077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convolutional layer</a:t>
            </a:r>
          </a:p>
        </p:txBody>
      </p:sp>
      <p:pic>
        <p:nvPicPr>
          <p:cNvPr id="17410" name="Picture 3">
            <a:extLst>
              <a:ext uri="{FF2B5EF4-FFF2-40B4-BE49-F238E27FC236}">
                <a16:creationId xmlns:a16="http://schemas.microsoft.com/office/drawing/2014/main" id="{F9335EF2-ABF4-1A05-7992-5E62D3948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124200"/>
            <a:ext cx="3848100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extBox 4">
            <a:extLst>
              <a:ext uri="{FF2B5EF4-FFF2-40B4-BE49-F238E27FC236}">
                <a16:creationId xmlns:a16="http://schemas.microsoft.com/office/drawing/2014/main" id="{9F0774C6-6327-D3A6-E92E-D928EB3AA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486400"/>
            <a:ext cx="838200" cy="36988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A filter</a:t>
            </a:r>
          </a:p>
        </p:txBody>
      </p:sp>
      <p:sp>
        <p:nvSpPr>
          <p:cNvPr id="17412" name="TextBox 5">
            <a:extLst>
              <a:ext uri="{FF2B5EF4-FFF2-40B4-BE49-F238E27FC236}">
                <a16:creationId xmlns:a16="http://schemas.microsoft.com/office/drawing/2014/main" id="{602EE1D8-2308-5D25-9692-E9F6AA1DA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1447800"/>
            <a:ext cx="84820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/>
              <a:t>A CNN is a neural network with some convolutional layers </a:t>
            </a:r>
          </a:p>
          <a:p>
            <a:pPr eaLnBrk="1" hangingPunct="1"/>
            <a:r>
              <a:rPr lang="en-US" altLang="en-US"/>
              <a:t>(and some other layers).  A convolutional layer has a number </a:t>
            </a:r>
          </a:p>
          <a:p>
            <a:pPr eaLnBrk="1" hangingPunct="1"/>
            <a:r>
              <a:rPr lang="en-US" altLang="en-US"/>
              <a:t>of filters that does convolutional operation. </a:t>
            </a:r>
          </a:p>
        </p:txBody>
      </p:sp>
      <p:sp>
        <p:nvSpPr>
          <p:cNvPr id="17413" name="TextBox 6">
            <a:extLst>
              <a:ext uri="{FF2B5EF4-FFF2-40B4-BE49-F238E27FC236}">
                <a16:creationId xmlns:a16="http://schemas.microsoft.com/office/drawing/2014/main" id="{E3AA21E1-D8A9-7FE6-FC31-40C06690B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1" y="3429000"/>
            <a:ext cx="1609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Beak detector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B8F15CA-8E16-14AE-05F1-4BDB8D067AE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19800" y="3810000"/>
            <a:ext cx="0" cy="3048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31B9F3-2380-BF5B-E8C7-0FD291C85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2D723-4EDD-4F56-BAC7-6020CBDCA118}" type="datetime1">
              <a:rPr lang="en-US" smtClean="0"/>
              <a:t>2/27/2026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A59F9-418C-0DD3-9D70-CDCCC2837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504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4C5BC-DC54-C6D1-C7C1-203E9C601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6C33D-ED64-8942-E90D-16F6330B4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535349-1136-A88B-C1D9-4F55F1340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Connected Layer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13B057-7DDA-CDE5-30B7-F8F81D7E8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592108"/>
            <a:ext cx="9144000" cy="3673784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C9B044-3EC8-307D-AE97-1415ACDFB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2F6A2-0087-45AE-BDE6-7529ECC111D8}" type="datetime1">
              <a:rPr lang="en-US" smtClean="0"/>
              <a:t>2/27/2026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775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107B2-CB94-A10D-3F38-75E4258F1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EC09B56-5FFC-715F-7BFC-EF56D22120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55791" y="866804"/>
            <a:ext cx="5287645" cy="5740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The convolution</a:t>
            </a:r>
            <a:r>
              <a:rPr spc="5" dirty="0"/>
              <a:t> </a:t>
            </a:r>
            <a:r>
              <a:rPr spc="-5" dirty="0"/>
              <a:t>operation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A9D46B4-FE0C-D36A-AFD0-0C34367460C5}"/>
              </a:ext>
            </a:extLst>
          </p:cNvPr>
          <p:cNvSpPr/>
          <p:nvPr/>
        </p:nvSpPr>
        <p:spPr>
          <a:xfrm>
            <a:off x="3305909" y="2133601"/>
            <a:ext cx="5216767" cy="27025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FD10C-D391-F468-5440-8CA486DC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4A824C-C2F3-93F3-CF30-214259190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3F612-1CBD-4B71-892D-6321A1FADF6D}" type="datetime1">
              <a:rPr lang="en-US" smtClean="0"/>
              <a:t>2/27/2026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03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DA2EC-A6FA-C5E0-2220-2F9616471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9718381-45FF-112C-2BF3-B575486AD3EE}"/>
              </a:ext>
            </a:extLst>
          </p:cNvPr>
          <p:cNvSpPr/>
          <p:nvPr/>
        </p:nvSpPr>
        <p:spPr>
          <a:xfrm>
            <a:off x="1942627" y="1531519"/>
            <a:ext cx="4305773" cy="31166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4EA7F16-C8D9-5AF2-A64C-02BB0BDC1B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38400" y="860786"/>
            <a:ext cx="6203488" cy="58221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3700" dirty="0">
                <a:latin typeface="Calibri"/>
                <a:cs typeface="Calibri"/>
              </a:rPr>
              <a:t>The </a:t>
            </a:r>
            <a:r>
              <a:rPr sz="3700" spc="30" dirty="0">
                <a:latin typeface="Calibri"/>
                <a:cs typeface="Calibri"/>
              </a:rPr>
              <a:t>convolu</a:t>
            </a:r>
            <a:r>
              <a:rPr lang="en-US" sz="3700" spc="30" dirty="0">
                <a:latin typeface="Calibri"/>
                <a:cs typeface="Calibri"/>
              </a:rPr>
              <a:t>ti</a:t>
            </a:r>
            <a:r>
              <a:rPr sz="3700" spc="30" dirty="0">
                <a:latin typeface="Calibri"/>
                <a:cs typeface="Calibri"/>
              </a:rPr>
              <a:t>on</a:t>
            </a:r>
            <a:r>
              <a:rPr sz="3700" spc="-30" dirty="0">
                <a:latin typeface="Calibri"/>
                <a:cs typeface="Calibri"/>
              </a:rPr>
              <a:t> </a:t>
            </a:r>
            <a:r>
              <a:rPr sz="3700" spc="40" dirty="0">
                <a:latin typeface="Calibri"/>
                <a:cs typeface="Calibri"/>
              </a:rPr>
              <a:t>opera</a:t>
            </a:r>
            <a:r>
              <a:rPr lang="en-US" sz="3700" spc="40" dirty="0">
                <a:latin typeface="Calibri"/>
                <a:cs typeface="Calibri"/>
              </a:rPr>
              <a:t>ti</a:t>
            </a:r>
            <a:r>
              <a:rPr sz="3700" spc="40" dirty="0">
                <a:latin typeface="Calibri"/>
                <a:cs typeface="Calibri"/>
              </a:rPr>
              <a:t>on</a:t>
            </a:r>
            <a:endParaRPr sz="3700" dirty="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1DE052B-DB63-21C7-5EB8-08582BC214A2}"/>
              </a:ext>
            </a:extLst>
          </p:cNvPr>
          <p:cNvSpPr/>
          <p:nvPr/>
        </p:nvSpPr>
        <p:spPr>
          <a:xfrm>
            <a:off x="7046218" y="1624968"/>
            <a:ext cx="3295515" cy="13593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BE8DE-CF73-964C-7989-357DB0650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DD4C38-6BD9-1A7F-F0FF-AD1EC775F4C4}"/>
              </a:ext>
            </a:extLst>
          </p:cNvPr>
          <p:cNvSpPr txBox="1"/>
          <p:nvPr/>
        </p:nvSpPr>
        <p:spPr>
          <a:xfrm>
            <a:off x="2324101" y="4771369"/>
            <a:ext cx="739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Local Connectivity.</a:t>
            </a:r>
            <a:r>
              <a:rPr lang="en-US" dirty="0"/>
              <a:t>  Neurons will connect to only a local region of the input volume. </a:t>
            </a:r>
          </a:p>
          <a:p>
            <a:r>
              <a:rPr lang="en-US" dirty="0"/>
              <a:t>The spatial extent of this connectivity is a hyperparameter called the </a:t>
            </a:r>
            <a:r>
              <a:rPr lang="en-US" b="1" dirty="0"/>
              <a:t>receptive field</a:t>
            </a:r>
            <a:r>
              <a:rPr lang="en-US" dirty="0"/>
              <a:t> of the neuron (equivalently this is the </a:t>
            </a:r>
            <a:r>
              <a:rPr lang="en-US" dirty="0">
                <a:solidFill>
                  <a:srgbClr val="FF0000"/>
                </a:solidFill>
              </a:rPr>
              <a:t>filter size</a:t>
            </a:r>
            <a:r>
              <a:rPr lang="en-US" dirty="0"/>
              <a:t>). 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9BD205A-BA54-D61A-276C-3B22BC1A0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60467-C8BF-4A06-93BE-DA7FA161B1D1}" type="datetime1">
              <a:rPr lang="en-US" smtClean="0"/>
              <a:t>2/27/2026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3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035BE-9BFA-71A6-43D6-704A4AA72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標題 1">
            <a:extLst>
              <a:ext uri="{FF2B5EF4-FFF2-40B4-BE49-F238E27FC236}">
                <a16:creationId xmlns:a16="http://schemas.microsoft.com/office/drawing/2014/main" id="{8CA10122-98F2-982C-A5A3-78502D10E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325563"/>
          </a:xfrm>
        </p:spPr>
        <p:txBody>
          <a:bodyPr/>
          <a:lstStyle/>
          <a:p>
            <a:r>
              <a:rPr lang="en-US" altLang="zh-TW"/>
              <a:t>Convolution</a:t>
            </a:r>
            <a:endParaRPr lang="zh-TW" altLang="en-US"/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00069487-EE59-FA73-8B5E-43E751A6A0F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09838" y="2398713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文字方塊 4">
            <a:extLst>
              <a:ext uri="{FF2B5EF4-FFF2-40B4-BE49-F238E27FC236}">
                <a16:creationId xmlns:a16="http://schemas.microsoft.com/office/drawing/2014/main" id="{83E0F01C-9683-8033-0F88-581018687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4" y="5389564"/>
            <a:ext cx="2346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6 x 6 image</a:t>
            </a:r>
            <a:endParaRPr lang="zh-TW" altLang="en-US"/>
          </a:p>
        </p:txBody>
      </p:sp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id="{929CEF96-13CD-8809-BE99-2AD4A9C05C25}"/>
              </a:ext>
            </a:extLst>
          </p:cNvPr>
          <p:cNvGraphicFramePr>
            <a:graphicFrameLocks noGrp="1"/>
          </p:cNvGraphicFramePr>
          <p:nvPr/>
        </p:nvGraphicFramePr>
        <p:xfrm>
          <a:off x="6783388" y="2068513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文字方塊 6">
            <a:extLst>
              <a:ext uri="{FF2B5EF4-FFF2-40B4-BE49-F238E27FC236}">
                <a16:creationId xmlns:a16="http://schemas.microsoft.com/office/drawing/2014/main" id="{681D346B-181A-06DB-B8B8-39DE482DB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5325" y="2420938"/>
            <a:ext cx="1447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Filter 1</a:t>
            </a:r>
            <a:endParaRPr lang="zh-TW" altLang="en-US"/>
          </a:p>
        </p:txBody>
      </p:sp>
      <p:graphicFrame>
        <p:nvGraphicFramePr>
          <p:cNvPr id="9" name="表格 7">
            <a:extLst>
              <a:ext uri="{FF2B5EF4-FFF2-40B4-BE49-F238E27FC236}">
                <a16:creationId xmlns:a16="http://schemas.microsoft.com/office/drawing/2014/main" id="{B2A5899B-80A8-B1E1-FA0D-E385E5EB255B}"/>
              </a:ext>
            </a:extLst>
          </p:cNvPr>
          <p:cNvGraphicFramePr>
            <a:graphicFrameLocks noGrp="1"/>
          </p:cNvGraphicFramePr>
          <p:nvPr/>
        </p:nvGraphicFramePr>
        <p:xfrm>
          <a:off x="6783388" y="3694113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文字方塊 8">
            <a:extLst>
              <a:ext uri="{FF2B5EF4-FFF2-40B4-BE49-F238E27FC236}">
                <a16:creationId xmlns:a16="http://schemas.microsoft.com/office/drawing/2014/main" id="{907213BA-76AF-3865-A61A-1F7024B1B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5325" y="4032251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Filter 2</a:t>
            </a:r>
            <a:endParaRPr lang="zh-TW" altLang="en-US"/>
          </a:p>
        </p:txBody>
      </p:sp>
      <p:sp>
        <p:nvSpPr>
          <p:cNvPr id="11" name="文字方塊 9">
            <a:extLst>
              <a:ext uri="{FF2B5EF4-FFF2-40B4-BE49-F238E27FC236}">
                <a16:creationId xmlns:a16="http://schemas.microsoft.com/office/drawing/2014/main" id="{C39019E7-E889-225F-DD8F-69DAD261785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354095" y="5018873"/>
            <a:ext cx="7080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800" b="1"/>
              <a:t>……</a:t>
            </a:r>
            <a:endParaRPr lang="zh-TW" altLang="en-US" sz="2800" b="1"/>
          </a:p>
        </p:txBody>
      </p:sp>
      <p:sp>
        <p:nvSpPr>
          <p:cNvPr id="12" name="文字方塊 10">
            <a:extLst>
              <a:ext uri="{FF2B5EF4-FFF2-40B4-BE49-F238E27FC236}">
                <a16:creationId xmlns:a16="http://schemas.microsoft.com/office/drawing/2014/main" id="{A4A774A4-5CE1-5FF1-5220-34FC2B4C9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1925" y="1046163"/>
            <a:ext cx="39624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b="1" dirty="0">
                <a:solidFill>
                  <a:srgbClr val="FF0000"/>
                </a:solidFill>
              </a:rPr>
              <a:t>These are the network parameters to be learned.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15" name="文字方塊 12">
            <a:extLst>
              <a:ext uri="{FF2B5EF4-FFF2-40B4-BE49-F238E27FC236}">
                <a16:creationId xmlns:a16="http://schemas.microsoft.com/office/drawing/2014/main" id="{ADFD884E-031D-208B-3633-469016332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7350" y="5849938"/>
            <a:ext cx="35560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Each filter detects a small pattern (3 x 3). </a:t>
            </a:r>
            <a:endParaRPr lang="zh-TW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42FB27-BE4C-0579-58ED-6A4304BB2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0CEA9-87CC-4FEC-BD27-F391F591E727}" type="datetime1">
              <a:rPr lang="en-US" smtClean="0"/>
              <a:t>2/27/2026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171AC-574B-40D7-D81F-7E685CA33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01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1" grpId="0"/>
      <p:bldP spid="12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0EB9-7A33-48D9-173B-019439F26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標題 1">
            <a:extLst>
              <a:ext uri="{FF2B5EF4-FFF2-40B4-BE49-F238E27FC236}">
                <a16:creationId xmlns:a16="http://schemas.microsoft.com/office/drawing/2014/main" id="{706590D4-0B08-D6B1-5201-74D28FF6B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325563"/>
          </a:xfrm>
        </p:spPr>
        <p:txBody>
          <a:bodyPr/>
          <a:lstStyle/>
          <a:p>
            <a:r>
              <a:rPr lang="en-US" altLang="zh-TW"/>
              <a:t>Convolution</a:t>
            </a:r>
            <a:endParaRPr lang="zh-TW" altLang="en-US"/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BDA4CE9A-CDD6-79D6-3B33-230D0F25E7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09838" y="2398713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509" name="文字方塊 4">
            <a:extLst>
              <a:ext uri="{FF2B5EF4-FFF2-40B4-BE49-F238E27FC236}">
                <a16:creationId xmlns:a16="http://schemas.microsoft.com/office/drawing/2014/main" id="{2B151A60-6991-3BAD-B48A-2BD78B48E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4" y="5389564"/>
            <a:ext cx="2346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6 x 6 image</a:t>
            </a:r>
            <a:endParaRPr lang="zh-TW" altLang="en-US"/>
          </a:p>
        </p:txBody>
      </p:sp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id="{17C27B96-88B4-2FBA-969D-48EE65939286}"/>
              </a:ext>
            </a:extLst>
          </p:cNvPr>
          <p:cNvGraphicFramePr>
            <a:graphicFrameLocks noGrp="1"/>
          </p:cNvGraphicFramePr>
          <p:nvPr/>
        </p:nvGraphicFramePr>
        <p:xfrm>
          <a:off x="8870950" y="1776413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528" name="文字方塊 6">
            <a:extLst>
              <a:ext uri="{FF2B5EF4-FFF2-40B4-BE49-F238E27FC236}">
                <a16:creationId xmlns:a16="http://schemas.microsoft.com/office/drawing/2014/main" id="{A9E31B93-F934-8ABD-C093-340AFBD83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4235" y="3224406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dirty="0"/>
              <a:t>Filter 1</a:t>
            </a:r>
            <a:endParaRPr lang="zh-TW" altLang="en-US" dirty="0"/>
          </a:p>
        </p:txBody>
      </p:sp>
      <p:sp>
        <p:nvSpPr>
          <p:cNvPr id="9" name="矩形 2">
            <a:extLst>
              <a:ext uri="{FF2B5EF4-FFF2-40B4-BE49-F238E27FC236}">
                <a16:creationId xmlns:a16="http://schemas.microsoft.com/office/drawing/2014/main" id="{52517914-77E8-F375-33B7-35EF44B1A5A6}"/>
              </a:ext>
            </a:extLst>
          </p:cNvPr>
          <p:cNvSpPr/>
          <p:nvPr/>
        </p:nvSpPr>
        <p:spPr>
          <a:xfrm>
            <a:off x="2509838" y="2398713"/>
            <a:ext cx="1416050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0" name="橢圓 11">
            <a:extLst>
              <a:ext uri="{FF2B5EF4-FFF2-40B4-BE49-F238E27FC236}">
                <a16:creationId xmlns:a16="http://schemas.microsoft.com/office/drawing/2014/main" id="{9DFE2C9C-2D2D-0B56-C71D-798C98EBB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4" y="2787651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3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1" name="橢圓 12">
            <a:extLst>
              <a:ext uri="{FF2B5EF4-FFF2-40B4-BE49-F238E27FC236}">
                <a16:creationId xmlns:a16="http://schemas.microsoft.com/office/drawing/2014/main" id="{A2750588-7DF7-0513-32F5-BF4873589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8189" y="2787651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2" name="矩形 27">
            <a:extLst>
              <a:ext uri="{FF2B5EF4-FFF2-40B4-BE49-F238E27FC236}">
                <a16:creationId xmlns:a16="http://schemas.microsoft.com/office/drawing/2014/main" id="{F109EEC3-0BD7-4FD6-D3CF-F901457E2C7C}"/>
              </a:ext>
            </a:extLst>
          </p:cNvPr>
          <p:cNvSpPr/>
          <p:nvPr/>
        </p:nvSpPr>
        <p:spPr>
          <a:xfrm>
            <a:off x="3008314" y="2398713"/>
            <a:ext cx="1417637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3" name="矩形 33">
            <a:extLst>
              <a:ext uri="{FF2B5EF4-FFF2-40B4-BE49-F238E27FC236}">
                <a16:creationId xmlns:a16="http://schemas.microsoft.com/office/drawing/2014/main" id="{4FFFB1E8-544C-F7A1-F004-A0365788D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14" y="1731964"/>
            <a:ext cx="12891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s</a:t>
            </a:r>
            <a:r>
              <a:rPr lang="zh-TW" altLang="en-US"/>
              <a:t>tride</a:t>
            </a:r>
            <a:r>
              <a:rPr lang="en-US" altLang="zh-TW"/>
              <a:t>=1</a:t>
            </a:r>
            <a:endParaRPr lang="zh-TW" alt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F463B0E-E5C4-391A-8AB9-0926B8F0FA7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86400" y="3124200"/>
            <a:ext cx="685800" cy="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128AF04-9058-111D-3E34-172E993DF4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2438401"/>
            <a:ext cx="9540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/>
              <a:t>Dot </a:t>
            </a:r>
          </a:p>
          <a:p>
            <a:pPr eaLnBrk="1" hangingPunct="1"/>
            <a:r>
              <a:rPr lang="en-US" altLang="en-US" sz="1800"/>
              <a:t>product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31AC34-A061-982E-F816-9F29922C5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90F6F-2DAC-44C9-873C-194600FA37CF}" type="datetime1">
              <a:rPr lang="en-US" smtClean="0"/>
              <a:t>2/27/2026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C5564-7186-3BCA-BEBF-BFBBF7A16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51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1" grpId="0" animBg="1"/>
      <p:bldP spid="12" grpId="0" animBg="1"/>
      <p:bldP spid="13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D4085-8E61-DF39-9B9C-0B7A0305D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標題 1">
            <a:extLst>
              <a:ext uri="{FF2B5EF4-FFF2-40B4-BE49-F238E27FC236}">
                <a16:creationId xmlns:a16="http://schemas.microsoft.com/office/drawing/2014/main" id="{6825D799-CCD9-6B62-ADC8-AEDC81849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325563"/>
          </a:xfrm>
        </p:spPr>
        <p:txBody>
          <a:bodyPr/>
          <a:lstStyle/>
          <a:p>
            <a:r>
              <a:rPr lang="en-US" altLang="zh-TW"/>
              <a:t>Convolution</a:t>
            </a:r>
            <a:endParaRPr lang="zh-TW" altLang="en-US"/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721C2E0C-CAEE-6D6E-D97C-0D1B988B38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09838" y="2398713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533" name="文字方塊 4">
            <a:extLst>
              <a:ext uri="{FF2B5EF4-FFF2-40B4-BE49-F238E27FC236}">
                <a16:creationId xmlns:a16="http://schemas.microsoft.com/office/drawing/2014/main" id="{9BDB4F8C-C1E9-7F72-43AC-777ADEFB1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4" y="5389564"/>
            <a:ext cx="2346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6 x 6 image</a:t>
            </a:r>
            <a:endParaRPr lang="zh-TW" altLang="en-US"/>
          </a:p>
        </p:txBody>
      </p:sp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id="{DE5848FD-9AF2-9402-DC7E-495CA2FDAAD3}"/>
              </a:ext>
            </a:extLst>
          </p:cNvPr>
          <p:cNvGraphicFramePr>
            <a:graphicFrameLocks noGrp="1"/>
          </p:cNvGraphicFramePr>
          <p:nvPr/>
        </p:nvGraphicFramePr>
        <p:xfrm>
          <a:off x="7088188" y="477838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552" name="文字方塊 6">
            <a:extLst>
              <a:ext uri="{FF2B5EF4-FFF2-40B4-BE49-F238E27FC236}">
                <a16:creationId xmlns:a16="http://schemas.microsoft.com/office/drawing/2014/main" id="{D657320C-BBCF-96BF-7900-63CFE150C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0613" y="933451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Filter 1</a:t>
            </a:r>
            <a:endParaRPr lang="zh-TW" altLang="en-US"/>
          </a:p>
        </p:txBody>
      </p:sp>
      <p:sp>
        <p:nvSpPr>
          <p:cNvPr id="9" name="矩形 2">
            <a:extLst>
              <a:ext uri="{FF2B5EF4-FFF2-40B4-BE49-F238E27FC236}">
                <a16:creationId xmlns:a16="http://schemas.microsoft.com/office/drawing/2014/main" id="{520A793E-518D-69D5-C2F3-D342441D2973}"/>
              </a:ext>
            </a:extLst>
          </p:cNvPr>
          <p:cNvSpPr/>
          <p:nvPr/>
        </p:nvSpPr>
        <p:spPr>
          <a:xfrm>
            <a:off x="2509838" y="2398713"/>
            <a:ext cx="1416050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0" name="橢圓 11">
            <a:extLst>
              <a:ext uri="{FF2B5EF4-FFF2-40B4-BE49-F238E27FC236}">
                <a16:creationId xmlns:a16="http://schemas.microsoft.com/office/drawing/2014/main" id="{CC4EB7AB-C1E3-DCF7-35D1-11DCD7169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4" y="2787651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3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1" name="橢圓 12">
            <a:extLst>
              <a:ext uri="{FF2B5EF4-FFF2-40B4-BE49-F238E27FC236}">
                <a16:creationId xmlns:a16="http://schemas.microsoft.com/office/drawing/2014/main" id="{B15BE894-D188-1093-70F4-38C213128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8189" y="2787651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-3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2" name="矩形 27">
            <a:extLst>
              <a:ext uri="{FF2B5EF4-FFF2-40B4-BE49-F238E27FC236}">
                <a16:creationId xmlns:a16="http://schemas.microsoft.com/office/drawing/2014/main" id="{6BA6964F-2FA9-AA01-3FBC-62AEF625A6C4}"/>
              </a:ext>
            </a:extLst>
          </p:cNvPr>
          <p:cNvSpPr/>
          <p:nvPr/>
        </p:nvSpPr>
        <p:spPr>
          <a:xfrm>
            <a:off x="3487738" y="2398713"/>
            <a:ext cx="1416050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0557" name="矩形 33">
            <a:extLst>
              <a:ext uri="{FF2B5EF4-FFF2-40B4-BE49-F238E27FC236}">
                <a16:creationId xmlns:a16="http://schemas.microsoft.com/office/drawing/2014/main" id="{F86C7F51-A279-9CD7-F40A-5DF1A956E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13" y="1731964"/>
            <a:ext cx="15440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If s</a:t>
            </a:r>
            <a:r>
              <a:rPr lang="zh-TW" altLang="en-US"/>
              <a:t>tride</a:t>
            </a:r>
            <a:r>
              <a:rPr lang="en-US" altLang="zh-TW"/>
              <a:t>=2</a:t>
            </a:r>
            <a:endParaRPr lang="zh-TW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3C9F20-2642-8EB0-2B91-75086FA77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9DF16-A91B-413B-9A5A-A23D15D2E39F}" type="datetime1">
              <a:rPr lang="en-US" smtClean="0"/>
              <a:t>2/27/2026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7C7AF-096C-3EE1-818B-A3E4FADD8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833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CDB7D-3200-79BB-5FE2-3450AE935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標題 1">
            <a:extLst>
              <a:ext uri="{FF2B5EF4-FFF2-40B4-BE49-F238E27FC236}">
                <a16:creationId xmlns:a16="http://schemas.microsoft.com/office/drawing/2014/main" id="{E7102D1D-4333-3789-87D7-D19DE4289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325563"/>
          </a:xfrm>
        </p:spPr>
        <p:txBody>
          <a:bodyPr/>
          <a:lstStyle/>
          <a:p>
            <a:r>
              <a:rPr lang="en-US" altLang="zh-TW"/>
              <a:t>Convolution</a:t>
            </a:r>
            <a:endParaRPr lang="zh-TW" altLang="en-US"/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AFAECDD0-9981-FAF8-F8F7-B75F50D87E6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09838" y="2398713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557" name="文字方塊 4">
            <a:extLst>
              <a:ext uri="{FF2B5EF4-FFF2-40B4-BE49-F238E27FC236}">
                <a16:creationId xmlns:a16="http://schemas.microsoft.com/office/drawing/2014/main" id="{05C9DF14-706D-2888-DE19-7F7EB24D6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4" y="5389564"/>
            <a:ext cx="2346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6 x 6 image</a:t>
            </a:r>
            <a:endParaRPr lang="zh-TW" altLang="en-US"/>
          </a:p>
        </p:txBody>
      </p:sp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id="{0936D8A2-59F7-FF68-CD7A-EE640061154D}"/>
              </a:ext>
            </a:extLst>
          </p:cNvPr>
          <p:cNvGraphicFramePr>
            <a:graphicFrameLocks noGrp="1"/>
          </p:cNvGraphicFramePr>
          <p:nvPr/>
        </p:nvGraphicFramePr>
        <p:xfrm>
          <a:off x="10175277" y="2100264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576" name="文字方塊 6">
            <a:extLst>
              <a:ext uri="{FF2B5EF4-FFF2-40B4-BE49-F238E27FC236}">
                <a16:creationId xmlns:a16="http://schemas.microsoft.com/office/drawing/2014/main" id="{BC87C933-E071-08B6-E14D-B97DEFF5D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8388" y="1351756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dirty="0"/>
              <a:t>Filter 1</a:t>
            </a:r>
            <a:endParaRPr lang="zh-TW" altLang="en-US" dirty="0"/>
          </a:p>
        </p:txBody>
      </p:sp>
      <p:sp>
        <p:nvSpPr>
          <p:cNvPr id="9" name="矩形 2">
            <a:extLst>
              <a:ext uri="{FF2B5EF4-FFF2-40B4-BE49-F238E27FC236}">
                <a16:creationId xmlns:a16="http://schemas.microsoft.com/office/drawing/2014/main" id="{436298CF-C153-F9E8-75BD-E9D59C3EB335}"/>
              </a:ext>
            </a:extLst>
          </p:cNvPr>
          <p:cNvSpPr/>
          <p:nvPr/>
        </p:nvSpPr>
        <p:spPr>
          <a:xfrm>
            <a:off x="2509838" y="2398713"/>
            <a:ext cx="1416050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0" name="橢圓 11">
            <a:extLst>
              <a:ext uri="{FF2B5EF4-FFF2-40B4-BE49-F238E27FC236}">
                <a16:creationId xmlns:a16="http://schemas.microsoft.com/office/drawing/2014/main" id="{67B5AC54-B94A-E053-9D09-D6B47B723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4" y="2787651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3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1" name="橢圓 12">
            <a:extLst>
              <a:ext uri="{FF2B5EF4-FFF2-40B4-BE49-F238E27FC236}">
                <a16:creationId xmlns:a16="http://schemas.microsoft.com/office/drawing/2014/main" id="{7367BDCE-2510-9F0B-B12E-6A47C596C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8189" y="2787651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2" name="橢圓 13">
            <a:extLst>
              <a:ext uri="{FF2B5EF4-FFF2-40B4-BE49-F238E27FC236}">
                <a16:creationId xmlns:a16="http://schemas.microsoft.com/office/drawing/2014/main" id="{B6037451-8E32-145C-1C26-77AD9056F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9564" y="2787651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-3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3" name="橢圓 14">
            <a:extLst>
              <a:ext uri="{FF2B5EF4-FFF2-40B4-BE49-F238E27FC236}">
                <a16:creationId xmlns:a16="http://schemas.microsoft.com/office/drawing/2014/main" id="{7AA9B46B-6CA5-196F-83F9-67238805C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0939" y="2787651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4" name="橢圓 15">
            <a:extLst>
              <a:ext uri="{FF2B5EF4-FFF2-40B4-BE49-F238E27FC236}">
                <a16:creationId xmlns:a16="http://schemas.microsoft.com/office/drawing/2014/main" id="{69671C13-9D2B-37F3-3528-18C503A69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4" y="3587751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-3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5" name="橢圓 16">
            <a:extLst>
              <a:ext uri="{FF2B5EF4-FFF2-40B4-BE49-F238E27FC236}">
                <a16:creationId xmlns:a16="http://schemas.microsoft.com/office/drawing/2014/main" id="{0D034454-B903-79E0-703A-6E522B0FA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8189" y="3587751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6" name="橢圓 17">
            <a:extLst>
              <a:ext uri="{FF2B5EF4-FFF2-40B4-BE49-F238E27FC236}">
                <a16:creationId xmlns:a16="http://schemas.microsoft.com/office/drawing/2014/main" id="{C92E2B22-578E-11D2-A55B-966B0E3BC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9564" y="3587751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0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7" name="橢圓 18">
            <a:extLst>
              <a:ext uri="{FF2B5EF4-FFF2-40B4-BE49-F238E27FC236}">
                <a16:creationId xmlns:a16="http://schemas.microsoft.com/office/drawing/2014/main" id="{7AF8B384-9985-ADFE-1935-701CC04EA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0939" y="3587751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-3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8" name="橢圓 19">
            <a:extLst>
              <a:ext uri="{FF2B5EF4-FFF2-40B4-BE49-F238E27FC236}">
                <a16:creationId xmlns:a16="http://schemas.microsoft.com/office/drawing/2014/main" id="{59D7DF0C-8D2E-4485-19E1-239C9CBCD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4" y="4446589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-3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9" name="橢圓 20">
            <a:extLst>
              <a:ext uri="{FF2B5EF4-FFF2-40B4-BE49-F238E27FC236}">
                <a16:creationId xmlns:a16="http://schemas.microsoft.com/office/drawing/2014/main" id="{26ABBCBA-C227-3E1A-F127-66D8DF6ED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8189" y="4446589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-3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20" name="橢圓 21">
            <a:extLst>
              <a:ext uri="{FF2B5EF4-FFF2-40B4-BE49-F238E27FC236}">
                <a16:creationId xmlns:a16="http://schemas.microsoft.com/office/drawing/2014/main" id="{370D6589-9D4B-AABF-3B80-E7873C885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9564" y="4446589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0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21" name="橢圓 22">
            <a:extLst>
              <a:ext uri="{FF2B5EF4-FFF2-40B4-BE49-F238E27FC236}">
                <a16:creationId xmlns:a16="http://schemas.microsoft.com/office/drawing/2014/main" id="{92AEB731-959D-CD07-87F8-C47357390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0939" y="4446589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22" name="橢圓 23">
            <a:extLst>
              <a:ext uri="{FF2B5EF4-FFF2-40B4-BE49-F238E27FC236}">
                <a16:creationId xmlns:a16="http://schemas.microsoft.com/office/drawing/2014/main" id="{7A07799F-CE30-D7A8-F193-7C700E77D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6339" y="5259389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3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23" name="橢圓 24">
            <a:extLst>
              <a:ext uri="{FF2B5EF4-FFF2-40B4-BE49-F238E27FC236}">
                <a16:creationId xmlns:a16="http://schemas.microsoft.com/office/drawing/2014/main" id="{1786CAFC-36D3-7888-756F-401A4135C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8189" y="5246689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-2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24" name="橢圓 25">
            <a:extLst>
              <a:ext uri="{FF2B5EF4-FFF2-40B4-BE49-F238E27FC236}">
                <a16:creationId xmlns:a16="http://schemas.microsoft.com/office/drawing/2014/main" id="{688DDE27-01E6-0727-A4DC-4D9FC52B2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9564" y="5246689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-2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25" name="橢圓 26">
            <a:extLst>
              <a:ext uri="{FF2B5EF4-FFF2-40B4-BE49-F238E27FC236}">
                <a16:creationId xmlns:a16="http://schemas.microsoft.com/office/drawing/2014/main" id="{AE300796-6A98-33C6-9B5C-7048CA560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0939" y="5246689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26" name="矩形 27">
            <a:extLst>
              <a:ext uri="{FF2B5EF4-FFF2-40B4-BE49-F238E27FC236}">
                <a16:creationId xmlns:a16="http://schemas.microsoft.com/office/drawing/2014/main" id="{98293B89-B892-D74C-01DD-96F786BD0DD2}"/>
              </a:ext>
            </a:extLst>
          </p:cNvPr>
          <p:cNvSpPr/>
          <p:nvPr/>
        </p:nvSpPr>
        <p:spPr>
          <a:xfrm>
            <a:off x="3008314" y="2398713"/>
            <a:ext cx="1417637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7" name="矩形 28">
            <a:extLst>
              <a:ext uri="{FF2B5EF4-FFF2-40B4-BE49-F238E27FC236}">
                <a16:creationId xmlns:a16="http://schemas.microsoft.com/office/drawing/2014/main" id="{7C0BE3C5-7978-8888-ECF2-75829334063D}"/>
              </a:ext>
            </a:extLst>
          </p:cNvPr>
          <p:cNvSpPr/>
          <p:nvPr/>
        </p:nvSpPr>
        <p:spPr>
          <a:xfrm>
            <a:off x="3454400" y="2401888"/>
            <a:ext cx="1417638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8" name="矩形 29">
            <a:extLst>
              <a:ext uri="{FF2B5EF4-FFF2-40B4-BE49-F238E27FC236}">
                <a16:creationId xmlns:a16="http://schemas.microsoft.com/office/drawing/2014/main" id="{95226AF9-4C71-6AB8-D95C-14902AF206AB}"/>
              </a:ext>
            </a:extLst>
          </p:cNvPr>
          <p:cNvSpPr/>
          <p:nvPr/>
        </p:nvSpPr>
        <p:spPr>
          <a:xfrm>
            <a:off x="3957638" y="2405063"/>
            <a:ext cx="1416050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9" name="矩形 30">
            <a:extLst>
              <a:ext uri="{FF2B5EF4-FFF2-40B4-BE49-F238E27FC236}">
                <a16:creationId xmlns:a16="http://schemas.microsoft.com/office/drawing/2014/main" id="{F3015125-3DA6-54EF-7EAF-2E3C463CA87A}"/>
              </a:ext>
            </a:extLst>
          </p:cNvPr>
          <p:cNvSpPr/>
          <p:nvPr/>
        </p:nvSpPr>
        <p:spPr>
          <a:xfrm>
            <a:off x="2509838" y="2809876"/>
            <a:ext cx="1416050" cy="138271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1598" name="矩形 33">
            <a:extLst>
              <a:ext uri="{FF2B5EF4-FFF2-40B4-BE49-F238E27FC236}">
                <a16:creationId xmlns:a16="http://schemas.microsoft.com/office/drawing/2014/main" id="{57460108-3C3D-BF28-F32C-F07507545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14" y="1731964"/>
            <a:ext cx="12891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s</a:t>
            </a:r>
            <a:r>
              <a:rPr lang="zh-TW" altLang="en-US"/>
              <a:t>tride</a:t>
            </a:r>
            <a:r>
              <a:rPr lang="en-US" altLang="zh-TW"/>
              <a:t>=1</a:t>
            </a:r>
            <a:endParaRPr lang="zh-TW" altLang="en-US"/>
          </a:p>
        </p:txBody>
      </p:sp>
      <p:sp>
        <p:nvSpPr>
          <p:cNvPr id="31" name="矩形 31">
            <a:extLst>
              <a:ext uri="{FF2B5EF4-FFF2-40B4-BE49-F238E27FC236}">
                <a16:creationId xmlns:a16="http://schemas.microsoft.com/office/drawing/2014/main" id="{165C2543-486F-2461-A39F-6582DDAAC474}"/>
              </a:ext>
            </a:extLst>
          </p:cNvPr>
          <p:cNvSpPr/>
          <p:nvPr/>
        </p:nvSpPr>
        <p:spPr>
          <a:xfrm>
            <a:off x="3957638" y="3767138"/>
            <a:ext cx="1416050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2" name="矩形 7">
            <a:extLst>
              <a:ext uri="{FF2B5EF4-FFF2-40B4-BE49-F238E27FC236}">
                <a16:creationId xmlns:a16="http://schemas.microsoft.com/office/drawing/2014/main" id="{2B345F2E-7073-5F2E-B110-2179DC1A3FCE}"/>
              </a:ext>
            </a:extLst>
          </p:cNvPr>
          <p:cNvSpPr/>
          <p:nvPr/>
        </p:nvSpPr>
        <p:spPr>
          <a:xfrm>
            <a:off x="10158413" y="2100264"/>
            <a:ext cx="523875" cy="455612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3" name="矩形 35">
            <a:extLst>
              <a:ext uri="{FF2B5EF4-FFF2-40B4-BE49-F238E27FC236}">
                <a16:creationId xmlns:a16="http://schemas.microsoft.com/office/drawing/2014/main" id="{F3E3EF85-2994-A565-A1B3-5A79EEA45BAE}"/>
              </a:ext>
            </a:extLst>
          </p:cNvPr>
          <p:cNvSpPr/>
          <p:nvPr/>
        </p:nvSpPr>
        <p:spPr>
          <a:xfrm>
            <a:off x="11274774" y="3016251"/>
            <a:ext cx="525462" cy="455613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4" name="矩形 36">
            <a:extLst>
              <a:ext uri="{FF2B5EF4-FFF2-40B4-BE49-F238E27FC236}">
                <a16:creationId xmlns:a16="http://schemas.microsoft.com/office/drawing/2014/main" id="{EC71B544-6D86-9528-2FFC-07CFD1E396CF}"/>
              </a:ext>
            </a:extLst>
          </p:cNvPr>
          <p:cNvSpPr/>
          <p:nvPr/>
        </p:nvSpPr>
        <p:spPr>
          <a:xfrm>
            <a:off x="10745829" y="2555067"/>
            <a:ext cx="523875" cy="455612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35" name="直線接點 9">
            <a:extLst>
              <a:ext uri="{FF2B5EF4-FFF2-40B4-BE49-F238E27FC236}">
                <a16:creationId xmlns:a16="http://schemas.microsoft.com/office/drawing/2014/main" id="{E9B54636-2B7E-66CC-9AD9-B67FD9E52656}"/>
              </a:ext>
            </a:extLst>
          </p:cNvPr>
          <p:cNvCxnSpPr/>
          <p:nvPr/>
        </p:nvCxnSpPr>
        <p:spPr>
          <a:xfrm>
            <a:off x="10197809" y="2100460"/>
            <a:ext cx="1604962" cy="1382712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7">
            <a:extLst>
              <a:ext uri="{FF2B5EF4-FFF2-40B4-BE49-F238E27FC236}">
                <a16:creationId xmlns:a16="http://schemas.microsoft.com/office/drawing/2014/main" id="{8E4E61DA-91BB-2C1D-8163-E3FCB69E64FE}"/>
              </a:ext>
            </a:extLst>
          </p:cNvPr>
          <p:cNvSpPr/>
          <p:nvPr/>
        </p:nvSpPr>
        <p:spPr>
          <a:xfrm>
            <a:off x="6237288" y="2786064"/>
            <a:ext cx="728662" cy="708025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7" name="矩形 38">
            <a:extLst>
              <a:ext uri="{FF2B5EF4-FFF2-40B4-BE49-F238E27FC236}">
                <a16:creationId xmlns:a16="http://schemas.microsoft.com/office/drawing/2014/main" id="{9D185E50-2D5A-EBE5-D4D7-1893E8D9ED76}"/>
              </a:ext>
            </a:extLst>
          </p:cNvPr>
          <p:cNvSpPr/>
          <p:nvPr/>
        </p:nvSpPr>
        <p:spPr>
          <a:xfrm>
            <a:off x="6256338" y="5262564"/>
            <a:ext cx="728662" cy="708025"/>
          </a:xfrm>
          <a:prstGeom prst="rect">
            <a:avLst/>
          </a:prstGeom>
          <a:noFill/>
          <a:ln w="762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39" name="直線接點 40">
            <a:extLst>
              <a:ext uri="{FF2B5EF4-FFF2-40B4-BE49-F238E27FC236}">
                <a16:creationId xmlns:a16="http://schemas.microsoft.com/office/drawing/2014/main" id="{411E3A44-0BB2-FB92-EDBB-711DA2A83C92}"/>
              </a:ext>
            </a:extLst>
          </p:cNvPr>
          <p:cNvCxnSpPr/>
          <p:nvPr/>
        </p:nvCxnSpPr>
        <p:spPr>
          <a:xfrm>
            <a:off x="2452688" y="2425701"/>
            <a:ext cx="1606550" cy="1382713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41">
            <a:extLst>
              <a:ext uri="{FF2B5EF4-FFF2-40B4-BE49-F238E27FC236}">
                <a16:creationId xmlns:a16="http://schemas.microsoft.com/office/drawing/2014/main" id="{D698B78A-228F-6C81-8D4A-69972D8B1B0B}"/>
              </a:ext>
            </a:extLst>
          </p:cNvPr>
          <p:cNvCxnSpPr/>
          <p:nvPr/>
        </p:nvCxnSpPr>
        <p:spPr>
          <a:xfrm>
            <a:off x="2405063" y="3760788"/>
            <a:ext cx="1604962" cy="1382712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B6BB5F-85E9-72ED-4946-F091EFD70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B1756-41D3-4F93-AD7F-134898F1AC90}" type="datetime1">
              <a:rPr lang="en-US" smtClean="0"/>
              <a:t>2/27/2026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7A1C9-E3BD-549E-AAE7-2A085F85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81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1" grpId="0" animBg="1"/>
      <p:bldP spid="31" grpId="1" animBg="1"/>
      <p:bldP spid="32" grpId="0" animBg="1"/>
      <p:bldP spid="33" grpId="0" animBg="1"/>
      <p:bldP spid="34" grpId="0" animBg="1"/>
      <p:bldP spid="36" grpId="0" animBg="1"/>
      <p:bldP spid="3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6ADEC-E59A-C784-540F-75A5A9EFD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標題 1">
            <a:extLst>
              <a:ext uri="{FF2B5EF4-FFF2-40B4-BE49-F238E27FC236}">
                <a16:creationId xmlns:a16="http://schemas.microsoft.com/office/drawing/2014/main" id="{1AEC567F-7E72-9EA9-B6ED-FD2E71D4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325563"/>
          </a:xfrm>
        </p:spPr>
        <p:txBody>
          <a:bodyPr/>
          <a:lstStyle/>
          <a:p>
            <a:r>
              <a:rPr lang="en-US" altLang="zh-TW"/>
              <a:t>Convolution</a:t>
            </a:r>
            <a:endParaRPr lang="zh-TW" altLang="en-US"/>
          </a:p>
        </p:txBody>
      </p:sp>
      <p:graphicFrame>
        <p:nvGraphicFramePr>
          <p:cNvPr id="5" name="內容版面配置區 3">
            <a:extLst>
              <a:ext uri="{FF2B5EF4-FFF2-40B4-BE49-F238E27FC236}">
                <a16:creationId xmlns:a16="http://schemas.microsoft.com/office/drawing/2014/main" id="{369FD6AD-B84B-0E40-C2EA-9D19CD7407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09838" y="2398713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581" name="文字方塊 4">
            <a:extLst>
              <a:ext uri="{FF2B5EF4-FFF2-40B4-BE49-F238E27FC236}">
                <a16:creationId xmlns:a16="http://schemas.microsoft.com/office/drawing/2014/main" id="{903712FF-B545-B9D4-7262-4C1C7EDE0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4" y="5389564"/>
            <a:ext cx="23463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6 x 6 image</a:t>
            </a:r>
            <a:endParaRPr lang="zh-TW" altLang="en-US"/>
          </a:p>
        </p:txBody>
      </p:sp>
      <p:sp>
        <p:nvSpPr>
          <p:cNvPr id="7" name="橢圓 11">
            <a:extLst>
              <a:ext uri="{FF2B5EF4-FFF2-40B4-BE49-F238E27FC236}">
                <a16:creationId xmlns:a16="http://schemas.microsoft.com/office/drawing/2014/main" id="{63B62334-63C6-347B-376E-2509F231F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4" y="2787651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3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8" name="橢圓 12">
            <a:extLst>
              <a:ext uri="{FF2B5EF4-FFF2-40B4-BE49-F238E27FC236}">
                <a16:creationId xmlns:a16="http://schemas.microsoft.com/office/drawing/2014/main" id="{45FCBE38-3EF0-F911-88B6-A735343E0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8189" y="2787651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9" name="橢圓 13">
            <a:extLst>
              <a:ext uri="{FF2B5EF4-FFF2-40B4-BE49-F238E27FC236}">
                <a16:creationId xmlns:a16="http://schemas.microsoft.com/office/drawing/2014/main" id="{FF81190C-4832-FB31-7481-DA3AD160F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9564" y="2787651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-3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0" name="橢圓 14">
            <a:extLst>
              <a:ext uri="{FF2B5EF4-FFF2-40B4-BE49-F238E27FC236}">
                <a16:creationId xmlns:a16="http://schemas.microsoft.com/office/drawing/2014/main" id="{DBDF1175-2DF1-0C55-67D0-272D03C34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0939" y="2787651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1" name="橢圓 15">
            <a:extLst>
              <a:ext uri="{FF2B5EF4-FFF2-40B4-BE49-F238E27FC236}">
                <a16:creationId xmlns:a16="http://schemas.microsoft.com/office/drawing/2014/main" id="{994F24F5-0B64-E6A8-3B82-94C8D8A53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4" y="3587751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-3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2" name="橢圓 16">
            <a:extLst>
              <a:ext uri="{FF2B5EF4-FFF2-40B4-BE49-F238E27FC236}">
                <a16:creationId xmlns:a16="http://schemas.microsoft.com/office/drawing/2014/main" id="{2DEB3F8D-D5ED-35DD-DA57-354655EC6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8189" y="3587751"/>
            <a:ext cx="719137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3" name="橢圓 17">
            <a:extLst>
              <a:ext uri="{FF2B5EF4-FFF2-40B4-BE49-F238E27FC236}">
                <a16:creationId xmlns:a16="http://schemas.microsoft.com/office/drawing/2014/main" id="{4292FA6D-D7BC-F8FB-25E8-E12860A6D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9564" y="3587751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0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4" name="橢圓 18">
            <a:extLst>
              <a:ext uri="{FF2B5EF4-FFF2-40B4-BE49-F238E27FC236}">
                <a16:creationId xmlns:a16="http://schemas.microsoft.com/office/drawing/2014/main" id="{50668ED6-8AEE-0D6A-5C66-EE615D7D7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0939" y="3587751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-3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5" name="橢圓 19">
            <a:extLst>
              <a:ext uri="{FF2B5EF4-FFF2-40B4-BE49-F238E27FC236}">
                <a16:creationId xmlns:a16="http://schemas.microsoft.com/office/drawing/2014/main" id="{FFC1EBF4-5924-7497-CB44-BE225285A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4" y="4446589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-3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6" name="橢圓 20">
            <a:extLst>
              <a:ext uri="{FF2B5EF4-FFF2-40B4-BE49-F238E27FC236}">
                <a16:creationId xmlns:a16="http://schemas.microsoft.com/office/drawing/2014/main" id="{641ED579-6738-ADB5-E0F0-3DC6AE13D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8189" y="4446589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-3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7" name="橢圓 21">
            <a:extLst>
              <a:ext uri="{FF2B5EF4-FFF2-40B4-BE49-F238E27FC236}">
                <a16:creationId xmlns:a16="http://schemas.microsoft.com/office/drawing/2014/main" id="{28BE9B20-4E6C-56FE-619E-E09C8F283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9564" y="4446589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0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8" name="橢圓 22">
            <a:extLst>
              <a:ext uri="{FF2B5EF4-FFF2-40B4-BE49-F238E27FC236}">
                <a16:creationId xmlns:a16="http://schemas.microsoft.com/office/drawing/2014/main" id="{0EBA62C3-E4BA-045D-54D1-3CB124CA4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0939" y="4446589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19" name="橢圓 23">
            <a:extLst>
              <a:ext uri="{FF2B5EF4-FFF2-40B4-BE49-F238E27FC236}">
                <a16:creationId xmlns:a16="http://schemas.microsoft.com/office/drawing/2014/main" id="{58A3A04C-62D8-C574-AA05-67A54F3E9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4" y="5246689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3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20" name="橢圓 24">
            <a:extLst>
              <a:ext uri="{FF2B5EF4-FFF2-40B4-BE49-F238E27FC236}">
                <a16:creationId xmlns:a16="http://schemas.microsoft.com/office/drawing/2014/main" id="{B30933D3-A42B-E67E-8EA4-67C306291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8189" y="5246689"/>
            <a:ext cx="719137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-2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21" name="橢圓 25">
            <a:extLst>
              <a:ext uri="{FF2B5EF4-FFF2-40B4-BE49-F238E27FC236}">
                <a16:creationId xmlns:a16="http://schemas.microsoft.com/office/drawing/2014/main" id="{5738AFC1-E934-28AF-9A1E-FA21B41D4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9564" y="5246689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-2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22" name="橢圓 26">
            <a:extLst>
              <a:ext uri="{FF2B5EF4-FFF2-40B4-BE49-F238E27FC236}">
                <a16:creationId xmlns:a16="http://schemas.microsoft.com/office/drawing/2014/main" id="{FD569FCA-38DD-9B3C-F337-5F1152464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0939" y="5246689"/>
            <a:ext cx="720725" cy="719137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graphicFrame>
        <p:nvGraphicFramePr>
          <p:cNvPr id="23" name="表格 34">
            <a:extLst>
              <a:ext uri="{FF2B5EF4-FFF2-40B4-BE49-F238E27FC236}">
                <a16:creationId xmlns:a16="http://schemas.microsoft.com/office/drawing/2014/main" id="{4B8F6073-7E15-AC02-6A4F-E3613219F640}"/>
              </a:ext>
            </a:extLst>
          </p:cNvPr>
          <p:cNvGraphicFramePr>
            <a:graphicFrameLocks noGrp="1"/>
          </p:cNvGraphicFramePr>
          <p:nvPr/>
        </p:nvGraphicFramePr>
        <p:xfrm>
          <a:off x="7210425" y="365125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616" name="文字方塊 35">
            <a:extLst>
              <a:ext uri="{FF2B5EF4-FFF2-40B4-BE49-F238E27FC236}">
                <a16:creationId xmlns:a16="http://schemas.microsoft.com/office/drawing/2014/main" id="{C7E04D4D-2B08-A06E-A430-6DBE249FB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2850" y="820739"/>
            <a:ext cx="1447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>
                <a:solidFill>
                  <a:srgbClr val="FF0000"/>
                </a:solidFill>
              </a:rPr>
              <a:t>Filter 2</a:t>
            </a:r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5" name="矩形 36">
            <a:extLst>
              <a:ext uri="{FF2B5EF4-FFF2-40B4-BE49-F238E27FC236}">
                <a16:creationId xmlns:a16="http://schemas.microsoft.com/office/drawing/2014/main" id="{A87CA057-66A0-3842-804D-EA3381C868E1}"/>
              </a:ext>
            </a:extLst>
          </p:cNvPr>
          <p:cNvSpPr/>
          <p:nvPr/>
        </p:nvSpPr>
        <p:spPr>
          <a:xfrm>
            <a:off x="2509838" y="2398713"/>
            <a:ext cx="1416050" cy="1382712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6" name="矩形 37">
            <a:extLst>
              <a:ext uri="{FF2B5EF4-FFF2-40B4-BE49-F238E27FC236}">
                <a16:creationId xmlns:a16="http://schemas.microsoft.com/office/drawing/2014/main" id="{0D872599-3FB4-B0C4-E939-3DE2B9BBF821}"/>
              </a:ext>
            </a:extLst>
          </p:cNvPr>
          <p:cNvSpPr/>
          <p:nvPr/>
        </p:nvSpPr>
        <p:spPr>
          <a:xfrm>
            <a:off x="3013075" y="2398713"/>
            <a:ext cx="1417638" cy="1382712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7" name="矩形 38">
            <a:extLst>
              <a:ext uri="{FF2B5EF4-FFF2-40B4-BE49-F238E27FC236}">
                <a16:creationId xmlns:a16="http://schemas.microsoft.com/office/drawing/2014/main" id="{893F5C76-CAA3-16C4-D435-548C90F1B59D}"/>
              </a:ext>
            </a:extLst>
          </p:cNvPr>
          <p:cNvSpPr/>
          <p:nvPr/>
        </p:nvSpPr>
        <p:spPr>
          <a:xfrm>
            <a:off x="3454400" y="2400301"/>
            <a:ext cx="1417638" cy="1382713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8" name="矩形 39">
            <a:extLst>
              <a:ext uri="{FF2B5EF4-FFF2-40B4-BE49-F238E27FC236}">
                <a16:creationId xmlns:a16="http://schemas.microsoft.com/office/drawing/2014/main" id="{10C7616C-15B8-7D10-4B64-E2DBF5B47DC8}"/>
              </a:ext>
            </a:extLst>
          </p:cNvPr>
          <p:cNvSpPr/>
          <p:nvPr/>
        </p:nvSpPr>
        <p:spPr>
          <a:xfrm>
            <a:off x="3930650" y="2398713"/>
            <a:ext cx="1417638" cy="1382712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9" name="矩形 40">
            <a:extLst>
              <a:ext uri="{FF2B5EF4-FFF2-40B4-BE49-F238E27FC236}">
                <a16:creationId xmlns:a16="http://schemas.microsoft.com/office/drawing/2014/main" id="{EE06BAEA-C45E-3C20-ACD1-7D4033664D63}"/>
              </a:ext>
            </a:extLst>
          </p:cNvPr>
          <p:cNvSpPr/>
          <p:nvPr/>
        </p:nvSpPr>
        <p:spPr>
          <a:xfrm>
            <a:off x="2509838" y="2809876"/>
            <a:ext cx="1416050" cy="1382713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0" name="橢圓 41">
            <a:extLst>
              <a:ext uri="{FF2B5EF4-FFF2-40B4-BE49-F238E27FC236}">
                <a16:creationId xmlns:a16="http://schemas.microsoft.com/office/drawing/2014/main" id="{DB4BFCD1-901A-5D7C-0ED0-8FACA11FE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76" y="2995614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31" name="橢圓 42">
            <a:extLst>
              <a:ext uri="{FF2B5EF4-FFF2-40B4-BE49-F238E27FC236}">
                <a16:creationId xmlns:a16="http://schemas.microsoft.com/office/drawing/2014/main" id="{5BAAFB83-8EA3-05A6-5952-7F74B669A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751" y="2995614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32" name="橢圓 43">
            <a:extLst>
              <a:ext uri="{FF2B5EF4-FFF2-40B4-BE49-F238E27FC236}">
                <a16:creationId xmlns:a16="http://schemas.microsoft.com/office/drawing/2014/main" id="{24425EA0-8DAC-3621-06C1-1C10E5FA9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3714" y="2995614"/>
            <a:ext cx="719137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33" name="橢圓 44">
            <a:extLst>
              <a:ext uri="{FF2B5EF4-FFF2-40B4-BE49-F238E27FC236}">
                <a16:creationId xmlns:a16="http://schemas.microsoft.com/office/drawing/2014/main" id="{142CAE61-CFBB-A984-987D-2DA589143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5089" y="2995614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34" name="橢圓 45">
            <a:extLst>
              <a:ext uri="{FF2B5EF4-FFF2-40B4-BE49-F238E27FC236}">
                <a16:creationId xmlns:a16="http://schemas.microsoft.com/office/drawing/2014/main" id="{F6F6DC0C-FDEC-01BA-FF08-1CE7D4326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76" y="3795714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35" name="橢圓 46">
            <a:extLst>
              <a:ext uri="{FF2B5EF4-FFF2-40B4-BE49-F238E27FC236}">
                <a16:creationId xmlns:a16="http://schemas.microsoft.com/office/drawing/2014/main" id="{367D4AA1-23F4-2D10-9E4B-098072B9F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751" y="3795714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36" name="橢圓 47">
            <a:extLst>
              <a:ext uri="{FF2B5EF4-FFF2-40B4-BE49-F238E27FC236}">
                <a16:creationId xmlns:a16="http://schemas.microsoft.com/office/drawing/2014/main" id="{325241B1-A6F6-1F51-3F4F-279F0D677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3714" y="3795714"/>
            <a:ext cx="719137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-2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37" name="橢圓 48">
            <a:extLst>
              <a:ext uri="{FF2B5EF4-FFF2-40B4-BE49-F238E27FC236}">
                <a16:creationId xmlns:a16="http://schemas.microsoft.com/office/drawing/2014/main" id="{A5117456-B106-7BE4-8458-4F0C1F66C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5089" y="3795714"/>
            <a:ext cx="720725" cy="72072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38" name="橢圓 49">
            <a:extLst>
              <a:ext uri="{FF2B5EF4-FFF2-40B4-BE49-F238E27FC236}">
                <a16:creationId xmlns:a16="http://schemas.microsoft.com/office/drawing/2014/main" id="{3B2CB199-0DC3-8193-46A3-0CB8C29E1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76" y="4654550"/>
            <a:ext cx="720725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39" name="橢圓 50">
            <a:extLst>
              <a:ext uri="{FF2B5EF4-FFF2-40B4-BE49-F238E27FC236}">
                <a16:creationId xmlns:a16="http://schemas.microsoft.com/office/drawing/2014/main" id="{513EB3BE-14F6-9837-7B0C-8DD03FBBA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751" y="4654550"/>
            <a:ext cx="720725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40" name="橢圓 51">
            <a:extLst>
              <a:ext uri="{FF2B5EF4-FFF2-40B4-BE49-F238E27FC236}">
                <a16:creationId xmlns:a16="http://schemas.microsoft.com/office/drawing/2014/main" id="{685CAAA3-7437-E6D4-C950-3D56CE2DC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3714" y="4654550"/>
            <a:ext cx="719137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-2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41" name="橢圓 52">
            <a:extLst>
              <a:ext uri="{FF2B5EF4-FFF2-40B4-BE49-F238E27FC236}">
                <a16:creationId xmlns:a16="http://schemas.microsoft.com/office/drawing/2014/main" id="{8F6E0281-6314-17EA-8611-03077BA35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5089" y="4654550"/>
            <a:ext cx="720725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42" name="橢圓 53">
            <a:extLst>
              <a:ext uri="{FF2B5EF4-FFF2-40B4-BE49-F238E27FC236}">
                <a16:creationId xmlns:a16="http://schemas.microsoft.com/office/drawing/2014/main" id="{FC0C2B6F-6863-3588-3448-2CEC0F934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76" y="5454650"/>
            <a:ext cx="720725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43" name="橢圓 54">
            <a:extLst>
              <a:ext uri="{FF2B5EF4-FFF2-40B4-BE49-F238E27FC236}">
                <a16:creationId xmlns:a16="http://schemas.microsoft.com/office/drawing/2014/main" id="{7FEA9812-0EEA-E2B7-5C9F-64BB2FD07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751" y="5454650"/>
            <a:ext cx="720725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0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44" name="橢圓 55">
            <a:extLst>
              <a:ext uri="{FF2B5EF4-FFF2-40B4-BE49-F238E27FC236}">
                <a16:creationId xmlns:a16="http://schemas.microsoft.com/office/drawing/2014/main" id="{21396526-7063-4647-F5BA-E931392BC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3714" y="5454650"/>
            <a:ext cx="719137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-4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45" name="橢圓 56">
            <a:extLst>
              <a:ext uri="{FF2B5EF4-FFF2-40B4-BE49-F238E27FC236}">
                <a16:creationId xmlns:a16="http://schemas.microsoft.com/office/drawing/2014/main" id="{3F1310BB-BA52-B848-D5D0-20D4CBFEC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5089" y="5454650"/>
            <a:ext cx="720725" cy="71913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3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46" name="文字方塊 2">
            <a:extLst>
              <a:ext uri="{FF2B5EF4-FFF2-40B4-BE49-F238E27FC236}">
                <a16:creationId xmlns:a16="http://schemas.microsoft.com/office/drawing/2014/main" id="{13374EA9-A4E2-B1D6-BBDE-64D81A2C7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057401"/>
            <a:ext cx="457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800">
                <a:solidFill>
                  <a:srgbClr val="0000FF"/>
                </a:solidFill>
              </a:rPr>
              <a:t>Repeat this for each filter</a:t>
            </a:r>
            <a:endParaRPr lang="zh-TW" altLang="en-US" sz="2800">
              <a:solidFill>
                <a:srgbClr val="0000FF"/>
              </a:solidFill>
            </a:endParaRPr>
          </a:p>
        </p:txBody>
      </p:sp>
      <p:sp>
        <p:nvSpPr>
          <p:cNvPr id="47" name="矩形 57">
            <a:extLst>
              <a:ext uri="{FF2B5EF4-FFF2-40B4-BE49-F238E27FC236}">
                <a16:creationId xmlns:a16="http://schemas.microsoft.com/office/drawing/2014/main" id="{96C37AD0-3B81-738A-E8C9-981BDF9C99DA}"/>
              </a:ext>
            </a:extLst>
          </p:cNvPr>
          <p:cNvSpPr/>
          <p:nvPr/>
        </p:nvSpPr>
        <p:spPr>
          <a:xfrm>
            <a:off x="3940175" y="3783013"/>
            <a:ext cx="1416050" cy="1382712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2640" name="矩形 58">
            <a:extLst>
              <a:ext uri="{FF2B5EF4-FFF2-40B4-BE49-F238E27FC236}">
                <a16:creationId xmlns:a16="http://schemas.microsoft.com/office/drawing/2014/main" id="{77658BE4-C540-18DA-9244-64664AA5A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14" y="1731964"/>
            <a:ext cx="12891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s</a:t>
            </a:r>
            <a:r>
              <a:rPr lang="zh-TW" altLang="en-US"/>
              <a:t>tride</a:t>
            </a:r>
            <a:r>
              <a:rPr lang="en-US" altLang="zh-TW"/>
              <a:t>=1</a:t>
            </a:r>
            <a:endParaRPr lang="zh-TW" altLang="en-US"/>
          </a:p>
        </p:txBody>
      </p:sp>
      <p:sp>
        <p:nvSpPr>
          <p:cNvPr id="49" name="文字方塊 59">
            <a:extLst>
              <a:ext uri="{FF2B5EF4-FFF2-40B4-BE49-F238E27FC236}">
                <a16:creationId xmlns:a16="http://schemas.microsoft.com/office/drawing/2014/main" id="{CA309F14-ACD5-4CF3-5B44-B79BE832F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6172201"/>
            <a:ext cx="3657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000">
                <a:solidFill>
                  <a:srgbClr val="FF0000"/>
                </a:solidFill>
              </a:rPr>
              <a:t>Two 4 x 4 images</a:t>
            </a:r>
          </a:p>
          <a:p>
            <a:pPr algn="ctr" eaLnBrk="1" hangingPunct="1"/>
            <a:r>
              <a:rPr lang="en-US" altLang="zh-TW" sz="2000">
                <a:solidFill>
                  <a:srgbClr val="FF0000"/>
                </a:solidFill>
              </a:rPr>
              <a:t>Forming 2 x 4 x 4 matrix</a:t>
            </a:r>
            <a:endParaRPr lang="zh-TW" altLang="en-US" sz="2000">
              <a:solidFill>
                <a:srgbClr val="FF0000"/>
              </a:solidFill>
            </a:endParaRPr>
          </a:p>
        </p:txBody>
      </p:sp>
      <p:sp>
        <p:nvSpPr>
          <p:cNvPr id="50" name="矩形 5">
            <a:extLst>
              <a:ext uri="{FF2B5EF4-FFF2-40B4-BE49-F238E27FC236}">
                <a16:creationId xmlns:a16="http://schemas.microsoft.com/office/drawing/2014/main" id="{B094B5FF-803A-42AE-F4E6-8EE7A985489C}"/>
              </a:ext>
            </a:extLst>
          </p:cNvPr>
          <p:cNvSpPr/>
          <p:nvPr/>
        </p:nvSpPr>
        <p:spPr>
          <a:xfrm>
            <a:off x="9871075" y="3884613"/>
            <a:ext cx="2320925" cy="97313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Feature</a:t>
            </a:r>
          </a:p>
          <a:p>
            <a:pPr algn="ctr"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Map</a:t>
            </a:r>
            <a:endParaRPr lang="zh-TW" altLang="en-US" sz="2800" dirty="0">
              <a:solidFill>
                <a:srgbClr val="00000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343090-86EC-B412-B24B-E5A4F3FBD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0BB3E-5684-4ADF-A7CE-C17743D2750D}" type="datetime1">
              <a:rPr lang="en-US" smtClean="0"/>
              <a:t>2/27/2026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4AC00-DD40-7C53-E689-C25C84DF8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38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7" grpId="0" animBg="1"/>
      <p:bldP spid="49" grpId="0"/>
      <p:bldP spid="5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F3E85-7146-78A7-FFC8-33D22E1C1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標題 1">
            <a:extLst>
              <a:ext uri="{FF2B5EF4-FFF2-40B4-BE49-F238E27FC236}">
                <a16:creationId xmlns:a16="http://schemas.microsoft.com/office/drawing/2014/main" id="{AF88D5AA-52F5-D475-782E-77EB8D9C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325563"/>
          </a:xfrm>
        </p:spPr>
        <p:txBody>
          <a:bodyPr/>
          <a:lstStyle/>
          <a:p>
            <a:r>
              <a:rPr lang="en-US" altLang="zh-TW"/>
              <a:t>Color image: RGB 3 channels</a:t>
            </a:r>
            <a:endParaRPr lang="zh-TW" altLang="en-US"/>
          </a:p>
        </p:txBody>
      </p:sp>
      <p:graphicFrame>
        <p:nvGraphicFramePr>
          <p:cNvPr id="6" name="內容版面配置區 3">
            <a:extLst>
              <a:ext uri="{FF2B5EF4-FFF2-40B4-BE49-F238E27FC236}">
                <a16:creationId xmlns:a16="http://schemas.microsoft.com/office/drawing/2014/main" id="{FC6EB139-B185-45CB-5EA6-AF58ADC96053}"/>
              </a:ext>
            </a:extLst>
          </p:cNvPr>
          <p:cNvGraphicFramePr>
            <a:graphicFrameLocks/>
          </p:cNvGraphicFramePr>
          <p:nvPr/>
        </p:nvGraphicFramePr>
        <p:xfrm>
          <a:off x="6478588" y="3441700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3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內容版面配置區 3">
            <a:extLst>
              <a:ext uri="{FF2B5EF4-FFF2-40B4-BE49-F238E27FC236}">
                <a16:creationId xmlns:a16="http://schemas.microsoft.com/office/drawing/2014/main" id="{6C9E3FCF-516B-A550-301A-93EE70440BBB}"/>
              </a:ext>
            </a:extLst>
          </p:cNvPr>
          <p:cNvGraphicFramePr>
            <a:graphicFrameLocks/>
          </p:cNvGraphicFramePr>
          <p:nvPr/>
        </p:nvGraphicFramePr>
        <p:xfrm>
          <a:off x="6642100" y="3648075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內容版面配置區 3">
            <a:extLst>
              <a:ext uri="{FF2B5EF4-FFF2-40B4-BE49-F238E27FC236}">
                <a16:creationId xmlns:a16="http://schemas.microsoft.com/office/drawing/2014/main" id="{894739B5-2046-A7D1-A056-3CEF2E47071B}"/>
              </a:ext>
            </a:extLst>
          </p:cNvPr>
          <p:cNvGraphicFramePr>
            <a:graphicFrameLocks/>
          </p:cNvGraphicFramePr>
          <p:nvPr/>
        </p:nvGraphicFramePr>
        <p:xfrm>
          <a:off x="6848475" y="3849688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77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00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561B63B-4E7C-AA8A-B709-EEAC7105EA9A}"/>
              </a:ext>
            </a:extLst>
          </p:cNvPr>
          <p:cNvGraphicFramePr>
            <a:graphicFrameLocks noGrp="1"/>
          </p:cNvGraphicFramePr>
          <p:nvPr/>
        </p:nvGraphicFramePr>
        <p:xfrm>
          <a:off x="4491038" y="1614488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70FBB12C-3CCB-4407-95B8-77D94D6B9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0775" y="2341563"/>
            <a:ext cx="1447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Filter 1</a:t>
            </a:r>
            <a:endParaRPr lang="zh-TW" altLang="en-US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8D81E7B8-926C-6B66-407F-E5A01B7197EB}"/>
              </a:ext>
            </a:extLst>
          </p:cNvPr>
          <p:cNvGraphicFramePr>
            <a:graphicFrameLocks noGrp="1"/>
          </p:cNvGraphicFramePr>
          <p:nvPr/>
        </p:nvGraphicFramePr>
        <p:xfrm>
          <a:off x="7496175" y="1573213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00345BAA-7C1D-4128-E86F-ADEBB54E3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4325" y="2301876"/>
            <a:ext cx="14493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Filter 2</a:t>
            </a:r>
            <a:endParaRPr lang="zh-TW" altLang="en-US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4529841E-AEAD-6D93-79DF-1DA2E2C2DCC5}"/>
              </a:ext>
            </a:extLst>
          </p:cNvPr>
          <p:cNvGraphicFramePr>
            <a:graphicFrameLocks noGrp="1"/>
          </p:cNvGraphicFramePr>
          <p:nvPr/>
        </p:nvGraphicFramePr>
        <p:xfrm>
          <a:off x="4643438" y="1766888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47E3BF0D-6CD2-535F-90BF-E647144A34CC}"/>
              </a:ext>
            </a:extLst>
          </p:cNvPr>
          <p:cNvGraphicFramePr>
            <a:graphicFrameLocks noGrp="1"/>
          </p:cNvGraphicFramePr>
          <p:nvPr/>
        </p:nvGraphicFramePr>
        <p:xfrm>
          <a:off x="4795838" y="1882775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A8C685A4-37E8-3763-EEBC-368A342D65C8}"/>
              </a:ext>
            </a:extLst>
          </p:cNvPr>
          <p:cNvGraphicFramePr>
            <a:graphicFrameLocks noGrp="1"/>
          </p:cNvGraphicFramePr>
          <p:nvPr/>
        </p:nvGraphicFramePr>
        <p:xfrm>
          <a:off x="7648575" y="1708150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D672736C-19F1-DB5B-4A62-038B1FE33053}"/>
              </a:ext>
            </a:extLst>
          </p:cNvPr>
          <p:cNvGraphicFramePr>
            <a:graphicFrameLocks noGrp="1"/>
          </p:cNvGraphicFramePr>
          <p:nvPr/>
        </p:nvGraphicFramePr>
        <p:xfrm>
          <a:off x="7800975" y="1860550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向右箭號 4">
            <a:extLst>
              <a:ext uri="{FF2B5EF4-FFF2-40B4-BE49-F238E27FC236}">
                <a16:creationId xmlns:a16="http://schemas.microsoft.com/office/drawing/2014/main" id="{AB727CCB-02BE-2E28-A3F6-AE0E01542369}"/>
              </a:ext>
            </a:extLst>
          </p:cNvPr>
          <p:cNvSpPr/>
          <p:nvPr/>
        </p:nvSpPr>
        <p:spPr>
          <a:xfrm>
            <a:off x="5819775" y="4379913"/>
            <a:ext cx="508000" cy="868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7A3E4653-BB19-6A48-B974-C7CE3938A6AA}"/>
              </a:ext>
            </a:extLst>
          </p:cNvPr>
          <p:cNvGrpSpPr>
            <a:grpSpLocks/>
          </p:cNvGrpSpPr>
          <p:nvPr/>
        </p:nvGrpSpPr>
        <p:grpSpPr bwMode="auto">
          <a:xfrm>
            <a:off x="1878014" y="3059113"/>
            <a:ext cx="3927475" cy="3630612"/>
            <a:chOff x="353684" y="3059766"/>
            <a:chExt cx="3927508" cy="3629534"/>
          </a:xfrm>
        </p:grpSpPr>
        <p:pic>
          <p:nvPicPr>
            <p:cNvPr id="23819" name="圖片 3">
              <a:extLst>
                <a:ext uri="{FF2B5EF4-FFF2-40B4-BE49-F238E27FC236}">
                  <a16:creationId xmlns:a16="http://schemas.microsoft.com/office/drawing/2014/main" id="{89686770-456E-5DBF-BD3E-130AE6843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122" y="3442427"/>
              <a:ext cx="3907070" cy="32468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820" name="文字方塊 16">
              <a:extLst>
                <a:ext uri="{FF2B5EF4-FFF2-40B4-BE49-F238E27FC236}">
                  <a16:creationId xmlns:a16="http://schemas.microsoft.com/office/drawing/2014/main" id="{C82111F9-7E3A-493D-2D23-9F7A0E99B8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684" y="3059766"/>
              <a:ext cx="19976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TW"/>
                <a:t>Color image</a:t>
              </a:r>
              <a:endParaRPr lang="zh-TW" alt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A6E052-A37A-8B11-A643-898C989C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D339-2CD0-4E30-906F-4F5AED8CD5A9}" type="datetime1">
              <a:rPr lang="en-US" smtClean="0"/>
              <a:t>2/27/2026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52FF2-2A89-0F21-C29B-BF462EB3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9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C20E90-473A-4278-9819-87AEE72DD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621F-038C-4C0A-A977-E5D8A68E2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AE207D-D193-420A-8A57-8989FCF19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 Layer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BE0E8E-D954-43BD-A31A-177317666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414646"/>
            <a:ext cx="9144000" cy="402870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9E45D0-E242-4F16-B4BC-685386FB0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E908-FD3D-4AD7-96BA-D556AD0B41DD}" type="datetime1">
              <a:rPr lang="en-US" smtClean="0"/>
              <a:t>2/27/2026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797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90446" y="3026238"/>
            <a:ext cx="213360" cy="2014855"/>
          </a:xfrm>
          <a:custGeom>
            <a:avLst/>
            <a:gdLst/>
            <a:ahLst/>
            <a:cxnLst/>
            <a:rect l="l" t="t" r="r" b="b"/>
            <a:pathLst>
              <a:path w="213359" h="2014854">
                <a:moveTo>
                  <a:pt x="213173" y="0"/>
                </a:moveTo>
                <a:lnTo>
                  <a:pt x="0" y="0"/>
                </a:lnTo>
                <a:lnTo>
                  <a:pt x="0" y="2014680"/>
                </a:lnTo>
                <a:lnTo>
                  <a:pt x="213173" y="2014680"/>
                </a:lnTo>
                <a:lnTo>
                  <a:pt x="213173" y="0"/>
                </a:lnTo>
                <a:close/>
              </a:path>
            </a:pathLst>
          </a:custGeom>
          <a:solidFill>
            <a:srgbClr val="F7D6D5">
              <a:alpha val="517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590446" y="2283009"/>
            <a:ext cx="956944" cy="2758440"/>
          </a:xfrm>
          <a:custGeom>
            <a:avLst/>
            <a:gdLst/>
            <a:ahLst/>
            <a:cxnLst/>
            <a:rect l="l" t="t" r="r" b="b"/>
            <a:pathLst>
              <a:path w="956944" h="2758440">
                <a:moveTo>
                  <a:pt x="0" y="743225"/>
                </a:moveTo>
                <a:lnTo>
                  <a:pt x="743225" y="0"/>
                </a:lnTo>
                <a:lnTo>
                  <a:pt x="956397" y="0"/>
                </a:lnTo>
                <a:lnTo>
                  <a:pt x="956397" y="2014657"/>
                </a:lnTo>
                <a:lnTo>
                  <a:pt x="213171" y="2757905"/>
                </a:lnTo>
                <a:lnTo>
                  <a:pt x="0" y="2757905"/>
                </a:lnTo>
                <a:lnTo>
                  <a:pt x="0" y="743225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90446" y="2283011"/>
            <a:ext cx="956944" cy="743585"/>
          </a:xfrm>
          <a:custGeom>
            <a:avLst/>
            <a:gdLst/>
            <a:ahLst/>
            <a:cxnLst/>
            <a:rect l="l" t="t" r="r" b="b"/>
            <a:pathLst>
              <a:path w="956944" h="743585">
                <a:moveTo>
                  <a:pt x="0" y="743225"/>
                </a:moveTo>
                <a:lnTo>
                  <a:pt x="213171" y="743225"/>
                </a:lnTo>
                <a:lnTo>
                  <a:pt x="956397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03618" y="3026238"/>
            <a:ext cx="0" cy="2014855"/>
          </a:xfrm>
          <a:custGeom>
            <a:avLst/>
            <a:gdLst/>
            <a:ahLst/>
            <a:cxnLst/>
            <a:rect l="l" t="t" r="r" b="b"/>
            <a:pathLst>
              <a:path h="2014854">
                <a:moveTo>
                  <a:pt x="0" y="0"/>
                </a:moveTo>
                <a:lnTo>
                  <a:pt x="0" y="201468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19874" y="3105618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32</a:t>
            </a:r>
            <a:endParaRPr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5483" y="503851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3</a:t>
            </a:r>
            <a:endParaRPr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217799" y="901701"/>
            <a:ext cx="3696335" cy="5740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Convolution</a:t>
            </a:r>
            <a:r>
              <a:rPr spc="-130" dirty="0"/>
              <a:t> </a:t>
            </a:r>
            <a:r>
              <a:rPr spc="-10" dirty="0"/>
              <a:t>Layer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348249" y="1762093"/>
            <a:ext cx="20789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32x32x3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image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15395" y="4561371"/>
            <a:ext cx="556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width</a:t>
            </a:r>
            <a:endParaRPr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35373" y="3045947"/>
            <a:ext cx="644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height</a:t>
            </a:r>
            <a:endParaRPr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02422" y="4594177"/>
            <a:ext cx="594360" cy="67945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R="28575" algn="r">
              <a:spcBef>
                <a:spcPts val="515"/>
              </a:spcBef>
            </a:pPr>
            <a:r>
              <a:rPr spc="-5" dirty="0">
                <a:latin typeface="Arial"/>
                <a:cs typeface="Arial"/>
              </a:rPr>
              <a:t>32</a:t>
            </a:r>
            <a:endParaRPr>
              <a:latin typeface="Arial"/>
              <a:cs typeface="Arial"/>
            </a:endParaRPr>
          </a:p>
          <a:p>
            <a:pPr marR="5080" algn="r">
              <a:spcBef>
                <a:spcPts val="415"/>
              </a:spcBef>
            </a:pP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depth</a:t>
            </a:r>
            <a:endParaRPr>
              <a:latin typeface="Arial"/>
              <a:cs typeface="Arial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FCA155E-444A-44C8-9D2C-1B169ED72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425D8CA-C710-4624-B1A4-0366370A9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9C02A-94C0-49CD-A696-08020925F720}" type="datetime1">
              <a:rPr lang="en-US" smtClean="0"/>
              <a:t>2/27/2026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90446" y="3026238"/>
            <a:ext cx="213360" cy="2014855"/>
          </a:xfrm>
          <a:custGeom>
            <a:avLst/>
            <a:gdLst/>
            <a:ahLst/>
            <a:cxnLst/>
            <a:rect l="l" t="t" r="r" b="b"/>
            <a:pathLst>
              <a:path w="213359" h="2014854">
                <a:moveTo>
                  <a:pt x="213173" y="0"/>
                </a:moveTo>
                <a:lnTo>
                  <a:pt x="0" y="0"/>
                </a:lnTo>
                <a:lnTo>
                  <a:pt x="0" y="2014680"/>
                </a:lnTo>
                <a:lnTo>
                  <a:pt x="213173" y="2014680"/>
                </a:lnTo>
                <a:lnTo>
                  <a:pt x="213173" y="0"/>
                </a:lnTo>
                <a:close/>
              </a:path>
            </a:pathLst>
          </a:custGeom>
          <a:solidFill>
            <a:srgbClr val="F7D6D5">
              <a:alpha val="517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590446" y="3026238"/>
            <a:ext cx="213360" cy="2014855"/>
          </a:xfrm>
          <a:custGeom>
            <a:avLst/>
            <a:gdLst/>
            <a:ahLst/>
            <a:cxnLst/>
            <a:rect l="l" t="t" r="r" b="b"/>
            <a:pathLst>
              <a:path w="213359" h="2014854">
                <a:moveTo>
                  <a:pt x="213173" y="0"/>
                </a:moveTo>
                <a:lnTo>
                  <a:pt x="0" y="0"/>
                </a:lnTo>
                <a:lnTo>
                  <a:pt x="0" y="2014680"/>
                </a:lnTo>
                <a:lnTo>
                  <a:pt x="213173" y="2014680"/>
                </a:lnTo>
                <a:lnTo>
                  <a:pt x="213173" y="0"/>
                </a:lnTo>
                <a:close/>
              </a:path>
            </a:pathLst>
          </a:custGeom>
          <a:solidFill>
            <a:srgbClr val="F7D6D5">
              <a:alpha val="517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90446" y="2283009"/>
            <a:ext cx="956944" cy="2758440"/>
          </a:xfrm>
          <a:custGeom>
            <a:avLst/>
            <a:gdLst/>
            <a:ahLst/>
            <a:cxnLst/>
            <a:rect l="l" t="t" r="r" b="b"/>
            <a:pathLst>
              <a:path w="956944" h="2758440">
                <a:moveTo>
                  <a:pt x="0" y="743225"/>
                </a:moveTo>
                <a:lnTo>
                  <a:pt x="743225" y="0"/>
                </a:lnTo>
                <a:lnTo>
                  <a:pt x="956397" y="0"/>
                </a:lnTo>
                <a:lnTo>
                  <a:pt x="956397" y="2014657"/>
                </a:lnTo>
                <a:lnTo>
                  <a:pt x="213171" y="2757905"/>
                </a:lnTo>
                <a:lnTo>
                  <a:pt x="0" y="2757905"/>
                </a:lnTo>
                <a:lnTo>
                  <a:pt x="0" y="743225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90446" y="2283011"/>
            <a:ext cx="956944" cy="743585"/>
          </a:xfrm>
          <a:custGeom>
            <a:avLst/>
            <a:gdLst/>
            <a:ahLst/>
            <a:cxnLst/>
            <a:rect l="l" t="t" r="r" b="b"/>
            <a:pathLst>
              <a:path w="956944" h="743585">
                <a:moveTo>
                  <a:pt x="0" y="743225"/>
                </a:moveTo>
                <a:lnTo>
                  <a:pt x="213171" y="743225"/>
                </a:lnTo>
                <a:lnTo>
                  <a:pt x="956397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03618" y="3026238"/>
            <a:ext cx="0" cy="2014855"/>
          </a:xfrm>
          <a:custGeom>
            <a:avLst/>
            <a:gdLst/>
            <a:ahLst/>
            <a:cxnLst/>
            <a:rect l="l" t="t" r="r" b="b"/>
            <a:pathLst>
              <a:path h="2014854">
                <a:moveTo>
                  <a:pt x="0" y="0"/>
                </a:moveTo>
                <a:lnTo>
                  <a:pt x="0" y="201468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69890" y="3312681"/>
            <a:ext cx="132080" cy="663575"/>
          </a:xfrm>
          <a:custGeom>
            <a:avLst/>
            <a:gdLst/>
            <a:ahLst/>
            <a:cxnLst/>
            <a:rect l="l" t="t" r="r" b="b"/>
            <a:pathLst>
              <a:path w="132079" h="663575">
                <a:moveTo>
                  <a:pt x="131599" y="0"/>
                </a:moveTo>
                <a:lnTo>
                  <a:pt x="0" y="0"/>
                </a:lnTo>
                <a:lnTo>
                  <a:pt x="0" y="663213"/>
                </a:lnTo>
                <a:lnTo>
                  <a:pt x="131599" y="663213"/>
                </a:lnTo>
                <a:lnTo>
                  <a:pt x="131599" y="0"/>
                </a:lnTo>
                <a:close/>
              </a:path>
            </a:pathLst>
          </a:custGeom>
          <a:solidFill>
            <a:srgbClr val="D2E2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69892" y="3161984"/>
            <a:ext cx="282575" cy="814069"/>
          </a:xfrm>
          <a:custGeom>
            <a:avLst/>
            <a:gdLst/>
            <a:ahLst/>
            <a:cxnLst/>
            <a:rect l="l" t="t" r="r" b="b"/>
            <a:pathLst>
              <a:path w="282575" h="814069">
                <a:moveTo>
                  <a:pt x="0" y="150697"/>
                </a:moveTo>
                <a:lnTo>
                  <a:pt x="150698" y="0"/>
                </a:lnTo>
                <a:lnTo>
                  <a:pt x="282299" y="0"/>
                </a:lnTo>
                <a:lnTo>
                  <a:pt x="282299" y="663210"/>
                </a:lnTo>
                <a:lnTo>
                  <a:pt x="131598" y="813909"/>
                </a:lnTo>
                <a:lnTo>
                  <a:pt x="0" y="813909"/>
                </a:lnTo>
                <a:lnTo>
                  <a:pt x="0" y="150697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69892" y="3161982"/>
            <a:ext cx="282575" cy="151130"/>
          </a:xfrm>
          <a:custGeom>
            <a:avLst/>
            <a:gdLst/>
            <a:ahLst/>
            <a:cxnLst/>
            <a:rect l="l" t="t" r="r" b="b"/>
            <a:pathLst>
              <a:path w="282575" h="151130">
                <a:moveTo>
                  <a:pt x="0" y="150697"/>
                </a:moveTo>
                <a:lnTo>
                  <a:pt x="131598" y="150697"/>
                </a:lnTo>
                <a:lnTo>
                  <a:pt x="282299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01489" y="3312681"/>
            <a:ext cx="0" cy="663575"/>
          </a:xfrm>
          <a:custGeom>
            <a:avLst/>
            <a:gdLst/>
            <a:ahLst/>
            <a:cxnLst/>
            <a:rect l="l" t="t" r="r" b="b"/>
            <a:pathLst>
              <a:path h="663575">
                <a:moveTo>
                  <a:pt x="0" y="0"/>
                </a:moveTo>
                <a:lnTo>
                  <a:pt x="0" y="663212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48247" y="1762095"/>
            <a:ext cx="7898130" cy="3631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32x32x3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image</a:t>
            </a:r>
            <a:endParaRPr sz="2400">
              <a:latin typeface="Arial"/>
              <a:cs typeface="Arial"/>
            </a:endParaRPr>
          </a:p>
          <a:p>
            <a:pPr>
              <a:spcBef>
                <a:spcPts val="50"/>
              </a:spcBef>
            </a:pPr>
            <a:endParaRPr sz="2800">
              <a:latin typeface="Arial"/>
              <a:cs typeface="Arial"/>
            </a:endParaRPr>
          </a:p>
          <a:p>
            <a:pPr marR="67945" algn="ctr"/>
            <a:r>
              <a:rPr sz="2400" spc="-5" dirty="0">
                <a:latin typeface="Arial"/>
                <a:cs typeface="Arial"/>
              </a:rPr>
              <a:t>5x5x3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filter</a:t>
            </a:r>
            <a:endParaRPr sz="2400">
              <a:latin typeface="Arial"/>
              <a:cs typeface="Arial"/>
            </a:endParaRPr>
          </a:p>
          <a:p>
            <a:pPr marL="1283970">
              <a:spcBef>
                <a:spcPts val="1550"/>
              </a:spcBef>
            </a:pPr>
            <a:r>
              <a:rPr spc="-5" dirty="0">
                <a:latin typeface="Arial"/>
                <a:cs typeface="Arial"/>
              </a:rPr>
              <a:t>32</a:t>
            </a:r>
            <a:endParaRPr>
              <a:latin typeface="Arial"/>
              <a:cs typeface="Arial"/>
            </a:endParaRPr>
          </a:p>
          <a:p>
            <a:pPr marL="4458970">
              <a:lnSpc>
                <a:spcPts val="2135"/>
              </a:lnSpc>
              <a:spcBef>
                <a:spcPts val="1580"/>
              </a:spcBef>
            </a:pPr>
            <a:r>
              <a:rPr b="1" spc="-10" dirty="0">
                <a:latin typeface="Arial"/>
                <a:cs typeface="Arial"/>
              </a:rPr>
              <a:t>Convolve </a:t>
            </a:r>
            <a:r>
              <a:rPr spc="-5" dirty="0">
                <a:latin typeface="Arial"/>
                <a:cs typeface="Arial"/>
              </a:rPr>
              <a:t>the filter </a:t>
            </a:r>
            <a:r>
              <a:rPr spc="-10" dirty="0">
                <a:latin typeface="Arial"/>
                <a:cs typeface="Arial"/>
              </a:rPr>
              <a:t>with </a:t>
            </a:r>
            <a:r>
              <a:rPr spc="-5" dirty="0">
                <a:latin typeface="Arial"/>
                <a:cs typeface="Arial"/>
              </a:rPr>
              <a:t>the</a:t>
            </a:r>
            <a:r>
              <a:rPr spc="-6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image</a:t>
            </a:r>
            <a:endParaRPr>
              <a:latin typeface="Arial"/>
              <a:cs typeface="Arial"/>
            </a:endParaRPr>
          </a:p>
          <a:p>
            <a:pPr marL="4458970" marR="26034">
              <a:lnSpc>
                <a:spcPts val="2200"/>
              </a:lnSpc>
              <a:spcBef>
                <a:spcPts val="15"/>
              </a:spcBef>
            </a:pPr>
            <a:r>
              <a:rPr spc="-10" dirty="0">
                <a:latin typeface="Arial"/>
                <a:cs typeface="Arial"/>
              </a:rPr>
              <a:t>i.e. </a:t>
            </a:r>
            <a:r>
              <a:rPr spc="-5" dirty="0">
                <a:latin typeface="Arial"/>
                <a:cs typeface="Arial"/>
              </a:rPr>
              <a:t>“slide </a:t>
            </a:r>
            <a:r>
              <a:rPr spc="-10" dirty="0">
                <a:latin typeface="Arial"/>
                <a:cs typeface="Arial"/>
              </a:rPr>
              <a:t>over </a:t>
            </a:r>
            <a:r>
              <a:rPr spc="-5" dirty="0">
                <a:latin typeface="Arial"/>
                <a:cs typeface="Arial"/>
              </a:rPr>
              <a:t>the </a:t>
            </a:r>
            <a:r>
              <a:rPr spc="-10" dirty="0">
                <a:latin typeface="Arial"/>
                <a:cs typeface="Arial"/>
              </a:rPr>
              <a:t>image </a:t>
            </a:r>
            <a:r>
              <a:rPr spc="-20" dirty="0">
                <a:latin typeface="Arial"/>
                <a:cs typeface="Arial"/>
              </a:rPr>
              <a:t>spatially,  </a:t>
            </a:r>
            <a:r>
              <a:rPr spc="-5" dirty="0">
                <a:latin typeface="Arial"/>
                <a:cs typeface="Arial"/>
              </a:rPr>
              <a:t>computing </a:t>
            </a:r>
            <a:r>
              <a:rPr spc="-10" dirty="0">
                <a:latin typeface="Arial"/>
                <a:cs typeface="Arial"/>
              </a:rPr>
              <a:t>dot</a:t>
            </a:r>
            <a:r>
              <a:rPr spc="-3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products”</a:t>
            </a:r>
            <a:endParaRPr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00">
              <a:latin typeface="Arial"/>
              <a:cs typeface="Arial"/>
            </a:endParaRPr>
          </a:p>
          <a:p>
            <a:pPr marL="864235">
              <a:spcBef>
                <a:spcPts val="5"/>
              </a:spcBef>
            </a:pPr>
            <a:r>
              <a:rPr spc="-5" dirty="0">
                <a:latin typeface="Arial"/>
                <a:cs typeface="Arial"/>
              </a:rPr>
              <a:t>32</a:t>
            </a:r>
            <a:endParaRPr>
              <a:latin typeface="Arial"/>
              <a:cs typeface="Arial"/>
            </a:endParaRPr>
          </a:p>
          <a:p>
            <a:pPr marL="269875">
              <a:spcBef>
                <a:spcPts val="919"/>
              </a:spcBef>
            </a:pPr>
            <a:r>
              <a:rPr dirty="0">
                <a:latin typeface="Arial"/>
                <a:cs typeface="Arial"/>
              </a:rPr>
              <a:t>3</a:t>
            </a:r>
            <a:endParaRPr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217799" y="901701"/>
            <a:ext cx="3696335" cy="5740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Convolution</a:t>
            </a:r>
            <a:r>
              <a:rPr spc="-130" dirty="0"/>
              <a:t> </a:t>
            </a:r>
            <a:r>
              <a:rPr spc="-10" dirty="0"/>
              <a:t>Layer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A232D99-2EC6-48AB-A4DE-5CF1FAA93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6AD07AC-3F2D-41D2-933C-A2491C0AA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B6F2-B710-4A8D-A346-F34C864C9BEE}" type="datetime1">
              <a:rPr lang="en-US" smtClean="0"/>
              <a:t>2/27/2026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90446" y="3026238"/>
            <a:ext cx="213360" cy="2014855"/>
          </a:xfrm>
          <a:custGeom>
            <a:avLst/>
            <a:gdLst/>
            <a:ahLst/>
            <a:cxnLst/>
            <a:rect l="l" t="t" r="r" b="b"/>
            <a:pathLst>
              <a:path w="213359" h="2014854">
                <a:moveTo>
                  <a:pt x="213173" y="0"/>
                </a:moveTo>
                <a:lnTo>
                  <a:pt x="0" y="0"/>
                </a:lnTo>
                <a:lnTo>
                  <a:pt x="0" y="2014680"/>
                </a:lnTo>
                <a:lnTo>
                  <a:pt x="213173" y="2014680"/>
                </a:lnTo>
                <a:lnTo>
                  <a:pt x="213173" y="0"/>
                </a:lnTo>
                <a:close/>
              </a:path>
            </a:pathLst>
          </a:custGeom>
          <a:solidFill>
            <a:srgbClr val="F7D6D5">
              <a:alpha val="517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590446" y="2283009"/>
            <a:ext cx="956944" cy="2758440"/>
          </a:xfrm>
          <a:custGeom>
            <a:avLst/>
            <a:gdLst/>
            <a:ahLst/>
            <a:cxnLst/>
            <a:rect l="l" t="t" r="r" b="b"/>
            <a:pathLst>
              <a:path w="956944" h="2758440">
                <a:moveTo>
                  <a:pt x="0" y="743225"/>
                </a:moveTo>
                <a:lnTo>
                  <a:pt x="743225" y="0"/>
                </a:lnTo>
                <a:lnTo>
                  <a:pt x="956397" y="0"/>
                </a:lnTo>
                <a:lnTo>
                  <a:pt x="956397" y="2014657"/>
                </a:lnTo>
                <a:lnTo>
                  <a:pt x="213171" y="2757905"/>
                </a:lnTo>
                <a:lnTo>
                  <a:pt x="0" y="2757905"/>
                </a:lnTo>
                <a:lnTo>
                  <a:pt x="0" y="743225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90446" y="2283011"/>
            <a:ext cx="956944" cy="743585"/>
          </a:xfrm>
          <a:custGeom>
            <a:avLst/>
            <a:gdLst/>
            <a:ahLst/>
            <a:cxnLst/>
            <a:rect l="l" t="t" r="r" b="b"/>
            <a:pathLst>
              <a:path w="956944" h="743585">
                <a:moveTo>
                  <a:pt x="0" y="743225"/>
                </a:moveTo>
                <a:lnTo>
                  <a:pt x="213171" y="743225"/>
                </a:lnTo>
                <a:lnTo>
                  <a:pt x="956397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03618" y="3026238"/>
            <a:ext cx="0" cy="2014855"/>
          </a:xfrm>
          <a:custGeom>
            <a:avLst/>
            <a:gdLst/>
            <a:ahLst/>
            <a:cxnLst/>
            <a:rect l="l" t="t" r="r" b="b"/>
            <a:pathLst>
              <a:path h="2014854">
                <a:moveTo>
                  <a:pt x="0" y="0"/>
                </a:moveTo>
                <a:lnTo>
                  <a:pt x="0" y="201468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19874" y="3105618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32</a:t>
            </a:r>
            <a:endParaRPr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5483" y="4529573"/>
            <a:ext cx="873125" cy="80899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607060">
              <a:spcBef>
                <a:spcPts val="1019"/>
              </a:spcBef>
            </a:pPr>
            <a:r>
              <a:rPr spc="-5" dirty="0">
                <a:latin typeface="Arial"/>
                <a:cs typeface="Arial"/>
              </a:rPr>
              <a:t>32</a:t>
            </a:r>
            <a:endParaRPr>
              <a:latin typeface="Arial"/>
              <a:cs typeface="Arial"/>
            </a:endParaRPr>
          </a:p>
          <a:p>
            <a:pPr marL="12700">
              <a:spcBef>
                <a:spcPts val="925"/>
              </a:spcBef>
            </a:pPr>
            <a:r>
              <a:rPr dirty="0">
                <a:latin typeface="Arial"/>
                <a:cs typeface="Arial"/>
              </a:rPr>
              <a:t>3</a:t>
            </a:r>
            <a:endParaRPr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69890" y="3312681"/>
            <a:ext cx="132080" cy="663575"/>
          </a:xfrm>
          <a:custGeom>
            <a:avLst/>
            <a:gdLst/>
            <a:ahLst/>
            <a:cxnLst/>
            <a:rect l="l" t="t" r="r" b="b"/>
            <a:pathLst>
              <a:path w="132079" h="663575">
                <a:moveTo>
                  <a:pt x="131599" y="0"/>
                </a:moveTo>
                <a:lnTo>
                  <a:pt x="0" y="0"/>
                </a:lnTo>
                <a:lnTo>
                  <a:pt x="0" y="663213"/>
                </a:lnTo>
                <a:lnTo>
                  <a:pt x="131599" y="663213"/>
                </a:lnTo>
                <a:lnTo>
                  <a:pt x="131599" y="0"/>
                </a:lnTo>
                <a:close/>
              </a:path>
            </a:pathLst>
          </a:custGeom>
          <a:solidFill>
            <a:srgbClr val="D2E2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69892" y="3161984"/>
            <a:ext cx="282575" cy="814069"/>
          </a:xfrm>
          <a:custGeom>
            <a:avLst/>
            <a:gdLst/>
            <a:ahLst/>
            <a:cxnLst/>
            <a:rect l="l" t="t" r="r" b="b"/>
            <a:pathLst>
              <a:path w="282575" h="814069">
                <a:moveTo>
                  <a:pt x="0" y="150697"/>
                </a:moveTo>
                <a:lnTo>
                  <a:pt x="150698" y="0"/>
                </a:lnTo>
                <a:lnTo>
                  <a:pt x="282299" y="0"/>
                </a:lnTo>
                <a:lnTo>
                  <a:pt x="282299" y="663210"/>
                </a:lnTo>
                <a:lnTo>
                  <a:pt x="131598" y="813909"/>
                </a:lnTo>
                <a:lnTo>
                  <a:pt x="0" y="813909"/>
                </a:lnTo>
                <a:lnTo>
                  <a:pt x="0" y="150697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69892" y="3161982"/>
            <a:ext cx="282575" cy="151130"/>
          </a:xfrm>
          <a:custGeom>
            <a:avLst/>
            <a:gdLst/>
            <a:ahLst/>
            <a:cxnLst/>
            <a:rect l="l" t="t" r="r" b="b"/>
            <a:pathLst>
              <a:path w="282575" h="151130">
                <a:moveTo>
                  <a:pt x="0" y="150697"/>
                </a:moveTo>
                <a:lnTo>
                  <a:pt x="131598" y="150697"/>
                </a:lnTo>
                <a:lnTo>
                  <a:pt x="282299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01489" y="3312681"/>
            <a:ext cx="0" cy="663575"/>
          </a:xfrm>
          <a:custGeom>
            <a:avLst/>
            <a:gdLst/>
            <a:ahLst/>
            <a:cxnLst/>
            <a:rect l="l" t="t" r="r" b="b"/>
            <a:pathLst>
              <a:path h="663575">
                <a:moveTo>
                  <a:pt x="0" y="0"/>
                </a:moveTo>
                <a:lnTo>
                  <a:pt x="0" y="663212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517114" y="2543167"/>
            <a:ext cx="1484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5x5x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sz="2400" spc="-1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filter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48249" y="1762093"/>
            <a:ext cx="20789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32x32x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sz="2400" spc="-1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image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94815" y="3580573"/>
            <a:ext cx="3451860" cy="847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b="1" spc="-10" dirty="0">
                <a:latin typeface="Arial"/>
                <a:cs typeface="Arial"/>
              </a:rPr>
              <a:t>Convolve </a:t>
            </a:r>
            <a:r>
              <a:rPr spc="-5" dirty="0">
                <a:latin typeface="Arial"/>
                <a:cs typeface="Arial"/>
              </a:rPr>
              <a:t>the filter </a:t>
            </a:r>
            <a:r>
              <a:rPr spc="-10" dirty="0">
                <a:latin typeface="Arial"/>
                <a:cs typeface="Arial"/>
              </a:rPr>
              <a:t>with </a:t>
            </a:r>
            <a:r>
              <a:rPr spc="-5" dirty="0">
                <a:latin typeface="Arial"/>
                <a:cs typeface="Arial"/>
              </a:rPr>
              <a:t>the</a:t>
            </a:r>
            <a:r>
              <a:rPr spc="-6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image</a:t>
            </a:r>
            <a:endParaRPr>
              <a:latin typeface="Arial"/>
              <a:cs typeface="Arial"/>
            </a:endParaRPr>
          </a:p>
          <a:p>
            <a:pPr marL="12700" marR="26034">
              <a:lnSpc>
                <a:spcPts val="2200"/>
              </a:lnSpc>
              <a:spcBef>
                <a:spcPts val="15"/>
              </a:spcBef>
            </a:pPr>
            <a:r>
              <a:rPr spc="-10" dirty="0">
                <a:latin typeface="Arial"/>
                <a:cs typeface="Arial"/>
              </a:rPr>
              <a:t>i.e. </a:t>
            </a:r>
            <a:r>
              <a:rPr spc="-5" dirty="0">
                <a:latin typeface="Arial"/>
                <a:cs typeface="Arial"/>
              </a:rPr>
              <a:t>“slide </a:t>
            </a:r>
            <a:r>
              <a:rPr spc="-10" dirty="0">
                <a:latin typeface="Arial"/>
                <a:cs typeface="Arial"/>
              </a:rPr>
              <a:t>over </a:t>
            </a:r>
            <a:r>
              <a:rPr spc="-5" dirty="0">
                <a:latin typeface="Arial"/>
                <a:cs typeface="Arial"/>
              </a:rPr>
              <a:t>the </a:t>
            </a:r>
            <a:r>
              <a:rPr spc="-10" dirty="0">
                <a:latin typeface="Arial"/>
                <a:cs typeface="Arial"/>
              </a:rPr>
              <a:t>image </a:t>
            </a:r>
            <a:r>
              <a:rPr spc="-20" dirty="0">
                <a:latin typeface="Arial"/>
                <a:cs typeface="Arial"/>
              </a:rPr>
              <a:t>spatially,  </a:t>
            </a:r>
            <a:r>
              <a:rPr spc="-5" dirty="0">
                <a:latin typeface="Arial"/>
                <a:cs typeface="Arial"/>
              </a:rPr>
              <a:t>computing </a:t>
            </a:r>
            <a:r>
              <a:rPr spc="-10" dirty="0">
                <a:latin typeface="Arial"/>
                <a:cs typeface="Arial"/>
              </a:rPr>
              <a:t>dot</a:t>
            </a:r>
            <a:r>
              <a:rPr spc="-3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products”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24598" y="1436699"/>
            <a:ext cx="2877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Filters </a:t>
            </a:r>
            <a:r>
              <a:rPr spc="-10" dirty="0">
                <a:solidFill>
                  <a:srgbClr val="0000FF"/>
                </a:solidFill>
                <a:latin typeface="Arial"/>
                <a:cs typeface="Arial"/>
              </a:rPr>
              <a:t>always extend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pc="-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full</a:t>
            </a:r>
            <a:endParaRPr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24598" y="1703399"/>
            <a:ext cx="2575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solidFill>
                  <a:srgbClr val="0000FF"/>
                </a:solidFill>
                <a:latin typeface="Arial"/>
                <a:cs typeface="Arial"/>
              </a:rPr>
              <a:t>depth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of the input</a:t>
            </a:r>
            <a:r>
              <a:rPr spc="-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volume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76998" y="2057403"/>
            <a:ext cx="547370" cy="488315"/>
          </a:xfrm>
          <a:custGeom>
            <a:avLst/>
            <a:gdLst/>
            <a:ahLst/>
            <a:cxnLst/>
            <a:rect l="l" t="t" r="r" b="b"/>
            <a:pathLst>
              <a:path w="547370" h="488314">
                <a:moveTo>
                  <a:pt x="547147" y="0"/>
                </a:moveTo>
                <a:lnTo>
                  <a:pt x="0" y="487863"/>
                </a:lnTo>
              </a:path>
            </a:pathLst>
          </a:custGeom>
          <a:ln w="9523">
            <a:solidFill>
              <a:srgbClr val="0433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512289" y="2432556"/>
            <a:ext cx="43180" cy="40640"/>
          </a:xfrm>
          <a:custGeom>
            <a:avLst/>
            <a:gdLst/>
            <a:ahLst/>
            <a:cxnLst/>
            <a:rect l="l" t="t" r="r" b="b"/>
            <a:pathLst>
              <a:path w="43179" h="40640">
                <a:moveTo>
                  <a:pt x="21774" y="0"/>
                </a:moveTo>
                <a:lnTo>
                  <a:pt x="0" y="40509"/>
                </a:lnTo>
                <a:lnTo>
                  <a:pt x="42724" y="23483"/>
                </a:lnTo>
                <a:lnTo>
                  <a:pt x="21774" y="0"/>
                </a:lnTo>
                <a:close/>
              </a:path>
            </a:pathLst>
          </a:custGeom>
          <a:ln w="9523">
            <a:solidFill>
              <a:srgbClr val="0433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79672" y="1585348"/>
            <a:ext cx="2527300" cy="223520"/>
          </a:xfrm>
          <a:custGeom>
            <a:avLst/>
            <a:gdLst/>
            <a:ahLst/>
            <a:cxnLst/>
            <a:rect l="l" t="t" r="r" b="b"/>
            <a:pathLst>
              <a:path w="2527300" h="223519">
                <a:moveTo>
                  <a:pt x="2526966" y="0"/>
                </a:moveTo>
                <a:lnTo>
                  <a:pt x="0" y="223270"/>
                </a:lnTo>
              </a:path>
            </a:pathLst>
          </a:custGeom>
          <a:ln w="9523">
            <a:solidFill>
              <a:srgbClr val="0433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636614" y="1792945"/>
            <a:ext cx="44450" cy="31750"/>
          </a:xfrm>
          <a:custGeom>
            <a:avLst/>
            <a:gdLst/>
            <a:ahLst/>
            <a:cxnLst/>
            <a:rect l="l" t="t" r="r" b="b"/>
            <a:pathLst>
              <a:path w="44450" h="31750">
                <a:moveTo>
                  <a:pt x="41672" y="0"/>
                </a:moveTo>
                <a:lnTo>
                  <a:pt x="0" y="19477"/>
                </a:lnTo>
                <a:lnTo>
                  <a:pt x="44442" y="31343"/>
                </a:lnTo>
                <a:lnTo>
                  <a:pt x="41672" y="0"/>
                </a:lnTo>
                <a:close/>
              </a:path>
            </a:pathLst>
          </a:custGeom>
          <a:ln w="9523">
            <a:solidFill>
              <a:srgbClr val="0433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4217799" y="901701"/>
            <a:ext cx="3696335" cy="5740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Convolution</a:t>
            </a:r>
            <a:r>
              <a:rPr spc="-130" dirty="0"/>
              <a:t> </a:t>
            </a:r>
            <a:r>
              <a:rPr spc="-10" dirty="0"/>
              <a:t>Layer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C1CE7EE-4761-4FAB-822B-3BC2FB60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D97AEB9F-73AC-46BF-ADC5-7DA827240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E9380-E94B-4224-824E-A837D9BAAE98}" type="datetime1">
              <a:rPr lang="en-US" smtClean="0"/>
              <a:t>2/27/2026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2395" y="3170794"/>
            <a:ext cx="132080" cy="663575"/>
          </a:xfrm>
          <a:custGeom>
            <a:avLst/>
            <a:gdLst/>
            <a:ahLst/>
            <a:cxnLst/>
            <a:rect l="l" t="t" r="r" b="b"/>
            <a:pathLst>
              <a:path w="132080" h="663575">
                <a:moveTo>
                  <a:pt x="131602" y="0"/>
                </a:moveTo>
                <a:lnTo>
                  <a:pt x="0" y="0"/>
                </a:lnTo>
                <a:lnTo>
                  <a:pt x="0" y="663200"/>
                </a:lnTo>
                <a:lnTo>
                  <a:pt x="131602" y="663200"/>
                </a:lnTo>
                <a:lnTo>
                  <a:pt x="131602" y="0"/>
                </a:lnTo>
                <a:close/>
              </a:path>
            </a:pathLst>
          </a:custGeom>
          <a:solidFill>
            <a:srgbClr val="D2E2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62395" y="3170794"/>
            <a:ext cx="132080" cy="663575"/>
          </a:xfrm>
          <a:custGeom>
            <a:avLst/>
            <a:gdLst/>
            <a:ahLst/>
            <a:cxnLst/>
            <a:rect l="l" t="t" r="r" b="b"/>
            <a:pathLst>
              <a:path w="132080" h="663575">
                <a:moveTo>
                  <a:pt x="131602" y="0"/>
                </a:moveTo>
                <a:lnTo>
                  <a:pt x="0" y="0"/>
                </a:lnTo>
                <a:lnTo>
                  <a:pt x="0" y="663200"/>
                </a:lnTo>
                <a:lnTo>
                  <a:pt x="131602" y="663200"/>
                </a:lnTo>
                <a:lnTo>
                  <a:pt x="131602" y="0"/>
                </a:lnTo>
                <a:close/>
              </a:path>
            </a:pathLst>
          </a:custGeom>
          <a:solidFill>
            <a:srgbClr val="D2E2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62397" y="3020097"/>
            <a:ext cx="282575" cy="814069"/>
          </a:xfrm>
          <a:custGeom>
            <a:avLst/>
            <a:gdLst/>
            <a:ahLst/>
            <a:cxnLst/>
            <a:rect l="l" t="t" r="r" b="b"/>
            <a:pathLst>
              <a:path w="282575" h="814069">
                <a:moveTo>
                  <a:pt x="0" y="150696"/>
                </a:moveTo>
                <a:lnTo>
                  <a:pt x="150696" y="0"/>
                </a:lnTo>
                <a:lnTo>
                  <a:pt x="282299" y="0"/>
                </a:lnTo>
                <a:lnTo>
                  <a:pt x="282299" y="663197"/>
                </a:lnTo>
                <a:lnTo>
                  <a:pt x="131601" y="813897"/>
                </a:lnTo>
                <a:lnTo>
                  <a:pt x="0" y="813897"/>
                </a:lnTo>
                <a:lnTo>
                  <a:pt x="0" y="150696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62397" y="3020095"/>
            <a:ext cx="282575" cy="151130"/>
          </a:xfrm>
          <a:custGeom>
            <a:avLst/>
            <a:gdLst/>
            <a:ahLst/>
            <a:cxnLst/>
            <a:rect l="l" t="t" r="r" b="b"/>
            <a:pathLst>
              <a:path w="282575" h="151130">
                <a:moveTo>
                  <a:pt x="0" y="150696"/>
                </a:moveTo>
                <a:lnTo>
                  <a:pt x="131601" y="150696"/>
                </a:lnTo>
                <a:lnTo>
                  <a:pt x="282299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93997" y="3170794"/>
            <a:ext cx="0" cy="663575"/>
          </a:xfrm>
          <a:custGeom>
            <a:avLst/>
            <a:gdLst/>
            <a:ahLst/>
            <a:cxnLst/>
            <a:rect l="l" t="t" r="r" b="b"/>
            <a:pathLst>
              <a:path h="663575">
                <a:moveTo>
                  <a:pt x="0" y="0"/>
                </a:moveTo>
                <a:lnTo>
                  <a:pt x="0" y="66320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58644" y="3285897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>
                <a:moveTo>
                  <a:pt x="0" y="141148"/>
                </a:moveTo>
                <a:lnTo>
                  <a:pt x="7196" y="96534"/>
                </a:lnTo>
                <a:lnTo>
                  <a:pt x="27234" y="57787"/>
                </a:lnTo>
                <a:lnTo>
                  <a:pt x="57790" y="27233"/>
                </a:lnTo>
                <a:lnTo>
                  <a:pt x="96536" y="7194"/>
                </a:lnTo>
                <a:lnTo>
                  <a:pt x="141148" y="0"/>
                </a:lnTo>
                <a:lnTo>
                  <a:pt x="195165" y="10743"/>
                </a:lnTo>
                <a:lnTo>
                  <a:pt x="240949" y="41342"/>
                </a:lnTo>
                <a:lnTo>
                  <a:pt x="271551" y="87136"/>
                </a:lnTo>
                <a:lnTo>
                  <a:pt x="282298" y="141148"/>
                </a:lnTo>
                <a:lnTo>
                  <a:pt x="275102" y="185761"/>
                </a:lnTo>
                <a:lnTo>
                  <a:pt x="255064" y="224507"/>
                </a:lnTo>
                <a:lnTo>
                  <a:pt x="224507" y="255063"/>
                </a:lnTo>
                <a:lnTo>
                  <a:pt x="185762" y="275102"/>
                </a:lnTo>
                <a:lnTo>
                  <a:pt x="141148" y="282298"/>
                </a:lnTo>
                <a:lnTo>
                  <a:pt x="96536" y="275102"/>
                </a:lnTo>
                <a:lnTo>
                  <a:pt x="57790" y="255063"/>
                </a:lnTo>
                <a:lnTo>
                  <a:pt x="27234" y="224507"/>
                </a:lnTo>
                <a:lnTo>
                  <a:pt x="7196" y="185761"/>
                </a:lnTo>
                <a:lnTo>
                  <a:pt x="0" y="141148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69146" y="3427046"/>
            <a:ext cx="1489710" cy="399415"/>
          </a:xfrm>
          <a:custGeom>
            <a:avLst/>
            <a:gdLst/>
            <a:ahLst/>
            <a:cxnLst/>
            <a:rect l="l" t="t" r="r" b="b"/>
            <a:pathLst>
              <a:path w="1489710" h="399414">
                <a:moveTo>
                  <a:pt x="0" y="398999"/>
                </a:moveTo>
                <a:lnTo>
                  <a:pt x="1489495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88647" y="3189745"/>
            <a:ext cx="1470025" cy="237490"/>
          </a:xfrm>
          <a:custGeom>
            <a:avLst/>
            <a:gdLst/>
            <a:ahLst/>
            <a:cxnLst/>
            <a:rect l="l" t="t" r="r" b="b"/>
            <a:pathLst>
              <a:path w="1470025" h="237489">
                <a:moveTo>
                  <a:pt x="0" y="0"/>
                </a:moveTo>
                <a:lnTo>
                  <a:pt x="1469996" y="237299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24847" y="3040347"/>
            <a:ext cx="1334135" cy="386715"/>
          </a:xfrm>
          <a:custGeom>
            <a:avLst/>
            <a:gdLst/>
            <a:ahLst/>
            <a:cxnLst/>
            <a:rect l="l" t="t" r="r" b="b"/>
            <a:pathLst>
              <a:path w="1334135" h="386714">
                <a:moveTo>
                  <a:pt x="0" y="0"/>
                </a:moveTo>
                <a:lnTo>
                  <a:pt x="1333796" y="386699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50945" y="3427044"/>
            <a:ext cx="1308100" cy="250190"/>
          </a:xfrm>
          <a:custGeom>
            <a:avLst/>
            <a:gdLst/>
            <a:ahLst/>
            <a:cxnLst/>
            <a:rect l="l" t="t" r="r" b="b"/>
            <a:pathLst>
              <a:path w="1308100" h="250189">
                <a:moveTo>
                  <a:pt x="0" y="249599"/>
                </a:moveTo>
                <a:lnTo>
                  <a:pt x="1307696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431519" y="441196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32</a:t>
            </a:r>
            <a:endParaRPr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60911" y="480360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3</a:t>
            </a:r>
            <a:endParaRPr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45871" y="2791326"/>
            <a:ext cx="213360" cy="2014855"/>
          </a:xfrm>
          <a:custGeom>
            <a:avLst/>
            <a:gdLst/>
            <a:ahLst/>
            <a:cxnLst/>
            <a:rect l="l" t="t" r="r" b="b"/>
            <a:pathLst>
              <a:path w="213359" h="2014854">
                <a:moveTo>
                  <a:pt x="213173" y="0"/>
                </a:moveTo>
                <a:lnTo>
                  <a:pt x="0" y="0"/>
                </a:lnTo>
                <a:lnTo>
                  <a:pt x="0" y="2014668"/>
                </a:lnTo>
                <a:lnTo>
                  <a:pt x="213173" y="2014668"/>
                </a:lnTo>
                <a:lnTo>
                  <a:pt x="213173" y="0"/>
                </a:lnTo>
                <a:close/>
              </a:path>
            </a:pathLst>
          </a:custGeom>
          <a:solidFill>
            <a:srgbClr val="F7D6D5">
              <a:alpha val="517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745871" y="2048097"/>
            <a:ext cx="956944" cy="2758440"/>
          </a:xfrm>
          <a:custGeom>
            <a:avLst/>
            <a:gdLst/>
            <a:ahLst/>
            <a:cxnLst/>
            <a:rect l="l" t="t" r="r" b="b"/>
            <a:pathLst>
              <a:path w="956944" h="2758440">
                <a:moveTo>
                  <a:pt x="0" y="743225"/>
                </a:moveTo>
                <a:lnTo>
                  <a:pt x="743225" y="0"/>
                </a:lnTo>
                <a:lnTo>
                  <a:pt x="956397" y="0"/>
                </a:lnTo>
                <a:lnTo>
                  <a:pt x="956397" y="2014669"/>
                </a:lnTo>
                <a:lnTo>
                  <a:pt x="213171" y="2757893"/>
                </a:lnTo>
                <a:lnTo>
                  <a:pt x="0" y="2757893"/>
                </a:lnTo>
                <a:lnTo>
                  <a:pt x="0" y="743225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745871" y="2048099"/>
            <a:ext cx="956944" cy="743585"/>
          </a:xfrm>
          <a:custGeom>
            <a:avLst/>
            <a:gdLst/>
            <a:ahLst/>
            <a:cxnLst/>
            <a:rect l="l" t="t" r="r" b="b"/>
            <a:pathLst>
              <a:path w="956944" h="743585">
                <a:moveTo>
                  <a:pt x="0" y="743225"/>
                </a:moveTo>
                <a:lnTo>
                  <a:pt x="213171" y="743225"/>
                </a:lnTo>
                <a:lnTo>
                  <a:pt x="956397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59044" y="2791326"/>
            <a:ext cx="0" cy="2014855"/>
          </a:xfrm>
          <a:custGeom>
            <a:avLst/>
            <a:gdLst/>
            <a:ahLst/>
            <a:cxnLst/>
            <a:rect l="l" t="t" r="r" b="b"/>
            <a:pathLst>
              <a:path h="2014854">
                <a:moveTo>
                  <a:pt x="0" y="0"/>
                </a:moveTo>
                <a:lnTo>
                  <a:pt x="0" y="2014668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795821" y="1698623"/>
            <a:ext cx="3359785" cy="94043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93495" marR="5080">
              <a:lnSpc>
                <a:spcPts val="2800"/>
              </a:lnSpc>
              <a:spcBef>
                <a:spcPts val="260"/>
              </a:spcBef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32x32x3</a:t>
            </a:r>
            <a:r>
              <a:rPr sz="2400" spc="-1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image 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5x5x3</a:t>
            </a:r>
            <a:r>
              <a:rPr sz="2400" spc="-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filter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1440"/>
              </a:lnSpc>
            </a:pPr>
            <a:r>
              <a:rPr spc="-5" dirty="0">
                <a:latin typeface="Arial"/>
                <a:cs typeface="Arial"/>
              </a:rPr>
              <a:t>32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928259" y="1867500"/>
            <a:ext cx="929005" cy="220345"/>
          </a:xfrm>
          <a:custGeom>
            <a:avLst/>
            <a:gdLst/>
            <a:ahLst/>
            <a:cxnLst/>
            <a:rect l="l" t="t" r="r" b="b"/>
            <a:pathLst>
              <a:path w="929004" h="220344">
                <a:moveTo>
                  <a:pt x="928685" y="0"/>
                </a:moveTo>
                <a:lnTo>
                  <a:pt x="0" y="219929"/>
                </a:lnTo>
              </a:path>
            </a:pathLst>
          </a:custGeom>
          <a:ln w="9523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886194" y="2072120"/>
            <a:ext cx="45720" cy="31115"/>
          </a:xfrm>
          <a:custGeom>
            <a:avLst/>
            <a:gdLst/>
            <a:ahLst/>
            <a:cxnLst/>
            <a:rect l="l" t="t" r="r" b="b"/>
            <a:pathLst>
              <a:path w="45719" h="31115">
                <a:moveTo>
                  <a:pt x="38434" y="0"/>
                </a:moveTo>
                <a:lnTo>
                  <a:pt x="0" y="25269"/>
                </a:lnTo>
                <a:lnTo>
                  <a:pt x="45687" y="30619"/>
                </a:lnTo>
                <a:lnTo>
                  <a:pt x="38434" y="0"/>
                </a:lnTo>
                <a:close/>
              </a:path>
            </a:pathLst>
          </a:custGeom>
          <a:ln w="9523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614910" y="2351022"/>
            <a:ext cx="1346200" cy="523240"/>
          </a:xfrm>
          <a:custGeom>
            <a:avLst/>
            <a:gdLst/>
            <a:ahLst/>
            <a:cxnLst/>
            <a:rect l="l" t="t" r="r" b="b"/>
            <a:pathLst>
              <a:path w="1346200" h="523239">
                <a:moveTo>
                  <a:pt x="1345631" y="0"/>
                </a:moveTo>
                <a:lnTo>
                  <a:pt x="0" y="523188"/>
                </a:lnTo>
              </a:path>
            </a:pathLst>
          </a:custGeom>
          <a:ln w="9523">
            <a:solidFill>
              <a:srgbClr val="0433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74625" y="2859548"/>
            <a:ext cx="46355" cy="30480"/>
          </a:xfrm>
          <a:custGeom>
            <a:avLst/>
            <a:gdLst/>
            <a:ahLst/>
            <a:cxnLst/>
            <a:rect l="l" t="t" r="r" b="b"/>
            <a:pathLst>
              <a:path w="46355" h="30480">
                <a:moveTo>
                  <a:pt x="34587" y="0"/>
                </a:moveTo>
                <a:lnTo>
                  <a:pt x="0" y="30327"/>
                </a:lnTo>
                <a:lnTo>
                  <a:pt x="45989" y="29323"/>
                </a:lnTo>
                <a:lnTo>
                  <a:pt x="34587" y="0"/>
                </a:lnTo>
                <a:close/>
              </a:path>
            </a:pathLst>
          </a:custGeom>
          <a:ln w="9523">
            <a:solidFill>
              <a:srgbClr val="0433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152618" y="3742969"/>
            <a:ext cx="354965" cy="127000"/>
          </a:xfrm>
          <a:custGeom>
            <a:avLst/>
            <a:gdLst/>
            <a:ahLst/>
            <a:cxnLst/>
            <a:rect l="l" t="t" r="r" b="b"/>
            <a:pathLst>
              <a:path w="354964" h="127000">
                <a:moveTo>
                  <a:pt x="354474" y="126574"/>
                </a:moveTo>
                <a:lnTo>
                  <a:pt x="0" y="0"/>
                </a:lnTo>
              </a:path>
            </a:pathLst>
          </a:custGeom>
          <a:ln w="95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111918" y="3728146"/>
            <a:ext cx="46355" cy="29845"/>
          </a:xfrm>
          <a:custGeom>
            <a:avLst/>
            <a:gdLst/>
            <a:ahLst/>
            <a:cxnLst/>
            <a:rect l="l" t="t" r="r" b="b"/>
            <a:pathLst>
              <a:path w="46354" h="29844">
                <a:moveTo>
                  <a:pt x="45975" y="0"/>
                </a:moveTo>
                <a:lnTo>
                  <a:pt x="0" y="274"/>
                </a:lnTo>
                <a:lnTo>
                  <a:pt x="35399" y="29624"/>
                </a:lnTo>
                <a:lnTo>
                  <a:pt x="45975" y="0"/>
                </a:lnTo>
                <a:close/>
              </a:path>
            </a:pathLst>
          </a:custGeom>
          <a:ln w="952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667990" y="3670375"/>
            <a:ext cx="4784090" cy="1127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1</a:t>
            </a:r>
            <a:r>
              <a:rPr b="1" spc="-8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number:</a:t>
            </a:r>
            <a:endParaRPr>
              <a:latin typeface="Arial"/>
              <a:cs typeface="Arial"/>
            </a:endParaRPr>
          </a:p>
          <a:p>
            <a:pPr marL="12700" marR="219075">
              <a:lnSpc>
                <a:spcPts val="2200"/>
              </a:lnSpc>
              <a:spcBef>
                <a:spcPts val="15"/>
              </a:spcBef>
            </a:pPr>
            <a:r>
              <a:rPr spc="-5" dirty="0">
                <a:latin typeface="Arial"/>
                <a:cs typeface="Arial"/>
              </a:rPr>
              <a:t>the </a:t>
            </a:r>
            <a:r>
              <a:rPr spc="-10" dirty="0">
                <a:latin typeface="Arial"/>
                <a:cs typeface="Arial"/>
              </a:rPr>
              <a:t>result </a:t>
            </a:r>
            <a:r>
              <a:rPr spc="-5" dirty="0">
                <a:latin typeface="Arial"/>
                <a:cs typeface="Arial"/>
              </a:rPr>
              <a:t>of taking </a:t>
            </a:r>
            <a:r>
              <a:rPr dirty="0">
                <a:latin typeface="Arial"/>
                <a:cs typeface="Arial"/>
              </a:rPr>
              <a:t>a </a:t>
            </a:r>
            <a:r>
              <a:rPr spc="-10" dirty="0">
                <a:latin typeface="Arial"/>
                <a:cs typeface="Arial"/>
              </a:rPr>
              <a:t>dot product between </a:t>
            </a:r>
            <a:r>
              <a:rPr spc="-5" dirty="0">
                <a:latin typeface="Arial"/>
                <a:cs typeface="Arial"/>
              </a:rPr>
              <a:t>the  filter </a:t>
            </a:r>
            <a:r>
              <a:rPr spc="-10" dirty="0">
                <a:latin typeface="Arial"/>
                <a:cs typeface="Arial"/>
              </a:rPr>
              <a:t>and </a:t>
            </a:r>
            <a:r>
              <a:rPr dirty="0">
                <a:latin typeface="Arial"/>
                <a:cs typeface="Arial"/>
              </a:rPr>
              <a:t>a </a:t>
            </a:r>
            <a:r>
              <a:rPr spc="-10" dirty="0">
                <a:latin typeface="Arial"/>
                <a:cs typeface="Arial"/>
              </a:rPr>
              <a:t>small 5x5x3 chunk </a:t>
            </a:r>
            <a:r>
              <a:rPr spc="-5" dirty="0">
                <a:latin typeface="Arial"/>
                <a:cs typeface="Arial"/>
              </a:rPr>
              <a:t>of the</a:t>
            </a:r>
            <a:r>
              <a:rPr spc="-3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image</a:t>
            </a:r>
            <a:endParaRPr>
              <a:latin typeface="Arial"/>
              <a:cs typeface="Arial"/>
            </a:endParaRPr>
          </a:p>
          <a:p>
            <a:pPr marL="12700">
              <a:lnSpc>
                <a:spcPts val="2120"/>
              </a:lnSpc>
            </a:pPr>
            <a:r>
              <a:rPr spc="-10" dirty="0">
                <a:latin typeface="Arial"/>
                <a:cs typeface="Arial"/>
              </a:rPr>
              <a:t>(i.e. 5*5*3 </a:t>
            </a:r>
            <a:r>
              <a:rPr dirty="0">
                <a:latin typeface="Arial"/>
                <a:cs typeface="Arial"/>
              </a:rPr>
              <a:t>= </a:t>
            </a:r>
            <a:r>
              <a:rPr spc="-10" dirty="0">
                <a:latin typeface="Arial"/>
                <a:cs typeface="Arial"/>
              </a:rPr>
              <a:t>75-dimensional dot product </a:t>
            </a:r>
            <a:r>
              <a:rPr dirty="0">
                <a:latin typeface="Arial"/>
                <a:cs typeface="Arial"/>
              </a:rPr>
              <a:t>+</a:t>
            </a:r>
            <a:r>
              <a:rPr spc="1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bias)</a:t>
            </a:r>
            <a:endParaRPr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683066" y="2182549"/>
            <a:ext cx="282299" cy="2352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740690" y="4893066"/>
            <a:ext cx="1195742" cy="3935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4217799" y="901701"/>
            <a:ext cx="3696335" cy="5740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Convolution</a:t>
            </a:r>
            <a:r>
              <a:rPr spc="-130" dirty="0"/>
              <a:t> </a:t>
            </a:r>
            <a:r>
              <a:rPr spc="-10" dirty="0"/>
              <a:t>Layer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428150EA-B7E4-49C2-AB68-CBF30FEA1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9" name="Date Placeholder 28">
            <a:extLst>
              <a:ext uri="{FF2B5EF4-FFF2-40B4-BE49-F238E27FC236}">
                <a16:creationId xmlns:a16="http://schemas.microsoft.com/office/drawing/2014/main" id="{0F074F21-34A8-4331-A345-B2EAAE828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BED08-8A66-48D7-A3A6-4A76A8649C06}" type="datetime1">
              <a:rPr lang="en-US" smtClean="0"/>
              <a:t>2/27/2026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62395" y="3170794"/>
            <a:ext cx="132080" cy="663575"/>
          </a:xfrm>
          <a:custGeom>
            <a:avLst/>
            <a:gdLst/>
            <a:ahLst/>
            <a:cxnLst/>
            <a:rect l="l" t="t" r="r" b="b"/>
            <a:pathLst>
              <a:path w="132080" h="663575">
                <a:moveTo>
                  <a:pt x="131602" y="0"/>
                </a:moveTo>
                <a:lnTo>
                  <a:pt x="0" y="0"/>
                </a:lnTo>
                <a:lnTo>
                  <a:pt x="0" y="663200"/>
                </a:lnTo>
                <a:lnTo>
                  <a:pt x="131602" y="663200"/>
                </a:lnTo>
                <a:lnTo>
                  <a:pt x="131602" y="0"/>
                </a:lnTo>
                <a:close/>
              </a:path>
            </a:pathLst>
          </a:custGeom>
          <a:solidFill>
            <a:srgbClr val="D2E2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62397" y="3020097"/>
            <a:ext cx="282575" cy="814069"/>
          </a:xfrm>
          <a:custGeom>
            <a:avLst/>
            <a:gdLst/>
            <a:ahLst/>
            <a:cxnLst/>
            <a:rect l="l" t="t" r="r" b="b"/>
            <a:pathLst>
              <a:path w="282575" h="814069">
                <a:moveTo>
                  <a:pt x="0" y="150696"/>
                </a:moveTo>
                <a:lnTo>
                  <a:pt x="150696" y="0"/>
                </a:lnTo>
                <a:lnTo>
                  <a:pt x="282299" y="0"/>
                </a:lnTo>
                <a:lnTo>
                  <a:pt x="282299" y="663197"/>
                </a:lnTo>
                <a:lnTo>
                  <a:pt x="131601" y="813897"/>
                </a:lnTo>
                <a:lnTo>
                  <a:pt x="0" y="813897"/>
                </a:lnTo>
                <a:lnTo>
                  <a:pt x="0" y="150696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62397" y="3020095"/>
            <a:ext cx="282575" cy="151130"/>
          </a:xfrm>
          <a:custGeom>
            <a:avLst/>
            <a:gdLst/>
            <a:ahLst/>
            <a:cxnLst/>
            <a:rect l="l" t="t" r="r" b="b"/>
            <a:pathLst>
              <a:path w="282575" h="151130">
                <a:moveTo>
                  <a:pt x="0" y="150696"/>
                </a:moveTo>
                <a:lnTo>
                  <a:pt x="131601" y="150696"/>
                </a:lnTo>
                <a:lnTo>
                  <a:pt x="282299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93997" y="3170794"/>
            <a:ext cx="0" cy="663575"/>
          </a:xfrm>
          <a:custGeom>
            <a:avLst/>
            <a:gdLst/>
            <a:ahLst/>
            <a:cxnLst/>
            <a:rect l="l" t="t" r="r" b="b"/>
            <a:pathLst>
              <a:path h="663575">
                <a:moveTo>
                  <a:pt x="0" y="0"/>
                </a:moveTo>
                <a:lnTo>
                  <a:pt x="0" y="66320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58644" y="3285897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>
                <a:moveTo>
                  <a:pt x="0" y="141148"/>
                </a:moveTo>
                <a:lnTo>
                  <a:pt x="7196" y="96534"/>
                </a:lnTo>
                <a:lnTo>
                  <a:pt x="27234" y="57787"/>
                </a:lnTo>
                <a:lnTo>
                  <a:pt x="57790" y="27233"/>
                </a:lnTo>
                <a:lnTo>
                  <a:pt x="96536" y="7194"/>
                </a:lnTo>
                <a:lnTo>
                  <a:pt x="141148" y="0"/>
                </a:lnTo>
                <a:lnTo>
                  <a:pt x="195165" y="10743"/>
                </a:lnTo>
                <a:lnTo>
                  <a:pt x="240949" y="41342"/>
                </a:lnTo>
                <a:lnTo>
                  <a:pt x="271551" y="87136"/>
                </a:lnTo>
                <a:lnTo>
                  <a:pt x="282298" y="141148"/>
                </a:lnTo>
                <a:lnTo>
                  <a:pt x="275102" y="185761"/>
                </a:lnTo>
                <a:lnTo>
                  <a:pt x="255064" y="224507"/>
                </a:lnTo>
                <a:lnTo>
                  <a:pt x="224507" y="255063"/>
                </a:lnTo>
                <a:lnTo>
                  <a:pt x="185762" y="275102"/>
                </a:lnTo>
                <a:lnTo>
                  <a:pt x="141148" y="282298"/>
                </a:lnTo>
                <a:lnTo>
                  <a:pt x="96536" y="275102"/>
                </a:lnTo>
                <a:lnTo>
                  <a:pt x="57790" y="255063"/>
                </a:lnTo>
                <a:lnTo>
                  <a:pt x="27234" y="224507"/>
                </a:lnTo>
                <a:lnTo>
                  <a:pt x="7196" y="185761"/>
                </a:lnTo>
                <a:lnTo>
                  <a:pt x="0" y="141148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69146" y="3427046"/>
            <a:ext cx="1489710" cy="399415"/>
          </a:xfrm>
          <a:custGeom>
            <a:avLst/>
            <a:gdLst/>
            <a:ahLst/>
            <a:cxnLst/>
            <a:rect l="l" t="t" r="r" b="b"/>
            <a:pathLst>
              <a:path w="1489710" h="399414">
                <a:moveTo>
                  <a:pt x="0" y="398999"/>
                </a:moveTo>
                <a:lnTo>
                  <a:pt x="1489495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88647" y="3189745"/>
            <a:ext cx="1470025" cy="237490"/>
          </a:xfrm>
          <a:custGeom>
            <a:avLst/>
            <a:gdLst/>
            <a:ahLst/>
            <a:cxnLst/>
            <a:rect l="l" t="t" r="r" b="b"/>
            <a:pathLst>
              <a:path w="1470025" h="237489">
                <a:moveTo>
                  <a:pt x="0" y="0"/>
                </a:moveTo>
                <a:lnTo>
                  <a:pt x="1469996" y="237299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24847" y="3040347"/>
            <a:ext cx="1334135" cy="386715"/>
          </a:xfrm>
          <a:custGeom>
            <a:avLst/>
            <a:gdLst/>
            <a:ahLst/>
            <a:cxnLst/>
            <a:rect l="l" t="t" r="r" b="b"/>
            <a:pathLst>
              <a:path w="1334135" h="386714">
                <a:moveTo>
                  <a:pt x="0" y="0"/>
                </a:moveTo>
                <a:lnTo>
                  <a:pt x="1333796" y="386699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50945" y="3427044"/>
            <a:ext cx="1308100" cy="250190"/>
          </a:xfrm>
          <a:custGeom>
            <a:avLst/>
            <a:gdLst/>
            <a:ahLst/>
            <a:cxnLst/>
            <a:rect l="l" t="t" r="r" b="b"/>
            <a:pathLst>
              <a:path w="1308100" h="250189">
                <a:moveTo>
                  <a:pt x="0" y="249599"/>
                </a:moveTo>
                <a:lnTo>
                  <a:pt x="1307696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31519" y="441196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32</a:t>
            </a:r>
            <a:endParaRPr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60911" y="480360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3</a:t>
            </a:r>
            <a:endParaRPr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745871" y="2791326"/>
            <a:ext cx="213360" cy="2014855"/>
          </a:xfrm>
          <a:custGeom>
            <a:avLst/>
            <a:gdLst/>
            <a:ahLst/>
            <a:cxnLst/>
            <a:rect l="l" t="t" r="r" b="b"/>
            <a:pathLst>
              <a:path w="213359" h="2014854">
                <a:moveTo>
                  <a:pt x="213173" y="0"/>
                </a:moveTo>
                <a:lnTo>
                  <a:pt x="0" y="0"/>
                </a:lnTo>
                <a:lnTo>
                  <a:pt x="0" y="2014668"/>
                </a:lnTo>
                <a:lnTo>
                  <a:pt x="213173" y="2014668"/>
                </a:lnTo>
                <a:lnTo>
                  <a:pt x="213173" y="0"/>
                </a:lnTo>
                <a:close/>
              </a:path>
            </a:pathLst>
          </a:custGeom>
          <a:solidFill>
            <a:srgbClr val="F7D6D5">
              <a:alpha val="517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45871" y="2048097"/>
            <a:ext cx="956944" cy="2758440"/>
          </a:xfrm>
          <a:custGeom>
            <a:avLst/>
            <a:gdLst/>
            <a:ahLst/>
            <a:cxnLst/>
            <a:rect l="l" t="t" r="r" b="b"/>
            <a:pathLst>
              <a:path w="956944" h="2758440">
                <a:moveTo>
                  <a:pt x="0" y="743225"/>
                </a:moveTo>
                <a:lnTo>
                  <a:pt x="743225" y="0"/>
                </a:lnTo>
                <a:lnTo>
                  <a:pt x="956397" y="0"/>
                </a:lnTo>
                <a:lnTo>
                  <a:pt x="956397" y="2014669"/>
                </a:lnTo>
                <a:lnTo>
                  <a:pt x="213171" y="2757893"/>
                </a:lnTo>
                <a:lnTo>
                  <a:pt x="0" y="2757893"/>
                </a:lnTo>
                <a:lnTo>
                  <a:pt x="0" y="743225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745871" y="2048099"/>
            <a:ext cx="956944" cy="743585"/>
          </a:xfrm>
          <a:custGeom>
            <a:avLst/>
            <a:gdLst/>
            <a:ahLst/>
            <a:cxnLst/>
            <a:rect l="l" t="t" r="r" b="b"/>
            <a:pathLst>
              <a:path w="956944" h="743585">
                <a:moveTo>
                  <a:pt x="0" y="743225"/>
                </a:moveTo>
                <a:lnTo>
                  <a:pt x="213171" y="743225"/>
                </a:lnTo>
                <a:lnTo>
                  <a:pt x="956397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59044" y="2791326"/>
            <a:ext cx="0" cy="2014855"/>
          </a:xfrm>
          <a:custGeom>
            <a:avLst/>
            <a:gdLst/>
            <a:ahLst/>
            <a:cxnLst/>
            <a:rect l="l" t="t" r="r" b="b"/>
            <a:pathLst>
              <a:path h="2014854">
                <a:moveTo>
                  <a:pt x="0" y="0"/>
                </a:moveTo>
                <a:lnTo>
                  <a:pt x="0" y="2014668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28259" y="1867500"/>
            <a:ext cx="929005" cy="220345"/>
          </a:xfrm>
          <a:custGeom>
            <a:avLst/>
            <a:gdLst/>
            <a:ahLst/>
            <a:cxnLst/>
            <a:rect l="l" t="t" r="r" b="b"/>
            <a:pathLst>
              <a:path w="929004" h="220344">
                <a:moveTo>
                  <a:pt x="928685" y="0"/>
                </a:moveTo>
                <a:lnTo>
                  <a:pt x="0" y="219929"/>
                </a:lnTo>
              </a:path>
            </a:pathLst>
          </a:custGeom>
          <a:ln w="9523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886194" y="2072120"/>
            <a:ext cx="45720" cy="31115"/>
          </a:xfrm>
          <a:custGeom>
            <a:avLst/>
            <a:gdLst/>
            <a:ahLst/>
            <a:cxnLst/>
            <a:rect l="l" t="t" r="r" b="b"/>
            <a:pathLst>
              <a:path w="45719" h="31115">
                <a:moveTo>
                  <a:pt x="38434" y="0"/>
                </a:moveTo>
                <a:lnTo>
                  <a:pt x="0" y="25269"/>
                </a:lnTo>
                <a:lnTo>
                  <a:pt x="45687" y="30619"/>
                </a:lnTo>
                <a:lnTo>
                  <a:pt x="38434" y="0"/>
                </a:lnTo>
                <a:close/>
              </a:path>
            </a:pathLst>
          </a:custGeom>
          <a:ln w="9523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14910" y="2351022"/>
            <a:ext cx="1346200" cy="523240"/>
          </a:xfrm>
          <a:custGeom>
            <a:avLst/>
            <a:gdLst/>
            <a:ahLst/>
            <a:cxnLst/>
            <a:rect l="l" t="t" r="r" b="b"/>
            <a:pathLst>
              <a:path w="1346200" h="523239">
                <a:moveTo>
                  <a:pt x="1345631" y="0"/>
                </a:moveTo>
                <a:lnTo>
                  <a:pt x="0" y="523188"/>
                </a:lnTo>
              </a:path>
            </a:pathLst>
          </a:custGeom>
          <a:ln w="9523">
            <a:solidFill>
              <a:srgbClr val="0433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74625" y="2859548"/>
            <a:ext cx="46355" cy="30480"/>
          </a:xfrm>
          <a:custGeom>
            <a:avLst/>
            <a:gdLst/>
            <a:ahLst/>
            <a:cxnLst/>
            <a:rect l="l" t="t" r="r" b="b"/>
            <a:pathLst>
              <a:path w="46355" h="30480">
                <a:moveTo>
                  <a:pt x="34587" y="0"/>
                </a:moveTo>
                <a:lnTo>
                  <a:pt x="0" y="30327"/>
                </a:lnTo>
                <a:lnTo>
                  <a:pt x="45989" y="29323"/>
                </a:lnTo>
                <a:lnTo>
                  <a:pt x="34587" y="0"/>
                </a:lnTo>
                <a:close/>
              </a:path>
            </a:pathLst>
          </a:custGeom>
          <a:ln w="9523">
            <a:solidFill>
              <a:srgbClr val="0433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495892" y="3430345"/>
            <a:ext cx="2308860" cy="0"/>
          </a:xfrm>
          <a:custGeom>
            <a:avLst/>
            <a:gdLst/>
            <a:ahLst/>
            <a:cxnLst/>
            <a:rect l="l" t="t" r="r" b="b"/>
            <a:pathLst>
              <a:path w="2308860">
                <a:moveTo>
                  <a:pt x="0" y="0"/>
                </a:moveTo>
                <a:lnTo>
                  <a:pt x="2308644" y="0"/>
                </a:lnTo>
              </a:path>
            </a:pathLst>
          </a:custGeom>
          <a:ln w="9523">
            <a:solidFill>
              <a:srgbClr val="79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804538" y="3414619"/>
            <a:ext cx="43815" cy="31750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49"/>
                </a:moveTo>
                <a:lnTo>
                  <a:pt x="43224" y="15724"/>
                </a:lnTo>
                <a:lnTo>
                  <a:pt x="0" y="0"/>
                </a:lnTo>
                <a:lnTo>
                  <a:pt x="0" y="31449"/>
                </a:lnTo>
                <a:close/>
              </a:path>
            </a:pathLst>
          </a:custGeom>
          <a:ln w="9523">
            <a:solidFill>
              <a:srgbClr val="79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598934" y="2912272"/>
            <a:ext cx="92710" cy="1894205"/>
          </a:xfrm>
          <a:custGeom>
            <a:avLst/>
            <a:gdLst/>
            <a:ahLst/>
            <a:cxnLst/>
            <a:rect l="l" t="t" r="r" b="b"/>
            <a:pathLst>
              <a:path w="92709" h="1894204">
                <a:moveTo>
                  <a:pt x="92224" y="0"/>
                </a:moveTo>
                <a:lnTo>
                  <a:pt x="0" y="0"/>
                </a:lnTo>
                <a:lnTo>
                  <a:pt x="0" y="1893722"/>
                </a:lnTo>
                <a:lnTo>
                  <a:pt x="92224" y="1893722"/>
                </a:lnTo>
                <a:lnTo>
                  <a:pt x="92224" y="0"/>
                </a:lnTo>
                <a:close/>
              </a:path>
            </a:pathLst>
          </a:custGeom>
          <a:solidFill>
            <a:srgbClr val="D2E2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598934" y="2048097"/>
            <a:ext cx="956944" cy="2758440"/>
          </a:xfrm>
          <a:custGeom>
            <a:avLst/>
            <a:gdLst/>
            <a:ahLst/>
            <a:cxnLst/>
            <a:rect l="l" t="t" r="r" b="b"/>
            <a:pathLst>
              <a:path w="956945" h="2758440">
                <a:moveTo>
                  <a:pt x="0" y="864172"/>
                </a:moveTo>
                <a:lnTo>
                  <a:pt x="864171" y="0"/>
                </a:lnTo>
                <a:lnTo>
                  <a:pt x="956396" y="0"/>
                </a:lnTo>
                <a:lnTo>
                  <a:pt x="956396" y="1893720"/>
                </a:lnTo>
                <a:lnTo>
                  <a:pt x="92223" y="2757893"/>
                </a:lnTo>
                <a:lnTo>
                  <a:pt x="0" y="2757893"/>
                </a:lnTo>
                <a:lnTo>
                  <a:pt x="0" y="864172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598934" y="2048099"/>
            <a:ext cx="956944" cy="864235"/>
          </a:xfrm>
          <a:custGeom>
            <a:avLst/>
            <a:gdLst/>
            <a:ahLst/>
            <a:cxnLst/>
            <a:rect l="l" t="t" r="r" b="b"/>
            <a:pathLst>
              <a:path w="956945" h="864235">
                <a:moveTo>
                  <a:pt x="0" y="864172"/>
                </a:moveTo>
                <a:lnTo>
                  <a:pt x="92223" y="864172"/>
                </a:lnTo>
                <a:lnTo>
                  <a:pt x="956396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691158" y="2912272"/>
            <a:ext cx="0" cy="1894205"/>
          </a:xfrm>
          <a:custGeom>
            <a:avLst/>
            <a:gdLst/>
            <a:ahLst/>
            <a:cxnLst/>
            <a:rect l="l" t="t" r="r" b="b"/>
            <a:pathLst>
              <a:path h="1894204">
                <a:moveTo>
                  <a:pt x="0" y="0"/>
                </a:moveTo>
                <a:lnTo>
                  <a:pt x="0" y="1893721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703091" y="1431046"/>
            <a:ext cx="1611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solidFill>
                  <a:srgbClr val="0000FF"/>
                </a:solidFill>
                <a:latin typeface="Arial"/>
                <a:cs typeface="Arial"/>
              </a:rPr>
              <a:t>activation</a:t>
            </a:r>
            <a:r>
              <a:rPr b="1" spc="-1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b="1" spc="-5" dirty="0">
                <a:solidFill>
                  <a:srgbClr val="0000FF"/>
                </a:solidFill>
                <a:latin typeface="Arial"/>
                <a:cs typeface="Arial"/>
              </a:rPr>
              <a:t>map</a:t>
            </a:r>
            <a:endParaRPr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95821" y="1683461"/>
            <a:ext cx="3359785" cy="95567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93495" marR="5080">
              <a:lnSpc>
                <a:spcPts val="2810"/>
              </a:lnSpc>
              <a:spcBef>
                <a:spcPts val="250"/>
              </a:spcBef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32x32x3</a:t>
            </a:r>
            <a:r>
              <a:rPr sz="2400" spc="-1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image 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5x5x3</a:t>
            </a:r>
            <a:r>
              <a:rPr sz="2400" spc="-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Arial"/>
                <a:cs typeface="Arial"/>
              </a:rPr>
              <a:t>filter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1550"/>
              </a:lnSpc>
            </a:pPr>
            <a:r>
              <a:rPr spc="-5" dirty="0">
                <a:latin typeface="Arial"/>
                <a:cs typeface="Arial"/>
              </a:rPr>
              <a:t>32</a:t>
            </a:r>
            <a:endParaRPr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56453" y="482544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1</a:t>
            </a:r>
            <a:endParaRPr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23962" y="436977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28</a:t>
            </a:r>
            <a:endParaRPr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643185" y="2958790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28</a:t>
            </a:r>
            <a:endParaRPr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39439" y="3640474"/>
            <a:ext cx="2397760" cy="57213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2140"/>
              </a:lnSpc>
              <a:spcBef>
                <a:spcPts val="185"/>
              </a:spcBef>
            </a:pPr>
            <a:r>
              <a:rPr spc="-5" dirty="0">
                <a:latin typeface="Arial"/>
                <a:cs typeface="Arial"/>
              </a:rPr>
              <a:t>convolve </a:t>
            </a:r>
            <a:r>
              <a:rPr spc="-10" dirty="0">
                <a:latin typeface="Arial"/>
                <a:cs typeface="Arial"/>
              </a:rPr>
              <a:t>(slide) over</a:t>
            </a:r>
            <a:r>
              <a:rPr spc="-9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all  </a:t>
            </a:r>
            <a:r>
              <a:rPr spc="-5" dirty="0">
                <a:latin typeface="Arial"/>
                <a:cs typeface="Arial"/>
              </a:rPr>
              <a:t>spatial</a:t>
            </a:r>
            <a:r>
              <a:rPr spc="-5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locations</a:t>
            </a:r>
            <a:endParaRPr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4217799" y="901701"/>
            <a:ext cx="3696335" cy="5740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Convolution</a:t>
            </a:r>
            <a:r>
              <a:rPr spc="-130" dirty="0"/>
              <a:t> </a:t>
            </a:r>
            <a:r>
              <a:rPr spc="-10" dirty="0"/>
              <a:t>Layer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52C4B5EF-15D5-4390-B1E2-AEC85F3B5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7739C45A-6474-4E86-9990-85D860A3C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BAEDE-57AF-433B-A74A-0DF3AB3B9729}" type="datetime1">
              <a:rPr lang="en-US" smtClean="0"/>
              <a:t>2/27/2026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98934" y="2912272"/>
            <a:ext cx="92710" cy="1894205"/>
          </a:xfrm>
          <a:custGeom>
            <a:avLst/>
            <a:gdLst/>
            <a:ahLst/>
            <a:cxnLst/>
            <a:rect l="l" t="t" r="r" b="b"/>
            <a:pathLst>
              <a:path w="92709" h="1894204">
                <a:moveTo>
                  <a:pt x="92224" y="0"/>
                </a:moveTo>
                <a:lnTo>
                  <a:pt x="0" y="0"/>
                </a:lnTo>
                <a:lnTo>
                  <a:pt x="0" y="1893722"/>
                </a:lnTo>
                <a:lnTo>
                  <a:pt x="92224" y="1893722"/>
                </a:lnTo>
                <a:lnTo>
                  <a:pt x="92224" y="0"/>
                </a:lnTo>
                <a:close/>
              </a:path>
            </a:pathLst>
          </a:custGeom>
          <a:solidFill>
            <a:srgbClr val="D2E2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598934" y="2048097"/>
            <a:ext cx="956944" cy="2758440"/>
          </a:xfrm>
          <a:custGeom>
            <a:avLst/>
            <a:gdLst/>
            <a:ahLst/>
            <a:cxnLst/>
            <a:rect l="l" t="t" r="r" b="b"/>
            <a:pathLst>
              <a:path w="956945" h="2758440">
                <a:moveTo>
                  <a:pt x="0" y="864172"/>
                </a:moveTo>
                <a:lnTo>
                  <a:pt x="864171" y="0"/>
                </a:lnTo>
                <a:lnTo>
                  <a:pt x="956396" y="0"/>
                </a:lnTo>
                <a:lnTo>
                  <a:pt x="956396" y="1893720"/>
                </a:lnTo>
                <a:lnTo>
                  <a:pt x="92223" y="2757893"/>
                </a:lnTo>
                <a:lnTo>
                  <a:pt x="0" y="2757893"/>
                </a:lnTo>
                <a:lnTo>
                  <a:pt x="0" y="864172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598934" y="2048099"/>
            <a:ext cx="956944" cy="864235"/>
          </a:xfrm>
          <a:custGeom>
            <a:avLst/>
            <a:gdLst/>
            <a:ahLst/>
            <a:cxnLst/>
            <a:rect l="l" t="t" r="r" b="b"/>
            <a:pathLst>
              <a:path w="956945" h="864235">
                <a:moveTo>
                  <a:pt x="0" y="864172"/>
                </a:moveTo>
                <a:lnTo>
                  <a:pt x="92223" y="864172"/>
                </a:lnTo>
                <a:lnTo>
                  <a:pt x="956396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91158" y="2912272"/>
            <a:ext cx="0" cy="1894205"/>
          </a:xfrm>
          <a:custGeom>
            <a:avLst/>
            <a:gdLst/>
            <a:ahLst/>
            <a:cxnLst/>
            <a:rect l="l" t="t" r="r" b="b"/>
            <a:pathLst>
              <a:path h="1894204">
                <a:moveTo>
                  <a:pt x="0" y="0"/>
                </a:moveTo>
                <a:lnTo>
                  <a:pt x="0" y="1893721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62395" y="3170794"/>
            <a:ext cx="132080" cy="663575"/>
          </a:xfrm>
          <a:custGeom>
            <a:avLst/>
            <a:gdLst/>
            <a:ahLst/>
            <a:cxnLst/>
            <a:rect l="l" t="t" r="r" b="b"/>
            <a:pathLst>
              <a:path w="132080" h="663575">
                <a:moveTo>
                  <a:pt x="131602" y="0"/>
                </a:moveTo>
                <a:lnTo>
                  <a:pt x="0" y="0"/>
                </a:lnTo>
                <a:lnTo>
                  <a:pt x="0" y="663200"/>
                </a:lnTo>
                <a:lnTo>
                  <a:pt x="131602" y="663200"/>
                </a:lnTo>
                <a:lnTo>
                  <a:pt x="131602" y="0"/>
                </a:lnTo>
                <a:close/>
              </a:path>
            </a:pathLst>
          </a:custGeom>
          <a:solidFill>
            <a:srgbClr val="DFED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62397" y="3020097"/>
            <a:ext cx="282575" cy="814069"/>
          </a:xfrm>
          <a:custGeom>
            <a:avLst/>
            <a:gdLst/>
            <a:ahLst/>
            <a:cxnLst/>
            <a:rect l="l" t="t" r="r" b="b"/>
            <a:pathLst>
              <a:path w="282575" h="814069">
                <a:moveTo>
                  <a:pt x="0" y="150696"/>
                </a:moveTo>
                <a:lnTo>
                  <a:pt x="150696" y="0"/>
                </a:lnTo>
                <a:lnTo>
                  <a:pt x="282299" y="0"/>
                </a:lnTo>
                <a:lnTo>
                  <a:pt x="282299" y="663197"/>
                </a:lnTo>
                <a:lnTo>
                  <a:pt x="131601" y="813897"/>
                </a:lnTo>
                <a:lnTo>
                  <a:pt x="0" y="813897"/>
                </a:lnTo>
                <a:lnTo>
                  <a:pt x="0" y="150696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62397" y="3020095"/>
            <a:ext cx="282575" cy="151130"/>
          </a:xfrm>
          <a:custGeom>
            <a:avLst/>
            <a:gdLst/>
            <a:ahLst/>
            <a:cxnLst/>
            <a:rect l="l" t="t" r="r" b="b"/>
            <a:pathLst>
              <a:path w="282575" h="151130">
                <a:moveTo>
                  <a:pt x="0" y="150696"/>
                </a:moveTo>
                <a:lnTo>
                  <a:pt x="131601" y="150696"/>
                </a:lnTo>
                <a:lnTo>
                  <a:pt x="282299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93997" y="3170794"/>
            <a:ext cx="0" cy="663575"/>
          </a:xfrm>
          <a:custGeom>
            <a:avLst/>
            <a:gdLst/>
            <a:ahLst/>
            <a:cxnLst/>
            <a:rect l="l" t="t" r="r" b="b"/>
            <a:pathLst>
              <a:path h="663575">
                <a:moveTo>
                  <a:pt x="0" y="0"/>
                </a:moveTo>
                <a:lnTo>
                  <a:pt x="0" y="66320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58644" y="3285897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>
                <a:moveTo>
                  <a:pt x="0" y="141148"/>
                </a:moveTo>
                <a:lnTo>
                  <a:pt x="7196" y="96534"/>
                </a:lnTo>
                <a:lnTo>
                  <a:pt x="27234" y="57787"/>
                </a:lnTo>
                <a:lnTo>
                  <a:pt x="57790" y="27233"/>
                </a:lnTo>
                <a:lnTo>
                  <a:pt x="96536" y="7194"/>
                </a:lnTo>
                <a:lnTo>
                  <a:pt x="141148" y="0"/>
                </a:lnTo>
                <a:lnTo>
                  <a:pt x="195165" y="10743"/>
                </a:lnTo>
                <a:lnTo>
                  <a:pt x="240949" y="41342"/>
                </a:lnTo>
                <a:lnTo>
                  <a:pt x="271551" y="87136"/>
                </a:lnTo>
                <a:lnTo>
                  <a:pt x="282298" y="141148"/>
                </a:lnTo>
                <a:lnTo>
                  <a:pt x="275102" y="185761"/>
                </a:lnTo>
                <a:lnTo>
                  <a:pt x="255064" y="224507"/>
                </a:lnTo>
                <a:lnTo>
                  <a:pt x="224507" y="255063"/>
                </a:lnTo>
                <a:lnTo>
                  <a:pt x="185762" y="275102"/>
                </a:lnTo>
                <a:lnTo>
                  <a:pt x="141148" y="282298"/>
                </a:lnTo>
                <a:lnTo>
                  <a:pt x="96536" y="275102"/>
                </a:lnTo>
                <a:lnTo>
                  <a:pt x="57790" y="255063"/>
                </a:lnTo>
                <a:lnTo>
                  <a:pt x="27234" y="224507"/>
                </a:lnTo>
                <a:lnTo>
                  <a:pt x="7196" y="185761"/>
                </a:lnTo>
                <a:lnTo>
                  <a:pt x="0" y="141148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69146" y="3427046"/>
            <a:ext cx="1489710" cy="399415"/>
          </a:xfrm>
          <a:custGeom>
            <a:avLst/>
            <a:gdLst/>
            <a:ahLst/>
            <a:cxnLst/>
            <a:rect l="l" t="t" r="r" b="b"/>
            <a:pathLst>
              <a:path w="1489710" h="399414">
                <a:moveTo>
                  <a:pt x="0" y="398999"/>
                </a:moveTo>
                <a:lnTo>
                  <a:pt x="1489495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88647" y="3189745"/>
            <a:ext cx="1470025" cy="237490"/>
          </a:xfrm>
          <a:custGeom>
            <a:avLst/>
            <a:gdLst/>
            <a:ahLst/>
            <a:cxnLst/>
            <a:rect l="l" t="t" r="r" b="b"/>
            <a:pathLst>
              <a:path w="1470025" h="237489">
                <a:moveTo>
                  <a:pt x="0" y="0"/>
                </a:moveTo>
                <a:lnTo>
                  <a:pt x="1469996" y="237299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24847" y="3040347"/>
            <a:ext cx="1334135" cy="386715"/>
          </a:xfrm>
          <a:custGeom>
            <a:avLst/>
            <a:gdLst/>
            <a:ahLst/>
            <a:cxnLst/>
            <a:rect l="l" t="t" r="r" b="b"/>
            <a:pathLst>
              <a:path w="1334135" h="386714">
                <a:moveTo>
                  <a:pt x="0" y="0"/>
                </a:moveTo>
                <a:lnTo>
                  <a:pt x="1333796" y="386699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50945" y="3427044"/>
            <a:ext cx="1308100" cy="250190"/>
          </a:xfrm>
          <a:custGeom>
            <a:avLst/>
            <a:gdLst/>
            <a:ahLst/>
            <a:cxnLst/>
            <a:rect l="l" t="t" r="r" b="b"/>
            <a:pathLst>
              <a:path w="1308100" h="250189">
                <a:moveTo>
                  <a:pt x="0" y="249599"/>
                </a:moveTo>
                <a:lnTo>
                  <a:pt x="1307696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431519" y="441196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32</a:t>
            </a:r>
            <a:endParaRPr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95821" y="233879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32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60911" y="480360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3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76739" y="1698621"/>
            <a:ext cx="2078989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32x32x3</a:t>
            </a:r>
            <a:r>
              <a:rPr sz="2400" spc="-1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image  </a:t>
            </a:r>
            <a:r>
              <a:rPr sz="2400" spc="-5" dirty="0">
                <a:solidFill>
                  <a:srgbClr val="38751C"/>
                </a:solidFill>
                <a:latin typeface="Arial"/>
                <a:cs typeface="Arial"/>
              </a:rPr>
              <a:t>5x5x3</a:t>
            </a:r>
            <a:r>
              <a:rPr sz="2400" spc="-8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38751C"/>
                </a:solidFill>
                <a:latin typeface="Arial"/>
                <a:cs typeface="Arial"/>
              </a:rPr>
              <a:t>filter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928259" y="1867500"/>
            <a:ext cx="929005" cy="220345"/>
          </a:xfrm>
          <a:custGeom>
            <a:avLst/>
            <a:gdLst/>
            <a:ahLst/>
            <a:cxnLst/>
            <a:rect l="l" t="t" r="r" b="b"/>
            <a:pathLst>
              <a:path w="929004" h="220344">
                <a:moveTo>
                  <a:pt x="928685" y="0"/>
                </a:moveTo>
                <a:lnTo>
                  <a:pt x="0" y="219929"/>
                </a:lnTo>
              </a:path>
            </a:pathLst>
          </a:custGeom>
          <a:ln w="9523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886194" y="2072120"/>
            <a:ext cx="45720" cy="31115"/>
          </a:xfrm>
          <a:custGeom>
            <a:avLst/>
            <a:gdLst/>
            <a:ahLst/>
            <a:cxnLst/>
            <a:rect l="l" t="t" r="r" b="b"/>
            <a:pathLst>
              <a:path w="45719" h="31115">
                <a:moveTo>
                  <a:pt x="38434" y="0"/>
                </a:moveTo>
                <a:lnTo>
                  <a:pt x="0" y="25269"/>
                </a:lnTo>
                <a:lnTo>
                  <a:pt x="45687" y="30619"/>
                </a:lnTo>
                <a:lnTo>
                  <a:pt x="38434" y="0"/>
                </a:lnTo>
                <a:close/>
              </a:path>
            </a:pathLst>
          </a:custGeom>
          <a:ln w="9523">
            <a:solidFill>
              <a:srgbClr val="FF2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614910" y="2351022"/>
            <a:ext cx="1346200" cy="523240"/>
          </a:xfrm>
          <a:custGeom>
            <a:avLst/>
            <a:gdLst/>
            <a:ahLst/>
            <a:cxnLst/>
            <a:rect l="l" t="t" r="r" b="b"/>
            <a:pathLst>
              <a:path w="1346200" h="523239">
                <a:moveTo>
                  <a:pt x="1345631" y="0"/>
                </a:moveTo>
                <a:lnTo>
                  <a:pt x="0" y="523188"/>
                </a:lnTo>
              </a:path>
            </a:pathLst>
          </a:custGeom>
          <a:ln w="9523">
            <a:solidFill>
              <a:srgbClr val="458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574625" y="2859548"/>
            <a:ext cx="46355" cy="30480"/>
          </a:xfrm>
          <a:custGeom>
            <a:avLst/>
            <a:gdLst/>
            <a:ahLst/>
            <a:cxnLst/>
            <a:rect l="l" t="t" r="r" b="b"/>
            <a:pathLst>
              <a:path w="46355" h="30480">
                <a:moveTo>
                  <a:pt x="34587" y="0"/>
                </a:moveTo>
                <a:lnTo>
                  <a:pt x="0" y="30327"/>
                </a:lnTo>
                <a:lnTo>
                  <a:pt x="45989" y="29323"/>
                </a:lnTo>
                <a:lnTo>
                  <a:pt x="34587" y="0"/>
                </a:lnTo>
                <a:close/>
              </a:path>
            </a:pathLst>
          </a:custGeom>
          <a:ln w="9523">
            <a:solidFill>
              <a:srgbClr val="458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495892" y="3430345"/>
            <a:ext cx="2308860" cy="0"/>
          </a:xfrm>
          <a:custGeom>
            <a:avLst/>
            <a:gdLst/>
            <a:ahLst/>
            <a:cxnLst/>
            <a:rect l="l" t="t" r="r" b="b"/>
            <a:pathLst>
              <a:path w="2308860">
                <a:moveTo>
                  <a:pt x="0" y="0"/>
                </a:moveTo>
                <a:lnTo>
                  <a:pt x="2308644" y="0"/>
                </a:lnTo>
              </a:path>
            </a:pathLst>
          </a:custGeom>
          <a:ln w="9523">
            <a:solidFill>
              <a:srgbClr val="79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804538" y="3414619"/>
            <a:ext cx="43815" cy="31750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49"/>
                </a:moveTo>
                <a:lnTo>
                  <a:pt x="43224" y="15724"/>
                </a:lnTo>
                <a:lnTo>
                  <a:pt x="0" y="0"/>
                </a:lnTo>
                <a:lnTo>
                  <a:pt x="0" y="31449"/>
                </a:lnTo>
                <a:close/>
              </a:path>
            </a:pathLst>
          </a:custGeom>
          <a:ln w="9523">
            <a:solidFill>
              <a:srgbClr val="79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976908" y="2912272"/>
            <a:ext cx="92710" cy="1894205"/>
          </a:xfrm>
          <a:custGeom>
            <a:avLst/>
            <a:gdLst/>
            <a:ahLst/>
            <a:cxnLst/>
            <a:rect l="l" t="t" r="r" b="b"/>
            <a:pathLst>
              <a:path w="92709" h="1894204">
                <a:moveTo>
                  <a:pt x="92224" y="0"/>
                </a:moveTo>
                <a:lnTo>
                  <a:pt x="0" y="0"/>
                </a:lnTo>
                <a:lnTo>
                  <a:pt x="0" y="1893722"/>
                </a:lnTo>
                <a:lnTo>
                  <a:pt x="92224" y="1893722"/>
                </a:lnTo>
                <a:lnTo>
                  <a:pt x="92224" y="0"/>
                </a:lnTo>
                <a:close/>
              </a:path>
            </a:pathLst>
          </a:custGeom>
          <a:solidFill>
            <a:srgbClr val="DFED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976908" y="2048097"/>
            <a:ext cx="956944" cy="2758440"/>
          </a:xfrm>
          <a:custGeom>
            <a:avLst/>
            <a:gdLst/>
            <a:ahLst/>
            <a:cxnLst/>
            <a:rect l="l" t="t" r="r" b="b"/>
            <a:pathLst>
              <a:path w="956945" h="2758440">
                <a:moveTo>
                  <a:pt x="0" y="864172"/>
                </a:moveTo>
                <a:lnTo>
                  <a:pt x="864171" y="0"/>
                </a:lnTo>
                <a:lnTo>
                  <a:pt x="956396" y="0"/>
                </a:lnTo>
                <a:lnTo>
                  <a:pt x="956396" y="1893720"/>
                </a:lnTo>
                <a:lnTo>
                  <a:pt x="92223" y="2757893"/>
                </a:lnTo>
                <a:lnTo>
                  <a:pt x="0" y="2757893"/>
                </a:lnTo>
                <a:lnTo>
                  <a:pt x="0" y="864172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976908" y="2048099"/>
            <a:ext cx="956944" cy="864235"/>
          </a:xfrm>
          <a:custGeom>
            <a:avLst/>
            <a:gdLst/>
            <a:ahLst/>
            <a:cxnLst/>
            <a:rect l="l" t="t" r="r" b="b"/>
            <a:pathLst>
              <a:path w="956945" h="864235">
                <a:moveTo>
                  <a:pt x="0" y="864172"/>
                </a:moveTo>
                <a:lnTo>
                  <a:pt x="92223" y="864172"/>
                </a:lnTo>
                <a:lnTo>
                  <a:pt x="956396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069131" y="2912272"/>
            <a:ext cx="0" cy="1894205"/>
          </a:xfrm>
          <a:custGeom>
            <a:avLst/>
            <a:gdLst/>
            <a:ahLst/>
            <a:cxnLst/>
            <a:rect l="l" t="t" r="r" b="b"/>
            <a:pathLst>
              <a:path h="1894204">
                <a:moveTo>
                  <a:pt x="0" y="0"/>
                </a:moveTo>
                <a:lnTo>
                  <a:pt x="0" y="1893721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646907" y="1673404"/>
            <a:ext cx="1738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latin typeface="Arial"/>
                <a:cs typeface="Arial"/>
              </a:rPr>
              <a:t>activation</a:t>
            </a:r>
            <a:r>
              <a:rPr b="1" spc="-13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maps</a:t>
            </a:r>
            <a:endParaRPr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934432" y="482544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1</a:t>
            </a:r>
            <a:endParaRPr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601942" y="4369772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28</a:t>
            </a:r>
            <a:endParaRPr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021010" y="2958790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28</a:t>
            </a:r>
            <a:endParaRPr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39439" y="3640474"/>
            <a:ext cx="2397760" cy="57213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2140"/>
              </a:lnSpc>
              <a:spcBef>
                <a:spcPts val="185"/>
              </a:spcBef>
            </a:pPr>
            <a:r>
              <a:rPr spc="-5" dirty="0">
                <a:latin typeface="Arial"/>
                <a:cs typeface="Arial"/>
              </a:rPr>
              <a:t>convolve </a:t>
            </a:r>
            <a:r>
              <a:rPr spc="-10" dirty="0">
                <a:latin typeface="Arial"/>
                <a:cs typeface="Arial"/>
              </a:rPr>
              <a:t>(slide) over</a:t>
            </a:r>
            <a:r>
              <a:rPr spc="-9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all  </a:t>
            </a:r>
            <a:r>
              <a:rPr spc="-5" dirty="0">
                <a:latin typeface="Arial"/>
                <a:cs typeface="Arial"/>
              </a:rPr>
              <a:t>spatial</a:t>
            </a:r>
            <a:r>
              <a:rPr spc="-5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locations</a:t>
            </a:r>
            <a:endParaRPr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745871" y="2791326"/>
            <a:ext cx="213360" cy="2014855"/>
          </a:xfrm>
          <a:custGeom>
            <a:avLst/>
            <a:gdLst/>
            <a:ahLst/>
            <a:cxnLst/>
            <a:rect l="l" t="t" r="r" b="b"/>
            <a:pathLst>
              <a:path w="213359" h="2014854">
                <a:moveTo>
                  <a:pt x="213173" y="0"/>
                </a:moveTo>
                <a:lnTo>
                  <a:pt x="0" y="0"/>
                </a:lnTo>
                <a:lnTo>
                  <a:pt x="0" y="2014668"/>
                </a:lnTo>
                <a:lnTo>
                  <a:pt x="213173" y="2014668"/>
                </a:lnTo>
                <a:lnTo>
                  <a:pt x="213173" y="0"/>
                </a:lnTo>
                <a:close/>
              </a:path>
            </a:pathLst>
          </a:custGeom>
          <a:solidFill>
            <a:srgbClr val="F7D6D5">
              <a:alpha val="517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745871" y="2048097"/>
            <a:ext cx="956944" cy="2758440"/>
          </a:xfrm>
          <a:custGeom>
            <a:avLst/>
            <a:gdLst/>
            <a:ahLst/>
            <a:cxnLst/>
            <a:rect l="l" t="t" r="r" b="b"/>
            <a:pathLst>
              <a:path w="956944" h="2758440">
                <a:moveTo>
                  <a:pt x="0" y="743225"/>
                </a:moveTo>
                <a:lnTo>
                  <a:pt x="743225" y="0"/>
                </a:lnTo>
                <a:lnTo>
                  <a:pt x="956397" y="0"/>
                </a:lnTo>
                <a:lnTo>
                  <a:pt x="956397" y="2014669"/>
                </a:lnTo>
                <a:lnTo>
                  <a:pt x="213171" y="2757893"/>
                </a:lnTo>
                <a:lnTo>
                  <a:pt x="0" y="2757893"/>
                </a:lnTo>
                <a:lnTo>
                  <a:pt x="0" y="743225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745871" y="2048099"/>
            <a:ext cx="956944" cy="743585"/>
          </a:xfrm>
          <a:custGeom>
            <a:avLst/>
            <a:gdLst/>
            <a:ahLst/>
            <a:cxnLst/>
            <a:rect l="l" t="t" r="r" b="b"/>
            <a:pathLst>
              <a:path w="956944" h="743585">
                <a:moveTo>
                  <a:pt x="0" y="743225"/>
                </a:moveTo>
                <a:lnTo>
                  <a:pt x="213171" y="743225"/>
                </a:lnTo>
                <a:lnTo>
                  <a:pt x="956397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959044" y="2791326"/>
            <a:ext cx="0" cy="2014855"/>
          </a:xfrm>
          <a:custGeom>
            <a:avLst/>
            <a:gdLst/>
            <a:ahLst/>
            <a:cxnLst/>
            <a:rect l="l" t="t" r="r" b="b"/>
            <a:pathLst>
              <a:path h="2014854">
                <a:moveTo>
                  <a:pt x="0" y="0"/>
                </a:moveTo>
                <a:lnTo>
                  <a:pt x="0" y="2014668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114802" y="4635500"/>
            <a:ext cx="4093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consider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second, </a:t>
            </a:r>
            <a:r>
              <a:rPr sz="2400" spc="-5" dirty="0">
                <a:solidFill>
                  <a:srgbClr val="38751C"/>
                </a:solidFill>
                <a:latin typeface="Arial"/>
                <a:cs typeface="Arial"/>
              </a:rPr>
              <a:t>green</a:t>
            </a:r>
            <a:r>
              <a:rPr sz="2400" spc="-90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filter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4217799" y="901701"/>
            <a:ext cx="3696335" cy="5740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Convolution</a:t>
            </a:r>
            <a:r>
              <a:rPr spc="-130" dirty="0"/>
              <a:t> </a:t>
            </a:r>
            <a:r>
              <a:rPr spc="-10" dirty="0"/>
              <a:t>Layer</a:t>
            </a:r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265B3BC7-12C2-4FEC-A033-7C6C7007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0" name="Date Placeholder 39">
            <a:extLst>
              <a:ext uri="{FF2B5EF4-FFF2-40B4-BE49-F238E27FC236}">
                <a16:creationId xmlns:a16="http://schemas.microsoft.com/office/drawing/2014/main" id="{D6AFBE48-8BE0-4A0A-983F-00AC3868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98C06-B781-46F4-929B-C5D8EAFB4C1D}" type="datetime1">
              <a:rPr lang="en-US" smtClean="0"/>
              <a:t>2/27/2026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5871" y="2562726"/>
            <a:ext cx="213360" cy="2014855"/>
          </a:xfrm>
          <a:custGeom>
            <a:avLst/>
            <a:gdLst/>
            <a:ahLst/>
            <a:cxnLst/>
            <a:rect l="l" t="t" r="r" b="b"/>
            <a:pathLst>
              <a:path w="213359" h="2014854">
                <a:moveTo>
                  <a:pt x="213173" y="0"/>
                </a:moveTo>
                <a:lnTo>
                  <a:pt x="0" y="0"/>
                </a:lnTo>
                <a:lnTo>
                  <a:pt x="0" y="2014669"/>
                </a:lnTo>
                <a:lnTo>
                  <a:pt x="213173" y="2014669"/>
                </a:lnTo>
                <a:lnTo>
                  <a:pt x="213173" y="0"/>
                </a:lnTo>
                <a:close/>
              </a:path>
            </a:pathLst>
          </a:custGeom>
          <a:solidFill>
            <a:srgbClr val="F7D6D5">
              <a:alpha val="517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745871" y="1819498"/>
            <a:ext cx="956944" cy="2758440"/>
          </a:xfrm>
          <a:custGeom>
            <a:avLst/>
            <a:gdLst/>
            <a:ahLst/>
            <a:cxnLst/>
            <a:rect l="l" t="t" r="r" b="b"/>
            <a:pathLst>
              <a:path w="956944" h="2758440">
                <a:moveTo>
                  <a:pt x="0" y="743225"/>
                </a:moveTo>
                <a:lnTo>
                  <a:pt x="743225" y="0"/>
                </a:lnTo>
                <a:lnTo>
                  <a:pt x="956397" y="0"/>
                </a:lnTo>
                <a:lnTo>
                  <a:pt x="956397" y="2014669"/>
                </a:lnTo>
                <a:lnTo>
                  <a:pt x="213171" y="2757893"/>
                </a:lnTo>
                <a:lnTo>
                  <a:pt x="0" y="2757893"/>
                </a:lnTo>
                <a:lnTo>
                  <a:pt x="0" y="743225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45871" y="1819500"/>
            <a:ext cx="956944" cy="743585"/>
          </a:xfrm>
          <a:custGeom>
            <a:avLst/>
            <a:gdLst/>
            <a:ahLst/>
            <a:cxnLst/>
            <a:rect l="l" t="t" r="r" b="b"/>
            <a:pathLst>
              <a:path w="956944" h="743585">
                <a:moveTo>
                  <a:pt x="0" y="743225"/>
                </a:moveTo>
                <a:lnTo>
                  <a:pt x="213171" y="743225"/>
                </a:lnTo>
                <a:lnTo>
                  <a:pt x="956397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59044" y="2562726"/>
            <a:ext cx="0" cy="2014855"/>
          </a:xfrm>
          <a:custGeom>
            <a:avLst/>
            <a:gdLst/>
            <a:ahLst/>
            <a:cxnLst/>
            <a:rect l="l" t="t" r="r" b="b"/>
            <a:pathLst>
              <a:path h="2014854">
                <a:moveTo>
                  <a:pt x="0" y="0"/>
                </a:moveTo>
                <a:lnTo>
                  <a:pt x="0" y="2014668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27337" y="2683673"/>
            <a:ext cx="92710" cy="1894205"/>
          </a:xfrm>
          <a:custGeom>
            <a:avLst/>
            <a:gdLst/>
            <a:ahLst/>
            <a:cxnLst/>
            <a:rect l="l" t="t" r="r" b="b"/>
            <a:pathLst>
              <a:path w="92710" h="1894204">
                <a:moveTo>
                  <a:pt x="92223" y="0"/>
                </a:moveTo>
                <a:lnTo>
                  <a:pt x="0" y="0"/>
                </a:lnTo>
                <a:lnTo>
                  <a:pt x="0" y="1893721"/>
                </a:lnTo>
                <a:lnTo>
                  <a:pt x="92223" y="1893721"/>
                </a:lnTo>
                <a:lnTo>
                  <a:pt x="92223" y="0"/>
                </a:lnTo>
                <a:close/>
              </a:path>
            </a:pathLst>
          </a:custGeom>
          <a:solidFill>
            <a:srgbClr val="D2E2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27337" y="1819498"/>
            <a:ext cx="956944" cy="2758440"/>
          </a:xfrm>
          <a:custGeom>
            <a:avLst/>
            <a:gdLst/>
            <a:ahLst/>
            <a:cxnLst/>
            <a:rect l="l" t="t" r="r" b="b"/>
            <a:pathLst>
              <a:path w="956945" h="2758440">
                <a:moveTo>
                  <a:pt x="0" y="864172"/>
                </a:moveTo>
                <a:lnTo>
                  <a:pt x="864171" y="0"/>
                </a:lnTo>
                <a:lnTo>
                  <a:pt x="956396" y="0"/>
                </a:lnTo>
                <a:lnTo>
                  <a:pt x="956396" y="1893720"/>
                </a:lnTo>
                <a:lnTo>
                  <a:pt x="92223" y="2757893"/>
                </a:lnTo>
                <a:lnTo>
                  <a:pt x="0" y="2757893"/>
                </a:lnTo>
                <a:lnTo>
                  <a:pt x="0" y="864172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27337" y="1819500"/>
            <a:ext cx="956944" cy="864235"/>
          </a:xfrm>
          <a:custGeom>
            <a:avLst/>
            <a:gdLst/>
            <a:ahLst/>
            <a:cxnLst/>
            <a:rect l="l" t="t" r="r" b="b"/>
            <a:pathLst>
              <a:path w="956945" h="864235">
                <a:moveTo>
                  <a:pt x="0" y="864172"/>
                </a:moveTo>
                <a:lnTo>
                  <a:pt x="92223" y="864172"/>
                </a:lnTo>
                <a:lnTo>
                  <a:pt x="956396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19562" y="2683673"/>
            <a:ext cx="0" cy="1894205"/>
          </a:xfrm>
          <a:custGeom>
            <a:avLst/>
            <a:gdLst/>
            <a:ahLst/>
            <a:cxnLst/>
            <a:rect l="l" t="t" r="r" b="b"/>
            <a:pathLst>
              <a:path h="1894204">
                <a:moveTo>
                  <a:pt x="0" y="0"/>
                </a:moveTo>
                <a:lnTo>
                  <a:pt x="0" y="1893721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431519" y="418336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32</a:t>
            </a:r>
            <a:endParaRPr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60911" y="457500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3</a:t>
            </a:r>
            <a:endParaRPr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52893" y="3201744"/>
            <a:ext cx="2308860" cy="0"/>
          </a:xfrm>
          <a:custGeom>
            <a:avLst/>
            <a:gdLst/>
            <a:ahLst/>
            <a:cxnLst/>
            <a:rect l="l" t="t" r="r" b="b"/>
            <a:pathLst>
              <a:path w="2308860">
                <a:moveTo>
                  <a:pt x="0" y="0"/>
                </a:moveTo>
                <a:lnTo>
                  <a:pt x="2308644" y="0"/>
                </a:lnTo>
              </a:path>
            </a:pathLst>
          </a:custGeom>
          <a:ln w="9523">
            <a:solidFill>
              <a:srgbClr val="79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661540" y="3186012"/>
            <a:ext cx="43815" cy="31750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3"/>
                </a:moveTo>
                <a:lnTo>
                  <a:pt x="43224" y="15731"/>
                </a:lnTo>
                <a:lnTo>
                  <a:pt x="0" y="0"/>
                </a:lnTo>
                <a:lnTo>
                  <a:pt x="0" y="31463"/>
                </a:lnTo>
                <a:close/>
              </a:path>
            </a:pathLst>
          </a:custGeom>
          <a:ln w="9523">
            <a:solidFill>
              <a:srgbClr val="79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376712" y="2683673"/>
            <a:ext cx="92710" cy="1894205"/>
          </a:xfrm>
          <a:custGeom>
            <a:avLst/>
            <a:gdLst/>
            <a:ahLst/>
            <a:cxnLst/>
            <a:rect l="l" t="t" r="r" b="b"/>
            <a:pathLst>
              <a:path w="92710" h="1894204">
                <a:moveTo>
                  <a:pt x="92223" y="0"/>
                </a:moveTo>
                <a:lnTo>
                  <a:pt x="0" y="0"/>
                </a:lnTo>
                <a:lnTo>
                  <a:pt x="0" y="1893721"/>
                </a:lnTo>
                <a:lnTo>
                  <a:pt x="92223" y="1893721"/>
                </a:lnTo>
                <a:lnTo>
                  <a:pt x="92223" y="0"/>
                </a:lnTo>
                <a:close/>
              </a:path>
            </a:pathLst>
          </a:custGeom>
          <a:solidFill>
            <a:srgbClr val="DFED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76712" y="1819498"/>
            <a:ext cx="956944" cy="2758440"/>
          </a:xfrm>
          <a:custGeom>
            <a:avLst/>
            <a:gdLst/>
            <a:ahLst/>
            <a:cxnLst/>
            <a:rect l="l" t="t" r="r" b="b"/>
            <a:pathLst>
              <a:path w="956945" h="2758440">
                <a:moveTo>
                  <a:pt x="0" y="864172"/>
                </a:moveTo>
                <a:lnTo>
                  <a:pt x="864171" y="0"/>
                </a:lnTo>
                <a:lnTo>
                  <a:pt x="956396" y="0"/>
                </a:lnTo>
                <a:lnTo>
                  <a:pt x="956396" y="1893720"/>
                </a:lnTo>
                <a:lnTo>
                  <a:pt x="92223" y="2757893"/>
                </a:lnTo>
                <a:lnTo>
                  <a:pt x="0" y="2757893"/>
                </a:lnTo>
                <a:lnTo>
                  <a:pt x="0" y="864172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376712" y="1819500"/>
            <a:ext cx="956944" cy="864235"/>
          </a:xfrm>
          <a:custGeom>
            <a:avLst/>
            <a:gdLst/>
            <a:ahLst/>
            <a:cxnLst/>
            <a:rect l="l" t="t" r="r" b="b"/>
            <a:pathLst>
              <a:path w="956945" h="864235">
                <a:moveTo>
                  <a:pt x="0" y="864172"/>
                </a:moveTo>
                <a:lnTo>
                  <a:pt x="92223" y="864172"/>
                </a:lnTo>
                <a:lnTo>
                  <a:pt x="956396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468935" y="2683673"/>
            <a:ext cx="0" cy="1894205"/>
          </a:xfrm>
          <a:custGeom>
            <a:avLst/>
            <a:gdLst/>
            <a:ahLst/>
            <a:cxnLst/>
            <a:rect l="l" t="t" r="r" b="b"/>
            <a:pathLst>
              <a:path h="1894204">
                <a:moveTo>
                  <a:pt x="0" y="0"/>
                </a:moveTo>
                <a:lnTo>
                  <a:pt x="0" y="1893721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562835" y="4596848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6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18411" y="4160395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28</a:t>
            </a:r>
            <a:endParaRPr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15317" y="1444805"/>
            <a:ext cx="1738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latin typeface="Arial"/>
                <a:cs typeface="Arial"/>
              </a:rPr>
              <a:t>activation</a:t>
            </a:r>
            <a:r>
              <a:rPr b="1" spc="-13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maps</a:t>
            </a:r>
            <a:endParaRPr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95821" y="2117904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32</a:t>
            </a:r>
            <a:endParaRPr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25103" y="2592883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28</a:t>
            </a:r>
            <a:endParaRPr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43517" y="3267254"/>
            <a:ext cx="1854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Convolution</a:t>
            </a:r>
            <a:r>
              <a:rPr spc="-12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Layer</a:t>
            </a:r>
            <a:endParaRPr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1863401" y="994333"/>
            <a:ext cx="8174355" cy="33020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/>
              <a:t>For </a:t>
            </a:r>
            <a:r>
              <a:rPr sz="2000" spc="-10" dirty="0"/>
              <a:t>example, </a:t>
            </a:r>
            <a:r>
              <a:rPr sz="2000" spc="-5" dirty="0"/>
              <a:t>if we </a:t>
            </a:r>
            <a:r>
              <a:rPr sz="2000" spc="-10" dirty="0"/>
              <a:t>had </a:t>
            </a:r>
            <a:r>
              <a:rPr sz="2000" dirty="0"/>
              <a:t>6 </a:t>
            </a:r>
            <a:r>
              <a:rPr sz="2000" spc="-10" dirty="0"/>
              <a:t>5x5 </a:t>
            </a:r>
            <a:r>
              <a:rPr sz="2000" spc="-5" dirty="0"/>
              <a:t>filters, </a:t>
            </a:r>
            <a:r>
              <a:rPr sz="2000" spc="-10" dirty="0"/>
              <a:t>we’ll get </a:t>
            </a:r>
            <a:r>
              <a:rPr sz="2000" dirty="0"/>
              <a:t>6 </a:t>
            </a:r>
            <a:r>
              <a:rPr sz="2000" spc="-10" dirty="0"/>
              <a:t>separate activation</a:t>
            </a:r>
            <a:r>
              <a:rPr sz="2000" spc="90" dirty="0"/>
              <a:t> </a:t>
            </a:r>
            <a:r>
              <a:rPr sz="2000" spc="-5" dirty="0"/>
              <a:t>maps:</a:t>
            </a:r>
            <a:endParaRPr sz="2000"/>
          </a:p>
        </p:txBody>
      </p:sp>
      <p:sp>
        <p:nvSpPr>
          <p:cNvPr id="25" name="object 25"/>
          <p:cNvSpPr/>
          <p:nvPr/>
        </p:nvSpPr>
        <p:spPr>
          <a:xfrm>
            <a:off x="7529111" y="2683673"/>
            <a:ext cx="92710" cy="1894205"/>
          </a:xfrm>
          <a:custGeom>
            <a:avLst/>
            <a:gdLst/>
            <a:ahLst/>
            <a:cxnLst/>
            <a:rect l="l" t="t" r="r" b="b"/>
            <a:pathLst>
              <a:path w="92710" h="1894204">
                <a:moveTo>
                  <a:pt x="92223" y="0"/>
                </a:moveTo>
                <a:lnTo>
                  <a:pt x="0" y="0"/>
                </a:lnTo>
                <a:lnTo>
                  <a:pt x="0" y="1893721"/>
                </a:lnTo>
                <a:lnTo>
                  <a:pt x="92223" y="1893721"/>
                </a:lnTo>
                <a:lnTo>
                  <a:pt x="92223" y="0"/>
                </a:lnTo>
                <a:close/>
              </a:path>
            </a:pathLst>
          </a:custGeom>
          <a:solidFill>
            <a:srgbClr val="F7D6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529110" y="1819498"/>
            <a:ext cx="956944" cy="2758440"/>
          </a:xfrm>
          <a:custGeom>
            <a:avLst/>
            <a:gdLst/>
            <a:ahLst/>
            <a:cxnLst/>
            <a:rect l="l" t="t" r="r" b="b"/>
            <a:pathLst>
              <a:path w="956945" h="2758440">
                <a:moveTo>
                  <a:pt x="0" y="864172"/>
                </a:moveTo>
                <a:lnTo>
                  <a:pt x="864171" y="0"/>
                </a:lnTo>
                <a:lnTo>
                  <a:pt x="956396" y="0"/>
                </a:lnTo>
                <a:lnTo>
                  <a:pt x="956396" y="1893720"/>
                </a:lnTo>
                <a:lnTo>
                  <a:pt x="92223" y="2757893"/>
                </a:lnTo>
                <a:lnTo>
                  <a:pt x="0" y="2757893"/>
                </a:lnTo>
                <a:lnTo>
                  <a:pt x="0" y="864172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529110" y="1819500"/>
            <a:ext cx="956944" cy="864235"/>
          </a:xfrm>
          <a:custGeom>
            <a:avLst/>
            <a:gdLst/>
            <a:ahLst/>
            <a:cxnLst/>
            <a:rect l="l" t="t" r="r" b="b"/>
            <a:pathLst>
              <a:path w="956945" h="864235">
                <a:moveTo>
                  <a:pt x="0" y="864172"/>
                </a:moveTo>
                <a:lnTo>
                  <a:pt x="92223" y="864172"/>
                </a:lnTo>
                <a:lnTo>
                  <a:pt x="956396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621335" y="2683673"/>
            <a:ext cx="0" cy="1894205"/>
          </a:xfrm>
          <a:custGeom>
            <a:avLst/>
            <a:gdLst/>
            <a:ahLst/>
            <a:cxnLst/>
            <a:rect l="l" t="t" r="r" b="b"/>
            <a:pathLst>
              <a:path h="1894204">
                <a:moveTo>
                  <a:pt x="0" y="0"/>
                </a:moveTo>
                <a:lnTo>
                  <a:pt x="0" y="1893721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681511" y="2683673"/>
            <a:ext cx="92710" cy="1894205"/>
          </a:xfrm>
          <a:custGeom>
            <a:avLst/>
            <a:gdLst/>
            <a:ahLst/>
            <a:cxnLst/>
            <a:rect l="l" t="t" r="r" b="b"/>
            <a:pathLst>
              <a:path w="92710" h="1894204">
                <a:moveTo>
                  <a:pt x="92223" y="0"/>
                </a:moveTo>
                <a:lnTo>
                  <a:pt x="0" y="0"/>
                </a:lnTo>
                <a:lnTo>
                  <a:pt x="0" y="1893721"/>
                </a:lnTo>
                <a:lnTo>
                  <a:pt x="92223" y="1893721"/>
                </a:lnTo>
                <a:lnTo>
                  <a:pt x="92223" y="0"/>
                </a:lnTo>
                <a:close/>
              </a:path>
            </a:pathLst>
          </a:custGeom>
          <a:solidFill>
            <a:srgbClr val="FFF4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81510" y="1819498"/>
            <a:ext cx="956944" cy="2758440"/>
          </a:xfrm>
          <a:custGeom>
            <a:avLst/>
            <a:gdLst/>
            <a:ahLst/>
            <a:cxnLst/>
            <a:rect l="l" t="t" r="r" b="b"/>
            <a:pathLst>
              <a:path w="956945" h="2758440">
                <a:moveTo>
                  <a:pt x="0" y="864172"/>
                </a:moveTo>
                <a:lnTo>
                  <a:pt x="864171" y="0"/>
                </a:lnTo>
                <a:lnTo>
                  <a:pt x="956396" y="0"/>
                </a:lnTo>
                <a:lnTo>
                  <a:pt x="956396" y="1893720"/>
                </a:lnTo>
                <a:lnTo>
                  <a:pt x="92223" y="2757893"/>
                </a:lnTo>
                <a:lnTo>
                  <a:pt x="0" y="2757893"/>
                </a:lnTo>
                <a:lnTo>
                  <a:pt x="0" y="864172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681510" y="1819500"/>
            <a:ext cx="956944" cy="864235"/>
          </a:xfrm>
          <a:custGeom>
            <a:avLst/>
            <a:gdLst/>
            <a:ahLst/>
            <a:cxnLst/>
            <a:rect l="l" t="t" r="r" b="b"/>
            <a:pathLst>
              <a:path w="956945" h="864235">
                <a:moveTo>
                  <a:pt x="0" y="864172"/>
                </a:moveTo>
                <a:lnTo>
                  <a:pt x="92223" y="864172"/>
                </a:lnTo>
                <a:lnTo>
                  <a:pt x="956396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773735" y="2683673"/>
            <a:ext cx="0" cy="1894205"/>
          </a:xfrm>
          <a:custGeom>
            <a:avLst/>
            <a:gdLst/>
            <a:ahLst/>
            <a:cxnLst/>
            <a:rect l="l" t="t" r="r" b="b"/>
            <a:pathLst>
              <a:path h="1894204">
                <a:moveTo>
                  <a:pt x="0" y="0"/>
                </a:moveTo>
                <a:lnTo>
                  <a:pt x="0" y="1893721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833911" y="2683673"/>
            <a:ext cx="92710" cy="1894205"/>
          </a:xfrm>
          <a:custGeom>
            <a:avLst/>
            <a:gdLst/>
            <a:ahLst/>
            <a:cxnLst/>
            <a:rect l="l" t="t" r="r" b="b"/>
            <a:pathLst>
              <a:path w="92710" h="1894204">
                <a:moveTo>
                  <a:pt x="92223" y="0"/>
                </a:moveTo>
                <a:lnTo>
                  <a:pt x="0" y="0"/>
                </a:lnTo>
                <a:lnTo>
                  <a:pt x="0" y="1893721"/>
                </a:lnTo>
                <a:lnTo>
                  <a:pt x="92223" y="1893721"/>
                </a:lnTo>
                <a:lnTo>
                  <a:pt x="92223" y="0"/>
                </a:lnTo>
                <a:close/>
              </a:path>
            </a:pathLst>
          </a:custGeom>
          <a:solidFill>
            <a:srgbClr val="E0DA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833910" y="1819498"/>
            <a:ext cx="956944" cy="2758440"/>
          </a:xfrm>
          <a:custGeom>
            <a:avLst/>
            <a:gdLst/>
            <a:ahLst/>
            <a:cxnLst/>
            <a:rect l="l" t="t" r="r" b="b"/>
            <a:pathLst>
              <a:path w="956945" h="2758440">
                <a:moveTo>
                  <a:pt x="0" y="864172"/>
                </a:moveTo>
                <a:lnTo>
                  <a:pt x="864171" y="0"/>
                </a:lnTo>
                <a:lnTo>
                  <a:pt x="956396" y="0"/>
                </a:lnTo>
                <a:lnTo>
                  <a:pt x="956396" y="1893720"/>
                </a:lnTo>
                <a:lnTo>
                  <a:pt x="92223" y="2757893"/>
                </a:lnTo>
                <a:lnTo>
                  <a:pt x="0" y="2757893"/>
                </a:lnTo>
                <a:lnTo>
                  <a:pt x="0" y="864172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833910" y="1819500"/>
            <a:ext cx="956944" cy="864235"/>
          </a:xfrm>
          <a:custGeom>
            <a:avLst/>
            <a:gdLst/>
            <a:ahLst/>
            <a:cxnLst/>
            <a:rect l="l" t="t" r="r" b="b"/>
            <a:pathLst>
              <a:path w="956945" h="864235">
                <a:moveTo>
                  <a:pt x="0" y="864172"/>
                </a:moveTo>
                <a:lnTo>
                  <a:pt x="92223" y="864172"/>
                </a:lnTo>
                <a:lnTo>
                  <a:pt x="956396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926135" y="2683673"/>
            <a:ext cx="0" cy="1894205"/>
          </a:xfrm>
          <a:custGeom>
            <a:avLst/>
            <a:gdLst/>
            <a:ahLst/>
            <a:cxnLst/>
            <a:rect l="l" t="t" r="r" b="b"/>
            <a:pathLst>
              <a:path h="1894204">
                <a:moveTo>
                  <a:pt x="0" y="0"/>
                </a:moveTo>
                <a:lnTo>
                  <a:pt x="0" y="1893721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986311" y="2683673"/>
            <a:ext cx="92710" cy="1894205"/>
          </a:xfrm>
          <a:custGeom>
            <a:avLst/>
            <a:gdLst/>
            <a:ahLst/>
            <a:cxnLst/>
            <a:rect l="l" t="t" r="r" b="b"/>
            <a:pathLst>
              <a:path w="92709" h="1894204">
                <a:moveTo>
                  <a:pt x="92224" y="0"/>
                </a:moveTo>
                <a:lnTo>
                  <a:pt x="0" y="0"/>
                </a:lnTo>
                <a:lnTo>
                  <a:pt x="0" y="1893721"/>
                </a:lnTo>
                <a:lnTo>
                  <a:pt x="92224" y="1893721"/>
                </a:lnTo>
                <a:lnTo>
                  <a:pt x="92224" y="0"/>
                </a:lnTo>
                <a:close/>
              </a:path>
            </a:pathLst>
          </a:custGeom>
          <a:solidFill>
            <a:srgbClr val="FCE9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986310" y="1819498"/>
            <a:ext cx="956944" cy="2758440"/>
          </a:xfrm>
          <a:custGeom>
            <a:avLst/>
            <a:gdLst/>
            <a:ahLst/>
            <a:cxnLst/>
            <a:rect l="l" t="t" r="r" b="b"/>
            <a:pathLst>
              <a:path w="956945" h="2758440">
                <a:moveTo>
                  <a:pt x="0" y="864172"/>
                </a:moveTo>
                <a:lnTo>
                  <a:pt x="864172" y="0"/>
                </a:lnTo>
                <a:lnTo>
                  <a:pt x="956396" y="0"/>
                </a:lnTo>
                <a:lnTo>
                  <a:pt x="956396" y="1893720"/>
                </a:lnTo>
                <a:lnTo>
                  <a:pt x="92223" y="2757893"/>
                </a:lnTo>
                <a:lnTo>
                  <a:pt x="0" y="2757893"/>
                </a:lnTo>
                <a:lnTo>
                  <a:pt x="0" y="864172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986310" y="1819500"/>
            <a:ext cx="956944" cy="864235"/>
          </a:xfrm>
          <a:custGeom>
            <a:avLst/>
            <a:gdLst/>
            <a:ahLst/>
            <a:cxnLst/>
            <a:rect l="l" t="t" r="r" b="b"/>
            <a:pathLst>
              <a:path w="956945" h="864235">
                <a:moveTo>
                  <a:pt x="0" y="864172"/>
                </a:moveTo>
                <a:lnTo>
                  <a:pt x="92223" y="864172"/>
                </a:lnTo>
                <a:lnTo>
                  <a:pt x="956396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078536" y="2683673"/>
            <a:ext cx="0" cy="1894205"/>
          </a:xfrm>
          <a:custGeom>
            <a:avLst/>
            <a:gdLst/>
            <a:ahLst/>
            <a:cxnLst/>
            <a:rect l="l" t="t" r="r" b="b"/>
            <a:pathLst>
              <a:path h="1894204">
                <a:moveTo>
                  <a:pt x="0" y="0"/>
                </a:moveTo>
                <a:lnTo>
                  <a:pt x="0" y="1893721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2416672" y="5030867"/>
            <a:ext cx="63804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25" dirty="0">
                <a:latin typeface="Arial"/>
                <a:cs typeface="Arial"/>
              </a:rPr>
              <a:t>We </a:t>
            </a:r>
            <a:r>
              <a:rPr sz="2000" spc="-10" dirty="0">
                <a:latin typeface="Arial"/>
                <a:cs typeface="Arial"/>
              </a:rPr>
              <a:t>stack these </a:t>
            </a:r>
            <a:r>
              <a:rPr sz="2000" spc="-5" dirty="0">
                <a:latin typeface="Arial"/>
                <a:cs typeface="Arial"/>
              </a:rPr>
              <a:t>up to </a:t>
            </a:r>
            <a:r>
              <a:rPr sz="2000" spc="-10" dirty="0">
                <a:latin typeface="Arial"/>
                <a:cs typeface="Arial"/>
              </a:rPr>
              <a:t>get </a:t>
            </a:r>
            <a:r>
              <a:rPr sz="2000" dirty="0">
                <a:latin typeface="Arial"/>
                <a:cs typeface="Arial"/>
              </a:rPr>
              <a:t>a </a:t>
            </a:r>
            <a:r>
              <a:rPr sz="2000" spc="-10" dirty="0">
                <a:latin typeface="Arial"/>
                <a:cs typeface="Arial"/>
              </a:rPr>
              <a:t>“new image”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10" dirty="0">
                <a:latin typeface="Arial"/>
                <a:cs typeface="Arial"/>
              </a:rPr>
              <a:t>size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28x28x6!</a:t>
            </a:r>
            <a:endParaRPr sz="2000">
              <a:latin typeface="Arial"/>
              <a:cs typeface="Arial"/>
            </a:endParaRP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F113E8DE-3911-4BAB-9BF6-0DE9008A9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508461C0-EE40-488F-B8E9-F5B970C2A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C706E-77C6-4CB6-9A13-5D08980BB226}" type="datetime1">
              <a:rPr lang="en-US" smtClean="0"/>
              <a:t>2/27/2026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1501" y="1076232"/>
            <a:ext cx="7653655" cy="566420"/>
          </a:xfrm>
          <a:prstGeom prst="rect">
            <a:avLst/>
          </a:prstGeom>
        </p:spPr>
        <p:txBody>
          <a:bodyPr vert="horz" wrap="square" lIns="0" tIns="27939" rIns="0" bIns="0" rtlCol="0" anchor="ctr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b="1" spc="-5" dirty="0">
                <a:latin typeface="Arial"/>
                <a:cs typeface="Arial"/>
              </a:rPr>
              <a:t>Preview: </a:t>
            </a:r>
            <a:r>
              <a:rPr sz="1800" spc="-10" dirty="0"/>
              <a:t>ConvNet </a:t>
            </a:r>
            <a:r>
              <a:rPr sz="1800" spc="-5" dirty="0"/>
              <a:t>is </a:t>
            </a:r>
            <a:r>
              <a:rPr sz="1800" dirty="0"/>
              <a:t>a </a:t>
            </a:r>
            <a:r>
              <a:rPr sz="1800" spc="-5" dirty="0"/>
              <a:t>sequence of </a:t>
            </a:r>
            <a:r>
              <a:rPr sz="1800" spc="-10" dirty="0"/>
              <a:t>Convolutional Layers, interspersed with  </a:t>
            </a:r>
            <a:r>
              <a:rPr sz="1800" spc="-5" dirty="0"/>
              <a:t>activation</a:t>
            </a:r>
            <a:r>
              <a:rPr sz="1800" spc="-35" dirty="0"/>
              <a:t> </a:t>
            </a:r>
            <a:r>
              <a:rPr sz="1800" spc="-5" dirty="0"/>
              <a:t>functions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01073" y="2726775"/>
            <a:ext cx="213360" cy="2014855"/>
          </a:xfrm>
          <a:custGeom>
            <a:avLst/>
            <a:gdLst/>
            <a:ahLst/>
            <a:cxnLst/>
            <a:rect l="l" t="t" r="r" b="b"/>
            <a:pathLst>
              <a:path w="213360" h="2014854">
                <a:moveTo>
                  <a:pt x="213172" y="0"/>
                </a:moveTo>
                <a:lnTo>
                  <a:pt x="0" y="0"/>
                </a:lnTo>
                <a:lnTo>
                  <a:pt x="0" y="2014668"/>
                </a:lnTo>
                <a:lnTo>
                  <a:pt x="213172" y="2014668"/>
                </a:lnTo>
                <a:lnTo>
                  <a:pt x="213172" y="0"/>
                </a:lnTo>
                <a:close/>
              </a:path>
            </a:pathLst>
          </a:custGeom>
          <a:solidFill>
            <a:srgbClr val="F7D6D5">
              <a:alpha val="517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01073" y="1983547"/>
            <a:ext cx="956944" cy="2758440"/>
          </a:xfrm>
          <a:custGeom>
            <a:avLst/>
            <a:gdLst/>
            <a:ahLst/>
            <a:cxnLst/>
            <a:rect l="l" t="t" r="r" b="b"/>
            <a:pathLst>
              <a:path w="956944" h="2758440">
                <a:moveTo>
                  <a:pt x="0" y="743225"/>
                </a:moveTo>
                <a:lnTo>
                  <a:pt x="743225" y="0"/>
                </a:lnTo>
                <a:lnTo>
                  <a:pt x="956397" y="0"/>
                </a:lnTo>
                <a:lnTo>
                  <a:pt x="956397" y="2014669"/>
                </a:lnTo>
                <a:lnTo>
                  <a:pt x="213171" y="2757893"/>
                </a:lnTo>
                <a:lnTo>
                  <a:pt x="0" y="2757893"/>
                </a:lnTo>
                <a:lnTo>
                  <a:pt x="0" y="743225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01073" y="1983549"/>
            <a:ext cx="956944" cy="743585"/>
          </a:xfrm>
          <a:custGeom>
            <a:avLst/>
            <a:gdLst/>
            <a:ahLst/>
            <a:cxnLst/>
            <a:rect l="l" t="t" r="r" b="b"/>
            <a:pathLst>
              <a:path w="956944" h="743585">
                <a:moveTo>
                  <a:pt x="0" y="743225"/>
                </a:moveTo>
                <a:lnTo>
                  <a:pt x="213171" y="743225"/>
                </a:lnTo>
                <a:lnTo>
                  <a:pt x="956397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14245" y="2726775"/>
            <a:ext cx="0" cy="2014855"/>
          </a:xfrm>
          <a:custGeom>
            <a:avLst/>
            <a:gdLst/>
            <a:ahLst/>
            <a:cxnLst/>
            <a:rect l="l" t="t" r="r" b="b"/>
            <a:pathLst>
              <a:path h="2014854">
                <a:moveTo>
                  <a:pt x="0" y="0"/>
                </a:moveTo>
                <a:lnTo>
                  <a:pt x="0" y="2014668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86723" y="4347428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32</a:t>
            </a:r>
            <a:endParaRPr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1024" y="227424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32</a:t>
            </a:r>
            <a:endParaRPr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16114" y="473905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3</a:t>
            </a:r>
            <a:endParaRPr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05871" y="3262195"/>
            <a:ext cx="930910" cy="0"/>
          </a:xfrm>
          <a:custGeom>
            <a:avLst/>
            <a:gdLst/>
            <a:ahLst/>
            <a:cxnLst/>
            <a:rect l="l" t="t" r="r" b="b"/>
            <a:pathLst>
              <a:path w="930910">
                <a:moveTo>
                  <a:pt x="0" y="0"/>
                </a:moveTo>
                <a:lnTo>
                  <a:pt x="930447" y="0"/>
                </a:lnTo>
              </a:path>
            </a:pathLst>
          </a:custGeom>
          <a:ln w="9523">
            <a:solidFill>
              <a:srgbClr val="79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36321" y="3246462"/>
            <a:ext cx="43815" cy="31750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3"/>
                </a:moveTo>
                <a:lnTo>
                  <a:pt x="43224" y="15731"/>
                </a:lnTo>
                <a:lnTo>
                  <a:pt x="0" y="0"/>
                </a:lnTo>
                <a:lnTo>
                  <a:pt x="0" y="31463"/>
                </a:lnTo>
                <a:close/>
              </a:path>
            </a:pathLst>
          </a:custGeom>
          <a:ln w="9523">
            <a:solidFill>
              <a:srgbClr val="79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118220" y="3340000"/>
            <a:ext cx="726440" cy="14046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pc="-5" dirty="0">
                <a:latin typeface="Arial"/>
                <a:cs typeface="Arial"/>
              </a:rPr>
              <a:t>CON</a:t>
            </a:r>
            <a:r>
              <a:rPr spc="-175" dirty="0">
                <a:latin typeface="Arial"/>
                <a:cs typeface="Arial"/>
              </a:rPr>
              <a:t>V</a:t>
            </a:r>
            <a:r>
              <a:rPr dirty="0">
                <a:latin typeface="Arial"/>
                <a:cs typeface="Arial"/>
              </a:rPr>
              <a:t>,  </a:t>
            </a:r>
            <a:r>
              <a:rPr spc="-5" dirty="0">
                <a:latin typeface="Arial"/>
                <a:cs typeface="Arial"/>
              </a:rPr>
              <a:t>ReLU</a:t>
            </a:r>
            <a:endParaRPr>
              <a:latin typeface="Arial"/>
              <a:cs typeface="Arial"/>
            </a:endParaRPr>
          </a:p>
          <a:p>
            <a:pPr marL="12700" marR="76835" algn="just">
              <a:lnSpc>
                <a:spcPts val="2200"/>
              </a:lnSpc>
              <a:spcBef>
                <a:spcPts val="20"/>
              </a:spcBef>
            </a:pPr>
            <a:r>
              <a:rPr spc="-10" dirty="0">
                <a:solidFill>
                  <a:srgbClr val="0000FF"/>
                </a:solidFill>
                <a:latin typeface="Arial"/>
                <a:cs typeface="Arial"/>
              </a:rPr>
              <a:t>e.g. </a:t>
            </a:r>
            <a:r>
              <a:rPr dirty="0">
                <a:solidFill>
                  <a:srgbClr val="0000FF"/>
                </a:solidFill>
                <a:latin typeface="Arial"/>
                <a:cs typeface="Arial"/>
              </a:rPr>
              <a:t>6  </a:t>
            </a:r>
            <a:r>
              <a:rPr spc="25" dirty="0">
                <a:solidFill>
                  <a:srgbClr val="0000FF"/>
                </a:solidFill>
                <a:latin typeface="Arial"/>
                <a:cs typeface="Arial"/>
              </a:rPr>
              <a:t>5x5x3 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filters</a:t>
            </a:r>
            <a:endParaRPr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215668" y="2726775"/>
            <a:ext cx="213360" cy="2014855"/>
          </a:xfrm>
          <a:custGeom>
            <a:avLst/>
            <a:gdLst/>
            <a:ahLst/>
            <a:cxnLst/>
            <a:rect l="l" t="t" r="r" b="b"/>
            <a:pathLst>
              <a:path w="213360" h="2014854">
                <a:moveTo>
                  <a:pt x="213174" y="0"/>
                </a:moveTo>
                <a:lnTo>
                  <a:pt x="0" y="0"/>
                </a:lnTo>
                <a:lnTo>
                  <a:pt x="0" y="2014668"/>
                </a:lnTo>
                <a:lnTo>
                  <a:pt x="213174" y="2014668"/>
                </a:lnTo>
                <a:lnTo>
                  <a:pt x="213174" y="0"/>
                </a:lnTo>
                <a:close/>
              </a:path>
            </a:pathLst>
          </a:custGeom>
          <a:solidFill>
            <a:srgbClr val="D2E2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15668" y="1983547"/>
            <a:ext cx="956944" cy="2758440"/>
          </a:xfrm>
          <a:custGeom>
            <a:avLst/>
            <a:gdLst/>
            <a:ahLst/>
            <a:cxnLst/>
            <a:rect l="l" t="t" r="r" b="b"/>
            <a:pathLst>
              <a:path w="956945" h="2758440">
                <a:moveTo>
                  <a:pt x="0" y="743225"/>
                </a:moveTo>
                <a:lnTo>
                  <a:pt x="743221" y="0"/>
                </a:lnTo>
                <a:lnTo>
                  <a:pt x="956396" y="0"/>
                </a:lnTo>
                <a:lnTo>
                  <a:pt x="956396" y="2014669"/>
                </a:lnTo>
                <a:lnTo>
                  <a:pt x="213173" y="2757893"/>
                </a:lnTo>
                <a:lnTo>
                  <a:pt x="0" y="2757893"/>
                </a:lnTo>
                <a:lnTo>
                  <a:pt x="0" y="743225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15668" y="1983549"/>
            <a:ext cx="956944" cy="743585"/>
          </a:xfrm>
          <a:custGeom>
            <a:avLst/>
            <a:gdLst/>
            <a:ahLst/>
            <a:cxnLst/>
            <a:rect l="l" t="t" r="r" b="b"/>
            <a:pathLst>
              <a:path w="956945" h="743585">
                <a:moveTo>
                  <a:pt x="0" y="743225"/>
                </a:moveTo>
                <a:lnTo>
                  <a:pt x="213173" y="743225"/>
                </a:lnTo>
                <a:lnTo>
                  <a:pt x="956396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28843" y="2726775"/>
            <a:ext cx="0" cy="2014855"/>
          </a:xfrm>
          <a:custGeom>
            <a:avLst/>
            <a:gdLst/>
            <a:ahLst/>
            <a:cxnLst/>
            <a:rect l="l" t="t" r="r" b="b"/>
            <a:pathLst>
              <a:path h="2014854">
                <a:moveTo>
                  <a:pt x="0" y="0"/>
                </a:moveTo>
                <a:lnTo>
                  <a:pt x="0" y="2014668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901319" y="4347428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28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65618" y="227424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28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30711" y="473905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6</a:t>
            </a:r>
            <a:endParaRPr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49065" y="3262195"/>
            <a:ext cx="930910" cy="0"/>
          </a:xfrm>
          <a:custGeom>
            <a:avLst/>
            <a:gdLst/>
            <a:ahLst/>
            <a:cxnLst/>
            <a:rect l="l" t="t" r="r" b="b"/>
            <a:pathLst>
              <a:path w="930910">
                <a:moveTo>
                  <a:pt x="0" y="0"/>
                </a:moveTo>
                <a:lnTo>
                  <a:pt x="930447" y="0"/>
                </a:lnTo>
              </a:path>
            </a:pathLst>
          </a:custGeom>
          <a:ln w="9523">
            <a:solidFill>
              <a:srgbClr val="79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79514" y="3246462"/>
            <a:ext cx="43815" cy="31750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3"/>
                </a:moveTo>
                <a:lnTo>
                  <a:pt x="43224" y="15731"/>
                </a:lnTo>
                <a:lnTo>
                  <a:pt x="0" y="0"/>
                </a:lnTo>
                <a:lnTo>
                  <a:pt x="0" y="31463"/>
                </a:lnTo>
                <a:close/>
              </a:path>
            </a:pathLst>
          </a:custGeom>
          <a:ln w="9523">
            <a:solidFill>
              <a:srgbClr val="79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861414" y="3340000"/>
            <a:ext cx="726440" cy="14046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pc="-5" dirty="0">
                <a:latin typeface="Arial"/>
                <a:cs typeface="Arial"/>
              </a:rPr>
              <a:t>CON</a:t>
            </a:r>
            <a:r>
              <a:rPr spc="-175" dirty="0">
                <a:latin typeface="Arial"/>
                <a:cs typeface="Arial"/>
              </a:rPr>
              <a:t>V</a:t>
            </a:r>
            <a:r>
              <a:rPr dirty="0">
                <a:latin typeface="Arial"/>
                <a:cs typeface="Arial"/>
              </a:rPr>
              <a:t>,  </a:t>
            </a:r>
            <a:r>
              <a:rPr spc="-5" dirty="0">
                <a:latin typeface="Arial"/>
                <a:cs typeface="Arial"/>
              </a:rPr>
              <a:t>ReLU</a:t>
            </a:r>
            <a:endParaRPr>
              <a:latin typeface="Arial"/>
              <a:cs typeface="Arial"/>
            </a:endParaRPr>
          </a:p>
          <a:p>
            <a:pPr marL="12700" marR="20320">
              <a:lnSpc>
                <a:spcPts val="2200"/>
              </a:lnSpc>
              <a:spcBef>
                <a:spcPts val="20"/>
              </a:spcBef>
            </a:pPr>
            <a:r>
              <a:rPr spc="-5" dirty="0">
                <a:solidFill>
                  <a:srgbClr val="38751C"/>
                </a:solidFill>
                <a:latin typeface="Arial"/>
                <a:cs typeface="Arial"/>
              </a:rPr>
              <a:t>e.g.</a:t>
            </a:r>
            <a:r>
              <a:rPr spc="-180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38751C"/>
                </a:solidFill>
                <a:latin typeface="Arial"/>
                <a:cs typeface="Arial"/>
              </a:rPr>
              <a:t>10  </a:t>
            </a:r>
            <a:r>
              <a:rPr spc="-5" dirty="0">
                <a:solidFill>
                  <a:srgbClr val="38751C"/>
                </a:solidFill>
                <a:latin typeface="Arial"/>
                <a:cs typeface="Arial"/>
              </a:rPr>
              <a:t>5x5x</a:t>
            </a:r>
            <a:r>
              <a:rPr b="1" spc="-5" dirty="0">
                <a:solidFill>
                  <a:srgbClr val="458525"/>
                </a:solidFill>
                <a:latin typeface="Arial"/>
                <a:cs typeface="Arial"/>
              </a:rPr>
              <a:t>6 </a:t>
            </a:r>
            <a:r>
              <a:rPr b="1" spc="-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38751C"/>
                </a:solidFill>
                <a:latin typeface="Arial"/>
                <a:cs typeface="Arial"/>
              </a:rPr>
              <a:t>filters</a:t>
            </a:r>
            <a:endParaRPr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958862" y="2726775"/>
            <a:ext cx="213360" cy="2014855"/>
          </a:xfrm>
          <a:custGeom>
            <a:avLst/>
            <a:gdLst/>
            <a:ahLst/>
            <a:cxnLst/>
            <a:rect l="l" t="t" r="r" b="b"/>
            <a:pathLst>
              <a:path w="213360" h="2014854">
                <a:moveTo>
                  <a:pt x="213174" y="0"/>
                </a:moveTo>
                <a:lnTo>
                  <a:pt x="0" y="0"/>
                </a:lnTo>
                <a:lnTo>
                  <a:pt x="0" y="2014668"/>
                </a:lnTo>
                <a:lnTo>
                  <a:pt x="213174" y="2014668"/>
                </a:lnTo>
                <a:lnTo>
                  <a:pt x="213174" y="0"/>
                </a:lnTo>
                <a:close/>
              </a:path>
            </a:pathLst>
          </a:custGeom>
          <a:solidFill>
            <a:srgbClr val="DFED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958862" y="1983547"/>
            <a:ext cx="956944" cy="2758440"/>
          </a:xfrm>
          <a:custGeom>
            <a:avLst/>
            <a:gdLst/>
            <a:ahLst/>
            <a:cxnLst/>
            <a:rect l="l" t="t" r="r" b="b"/>
            <a:pathLst>
              <a:path w="956945" h="2758440">
                <a:moveTo>
                  <a:pt x="0" y="743225"/>
                </a:moveTo>
                <a:lnTo>
                  <a:pt x="743222" y="0"/>
                </a:lnTo>
                <a:lnTo>
                  <a:pt x="956396" y="0"/>
                </a:lnTo>
                <a:lnTo>
                  <a:pt x="956396" y="2014669"/>
                </a:lnTo>
                <a:lnTo>
                  <a:pt x="213173" y="2757893"/>
                </a:lnTo>
                <a:lnTo>
                  <a:pt x="0" y="2757893"/>
                </a:lnTo>
                <a:lnTo>
                  <a:pt x="0" y="743225"/>
                </a:lnTo>
                <a:close/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958862" y="1983549"/>
            <a:ext cx="956944" cy="743585"/>
          </a:xfrm>
          <a:custGeom>
            <a:avLst/>
            <a:gdLst/>
            <a:ahLst/>
            <a:cxnLst/>
            <a:rect l="l" t="t" r="r" b="b"/>
            <a:pathLst>
              <a:path w="956945" h="743585">
                <a:moveTo>
                  <a:pt x="0" y="743225"/>
                </a:moveTo>
                <a:lnTo>
                  <a:pt x="213173" y="743225"/>
                </a:lnTo>
                <a:lnTo>
                  <a:pt x="956396" y="0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172037" y="2726775"/>
            <a:ext cx="0" cy="2014855"/>
          </a:xfrm>
          <a:custGeom>
            <a:avLst/>
            <a:gdLst/>
            <a:ahLst/>
            <a:cxnLst/>
            <a:rect l="l" t="t" r="r" b="b"/>
            <a:pathLst>
              <a:path h="2014854">
                <a:moveTo>
                  <a:pt x="0" y="0"/>
                </a:moveTo>
                <a:lnTo>
                  <a:pt x="0" y="2014668"/>
                </a:lnTo>
              </a:path>
            </a:pathLst>
          </a:custGeom>
          <a:ln w="19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339859" y="3262195"/>
            <a:ext cx="930910" cy="0"/>
          </a:xfrm>
          <a:custGeom>
            <a:avLst/>
            <a:gdLst/>
            <a:ahLst/>
            <a:cxnLst/>
            <a:rect l="l" t="t" r="r" b="b"/>
            <a:pathLst>
              <a:path w="930909">
                <a:moveTo>
                  <a:pt x="0" y="0"/>
                </a:moveTo>
                <a:lnTo>
                  <a:pt x="930448" y="0"/>
                </a:lnTo>
              </a:path>
            </a:pathLst>
          </a:custGeom>
          <a:ln w="9523">
            <a:solidFill>
              <a:srgbClr val="79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270309" y="3246462"/>
            <a:ext cx="43815" cy="31750"/>
          </a:xfrm>
          <a:custGeom>
            <a:avLst/>
            <a:gdLst/>
            <a:ahLst/>
            <a:cxnLst/>
            <a:rect l="l" t="t" r="r" b="b"/>
            <a:pathLst>
              <a:path w="43815" h="31750">
                <a:moveTo>
                  <a:pt x="0" y="31463"/>
                </a:moveTo>
                <a:lnTo>
                  <a:pt x="43223" y="15731"/>
                </a:lnTo>
                <a:lnTo>
                  <a:pt x="0" y="0"/>
                </a:lnTo>
                <a:lnTo>
                  <a:pt x="0" y="31463"/>
                </a:lnTo>
                <a:close/>
              </a:path>
            </a:pathLst>
          </a:custGeom>
          <a:ln w="9523">
            <a:solidFill>
              <a:srgbClr val="797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452209" y="3340000"/>
            <a:ext cx="726440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pc="-5" dirty="0">
                <a:latin typeface="Arial"/>
                <a:cs typeface="Arial"/>
              </a:rPr>
              <a:t>CON</a:t>
            </a:r>
            <a:r>
              <a:rPr spc="-175" dirty="0">
                <a:latin typeface="Arial"/>
                <a:cs typeface="Arial"/>
              </a:rPr>
              <a:t>V</a:t>
            </a:r>
            <a:r>
              <a:rPr dirty="0">
                <a:latin typeface="Arial"/>
                <a:cs typeface="Arial"/>
              </a:rPr>
              <a:t>,  </a:t>
            </a:r>
            <a:r>
              <a:rPr spc="-5" dirty="0">
                <a:latin typeface="Arial"/>
                <a:cs typeface="Arial"/>
              </a:rPr>
              <a:t>ReLU</a:t>
            </a:r>
            <a:endParaRPr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668809" y="3078224"/>
            <a:ext cx="41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…</a:t>
            </a:r>
            <a:r>
              <a:rPr sz="240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97706" y="4739057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10</a:t>
            </a:r>
            <a:endParaRPr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644511" y="4347428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24</a:t>
            </a:r>
            <a:endParaRPr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008813" y="227424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24</a:t>
            </a:r>
            <a:endParaRPr>
              <a:latin typeface="Arial"/>
              <a:cs typeface="Arial"/>
            </a:endParaRP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5C5C282E-350F-4BB5-80A4-5FE39D3CF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8C46F13F-3009-4B77-AB16-77A3A1C64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ED6C-025B-4D5D-8869-6244BDC5648F}" type="datetime1">
              <a:rPr lang="en-US" smtClean="0"/>
              <a:t>2/27/2026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765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0F7F9CCA-3A36-3A36-B72C-060093156A42}"/>
              </a:ext>
            </a:extLst>
          </p:cNvPr>
          <p:cNvGraphicFramePr>
            <a:graphicFrameLocks/>
          </p:cNvGraphicFramePr>
          <p:nvPr/>
        </p:nvGraphicFramePr>
        <p:xfrm>
          <a:off x="2974975" y="1289050"/>
          <a:ext cx="1804986" cy="17240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08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08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34" marB="2873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34" marB="287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34" marB="2873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628" name="文字方塊 4">
            <a:extLst>
              <a:ext uri="{FF2B5EF4-FFF2-40B4-BE49-F238E27FC236}">
                <a16:creationId xmlns:a16="http://schemas.microsoft.com/office/drawing/2014/main" id="{4A77E303-AD03-D120-5E5F-706A6A54A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4375" y="3013076"/>
            <a:ext cx="1246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image</a:t>
            </a:r>
            <a:endParaRPr lang="zh-TW" altLang="en-US"/>
          </a:p>
        </p:txBody>
      </p:sp>
      <p:pic>
        <p:nvPicPr>
          <p:cNvPr id="24629" name="圖片 5">
            <a:extLst>
              <a:ext uri="{FF2B5EF4-FFF2-40B4-BE49-F238E27FC236}">
                <a16:creationId xmlns:a16="http://schemas.microsoft.com/office/drawing/2014/main" id="{295527C8-5F8B-AA35-3665-945C54924A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463" y="1312863"/>
            <a:ext cx="1916112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向右箭號 62">
            <a:extLst>
              <a:ext uri="{FF2B5EF4-FFF2-40B4-BE49-F238E27FC236}">
                <a16:creationId xmlns:a16="http://schemas.microsoft.com/office/drawing/2014/main" id="{32E4E234-5F60-D5EB-0CF1-F4547C3D4A71}"/>
              </a:ext>
            </a:extLst>
          </p:cNvPr>
          <p:cNvSpPr/>
          <p:nvPr/>
        </p:nvSpPr>
        <p:spPr>
          <a:xfrm>
            <a:off x="5197475" y="2151063"/>
            <a:ext cx="1881188" cy="666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4631" name="文字方塊 7">
            <a:extLst>
              <a:ext uri="{FF2B5EF4-FFF2-40B4-BE49-F238E27FC236}">
                <a16:creationId xmlns:a16="http://schemas.microsoft.com/office/drawing/2014/main" id="{62836CC5-9758-E262-16A9-D07FB2EA7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1" y="2743201"/>
            <a:ext cx="20050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convolution</a:t>
            </a:r>
            <a:endParaRPr lang="zh-TW" altLang="en-US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CC89C1F-8D28-9331-3F85-D534DA4E0597}"/>
              </a:ext>
            </a:extLst>
          </p:cNvPr>
          <p:cNvGraphicFramePr>
            <a:graphicFrameLocks noGrp="1"/>
          </p:cNvGraphicFramePr>
          <p:nvPr/>
        </p:nvGraphicFramePr>
        <p:xfrm>
          <a:off x="6110288" y="1268413"/>
          <a:ext cx="963612" cy="8143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1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14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19" marR="54319" marT="27146" marB="2714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4319" marR="54319" marT="27146" marB="2714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19" marR="54319" marT="27146" marB="2714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4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19" marR="54319" marT="27146" marB="2714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4319" marR="54319" marT="27146" marB="2714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19" marR="54319" marT="27146" marB="2714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4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19" marR="54319" marT="27146" marB="2714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4319" marR="54319" marT="27146" marB="2714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4319" marR="54319" marT="27146" marB="27146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B5F62D3-106E-4F24-F974-A5F8A4BA1F25}"/>
              </a:ext>
            </a:extLst>
          </p:cNvPr>
          <p:cNvGraphicFramePr>
            <a:graphicFrameLocks noGrp="1"/>
          </p:cNvGraphicFramePr>
          <p:nvPr/>
        </p:nvGraphicFramePr>
        <p:xfrm>
          <a:off x="5027613" y="1273176"/>
          <a:ext cx="947736" cy="8016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5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72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3424" marR="53424" marT="26701" marB="2670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24" marR="53424" marT="26701" marB="2670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24" marR="53424" marT="26701" marB="2670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24" marR="53424" marT="26701" marB="2670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3424" marR="53424" marT="26701" marB="2670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24" marR="53424" marT="26701" marB="2670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24" marR="53424" marT="26701" marB="2670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-1</a:t>
                      </a:r>
                      <a:endParaRPr lang="zh-TW" altLang="en-US" sz="1400" dirty="0"/>
                    </a:p>
                  </a:txBody>
                  <a:tcPr marL="53424" marR="53424" marT="26701" marB="2670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/>
                        <a:t>1</a:t>
                      </a:r>
                      <a:endParaRPr lang="zh-TW" altLang="en-US" sz="1400" dirty="0"/>
                    </a:p>
                  </a:txBody>
                  <a:tcPr marL="53424" marR="53424" marT="26701" marB="26701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矩形 11">
            <a:extLst>
              <a:ext uri="{FF2B5EF4-FFF2-40B4-BE49-F238E27FC236}">
                <a16:creationId xmlns:a16="http://schemas.microsoft.com/office/drawing/2014/main" id="{DFD2D89D-A75A-00EB-2B08-65095F967D29}"/>
              </a:ext>
            </a:extLst>
          </p:cNvPr>
          <p:cNvSpPr/>
          <p:nvPr/>
        </p:nvSpPr>
        <p:spPr>
          <a:xfrm>
            <a:off x="2565401" y="1046163"/>
            <a:ext cx="7089775" cy="26035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2" name="矩形 39">
            <a:extLst>
              <a:ext uri="{FF2B5EF4-FFF2-40B4-BE49-F238E27FC236}">
                <a16:creationId xmlns:a16="http://schemas.microsoft.com/office/drawing/2014/main" id="{8B92ECC9-3DA9-2403-C251-7CC868EBB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6089" y="3898900"/>
            <a:ext cx="498475" cy="2624138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dk1"/>
              </a:solidFill>
            </a:endParaRPr>
          </a:p>
        </p:txBody>
      </p:sp>
      <p:sp>
        <p:nvSpPr>
          <p:cNvPr id="13" name="矩形 40">
            <a:extLst>
              <a:ext uri="{FF2B5EF4-FFF2-40B4-BE49-F238E27FC236}">
                <a16:creationId xmlns:a16="http://schemas.microsoft.com/office/drawing/2014/main" id="{612DC7CD-8ED1-41E0-9D2D-EAA278C07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4350" y="4616450"/>
            <a:ext cx="342900" cy="34290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dk1"/>
              </a:solidFill>
            </a:endParaRPr>
          </a:p>
        </p:txBody>
      </p:sp>
      <p:sp>
        <p:nvSpPr>
          <p:cNvPr id="14" name="矩形 41">
            <a:extLst>
              <a:ext uri="{FF2B5EF4-FFF2-40B4-BE49-F238E27FC236}">
                <a16:creationId xmlns:a16="http://schemas.microsoft.com/office/drawing/2014/main" id="{70028FBF-10C4-059D-C3F5-B358BB011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0700" y="4044950"/>
            <a:ext cx="342900" cy="34290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dk1"/>
              </a:solidFill>
            </a:endParaRPr>
          </a:p>
        </p:txBody>
      </p:sp>
      <p:graphicFrame>
        <p:nvGraphicFramePr>
          <p:cNvPr id="24672" name="Object 12">
            <a:extLst>
              <a:ext uri="{FF2B5EF4-FFF2-40B4-BE49-F238E27FC236}">
                <a16:creationId xmlns:a16="http://schemas.microsoft.com/office/drawing/2014/main" id="{AC16A966-B472-E248-537D-C0FD8B0B92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3400" y="3949701"/>
          <a:ext cx="325438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方程式" r:id="rId4" imgW="3505200" imgH="4978400" progId="Equation.3">
                  <p:embed/>
                </p:oleObj>
              </mc:Choice>
              <mc:Fallback>
                <p:oleObj name="方程式" r:id="rId4" imgW="3505200" imgH="4978400" progId="Equation.3">
                  <p:embed/>
                  <p:pic>
                    <p:nvPicPr>
                      <p:cNvPr id="24672" name="Object 12">
                        <a:extLst>
                          <a:ext uri="{FF2B5EF4-FFF2-40B4-BE49-F238E27FC236}">
                            <a16:creationId xmlns:a16="http://schemas.microsoft.com/office/drawing/2014/main" id="{AC16A966-B472-E248-537D-C0FD8B0B92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3400" y="3949701"/>
                        <a:ext cx="325438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3" name="Object 12">
            <a:extLst>
              <a:ext uri="{FF2B5EF4-FFF2-40B4-BE49-F238E27FC236}">
                <a16:creationId xmlns:a16="http://schemas.microsoft.com/office/drawing/2014/main" id="{4AC39E50-6E74-47BD-12E6-AC99567378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8164" y="4533901"/>
          <a:ext cx="3524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方程式" r:id="rId6" imgW="3797300" imgH="4978400" progId="Equation.3">
                  <p:embed/>
                </p:oleObj>
              </mc:Choice>
              <mc:Fallback>
                <p:oleObj name="方程式" r:id="rId6" imgW="3797300" imgH="4978400" progId="Equation.3">
                  <p:embed/>
                  <p:pic>
                    <p:nvPicPr>
                      <p:cNvPr id="24673" name="Object 12">
                        <a:extLst>
                          <a:ext uri="{FF2B5EF4-FFF2-40B4-BE49-F238E27FC236}">
                            <a16:creationId xmlns:a16="http://schemas.microsoft.com/office/drawing/2014/main" id="{4AC39E50-6E74-47BD-12E6-AC99567378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4" y="4533901"/>
                        <a:ext cx="35242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44">
            <a:extLst>
              <a:ext uri="{FF2B5EF4-FFF2-40B4-BE49-F238E27FC236}">
                <a16:creationId xmlns:a16="http://schemas.microsoft.com/office/drawing/2014/main" id="{55BA8B88-66D2-6C88-2099-3C246364B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0251" y="3870326"/>
            <a:ext cx="746125" cy="2676525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dk1"/>
              </a:solidFill>
            </a:endParaRPr>
          </a:p>
        </p:txBody>
      </p:sp>
      <p:sp>
        <p:nvSpPr>
          <p:cNvPr id="18" name="橢圓 45">
            <a:extLst>
              <a:ext uri="{FF2B5EF4-FFF2-40B4-BE49-F238E27FC236}">
                <a16:creationId xmlns:a16="http://schemas.microsoft.com/office/drawing/2014/main" id="{C083C392-458D-50B1-383E-60522770C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1" y="3886201"/>
            <a:ext cx="574675" cy="57467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dk1"/>
              </a:solidFill>
            </a:endParaRPr>
          </a:p>
        </p:txBody>
      </p:sp>
      <p:sp>
        <p:nvSpPr>
          <p:cNvPr id="19" name="橢圓 46">
            <a:extLst>
              <a:ext uri="{FF2B5EF4-FFF2-40B4-BE49-F238E27FC236}">
                <a16:creationId xmlns:a16="http://schemas.microsoft.com/office/drawing/2014/main" id="{F02084F6-B947-1F87-AE2A-D930CB2E9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0264" y="4660900"/>
            <a:ext cx="573087" cy="573088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dk1"/>
              </a:solidFill>
            </a:endParaRPr>
          </a:p>
        </p:txBody>
      </p:sp>
      <p:sp>
        <p:nvSpPr>
          <p:cNvPr id="20" name="橢圓 47">
            <a:extLst>
              <a:ext uri="{FF2B5EF4-FFF2-40B4-BE49-F238E27FC236}">
                <a16:creationId xmlns:a16="http://schemas.microsoft.com/office/drawing/2014/main" id="{605E19D6-A832-B863-B92C-EB50D47C5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7564" y="5888039"/>
            <a:ext cx="574675" cy="574675"/>
          </a:xfrm>
          <a:prstGeom prst="ellipse">
            <a:avLst/>
          </a:prstGeom>
          <a:gradFill rotWithShape="1">
            <a:gsLst>
              <a:gs pos="0">
                <a:srgbClr val="F0F0FF"/>
              </a:gs>
              <a:gs pos="64999">
                <a:srgbClr val="DDDDFF"/>
              </a:gs>
              <a:gs pos="100000">
                <a:srgbClr val="D0D0FF"/>
              </a:gs>
            </a:gsLst>
            <a:lin ang="5400000" scaled="1"/>
          </a:gradFill>
          <a:ln w="9525">
            <a:solidFill>
              <a:srgbClr val="C6C6FB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dk1"/>
              </a:solidFill>
            </a:endParaRPr>
          </a:p>
        </p:txBody>
      </p:sp>
      <p:sp>
        <p:nvSpPr>
          <p:cNvPr id="24678" name="文字方塊 48">
            <a:extLst>
              <a:ext uri="{FF2B5EF4-FFF2-40B4-BE49-F238E27FC236}">
                <a16:creationId xmlns:a16="http://schemas.microsoft.com/office/drawing/2014/main" id="{B28E4CC5-97AD-AE75-2546-FF516C807CE8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8435976" y="5095072"/>
            <a:ext cx="76835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800"/>
              <a:t>……</a:t>
            </a:r>
            <a:endParaRPr lang="zh-TW" altLang="en-US" sz="2800"/>
          </a:p>
        </p:txBody>
      </p:sp>
      <p:sp>
        <p:nvSpPr>
          <p:cNvPr id="22" name="矩形 49">
            <a:extLst>
              <a:ext uri="{FF2B5EF4-FFF2-40B4-BE49-F238E27FC236}">
                <a16:creationId xmlns:a16="http://schemas.microsoft.com/office/drawing/2014/main" id="{05C7D89F-1EBF-F2D2-CF87-0F7894862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75" y="6013450"/>
            <a:ext cx="342900" cy="34290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dk1"/>
              </a:solidFill>
            </a:endParaRPr>
          </a:p>
        </p:txBody>
      </p:sp>
      <p:graphicFrame>
        <p:nvGraphicFramePr>
          <p:cNvPr id="24680" name="Object 12">
            <a:extLst>
              <a:ext uri="{FF2B5EF4-FFF2-40B4-BE49-F238E27FC236}">
                <a16:creationId xmlns:a16="http://schemas.microsoft.com/office/drawing/2014/main" id="{FE307459-5A5C-23B7-6190-4CD3AAF597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3713" y="5918200"/>
          <a:ext cx="4619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方程式" r:id="rId8" imgW="4978400" imgH="5270500" progId="Equation.3">
                  <p:embed/>
                </p:oleObj>
              </mc:Choice>
              <mc:Fallback>
                <p:oleObj name="方程式" r:id="rId8" imgW="4978400" imgH="5270500" progId="Equation.3">
                  <p:embed/>
                  <p:pic>
                    <p:nvPicPr>
                      <p:cNvPr id="24680" name="Object 12">
                        <a:extLst>
                          <a:ext uri="{FF2B5EF4-FFF2-40B4-BE49-F238E27FC236}">
                            <a16:creationId xmlns:a16="http://schemas.microsoft.com/office/drawing/2014/main" id="{FE307459-5A5C-23B7-6190-4CD3AAF597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3713" y="5918200"/>
                        <a:ext cx="461962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81" name="文字方塊 51">
            <a:extLst>
              <a:ext uri="{FF2B5EF4-FFF2-40B4-BE49-F238E27FC236}">
                <a16:creationId xmlns:a16="http://schemas.microsoft.com/office/drawing/2014/main" id="{6C49D49C-46BC-40D4-5584-582075ADB651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6765132" y="5044272"/>
            <a:ext cx="76835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800"/>
              <a:t>……</a:t>
            </a:r>
            <a:endParaRPr lang="zh-TW" altLang="en-US" sz="2800"/>
          </a:p>
        </p:txBody>
      </p:sp>
      <p:cxnSp>
        <p:nvCxnSpPr>
          <p:cNvPr id="25" name="直線單箭頭接點 52">
            <a:extLst>
              <a:ext uri="{FF2B5EF4-FFF2-40B4-BE49-F238E27FC236}">
                <a16:creationId xmlns:a16="http://schemas.microsoft.com/office/drawing/2014/main" id="{8EC66A79-EF8A-D8C4-8BE5-8D857C7601E4}"/>
              </a:ext>
            </a:extLst>
          </p:cNvPr>
          <p:cNvCxnSpPr>
            <a:endCxn id="18" idx="2"/>
          </p:cNvCxnSpPr>
          <p:nvPr/>
        </p:nvCxnSpPr>
        <p:spPr>
          <a:xfrm flipV="1">
            <a:off x="7219950" y="4173538"/>
            <a:ext cx="1238250" cy="127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53">
            <a:extLst>
              <a:ext uri="{FF2B5EF4-FFF2-40B4-BE49-F238E27FC236}">
                <a16:creationId xmlns:a16="http://schemas.microsoft.com/office/drawing/2014/main" id="{9AD7E3E9-B386-B3AC-CD67-7F2AA908C7D2}"/>
              </a:ext>
            </a:extLst>
          </p:cNvPr>
          <p:cNvCxnSpPr>
            <a:stCxn id="14" idx="3"/>
            <a:endCxn id="19" idx="2"/>
          </p:cNvCxnSpPr>
          <p:nvPr/>
        </p:nvCxnSpPr>
        <p:spPr>
          <a:xfrm>
            <a:off x="7213601" y="4216400"/>
            <a:ext cx="1236663" cy="73025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54">
            <a:extLst>
              <a:ext uri="{FF2B5EF4-FFF2-40B4-BE49-F238E27FC236}">
                <a16:creationId xmlns:a16="http://schemas.microsoft.com/office/drawing/2014/main" id="{E52FA1FA-AC50-30C9-8C0B-0FEEE94CC7AE}"/>
              </a:ext>
            </a:extLst>
          </p:cNvPr>
          <p:cNvCxnSpPr>
            <a:stCxn id="14" idx="3"/>
            <a:endCxn id="20" idx="2"/>
          </p:cNvCxnSpPr>
          <p:nvPr/>
        </p:nvCxnSpPr>
        <p:spPr>
          <a:xfrm>
            <a:off x="7213601" y="4216401"/>
            <a:ext cx="1223963" cy="19589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55">
            <a:extLst>
              <a:ext uri="{FF2B5EF4-FFF2-40B4-BE49-F238E27FC236}">
                <a16:creationId xmlns:a16="http://schemas.microsoft.com/office/drawing/2014/main" id="{B78B45A7-D816-26D5-D12C-98D3D1C32EEE}"/>
              </a:ext>
            </a:extLst>
          </p:cNvPr>
          <p:cNvCxnSpPr>
            <a:endCxn id="18" idx="2"/>
          </p:cNvCxnSpPr>
          <p:nvPr/>
        </p:nvCxnSpPr>
        <p:spPr>
          <a:xfrm flipV="1">
            <a:off x="7251700" y="4173538"/>
            <a:ext cx="1206500" cy="5953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56">
            <a:extLst>
              <a:ext uri="{FF2B5EF4-FFF2-40B4-BE49-F238E27FC236}">
                <a16:creationId xmlns:a16="http://schemas.microsoft.com/office/drawing/2014/main" id="{9569278F-089F-FE3B-0AF7-BF74F9104093}"/>
              </a:ext>
            </a:extLst>
          </p:cNvPr>
          <p:cNvCxnSpPr>
            <a:stCxn id="13" idx="3"/>
            <a:endCxn id="19" idx="2"/>
          </p:cNvCxnSpPr>
          <p:nvPr/>
        </p:nvCxnSpPr>
        <p:spPr>
          <a:xfrm>
            <a:off x="7207251" y="4787900"/>
            <a:ext cx="1243013" cy="15875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57">
            <a:extLst>
              <a:ext uri="{FF2B5EF4-FFF2-40B4-BE49-F238E27FC236}">
                <a16:creationId xmlns:a16="http://schemas.microsoft.com/office/drawing/2014/main" id="{7C1B2EF6-243A-2D56-F682-57892E18B145}"/>
              </a:ext>
            </a:extLst>
          </p:cNvPr>
          <p:cNvCxnSpPr>
            <a:stCxn id="13" idx="3"/>
            <a:endCxn id="20" idx="2"/>
          </p:cNvCxnSpPr>
          <p:nvPr/>
        </p:nvCxnSpPr>
        <p:spPr>
          <a:xfrm>
            <a:off x="7207251" y="4787901"/>
            <a:ext cx="1230313" cy="13874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58">
            <a:extLst>
              <a:ext uri="{FF2B5EF4-FFF2-40B4-BE49-F238E27FC236}">
                <a16:creationId xmlns:a16="http://schemas.microsoft.com/office/drawing/2014/main" id="{4BBCEA04-EC13-13AF-A4D1-32DF872D75F5}"/>
              </a:ext>
            </a:extLst>
          </p:cNvPr>
          <p:cNvCxnSpPr>
            <a:endCxn id="18" idx="2"/>
          </p:cNvCxnSpPr>
          <p:nvPr/>
        </p:nvCxnSpPr>
        <p:spPr>
          <a:xfrm flipV="1">
            <a:off x="7316788" y="4173538"/>
            <a:ext cx="1141412" cy="19939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59">
            <a:extLst>
              <a:ext uri="{FF2B5EF4-FFF2-40B4-BE49-F238E27FC236}">
                <a16:creationId xmlns:a16="http://schemas.microsoft.com/office/drawing/2014/main" id="{A6971637-9FE0-0D9A-06BD-63AC74192AEC}"/>
              </a:ext>
            </a:extLst>
          </p:cNvPr>
          <p:cNvCxnSpPr>
            <a:endCxn id="19" idx="2"/>
          </p:cNvCxnSpPr>
          <p:nvPr/>
        </p:nvCxnSpPr>
        <p:spPr>
          <a:xfrm flipV="1">
            <a:off x="7305675" y="4946651"/>
            <a:ext cx="1144588" cy="12160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60">
            <a:extLst>
              <a:ext uri="{FF2B5EF4-FFF2-40B4-BE49-F238E27FC236}">
                <a16:creationId xmlns:a16="http://schemas.microsoft.com/office/drawing/2014/main" id="{E3BB8FFD-A4B5-8143-1464-B2FF8CED348E}"/>
              </a:ext>
            </a:extLst>
          </p:cNvPr>
          <p:cNvCxnSpPr>
            <a:endCxn id="20" idx="2"/>
          </p:cNvCxnSpPr>
          <p:nvPr/>
        </p:nvCxnSpPr>
        <p:spPr>
          <a:xfrm>
            <a:off x="7305675" y="6162675"/>
            <a:ext cx="1131888" cy="127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內容版面配置區 3">
            <a:extLst>
              <a:ext uri="{FF2B5EF4-FFF2-40B4-BE49-F238E27FC236}">
                <a16:creationId xmlns:a16="http://schemas.microsoft.com/office/drawing/2014/main" id="{BDE7C852-9A5B-8928-CD8C-68B39AD7C9EC}"/>
              </a:ext>
            </a:extLst>
          </p:cNvPr>
          <p:cNvGraphicFramePr>
            <a:graphicFrameLocks/>
          </p:cNvGraphicFramePr>
          <p:nvPr/>
        </p:nvGraphicFramePr>
        <p:xfrm>
          <a:off x="4856163" y="4275138"/>
          <a:ext cx="1804986" cy="17224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08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08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70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07" marB="2870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0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rgbClr val="0000FF"/>
                        </a:solidFill>
                      </a:endParaRPr>
                    </a:p>
                  </a:txBody>
                  <a:tcPr marL="57429" marR="57429" marT="28707" marB="287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/>
                        <a:t>0</a:t>
                      </a:r>
                      <a:endParaRPr lang="zh-TW" altLang="en-US" sz="1500" dirty="0"/>
                    </a:p>
                  </a:txBody>
                  <a:tcPr marL="57429" marR="57429" marT="28707" marB="2870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742" name="矩形 68">
            <a:extLst>
              <a:ext uri="{FF2B5EF4-FFF2-40B4-BE49-F238E27FC236}">
                <a16:creationId xmlns:a16="http://schemas.microsoft.com/office/drawing/2014/main" id="{9EFCF9C1-E696-224C-8A14-2E0A53F7C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088" y="150814"/>
            <a:ext cx="664617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3200" b="1" i="1" u="sng"/>
              <a:t>Convolution v.s. Fully Connected</a:t>
            </a:r>
            <a:endParaRPr lang="zh-TW" altLang="en-US" sz="3200" b="1" i="1" u="sng"/>
          </a:p>
        </p:txBody>
      </p:sp>
      <p:sp>
        <p:nvSpPr>
          <p:cNvPr id="24743" name="文字方塊 69">
            <a:extLst>
              <a:ext uri="{FF2B5EF4-FFF2-40B4-BE49-F238E27FC236}">
                <a16:creationId xmlns:a16="http://schemas.microsoft.com/office/drawing/2014/main" id="{437D6298-E9EA-3E67-3A32-4EEA8D914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4687889"/>
            <a:ext cx="193675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800"/>
              <a:t>Fully-connected</a:t>
            </a:r>
            <a:endParaRPr lang="zh-TW" altLang="en-US" sz="2800"/>
          </a:p>
        </p:txBody>
      </p:sp>
      <p:sp>
        <p:nvSpPr>
          <p:cNvPr id="37" name="矩形 71">
            <a:extLst>
              <a:ext uri="{FF2B5EF4-FFF2-40B4-BE49-F238E27FC236}">
                <a16:creationId xmlns:a16="http://schemas.microsoft.com/office/drawing/2014/main" id="{D06D0070-A953-6049-9244-5F20D532B83E}"/>
              </a:ext>
            </a:extLst>
          </p:cNvPr>
          <p:cNvSpPr/>
          <p:nvPr/>
        </p:nvSpPr>
        <p:spPr>
          <a:xfrm>
            <a:off x="8256589" y="3797300"/>
            <a:ext cx="915987" cy="274955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8" name="矩形 72">
            <a:extLst>
              <a:ext uri="{FF2B5EF4-FFF2-40B4-BE49-F238E27FC236}">
                <a16:creationId xmlns:a16="http://schemas.microsoft.com/office/drawing/2014/main" id="{77530875-726E-DBA8-2A29-011955048720}"/>
              </a:ext>
            </a:extLst>
          </p:cNvPr>
          <p:cNvSpPr/>
          <p:nvPr/>
        </p:nvSpPr>
        <p:spPr>
          <a:xfrm>
            <a:off x="7191375" y="1233488"/>
            <a:ext cx="2084388" cy="205740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7B179F-661B-5928-6C1B-ECA8BDA23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BC16E-B60F-4CC6-9683-A2E107BECE5E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F9C18A-5DDB-4A78-4626-FD8F67477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29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D3D931E9-AC30-D068-BD34-0D1D7F71253C}"/>
              </a:ext>
            </a:extLst>
          </p:cNvPr>
          <p:cNvGraphicFramePr>
            <a:graphicFrameLocks/>
          </p:cNvGraphicFramePr>
          <p:nvPr/>
        </p:nvGraphicFramePr>
        <p:xfrm>
          <a:off x="1924050" y="1849438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652" name="文字方塊 4">
            <a:extLst>
              <a:ext uri="{FF2B5EF4-FFF2-40B4-BE49-F238E27FC236}">
                <a16:creationId xmlns:a16="http://schemas.microsoft.com/office/drawing/2014/main" id="{280E593B-5BFA-D1F3-5284-A3676C246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6" y="4640263"/>
            <a:ext cx="2347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6 x 6 image</a:t>
            </a:r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5985B64-B619-9F00-5E37-3CA55920B056}"/>
              </a:ext>
            </a:extLst>
          </p:cNvPr>
          <p:cNvGraphicFramePr>
            <a:graphicFrameLocks noGrp="1"/>
          </p:cNvGraphicFramePr>
          <p:nvPr/>
        </p:nvGraphicFramePr>
        <p:xfrm>
          <a:off x="1924050" y="152400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2A6B8ADD-B0E6-A4CC-9107-A10E8D9B7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0263" y="236538"/>
            <a:ext cx="1447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Filter 1</a:t>
            </a:r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C16FE8-D27A-3D92-279C-6ABE382DAD3E}"/>
              </a:ext>
            </a:extLst>
          </p:cNvPr>
          <p:cNvSpPr/>
          <p:nvPr/>
        </p:nvSpPr>
        <p:spPr>
          <a:xfrm>
            <a:off x="1924050" y="1849438"/>
            <a:ext cx="1417638" cy="13827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pic>
        <p:nvPicPr>
          <p:cNvPr id="9" name="圖片 31">
            <a:extLst>
              <a:ext uri="{FF2B5EF4-FFF2-40B4-BE49-F238E27FC236}">
                <a16:creationId xmlns:a16="http://schemas.microsoft.com/office/drawing/2014/main" id="{1503EF6D-0F62-90A9-0CD9-4BF10A6C8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6" y="1196976"/>
            <a:ext cx="2239963" cy="2227263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線單箭頭接點 33">
            <a:extLst>
              <a:ext uri="{FF2B5EF4-FFF2-40B4-BE49-F238E27FC236}">
                <a16:creationId xmlns:a16="http://schemas.microsoft.com/office/drawing/2014/main" id="{90BCB7E6-AF8E-5E42-F65A-EE25986BA4B9}"/>
              </a:ext>
            </a:extLst>
          </p:cNvPr>
          <p:cNvCxnSpPr/>
          <p:nvPr/>
        </p:nvCxnSpPr>
        <p:spPr>
          <a:xfrm>
            <a:off x="3546476" y="838201"/>
            <a:ext cx="860425" cy="5699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34">
            <a:extLst>
              <a:ext uri="{FF2B5EF4-FFF2-40B4-BE49-F238E27FC236}">
                <a16:creationId xmlns:a16="http://schemas.microsoft.com/office/drawing/2014/main" id="{9AD569F2-53FF-3358-0DD9-1FC3C1295B20}"/>
              </a:ext>
            </a:extLst>
          </p:cNvPr>
          <p:cNvCxnSpPr/>
          <p:nvPr/>
        </p:nvCxnSpPr>
        <p:spPr>
          <a:xfrm flipV="1">
            <a:off x="3363914" y="1571625"/>
            <a:ext cx="1042987" cy="965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37">
            <a:extLst>
              <a:ext uri="{FF2B5EF4-FFF2-40B4-BE49-F238E27FC236}">
                <a16:creationId xmlns:a16="http://schemas.microsoft.com/office/drawing/2014/main" id="{D434642F-8ABF-5FAC-4589-C12938EAB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25" y="49213"/>
            <a:ext cx="38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13" name="文字方塊 38">
            <a:extLst>
              <a:ext uri="{FF2B5EF4-FFF2-40B4-BE49-F238E27FC236}">
                <a16:creationId xmlns:a16="http://schemas.microsoft.com/office/drawing/2014/main" id="{57C82822-B7A5-EBBC-27EF-30C1F69F2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25" y="511176"/>
            <a:ext cx="387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2</a:t>
            </a:r>
            <a:endParaRPr lang="zh-TW" altLang="en-US"/>
          </a:p>
        </p:txBody>
      </p:sp>
      <p:sp>
        <p:nvSpPr>
          <p:cNvPr id="14" name="文字方塊 39">
            <a:extLst>
              <a:ext uri="{FF2B5EF4-FFF2-40B4-BE49-F238E27FC236}">
                <a16:creationId xmlns:a16="http://schemas.microsoft.com/office/drawing/2014/main" id="{D6613088-1E6F-6006-4ECB-FFAC7FC8D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25" y="960438"/>
            <a:ext cx="38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3</a:t>
            </a:r>
            <a:endParaRPr lang="zh-TW" altLang="en-US"/>
          </a:p>
        </p:txBody>
      </p:sp>
      <p:sp>
        <p:nvSpPr>
          <p:cNvPr id="15" name="文字方塊 40">
            <a:extLst>
              <a:ext uri="{FF2B5EF4-FFF2-40B4-BE49-F238E27FC236}">
                <a16:creationId xmlns:a16="http://schemas.microsoft.com/office/drawing/2014/main" id="{B4096E1E-D368-3B2E-E6A6-6478B02F0342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6832601" y="1811338"/>
            <a:ext cx="8207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800" b="1"/>
              <a:t>…</a:t>
            </a:r>
            <a:endParaRPr lang="zh-TW" altLang="en-US" sz="2800" b="1"/>
          </a:p>
        </p:txBody>
      </p:sp>
      <p:sp>
        <p:nvSpPr>
          <p:cNvPr id="17" name="文字方塊 42">
            <a:extLst>
              <a:ext uri="{FF2B5EF4-FFF2-40B4-BE49-F238E27FC236}">
                <a16:creationId xmlns:a16="http://schemas.microsoft.com/office/drawing/2014/main" id="{2563283D-B5A3-EC40-9BCE-48908930D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0" y="2701926"/>
            <a:ext cx="3873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8</a:t>
            </a:r>
            <a:endParaRPr lang="zh-TW" altLang="en-US"/>
          </a:p>
        </p:txBody>
      </p:sp>
      <p:sp>
        <p:nvSpPr>
          <p:cNvPr id="18" name="文字方塊 43">
            <a:extLst>
              <a:ext uri="{FF2B5EF4-FFF2-40B4-BE49-F238E27FC236}">
                <a16:creationId xmlns:a16="http://schemas.microsoft.com/office/drawing/2014/main" id="{6AD39EEB-1416-33B1-2912-A070819F7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0" y="3151188"/>
            <a:ext cx="38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9</a:t>
            </a:r>
            <a:endParaRPr lang="zh-TW" altLang="en-US"/>
          </a:p>
        </p:txBody>
      </p:sp>
      <p:sp>
        <p:nvSpPr>
          <p:cNvPr id="19" name="文字方塊 44">
            <a:extLst>
              <a:ext uri="{FF2B5EF4-FFF2-40B4-BE49-F238E27FC236}">
                <a16:creationId xmlns:a16="http://schemas.microsoft.com/office/drawing/2014/main" id="{A12E8CD2-9874-75BE-F661-698D85A29728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6970713" y="3987801"/>
            <a:ext cx="539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800" b="1"/>
              <a:t>…</a:t>
            </a:r>
            <a:endParaRPr lang="zh-TW" altLang="en-US" sz="2800" b="1"/>
          </a:p>
        </p:txBody>
      </p:sp>
      <p:sp>
        <p:nvSpPr>
          <p:cNvPr id="20" name="文字方塊 45">
            <a:extLst>
              <a:ext uri="{FF2B5EF4-FFF2-40B4-BE49-F238E27FC236}">
                <a16:creationId xmlns:a16="http://schemas.microsoft.com/office/drawing/2014/main" id="{C8354098-D15B-E529-1187-034AD30F5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0" y="4438651"/>
            <a:ext cx="5222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13</a:t>
            </a:r>
            <a:endParaRPr lang="zh-TW" altLang="en-US"/>
          </a:p>
        </p:txBody>
      </p:sp>
      <p:sp>
        <p:nvSpPr>
          <p:cNvPr id="21" name="文字方塊 46">
            <a:extLst>
              <a:ext uri="{FF2B5EF4-FFF2-40B4-BE49-F238E27FC236}">
                <a16:creationId xmlns:a16="http://schemas.microsoft.com/office/drawing/2014/main" id="{22BB3411-064E-AB17-3560-EDF0192B9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9901" y="4902201"/>
            <a:ext cx="523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14</a:t>
            </a:r>
            <a:endParaRPr lang="zh-TW" altLang="en-US"/>
          </a:p>
        </p:txBody>
      </p:sp>
      <p:sp>
        <p:nvSpPr>
          <p:cNvPr id="22" name="文字方塊 47">
            <a:extLst>
              <a:ext uri="{FF2B5EF4-FFF2-40B4-BE49-F238E27FC236}">
                <a16:creationId xmlns:a16="http://schemas.microsoft.com/office/drawing/2014/main" id="{E255CFC0-6535-EEF0-90F2-8ABC942CB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9900" y="5380038"/>
            <a:ext cx="596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15</a:t>
            </a:r>
            <a:endParaRPr lang="zh-TW" altLang="en-US"/>
          </a:p>
        </p:txBody>
      </p:sp>
      <p:sp>
        <p:nvSpPr>
          <p:cNvPr id="23" name="文字方塊 48">
            <a:extLst>
              <a:ext uri="{FF2B5EF4-FFF2-40B4-BE49-F238E27FC236}">
                <a16:creationId xmlns:a16="http://schemas.microsoft.com/office/drawing/2014/main" id="{42C6C602-6235-F35A-8331-636032E1D304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019132" y="6217445"/>
            <a:ext cx="4238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800" b="1"/>
              <a:t>…</a:t>
            </a:r>
            <a:endParaRPr lang="zh-TW" altLang="en-US" sz="2800" b="1"/>
          </a:p>
        </p:txBody>
      </p:sp>
      <p:sp>
        <p:nvSpPr>
          <p:cNvPr id="24" name="文字方塊 49">
            <a:extLst>
              <a:ext uri="{FF2B5EF4-FFF2-40B4-BE49-F238E27FC236}">
                <a16:creationId xmlns:a16="http://schemas.microsoft.com/office/drawing/2014/main" id="{F451FD5B-663C-6A2E-BBDF-82F1D541D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0050" y="5303838"/>
            <a:ext cx="2370138" cy="1200150"/>
          </a:xfrm>
          <a:prstGeom prst="rect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Only connect to 9 inputs, not fully connected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25" name="文字方塊 50">
            <a:extLst>
              <a:ext uri="{FF2B5EF4-FFF2-40B4-BE49-F238E27FC236}">
                <a16:creationId xmlns:a16="http://schemas.microsoft.com/office/drawing/2014/main" id="{8CA7E59E-C04B-A1A6-FDFA-BCA75DB51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8650" y="1408113"/>
            <a:ext cx="3889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4:</a:t>
            </a:r>
            <a:endParaRPr lang="zh-TW" altLang="en-US"/>
          </a:p>
        </p:txBody>
      </p:sp>
      <p:sp>
        <p:nvSpPr>
          <p:cNvPr id="26" name="文字方塊 51">
            <a:extLst>
              <a:ext uri="{FF2B5EF4-FFF2-40B4-BE49-F238E27FC236}">
                <a16:creationId xmlns:a16="http://schemas.microsoft.com/office/drawing/2014/main" id="{562D28E1-5D20-F81A-EC85-F6BD21FAF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226" y="3562351"/>
            <a:ext cx="639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TW"/>
              <a:t>10:</a:t>
            </a:r>
            <a:endParaRPr lang="zh-TW" altLang="en-US"/>
          </a:p>
        </p:txBody>
      </p:sp>
      <p:sp>
        <p:nvSpPr>
          <p:cNvPr id="27" name="文字方塊 52">
            <a:extLst>
              <a:ext uri="{FF2B5EF4-FFF2-40B4-BE49-F238E27FC236}">
                <a16:creationId xmlns:a16="http://schemas.microsoft.com/office/drawing/2014/main" id="{D5E6F46C-5B11-4D2E-56A7-1C34B0DDE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5138" y="5789613"/>
            <a:ext cx="596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16</a:t>
            </a:r>
            <a:endParaRPr lang="zh-TW" altLang="en-US"/>
          </a:p>
        </p:txBody>
      </p:sp>
      <p:sp>
        <p:nvSpPr>
          <p:cNvPr id="28" name="矩形 54">
            <a:extLst>
              <a:ext uri="{FF2B5EF4-FFF2-40B4-BE49-F238E27FC236}">
                <a16:creationId xmlns:a16="http://schemas.microsoft.com/office/drawing/2014/main" id="{8B73C5CA-0B8F-98D4-57DA-87A4FF70C068}"/>
              </a:ext>
            </a:extLst>
          </p:cNvPr>
          <p:cNvSpPr/>
          <p:nvPr/>
        </p:nvSpPr>
        <p:spPr>
          <a:xfrm>
            <a:off x="7412039" y="146051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9" name="矩形 55">
            <a:extLst>
              <a:ext uri="{FF2B5EF4-FFF2-40B4-BE49-F238E27FC236}">
                <a16:creationId xmlns:a16="http://schemas.microsoft.com/office/drawing/2014/main" id="{66466437-C7F5-4F7B-782F-CEA8EB0DDA58}"/>
              </a:ext>
            </a:extLst>
          </p:cNvPr>
          <p:cNvSpPr/>
          <p:nvPr/>
        </p:nvSpPr>
        <p:spPr>
          <a:xfrm>
            <a:off x="7412039" y="614364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0" name="矩形 56">
            <a:extLst>
              <a:ext uri="{FF2B5EF4-FFF2-40B4-BE49-F238E27FC236}">
                <a16:creationId xmlns:a16="http://schemas.microsoft.com/office/drawing/2014/main" id="{04EBDC81-AB34-0F2C-23B1-9868C8BB7A27}"/>
              </a:ext>
            </a:extLst>
          </p:cNvPr>
          <p:cNvSpPr/>
          <p:nvPr/>
        </p:nvSpPr>
        <p:spPr>
          <a:xfrm>
            <a:off x="7412039" y="1057276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1" name="矩形 57">
            <a:extLst>
              <a:ext uri="{FF2B5EF4-FFF2-40B4-BE49-F238E27FC236}">
                <a16:creationId xmlns:a16="http://schemas.microsoft.com/office/drawing/2014/main" id="{44AE5D10-A667-B107-79D6-B778CDCAF8B0}"/>
              </a:ext>
            </a:extLst>
          </p:cNvPr>
          <p:cNvSpPr/>
          <p:nvPr/>
        </p:nvSpPr>
        <p:spPr>
          <a:xfrm>
            <a:off x="7412039" y="1517651"/>
            <a:ext cx="269875" cy="2714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2" name="矩形 58">
            <a:extLst>
              <a:ext uri="{FF2B5EF4-FFF2-40B4-BE49-F238E27FC236}">
                <a16:creationId xmlns:a16="http://schemas.microsoft.com/office/drawing/2014/main" id="{9DB4091E-099A-D323-CF19-C3963586FA88}"/>
              </a:ext>
            </a:extLst>
          </p:cNvPr>
          <p:cNvSpPr/>
          <p:nvPr/>
        </p:nvSpPr>
        <p:spPr>
          <a:xfrm>
            <a:off x="7412039" y="2355851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3" name="矩形 59">
            <a:extLst>
              <a:ext uri="{FF2B5EF4-FFF2-40B4-BE49-F238E27FC236}">
                <a16:creationId xmlns:a16="http://schemas.microsoft.com/office/drawing/2014/main" id="{240996C7-15CB-45C1-85D1-6E4415AFC516}"/>
              </a:ext>
            </a:extLst>
          </p:cNvPr>
          <p:cNvSpPr/>
          <p:nvPr/>
        </p:nvSpPr>
        <p:spPr>
          <a:xfrm>
            <a:off x="7412039" y="2825751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34" name="矩形 60">
            <a:extLst>
              <a:ext uri="{FF2B5EF4-FFF2-40B4-BE49-F238E27FC236}">
                <a16:creationId xmlns:a16="http://schemas.microsoft.com/office/drawing/2014/main" id="{3D7D71CD-47DF-8483-3A2C-36A827D941F7}"/>
              </a:ext>
            </a:extLst>
          </p:cNvPr>
          <p:cNvSpPr/>
          <p:nvPr/>
        </p:nvSpPr>
        <p:spPr>
          <a:xfrm>
            <a:off x="7412039" y="3267076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5" name="矩形 61">
            <a:extLst>
              <a:ext uri="{FF2B5EF4-FFF2-40B4-BE49-F238E27FC236}">
                <a16:creationId xmlns:a16="http://schemas.microsoft.com/office/drawing/2014/main" id="{EB317AF3-48D5-3532-C644-7CB669F3BC23}"/>
              </a:ext>
            </a:extLst>
          </p:cNvPr>
          <p:cNvSpPr/>
          <p:nvPr/>
        </p:nvSpPr>
        <p:spPr>
          <a:xfrm>
            <a:off x="7412039" y="3729039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6" name="矩形 62">
            <a:extLst>
              <a:ext uri="{FF2B5EF4-FFF2-40B4-BE49-F238E27FC236}">
                <a16:creationId xmlns:a16="http://schemas.microsoft.com/office/drawing/2014/main" id="{27AE6292-62D5-1287-0694-115AC1E30AA4}"/>
              </a:ext>
            </a:extLst>
          </p:cNvPr>
          <p:cNvSpPr/>
          <p:nvPr/>
        </p:nvSpPr>
        <p:spPr>
          <a:xfrm>
            <a:off x="7412039" y="4519614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7" name="矩形 63">
            <a:extLst>
              <a:ext uri="{FF2B5EF4-FFF2-40B4-BE49-F238E27FC236}">
                <a16:creationId xmlns:a16="http://schemas.microsoft.com/office/drawing/2014/main" id="{7886DE04-A1FE-EDE3-0A51-6F8E727DCF3F}"/>
              </a:ext>
            </a:extLst>
          </p:cNvPr>
          <p:cNvSpPr/>
          <p:nvPr/>
        </p:nvSpPr>
        <p:spPr>
          <a:xfrm>
            <a:off x="7412039" y="4987926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8" name="矩形 64">
            <a:extLst>
              <a:ext uri="{FF2B5EF4-FFF2-40B4-BE49-F238E27FC236}">
                <a16:creationId xmlns:a16="http://schemas.microsoft.com/office/drawing/2014/main" id="{513422ED-CA52-A112-85FE-F53C626EC932}"/>
              </a:ext>
            </a:extLst>
          </p:cNvPr>
          <p:cNvSpPr/>
          <p:nvPr/>
        </p:nvSpPr>
        <p:spPr>
          <a:xfrm>
            <a:off x="7412039" y="5430839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39" name="矩形 65">
            <a:extLst>
              <a:ext uri="{FF2B5EF4-FFF2-40B4-BE49-F238E27FC236}">
                <a16:creationId xmlns:a16="http://schemas.microsoft.com/office/drawing/2014/main" id="{56E7C500-6685-C761-919F-801E201BDCB4}"/>
              </a:ext>
            </a:extLst>
          </p:cNvPr>
          <p:cNvSpPr/>
          <p:nvPr/>
        </p:nvSpPr>
        <p:spPr>
          <a:xfrm>
            <a:off x="7412039" y="5892801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cxnSp>
        <p:nvCxnSpPr>
          <p:cNvPr id="40" name="直線單箭頭接點 67">
            <a:extLst>
              <a:ext uri="{FF2B5EF4-FFF2-40B4-BE49-F238E27FC236}">
                <a16:creationId xmlns:a16="http://schemas.microsoft.com/office/drawing/2014/main" id="{60167CEA-DD34-6C0A-E1C5-120C9C5D3BE1}"/>
              </a:ext>
            </a:extLst>
          </p:cNvPr>
          <p:cNvCxnSpPr>
            <a:stCxn id="28" idx="3"/>
          </p:cNvCxnSpPr>
          <p:nvPr/>
        </p:nvCxnSpPr>
        <p:spPr>
          <a:xfrm>
            <a:off x="7681913" y="280988"/>
            <a:ext cx="1420812" cy="127635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68">
            <a:extLst>
              <a:ext uri="{FF2B5EF4-FFF2-40B4-BE49-F238E27FC236}">
                <a16:creationId xmlns:a16="http://schemas.microsoft.com/office/drawing/2014/main" id="{7D04E17E-8B48-4D34-C09A-7C8A4697410A}"/>
              </a:ext>
            </a:extLst>
          </p:cNvPr>
          <p:cNvCxnSpPr>
            <a:stCxn id="29" idx="3"/>
          </p:cNvCxnSpPr>
          <p:nvPr/>
        </p:nvCxnSpPr>
        <p:spPr>
          <a:xfrm>
            <a:off x="7681913" y="749300"/>
            <a:ext cx="1420812" cy="808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70">
            <a:extLst>
              <a:ext uri="{FF2B5EF4-FFF2-40B4-BE49-F238E27FC236}">
                <a16:creationId xmlns:a16="http://schemas.microsoft.com/office/drawing/2014/main" id="{B5F3012C-FB8C-C0D6-2E78-D2345CB6AA32}"/>
              </a:ext>
            </a:extLst>
          </p:cNvPr>
          <p:cNvCxnSpPr>
            <a:stCxn id="30" idx="3"/>
          </p:cNvCxnSpPr>
          <p:nvPr/>
        </p:nvCxnSpPr>
        <p:spPr>
          <a:xfrm>
            <a:off x="7681913" y="1192214"/>
            <a:ext cx="1420812" cy="36512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78">
            <a:extLst>
              <a:ext uri="{FF2B5EF4-FFF2-40B4-BE49-F238E27FC236}">
                <a16:creationId xmlns:a16="http://schemas.microsoft.com/office/drawing/2014/main" id="{2C180CBF-7770-D6A5-F215-53DAE6BBC6B4}"/>
              </a:ext>
            </a:extLst>
          </p:cNvPr>
          <p:cNvCxnSpPr/>
          <p:nvPr/>
        </p:nvCxnSpPr>
        <p:spPr>
          <a:xfrm flipV="1">
            <a:off x="7700963" y="1597026"/>
            <a:ext cx="1350962" cy="893763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79">
            <a:extLst>
              <a:ext uri="{FF2B5EF4-FFF2-40B4-BE49-F238E27FC236}">
                <a16:creationId xmlns:a16="http://schemas.microsoft.com/office/drawing/2014/main" id="{2A9CB194-BA00-AA9F-633B-B491EF855D70}"/>
              </a:ext>
            </a:extLst>
          </p:cNvPr>
          <p:cNvCxnSpPr>
            <a:endCxn id="49" idx="2"/>
          </p:cNvCxnSpPr>
          <p:nvPr/>
        </p:nvCxnSpPr>
        <p:spPr>
          <a:xfrm flipV="1">
            <a:off x="7700963" y="1536700"/>
            <a:ext cx="1371600" cy="141605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80">
            <a:extLst>
              <a:ext uri="{FF2B5EF4-FFF2-40B4-BE49-F238E27FC236}">
                <a16:creationId xmlns:a16="http://schemas.microsoft.com/office/drawing/2014/main" id="{B9BFFD81-DBFD-642E-32E3-C94922507522}"/>
              </a:ext>
            </a:extLst>
          </p:cNvPr>
          <p:cNvCxnSpPr>
            <a:endCxn id="49" idx="2"/>
          </p:cNvCxnSpPr>
          <p:nvPr/>
        </p:nvCxnSpPr>
        <p:spPr>
          <a:xfrm flipV="1">
            <a:off x="7700963" y="1536701"/>
            <a:ext cx="1371600" cy="18637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81">
            <a:extLst>
              <a:ext uri="{FF2B5EF4-FFF2-40B4-BE49-F238E27FC236}">
                <a16:creationId xmlns:a16="http://schemas.microsoft.com/office/drawing/2014/main" id="{E10B2435-E1AE-293B-E038-08B35C994477}"/>
              </a:ext>
            </a:extLst>
          </p:cNvPr>
          <p:cNvCxnSpPr>
            <a:stCxn id="36" idx="3"/>
          </p:cNvCxnSpPr>
          <p:nvPr/>
        </p:nvCxnSpPr>
        <p:spPr>
          <a:xfrm flipV="1">
            <a:off x="7681913" y="1644650"/>
            <a:ext cx="1350962" cy="300990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82">
            <a:extLst>
              <a:ext uri="{FF2B5EF4-FFF2-40B4-BE49-F238E27FC236}">
                <a16:creationId xmlns:a16="http://schemas.microsoft.com/office/drawing/2014/main" id="{0651A785-34C9-471D-FA6C-39D7624B74FF}"/>
              </a:ext>
            </a:extLst>
          </p:cNvPr>
          <p:cNvCxnSpPr>
            <a:endCxn id="49" idx="2"/>
          </p:cNvCxnSpPr>
          <p:nvPr/>
        </p:nvCxnSpPr>
        <p:spPr>
          <a:xfrm flipV="1">
            <a:off x="7681913" y="1536701"/>
            <a:ext cx="1390650" cy="356552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83">
            <a:extLst>
              <a:ext uri="{FF2B5EF4-FFF2-40B4-BE49-F238E27FC236}">
                <a16:creationId xmlns:a16="http://schemas.microsoft.com/office/drawing/2014/main" id="{6FF0A452-BC8D-D879-2091-32D7AEF08D25}"/>
              </a:ext>
            </a:extLst>
          </p:cNvPr>
          <p:cNvCxnSpPr>
            <a:endCxn id="49" idx="2"/>
          </p:cNvCxnSpPr>
          <p:nvPr/>
        </p:nvCxnSpPr>
        <p:spPr>
          <a:xfrm flipV="1">
            <a:off x="7681913" y="1536700"/>
            <a:ext cx="1390650" cy="401320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橢圓 108">
            <a:extLst>
              <a:ext uri="{FF2B5EF4-FFF2-40B4-BE49-F238E27FC236}">
                <a16:creationId xmlns:a16="http://schemas.microsoft.com/office/drawing/2014/main" id="{6A0FD272-C301-38EB-8542-65047C35D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2564" y="1177925"/>
            <a:ext cx="720725" cy="7191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3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50" name="橢圓 116">
            <a:extLst>
              <a:ext uri="{FF2B5EF4-FFF2-40B4-BE49-F238E27FC236}">
                <a16:creationId xmlns:a16="http://schemas.microsoft.com/office/drawing/2014/main" id="{4E864255-5EE4-A7F1-ED03-2733F1E856A5}"/>
              </a:ext>
            </a:extLst>
          </p:cNvPr>
          <p:cNvSpPr/>
          <p:nvPr/>
        </p:nvSpPr>
        <p:spPr>
          <a:xfrm>
            <a:off x="1970088" y="160338"/>
            <a:ext cx="455612" cy="455612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1" name="橢圓 117">
            <a:extLst>
              <a:ext uri="{FF2B5EF4-FFF2-40B4-BE49-F238E27FC236}">
                <a16:creationId xmlns:a16="http://schemas.microsoft.com/office/drawing/2014/main" id="{4D7CD4F8-FFA4-8EC7-727C-24DFA2D51AB6}"/>
              </a:ext>
            </a:extLst>
          </p:cNvPr>
          <p:cNvSpPr/>
          <p:nvPr/>
        </p:nvSpPr>
        <p:spPr>
          <a:xfrm>
            <a:off x="2522538" y="131763"/>
            <a:ext cx="455612" cy="45561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2" name="橢圓 118">
            <a:extLst>
              <a:ext uri="{FF2B5EF4-FFF2-40B4-BE49-F238E27FC236}">
                <a16:creationId xmlns:a16="http://schemas.microsoft.com/office/drawing/2014/main" id="{B7A867F1-1B5C-EC2D-7330-762CB7EB7E96}"/>
              </a:ext>
            </a:extLst>
          </p:cNvPr>
          <p:cNvSpPr/>
          <p:nvPr/>
        </p:nvSpPr>
        <p:spPr>
          <a:xfrm>
            <a:off x="3033713" y="146051"/>
            <a:ext cx="455612" cy="454025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3" name="橢圓 119">
            <a:extLst>
              <a:ext uri="{FF2B5EF4-FFF2-40B4-BE49-F238E27FC236}">
                <a16:creationId xmlns:a16="http://schemas.microsoft.com/office/drawing/2014/main" id="{86FD96FE-CF34-1124-13FB-BAE3C783481E}"/>
              </a:ext>
            </a:extLst>
          </p:cNvPr>
          <p:cNvSpPr/>
          <p:nvPr/>
        </p:nvSpPr>
        <p:spPr>
          <a:xfrm>
            <a:off x="1970088" y="619126"/>
            <a:ext cx="455612" cy="455613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4" name="橢圓 120">
            <a:extLst>
              <a:ext uri="{FF2B5EF4-FFF2-40B4-BE49-F238E27FC236}">
                <a16:creationId xmlns:a16="http://schemas.microsoft.com/office/drawing/2014/main" id="{EA5C42A4-E731-578E-4663-BA92F42728A1}"/>
              </a:ext>
            </a:extLst>
          </p:cNvPr>
          <p:cNvSpPr/>
          <p:nvPr/>
        </p:nvSpPr>
        <p:spPr>
          <a:xfrm>
            <a:off x="2522538" y="590551"/>
            <a:ext cx="455612" cy="455613"/>
          </a:xfrm>
          <a:prstGeom prst="ellipse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5" name="橢圓 121">
            <a:extLst>
              <a:ext uri="{FF2B5EF4-FFF2-40B4-BE49-F238E27FC236}">
                <a16:creationId xmlns:a16="http://schemas.microsoft.com/office/drawing/2014/main" id="{3D902C1B-D765-07BF-EF55-A55ED40C64B6}"/>
              </a:ext>
            </a:extLst>
          </p:cNvPr>
          <p:cNvSpPr/>
          <p:nvPr/>
        </p:nvSpPr>
        <p:spPr>
          <a:xfrm>
            <a:off x="3033713" y="603251"/>
            <a:ext cx="455612" cy="455613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6" name="橢圓 122">
            <a:extLst>
              <a:ext uri="{FF2B5EF4-FFF2-40B4-BE49-F238E27FC236}">
                <a16:creationId xmlns:a16="http://schemas.microsoft.com/office/drawing/2014/main" id="{BC4A25D4-314B-C176-5978-912FB8188402}"/>
              </a:ext>
            </a:extLst>
          </p:cNvPr>
          <p:cNvSpPr/>
          <p:nvPr/>
        </p:nvSpPr>
        <p:spPr>
          <a:xfrm>
            <a:off x="1982788" y="1074738"/>
            <a:ext cx="455612" cy="455612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7" name="橢圓 123">
            <a:extLst>
              <a:ext uri="{FF2B5EF4-FFF2-40B4-BE49-F238E27FC236}">
                <a16:creationId xmlns:a16="http://schemas.microsoft.com/office/drawing/2014/main" id="{24FEB172-7763-0349-395A-FB5CE1E23510}"/>
              </a:ext>
            </a:extLst>
          </p:cNvPr>
          <p:cNvSpPr/>
          <p:nvPr/>
        </p:nvSpPr>
        <p:spPr>
          <a:xfrm>
            <a:off x="2535238" y="1046163"/>
            <a:ext cx="455612" cy="455612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8" name="橢圓 124">
            <a:extLst>
              <a:ext uri="{FF2B5EF4-FFF2-40B4-BE49-F238E27FC236}">
                <a16:creationId xmlns:a16="http://schemas.microsoft.com/office/drawing/2014/main" id="{5D553D32-290E-7EF9-0B5F-23E3A95CD6F2}"/>
              </a:ext>
            </a:extLst>
          </p:cNvPr>
          <p:cNvSpPr/>
          <p:nvPr/>
        </p:nvSpPr>
        <p:spPr>
          <a:xfrm>
            <a:off x="3046413" y="1058863"/>
            <a:ext cx="455612" cy="455612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9" name="文字方塊 66">
            <a:extLst>
              <a:ext uri="{FF2B5EF4-FFF2-40B4-BE49-F238E27FC236}">
                <a16:creationId xmlns:a16="http://schemas.microsoft.com/office/drawing/2014/main" id="{E58D1C73-1394-A421-13CD-5A5175365304}"/>
              </a:ext>
            </a:extLst>
          </p:cNvPr>
          <p:cNvSpPr txBox="1"/>
          <p:nvPr/>
        </p:nvSpPr>
        <p:spPr>
          <a:xfrm>
            <a:off x="1905000" y="5258561"/>
            <a:ext cx="3276600" cy="52322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fewer parameters!</a:t>
            </a:r>
            <a:endParaRPr lang="zh-TW" altLang="en-US" sz="2800" dirty="0">
              <a:solidFill>
                <a:srgbClr val="00000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507782-2270-82B2-3956-A864DC2A8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9B897-43AB-48FD-B0A8-F1BF4E85F449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CC560-789D-1865-E09D-832A95A6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56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2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 animBg="1"/>
      <p:bldP spid="25" grpId="0"/>
      <p:bldP spid="26" grpId="0"/>
      <p:bldP spid="27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57FCFC65-AAF7-6A88-A661-E5D866A1AF0A}"/>
              </a:ext>
            </a:extLst>
          </p:cNvPr>
          <p:cNvGraphicFramePr>
            <a:graphicFrameLocks/>
          </p:cNvGraphicFramePr>
          <p:nvPr/>
        </p:nvGraphicFramePr>
        <p:xfrm>
          <a:off x="1924050" y="1849438"/>
          <a:ext cx="2873376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8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8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rgbClr val="0000FF"/>
                        </a:solidFill>
                      </a:endParaRPr>
                    </a:p>
                  </a:txBody>
                  <a:tcPr marL="91421" marR="914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1421" marR="9142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2711E416-1CE7-1D57-9B05-C73ED72C2822}"/>
              </a:ext>
            </a:extLst>
          </p:cNvPr>
          <p:cNvGraphicFramePr>
            <a:graphicFrameLocks noGrp="1"/>
          </p:cNvGraphicFramePr>
          <p:nvPr/>
        </p:nvGraphicFramePr>
        <p:xfrm>
          <a:off x="1924050" y="152400"/>
          <a:ext cx="162242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-1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1455" marR="91455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694" name="文字方塊 6">
            <a:extLst>
              <a:ext uri="{FF2B5EF4-FFF2-40B4-BE49-F238E27FC236}">
                <a16:creationId xmlns:a16="http://schemas.microsoft.com/office/drawing/2014/main" id="{D4FB30F9-8115-8E9F-0B19-A191F0E83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6475" y="606426"/>
            <a:ext cx="1447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Filter 1</a:t>
            </a:r>
            <a:endParaRPr lang="zh-TW" altLang="en-US"/>
          </a:p>
        </p:txBody>
      </p:sp>
      <p:sp>
        <p:nvSpPr>
          <p:cNvPr id="7" name="矩形 7">
            <a:extLst>
              <a:ext uri="{FF2B5EF4-FFF2-40B4-BE49-F238E27FC236}">
                <a16:creationId xmlns:a16="http://schemas.microsoft.com/office/drawing/2014/main" id="{7F0F5FA2-81C8-7ED4-1F99-14C43BC4697C}"/>
              </a:ext>
            </a:extLst>
          </p:cNvPr>
          <p:cNvSpPr/>
          <p:nvPr/>
        </p:nvSpPr>
        <p:spPr>
          <a:xfrm>
            <a:off x="2435225" y="1835151"/>
            <a:ext cx="1417638" cy="13811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6696" name="文字方塊 37">
            <a:extLst>
              <a:ext uri="{FF2B5EF4-FFF2-40B4-BE49-F238E27FC236}">
                <a16:creationId xmlns:a16="http://schemas.microsoft.com/office/drawing/2014/main" id="{159832BD-5773-A260-2524-31BBD82F6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25" y="49213"/>
            <a:ext cx="38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1:</a:t>
            </a:r>
            <a:endParaRPr lang="zh-TW" altLang="en-US"/>
          </a:p>
        </p:txBody>
      </p:sp>
      <p:sp>
        <p:nvSpPr>
          <p:cNvPr id="26697" name="文字方塊 38">
            <a:extLst>
              <a:ext uri="{FF2B5EF4-FFF2-40B4-BE49-F238E27FC236}">
                <a16:creationId xmlns:a16="http://schemas.microsoft.com/office/drawing/2014/main" id="{653D9209-5AF2-FFA3-2CCE-31076815B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25" y="511176"/>
            <a:ext cx="387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2:</a:t>
            </a:r>
            <a:endParaRPr lang="zh-TW" altLang="en-US"/>
          </a:p>
        </p:txBody>
      </p:sp>
      <p:sp>
        <p:nvSpPr>
          <p:cNvPr id="26698" name="文字方塊 39">
            <a:extLst>
              <a:ext uri="{FF2B5EF4-FFF2-40B4-BE49-F238E27FC236}">
                <a16:creationId xmlns:a16="http://schemas.microsoft.com/office/drawing/2014/main" id="{B4C32B93-7412-45C8-0BC9-5A3ECD65E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25" y="960438"/>
            <a:ext cx="38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3:</a:t>
            </a:r>
            <a:endParaRPr lang="zh-TW" altLang="en-US"/>
          </a:p>
        </p:txBody>
      </p:sp>
      <p:sp>
        <p:nvSpPr>
          <p:cNvPr id="26699" name="文字方塊 40">
            <a:extLst>
              <a:ext uri="{FF2B5EF4-FFF2-40B4-BE49-F238E27FC236}">
                <a16:creationId xmlns:a16="http://schemas.microsoft.com/office/drawing/2014/main" id="{011EBF86-71F4-90E4-1DF0-F0E041667B88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6832601" y="1811338"/>
            <a:ext cx="8207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800" b="1"/>
              <a:t>…</a:t>
            </a:r>
            <a:endParaRPr lang="zh-TW" altLang="en-US" sz="2800" b="1"/>
          </a:p>
        </p:txBody>
      </p:sp>
      <p:sp>
        <p:nvSpPr>
          <p:cNvPr id="26700" name="文字方塊 41">
            <a:extLst>
              <a:ext uri="{FF2B5EF4-FFF2-40B4-BE49-F238E27FC236}">
                <a16:creationId xmlns:a16="http://schemas.microsoft.com/office/drawing/2014/main" id="{046E465B-8BC1-820F-6DFC-F80E55B69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0" y="2239963"/>
            <a:ext cx="38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7:</a:t>
            </a:r>
            <a:endParaRPr lang="zh-TW" altLang="en-US"/>
          </a:p>
        </p:txBody>
      </p:sp>
      <p:sp>
        <p:nvSpPr>
          <p:cNvPr id="26701" name="文字方塊 42">
            <a:extLst>
              <a:ext uri="{FF2B5EF4-FFF2-40B4-BE49-F238E27FC236}">
                <a16:creationId xmlns:a16="http://schemas.microsoft.com/office/drawing/2014/main" id="{3B6015D6-72D8-0B6B-5A01-B9656D8B0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0" y="2701926"/>
            <a:ext cx="3873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8:</a:t>
            </a:r>
            <a:endParaRPr lang="zh-TW" altLang="en-US"/>
          </a:p>
        </p:txBody>
      </p:sp>
      <p:sp>
        <p:nvSpPr>
          <p:cNvPr id="26702" name="文字方塊 43">
            <a:extLst>
              <a:ext uri="{FF2B5EF4-FFF2-40B4-BE49-F238E27FC236}">
                <a16:creationId xmlns:a16="http://schemas.microsoft.com/office/drawing/2014/main" id="{25A73A0E-B5A3-9951-72FC-22FFD3C17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0" y="3151188"/>
            <a:ext cx="38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9:</a:t>
            </a:r>
            <a:endParaRPr lang="zh-TW" altLang="en-US"/>
          </a:p>
        </p:txBody>
      </p:sp>
      <p:sp>
        <p:nvSpPr>
          <p:cNvPr id="26703" name="文字方塊 44">
            <a:extLst>
              <a:ext uri="{FF2B5EF4-FFF2-40B4-BE49-F238E27FC236}">
                <a16:creationId xmlns:a16="http://schemas.microsoft.com/office/drawing/2014/main" id="{3B246864-1299-6B11-0F13-47ACB4D1094D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6970713" y="3987801"/>
            <a:ext cx="539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800" b="1"/>
              <a:t>…</a:t>
            </a:r>
            <a:endParaRPr lang="zh-TW" altLang="en-US" sz="2800" b="1"/>
          </a:p>
        </p:txBody>
      </p:sp>
      <p:sp>
        <p:nvSpPr>
          <p:cNvPr id="26704" name="文字方塊 45">
            <a:extLst>
              <a:ext uri="{FF2B5EF4-FFF2-40B4-BE49-F238E27FC236}">
                <a16:creationId xmlns:a16="http://schemas.microsoft.com/office/drawing/2014/main" id="{70FDF63D-3560-9C04-EA13-390CA1F43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0" y="4438651"/>
            <a:ext cx="5222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13:</a:t>
            </a:r>
            <a:endParaRPr lang="zh-TW" altLang="en-US"/>
          </a:p>
        </p:txBody>
      </p:sp>
      <p:sp>
        <p:nvSpPr>
          <p:cNvPr id="26705" name="文字方塊 46">
            <a:extLst>
              <a:ext uri="{FF2B5EF4-FFF2-40B4-BE49-F238E27FC236}">
                <a16:creationId xmlns:a16="http://schemas.microsoft.com/office/drawing/2014/main" id="{FD8308DA-7A11-1C17-11F3-4AD03BDCE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9901" y="4902201"/>
            <a:ext cx="523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14:</a:t>
            </a:r>
            <a:endParaRPr lang="zh-TW" altLang="en-US"/>
          </a:p>
        </p:txBody>
      </p:sp>
      <p:sp>
        <p:nvSpPr>
          <p:cNvPr id="26706" name="文字方塊 47">
            <a:extLst>
              <a:ext uri="{FF2B5EF4-FFF2-40B4-BE49-F238E27FC236}">
                <a16:creationId xmlns:a16="http://schemas.microsoft.com/office/drawing/2014/main" id="{85D0688B-71C3-2D11-EDFF-8808BC0DE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9900" y="5380038"/>
            <a:ext cx="596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15:</a:t>
            </a:r>
            <a:endParaRPr lang="zh-TW" altLang="en-US"/>
          </a:p>
        </p:txBody>
      </p:sp>
      <p:sp>
        <p:nvSpPr>
          <p:cNvPr id="26707" name="文字方塊 48">
            <a:extLst>
              <a:ext uri="{FF2B5EF4-FFF2-40B4-BE49-F238E27FC236}">
                <a16:creationId xmlns:a16="http://schemas.microsoft.com/office/drawing/2014/main" id="{F6B1A4B8-20FA-819A-D100-C401E9B6A1A8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7019132" y="6217445"/>
            <a:ext cx="4238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800" b="1"/>
              <a:t>…</a:t>
            </a:r>
            <a:endParaRPr lang="zh-TW" altLang="en-US" sz="2800" b="1"/>
          </a:p>
        </p:txBody>
      </p:sp>
      <p:sp>
        <p:nvSpPr>
          <p:cNvPr id="26708" name="文字方塊 50">
            <a:extLst>
              <a:ext uri="{FF2B5EF4-FFF2-40B4-BE49-F238E27FC236}">
                <a16:creationId xmlns:a16="http://schemas.microsoft.com/office/drawing/2014/main" id="{C1561B39-28CC-C6E3-8648-56A59357C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8650" y="1408113"/>
            <a:ext cx="3889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4:</a:t>
            </a:r>
            <a:endParaRPr lang="zh-TW" altLang="en-US"/>
          </a:p>
        </p:txBody>
      </p:sp>
      <p:sp>
        <p:nvSpPr>
          <p:cNvPr id="26709" name="文字方塊 51">
            <a:extLst>
              <a:ext uri="{FF2B5EF4-FFF2-40B4-BE49-F238E27FC236}">
                <a16:creationId xmlns:a16="http://schemas.microsoft.com/office/drawing/2014/main" id="{1DA10F19-91A0-05B0-6723-376B23120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3226" y="3562351"/>
            <a:ext cx="639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r>
              <a:rPr lang="en-US" altLang="zh-TW"/>
              <a:t>10:</a:t>
            </a:r>
            <a:endParaRPr lang="zh-TW" altLang="en-US"/>
          </a:p>
        </p:txBody>
      </p:sp>
      <p:sp>
        <p:nvSpPr>
          <p:cNvPr id="26710" name="文字方塊 52">
            <a:extLst>
              <a:ext uri="{FF2B5EF4-FFF2-40B4-BE49-F238E27FC236}">
                <a16:creationId xmlns:a16="http://schemas.microsoft.com/office/drawing/2014/main" id="{7DAAB35A-5637-1D8D-DB6C-B5D32DBFE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5138" y="5789613"/>
            <a:ext cx="596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16:</a:t>
            </a:r>
            <a:endParaRPr lang="zh-TW" altLang="en-US"/>
          </a:p>
        </p:txBody>
      </p:sp>
      <p:sp>
        <p:nvSpPr>
          <p:cNvPr id="23" name="矩形 54">
            <a:extLst>
              <a:ext uri="{FF2B5EF4-FFF2-40B4-BE49-F238E27FC236}">
                <a16:creationId xmlns:a16="http://schemas.microsoft.com/office/drawing/2014/main" id="{A9E9706C-624E-C34B-358C-516F52369A4B}"/>
              </a:ext>
            </a:extLst>
          </p:cNvPr>
          <p:cNvSpPr/>
          <p:nvPr/>
        </p:nvSpPr>
        <p:spPr>
          <a:xfrm>
            <a:off x="7412039" y="146051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4" name="矩形 55">
            <a:extLst>
              <a:ext uri="{FF2B5EF4-FFF2-40B4-BE49-F238E27FC236}">
                <a16:creationId xmlns:a16="http://schemas.microsoft.com/office/drawing/2014/main" id="{0862819E-76F4-165C-732F-C1A0446B6C50}"/>
              </a:ext>
            </a:extLst>
          </p:cNvPr>
          <p:cNvSpPr/>
          <p:nvPr/>
        </p:nvSpPr>
        <p:spPr>
          <a:xfrm>
            <a:off x="7412039" y="614364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5" name="矩形 56">
            <a:extLst>
              <a:ext uri="{FF2B5EF4-FFF2-40B4-BE49-F238E27FC236}">
                <a16:creationId xmlns:a16="http://schemas.microsoft.com/office/drawing/2014/main" id="{9FE40E84-1BC4-50B2-A43E-519728123807}"/>
              </a:ext>
            </a:extLst>
          </p:cNvPr>
          <p:cNvSpPr/>
          <p:nvPr/>
        </p:nvSpPr>
        <p:spPr>
          <a:xfrm>
            <a:off x="7412039" y="1057276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6" name="矩形 57">
            <a:extLst>
              <a:ext uri="{FF2B5EF4-FFF2-40B4-BE49-F238E27FC236}">
                <a16:creationId xmlns:a16="http://schemas.microsoft.com/office/drawing/2014/main" id="{C6CCF001-1BE6-C23D-74BE-4C7B11DB0BBA}"/>
              </a:ext>
            </a:extLst>
          </p:cNvPr>
          <p:cNvSpPr/>
          <p:nvPr/>
        </p:nvSpPr>
        <p:spPr>
          <a:xfrm>
            <a:off x="7412039" y="1517651"/>
            <a:ext cx="269875" cy="2714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7" name="矩形 58">
            <a:extLst>
              <a:ext uri="{FF2B5EF4-FFF2-40B4-BE49-F238E27FC236}">
                <a16:creationId xmlns:a16="http://schemas.microsoft.com/office/drawing/2014/main" id="{836E69F4-FEF6-B5AD-3B19-6170FF10F6C0}"/>
              </a:ext>
            </a:extLst>
          </p:cNvPr>
          <p:cNvSpPr/>
          <p:nvPr/>
        </p:nvSpPr>
        <p:spPr>
          <a:xfrm>
            <a:off x="7412039" y="2355851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28" name="矩形 59">
            <a:extLst>
              <a:ext uri="{FF2B5EF4-FFF2-40B4-BE49-F238E27FC236}">
                <a16:creationId xmlns:a16="http://schemas.microsoft.com/office/drawing/2014/main" id="{915EF3A1-0847-06B5-67EB-D247A44A70E4}"/>
              </a:ext>
            </a:extLst>
          </p:cNvPr>
          <p:cNvSpPr/>
          <p:nvPr/>
        </p:nvSpPr>
        <p:spPr>
          <a:xfrm>
            <a:off x="7412039" y="2825751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29" name="矩形 60">
            <a:extLst>
              <a:ext uri="{FF2B5EF4-FFF2-40B4-BE49-F238E27FC236}">
                <a16:creationId xmlns:a16="http://schemas.microsoft.com/office/drawing/2014/main" id="{054D3F18-73EF-FE35-D21F-3A78DEF034A9}"/>
              </a:ext>
            </a:extLst>
          </p:cNvPr>
          <p:cNvSpPr/>
          <p:nvPr/>
        </p:nvSpPr>
        <p:spPr>
          <a:xfrm>
            <a:off x="7412039" y="3267076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0" name="矩形 61">
            <a:extLst>
              <a:ext uri="{FF2B5EF4-FFF2-40B4-BE49-F238E27FC236}">
                <a16:creationId xmlns:a16="http://schemas.microsoft.com/office/drawing/2014/main" id="{77D4C03B-A18A-EDB4-166E-3E32135F657F}"/>
              </a:ext>
            </a:extLst>
          </p:cNvPr>
          <p:cNvSpPr/>
          <p:nvPr/>
        </p:nvSpPr>
        <p:spPr>
          <a:xfrm>
            <a:off x="7412039" y="3729039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1" name="矩形 62">
            <a:extLst>
              <a:ext uri="{FF2B5EF4-FFF2-40B4-BE49-F238E27FC236}">
                <a16:creationId xmlns:a16="http://schemas.microsoft.com/office/drawing/2014/main" id="{D9E4ED9E-6887-B9A4-0B5C-F84190321238}"/>
              </a:ext>
            </a:extLst>
          </p:cNvPr>
          <p:cNvSpPr/>
          <p:nvPr/>
        </p:nvSpPr>
        <p:spPr>
          <a:xfrm>
            <a:off x="7412039" y="4519614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2" name="矩形 63">
            <a:extLst>
              <a:ext uri="{FF2B5EF4-FFF2-40B4-BE49-F238E27FC236}">
                <a16:creationId xmlns:a16="http://schemas.microsoft.com/office/drawing/2014/main" id="{E0FBCF27-4A14-0A53-7813-297AFD314A62}"/>
              </a:ext>
            </a:extLst>
          </p:cNvPr>
          <p:cNvSpPr/>
          <p:nvPr/>
        </p:nvSpPr>
        <p:spPr>
          <a:xfrm>
            <a:off x="7412039" y="4987926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0</a:t>
            </a:r>
            <a:endParaRPr lang="zh-TW" altLang="en-US" sz="2400" dirty="0"/>
          </a:p>
        </p:txBody>
      </p:sp>
      <p:sp>
        <p:nvSpPr>
          <p:cNvPr id="33" name="矩形 64">
            <a:extLst>
              <a:ext uri="{FF2B5EF4-FFF2-40B4-BE49-F238E27FC236}">
                <a16:creationId xmlns:a16="http://schemas.microsoft.com/office/drawing/2014/main" id="{09BC6C16-FF7A-539A-0C82-368E2BA7214C}"/>
              </a:ext>
            </a:extLst>
          </p:cNvPr>
          <p:cNvSpPr/>
          <p:nvPr/>
        </p:nvSpPr>
        <p:spPr>
          <a:xfrm>
            <a:off x="7412039" y="5430839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34" name="矩形 65">
            <a:extLst>
              <a:ext uri="{FF2B5EF4-FFF2-40B4-BE49-F238E27FC236}">
                <a16:creationId xmlns:a16="http://schemas.microsoft.com/office/drawing/2014/main" id="{78E82FA7-EC4F-7996-2B19-206C1B0D38FF}"/>
              </a:ext>
            </a:extLst>
          </p:cNvPr>
          <p:cNvSpPr/>
          <p:nvPr/>
        </p:nvSpPr>
        <p:spPr>
          <a:xfrm>
            <a:off x="7412039" y="5892801"/>
            <a:ext cx="269875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/>
              <a:t>1</a:t>
            </a:r>
            <a:endParaRPr lang="zh-TW" altLang="en-US" sz="2400" dirty="0"/>
          </a:p>
        </p:txBody>
      </p:sp>
      <p:cxnSp>
        <p:nvCxnSpPr>
          <p:cNvPr id="35" name="直線單箭頭接點 67">
            <a:extLst>
              <a:ext uri="{FF2B5EF4-FFF2-40B4-BE49-F238E27FC236}">
                <a16:creationId xmlns:a16="http://schemas.microsoft.com/office/drawing/2014/main" id="{F7735365-ACD7-AE70-A708-E5A17D66F3EB}"/>
              </a:ext>
            </a:extLst>
          </p:cNvPr>
          <p:cNvCxnSpPr>
            <a:stCxn id="23" idx="3"/>
          </p:cNvCxnSpPr>
          <p:nvPr/>
        </p:nvCxnSpPr>
        <p:spPr>
          <a:xfrm>
            <a:off x="7681913" y="280988"/>
            <a:ext cx="1420812" cy="127635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68">
            <a:extLst>
              <a:ext uri="{FF2B5EF4-FFF2-40B4-BE49-F238E27FC236}">
                <a16:creationId xmlns:a16="http://schemas.microsoft.com/office/drawing/2014/main" id="{0101EE44-788B-CD47-C4C5-CB914002C7D2}"/>
              </a:ext>
            </a:extLst>
          </p:cNvPr>
          <p:cNvCxnSpPr>
            <a:stCxn id="24" idx="3"/>
          </p:cNvCxnSpPr>
          <p:nvPr/>
        </p:nvCxnSpPr>
        <p:spPr>
          <a:xfrm>
            <a:off x="7681913" y="749300"/>
            <a:ext cx="1420812" cy="8080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70">
            <a:extLst>
              <a:ext uri="{FF2B5EF4-FFF2-40B4-BE49-F238E27FC236}">
                <a16:creationId xmlns:a16="http://schemas.microsoft.com/office/drawing/2014/main" id="{5A5AEB35-D31C-D1F7-669B-4166CDCD87FD}"/>
              </a:ext>
            </a:extLst>
          </p:cNvPr>
          <p:cNvCxnSpPr>
            <a:stCxn id="25" idx="3"/>
          </p:cNvCxnSpPr>
          <p:nvPr/>
        </p:nvCxnSpPr>
        <p:spPr>
          <a:xfrm>
            <a:off x="7681913" y="1192214"/>
            <a:ext cx="1420812" cy="36512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78">
            <a:extLst>
              <a:ext uri="{FF2B5EF4-FFF2-40B4-BE49-F238E27FC236}">
                <a16:creationId xmlns:a16="http://schemas.microsoft.com/office/drawing/2014/main" id="{4F467B46-4CB3-38B6-7AD6-36B60C85BD50}"/>
              </a:ext>
            </a:extLst>
          </p:cNvPr>
          <p:cNvCxnSpPr/>
          <p:nvPr/>
        </p:nvCxnSpPr>
        <p:spPr>
          <a:xfrm flipV="1">
            <a:off x="7700963" y="1597026"/>
            <a:ext cx="1350962" cy="893763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79">
            <a:extLst>
              <a:ext uri="{FF2B5EF4-FFF2-40B4-BE49-F238E27FC236}">
                <a16:creationId xmlns:a16="http://schemas.microsoft.com/office/drawing/2014/main" id="{2DDB861F-938C-75A2-918D-88DF61D2977B}"/>
              </a:ext>
            </a:extLst>
          </p:cNvPr>
          <p:cNvCxnSpPr>
            <a:endCxn id="44" idx="2"/>
          </p:cNvCxnSpPr>
          <p:nvPr/>
        </p:nvCxnSpPr>
        <p:spPr>
          <a:xfrm flipV="1">
            <a:off x="7700963" y="1536700"/>
            <a:ext cx="1371600" cy="141605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80">
            <a:extLst>
              <a:ext uri="{FF2B5EF4-FFF2-40B4-BE49-F238E27FC236}">
                <a16:creationId xmlns:a16="http://schemas.microsoft.com/office/drawing/2014/main" id="{A4D7AE4B-307E-A781-C9B9-3B6D3936CAD4}"/>
              </a:ext>
            </a:extLst>
          </p:cNvPr>
          <p:cNvCxnSpPr>
            <a:endCxn id="44" idx="2"/>
          </p:cNvCxnSpPr>
          <p:nvPr/>
        </p:nvCxnSpPr>
        <p:spPr>
          <a:xfrm flipV="1">
            <a:off x="7700963" y="1536701"/>
            <a:ext cx="1371600" cy="186372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81">
            <a:extLst>
              <a:ext uri="{FF2B5EF4-FFF2-40B4-BE49-F238E27FC236}">
                <a16:creationId xmlns:a16="http://schemas.microsoft.com/office/drawing/2014/main" id="{25669E19-F883-6F9D-FB28-10EC4293302D}"/>
              </a:ext>
            </a:extLst>
          </p:cNvPr>
          <p:cNvCxnSpPr>
            <a:stCxn id="31" idx="3"/>
          </p:cNvCxnSpPr>
          <p:nvPr/>
        </p:nvCxnSpPr>
        <p:spPr>
          <a:xfrm flipV="1">
            <a:off x="7681913" y="1644650"/>
            <a:ext cx="1350962" cy="300990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82">
            <a:extLst>
              <a:ext uri="{FF2B5EF4-FFF2-40B4-BE49-F238E27FC236}">
                <a16:creationId xmlns:a16="http://schemas.microsoft.com/office/drawing/2014/main" id="{EBE8BE1E-E27C-376C-60A9-1C5B3E25ACDC}"/>
              </a:ext>
            </a:extLst>
          </p:cNvPr>
          <p:cNvCxnSpPr>
            <a:endCxn id="44" idx="2"/>
          </p:cNvCxnSpPr>
          <p:nvPr/>
        </p:nvCxnSpPr>
        <p:spPr>
          <a:xfrm flipV="1">
            <a:off x="7681913" y="1536701"/>
            <a:ext cx="1390650" cy="356552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83">
            <a:extLst>
              <a:ext uri="{FF2B5EF4-FFF2-40B4-BE49-F238E27FC236}">
                <a16:creationId xmlns:a16="http://schemas.microsoft.com/office/drawing/2014/main" id="{C2E9028F-8A51-92BC-1DCE-0D2A91446636}"/>
              </a:ext>
            </a:extLst>
          </p:cNvPr>
          <p:cNvCxnSpPr>
            <a:endCxn id="44" idx="2"/>
          </p:cNvCxnSpPr>
          <p:nvPr/>
        </p:nvCxnSpPr>
        <p:spPr>
          <a:xfrm flipV="1">
            <a:off x="7681913" y="1536700"/>
            <a:ext cx="1390650" cy="4013200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橢圓 108">
            <a:extLst>
              <a:ext uri="{FF2B5EF4-FFF2-40B4-BE49-F238E27FC236}">
                <a16:creationId xmlns:a16="http://schemas.microsoft.com/office/drawing/2014/main" id="{364E1D3C-5165-3024-0701-B9459BCBE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2564" y="1177925"/>
            <a:ext cx="720725" cy="7191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3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45" name="橢圓 109">
            <a:extLst>
              <a:ext uri="{FF2B5EF4-FFF2-40B4-BE49-F238E27FC236}">
                <a16:creationId xmlns:a16="http://schemas.microsoft.com/office/drawing/2014/main" id="{B8AEFB70-5005-CD03-3910-C4F2E14B3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1926" y="2973389"/>
            <a:ext cx="720725" cy="720725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-1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sp>
        <p:nvSpPr>
          <p:cNvPr id="46" name="橢圓 116">
            <a:extLst>
              <a:ext uri="{FF2B5EF4-FFF2-40B4-BE49-F238E27FC236}">
                <a16:creationId xmlns:a16="http://schemas.microsoft.com/office/drawing/2014/main" id="{357B77C9-1520-5C0C-0368-A307BFD17143}"/>
              </a:ext>
            </a:extLst>
          </p:cNvPr>
          <p:cNvSpPr/>
          <p:nvPr/>
        </p:nvSpPr>
        <p:spPr>
          <a:xfrm>
            <a:off x="1970088" y="160338"/>
            <a:ext cx="455612" cy="455612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7" name="橢圓 117">
            <a:extLst>
              <a:ext uri="{FF2B5EF4-FFF2-40B4-BE49-F238E27FC236}">
                <a16:creationId xmlns:a16="http://schemas.microsoft.com/office/drawing/2014/main" id="{35E9B068-F189-AF37-0802-AE3724E8EA39}"/>
              </a:ext>
            </a:extLst>
          </p:cNvPr>
          <p:cNvSpPr/>
          <p:nvPr/>
        </p:nvSpPr>
        <p:spPr>
          <a:xfrm>
            <a:off x="2522538" y="131763"/>
            <a:ext cx="455612" cy="45561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8" name="橢圓 118">
            <a:extLst>
              <a:ext uri="{FF2B5EF4-FFF2-40B4-BE49-F238E27FC236}">
                <a16:creationId xmlns:a16="http://schemas.microsoft.com/office/drawing/2014/main" id="{CF546735-3230-2B8B-0CC6-B23419393AC4}"/>
              </a:ext>
            </a:extLst>
          </p:cNvPr>
          <p:cNvSpPr/>
          <p:nvPr/>
        </p:nvSpPr>
        <p:spPr>
          <a:xfrm>
            <a:off x="3033713" y="146051"/>
            <a:ext cx="455612" cy="454025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49" name="橢圓 119">
            <a:extLst>
              <a:ext uri="{FF2B5EF4-FFF2-40B4-BE49-F238E27FC236}">
                <a16:creationId xmlns:a16="http://schemas.microsoft.com/office/drawing/2014/main" id="{61EF2265-9C55-C56F-2A1E-9AFD5B3D62A0}"/>
              </a:ext>
            </a:extLst>
          </p:cNvPr>
          <p:cNvSpPr/>
          <p:nvPr/>
        </p:nvSpPr>
        <p:spPr>
          <a:xfrm>
            <a:off x="1970088" y="619126"/>
            <a:ext cx="455612" cy="455613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0" name="橢圓 120">
            <a:extLst>
              <a:ext uri="{FF2B5EF4-FFF2-40B4-BE49-F238E27FC236}">
                <a16:creationId xmlns:a16="http://schemas.microsoft.com/office/drawing/2014/main" id="{26887B44-1786-D238-F62B-43B6BA652C54}"/>
              </a:ext>
            </a:extLst>
          </p:cNvPr>
          <p:cNvSpPr/>
          <p:nvPr/>
        </p:nvSpPr>
        <p:spPr>
          <a:xfrm>
            <a:off x="2522538" y="590551"/>
            <a:ext cx="455612" cy="455613"/>
          </a:xfrm>
          <a:prstGeom prst="ellipse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1" name="橢圓 121">
            <a:extLst>
              <a:ext uri="{FF2B5EF4-FFF2-40B4-BE49-F238E27FC236}">
                <a16:creationId xmlns:a16="http://schemas.microsoft.com/office/drawing/2014/main" id="{6D3C854A-6B3F-08F7-5A76-EAF4D461BC54}"/>
              </a:ext>
            </a:extLst>
          </p:cNvPr>
          <p:cNvSpPr/>
          <p:nvPr/>
        </p:nvSpPr>
        <p:spPr>
          <a:xfrm>
            <a:off x="3033713" y="603251"/>
            <a:ext cx="455612" cy="455613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2" name="橢圓 122">
            <a:extLst>
              <a:ext uri="{FF2B5EF4-FFF2-40B4-BE49-F238E27FC236}">
                <a16:creationId xmlns:a16="http://schemas.microsoft.com/office/drawing/2014/main" id="{20978901-6699-AA7A-5B6A-7AA1D1B11FA1}"/>
              </a:ext>
            </a:extLst>
          </p:cNvPr>
          <p:cNvSpPr/>
          <p:nvPr/>
        </p:nvSpPr>
        <p:spPr>
          <a:xfrm>
            <a:off x="1982788" y="1074738"/>
            <a:ext cx="455612" cy="455612"/>
          </a:xfrm>
          <a:prstGeom prst="ellipse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3" name="橢圓 123">
            <a:extLst>
              <a:ext uri="{FF2B5EF4-FFF2-40B4-BE49-F238E27FC236}">
                <a16:creationId xmlns:a16="http://schemas.microsoft.com/office/drawing/2014/main" id="{269239D2-3E9E-9D48-2C3F-64A96A449CE3}"/>
              </a:ext>
            </a:extLst>
          </p:cNvPr>
          <p:cNvSpPr/>
          <p:nvPr/>
        </p:nvSpPr>
        <p:spPr>
          <a:xfrm>
            <a:off x="2535238" y="1046163"/>
            <a:ext cx="455612" cy="455612"/>
          </a:xfrm>
          <a:prstGeom prst="ellipse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4" name="橢圓 124">
            <a:extLst>
              <a:ext uri="{FF2B5EF4-FFF2-40B4-BE49-F238E27FC236}">
                <a16:creationId xmlns:a16="http://schemas.microsoft.com/office/drawing/2014/main" id="{D5B8DAF9-8F7B-5659-6FFD-A738798CD2EC}"/>
              </a:ext>
            </a:extLst>
          </p:cNvPr>
          <p:cNvSpPr/>
          <p:nvPr/>
        </p:nvSpPr>
        <p:spPr>
          <a:xfrm>
            <a:off x="3046413" y="1058863"/>
            <a:ext cx="455612" cy="455612"/>
          </a:xfrm>
          <a:prstGeom prst="ellipse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55" name="文字方塊 66">
            <a:extLst>
              <a:ext uri="{FF2B5EF4-FFF2-40B4-BE49-F238E27FC236}">
                <a16:creationId xmlns:a16="http://schemas.microsoft.com/office/drawing/2014/main" id="{9A382C78-1EE5-32AF-9DD2-C9C05A4D0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9100" y="5761039"/>
            <a:ext cx="2628900" cy="460375"/>
          </a:xfrm>
          <a:prstGeom prst="rect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400" dirty="0">
                <a:solidFill>
                  <a:schemeClr val="dk1"/>
                </a:solidFill>
              </a:rPr>
              <a:t>Shared weights</a:t>
            </a:r>
            <a:endParaRPr lang="zh-TW" altLang="en-US" sz="2400" dirty="0">
              <a:solidFill>
                <a:schemeClr val="dk1"/>
              </a:solidFill>
            </a:endParaRPr>
          </a:p>
        </p:txBody>
      </p:sp>
      <p:cxnSp>
        <p:nvCxnSpPr>
          <p:cNvPr id="56" name="直線單箭頭接點 71">
            <a:extLst>
              <a:ext uri="{FF2B5EF4-FFF2-40B4-BE49-F238E27FC236}">
                <a16:creationId xmlns:a16="http://schemas.microsoft.com/office/drawing/2014/main" id="{12757E56-D745-2197-5F23-06F86418E3DC}"/>
              </a:ext>
            </a:extLst>
          </p:cNvPr>
          <p:cNvCxnSpPr>
            <a:stCxn id="24" idx="3"/>
            <a:endCxn id="45" idx="2"/>
          </p:cNvCxnSpPr>
          <p:nvPr/>
        </p:nvCxnSpPr>
        <p:spPr>
          <a:xfrm>
            <a:off x="7681913" y="749300"/>
            <a:ext cx="1370012" cy="258445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72">
            <a:extLst>
              <a:ext uri="{FF2B5EF4-FFF2-40B4-BE49-F238E27FC236}">
                <a16:creationId xmlns:a16="http://schemas.microsoft.com/office/drawing/2014/main" id="{A77A1010-40CF-8FA6-9197-7347BC97849C}"/>
              </a:ext>
            </a:extLst>
          </p:cNvPr>
          <p:cNvCxnSpPr>
            <a:stCxn id="25" idx="3"/>
            <a:endCxn id="45" idx="2"/>
          </p:cNvCxnSpPr>
          <p:nvPr/>
        </p:nvCxnSpPr>
        <p:spPr>
          <a:xfrm>
            <a:off x="7681913" y="1192214"/>
            <a:ext cx="1370012" cy="21415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73">
            <a:extLst>
              <a:ext uri="{FF2B5EF4-FFF2-40B4-BE49-F238E27FC236}">
                <a16:creationId xmlns:a16="http://schemas.microsoft.com/office/drawing/2014/main" id="{1776B30D-8D04-D4F9-3F2F-B8B56DB4127E}"/>
              </a:ext>
            </a:extLst>
          </p:cNvPr>
          <p:cNvCxnSpPr>
            <a:stCxn id="26" idx="3"/>
            <a:endCxn id="45" idx="2"/>
          </p:cNvCxnSpPr>
          <p:nvPr/>
        </p:nvCxnSpPr>
        <p:spPr>
          <a:xfrm>
            <a:off x="7681913" y="1654176"/>
            <a:ext cx="1370012" cy="167957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74">
            <a:extLst>
              <a:ext uri="{FF2B5EF4-FFF2-40B4-BE49-F238E27FC236}">
                <a16:creationId xmlns:a16="http://schemas.microsoft.com/office/drawing/2014/main" id="{9E31F7D9-A2BA-F2ED-55A5-095C1F1352AF}"/>
              </a:ext>
            </a:extLst>
          </p:cNvPr>
          <p:cNvCxnSpPr>
            <a:endCxn id="45" idx="2"/>
          </p:cNvCxnSpPr>
          <p:nvPr/>
        </p:nvCxnSpPr>
        <p:spPr>
          <a:xfrm>
            <a:off x="7710489" y="2981326"/>
            <a:ext cx="1341437" cy="352425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75">
            <a:extLst>
              <a:ext uri="{FF2B5EF4-FFF2-40B4-BE49-F238E27FC236}">
                <a16:creationId xmlns:a16="http://schemas.microsoft.com/office/drawing/2014/main" id="{DB6E0F2C-13A0-F0C1-7707-D961230CE5BC}"/>
              </a:ext>
            </a:extLst>
          </p:cNvPr>
          <p:cNvCxnSpPr>
            <a:endCxn id="45" idx="2"/>
          </p:cNvCxnSpPr>
          <p:nvPr/>
        </p:nvCxnSpPr>
        <p:spPr>
          <a:xfrm flipV="1">
            <a:off x="7697789" y="3333751"/>
            <a:ext cx="1354137" cy="125413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76">
            <a:extLst>
              <a:ext uri="{FF2B5EF4-FFF2-40B4-BE49-F238E27FC236}">
                <a16:creationId xmlns:a16="http://schemas.microsoft.com/office/drawing/2014/main" id="{CC67EB26-CD0A-30B0-3F8D-E365EFD8CDDE}"/>
              </a:ext>
            </a:extLst>
          </p:cNvPr>
          <p:cNvCxnSpPr>
            <a:endCxn id="45" idx="2"/>
          </p:cNvCxnSpPr>
          <p:nvPr/>
        </p:nvCxnSpPr>
        <p:spPr>
          <a:xfrm flipV="1">
            <a:off x="7697789" y="3333751"/>
            <a:ext cx="1354137" cy="56991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77">
            <a:extLst>
              <a:ext uri="{FF2B5EF4-FFF2-40B4-BE49-F238E27FC236}">
                <a16:creationId xmlns:a16="http://schemas.microsoft.com/office/drawing/2014/main" id="{4C3F9193-BA45-5C0B-AF37-81618DAB64E0}"/>
              </a:ext>
            </a:extLst>
          </p:cNvPr>
          <p:cNvCxnSpPr>
            <a:stCxn id="32" idx="3"/>
          </p:cNvCxnSpPr>
          <p:nvPr/>
        </p:nvCxnSpPr>
        <p:spPr>
          <a:xfrm flipV="1">
            <a:off x="7681914" y="3360739"/>
            <a:ext cx="1336675" cy="1762125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84">
            <a:extLst>
              <a:ext uri="{FF2B5EF4-FFF2-40B4-BE49-F238E27FC236}">
                <a16:creationId xmlns:a16="http://schemas.microsoft.com/office/drawing/2014/main" id="{8C77F3A3-944D-EB49-A84C-B061913F5020}"/>
              </a:ext>
            </a:extLst>
          </p:cNvPr>
          <p:cNvCxnSpPr>
            <a:stCxn id="33" idx="3"/>
          </p:cNvCxnSpPr>
          <p:nvPr/>
        </p:nvCxnSpPr>
        <p:spPr>
          <a:xfrm flipV="1">
            <a:off x="7681913" y="3327401"/>
            <a:ext cx="1358900" cy="223837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85">
            <a:extLst>
              <a:ext uri="{FF2B5EF4-FFF2-40B4-BE49-F238E27FC236}">
                <a16:creationId xmlns:a16="http://schemas.microsoft.com/office/drawing/2014/main" id="{B0D18D52-7D01-4999-F570-22BAA2A26328}"/>
              </a:ext>
            </a:extLst>
          </p:cNvPr>
          <p:cNvCxnSpPr>
            <a:stCxn id="34" idx="3"/>
          </p:cNvCxnSpPr>
          <p:nvPr/>
        </p:nvCxnSpPr>
        <p:spPr>
          <a:xfrm flipV="1">
            <a:off x="7681914" y="3389314"/>
            <a:ext cx="1343025" cy="2638425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53" name="文字方塊 87">
            <a:extLst>
              <a:ext uri="{FF2B5EF4-FFF2-40B4-BE49-F238E27FC236}">
                <a16:creationId xmlns:a16="http://schemas.microsoft.com/office/drawing/2014/main" id="{884CC3F3-8AE4-3D70-398C-D57E841CA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6" y="4640263"/>
            <a:ext cx="2347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6 x 6 image</a:t>
            </a:r>
            <a:endParaRPr lang="zh-TW" altLang="en-US"/>
          </a:p>
        </p:txBody>
      </p:sp>
      <p:pic>
        <p:nvPicPr>
          <p:cNvPr id="66" name="圖片 86">
            <a:extLst>
              <a:ext uri="{FF2B5EF4-FFF2-40B4-BE49-F238E27FC236}">
                <a16:creationId xmlns:a16="http://schemas.microsoft.com/office/drawing/2014/main" id="{D48CCD6E-57D6-2A50-35DD-823C58D540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25" y="1216025"/>
            <a:ext cx="2230438" cy="2243138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7" name="直線單箭頭接點 34">
            <a:extLst>
              <a:ext uri="{FF2B5EF4-FFF2-40B4-BE49-F238E27FC236}">
                <a16:creationId xmlns:a16="http://schemas.microsoft.com/office/drawing/2014/main" id="{48C8201C-31EB-5DA5-9BB5-D21D87B2A0C9}"/>
              </a:ext>
            </a:extLst>
          </p:cNvPr>
          <p:cNvCxnSpPr/>
          <p:nvPr/>
        </p:nvCxnSpPr>
        <p:spPr>
          <a:xfrm flipV="1">
            <a:off x="3852863" y="1557338"/>
            <a:ext cx="944562" cy="9334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33">
            <a:extLst>
              <a:ext uri="{FF2B5EF4-FFF2-40B4-BE49-F238E27FC236}">
                <a16:creationId xmlns:a16="http://schemas.microsoft.com/office/drawing/2014/main" id="{4C9C0988-5038-18FA-4D09-7EA8D05AE88F}"/>
              </a:ext>
            </a:extLst>
          </p:cNvPr>
          <p:cNvCxnSpPr/>
          <p:nvPr/>
        </p:nvCxnSpPr>
        <p:spPr>
          <a:xfrm>
            <a:off x="3546475" y="838200"/>
            <a:ext cx="1250950" cy="6858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字方塊 91">
            <a:extLst>
              <a:ext uri="{FF2B5EF4-FFF2-40B4-BE49-F238E27FC236}">
                <a16:creationId xmlns:a16="http://schemas.microsoft.com/office/drawing/2014/main" id="{38DB66E5-346C-3D7F-122F-5E13D3BA5FA7}"/>
              </a:ext>
            </a:extLst>
          </p:cNvPr>
          <p:cNvSpPr txBox="1"/>
          <p:nvPr/>
        </p:nvSpPr>
        <p:spPr>
          <a:xfrm>
            <a:off x="2133600" y="5257801"/>
            <a:ext cx="3483048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Fewer parameters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70" name="文字方塊 92">
            <a:extLst>
              <a:ext uri="{FF2B5EF4-FFF2-40B4-BE49-F238E27FC236}">
                <a16:creationId xmlns:a16="http://schemas.microsoft.com/office/drawing/2014/main" id="{0DD49EA3-8618-F1C7-4387-BBB84F619AC2}"/>
              </a:ext>
            </a:extLst>
          </p:cNvPr>
          <p:cNvSpPr txBox="1"/>
          <p:nvPr/>
        </p:nvSpPr>
        <p:spPr>
          <a:xfrm>
            <a:off x="2153478" y="5937960"/>
            <a:ext cx="3485322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Even fewer parameters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DF907F-BB06-22B5-AAB0-986FBEDB6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A6E5B-9291-4C92-9481-36736955894A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C7BDC-9678-46F8-6D36-9993638F7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8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5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3E8B6-3C82-2745-5EC7-E7AF77771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20A7-49D4-4252-A909-B0A864C47BE6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6B2E87-380C-0029-A1AA-37C3D34A6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C900323-800D-4A9A-6A0A-D4348C025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Visualize the Results</a:t>
            </a:r>
          </a:p>
        </p:txBody>
      </p:sp>
      <p:pic>
        <p:nvPicPr>
          <p:cNvPr id="2050" name="Picture 2" descr="Face Id: Deep learning for face recognition | by Youssef Fenjiro | Medium">
            <a:extLst>
              <a:ext uri="{FF2B5EF4-FFF2-40B4-BE49-F238E27FC236}">
                <a16:creationId xmlns:a16="http://schemas.microsoft.com/office/drawing/2014/main" id="{4BFA81FF-3CE7-DFB6-4779-40EDF6EFEB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863" y="1676400"/>
            <a:ext cx="8510154" cy="4571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1238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70726" y="1345676"/>
            <a:ext cx="9050531" cy="41666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11901" y="966655"/>
            <a:ext cx="888365" cy="29972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Preview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81926" y="5574845"/>
            <a:ext cx="8799195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7234555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&amp; Justin Johnson &amp;</a:t>
            </a:r>
            <a:r>
              <a:rPr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Serena Yeung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April 18,  </a:t>
            </a:r>
            <a:r>
              <a:rPr sz="3000" spc="-847" baseline="-4166" dirty="0">
                <a:solidFill>
                  <a:srgbClr val="FFFFFF"/>
                </a:solidFill>
                <a:latin typeface="Arial"/>
                <a:cs typeface="Arial"/>
              </a:rPr>
              <a:t>2017Lecture</a:t>
            </a:r>
            <a:r>
              <a:rPr sz="3000" spc="-15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3000" baseline="-4166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96814" y="968687"/>
            <a:ext cx="195833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i="1" spc="-5" dirty="0">
                <a:latin typeface="Arial"/>
                <a:cs typeface="Arial"/>
              </a:rPr>
              <a:t>[Zeiler and Fergus</a:t>
            </a:r>
            <a:r>
              <a:rPr sz="1400" i="1" spc="-80" dirty="0">
                <a:latin typeface="Arial"/>
                <a:cs typeface="Arial"/>
              </a:rPr>
              <a:t> </a:t>
            </a:r>
            <a:r>
              <a:rPr sz="1400" i="1" spc="-5" dirty="0">
                <a:latin typeface="Arial"/>
                <a:cs typeface="Arial"/>
              </a:rPr>
              <a:t>2013]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75866" y="918983"/>
            <a:ext cx="2118995" cy="2920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>
              <a:lnSpc>
                <a:spcPct val="117200"/>
              </a:lnSpc>
              <a:spcBef>
                <a:spcPts val="100"/>
              </a:spcBef>
            </a:pPr>
            <a:r>
              <a:rPr sz="800" spc="-5" dirty="0">
                <a:latin typeface="Carlito"/>
                <a:cs typeface="Carlito"/>
              </a:rPr>
              <a:t>Visualization of VGG-16 by Lane McIntosh. VGG-16  </a:t>
            </a:r>
            <a:r>
              <a:rPr sz="800" dirty="0">
                <a:latin typeface="Carlito"/>
                <a:cs typeface="Carlito"/>
              </a:rPr>
              <a:t>architecture </a:t>
            </a:r>
            <a:r>
              <a:rPr sz="800" spc="-5" dirty="0">
                <a:latin typeface="Carlito"/>
                <a:cs typeface="Carlito"/>
              </a:rPr>
              <a:t>from [Simonyan </a:t>
            </a:r>
            <a:r>
              <a:rPr sz="800" dirty="0">
                <a:latin typeface="Carlito"/>
                <a:cs typeface="Carlito"/>
              </a:rPr>
              <a:t>and </a:t>
            </a:r>
            <a:r>
              <a:rPr sz="800" spc="-5" dirty="0">
                <a:latin typeface="Carlito"/>
                <a:cs typeface="Carlito"/>
              </a:rPr>
              <a:t>Zisserman</a:t>
            </a:r>
            <a:r>
              <a:rPr sz="800" spc="-90" dirty="0">
                <a:latin typeface="Carlito"/>
                <a:cs typeface="Carlito"/>
              </a:rPr>
              <a:t> </a:t>
            </a:r>
            <a:r>
              <a:rPr sz="800" spc="-5" dirty="0">
                <a:latin typeface="Carlito"/>
                <a:cs typeface="Carlito"/>
              </a:rPr>
              <a:t>2014].</a:t>
            </a:r>
            <a:endParaRPr sz="800">
              <a:latin typeface="Carlito"/>
              <a:cs typeface="Carlito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AC25DB4-5FE7-4560-8D08-60BE55D47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3C74B-1807-453D-99A0-C4456A4BB499}" type="datetime1">
              <a:rPr lang="en-US" smtClean="0"/>
              <a:t>2/27/2026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DDADDE1-3BF9-4297-A191-E548DB6FF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3877020"/>
            <a:ext cx="9144000" cy="2124075"/>
            <a:chOff x="0" y="3019768"/>
            <a:chExt cx="9144000" cy="2124075"/>
          </a:xfrm>
        </p:grpSpPr>
        <p:sp>
          <p:nvSpPr>
            <p:cNvPr id="3" name="object 3"/>
            <p:cNvSpPr/>
            <p:nvPr/>
          </p:nvSpPr>
          <p:spPr>
            <a:xfrm>
              <a:off x="2377145" y="3019768"/>
              <a:ext cx="3085243" cy="156832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508238" y="3125868"/>
              <a:ext cx="1176472" cy="145352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711901" y="966655"/>
            <a:ext cx="888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latin typeface="Arial"/>
                <a:cs typeface="Arial"/>
              </a:rPr>
              <a:t>Preview</a:t>
            </a:r>
            <a:endParaRPr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51821" y="947201"/>
            <a:ext cx="6206062" cy="28571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933296F-EEBB-445A-90D7-1D5EC8220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97F05-9401-45C7-A78F-E5D2F680BCE5}" type="datetime1">
              <a:rPr lang="en-US" smtClean="0"/>
              <a:t>2/27/2026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9E235D8-9340-4773-9BE2-FBA3C83D892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1D40275-F719-48BD-BD57-38CE5966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34199" y="857252"/>
            <a:ext cx="8581390" cy="4533265"/>
            <a:chOff x="410199" y="0"/>
            <a:chExt cx="8581390" cy="4533265"/>
          </a:xfrm>
        </p:grpSpPr>
        <p:sp>
          <p:nvSpPr>
            <p:cNvPr id="3" name="object 3"/>
            <p:cNvSpPr/>
            <p:nvPr/>
          </p:nvSpPr>
          <p:spPr>
            <a:xfrm>
              <a:off x="460049" y="76899"/>
              <a:ext cx="4308841" cy="445584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0197" y="0"/>
              <a:ext cx="1341755" cy="889000"/>
            </a:xfrm>
            <a:custGeom>
              <a:avLst/>
              <a:gdLst/>
              <a:ahLst/>
              <a:cxnLst/>
              <a:rect l="l" t="t" r="r" b="b"/>
              <a:pathLst>
                <a:path w="1341755" h="889000">
                  <a:moveTo>
                    <a:pt x="1341704" y="256374"/>
                  </a:moveTo>
                  <a:lnTo>
                    <a:pt x="957287" y="256374"/>
                  </a:lnTo>
                  <a:lnTo>
                    <a:pt x="957287" y="0"/>
                  </a:lnTo>
                  <a:lnTo>
                    <a:pt x="0" y="0"/>
                  </a:lnTo>
                  <a:lnTo>
                    <a:pt x="0" y="256374"/>
                  </a:lnTo>
                  <a:lnTo>
                    <a:pt x="658012" y="256374"/>
                  </a:lnTo>
                  <a:lnTo>
                    <a:pt x="658012" y="888784"/>
                  </a:lnTo>
                  <a:lnTo>
                    <a:pt x="1341704" y="888784"/>
                  </a:lnTo>
                  <a:lnTo>
                    <a:pt x="1341704" y="2563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51921" y="170029"/>
              <a:ext cx="7163135" cy="25779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2824" y="170125"/>
              <a:ext cx="1548765" cy="1777364"/>
            </a:xfrm>
            <a:custGeom>
              <a:avLst/>
              <a:gdLst/>
              <a:ahLst/>
              <a:cxnLst/>
              <a:rect l="l" t="t" r="r" b="b"/>
              <a:pathLst>
                <a:path w="1548764" h="1777364">
                  <a:moveTo>
                    <a:pt x="1300339" y="0"/>
                  </a:moveTo>
                  <a:lnTo>
                    <a:pt x="1548139" y="0"/>
                  </a:lnTo>
                  <a:lnTo>
                    <a:pt x="1548139" y="257700"/>
                  </a:lnTo>
                  <a:lnTo>
                    <a:pt x="1300339" y="257700"/>
                  </a:lnTo>
                  <a:lnTo>
                    <a:pt x="1300339" y="0"/>
                  </a:lnTo>
                  <a:close/>
                </a:path>
                <a:path w="1548764" h="1777364">
                  <a:moveTo>
                    <a:pt x="0" y="1144471"/>
                  </a:moveTo>
                  <a:lnTo>
                    <a:pt x="565498" y="1144471"/>
                  </a:lnTo>
                  <a:lnTo>
                    <a:pt x="565498" y="1776870"/>
                  </a:lnTo>
                  <a:lnTo>
                    <a:pt x="0" y="1776870"/>
                  </a:lnTo>
                  <a:lnTo>
                    <a:pt x="0" y="1144471"/>
                  </a:lnTo>
                  <a:close/>
                </a:path>
                <a:path w="1548764" h="1777364">
                  <a:moveTo>
                    <a:pt x="1424239" y="257700"/>
                  </a:moveTo>
                  <a:lnTo>
                    <a:pt x="632041" y="1367663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75117" y="1509984"/>
              <a:ext cx="94882" cy="10769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82165" y="2908094"/>
              <a:ext cx="4009048" cy="45383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74109" y="3438543"/>
              <a:ext cx="0" cy="339090"/>
            </a:xfrm>
            <a:custGeom>
              <a:avLst/>
              <a:gdLst/>
              <a:ahLst/>
              <a:cxnLst/>
              <a:rect l="l" t="t" r="r" b="b"/>
              <a:pathLst>
                <a:path h="339089">
                  <a:moveTo>
                    <a:pt x="0" y="3386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33109" y="3342568"/>
              <a:ext cx="81999" cy="10549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863759" y="1380983"/>
            <a:ext cx="2563495" cy="664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example 5x5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filters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155"/>
              </a:lnSpc>
            </a:pPr>
            <a:r>
              <a:rPr dirty="0">
                <a:latin typeface="Arial"/>
                <a:cs typeface="Arial"/>
              </a:rPr>
              <a:t>(32</a:t>
            </a:r>
            <a:r>
              <a:rPr spc="-1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total)</a:t>
            </a:r>
            <a:endParaRPr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02141" y="2713553"/>
            <a:ext cx="3530600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latin typeface="Arial"/>
                <a:cs typeface="Arial"/>
              </a:rPr>
              <a:t>We </a:t>
            </a:r>
            <a:r>
              <a:rPr dirty="0">
                <a:latin typeface="Arial"/>
                <a:cs typeface="Arial"/>
              </a:rPr>
              <a:t>call </a:t>
            </a:r>
            <a:r>
              <a:rPr spc="-5" dirty="0">
                <a:latin typeface="Arial"/>
                <a:cs typeface="Arial"/>
              </a:rPr>
              <a:t>the layer </a:t>
            </a:r>
            <a:r>
              <a:rPr dirty="0">
                <a:latin typeface="Arial"/>
                <a:cs typeface="Arial"/>
              </a:rPr>
              <a:t>convolutional  </a:t>
            </a:r>
            <a:r>
              <a:rPr spc="-5" dirty="0">
                <a:latin typeface="Arial"/>
                <a:cs typeface="Arial"/>
              </a:rPr>
              <a:t>because it is </a:t>
            </a:r>
            <a:r>
              <a:rPr dirty="0">
                <a:latin typeface="Arial"/>
                <a:cs typeface="Arial"/>
              </a:rPr>
              <a:t>related </a:t>
            </a:r>
            <a:r>
              <a:rPr spc="-5" dirty="0">
                <a:latin typeface="Arial"/>
                <a:cs typeface="Arial"/>
              </a:rPr>
              <a:t>to</a:t>
            </a:r>
            <a:r>
              <a:rPr spc="-9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convolution  </a:t>
            </a:r>
            <a:r>
              <a:rPr spc="-5" dirty="0">
                <a:latin typeface="Arial"/>
                <a:cs typeface="Arial"/>
              </a:rPr>
              <a:t>of two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signals:</a:t>
            </a:r>
            <a:endParaRPr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92188" y="4667634"/>
            <a:ext cx="301879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"/>
                <a:cs typeface="Arial"/>
              </a:rPr>
              <a:t>elementwise </a:t>
            </a:r>
            <a:r>
              <a:rPr sz="1400" dirty="0">
                <a:latin typeface="Arial"/>
                <a:cs typeface="Arial"/>
              </a:rPr>
              <a:t>multiplication </a:t>
            </a:r>
            <a:r>
              <a:rPr sz="1400" spc="-5" dirty="0">
                <a:latin typeface="Arial"/>
                <a:cs typeface="Arial"/>
              </a:rPr>
              <a:t>and </a:t>
            </a:r>
            <a:r>
              <a:rPr sz="1400" dirty="0">
                <a:latin typeface="Arial"/>
                <a:cs typeface="Arial"/>
              </a:rPr>
              <a:t>sum</a:t>
            </a:r>
            <a:r>
              <a:rPr sz="1400" spc="-9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of  </a:t>
            </a:r>
            <a:r>
              <a:rPr sz="1400" dirty="0">
                <a:latin typeface="Arial"/>
                <a:cs typeface="Arial"/>
              </a:rPr>
              <a:t>a </a:t>
            </a:r>
            <a:r>
              <a:rPr sz="1400" spc="-5" dirty="0">
                <a:latin typeface="Arial"/>
                <a:cs typeface="Arial"/>
              </a:rPr>
              <a:t>filter and the </a:t>
            </a:r>
            <a:r>
              <a:rPr sz="1400" dirty="0">
                <a:latin typeface="Arial"/>
                <a:cs typeface="Arial"/>
              </a:rPr>
              <a:t>signal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(image)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628798" y="1239093"/>
            <a:ext cx="1943100" cy="57594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</a:rPr>
              <a:t>one filter</a:t>
            </a:r>
            <a:r>
              <a:rPr sz="1800" spc="-20" dirty="0">
                <a:solidFill>
                  <a:srgbClr val="FF0000"/>
                </a:solidFill>
              </a:rPr>
              <a:t> </a:t>
            </a:r>
            <a:r>
              <a:rPr sz="1800" spc="-5" dirty="0">
                <a:solidFill>
                  <a:srgbClr val="FF0000"/>
                </a:solidFill>
              </a:rPr>
              <a:t>=&gt;</a:t>
            </a:r>
            <a:endParaRPr sz="1800"/>
          </a:p>
          <a:p>
            <a:pPr marL="12700">
              <a:spcBef>
                <a:spcPts val="15"/>
              </a:spcBef>
            </a:pPr>
            <a:r>
              <a:rPr sz="1800" spc="-5" dirty="0">
                <a:solidFill>
                  <a:srgbClr val="FF0000"/>
                </a:solidFill>
              </a:rPr>
              <a:t>one activation</a:t>
            </a:r>
            <a:r>
              <a:rPr sz="1800" spc="-85" dirty="0">
                <a:solidFill>
                  <a:srgbClr val="FF0000"/>
                </a:solidFill>
              </a:rPr>
              <a:t> </a:t>
            </a:r>
            <a:r>
              <a:rPr sz="1800" dirty="0">
                <a:solidFill>
                  <a:srgbClr val="FF0000"/>
                </a:solidFill>
              </a:rPr>
              <a:t>map</a:t>
            </a:r>
            <a:endParaRPr sz="1800"/>
          </a:p>
        </p:txBody>
      </p:sp>
      <p:grpSp>
        <p:nvGrpSpPr>
          <p:cNvPr id="15" name="object 15"/>
          <p:cNvGrpSpPr/>
          <p:nvPr/>
        </p:nvGrpSpPr>
        <p:grpSpPr>
          <a:xfrm>
            <a:off x="2017301" y="1026450"/>
            <a:ext cx="4672965" cy="3074670"/>
            <a:chOff x="493299" y="169200"/>
            <a:chExt cx="4672965" cy="3074670"/>
          </a:xfrm>
        </p:grpSpPr>
        <p:sp>
          <p:nvSpPr>
            <p:cNvPr id="16" name="object 16"/>
            <p:cNvSpPr/>
            <p:nvPr/>
          </p:nvSpPr>
          <p:spPr>
            <a:xfrm>
              <a:off x="1153260" y="178725"/>
              <a:ext cx="4003675" cy="2407920"/>
            </a:xfrm>
            <a:custGeom>
              <a:avLst/>
              <a:gdLst/>
              <a:ahLst/>
              <a:cxnLst/>
              <a:rect l="l" t="t" r="r" b="b"/>
              <a:pathLst>
                <a:path w="4003675" h="2407920">
                  <a:moveTo>
                    <a:pt x="3755329" y="0"/>
                  </a:moveTo>
                  <a:lnTo>
                    <a:pt x="4003129" y="0"/>
                  </a:lnTo>
                  <a:lnTo>
                    <a:pt x="4003129" y="257700"/>
                  </a:lnTo>
                  <a:lnTo>
                    <a:pt x="3755329" y="257700"/>
                  </a:lnTo>
                  <a:lnTo>
                    <a:pt x="3755329" y="0"/>
                  </a:lnTo>
                  <a:close/>
                </a:path>
                <a:path w="4003675" h="2407920">
                  <a:moveTo>
                    <a:pt x="3879229" y="257700"/>
                  </a:moveTo>
                  <a:lnTo>
                    <a:pt x="0" y="2407893"/>
                  </a:lnTo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68122" y="2549569"/>
              <a:ext cx="109917" cy="8847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2823" y="2601369"/>
              <a:ext cx="565785" cy="632460"/>
            </a:xfrm>
            <a:custGeom>
              <a:avLst/>
              <a:gdLst/>
              <a:ahLst/>
              <a:cxnLst/>
              <a:rect l="l" t="t" r="r" b="b"/>
              <a:pathLst>
                <a:path w="565785" h="632460">
                  <a:moveTo>
                    <a:pt x="0" y="0"/>
                  </a:moveTo>
                  <a:lnTo>
                    <a:pt x="565498" y="0"/>
                  </a:lnTo>
                  <a:lnTo>
                    <a:pt x="565498" y="632398"/>
                  </a:lnTo>
                  <a:lnTo>
                    <a:pt x="0" y="63239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167997" y="5220555"/>
            <a:ext cx="1065530" cy="1051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" spc="-5" dirty="0">
                <a:latin typeface="Carlito"/>
                <a:cs typeface="Carlito"/>
              </a:rPr>
              <a:t>Figure copyright Andrej</a:t>
            </a:r>
            <a:r>
              <a:rPr sz="600" spc="-60" dirty="0">
                <a:latin typeface="Carlito"/>
                <a:cs typeface="Carlito"/>
              </a:rPr>
              <a:t> </a:t>
            </a:r>
            <a:r>
              <a:rPr sz="600" spc="-5" dirty="0">
                <a:latin typeface="Carlito"/>
                <a:cs typeface="Carlito"/>
              </a:rPr>
              <a:t>Karpathy.</a:t>
            </a:r>
            <a:endParaRPr sz="600">
              <a:latin typeface="Carlito"/>
              <a:cs typeface="Carlito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4294967295"/>
          </p:nvPr>
        </p:nvSpPr>
        <p:spPr>
          <a:xfrm>
            <a:off x="8904313" y="4704893"/>
            <a:ext cx="1590040" cy="884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r>
              <a:rPr lang="en-US" spc="-5"/>
              <a:t>Presented by    Dr. AKHTAR JAMIL </a:t>
            </a:r>
            <a:endParaRPr spc="-5" dirty="0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6E3EA8DC-F9BB-4681-9872-C49D05CC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A5B82-6720-4F4E-BFA8-8E82B0416A2E}" type="datetime1">
              <a:rPr lang="en-US" smtClean="0"/>
              <a:t>2/27/2026</a:t>
            </a:fld>
            <a:endParaRPr lang="en-US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3F3B8670-EE9A-4695-9C42-4EB99171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1101399"/>
            <a:ext cx="9144000" cy="4899660"/>
            <a:chOff x="0" y="244149"/>
            <a:chExt cx="9144000" cy="4899660"/>
          </a:xfrm>
        </p:grpSpPr>
        <p:sp>
          <p:nvSpPr>
            <p:cNvPr id="3" name="object 3"/>
            <p:cNvSpPr/>
            <p:nvPr/>
          </p:nvSpPr>
          <p:spPr>
            <a:xfrm>
              <a:off x="0" y="244149"/>
              <a:ext cx="9143981" cy="43789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75" y="2088273"/>
              <a:ext cx="2192645" cy="20024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640201" y="857250"/>
            <a:ext cx="6877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preview: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81926" y="5574845"/>
            <a:ext cx="8799195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65"/>
              </a:lnSpc>
              <a:tabLst>
                <a:tab pos="7234555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</a:t>
            </a:r>
            <a:r>
              <a:rPr dirty="0">
                <a:solidFill>
                  <a:srgbClr val="FFFFFF"/>
                </a:solidFill>
                <a:latin typeface="Arial"/>
                <a:cs typeface="Arial"/>
              </a:rPr>
              <a:t>&amp; Justin Johnson &amp;</a:t>
            </a:r>
            <a:r>
              <a:rPr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Serena Yeung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April 18,  </a:t>
            </a:r>
            <a:r>
              <a:rPr sz="3000" spc="-847" baseline="-4166" dirty="0">
                <a:solidFill>
                  <a:srgbClr val="FFFFFF"/>
                </a:solidFill>
                <a:latin typeface="Arial"/>
                <a:cs typeface="Arial"/>
              </a:rPr>
              <a:t>2017Lecture</a:t>
            </a:r>
            <a:r>
              <a:rPr sz="3000" spc="-15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3000" baseline="-4166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5286502" y="6553201"/>
            <a:ext cx="3241895" cy="2620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r>
              <a:rPr lang="en-US" sz="1200" spc="-5"/>
              <a:t>Presented by    Dr. AKHTAR JAMIL </a:t>
            </a:r>
            <a:endParaRPr sz="1200"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611890" y="6557814"/>
            <a:ext cx="4514850" cy="237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fld id="{BA2E64DD-867B-4AF2-B8D8-9503CF23620B}" type="datetime1">
              <a:rPr lang="en-US" sz="1200" spc="-5" smtClean="0"/>
              <a:t>2/27/2026</a:t>
            </a:fld>
            <a:endParaRPr sz="1200" spc="-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F8CDA-7743-F75F-3394-ADE391CEF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標題 1">
            <a:extLst>
              <a:ext uri="{FF2B5EF4-FFF2-40B4-BE49-F238E27FC236}">
                <a16:creationId xmlns:a16="http://schemas.microsoft.com/office/drawing/2014/main" id="{05F0431E-FBDD-DD73-43AF-516FBD293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325563"/>
          </a:xfrm>
        </p:spPr>
        <p:txBody>
          <a:bodyPr/>
          <a:lstStyle/>
          <a:p>
            <a:r>
              <a:rPr lang="en-US" altLang="zh-TW"/>
              <a:t>The whole CNN</a:t>
            </a:r>
            <a:endParaRPr lang="zh-TW" altLang="en-US"/>
          </a:p>
        </p:txBody>
      </p:sp>
      <p:grpSp>
        <p:nvGrpSpPr>
          <p:cNvPr id="27650" name="群組 3">
            <a:extLst>
              <a:ext uri="{FF2B5EF4-FFF2-40B4-BE49-F238E27FC236}">
                <a16:creationId xmlns:a16="http://schemas.microsoft.com/office/drawing/2014/main" id="{B8BCD149-788A-A7B8-291D-700A1DC10273}"/>
              </a:ext>
            </a:extLst>
          </p:cNvPr>
          <p:cNvGrpSpPr>
            <a:grpSpLocks/>
          </p:cNvGrpSpPr>
          <p:nvPr/>
        </p:nvGrpSpPr>
        <p:grpSpPr bwMode="auto">
          <a:xfrm>
            <a:off x="2273301" y="2274888"/>
            <a:ext cx="2906713" cy="3200400"/>
            <a:chOff x="-1626455" y="3999117"/>
            <a:chExt cx="2906568" cy="3201477"/>
          </a:xfrm>
        </p:grpSpPr>
        <p:pic>
          <p:nvPicPr>
            <p:cNvPr id="27678" name="圖片 4">
              <a:extLst>
                <a:ext uri="{FF2B5EF4-FFF2-40B4-BE49-F238E27FC236}">
                  <a16:creationId xmlns:a16="http://schemas.microsoft.com/office/drawing/2014/main" id="{FA74C2FB-BE9F-973E-B25D-27840D670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H="1">
              <a:off x="-1736746" y="4748962"/>
              <a:ext cx="3201477" cy="1701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文字方塊 5">
              <a:extLst>
                <a:ext uri="{FF2B5EF4-FFF2-40B4-BE49-F238E27FC236}">
                  <a16:creationId xmlns:a16="http://schemas.microsoft.com/office/drawing/2014/main" id="{A9A72F25-9F6D-4D68-91BE-8A1ECA0483AF}"/>
                </a:ext>
              </a:extLst>
            </p:cNvPr>
            <p:cNvSpPr txBox="1"/>
            <p:nvPr/>
          </p:nvSpPr>
          <p:spPr>
            <a:xfrm>
              <a:off x="-1626455" y="5442856"/>
              <a:ext cx="2906568" cy="70788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TW" sz="2000" dirty="0">
                  <a:solidFill>
                    <a:srgbClr val="000000"/>
                  </a:solidFill>
                </a:rPr>
                <a:t>Fully Connected </a:t>
              </a:r>
              <a:r>
                <a:rPr lang="en-US" altLang="zh-TW" sz="2000" dirty="0" err="1">
                  <a:solidFill>
                    <a:srgbClr val="000000"/>
                  </a:solidFill>
                </a:rPr>
                <a:t>Feedforward</a:t>
              </a:r>
              <a:r>
                <a:rPr lang="en-US" altLang="zh-TW" sz="2000" dirty="0">
                  <a:solidFill>
                    <a:srgbClr val="000000"/>
                  </a:solidFill>
                </a:rPr>
                <a:t> network</a:t>
              </a:r>
              <a:endParaRPr lang="zh-TW" altLang="en-US" sz="20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651" name="Picture 2" descr="http://s.hswstatic.com/gif/whiskers-sam.jpg">
            <a:extLst>
              <a:ext uri="{FF2B5EF4-FFF2-40B4-BE49-F238E27FC236}">
                <a16:creationId xmlns:a16="http://schemas.microsoft.com/office/drawing/2014/main" id="{5863E84B-B97E-BD0A-B57B-6A1B30ACB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8938" y="192089"/>
            <a:ext cx="1771650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文字方塊 8">
            <a:extLst>
              <a:ext uri="{FF2B5EF4-FFF2-40B4-BE49-F238E27FC236}">
                <a16:creationId xmlns:a16="http://schemas.microsoft.com/office/drawing/2014/main" id="{9919F024-E85E-2D86-5DBF-CC5A8F7EF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1939" y="1706564"/>
            <a:ext cx="2046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cat dog ……</a:t>
            </a:r>
            <a:endParaRPr lang="zh-TW" altLang="en-US"/>
          </a:p>
        </p:txBody>
      </p:sp>
      <p:sp>
        <p:nvSpPr>
          <p:cNvPr id="10" name="矩形 10">
            <a:extLst>
              <a:ext uri="{FF2B5EF4-FFF2-40B4-BE49-F238E27FC236}">
                <a16:creationId xmlns:a16="http://schemas.microsoft.com/office/drawing/2014/main" id="{978EAF48-772C-B12E-3069-942FD34F52B9}"/>
              </a:ext>
            </a:extLst>
          </p:cNvPr>
          <p:cNvSpPr/>
          <p:nvPr/>
        </p:nvSpPr>
        <p:spPr>
          <a:xfrm>
            <a:off x="6773923" y="1929505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chemeClr val="tx1"/>
                </a:solidFill>
              </a:rPr>
              <a:t>Convolution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1" name="矩形 12">
            <a:extLst>
              <a:ext uri="{FF2B5EF4-FFF2-40B4-BE49-F238E27FC236}">
                <a16:creationId xmlns:a16="http://schemas.microsoft.com/office/drawing/2014/main" id="{B95E169A-D2BF-77E1-9D0D-258E1B0EF5F7}"/>
              </a:ext>
            </a:extLst>
          </p:cNvPr>
          <p:cNvSpPr/>
          <p:nvPr/>
        </p:nvSpPr>
        <p:spPr>
          <a:xfrm>
            <a:off x="6773923" y="3029517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Max Pooling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2" name="矩形 13">
            <a:extLst>
              <a:ext uri="{FF2B5EF4-FFF2-40B4-BE49-F238E27FC236}">
                <a16:creationId xmlns:a16="http://schemas.microsoft.com/office/drawing/2014/main" id="{4DE690BE-FC53-FE15-4E1E-8D477FB8A395}"/>
              </a:ext>
            </a:extLst>
          </p:cNvPr>
          <p:cNvSpPr/>
          <p:nvPr/>
        </p:nvSpPr>
        <p:spPr>
          <a:xfrm>
            <a:off x="6773923" y="4097730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Convolution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3" name="矩形 14">
            <a:extLst>
              <a:ext uri="{FF2B5EF4-FFF2-40B4-BE49-F238E27FC236}">
                <a16:creationId xmlns:a16="http://schemas.microsoft.com/office/drawing/2014/main" id="{10664587-5F16-1EBA-5A2F-7E4E2DA00BE2}"/>
              </a:ext>
            </a:extLst>
          </p:cNvPr>
          <p:cNvSpPr/>
          <p:nvPr/>
        </p:nvSpPr>
        <p:spPr>
          <a:xfrm>
            <a:off x="6773923" y="5130982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Max Pooling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4" name="文字方塊 15">
            <a:extLst>
              <a:ext uri="{FF2B5EF4-FFF2-40B4-BE49-F238E27FC236}">
                <a16:creationId xmlns:a16="http://schemas.microsoft.com/office/drawing/2014/main" id="{8BA09434-ED09-CDCD-6DAB-2EA99A902C04}"/>
              </a:ext>
            </a:extLst>
          </p:cNvPr>
          <p:cNvSpPr txBox="1"/>
          <p:nvPr/>
        </p:nvSpPr>
        <p:spPr>
          <a:xfrm>
            <a:off x="4848219" y="6055666"/>
            <a:ext cx="1556991" cy="40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Flattened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5" name="向下箭號 11">
            <a:extLst>
              <a:ext uri="{FF2B5EF4-FFF2-40B4-BE49-F238E27FC236}">
                <a16:creationId xmlns:a16="http://schemas.microsoft.com/office/drawing/2014/main" id="{B49D1D6C-EAD9-D15E-23B2-2434B9ECFB3C}"/>
              </a:ext>
            </a:extLst>
          </p:cNvPr>
          <p:cNvSpPr/>
          <p:nvPr/>
        </p:nvSpPr>
        <p:spPr>
          <a:xfrm>
            <a:off x="7392988" y="1450976"/>
            <a:ext cx="546100" cy="44291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6" name="向下箭號 17">
            <a:extLst>
              <a:ext uri="{FF2B5EF4-FFF2-40B4-BE49-F238E27FC236}">
                <a16:creationId xmlns:a16="http://schemas.microsoft.com/office/drawing/2014/main" id="{C5B7330A-9993-D3AF-7E69-7C428B47958A}"/>
              </a:ext>
            </a:extLst>
          </p:cNvPr>
          <p:cNvSpPr/>
          <p:nvPr/>
        </p:nvSpPr>
        <p:spPr>
          <a:xfrm>
            <a:off x="7392988" y="2562226"/>
            <a:ext cx="546100" cy="44291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7" name="向下箭號 18">
            <a:extLst>
              <a:ext uri="{FF2B5EF4-FFF2-40B4-BE49-F238E27FC236}">
                <a16:creationId xmlns:a16="http://schemas.microsoft.com/office/drawing/2014/main" id="{A0B00DE3-5D26-2876-3B29-E00642B051A9}"/>
              </a:ext>
            </a:extLst>
          </p:cNvPr>
          <p:cNvSpPr/>
          <p:nvPr/>
        </p:nvSpPr>
        <p:spPr>
          <a:xfrm>
            <a:off x="7392988" y="3654426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8" name="向下箭號 19">
            <a:extLst>
              <a:ext uri="{FF2B5EF4-FFF2-40B4-BE49-F238E27FC236}">
                <a16:creationId xmlns:a16="http://schemas.microsoft.com/office/drawing/2014/main" id="{E16DB56F-7D4D-5424-2408-D2DDED52D321}"/>
              </a:ext>
            </a:extLst>
          </p:cNvPr>
          <p:cNvSpPr/>
          <p:nvPr/>
        </p:nvSpPr>
        <p:spPr>
          <a:xfrm>
            <a:off x="7392988" y="4689476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9" name="右彎箭號 16">
            <a:extLst>
              <a:ext uri="{FF2B5EF4-FFF2-40B4-BE49-F238E27FC236}">
                <a16:creationId xmlns:a16="http://schemas.microsoft.com/office/drawing/2014/main" id="{0D81172B-ACB1-E3B0-32C9-059DAE9ACC99}"/>
              </a:ext>
            </a:extLst>
          </p:cNvPr>
          <p:cNvSpPr/>
          <p:nvPr/>
        </p:nvSpPr>
        <p:spPr>
          <a:xfrm rot="10800000">
            <a:off x="6405563" y="5753101"/>
            <a:ext cx="1377950" cy="752475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" name="右彎箭號 21">
            <a:extLst>
              <a:ext uri="{FF2B5EF4-FFF2-40B4-BE49-F238E27FC236}">
                <a16:creationId xmlns:a16="http://schemas.microsoft.com/office/drawing/2014/main" id="{A4AC8ED1-AD78-CF0C-CA03-925762FCB7D8}"/>
              </a:ext>
            </a:extLst>
          </p:cNvPr>
          <p:cNvSpPr/>
          <p:nvPr/>
        </p:nvSpPr>
        <p:spPr>
          <a:xfrm rot="16200000">
            <a:off x="3678238" y="5340351"/>
            <a:ext cx="968375" cy="1238250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7674" name="文字方塊 20">
            <a:extLst>
              <a:ext uri="{FF2B5EF4-FFF2-40B4-BE49-F238E27FC236}">
                <a16:creationId xmlns:a16="http://schemas.microsoft.com/office/drawing/2014/main" id="{8D9BD540-4A50-E888-B946-38F85F599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8739" y="3414713"/>
            <a:ext cx="1690687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Can repeat many times</a:t>
            </a:r>
            <a:endParaRPr lang="zh-TW" altLang="en-US"/>
          </a:p>
        </p:txBody>
      </p:sp>
      <p:sp>
        <p:nvSpPr>
          <p:cNvPr id="22" name="左大括弧 22">
            <a:extLst>
              <a:ext uri="{FF2B5EF4-FFF2-40B4-BE49-F238E27FC236}">
                <a16:creationId xmlns:a16="http://schemas.microsoft.com/office/drawing/2014/main" id="{AF20D98C-A541-E1D4-163B-71DC3F561AB4}"/>
              </a:ext>
            </a:extLst>
          </p:cNvPr>
          <p:cNvSpPr/>
          <p:nvPr/>
        </p:nvSpPr>
        <p:spPr>
          <a:xfrm flipH="1">
            <a:off x="8550276" y="1806576"/>
            <a:ext cx="334963" cy="4048125"/>
          </a:xfrm>
          <a:prstGeom prst="leftBrace">
            <a:avLst>
              <a:gd name="adj1" fmla="val 72890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3" name="矩形 23">
            <a:extLst>
              <a:ext uri="{FF2B5EF4-FFF2-40B4-BE49-F238E27FC236}">
                <a16:creationId xmlns:a16="http://schemas.microsoft.com/office/drawing/2014/main" id="{8981B4AD-FC24-E3BF-596E-575D03AAB45C}"/>
              </a:ext>
            </a:extLst>
          </p:cNvPr>
          <p:cNvSpPr/>
          <p:nvPr/>
        </p:nvSpPr>
        <p:spPr>
          <a:xfrm>
            <a:off x="6692901" y="2976563"/>
            <a:ext cx="1857375" cy="69691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4" name="矩形 25">
            <a:extLst>
              <a:ext uri="{FF2B5EF4-FFF2-40B4-BE49-F238E27FC236}">
                <a16:creationId xmlns:a16="http://schemas.microsoft.com/office/drawing/2014/main" id="{1E99F5C7-60BB-6087-9DD7-21708E692864}"/>
              </a:ext>
            </a:extLst>
          </p:cNvPr>
          <p:cNvSpPr/>
          <p:nvPr/>
        </p:nvSpPr>
        <p:spPr>
          <a:xfrm>
            <a:off x="6692901" y="5080001"/>
            <a:ext cx="1857375" cy="69691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8125FE-D5B4-39B6-269C-CDF6741E0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79F3A-1CDA-43A3-9138-11665BE38D70}" type="datetime1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F116DC-E7C3-6D1F-D460-DFB8E6A9720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87957-4426-0A78-5378-790D3912D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標題 1">
            <a:extLst>
              <a:ext uri="{FF2B5EF4-FFF2-40B4-BE49-F238E27FC236}">
                <a16:creationId xmlns:a16="http://schemas.microsoft.com/office/drawing/2014/main" id="{A5AAB61B-A222-9EC3-B608-099689FA2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365126"/>
            <a:ext cx="7886700" cy="1325563"/>
          </a:xfrm>
        </p:spPr>
        <p:txBody>
          <a:bodyPr/>
          <a:lstStyle/>
          <a:p>
            <a:r>
              <a:rPr lang="en-US" altLang="zh-TW"/>
              <a:t>Flattening</a:t>
            </a:r>
            <a:endParaRPr lang="zh-TW" altLang="en-US"/>
          </a:p>
        </p:txBody>
      </p:sp>
      <p:grpSp>
        <p:nvGrpSpPr>
          <p:cNvPr id="34818" name="群組 13">
            <a:extLst>
              <a:ext uri="{FF2B5EF4-FFF2-40B4-BE49-F238E27FC236}">
                <a16:creationId xmlns:a16="http://schemas.microsoft.com/office/drawing/2014/main" id="{F4717A8E-8A8E-608C-05E2-F212905AC060}"/>
              </a:ext>
            </a:extLst>
          </p:cNvPr>
          <p:cNvGrpSpPr>
            <a:grpSpLocks/>
          </p:cNvGrpSpPr>
          <p:nvPr/>
        </p:nvGrpSpPr>
        <p:grpSpPr bwMode="auto">
          <a:xfrm>
            <a:off x="1790700" y="2473326"/>
            <a:ext cx="1943100" cy="2049463"/>
            <a:chOff x="758373" y="2759289"/>
            <a:chExt cx="1943214" cy="2049364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9C1B4703-B81C-DB53-0B0D-72E449FC89D7}"/>
                </a:ext>
              </a:extLst>
            </p:cNvPr>
            <p:cNvSpPr/>
            <p:nvPr/>
          </p:nvSpPr>
          <p:spPr>
            <a:xfrm>
              <a:off x="758373" y="2759289"/>
              <a:ext cx="720000" cy="72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/>
                <a:t>3</a:t>
              </a:r>
              <a:endParaRPr lang="zh-TW" altLang="en-US" sz="2400" dirty="0"/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2C728FC3-87AB-BC44-C3E5-E4A2FFBB0617}"/>
                </a:ext>
              </a:extLst>
            </p:cNvPr>
            <p:cNvSpPr/>
            <p:nvPr/>
          </p:nvSpPr>
          <p:spPr>
            <a:xfrm>
              <a:off x="1729980" y="2759289"/>
              <a:ext cx="720000" cy="72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/>
                <a:t>0</a:t>
              </a:r>
              <a:endParaRPr lang="zh-TW" altLang="en-US" sz="2400" dirty="0"/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C687E0C8-31E8-C9FE-AF89-B6A10B0100DD}"/>
                </a:ext>
              </a:extLst>
            </p:cNvPr>
            <p:cNvSpPr/>
            <p:nvPr/>
          </p:nvSpPr>
          <p:spPr>
            <a:xfrm>
              <a:off x="1729980" y="3867588"/>
              <a:ext cx="720000" cy="72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/>
                <a:t>1</a:t>
              </a:r>
              <a:endParaRPr lang="zh-TW" altLang="en-US" sz="2400" dirty="0"/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E997B9C9-A6DB-B0CF-379A-C08E5339936C}"/>
                </a:ext>
              </a:extLst>
            </p:cNvPr>
            <p:cNvSpPr/>
            <p:nvPr/>
          </p:nvSpPr>
          <p:spPr>
            <a:xfrm>
              <a:off x="758373" y="3867588"/>
              <a:ext cx="720000" cy="720000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/>
                <a:t>3</a:t>
              </a:r>
              <a:endParaRPr lang="zh-TW" altLang="en-US" sz="2400" dirty="0"/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EF996354-61CC-B0ED-6559-8B5432F00315}"/>
                </a:ext>
              </a:extLst>
            </p:cNvPr>
            <p:cNvSpPr/>
            <p:nvPr/>
          </p:nvSpPr>
          <p:spPr>
            <a:xfrm>
              <a:off x="936506" y="2999566"/>
              <a:ext cx="720000" cy="7200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>
                  <a:solidFill>
                    <a:srgbClr val="000000"/>
                  </a:solidFill>
                </a:rPr>
                <a:t>-1</a:t>
              </a:r>
              <a:endParaRPr lang="zh-TW" alt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949BBB0E-58A5-0A5F-8B86-0349113AC21A}"/>
                </a:ext>
              </a:extLst>
            </p:cNvPr>
            <p:cNvSpPr/>
            <p:nvPr/>
          </p:nvSpPr>
          <p:spPr>
            <a:xfrm>
              <a:off x="1981587" y="2999566"/>
              <a:ext cx="720000" cy="7200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>
                  <a:solidFill>
                    <a:srgbClr val="000000"/>
                  </a:solidFill>
                </a:rPr>
                <a:t>1</a:t>
              </a:r>
              <a:endParaRPr lang="zh-TW" alt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10B990C5-40B8-BB04-3A9C-C0907B0DE729}"/>
                </a:ext>
              </a:extLst>
            </p:cNvPr>
            <p:cNvSpPr/>
            <p:nvPr/>
          </p:nvSpPr>
          <p:spPr>
            <a:xfrm>
              <a:off x="1981587" y="4088653"/>
              <a:ext cx="720000" cy="7200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>
                  <a:solidFill>
                    <a:srgbClr val="000000"/>
                  </a:solidFill>
                </a:rPr>
                <a:t>3</a:t>
              </a:r>
              <a:endParaRPr lang="zh-TW" alt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D2B7F0A0-A00D-50FE-16B6-0B166D49F8C3}"/>
                </a:ext>
              </a:extLst>
            </p:cNvPr>
            <p:cNvSpPr/>
            <p:nvPr/>
          </p:nvSpPr>
          <p:spPr>
            <a:xfrm>
              <a:off x="962806" y="4027123"/>
              <a:ext cx="720000" cy="720000"/>
            </a:xfrm>
            <a:prstGeom prst="ellipse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400" dirty="0">
                  <a:solidFill>
                    <a:srgbClr val="000000"/>
                  </a:solidFill>
                </a:rPr>
                <a:t>0</a:t>
              </a:r>
              <a:endParaRPr lang="zh-TW" altLang="en-US" sz="24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4" name="文字方塊 16">
            <a:extLst>
              <a:ext uri="{FF2B5EF4-FFF2-40B4-BE49-F238E27FC236}">
                <a16:creationId xmlns:a16="http://schemas.microsoft.com/office/drawing/2014/main" id="{2C9A6311-1D8F-88BF-0000-5CFA83FE1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886201"/>
            <a:ext cx="152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Flattened</a:t>
            </a:r>
            <a:endParaRPr lang="zh-TW" altLang="en-US"/>
          </a:p>
        </p:txBody>
      </p:sp>
      <p:sp>
        <p:nvSpPr>
          <p:cNvPr id="15" name="橢圓 20">
            <a:extLst>
              <a:ext uri="{FF2B5EF4-FFF2-40B4-BE49-F238E27FC236}">
                <a16:creationId xmlns:a16="http://schemas.microsoft.com/office/drawing/2014/main" id="{74BF0280-381E-0FEE-6756-7A0C59A95460}"/>
              </a:ext>
            </a:extLst>
          </p:cNvPr>
          <p:cNvSpPr/>
          <p:nvPr/>
        </p:nvSpPr>
        <p:spPr>
          <a:xfrm>
            <a:off x="5736000" y="194885"/>
            <a:ext cx="720000" cy="72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3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16" name="橢圓 21">
            <a:extLst>
              <a:ext uri="{FF2B5EF4-FFF2-40B4-BE49-F238E27FC236}">
                <a16:creationId xmlns:a16="http://schemas.microsoft.com/office/drawing/2014/main" id="{25375954-D505-8764-C94E-97864A04841E}"/>
              </a:ext>
            </a:extLst>
          </p:cNvPr>
          <p:cNvSpPr/>
          <p:nvPr/>
        </p:nvSpPr>
        <p:spPr>
          <a:xfrm>
            <a:off x="5736000" y="1084384"/>
            <a:ext cx="720000" cy="72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0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17" name="橢圓 22">
            <a:extLst>
              <a:ext uri="{FF2B5EF4-FFF2-40B4-BE49-F238E27FC236}">
                <a16:creationId xmlns:a16="http://schemas.microsoft.com/office/drawing/2014/main" id="{F9BC13C8-32EE-D11D-2145-2AA16A5EF185}"/>
              </a:ext>
            </a:extLst>
          </p:cNvPr>
          <p:cNvSpPr/>
          <p:nvPr/>
        </p:nvSpPr>
        <p:spPr>
          <a:xfrm>
            <a:off x="5736000" y="1923284"/>
            <a:ext cx="720000" cy="72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1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18" name="橢圓 23">
            <a:extLst>
              <a:ext uri="{FF2B5EF4-FFF2-40B4-BE49-F238E27FC236}">
                <a16:creationId xmlns:a16="http://schemas.microsoft.com/office/drawing/2014/main" id="{A0790BAE-958D-D590-6593-31167692400B}"/>
              </a:ext>
            </a:extLst>
          </p:cNvPr>
          <p:cNvSpPr/>
          <p:nvPr/>
        </p:nvSpPr>
        <p:spPr>
          <a:xfrm>
            <a:off x="5736000" y="2778220"/>
            <a:ext cx="720000" cy="72000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3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19" name="橢圓 24">
            <a:extLst>
              <a:ext uri="{FF2B5EF4-FFF2-40B4-BE49-F238E27FC236}">
                <a16:creationId xmlns:a16="http://schemas.microsoft.com/office/drawing/2014/main" id="{99CE6569-DFED-865D-C02C-9A8459CEB3D9}"/>
              </a:ext>
            </a:extLst>
          </p:cNvPr>
          <p:cNvSpPr/>
          <p:nvPr/>
        </p:nvSpPr>
        <p:spPr>
          <a:xfrm>
            <a:off x="5736000" y="3615067"/>
            <a:ext cx="720000" cy="72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-1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20" name="橢圓 25">
            <a:extLst>
              <a:ext uri="{FF2B5EF4-FFF2-40B4-BE49-F238E27FC236}">
                <a16:creationId xmlns:a16="http://schemas.microsoft.com/office/drawing/2014/main" id="{F7049545-FAE0-799E-3097-5E0EF3D32812}"/>
              </a:ext>
            </a:extLst>
          </p:cNvPr>
          <p:cNvSpPr/>
          <p:nvPr/>
        </p:nvSpPr>
        <p:spPr>
          <a:xfrm>
            <a:off x="5736000" y="4402756"/>
            <a:ext cx="720000" cy="72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1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21" name="橢圓 26">
            <a:extLst>
              <a:ext uri="{FF2B5EF4-FFF2-40B4-BE49-F238E27FC236}">
                <a16:creationId xmlns:a16="http://schemas.microsoft.com/office/drawing/2014/main" id="{B24AB704-BDEE-B160-5E43-0FC210BF0D9E}"/>
              </a:ext>
            </a:extLst>
          </p:cNvPr>
          <p:cNvSpPr/>
          <p:nvPr/>
        </p:nvSpPr>
        <p:spPr>
          <a:xfrm>
            <a:off x="5736000" y="5204579"/>
            <a:ext cx="720000" cy="72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0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22" name="橢圓 27">
            <a:extLst>
              <a:ext uri="{FF2B5EF4-FFF2-40B4-BE49-F238E27FC236}">
                <a16:creationId xmlns:a16="http://schemas.microsoft.com/office/drawing/2014/main" id="{7A657E28-4E6C-DC01-9998-52B224CFE7FB}"/>
              </a:ext>
            </a:extLst>
          </p:cNvPr>
          <p:cNvSpPr/>
          <p:nvPr/>
        </p:nvSpPr>
        <p:spPr>
          <a:xfrm>
            <a:off x="5736000" y="6029276"/>
            <a:ext cx="720000" cy="7200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3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23" name="向右箭號 4">
            <a:extLst>
              <a:ext uri="{FF2B5EF4-FFF2-40B4-BE49-F238E27FC236}">
                <a16:creationId xmlns:a16="http://schemas.microsoft.com/office/drawing/2014/main" id="{1A78CA90-C1A3-80E0-45B2-C030E3A6A900}"/>
              </a:ext>
            </a:extLst>
          </p:cNvPr>
          <p:cNvSpPr/>
          <p:nvPr/>
        </p:nvSpPr>
        <p:spPr>
          <a:xfrm>
            <a:off x="6511926" y="3190876"/>
            <a:ext cx="557213" cy="72866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4" name="向右箭號 32">
            <a:extLst>
              <a:ext uri="{FF2B5EF4-FFF2-40B4-BE49-F238E27FC236}">
                <a16:creationId xmlns:a16="http://schemas.microsoft.com/office/drawing/2014/main" id="{648225B8-C804-E01B-5313-C49B280EABE9}"/>
              </a:ext>
            </a:extLst>
          </p:cNvPr>
          <p:cNvSpPr/>
          <p:nvPr/>
        </p:nvSpPr>
        <p:spPr>
          <a:xfrm>
            <a:off x="8997951" y="3419476"/>
            <a:ext cx="557213" cy="72866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grpSp>
        <p:nvGrpSpPr>
          <p:cNvPr id="25" name="群組 28">
            <a:extLst>
              <a:ext uri="{FF2B5EF4-FFF2-40B4-BE49-F238E27FC236}">
                <a16:creationId xmlns:a16="http://schemas.microsoft.com/office/drawing/2014/main" id="{F29667CE-F718-346D-5A0D-3462EDB219D7}"/>
              </a:ext>
            </a:extLst>
          </p:cNvPr>
          <p:cNvGrpSpPr>
            <a:grpSpLocks/>
          </p:cNvGrpSpPr>
          <p:nvPr/>
        </p:nvGrpSpPr>
        <p:grpSpPr bwMode="auto">
          <a:xfrm>
            <a:off x="7126288" y="2724151"/>
            <a:ext cx="3200400" cy="2506663"/>
            <a:chOff x="-2630921" y="4440114"/>
            <a:chExt cx="3201477" cy="2506507"/>
          </a:xfrm>
        </p:grpSpPr>
        <p:pic>
          <p:nvPicPr>
            <p:cNvPr id="34848" name="圖片 29">
              <a:extLst>
                <a:ext uri="{FF2B5EF4-FFF2-40B4-BE49-F238E27FC236}">
                  <a16:creationId xmlns:a16="http://schemas.microsoft.com/office/drawing/2014/main" id="{50B62113-306C-0EAF-73C4-1F09B9B8A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H="1">
              <a:off x="-2630921" y="4440114"/>
              <a:ext cx="3201477" cy="1701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文字方塊 30">
              <a:extLst>
                <a:ext uri="{FF2B5EF4-FFF2-40B4-BE49-F238E27FC236}">
                  <a16:creationId xmlns:a16="http://schemas.microsoft.com/office/drawing/2014/main" id="{D1048FFC-9986-5ADF-753E-2704398EDC68}"/>
                </a:ext>
              </a:extLst>
            </p:cNvPr>
            <p:cNvSpPr txBox="1"/>
            <p:nvPr/>
          </p:nvSpPr>
          <p:spPr>
            <a:xfrm>
              <a:off x="-2630921" y="6238735"/>
              <a:ext cx="2906568" cy="70788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TW" sz="2000" dirty="0">
                  <a:solidFill>
                    <a:srgbClr val="000000"/>
                  </a:solidFill>
                </a:rPr>
                <a:t>Fully Connected Feedforward network</a:t>
              </a:r>
              <a:endParaRPr lang="zh-TW" altLang="en-US" sz="2000" dirty="0">
                <a:solidFill>
                  <a:srgbClr val="000000"/>
                </a:solidFill>
              </a:endParaRPr>
            </a:p>
          </p:txBody>
        </p:sp>
      </p:grpSp>
      <p:sp>
        <p:nvSpPr>
          <p:cNvPr id="28" name="向右箭號 33">
            <a:extLst>
              <a:ext uri="{FF2B5EF4-FFF2-40B4-BE49-F238E27FC236}">
                <a16:creationId xmlns:a16="http://schemas.microsoft.com/office/drawing/2014/main" id="{0BE505AF-9CEE-6F6E-E053-A68FA3E29150}"/>
              </a:ext>
            </a:extLst>
          </p:cNvPr>
          <p:cNvSpPr/>
          <p:nvPr/>
        </p:nvSpPr>
        <p:spPr>
          <a:xfrm>
            <a:off x="3849689" y="3201988"/>
            <a:ext cx="1831975" cy="72866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E50012-E0B5-5B74-3502-B71DD1DDB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56C10-2746-48A9-8F06-EE880B3676B2}" type="datetime1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A7A028-431C-9DC3-335F-1C043F29264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56DD7-2A6E-61F1-4326-8EF124DC1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 animBg="1"/>
      <p:bldP spid="24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4">
            <a:extLst>
              <a:ext uri="{FF2B5EF4-FFF2-40B4-BE49-F238E27FC236}">
                <a16:creationId xmlns:a16="http://schemas.microsoft.com/office/drawing/2014/main" id="{6A944AA5-35E1-F1BB-502C-6C3D77FCA6E4}"/>
              </a:ext>
            </a:extLst>
          </p:cNvPr>
          <p:cNvSpPr txBox="1"/>
          <p:nvPr/>
        </p:nvSpPr>
        <p:spPr>
          <a:xfrm>
            <a:off x="4615046" y="141751"/>
            <a:ext cx="5540375" cy="70788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Only modified the </a:t>
            </a:r>
            <a:r>
              <a:rPr lang="en-US" altLang="zh-TW" sz="2000" b="1" i="1" dirty="0">
                <a:solidFill>
                  <a:srgbClr val="000000"/>
                </a:solidFill>
              </a:rPr>
              <a:t>network structure </a:t>
            </a:r>
            <a:r>
              <a:rPr lang="en-US" altLang="zh-TW" sz="2000" dirty="0">
                <a:solidFill>
                  <a:srgbClr val="000000"/>
                </a:solidFill>
              </a:rPr>
              <a:t>and </a:t>
            </a:r>
            <a:r>
              <a:rPr lang="en-US" altLang="zh-TW" sz="2000" b="1" i="1" dirty="0">
                <a:solidFill>
                  <a:srgbClr val="000000"/>
                </a:solidFill>
              </a:rPr>
              <a:t>input format (vector -&gt; 3-D tensor)</a:t>
            </a:r>
            <a:endParaRPr lang="zh-TW" altLang="en-US" sz="2000" b="1" i="1" dirty="0">
              <a:solidFill>
                <a:srgbClr val="000000"/>
              </a:solidFill>
            </a:endParaRPr>
          </a:p>
        </p:txBody>
      </p:sp>
      <p:sp>
        <p:nvSpPr>
          <p:cNvPr id="35844" name="矩形 9">
            <a:extLst>
              <a:ext uri="{FF2B5EF4-FFF2-40B4-BE49-F238E27FC236}">
                <a16:creationId xmlns:a16="http://schemas.microsoft.com/office/drawing/2014/main" id="{1D6CE49C-E29D-3F45-627F-6D830BD8A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65113"/>
            <a:ext cx="24817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800" b="1" i="1" u="sng"/>
              <a:t>CNN in Keras</a:t>
            </a:r>
            <a:endParaRPr lang="zh-TW" altLang="en-US" sz="2800" b="1" i="1" u="sng"/>
          </a:p>
        </p:txBody>
      </p:sp>
      <p:sp>
        <p:nvSpPr>
          <p:cNvPr id="6" name="矩形 28">
            <a:extLst>
              <a:ext uri="{FF2B5EF4-FFF2-40B4-BE49-F238E27FC236}">
                <a16:creationId xmlns:a16="http://schemas.microsoft.com/office/drawing/2014/main" id="{3D8654E8-E0A4-F7F9-E354-DA60E22A3FEE}"/>
              </a:ext>
            </a:extLst>
          </p:cNvPr>
          <p:cNvSpPr/>
          <p:nvPr/>
        </p:nvSpPr>
        <p:spPr>
          <a:xfrm>
            <a:off x="7832508" y="1874056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Convolution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7" name="矩形 29">
            <a:extLst>
              <a:ext uri="{FF2B5EF4-FFF2-40B4-BE49-F238E27FC236}">
                <a16:creationId xmlns:a16="http://schemas.microsoft.com/office/drawing/2014/main" id="{E70B869C-C7FB-2854-B513-11BEB1797611}"/>
              </a:ext>
            </a:extLst>
          </p:cNvPr>
          <p:cNvSpPr/>
          <p:nvPr/>
        </p:nvSpPr>
        <p:spPr>
          <a:xfrm>
            <a:off x="7832508" y="2974068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Max Pooling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8" name="矩形 30">
            <a:extLst>
              <a:ext uri="{FF2B5EF4-FFF2-40B4-BE49-F238E27FC236}">
                <a16:creationId xmlns:a16="http://schemas.microsoft.com/office/drawing/2014/main" id="{AA760419-7989-05A3-BA0B-706B71410C1C}"/>
              </a:ext>
            </a:extLst>
          </p:cNvPr>
          <p:cNvSpPr/>
          <p:nvPr/>
        </p:nvSpPr>
        <p:spPr>
          <a:xfrm>
            <a:off x="7832508" y="4042281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Convolution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9" name="矩形 31">
            <a:extLst>
              <a:ext uri="{FF2B5EF4-FFF2-40B4-BE49-F238E27FC236}">
                <a16:creationId xmlns:a16="http://schemas.microsoft.com/office/drawing/2014/main" id="{E5F4DEDE-9F75-1C5C-B0D0-8FB6AC7B20B9}"/>
              </a:ext>
            </a:extLst>
          </p:cNvPr>
          <p:cNvSpPr/>
          <p:nvPr/>
        </p:nvSpPr>
        <p:spPr>
          <a:xfrm>
            <a:off x="7832508" y="5075533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Max Pooling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0" name="向下箭號 11">
            <a:extLst>
              <a:ext uri="{FF2B5EF4-FFF2-40B4-BE49-F238E27FC236}">
                <a16:creationId xmlns:a16="http://schemas.microsoft.com/office/drawing/2014/main" id="{14902C2A-5DE2-830B-DD72-0E645C9A651D}"/>
              </a:ext>
            </a:extLst>
          </p:cNvPr>
          <p:cNvSpPr/>
          <p:nvPr/>
        </p:nvSpPr>
        <p:spPr>
          <a:xfrm>
            <a:off x="8451850" y="1397001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1" name="向下箭號 17">
            <a:extLst>
              <a:ext uri="{FF2B5EF4-FFF2-40B4-BE49-F238E27FC236}">
                <a16:creationId xmlns:a16="http://schemas.microsoft.com/office/drawing/2014/main" id="{7A823F5A-02C6-F5C4-E938-D4F6411C0EED}"/>
              </a:ext>
            </a:extLst>
          </p:cNvPr>
          <p:cNvSpPr/>
          <p:nvPr/>
        </p:nvSpPr>
        <p:spPr>
          <a:xfrm>
            <a:off x="8451850" y="2506663"/>
            <a:ext cx="546100" cy="442912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2" name="向下箭號 18">
            <a:extLst>
              <a:ext uri="{FF2B5EF4-FFF2-40B4-BE49-F238E27FC236}">
                <a16:creationId xmlns:a16="http://schemas.microsoft.com/office/drawing/2014/main" id="{CA33C0B2-9921-2E62-4C97-E323AAC5027C}"/>
              </a:ext>
            </a:extLst>
          </p:cNvPr>
          <p:cNvSpPr/>
          <p:nvPr/>
        </p:nvSpPr>
        <p:spPr>
          <a:xfrm>
            <a:off x="8451850" y="3598864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3" name="向下箭號 19">
            <a:extLst>
              <a:ext uri="{FF2B5EF4-FFF2-40B4-BE49-F238E27FC236}">
                <a16:creationId xmlns:a16="http://schemas.microsoft.com/office/drawing/2014/main" id="{DB69D3F3-E493-B9CB-9458-FD17B728E13E}"/>
              </a:ext>
            </a:extLst>
          </p:cNvPr>
          <p:cNvSpPr/>
          <p:nvPr/>
        </p:nvSpPr>
        <p:spPr>
          <a:xfrm>
            <a:off x="8451850" y="4633914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5861" name="文字方塊 41">
            <a:extLst>
              <a:ext uri="{FF2B5EF4-FFF2-40B4-BE49-F238E27FC236}">
                <a16:creationId xmlns:a16="http://schemas.microsoft.com/office/drawing/2014/main" id="{75F00DE9-128B-3AA3-1BF1-90C7F15A5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0" y="973138"/>
            <a:ext cx="20462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input</a:t>
            </a:r>
            <a:endParaRPr lang="zh-TW" altLang="en-US"/>
          </a:p>
        </p:txBody>
      </p:sp>
      <p:pic>
        <p:nvPicPr>
          <p:cNvPr id="15" name="圖片 1">
            <a:extLst>
              <a:ext uri="{FF2B5EF4-FFF2-40B4-BE49-F238E27FC236}">
                <a16:creationId xmlns:a16="http://schemas.microsoft.com/office/drawing/2014/main" id="{1140F8F3-6388-CF8E-79A2-87BFF66B1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4" y="1450975"/>
            <a:ext cx="48672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圖片 12">
            <a:extLst>
              <a:ext uri="{FF2B5EF4-FFF2-40B4-BE49-F238E27FC236}">
                <a16:creationId xmlns:a16="http://schemas.microsoft.com/office/drawing/2014/main" id="{051DDB46-78B3-7DE7-F808-25FAF0E50B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775" y="4697413"/>
            <a:ext cx="41719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直線接點 45">
            <a:extLst>
              <a:ext uri="{FF2B5EF4-FFF2-40B4-BE49-F238E27FC236}">
                <a16:creationId xmlns:a16="http://schemas.microsoft.com/office/drawing/2014/main" id="{912DD82C-B0E1-4989-648E-6121A85571F5}"/>
              </a:ext>
            </a:extLst>
          </p:cNvPr>
          <p:cNvCxnSpPr/>
          <p:nvPr/>
        </p:nvCxnSpPr>
        <p:spPr>
          <a:xfrm>
            <a:off x="3725864" y="1671638"/>
            <a:ext cx="1709737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46">
            <a:extLst>
              <a:ext uri="{FF2B5EF4-FFF2-40B4-BE49-F238E27FC236}">
                <a16:creationId xmlns:a16="http://schemas.microsoft.com/office/drawing/2014/main" id="{DC75FBFA-757A-CAD0-B583-CA59CBF36444}"/>
              </a:ext>
            </a:extLst>
          </p:cNvPr>
          <p:cNvCxnSpPr/>
          <p:nvPr/>
        </p:nvCxnSpPr>
        <p:spPr>
          <a:xfrm>
            <a:off x="5653088" y="1671638"/>
            <a:ext cx="33496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48">
            <a:extLst>
              <a:ext uri="{FF2B5EF4-FFF2-40B4-BE49-F238E27FC236}">
                <a16:creationId xmlns:a16="http://schemas.microsoft.com/office/drawing/2014/main" id="{861567AE-7AAA-11A5-154B-36551E1E5399}"/>
              </a:ext>
            </a:extLst>
          </p:cNvPr>
          <p:cNvCxnSpPr/>
          <p:nvPr/>
        </p:nvCxnSpPr>
        <p:spPr>
          <a:xfrm>
            <a:off x="6083301" y="1671638"/>
            <a:ext cx="168275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51">
            <a:extLst>
              <a:ext uri="{FF2B5EF4-FFF2-40B4-BE49-F238E27FC236}">
                <a16:creationId xmlns:a16="http://schemas.microsoft.com/office/drawing/2014/main" id="{92BEB8AE-F2FF-2EEB-2E4C-CF4D9151116F}"/>
              </a:ext>
            </a:extLst>
          </p:cNvPr>
          <p:cNvCxnSpPr/>
          <p:nvPr/>
        </p:nvCxnSpPr>
        <p:spPr>
          <a:xfrm>
            <a:off x="6340475" y="1673225"/>
            <a:ext cx="166688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表格 54">
            <a:extLst>
              <a:ext uri="{FF2B5EF4-FFF2-40B4-BE49-F238E27FC236}">
                <a16:creationId xmlns:a16="http://schemas.microsoft.com/office/drawing/2014/main" id="{3AAA04D2-14F7-8A32-CA6F-F78F77D37015}"/>
              </a:ext>
            </a:extLst>
          </p:cNvPr>
          <p:cNvGraphicFramePr>
            <a:graphicFrameLocks noGrp="1"/>
          </p:cNvGraphicFramePr>
          <p:nvPr/>
        </p:nvGraphicFramePr>
        <p:xfrm>
          <a:off x="2247900" y="2203450"/>
          <a:ext cx="1382712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0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L="91447" marR="91447" marT="45733" marB="45733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47" marR="91447" marT="45733" marB="45733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47" marR="91447" marT="45733" marB="45733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47" marR="91447" marT="45733" marB="45733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L="91447" marR="91447" marT="45733" marB="45733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47" marR="91447" marT="45733" marB="45733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47" marR="91447" marT="45733" marB="45733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47" marR="91447" marT="45733" marB="45733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L="91447" marR="91447" marT="45733" marB="45733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" name="表格 55">
            <a:extLst>
              <a:ext uri="{FF2B5EF4-FFF2-40B4-BE49-F238E27FC236}">
                <a16:creationId xmlns:a16="http://schemas.microsoft.com/office/drawing/2014/main" id="{DC791F16-1C82-AA53-EA5D-CD46F7C53BC3}"/>
              </a:ext>
            </a:extLst>
          </p:cNvPr>
          <p:cNvGraphicFramePr>
            <a:graphicFrameLocks noGrp="1"/>
          </p:cNvGraphicFramePr>
          <p:nvPr/>
        </p:nvGraphicFramePr>
        <p:xfrm>
          <a:off x="3016250" y="2368551"/>
          <a:ext cx="1398588" cy="11112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6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1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4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31" marR="91431" marT="45668" marB="45668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L="91431" marR="91431" marT="45668" marB="45668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31" marR="91431" marT="45668" marB="45668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4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31" marR="91431" marT="45668" marB="45668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L="91431" marR="91431" marT="45668" marB="45668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31" marR="91431" marT="45668" marB="45668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4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31" marR="91431" marT="45668" marB="45668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marL="91431" marR="91431" marT="45668" marB="45668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/>
                        <a:t>-1</a:t>
                      </a:r>
                      <a:endParaRPr lang="zh-TW" altLang="en-US" sz="1800" dirty="0"/>
                    </a:p>
                  </a:txBody>
                  <a:tcPr marL="91431" marR="91431" marT="45668" marB="45668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文字方塊 56">
            <a:extLst>
              <a:ext uri="{FF2B5EF4-FFF2-40B4-BE49-F238E27FC236}">
                <a16:creationId xmlns:a16="http://schemas.microsoft.com/office/drawing/2014/main" id="{381DD21F-CF85-C874-EF22-3B94A1270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5088" y="2452689"/>
            <a:ext cx="180181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/>
              <a:t>There are </a:t>
            </a:r>
            <a:r>
              <a:rPr lang="en-US" altLang="zh-TW">
                <a:solidFill>
                  <a:srgbClr val="FF0000"/>
                </a:solidFill>
              </a:rPr>
              <a:t>25</a:t>
            </a:r>
            <a:r>
              <a:rPr lang="en-US" altLang="zh-TW"/>
              <a:t> </a:t>
            </a:r>
            <a:r>
              <a:rPr lang="en-US" altLang="zh-TW">
                <a:solidFill>
                  <a:srgbClr val="FF0000"/>
                </a:solidFill>
              </a:rPr>
              <a:t>3x3</a:t>
            </a:r>
            <a:r>
              <a:rPr lang="en-US" altLang="zh-TW"/>
              <a:t> filters.</a:t>
            </a:r>
            <a:endParaRPr lang="zh-TW" altLang="en-US"/>
          </a:p>
        </p:txBody>
      </p:sp>
      <p:sp>
        <p:nvSpPr>
          <p:cNvPr id="24" name="文字方塊 57">
            <a:extLst>
              <a:ext uri="{FF2B5EF4-FFF2-40B4-BE49-F238E27FC236}">
                <a16:creationId xmlns:a16="http://schemas.microsoft.com/office/drawing/2014/main" id="{90A34C25-9D5A-1542-4512-E03016E59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350" y="2522539"/>
            <a:ext cx="69215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800"/>
              <a:t>……</a:t>
            </a:r>
            <a:endParaRPr lang="zh-TW" altLang="en-US" sz="2800"/>
          </a:p>
        </p:txBody>
      </p:sp>
      <p:sp>
        <p:nvSpPr>
          <p:cNvPr id="25" name="文字方塊 58">
            <a:extLst>
              <a:ext uri="{FF2B5EF4-FFF2-40B4-BE49-F238E27FC236}">
                <a16:creationId xmlns:a16="http://schemas.microsoft.com/office/drawing/2014/main" id="{ABCD9431-E17B-CC59-488D-CFF5534CE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4314" y="3489325"/>
            <a:ext cx="39512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000"/>
              <a:t>Input_shape = ( 28 , 28 , 1)</a:t>
            </a:r>
            <a:endParaRPr lang="zh-TW" altLang="en-US" sz="2000"/>
          </a:p>
        </p:txBody>
      </p:sp>
      <p:sp>
        <p:nvSpPr>
          <p:cNvPr id="26" name="文字方塊 59">
            <a:extLst>
              <a:ext uri="{FF2B5EF4-FFF2-40B4-BE49-F238E27FC236}">
                <a16:creationId xmlns:a16="http://schemas.microsoft.com/office/drawing/2014/main" id="{21463270-FAA4-C524-0C94-3F263A6D7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1" y="4114800"/>
            <a:ext cx="2646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1800"/>
              <a:t>1: black/white, 3: RGB</a:t>
            </a:r>
            <a:endParaRPr lang="zh-TW" altLang="en-US" sz="1800"/>
          </a:p>
        </p:txBody>
      </p:sp>
      <p:sp>
        <p:nvSpPr>
          <p:cNvPr id="27" name="文字方塊 60">
            <a:extLst>
              <a:ext uri="{FF2B5EF4-FFF2-40B4-BE49-F238E27FC236}">
                <a16:creationId xmlns:a16="http://schemas.microsoft.com/office/drawing/2014/main" id="{10ABE7AE-512D-CEA9-58CD-E2E22FA3A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1" y="4038600"/>
            <a:ext cx="2024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1800"/>
              <a:t>28 x 28 pixels</a:t>
            </a:r>
            <a:endParaRPr lang="zh-TW" altLang="en-US" sz="1800"/>
          </a:p>
        </p:txBody>
      </p:sp>
      <p:sp>
        <p:nvSpPr>
          <p:cNvPr id="28" name="橢圓 61">
            <a:extLst>
              <a:ext uri="{FF2B5EF4-FFF2-40B4-BE49-F238E27FC236}">
                <a16:creationId xmlns:a16="http://schemas.microsoft.com/office/drawing/2014/main" id="{D3E430BA-A79F-434D-03E2-C5E51A02F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9" y="5118100"/>
            <a:ext cx="630237" cy="6302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</a:rPr>
              <a:t>3</a:t>
            </a:r>
            <a:endParaRPr lang="zh-TW" altLang="en-US" sz="2000" dirty="0">
              <a:solidFill>
                <a:schemeClr val="dk1"/>
              </a:solidFill>
            </a:endParaRPr>
          </a:p>
        </p:txBody>
      </p:sp>
      <p:sp>
        <p:nvSpPr>
          <p:cNvPr id="29" name="橢圓 62">
            <a:extLst>
              <a:ext uri="{FF2B5EF4-FFF2-40B4-BE49-F238E27FC236}">
                <a16:creationId xmlns:a16="http://schemas.microsoft.com/office/drawing/2014/main" id="{BA7F3D30-C611-1841-644A-A1511E930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8264" y="5118100"/>
            <a:ext cx="630237" cy="6302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</a:rPr>
              <a:t>-1</a:t>
            </a:r>
            <a:endParaRPr lang="zh-TW" altLang="en-US" sz="2000" dirty="0">
              <a:solidFill>
                <a:schemeClr val="dk1"/>
              </a:solidFill>
            </a:endParaRPr>
          </a:p>
        </p:txBody>
      </p:sp>
      <p:sp>
        <p:nvSpPr>
          <p:cNvPr id="30" name="橢圓 63">
            <a:extLst>
              <a:ext uri="{FF2B5EF4-FFF2-40B4-BE49-F238E27FC236}">
                <a16:creationId xmlns:a16="http://schemas.microsoft.com/office/drawing/2014/main" id="{4847D810-CCC7-083B-0216-771F57198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0239" y="5838825"/>
            <a:ext cx="630237" cy="6302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</a:rPr>
              <a:t>-3</a:t>
            </a:r>
            <a:endParaRPr lang="zh-TW" altLang="en-US" sz="2000" dirty="0">
              <a:solidFill>
                <a:schemeClr val="dk1"/>
              </a:solidFill>
            </a:endParaRPr>
          </a:p>
        </p:txBody>
      </p:sp>
      <p:sp>
        <p:nvSpPr>
          <p:cNvPr id="31" name="橢圓 64">
            <a:extLst>
              <a:ext uri="{FF2B5EF4-FFF2-40B4-BE49-F238E27FC236}">
                <a16:creationId xmlns:a16="http://schemas.microsoft.com/office/drawing/2014/main" id="{24FD0B63-C2F7-A5D2-185F-A01D3B46B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325" y="5838825"/>
            <a:ext cx="630238" cy="6302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</a:rPr>
              <a:t>1</a:t>
            </a:r>
            <a:endParaRPr lang="zh-TW" altLang="en-US" sz="2000" dirty="0">
              <a:solidFill>
                <a:schemeClr val="dk1"/>
              </a:solidFill>
            </a:endParaRPr>
          </a:p>
        </p:txBody>
      </p:sp>
      <p:sp>
        <p:nvSpPr>
          <p:cNvPr id="32" name="矩形 65">
            <a:extLst>
              <a:ext uri="{FF2B5EF4-FFF2-40B4-BE49-F238E27FC236}">
                <a16:creationId xmlns:a16="http://schemas.microsoft.com/office/drawing/2014/main" id="{75770B89-5B93-AD6B-72DC-3EAF4A2273DA}"/>
              </a:ext>
            </a:extLst>
          </p:cNvPr>
          <p:cNvSpPr/>
          <p:nvPr/>
        </p:nvSpPr>
        <p:spPr>
          <a:xfrm>
            <a:off x="3176588" y="5092701"/>
            <a:ext cx="1331912" cy="13763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3" name="橢圓 66">
            <a:extLst>
              <a:ext uri="{FF2B5EF4-FFF2-40B4-BE49-F238E27FC236}">
                <a16:creationId xmlns:a16="http://schemas.microsoft.com/office/drawing/2014/main" id="{6E46003D-2FA9-9E57-DD8B-A79640A51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4175" y="5130800"/>
            <a:ext cx="630238" cy="630238"/>
          </a:xfrm>
          <a:prstGeom prst="ellipse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</a:rPr>
              <a:t>3</a:t>
            </a:r>
            <a:endParaRPr lang="zh-TW" altLang="en-US" sz="2000" dirty="0">
              <a:solidFill>
                <a:schemeClr val="dk1"/>
              </a:solidFill>
            </a:endParaRPr>
          </a:p>
        </p:txBody>
      </p:sp>
      <p:sp>
        <p:nvSpPr>
          <p:cNvPr id="34" name="矩形 70">
            <a:extLst>
              <a:ext uri="{FF2B5EF4-FFF2-40B4-BE49-F238E27FC236}">
                <a16:creationId xmlns:a16="http://schemas.microsoft.com/office/drawing/2014/main" id="{D54B0B21-4F87-2BD6-0EB9-A5AAC1D5C174}"/>
              </a:ext>
            </a:extLst>
          </p:cNvPr>
          <p:cNvSpPr/>
          <p:nvPr/>
        </p:nvSpPr>
        <p:spPr>
          <a:xfrm>
            <a:off x="5464176" y="5105401"/>
            <a:ext cx="1331913" cy="13763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5" name="箭號: 向右 71">
            <a:extLst>
              <a:ext uri="{FF2B5EF4-FFF2-40B4-BE49-F238E27FC236}">
                <a16:creationId xmlns:a16="http://schemas.microsoft.com/office/drawing/2014/main" id="{02C1B56E-47C7-FEB7-59C0-6B4FC9082B52}"/>
              </a:ext>
            </a:extLst>
          </p:cNvPr>
          <p:cNvSpPr/>
          <p:nvPr/>
        </p:nvSpPr>
        <p:spPr>
          <a:xfrm>
            <a:off x="4606925" y="5583239"/>
            <a:ext cx="782638" cy="47783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6" name="矩形 72">
            <a:extLst>
              <a:ext uri="{FF2B5EF4-FFF2-40B4-BE49-F238E27FC236}">
                <a16:creationId xmlns:a16="http://schemas.microsoft.com/office/drawing/2014/main" id="{A290E559-7125-6268-7790-F5D361466A77}"/>
              </a:ext>
            </a:extLst>
          </p:cNvPr>
          <p:cNvSpPr/>
          <p:nvPr/>
        </p:nvSpPr>
        <p:spPr>
          <a:xfrm>
            <a:off x="1898650" y="1258888"/>
            <a:ext cx="5365750" cy="321310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7" name="矩形 73">
            <a:extLst>
              <a:ext uri="{FF2B5EF4-FFF2-40B4-BE49-F238E27FC236}">
                <a16:creationId xmlns:a16="http://schemas.microsoft.com/office/drawing/2014/main" id="{9EE0051C-52C6-49F9-E7CB-1A03DAFCCC2A}"/>
              </a:ext>
            </a:extLst>
          </p:cNvPr>
          <p:cNvSpPr/>
          <p:nvPr/>
        </p:nvSpPr>
        <p:spPr>
          <a:xfrm>
            <a:off x="2746376" y="4598989"/>
            <a:ext cx="4525963" cy="205422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cxnSp>
        <p:nvCxnSpPr>
          <p:cNvPr id="38" name="直線單箭頭接點 75">
            <a:extLst>
              <a:ext uri="{FF2B5EF4-FFF2-40B4-BE49-F238E27FC236}">
                <a16:creationId xmlns:a16="http://schemas.microsoft.com/office/drawing/2014/main" id="{890CDD20-9CBA-8847-2FBD-3D68108F53B7}"/>
              </a:ext>
            </a:extLst>
          </p:cNvPr>
          <p:cNvCxnSpPr/>
          <p:nvPr/>
        </p:nvCxnSpPr>
        <p:spPr>
          <a:xfrm flipH="1">
            <a:off x="7272339" y="2152650"/>
            <a:ext cx="560387" cy="820738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77">
            <a:extLst>
              <a:ext uri="{FF2B5EF4-FFF2-40B4-BE49-F238E27FC236}">
                <a16:creationId xmlns:a16="http://schemas.microsoft.com/office/drawing/2014/main" id="{FD885697-216B-EF69-DC1F-27419B5D1A53}"/>
              </a:ext>
            </a:extLst>
          </p:cNvPr>
          <p:cNvCxnSpPr>
            <a:endCxn id="37" idx="3"/>
          </p:cNvCxnSpPr>
          <p:nvPr/>
        </p:nvCxnSpPr>
        <p:spPr>
          <a:xfrm flipH="1">
            <a:off x="7272339" y="3252788"/>
            <a:ext cx="560387" cy="2373312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81">
            <a:extLst>
              <a:ext uri="{FF2B5EF4-FFF2-40B4-BE49-F238E27FC236}">
                <a16:creationId xmlns:a16="http://schemas.microsoft.com/office/drawing/2014/main" id="{314E607D-BEE3-B288-2F35-05D7A707E5BB}"/>
              </a:ext>
            </a:extLst>
          </p:cNvPr>
          <p:cNvCxnSpPr/>
          <p:nvPr/>
        </p:nvCxnSpPr>
        <p:spPr>
          <a:xfrm>
            <a:off x="5638800" y="3886200"/>
            <a:ext cx="27463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82">
            <a:extLst>
              <a:ext uri="{FF2B5EF4-FFF2-40B4-BE49-F238E27FC236}">
                <a16:creationId xmlns:a16="http://schemas.microsoft.com/office/drawing/2014/main" id="{CD22AB15-B798-E3EF-10F2-445F365FFA57}"/>
              </a:ext>
            </a:extLst>
          </p:cNvPr>
          <p:cNvCxnSpPr/>
          <p:nvPr/>
        </p:nvCxnSpPr>
        <p:spPr>
          <a:xfrm>
            <a:off x="4648200" y="3886200"/>
            <a:ext cx="8445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84">
            <a:extLst>
              <a:ext uri="{FF2B5EF4-FFF2-40B4-BE49-F238E27FC236}">
                <a16:creationId xmlns:a16="http://schemas.microsoft.com/office/drawing/2014/main" id="{393DA0F6-5225-652B-DE7F-50C7DA9DD33C}"/>
              </a:ext>
            </a:extLst>
          </p:cNvPr>
          <p:cNvCxnSpPr>
            <a:cxnSpLocks/>
          </p:cNvCxnSpPr>
          <p:nvPr/>
        </p:nvCxnSpPr>
        <p:spPr>
          <a:xfrm flipH="1">
            <a:off x="5486400" y="3886200"/>
            <a:ext cx="292100" cy="24765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86">
            <a:extLst>
              <a:ext uri="{FF2B5EF4-FFF2-40B4-BE49-F238E27FC236}">
                <a16:creationId xmlns:a16="http://schemas.microsoft.com/office/drawing/2014/main" id="{B843405C-7E31-C5AD-28CE-EC6F8CE879D0}"/>
              </a:ext>
            </a:extLst>
          </p:cNvPr>
          <p:cNvCxnSpPr>
            <a:cxnSpLocks/>
          </p:cNvCxnSpPr>
          <p:nvPr/>
        </p:nvCxnSpPr>
        <p:spPr>
          <a:xfrm flipH="1">
            <a:off x="3810001" y="3886200"/>
            <a:ext cx="1241425" cy="211138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圖片 2">
            <a:extLst>
              <a:ext uri="{FF2B5EF4-FFF2-40B4-BE49-F238E27FC236}">
                <a16:creationId xmlns:a16="http://schemas.microsoft.com/office/drawing/2014/main" id="{94A6A185-8945-DC60-405F-35239918E1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401" y="1708150"/>
            <a:ext cx="1274763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5" name="直線接點 52">
            <a:extLst>
              <a:ext uri="{FF2B5EF4-FFF2-40B4-BE49-F238E27FC236}">
                <a16:creationId xmlns:a16="http://schemas.microsoft.com/office/drawing/2014/main" id="{E3E240C7-040C-58D9-C3BC-0C52FE2D710A}"/>
              </a:ext>
            </a:extLst>
          </p:cNvPr>
          <p:cNvCxnSpPr/>
          <p:nvPr/>
        </p:nvCxnSpPr>
        <p:spPr>
          <a:xfrm>
            <a:off x="3570288" y="1908175"/>
            <a:ext cx="278130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E2E0EB-E74D-9B4D-5FF5-0633BD36E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F38B5-F922-45D8-9720-D7A0FCE84237}" type="datetime1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5C9396-3B40-0331-788A-D96E3E03C04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A0611-D0B9-3D73-96A5-0EE99FCC8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4">
            <a:extLst>
              <a:ext uri="{FF2B5EF4-FFF2-40B4-BE49-F238E27FC236}">
                <a16:creationId xmlns:a16="http://schemas.microsoft.com/office/drawing/2014/main" id="{4780702B-AA04-9476-0E5A-C100BB116E96}"/>
              </a:ext>
            </a:extLst>
          </p:cNvPr>
          <p:cNvSpPr txBox="1"/>
          <p:nvPr/>
        </p:nvSpPr>
        <p:spPr>
          <a:xfrm>
            <a:off x="4615046" y="141751"/>
            <a:ext cx="5540375" cy="70788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Only modified the </a:t>
            </a:r>
            <a:r>
              <a:rPr lang="en-US" altLang="zh-TW" sz="2000" b="1" i="1" dirty="0">
                <a:solidFill>
                  <a:srgbClr val="000000"/>
                </a:solidFill>
              </a:rPr>
              <a:t>network structure </a:t>
            </a:r>
            <a:r>
              <a:rPr lang="en-US" altLang="zh-TW" sz="2000" dirty="0">
                <a:solidFill>
                  <a:srgbClr val="000000"/>
                </a:solidFill>
              </a:rPr>
              <a:t>and </a:t>
            </a:r>
            <a:r>
              <a:rPr lang="en-US" altLang="zh-TW" sz="2000" b="1" i="1" dirty="0">
                <a:solidFill>
                  <a:srgbClr val="000000"/>
                </a:solidFill>
              </a:rPr>
              <a:t>input format (vector -&gt; 3-D array)</a:t>
            </a:r>
            <a:endParaRPr lang="zh-TW" altLang="en-US" sz="2000" b="1" i="1" dirty="0">
              <a:solidFill>
                <a:srgbClr val="000000"/>
              </a:solidFill>
            </a:endParaRPr>
          </a:p>
        </p:txBody>
      </p:sp>
      <p:sp>
        <p:nvSpPr>
          <p:cNvPr id="36868" name="矩形 9">
            <a:extLst>
              <a:ext uri="{FF2B5EF4-FFF2-40B4-BE49-F238E27FC236}">
                <a16:creationId xmlns:a16="http://schemas.microsoft.com/office/drawing/2014/main" id="{08E3343E-9D82-7C08-EED1-DF59AB0BB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65113"/>
            <a:ext cx="24817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800" b="1" i="1" u="sng"/>
              <a:t>CNN in Keras</a:t>
            </a:r>
            <a:endParaRPr lang="zh-TW" altLang="en-US" sz="2800" b="1" i="1" u="sng"/>
          </a:p>
        </p:txBody>
      </p:sp>
      <p:sp>
        <p:nvSpPr>
          <p:cNvPr id="6" name="矩形 28">
            <a:extLst>
              <a:ext uri="{FF2B5EF4-FFF2-40B4-BE49-F238E27FC236}">
                <a16:creationId xmlns:a16="http://schemas.microsoft.com/office/drawing/2014/main" id="{EBDE8BD0-C7EA-BAF0-96D9-A6A433B29723}"/>
              </a:ext>
            </a:extLst>
          </p:cNvPr>
          <p:cNvSpPr/>
          <p:nvPr/>
        </p:nvSpPr>
        <p:spPr>
          <a:xfrm>
            <a:off x="7832508" y="1874056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Convolution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7" name="矩形 29">
            <a:extLst>
              <a:ext uri="{FF2B5EF4-FFF2-40B4-BE49-F238E27FC236}">
                <a16:creationId xmlns:a16="http://schemas.microsoft.com/office/drawing/2014/main" id="{108CDF80-0AC2-2E2D-A4B1-F5EB387E48E4}"/>
              </a:ext>
            </a:extLst>
          </p:cNvPr>
          <p:cNvSpPr/>
          <p:nvPr/>
        </p:nvSpPr>
        <p:spPr>
          <a:xfrm>
            <a:off x="7832508" y="2974068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Max Pooling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8" name="矩形 30">
            <a:extLst>
              <a:ext uri="{FF2B5EF4-FFF2-40B4-BE49-F238E27FC236}">
                <a16:creationId xmlns:a16="http://schemas.microsoft.com/office/drawing/2014/main" id="{0602EBEB-823C-D141-19A3-173D90564260}"/>
              </a:ext>
            </a:extLst>
          </p:cNvPr>
          <p:cNvSpPr/>
          <p:nvPr/>
        </p:nvSpPr>
        <p:spPr>
          <a:xfrm>
            <a:off x="7832508" y="4042281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Convolution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9" name="矩形 31">
            <a:extLst>
              <a:ext uri="{FF2B5EF4-FFF2-40B4-BE49-F238E27FC236}">
                <a16:creationId xmlns:a16="http://schemas.microsoft.com/office/drawing/2014/main" id="{A34C0C77-1689-6435-8A18-0BA72B17508D}"/>
              </a:ext>
            </a:extLst>
          </p:cNvPr>
          <p:cNvSpPr/>
          <p:nvPr/>
        </p:nvSpPr>
        <p:spPr>
          <a:xfrm>
            <a:off x="7832508" y="5075533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Max Pooling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0" name="向下箭號 11">
            <a:extLst>
              <a:ext uri="{FF2B5EF4-FFF2-40B4-BE49-F238E27FC236}">
                <a16:creationId xmlns:a16="http://schemas.microsoft.com/office/drawing/2014/main" id="{F69D4968-D53F-5FBB-33AD-92A5D7D010F1}"/>
              </a:ext>
            </a:extLst>
          </p:cNvPr>
          <p:cNvSpPr/>
          <p:nvPr/>
        </p:nvSpPr>
        <p:spPr>
          <a:xfrm>
            <a:off x="8451850" y="1397001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1" name="向下箭號 17">
            <a:extLst>
              <a:ext uri="{FF2B5EF4-FFF2-40B4-BE49-F238E27FC236}">
                <a16:creationId xmlns:a16="http://schemas.microsoft.com/office/drawing/2014/main" id="{26E63930-0A14-7A16-BC41-2982E7AD9E00}"/>
              </a:ext>
            </a:extLst>
          </p:cNvPr>
          <p:cNvSpPr/>
          <p:nvPr/>
        </p:nvSpPr>
        <p:spPr>
          <a:xfrm>
            <a:off x="8451850" y="2506663"/>
            <a:ext cx="546100" cy="442912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2" name="向下箭號 18">
            <a:extLst>
              <a:ext uri="{FF2B5EF4-FFF2-40B4-BE49-F238E27FC236}">
                <a16:creationId xmlns:a16="http://schemas.microsoft.com/office/drawing/2014/main" id="{11F6D25C-04A0-9B36-2106-3DD5743557A3}"/>
              </a:ext>
            </a:extLst>
          </p:cNvPr>
          <p:cNvSpPr/>
          <p:nvPr/>
        </p:nvSpPr>
        <p:spPr>
          <a:xfrm>
            <a:off x="8451850" y="3598864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3" name="向下箭號 19">
            <a:extLst>
              <a:ext uri="{FF2B5EF4-FFF2-40B4-BE49-F238E27FC236}">
                <a16:creationId xmlns:a16="http://schemas.microsoft.com/office/drawing/2014/main" id="{02A4E29D-FFEF-0BE2-42C8-DC75C5B572C0}"/>
              </a:ext>
            </a:extLst>
          </p:cNvPr>
          <p:cNvSpPr/>
          <p:nvPr/>
        </p:nvSpPr>
        <p:spPr>
          <a:xfrm>
            <a:off x="8451850" y="4633914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6885" name="文字方塊 41">
            <a:extLst>
              <a:ext uri="{FF2B5EF4-FFF2-40B4-BE49-F238E27FC236}">
                <a16:creationId xmlns:a16="http://schemas.microsoft.com/office/drawing/2014/main" id="{16F1B72E-8061-B270-C486-2AE45DBB9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0" y="973138"/>
            <a:ext cx="20462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 sz="2000"/>
              <a:t>Input</a:t>
            </a:r>
            <a:endParaRPr lang="zh-TW" altLang="en-US" sz="2000"/>
          </a:p>
        </p:txBody>
      </p:sp>
      <p:pic>
        <p:nvPicPr>
          <p:cNvPr id="15" name="圖片 1">
            <a:extLst>
              <a:ext uri="{FF2B5EF4-FFF2-40B4-BE49-F238E27FC236}">
                <a16:creationId xmlns:a16="http://schemas.microsoft.com/office/drawing/2014/main" id="{C1CC7561-FEBA-153A-00B8-AB26BE2FB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851" y="1874838"/>
            <a:ext cx="48672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圖片 12">
            <a:extLst>
              <a:ext uri="{FF2B5EF4-FFF2-40B4-BE49-F238E27FC236}">
                <a16:creationId xmlns:a16="http://schemas.microsoft.com/office/drawing/2014/main" id="{DC6DF1BD-A19B-8647-FDEC-501FF7B5C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3119438"/>
            <a:ext cx="41719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圖片 42">
            <a:extLst>
              <a:ext uri="{FF2B5EF4-FFF2-40B4-BE49-F238E27FC236}">
                <a16:creationId xmlns:a16="http://schemas.microsoft.com/office/drawing/2014/main" id="{0A398F1B-6148-20CB-E945-F6FE40AA9A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525" y="4197350"/>
            <a:ext cx="4419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圖片 43">
            <a:extLst>
              <a:ext uri="{FF2B5EF4-FFF2-40B4-BE49-F238E27FC236}">
                <a16:creationId xmlns:a16="http://schemas.microsoft.com/office/drawing/2014/main" id="{8C1BA0DC-811F-E0B2-F2C1-D17FCFF669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551" y="5238751"/>
            <a:ext cx="42195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文字方塊 22">
            <a:extLst>
              <a:ext uri="{FF2B5EF4-FFF2-40B4-BE49-F238E27FC236}">
                <a16:creationId xmlns:a16="http://schemas.microsoft.com/office/drawing/2014/main" id="{3A693ACF-3D6B-D917-CFA3-601D6FA33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76" y="1333500"/>
            <a:ext cx="1674813" cy="40005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</a:rPr>
              <a:t>1 x 28 x 28</a:t>
            </a:r>
            <a:endParaRPr lang="zh-TW" altLang="en-US" sz="2000" dirty="0">
              <a:solidFill>
                <a:schemeClr val="dk1"/>
              </a:solidFill>
            </a:endParaRPr>
          </a:p>
        </p:txBody>
      </p:sp>
      <p:sp>
        <p:nvSpPr>
          <p:cNvPr id="20" name="文字方塊 23">
            <a:extLst>
              <a:ext uri="{FF2B5EF4-FFF2-40B4-BE49-F238E27FC236}">
                <a16:creationId xmlns:a16="http://schemas.microsoft.com/office/drawing/2014/main" id="{B8A0B1C0-C921-8FB2-DCE3-8166049DB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1" y="2514600"/>
            <a:ext cx="1674813" cy="40005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</a:rPr>
              <a:t>25 x 26 x 26</a:t>
            </a:r>
            <a:endParaRPr lang="zh-TW" altLang="en-US" sz="2000" dirty="0">
              <a:solidFill>
                <a:schemeClr val="dk1"/>
              </a:solidFill>
            </a:endParaRPr>
          </a:p>
        </p:txBody>
      </p:sp>
      <p:sp>
        <p:nvSpPr>
          <p:cNvPr id="21" name="文字方塊 24">
            <a:extLst>
              <a:ext uri="{FF2B5EF4-FFF2-40B4-BE49-F238E27FC236}">
                <a16:creationId xmlns:a16="http://schemas.microsoft.com/office/drawing/2014/main" id="{BC1DD31A-628B-4614-8F06-CE9DC7376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76" y="3513138"/>
            <a:ext cx="1674813" cy="40005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</a:rPr>
              <a:t>25 x 13 x 13</a:t>
            </a:r>
            <a:endParaRPr lang="zh-TW" altLang="en-US" sz="2000" dirty="0">
              <a:solidFill>
                <a:schemeClr val="dk1"/>
              </a:solidFill>
            </a:endParaRPr>
          </a:p>
        </p:txBody>
      </p:sp>
      <p:sp>
        <p:nvSpPr>
          <p:cNvPr id="22" name="文字方塊 25">
            <a:extLst>
              <a:ext uri="{FF2B5EF4-FFF2-40B4-BE49-F238E27FC236}">
                <a16:creationId xmlns:a16="http://schemas.microsoft.com/office/drawing/2014/main" id="{96183D70-8288-FBDC-E4A5-B942FB492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76" y="4595813"/>
            <a:ext cx="1674813" cy="40005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</a:rPr>
              <a:t>50 x 11 x 11</a:t>
            </a:r>
            <a:endParaRPr lang="zh-TW" altLang="en-US" sz="2000" dirty="0">
              <a:solidFill>
                <a:schemeClr val="dk1"/>
              </a:solidFill>
            </a:endParaRPr>
          </a:p>
        </p:txBody>
      </p:sp>
      <p:sp>
        <p:nvSpPr>
          <p:cNvPr id="23" name="文字方塊 26">
            <a:extLst>
              <a:ext uri="{FF2B5EF4-FFF2-40B4-BE49-F238E27FC236}">
                <a16:creationId xmlns:a16="http://schemas.microsoft.com/office/drawing/2014/main" id="{21B85382-2245-0A50-AEED-6ABED9A1D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76" y="5624513"/>
            <a:ext cx="1674813" cy="40005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</a:rPr>
              <a:t>50 x 5 x 5</a:t>
            </a:r>
            <a:endParaRPr lang="zh-TW" altLang="en-US" sz="2000" dirty="0">
              <a:solidFill>
                <a:schemeClr val="dk1"/>
              </a:solidFill>
            </a:endParaRPr>
          </a:p>
        </p:txBody>
      </p:sp>
      <p:cxnSp>
        <p:nvCxnSpPr>
          <p:cNvPr id="24" name="直線單箭頭接點 32">
            <a:extLst>
              <a:ext uri="{FF2B5EF4-FFF2-40B4-BE49-F238E27FC236}">
                <a16:creationId xmlns:a16="http://schemas.microsoft.com/office/drawing/2014/main" id="{E0F7031F-E009-7B68-B4BB-236182135B4A}"/>
              </a:ext>
            </a:extLst>
          </p:cNvPr>
          <p:cNvCxnSpPr>
            <a:endCxn id="15" idx="3"/>
          </p:cNvCxnSpPr>
          <p:nvPr/>
        </p:nvCxnSpPr>
        <p:spPr>
          <a:xfrm flipH="1" flipV="1">
            <a:off x="7096125" y="2151064"/>
            <a:ext cx="736600" cy="1587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37">
            <a:extLst>
              <a:ext uri="{FF2B5EF4-FFF2-40B4-BE49-F238E27FC236}">
                <a16:creationId xmlns:a16="http://schemas.microsoft.com/office/drawing/2014/main" id="{6F4E12A5-AA1A-67E7-11B4-82BD457CA112}"/>
              </a:ext>
            </a:extLst>
          </p:cNvPr>
          <p:cNvCxnSpPr/>
          <p:nvPr/>
        </p:nvCxnSpPr>
        <p:spPr>
          <a:xfrm flipH="1" flipV="1">
            <a:off x="7096125" y="3249614"/>
            <a:ext cx="736600" cy="3175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38">
            <a:extLst>
              <a:ext uri="{FF2B5EF4-FFF2-40B4-BE49-F238E27FC236}">
                <a16:creationId xmlns:a16="http://schemas.microsoft.com/office/drawing/2014/main" id="{AF96CBCF-862A-9190-4C07-7949580EE843}"/>
              </a:ext>
            </a:extLst>
          </p:cNvPr>
          <p:cNvCxnSpPr/>
          <p:nvPr/>
        </p:nvCxnSpPr>
        <p:spPr>
          <a:xfrm flipH="1" flipV="1">
            <a:off x="7096125" y="4352925"/>
            <a:ext cx="736600" cy="1588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39">
            <a:extLst>
              <a:ext uri="{FF2B5EF4-FFF2-40B4-BE49-F238E27FC236}">
                <a16:creationId xmlns:a16="http://schemas.microsoft.com/office/drawing/2014/main" id="{4D7E53A5-7E25-0D64-ED9E-2CFE9DD33CD6}"/>
              </a:ext>
            </a:extLst>
          </p:cNvPr>
          <p:cNvCxnSpPr/>
          <p:nvPr/>
        </p:nvCxnSpPr>
        <p:spPr>
          <a:xfrm flipH="1" flipV="1">
            <a:off x="7104063" y="5400675"/>
            <a:ext cx="736600" cy="1588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">
            <a:extLst>
              <a:ext uri="{FF2B5EF4-FFF2-40B4-BE49-F238E27FC236}">
                <a16:creationId xmlns:a16="http://schemas.microsoft.com/office/drawing/2014/main" id="{8E8C0F72-1E2D-B6A1-AD5A-05825E362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5439" y="2309814"/>
            <a:ext cx="31575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000"/>
              <a:t>How many parameters for each filter?</a:t>
            </a:r>
            <a:endParaRPr lang="zh-TW" altLang="en-US" sz="2000"/>
          </a:p>
        </p:txBody>
      </p:sp>
      <p:sp>
        <p:nvSpPr>
          <p:cNvPr id="29" name="文字方塊 27">
            <a:extLst>
              <a:ext uri="{FF2B5EF4-FFF2-40B4-BE49-F238E27FC236}">
                <a16:creationId xmlns:a16="http://schemas.microsoft.com/office/drawing/2014/main" id="{35D17410-ACBB-0971-C9C2-5E59A031C1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6" y="4406901"/>
            <a:ext cx="31591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000"/>
              <a:t>How many parameters</a:t>
            </a:r>
          </a:p>
          <a:p>
            <a:pPr eaLnBrk="1" hangingPunct="1"/>
            <a:r>
              <a:rPr lang="en-US" altLang="zh-TW" sz="2000"/>
              <a:t>for each filter?</a:t>
            </a:r>
            <a:endParaRPr lang="zh-TW" altLang="en-US"/>
          </a:p>
        </p:txBody>
      </p:sp>
      <p:sp>
        <p:nvSpPr>
          <p:cNvPr id="30" name="文字方塊 3">
            <a:extLst>
              <a:ext uri="{FF2B5EF4-FFF2-40B4-BE49-F238E27FC236}">
                <a16:creationId xmlns:a16="http://schemas.microsoft.com/office/drawing/2014/main" id="{34101D21-AF0E-0B1B-8D04-D533D7CF5BE5}"/>
              </a:ext>
            </a:extLst>
          </p:cNvPr>
          <p:cNvSpPr txBox="1"/>
          <p:nvPr/>
        </p:nvSpPr>
        <p:spPr>
          <a:xfrm>
            <a:off x="4697529" y="2507093"/>
            <a:ext cx="487810" cy="40011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/>
              <a:t>9</a:t>
            </a:r>
            <a:endParaRPr lang="zh-TW" altLang="en-US" sz="2000" dirty="0"/>
          </a:p>
        </p:txBody>
      </p:sp>
      <p:sp>
        <p:nvSpPr>
          <p:cNvPr id="31" name="文字方塊 40">
            <a:extLst>
              <a:ext uri="{FF2B5EF4-FFF2-40B4-BE49-F238E27FC236}">
                <a16:creationId xmlns:a16="http://schemas.microsoft.com/office/drawing/2014/main" id="{A7B4E1D2-9171-F657-10E7-78D0A3A6FEA7}"/>
              </a:ext>
            </a:extLst>
          </p:cNvPr>
          <p:cNvSpPr txBox="1"/>
          <p:nvPr/>
        </p:nvSpPr>
        <p:spPr>
          <a:xfrm>
            <a:off x="4343401" y="4495800"/>
            <a:ext cx="951851" cy="70788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225=</a:t>
            </a:r>
          </a:p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25x9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pic>
        <p:nvPicPr>
          <p:cNvPr id="32" name="圖片 46">
            <a:extLst>
              <a:ext uri="{FF2B5EF4-FFF2-40B4-BE49-F238E27FC236}">
                <a16:creationId xmlns:a16="http://schemas.microsoft.com/office/drawing/2014/main" id="{819E5648-6DD3-1244-DF76-7C041D2640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401" y="2132013"/>
            <a:ext cx="1274763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3BDD4-EB00-BA27-ED79-83706428A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18FB4-A8FD-49EA-BD43-6756465A5967}" type="datetime1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FDF3BA-4F3E-E191-B1ED-142A4B134C1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B43916-5553-E457-E9C2-233D9050B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8" grpId="0"/>
      <p:bldP spid="2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4">
            <a:extLst>
              <a:ext uri="{FF2B5EF4-FFF2-40B4-BE49-F238E27FC236}">
                <a16:creationId xmlns:a16="http://schemas.microsoft.com/office/drawing/2014/main" id="{DD21FD01-5DD9-DFB5-4288-15125A783510}"/>
              </a:ext>
            </a:extLst>
          </p:cNvPr>
          <p:cNvSpPr txBox="1"/>
          <p:nvPr/>
        </p:nvSpPr>
        <p:spPr>
          <a:xfrm>
            <a:off x="4615046" y="141751"/>
            <a:ext cx="5540375" cy="70788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Only modified the </a:t>
            </a:r>
            <a:r>
              <a:rPr lang="en-US" altLang="zh-TW" sz="2000" b="1" i="1" dirty="0">
                <a:solidFill>
                  <a:srgbClr val="000000"/>
                </a:solidFill>
              </a:rPr>
              <a:t>network structure </a:t>
            </a:r>
            <a:r>
              <a:rPr lang="en-US" altLang="zh-TW" sz="2000" dirty="0">
                <a:solidFill>
                  <a:srgbClr val="000000"/>
                </a:solidFill>
              </a:rPr>
              <a:t>and </a:t>
            </a:r>
            <a:r>
              <a:rPr lang="en-US" altLang="zh-TW" sz="2000" b="1" i="1" dirty="0">
                <a:solidFill>
                  <a:srgbClr val="000000"/>
                </a:solidFill>
              </a:rPr>
              <a:t>input format (vector -&gt; 3-D array)</a:t>
            </a:r>
            <a:endParaRPr lang="zh-TW" altLang="en-US" sz="2000" b="1" i="1" dirty="0">
              <a:solidFill>
                <a:srgbClr val="000000"/>
              </a:solidFill>
            </a:endParaRPr>
          </a:p>
        </p:txBody>
      </p:sp>
      <p:sp>
        <p:nvSpPr>
          <p:cNvPr id="37892" name="矩形 9">
            <a:extLst>
              <a:ext uri="{FF2B5EF4-FFF2-40B4-BE49-F238E27FC236}">
                <a16:creationId xmlns:a16="http://schemas.microsoft.com/office/drawing/2014/main" id="{6B4F27E8-A0A3-8A3A-6293-F49C6278B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65113"/>
            <a:ext cx="24817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TW" sz="2800" b="1" i="1" u="sng"/>
              <a:t>CNN in Keras</a:t>
            </a:r>
            <a:endParaRPr lang="zh-TW" altLang="en-US" sz="2800" b="1" i="1" u="sng"/>
          </a:p>
        </p:txBody>
      </p:sp>
      <p:sp>
        <p:nvSpPr>
          <p:cNvPr id="6" name="矩形 28">
            <a:extLst>
              <a:ext uri="{FF2B5EF4-FFF2-40B4-BE49-F238E27FC236}">
                <a16:creationId xmlns:a16="http://schemas.microsoft.com/office/drawing/2014/main" id="{7FFA7371-95F1-BBD8-E057-AECA86CD95B5}"/>
              </a:ext>
            </a:extLst>
          </p:cNvPr>
          <p:cNvSpPr/>
          <p:nvPr/>
        </p:nvSpPr>
        <p:spPr>
          <a:xfrm>
            <a:off x="7832508" y="1874056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Convolution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7" name="矩形 29">
            <a:extLst>
              <a:ext uri="{FF2B5EF4-FFF2-40B4-BE49-F238E27FC236}">
                <a16:creationId xmlns:a16="http://schemas.microsoft.com/office/drawing/2014/main" id="{D04D2339-CC22-543E-751F-CBE8BCAFDB14}"/>
              </a:ext>
            </a:extLst>
          </p:cNvPr>
          <p:cNvSpPr/>
          <p:nvPr/>
        </p:nvSpPr>
        <p:spPr>
          <a:xfrm>
            <a:off x="7832508" y="2974068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Max Pooling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8" name="矩形 30">
            <a:extLst>
              <a:ext uri="{FF2B5EF4-FFF2-40B4-BE49-F238E27FC236}">
                <a16:creationId xmlns:a16="http://schemas.microsoft.com/office/drawing/2014/main" id="{96270F69-D943-7691-EB58-7D14D1755786}"/>
              </a:ext>
            </a:extLst>
          </p:cNvPr>
          <p:cNvSpPr/>
          <p:nvPr/>
        </p:nvSpPr>
        <p:spPr>
          <a:xfrm>
            <a:off x="7832508" y="4042281"/>
            <a:ext cx="1736724" cy="5564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Convolution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9" name="矩形 31">
            <a:extLst>
              <a:ext uri="{FF2B5EF4-FFF2-40B4-BE49-F238E27FC236}">
                <a16:creationId xmlns:a16="http://schemas.microsoft.com/office/drawing/2014/main" id="{CF0C0AF0-9C70-72ED-E400-D74397E3F7DD}"/>
              </a:ext>
            </a:extLst>
          </p:cNvPr>
          <p:cNvSpPr/>
          <p:nvPr/>
        </p:nvSpPr>
        <p:spPr>
          <a:xfrm>
            <a:off x="7832508" y="5075533"/>
            <a:ext cx="1736724" cy="5564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Max Pooling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0" name="向下箭號 11">
            <a:extLst>
              <a:ext uri="{FF2B5EF4-FFF2-40B4-BE49-F238E27FC236}">
                <a16:creationId xmlns:a16="http://schemas.microsoft.com/office/drawing/2014/main" id="{7B247B2A-F9B1-154B-B23E-A61859E89DA0}"/>
              </a:ext>
            </a:extLst>
          </p:cNvPr>
          <p:cNvSpPr/>
          <p:nvPr/>
        </p:nvSpPr>
        <p:spPr>
          <a:xfrm>
            <a:off x="8451850" y="1397001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1" name="向下箭號 17">
            <a:extLst>
              <a:ext uri="{FF2B5EF4-FFF2-40B4-BE49-F238E27FC236}">
                <a16:creationId xmlns:a16="http://schemas.microsoft.com/office/drawing/2014/main" id="{93989B57-C89B-1B83-F18C-54B944C14EE2}"/>
              </a:ext>
            </a:extLst>
          </p:cNvPr>
          <p:cNvSpPr/>
          <p:nvPr/>
        </p:nvSpPr>
        <p:spPr>
          <a:xfrm>
            <a:off x="8451850" y="2506663"/>
            <a:ext cx="546100" cy="442912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2" name="向下箭號 18">
            <a:extLst>
              <a:ext uri="{FF2B5EF4-FFF2-40B4-BE49-F238E27FC236}">
                <a16:creationId xmlns:a16="http://schemas.microsoft.com/office/drawing/2014/main" id="{3502D820-C4BC-7905-A6B2-BB6D058986C7}"/>
              </a:ext>
            </a:extLst>
          </p:cNvPr>
          <p:cNvSpPr/>
          <p:nvPr/>
        </p:nvSpPr>
        <p:spPr>
          <a:xfrm>
            <a:off x="8451850" y="3598864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3" name="向下箭號 19">
            <a:extLst>
              <a:ext uri="{FF2B5EF4-FFF2-40B4-BE49-F238E27FC236}">
                <a16:creationId xmlns:a16="http://schemas.microsoft.com/office/drawing/2014/main" id="{BF7A7EFC-D864-7B12-AFEA-CAF69A757EC6}"/>
              </a:ext>
            </a:extLst>
          </p:cNvPr>
          <p:cNvSpPr/>
          <p:nvPr/>
        </p:nvSpPr>
        <p:spPr>
          <a:xfrm>
            <a:off x="8451850" y="4633914"/>
            <a:ext cx="546100" cy="441325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37909" name="文字方塊 41">
            <a:extLst>
              <a:ext uri="{FF2B5EF4-FFF2-40B4-BE49-F238E27FC236}">
                <a16:creationId xmlns:a16="http://schemas.microsoft.com/office/drawing/2014/main" id="{1CB94495-0315-3C29-6356-856B89FDA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914401"/>
            <a:ext cx="20462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Input</a:t>
            </a:r>
            <a:endParaRPr lang="zh-TW" altLang="en-US"/>
          </a:p>
        </p:txBody>
      </p:sp>
      <p:sp>
        <p:nvSpPr>
          <p:cNvPr id="15" name="文字方塊 22">
            <a:extLst>
              <a:ext uri="{FF2B5EF4-FFF2-40B4-BE49-F238E27FC236}">
                <a16:creationId xmlns:a16="http://schemas.microsoft.com/office/drawing/2014/main" id="{BC2396C0-1848-EB2D-59B0-8012FD961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038" y="1365250"/>
            <a:ext cx="1674812" cy="40005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</a:rPr>
              <a:t>1 x 28 x 28</a:t>
            </a:r>
            <a:endParaRPr lang="zh-TW" altLang="en-US" sz="2000" dirty="0">
              <a:solidFill>
                <a:schemeClr val="dk1"/>
              </a:solidFill>
            </a:endParaRPr>
          </a:p>
        </p:txBody>
      </p:sp>
      <p:sp>
        <p:nvSpPr>
          <p:cNvPr id="16" name="文字方塊 23">
            <a:extLst>
              <a:ext uri="{FF2B5EF4-FFF2-40B4-BE49-F238E27FC236}">
                <a16:creationId xmlns:a16="http://schemas.microsoft.com/office/drawing/2014/main" id="{1BE3C3F1-8657-7A49-97E6-CA0A71435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038" y="2479675"/>
            <a:ext cx="1674812" cy="401638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25 x 26 x 26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7" name="文字方塊 24">
            <a:extLst>
              <a:ext uri="{FF2B5EF4-FFF2-40B4-BE49-F238E27FC236}">
                <a16:creationId xmlns:a16="http://schemas.microsoft.com/office/drawing/2014/main" id="{D88A25A1-C664-548A-B304-C9F1FF1C5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038" y="3556000"/>
            <a:ext cx="1674812" cy="40005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25 x 13 x 13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8" name="文字方塊 25">
            <a:extLst>
              <a:ext uri="{FF2B5EF4-FFF2-40B4-BE49-F238E27FC236}">
                <a16:creationId xmlns:a16="http://schemas.microsoft.com/office/drawing/2014/main" id="{312BA96F-8EFF-7CC2-446C-A316009D7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038" y="4613275"/>
            <a:ext cx="1674812" cy="40005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50 x 11 x 11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19" name="文字方塊 26">
            <a:extLst>
              <a:ext uri="{FF2B5EF4-FFF2-40B4-BE49-F238E27FC236}">
                <a16:creationId xmlns:a16="http://schemas.microsoft.com/office/drawing/2014/main" id="{79FF845C-5990-21C6-6DBE-D870F7E1C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038" y="5553075"/>
            <a:ext cx="1674812" cy="40005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</a:rPr>
              <a:t>50 x 5 x 5</a:t>
            </a:r>
            <a:endParaRPr lang="zh-TW" altLang="en-US" sz="2000" dirty="0">
              <a:solidFill>
                <a:schemeClr val="dk1"/>
              </a:solidFill>
            </a:endParaRPr>
          </a:p>
        </p:txBody>
      </p:sp>
      <p:sp>
        <p:nvSpPr>
          <p:cNvPr id="20" name="文字方塊 32">
            <a:extLst>
              <a:ext uri="{FF2B5EF4-FFF2-40B4-BE49-F238E27FC236}">
                <a16:creationId xmlns:a16="http://schemas.microsoft.com/office/drawing/2014/main" id="{06224392-771A-BC3D-F3D2-FBD1C63B83F2}"/>
              </a:ext>
            </a:extLst>
          </p:cNvPr>
          <p:cNvSpPr txBox="1"/>
          <p:nvPr/>
        </p:nvSpPr>
        <p:spPr>
          <a:xfrm>
            <a:off x="4791597" y="5851258"/>
            <a:ext cx="1556991" cy="4001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Flattened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sp>
        <p:nvSpPr>
          <p:cNvPr id="21" name="右彎箭號 16">
            <a:extLst>
              <a:ext uri="{FF2B5EF4-FFF2-40B4-BE49-F238E27FC236}">
                <a16:creationId xmlns:a16="http://schemas.microsoft.com/office/drawing/2014/main" id="{AA67E9E9-6B7A-1FC7-D613-ECB4281B8E19}"/>
              </a:ext>
            </a:extLst>
          </p:cNvPr>
          <p:cNvSpPr/>
          <p:nvPr/>
        </p:nvSpPr>
        <p:spPr>
          <a:xfrm rot="10800000">
            <a:off x="6388100" y="5651501"/>
            <a:ext cx="2452688" cy="631825"/>
          </a:xfrm>
          <a:prstGeom prst="bentArrow">
            <a:avLst>
              <a:gd name="adj1" fmla="val 36585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右彎箭號 21">
            <a:extLst>
              <a:ext uri="{FF2B5EF4-FFF2-40B4-BE49-F238E27FC236}">
                <a16:creationId xmlns:a16="http://schemas.microsoft.com/office/drawing/2014/main" id="{020E6EB5-35B2-F530-236F-7844717922FD}"/>
              </a:ext>
            </a:extLst>
          </p:cNvPr>
          <p:cNvSpPr/>
          <p:nvPr/>
        </p:nvSpPr>
        <p:spPr>
          <a:xfrm rot="16200000">
            <a:off x="3675857" y="5126832"/>
            <a:ext cx="727075" cy="1398588"/>
          </a:xfrm>
          <a:prstGeom prst="bentArrow">
            <a:avLst>
              <a:gd name="adj1" fmla="val 28061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23" name="圖片 2">
            <a:extLst>
              <a:ext uri="{FF2B5EF4-FFF2-40B4-BE49-F238E27FC236}">
                <a16:creationId xmlns:a16="http://schemas.microsoft.com/office/drawing/2014/main" id="{2E4724CA-9D79-5F02-CEAD-A5807255E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6551" y="6329363"/>
            <a:ext cx="28479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文字方塊 39">
            <a:extLst>
              <a:ext uri="{FF2B5EF4-FFF2-40B4-BE49-F238E27FC236}">
                <a16:creationId xmlns:a16="http://schemas.microsoft.com/office/drawing/2014/main" id="{885C5001-2440-831E-141F-79D5B8134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2051" y="5483225"/>
            <a:ext cx="1006475" cy="40005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TW" sz="2000" dirty="0">
                <a:solidFill>
                  <a:schemeClr val="dk1"/>
                </a:solidFill>
              </a:rPr>
              <a:t>1250</a:t>
            </a:r>
            <a:endParaRPr lang="zh-TW" altLang="en-US" sz="2000" dirty="0">
              <a:solidFill>
                <a:schemeClr val="dk1"/>
              </a:solidFill>
            </a:endParaRPr>
          </a:p>
        </p:txBody>
      </p:sp>
      <p:grpSp>
        <p:nvGrpSpPr>
          <p:cNvPr id="25" name="群組 40">
            <a:extLst>
              <a:ext uri="{FF2B5EF4-FFF2-40B4-BE49-F238E27FC236}">
                <a16:creationId xmlns:a16="http://schemas.microsoft.com/office/drawing/2014/main" id="{6D619001-C129-1B25-D1CE-6A5BB88E3F08}"/>
              </a:ext>
            </a:extLst>
          </p:cNvPr>
          <p:cNvGrpSpPr>
            <a:grpSpLocks/>
          </p:cNvGrpSpPr>
          <p:nvPr/>
        </p:nvGrpSpPr>
        <p:grpSpPr bwMode="auto">
          <a:xfrm>
            <a:off x="2038351" y="2208214"/>
            <a:ext cx="2906713" cy="3201987"/>
            <a:chOff x="-1595803" y="3999117"/>
            <a:chExt cx="2906568" cy="3201477"/>
          </a:xfrm>
        </p:grpSpPr>
        <p:pic>
          <p:nvPicPr>
            <p:cNvPr id="37925" name="圖片 44">
              <a:extLst>
                <a:ext uri="{FF2B5EF4-FFF2-40B4-BE49-F238E27FC236}">
                  <a16:creationId xmlns:a16="http://schemas.microsoft.com/office/drawing/2014/main" id="{1AFF607F-2DA6-4C28-E818-F27B863F2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H="1">
              <a:off x="-1736746" y="4748962"/>
              <a:ext cx="3201477" cy="1701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文字方塊 45">
              <a:extLst>
                <a:ext uri="{FF2B5EF4-FFF2-40B4-BE49-F238E27FC236}">
                  <a16:creationId xmlns:a16="http://schemas.microsoft.com/office/drawing/2014/main" id="{85ED9889-590C-334E-43A4-CB4916C433DA}"/>
                </a:ext>
              </a:extLst>
            </p:cNvPr>
            <p:cNvSpPr txBox="1"/>
            <p:nvPr/>
          </p:nvSpPr>
          <p:spPr>
            <a:xfrm>
              <a:off x="-1595803" y="4773762"/>
              <a:ext cx="2906568" cy="70788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TW" sz="2000" dirty="0">
                  <a:solidFill>
                    <a:srgbClr val="000000"/>
                  </a:solidFill>
                </a:rPr>
                <a:t>Fully connected </a:t>
              </a:r>
              <a:r>
                <a:rPr lang="en-US" altLang="zh-TW" sz="2000" dirty="0" err="1">
                  <a:solidFill>
                    <a:srgbClr val="000000"/>
                  </a:solidFill>
                </a:rPr>
                <a:t>feedforward</a:t>
              </a:r>
              <a:r>
                <a:rPr lang="en-US" altLang="zh-TW" sz="2000" dirty="0">
                  <a:solidFill>
                    <a:srgbClr val="000000"/>
                  </a:solidFill>
                </a:rPr>
                <a:t> network</a:t>
              </a:r>
              <a:endParaRPr lang="zh-TW" altLang="en-US" sz="2000" dirty="0">
                <a:solidFill>
                  <a:srgbClr val="000000"/>
                </a:solidFill>
              </a:endParaRPr>
            </a:p>
          </p:txBody>
        </p:sp>
      </p:grpSp>
      <p:sp>
        <p:nvSpPr>
          <p:cNvPr id="28" name="文字方塊 46">
            <a:extLst>
              <a:ext uri="{FF2B5EF4-FFF2-40B4-BE49-F238E27FC236}">
                <a16:creationId xmlns:a16="http://schemas.microsoft.com/office/drawing/2014/main" id="{6C9F9076-B516-6729-754A-38BA510E9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4914" y="1827213"/>
            <a:ext cx="20462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TW"/>
              <a:t>Output</a:t>
            </a:r>
            <a:endParaRPr lang="zh-TW" altLang="en-US"/>
          </a:p>
        </p:txBody>
      </p:sp>
      <p:pic>
        <p:nvPicPr>
          <p:cNvPr id="29" name="圖片 3">
            <a:extLst>
              <a:ext uri="{FF2B5EF4-FFF2-40B4-BE49-F238E27FC236}">
                <a16:creationId xmlns:a16="http://schemas.microsoft.com/office/drawing/2014/main" id="{BBED630E-920D-8433-4A42-E9E62493B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3932238"/>
            <a:ext cx="455295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5FC921-84BA-7939-A80D-67615A0D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942FE-69AE-427F-86F1-DF4BDA622539}" type="datetime1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806A11-B1AC-3CC1-6BC6-994D33CC66F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9DD340-899C-A7AD-10D4-59B507A52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2523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15951" y="0"/>
            <a:ext cx="6878320" cy="9042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2106295">
              <a:lnSpc>
                <a:spcPts val="5255"/>
              </a:lnSpc>
              <a:spcBef>
                <a:spcPts val="100"/>
              </a:spcBef>
            </a:pPr>
            <a:r>
              <a:rPr sz="4400" spc="-22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4400" spc="-210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4400" spc="-330" dirty="0">
                <a:solidFill>
                  <a:srgbClr val="FFFFFF"/>
                </a:solidFill>
                <a:latin typeface="Trebuchet MS"/>
                <a:cs typeface="Trebuchet MS"/>
              </a:rPr>
              <a:t>tt</a:t>
            </a:r>
            <a:r>
              <a:rPr sz="4400" spc="-24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4400" spc="-21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4400" spc="-330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44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00" spc="-31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4400" spc="-28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4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00" spc="-44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4400" spc="-35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4400" spc="-33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44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00" spc="-29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4400" spc="4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4400" spc="-340" dirty="0">
                <a:solidFill>
                  <a:srgbClr val="FFFFFF"/>
                </a:solidFill>
                <a:latin typeface="Trebuchet MS"/>
                <a:cs typeface="Trebuchet MS"/>
              </a:rPr>
              <a:t>ge</a:t>
            </a:r>
            <a:r>
              <a:rPr sz="4400" spc="-26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4400" spc="-215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sz="4400" spc="-140" dirty="0">
                <a:solidFill>
                  <a:srgbClr val="FFFFFF"/>
                </a:solidFill>
                <a:latin typeface="Trebuchet MS"/>
                <a:cs typeface="Trebuchet MS"/>
              </a:rPr>
              <a:t>er</a:t>
            </a:r>
            <a:endParaRPr sz="4400">
              <a:latin typeface="Trebuchet MS"/>
              <a:cs typeface="Trebuchet MS"/>
            </a:endParaRPr>
          </a:p>
          <a:p>
            <a:pPr marL="12700">
              <a:lnSpc>
                <a:spcPts val="1655"/>
              </a:lnSpc>
            </a:pPr>
            <a:r>
              <a:rPr sz="1400" spc="-10" dirty="0">
                <a:solidFill>
                  <a:srgbClr val="F82571"/>
                </a:solidFill>
                <a:latin typeface="Courier New"/>
                <a:cs typeface="Courier New"/>
              </a:rPr>
              <a:t>import</a:t>
            </a:r>
            <a:r>
              <a:rPr sz="1400" spc="-50" dirty="0">
                <a:solidFill>
                  <a:srgbClr val="F8257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tensorflow</a:t>
            </a:r>
            <a:r>
              <a:rPr sz="1400" spc="-45" dirty="0">
                <a:solidFill>
                  <a:srgbClr val="F8F8F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F82571"/>
                </a:solidFill>
                <a:latin typeface="Courier New"/>
                <a:cs typeface="Courier New"/>
              </a:rPr>
              <a:t>as</a:t>
            </a:r>
            <a:r>
              <a:rPr sz="1400" spc="-55" dirty="0">
                <a:solidFill>
                  <a:srgbClr val="F82571"/>
                </a:solidFill>
                <a:latin typeface="Courier New"/>
                <a:cs typeface="Courier New"/>
              </a:rPr>
              <a:t> 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tf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5951" y="1102318"/>
            <a:ext cx="7138670" cy="5080109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spcBef>
                <a:spcPts val="480"/>
              </a:spcBef>
            </a:pPr>
            <a:r>
              <a:rPr sz="1400" spc="-10" dirty="0">
                <a:solidFill>
                  <a:srgbClr val="66D9EE"/>
                </a:solidFill>
                <a:latin typeface="Courier New"/>
                <a:cs typeface="Courier New"/>
              </a:rPr>
              <a:t>def</a:t>
            </a:r>
            <a:r>
              <a:rPr sz="1400" spc="-90" dirty="0">
                <a:solidFill>
                  <a:srgbClr val="66D9EE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A6E12D"/>
                </a:solidFill>
                <a:latin typeface="Courier New"/>
                <a:cs typeface="Courier New"/>
              </a:rPr>
              <a:t>generate_model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():</a:t>
            </a:r>
            <a:endParaRPr sz="1400">
              <a:latin typeface="Courier New"/>
              <a:cs typeface="Courier New"/>
            </a:endParaRPr>
          </a:p>
          <a:p>
            <a:pPr marL="686435" marR="3605529" indent="-343535">
              <a:lnSpc>
                <a:spcPts val="2180"/>
              </a:lnSpc>
              <a:spcBef>
                <a:spcPts val="40"/>
              </a:spcBef>
            </a:pP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model</a:t>
            </a:r>
            <a:r>
              <a:rPr sz="1400" spc="50" dirty="0">
                <a:solidFill>
                  <a:srgbClr val="F8F8F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2571"/>
                </a:solidFill>
                <a:latin typeface="Courier New"/>
                <a:cs typeface="Courier New"/>
              </a:rPr>
              <a:t>=</a:t>
            </a:r>
            <a:r>
              <a:rPr sz="1400" spc="70" dirty="0">
                <a:solidFill>
                  <a:srgbClr val="F8257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tf</a:t>
            </a:r>
            <a:r>
              <a:rPr sz="1400" spc="-10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keras</a:t>
            </a:r>
            <a:r>
              <a:rPr sz="1400" spc="-10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Sequential([ </a:t>
            </a:r>
            <a:r>
              <a:rPr sz="1400" spc="-825" dirty="0">
                <a:solidFill>
                  <a:srgbClr val="F8F8F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75705E"/>
                </a:solidFill>
                <a:latin typeface="Courier New"/>
                <a:cs typeface="Courier New"/>
              </a:rPr>
              <a:t>#</a:t>
            </a:r>
            <a:r>
              <a:rPr sz="1400" spc="-30" dirty="0">
                <a:solidFill>
                  <a:srgbClr val="75705E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75705E"/>
                </a:solidFill>
                <a:latin typeface="Courier New"/>
                <a:cs typeface="Courier New"/>
              </a:rPr>
              <a:t>first</a:t>
            </a:r>
            <a:r>
              <a:rPr sz="1400" spc="-35" dirty="0">
                <a:solidFill>
                  <a:srgbClr val="75705E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75705E"/>
                </a:solidFill>
                <a:latin typeface="Courier New"/>
                <a:cs typeface="Courier New"/>
              </a:rPr>
              <a:t>convolutional</a:t>
            </a:r>
            <a:r>
              <a:rPr sz="1400" spc="-150" dirty="0">
                <a:solidFill>
                  <a:srgbClr val="75705E"/>
                </a:solidFill>
                <a:latin typeface="Courier New"/>
                <a:cs typeface="Courier New"/>
              </a:rPr>
              <a:t> </a:t>
            </a:r>
            <a:r>
              <a:rPr sz="1400" spc="-15" dirty="0">
                <a:solidFill>
                  <a:srgbClr val="75705E"/>
                </a:solidFill>
                <a:latin typeface="Courier New"/>
                <a:cs typeface="Courier New"/>
              </a:rPr>
              <a:t>layer</a:t>
            </a:r>
            <a:endParaRPr sz="1400">
              <a:latin typeface="Courier New"/>
              <a:cs typeface="Courier New"/>
            </a:endParaRPr>
          </a:p>
          <a:p>
            <a:pPr marL="685800" marR="5080">
              <a:lnSpc>
                <a:spcPts val="2080"/>
              </a:lnSpc>
              <a:spcBef>
                <a:spcPts val="114"/>
              </a:spcBef>
            </a:pP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tf</a:t>
            </a:r>
            <a:r>
              <a:rPr sz="1400" spc="-15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keras</a:t>
            </a:r>
            <a:r>
              <a:rPr sz="1400" spc="-15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layers</a:t>
            </a:r>
            <a:r>
              <a:rPr sz="1400" spc="-15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Conv2D(</a:t>
            </a:r>
            <a:r>
              <a:rPr sz="1400" spc="-15" dirty="0">
                <a:solidFill>
                  <a:srgbClr val="AD81FF"/>
                </a:solidFill>
                <a:latin typeface="Courier New"/>
                <a:cs typeface="Courier New"/>
              </a:rPr>
              <a:t>32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,</a:t>
            </a:r>
            <a:r>
              <a:rPr sz="1400" spc="35" dirty="0">
                <a:solidFill>
                  <a:srgbClr val="F8F8F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filter_size</a:t>
            </a:r>
            <a:r>
              <a:rPr sz="1400" spc="-10" dirty="0">
                <a:solidFill>
                  <a:srgbClr val="F82571"/>
                </a:solidFill>
                <a:latin typeface="Courier New"/>
                <a:cs typeface="Courier New"/>
              </a:rPr>
              <a:t>=</a:t>
            </a:r>
            <a:r>
              <a:rPr sz="1400" spc="-10" dirty="0">
                <a:solidFill>
                  <a:srgbClr val="AD81FF"/>
                </a:solidFill>
                <a:latin typeface="Courier New"/>
                <a:cs typeface="Courier New"/>
              </a:rPr>
              <a:t>3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,</a:t>
            </a:r>
            <a:r>
              <a:rPr sz="1400" spc="40" dirty="0">
                <a:solidFill>
                  <a:srgbClr val="F8F8F1"/>
                </a:solidFill>
                <a:latin typeface="Courier New"/>
                <a:cs typeface="Courier New"/>
              </a:rPr>
              <a:t> 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activation</a:t>
            </a:r>
            <a:r>
              <a:rPr sz="1400" spc="-15" dirty="0">
                <a:solidFill>
                  <a:srgbClr val="F82571"/>
                </a:solidFill>
                <a:latin typeface="Courier New"/>
                <a:cs typeface="Courier New"/>
              </a:rPr>
              <a:t>=</a:t>
            </a:r>
            <a:r>
              <a:rPr sz="1400" spc="-15" dirty="0">
                <a:solidFill>
                  <a:srgbClr val="E6DB74"/>
                </a:solidFill>
                <a:latin typeface="Courier New"/>
                <a:cs typeface="Courier New"/>
              </a:rPr>
              <a:t>'relu’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), </a:t>
            </a:r>
            <a:r>
              <a:rPr sz="1400" spc="-830" dirty="0">
                <a:solidFill>
                  <a:srgbClr val="F8F8F1"/>
                </a:solidFill>
                <a:latin typeface="Courier New"/>
                <a:cs typeface="Courier New"/>
              </a:rPr>
              <a:t> 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tf</a:t>
            </a:r>
            <a:r>
              <a:rPr sz="1400" spc="-15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keras</a:t>
            </a:r>
            <a:r>
              <a:rPr sz="1400" spc="-15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layers</a:t>
            </a:r>
            <a:r>
              <a:rPr sz="1400" spc="-15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MaxPool2D(pool_size</a:t>
            </a:r>
            <a:r>
              <a:rPr sz="1400" spc="-15" dirty="0">
                <a:solidFill>
                  <a:srgbClr val="F82571"/>
                </a:solidFill>
                <a:latin typeface="Courier New"/>
                <a:cs typeface="Courier New"/>
              </a:rPr>
              <a:t>=</a:t>
            </a:r>
            <a:r>
              <a:rPr sz="1400" spc="-15" dirty="0">
                <a:solidFill>
                  <a:srgbClr val="AD81FF"/>
                </a:solidFill>
                <a:latin typeface="Courier New"/>
                <a:cs typeface="Courier New"/>
              </a:rPr>
              <a:t>2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,</a:t>
            </a:r>
            <a:r>
              <a:rPr sz="1400" spc="-35" dirty="0">
                <a:solidFill>
                  <a:srgbClr val="F8F8F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strides</a:t>
            </a:r>
            <a:r>
              <a:rPr sz="1400" spc="-10" dirty="0">
                <a:solidFill>
                  <a:srgbClr val="F82571"/>
                </a:solidFill>
                <a:latin typeface="Courier New"/>
                <a:cs typeface="Courier New"/>
              </a:rPr>
              <a:t>=</a:t>
            </a:r>
            <a:r>
              <a:rPr sz="1400" spc="-10" dirty="0">
                <a:solidFill>
                  <a:srgbClr val="AD81FF"/>
                </a:solidFill>
                <a:latin typeface="Courier New"/>
                <a:cs typeface="Courier New"/>
              </a:rPr>
              <a:t>2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),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600">
              <a:latin typeface="Courier New"/>
              <a:cs typeface="Courier New"/>
            </a:endParaRPr>
          </a:p>
          <a:p>
            <a:pPr marL="686435">
              <a:spcBef>
                <a:spcPts val="930"/>
              </a:spcBef>
            </a:pPr>
            <a:r>
              <a:rPr sz="1400" dirty="0">
                <a:solidFill>
                  <a:srgbClr val="75705E"/>
                </a:solidFill>
                <a:latin typeface="Courier New"/>
                <a:cs typeface="Courier New"/>
              </a:rPr>
              <a:t>#</a:t>
            </a:r>
            <a:r>
              <a:rPr sz="1400" spc="-15" dirty="0">
                <a:solidFill>
                  <a:srgbClr val="75705E"/>
                </a:solidFill>
                <a:latin typeface="Courier New"/>
                <a:cs typeface="Courier New"/>
              </a:rPr>
              <a:t> second</a:t>
            </a:r>
            <a:r>
              <a:rPr sz="1400" spc="-25" dirty="0">
                <a:solidFill>
                  <a:srgbClr val="75705E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75705E"/>
                </a:solidFill>
                <a:latin typeface="Courier New"/>
                <a:cs typeface="Courier New"/>
              </a:rPr>
              <a:t>convolutional</a:t>
            </a:r>
            <a:r>
              <a:rPr sz="1400" spc="-70" dirty="0">
                <a:solidFill>
                  <a:srgbClr val="75705E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75705E"/>
                </a:solidFill>
                <a:latin typeface="Courier New"/>
                <a:cs typeface="Courier New"/>
              </a:rPr>
              <a:t>layer</a:t>
            </a:r>
            <a:endParaRPr sz="1400">
              <a:latin typeface="Courier New"/>
              <a:cs typeface="Courier New"/>
            </a:endParaRPr>
          </a:p>
          <a:p>
            <a:pPr marL="685800" marR="5080">
              <a:lnSpc>
                <a:spcPct val="125699"/>
              </a:lnSpc>
            </a:pP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tf</a:t>
            </a:r>
            <a:r>
              <a:rPr sz="1400" spc="-15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keras</a:t>
            </a:r>
            <a:r>
              <a:rPr sz="1400" spc="-15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layers</a:t>
            </a:r>
            <a:r>
              <a:rPr sz="1400" spc="-15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Conv2D(</a:t>
            </a:r>
            <a:r>
              <a:rPr sz="1400" spc="-15" dirty="0">
                <a:solidFill>
                  <a:srgbClr val="AD81FF"/>
                </a:solidFill>
                <a:latin typeface="Courier New"/>
                <a:cs typeface="Courier New"/>
              </a:rPr>
              <a:t>64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,</a:t>
            </a:r>
            <a:r>
              <a:rPr sz="1400" spc="35" dirty="0">
                <a:solidFill>
                  <a:srgbClr val="F8F8F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filter_size</a:t>
            </a:r>
            <a:r>
              <a:rPr sz="1400" spc="-10" dirty="0">
                <a:solidFill>
                  <a:srgbClr val="F82571"/>
                </a:solidFill>
                <a:latin typeface="Courier New"/>
                <a:cs typeface="Courier New"/>
              </a:rPr>
              <a:t>=</a:t>
            </a:r>
            <a:r>
              <a:rPr sz="1400" spc="-10" dirty="0">
                <a:solidFill>
                  <a:srgbClr val="AD81FF"/>
                </a:solidFill>
                <a:latin typeface="Courier New"/>
                <a:cs typeface="Courier New"/>
              </a:rPr>
              <a:t>3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,</a:t>
            </a:r>
            <a:r>
              <a:rPr sz="1400" spc="40" dirty="0">
                <a:solidFill>
                  <a:srgbClr val="F8F8F1"/>
                </a:solidFill>
                <a:latin typeface="Courier New"/>
                <a:cs typeface="Courier New"/>
              </a:rPr>
              <a:t> 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activation</a:t>
            </a:r>
            <a:r>
              <a:rPr sz="1400" spc="-15" dirty="0">
                <a:solidFill>
                  <a:srgbClr val="F82571"/>
                </a:solidFill>
                <a:latin typeface="Courier New"/>
                <a:cs typeface="Courier New"/>
              </a:rPr>
              <a:t>=</a:t>
            </a:r>
            <a:r>
              <a:rPr sz="1400" spc="-15" dirty="0">
                <a:solidFill>
                  <a:srgbClr val="E6DB74"/>
                </a:solidFill>
                <a:latin typeface="Courier New"/>
                <a:cs typeface="Courier New"/>
              </a:rPr>
              <a:t>'relu’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), </a:t>
            </a:r>
            <a:r>
              <a:rPr sz="1400" spc="-830" dirty="0">
                <a:solidFill>
                  <a:srgbClr val="F8F8F1"/>
                </a:solidFill>
                <a:latin typeface="Courier New"/>
                <a:cs typeface="Courier New"/>
              </a:rPr>
              <a:t> 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tf</a:t>
            </a:r>
            <a:r>
              <a:rPr sz="1400" spc="-15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keras</a:t>
            </a:r>
            <a:r>
              <a:rPr sz="1400" spc="-15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layers</a:t>
            </a:r>
            <a:r>
              <a:rPr sz="1400" spc="-15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MaxPool2D(pool_size</a:t>
            </a:r>
            <a:r>
              <a:rPr sz="1400" spc="-15" dirty="0">
                <a:solidFill>
                  <a:srgbClr val="F82571"/>
                </a:solidFill>
                <a:latin typeface="Courier New"/>
                <a:cs typeface="Courier New"/>
              </a:rPr>
              <a:t>=</a:t>
            </a:r>
            <a:r>
              <a:rPr sz="1400" spc="-15" dirty="0">
                <a:solidFill>
                  <a:srgbClr val="AD81FF"/>
                </a:solidFill>
                <a:latin typeface="Courier New"/>
                <a:cs typeface="Courier New"/>
              </a:rPr>
              <a:t>2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,</a:t>
            </a:r>
            <a:r>
              <a:rPr sz="1400" spc="-35" dirty="0">
                <a:solidFill>
                  <a:srgbClr val="F8F8F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strides</a:t>
            </a:r>
            <a:r>
              <a:rPr sz="1400" spc="-10" dirty="0">
                <a:solidFill>
                  <a:srgbClr val="F82571"/>
                </a:solidFill>
                <a:latin typeface="Courier New"/>
                <a:cs typeface="Courier New"/>
              </a:rPr>
              <a:t>=</a:t>
            </a:r>
            <a:r>
              <a:rPr sz="1400" spc="-10" dirty="0">
                <a:solidFill>
                  <a:srgbClr val="AD81FF"/>
                </a:solidFill>
                <a:latin typeface="Courier New"/>
                <a:cs typeface="Courier New"/>
              </a:rPr>
              <a:t>2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),</a:t>
            </a:r>
            <a:endParaRPr sz="1400">
              <a:latin typeface="Courier New"/>
              <a:cs typeface="Courier New"/>
            </a:endParaRPr>
          </a:p>
          <a:p>
            <a:pPr>
              <a:spcBef>
                <a:spcPts val="5"/>
              </a:spcBef>
            </a:pPr>
            <a:endParaRPr sz="1850">
              <a:latin typeface="Courier New"/>
              <a:cs typeface="Courier New"/>
            </a:endParaRPr>
          </a:p>
          <a:p>
            <a:pPr marL="521970" marR="1647189">
              <a:lnSpc>
                <a:spcPct val="129900"/>
              </a:lnSpc>
            </a:pPr>
            <a:r>
              <a:rPr sz="1400" dirty="0">
                <a:solidFill>
                  <a:srgbClr val="75705E"/>
                </a:solidFill>
                <a:latin typeface="Courier New"/>
                <a:cs typeface="Courier New"/>
              </a:rPr>
              <a:t># </a:t>
            </a:r>
            <a:r>
              <a:rPr sz="1400" spc="-10" dirty="0">
                <a:solidFill>
                  <a:srgbClr val="75705E"/>
                </a:solidFill>
                <a:latin typeface="Courier New"/>
                <a:cs typeface="Courier New"/>
              </a:rPr>
              <a:t>fully connected classifier </a:t>
            </a:r>
            <a:r>
              <a:rPr sz="1400" spc="-5" dirty="0">
                <a:solidFill>
                  <a:srgbClr val="75705E"/>
                </a:solidFill>
                <a:latin typeface="Courier New"/>
                <a:cs typeface="Courier New"/>
              </a:rPr>
              <a:t> 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tf</a:t>
            </a:r>
            <a:r>
              <a:rPr sz="1400" spc="-15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keras</a:t>
            </a:r>
            <a:r>
              <a:rPr sz="1400" spc="-15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layers</a:t>
            </a:r>
            <a:r>
              <a:rPr sz="1400" spc="-15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Flatten(), 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 tf</a:t>
            </a:r>
            <a:r>
              <a:rPr sz="1400" spc="-10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keras</a:t>
            </a:r>
            <a:r>
              <a:rPr sz="1400" spc="-10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layers</a:t>
            </a:r>
            <a:r>
              <a:rPr sz="1400" spc="-10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Dense(</a:t>
            </a:r>
            <a:r>
              <a:rPr sz="1400" spc="-10" dirty="0">
                <a:solidFill>
                  <a:srgbClr val="AD81FF"/>
                </a:solidFill>
                <a:latin typeface="Courier New"/>
                <a:cs typeface="Courier New"/>
              </a:rPr>
              <a:t>1024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, 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activation</a:t>
            </a:r>
            <a:r>
              <a:rPr sz="1400" spc="-15" dirty="0">
                <a:solidFill>
                  <a:srgbClr val="F82571"/>
                </a:solidFill>
                <a:latin typeface="Courier New"/>
                <a:cs typeface="Courier New"/>
              </a:rPr>
              <a:t>=</a:t>
            </a:r>
            <a:r>
              <a:rPr sz="1400" spc="-15" dirty="0">
                <a:solidFill>
                  <a:srgbClr val="E6DB74"/>
                </a:solidFill>
                <a:latin typeface="Courier New"/>
                <a:cs typeface="Courier New"/>
              </a:rPr>
              <a:t>'relu’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), </a:t>
            </a:r>
            <a:r>
              <a:rPr sz="1400" spc="-830" dirty="0">
                <a:solidFill>
                  <a:srgbClr val="F8F8F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tf</a:t>
            </a:r>
            <a:r>
              <a:rPr sz="1400" spc="-10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keras</a:t>
            </a:r>
            <a:r>
              <a:rPr sz="1400" spc="-10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layers</a:t>
            </a:r>
            <a:r>
              <a:rPr sz="1400" spc="-10" dirty="0">
                <a:solidFill>
                  <a:srgbClr val="F82571"/>
                </a:solidFill>
                <a:latin typeface="Courier New"/>
                <a:cs typeface="Courier New"/>
              </a:rPr>
              <a:t>.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Dense(</a:t>
            </a:r>
            <a:r>
              <a:rPr sz="1400" spc="-10" dirty="0">
                <a:solidFill>
                  <a:srgbClr val="AD81FF"/>
                </a:solidFill>
                <a:latin typeface="Courier New"/>
                <a:cs typeface="Courier New"/>
              </a:rPr>
              <a:t>10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,</a:t>
            </a:r>
            <a:r>
              <a:rPr sz="1400" spc="-180" dirty="0">
                <a:solidFill>
                  <a:srgbClr val="F8F8F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activation</a:t>
            </a:r>
            <a:r>
              <a:rPr sz="1400" spc="-10" dirty="0">
                <a:solidFill>
                  <a:srgbClr val="F82571"/>
                </a:solidFill>
                <a:latin typeface="Courier New"/>
                <a:cs typeface="Courier New"/>
              </a:rPr>
              <a:t>=</a:t>
            </a:r>
            <a:r>
              <a:rPr sz="1400" spc="-10" dirty="0">
                <a:solidFill>
                  <a:srgbClr val="E6DB74"/>
                </a:solidFill>
                <a:latin typeface="Courier New"/>
                <a:cs typeface="Courier New"/>
              </a:rPr>
              <a:t>‘softmax’</a:t>
            </a:r>
            <a:r>
              <a:rPr sz="1400" spc="-10" dirty="0">
                <a:solidFill>
                  <a:srgbClr val="F8F8F1"/>
                </a:solidFill>
                <a:latin typeface="Courier New"/>
                <a:cs typeface="Courier New"/>
              </a:rPr>
              <a:t>) </a:t>
            </a:r>
            <a:r>
              <a:rPr sz="1400" spc="-825" dirty="0">
                <a:solidFill>
                  <a:srgbClr val="F8F8F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75705E"/>
                </a:solidFill>
                <a:latin typeface="Courier New"/>
                <a:cs typeface="Courier New"/>
              </a:rPr>
              <a:t>#</a:t>
            </a:r>
            <a:r>
              <a:rPr sz="1400" spc="-10" dirty="0">
                <a:solidFill>
                  <a:srgbClr val="75705E"/>
                </a:solidFill>
                <a:latin typeface="Courier New"/>
                <a:cs typeface="Courier New"/>
              </a:rPr>
              <a:t> 10</a:t>
            </a:r>
            <a:r>
              <a:rPr sz="1400" spc="-125" dirty="0">
                <a:solidFill>
                  <a:srgbClr val="75705E"/>
                </a:solidFill>
                <a:latin typeface="Courier New"/>
                <a:cs typeface="Courier New"/>
              </a:rPr>
              <a:t> </a:t>
            </a:r>
            <a:r>
              <a:rPr sz="1400" spc="-15" dirty="0">
                <a:solidFill>
                  <a:srgbClr val="75705E"/>
                </a:solidFill>
                <a:latin typeface="Courier New"/>
                <a:cs typeface="Courier New"/>
              </a:rPr>
              <a:t>outputs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600">
              <a:latin typeface="Courier New"/>
              <a:cs typeface="Courier New"/>
            </a:endParaRPr>
          </a:p>
          <a:p>
            <a:pPr marL="262255">
              <a:spcBef>
                <a:spcPts val="1060"/>
              </a:spcBef>
            </a:pP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])</a:t>
            </a:r>
            <a:endParaRPr sz="1400">
              <a:latin typeface="Courier New"/>
              <a:cs typeface="Courier New"/>
            </a:endParaRPr>
          </a:p>
          <a:p>
            <a:pPr marL="262255">
              <a:spcBef>
                <a:spcPts val="505"/>
              </a:spcBef>
            </a:pPr>
            <a:r>
              <a:rPr sz="1400" spc="-10" dirty="0">
                <a:solidFill>
                  <a:srgbClr val="66D9EE"/>
                </a:solidFill>
                <a:latin typeface="Courier New"/>
                <a:cs typeface="Courier New"/>
              </a:rPr>
              <a:t>return</a:t>
            </a:r>
            <a:r>
              <a:rPr sz="1400" spc="-160" dirty="0">
                <a:solidFill>
                  <a:srgbClr val="66D9EE"/>
                </a:solidFill>
                <a:latin typeface="Courier New"/>
                <a:cs typeface="Courier New"/>
              </a:rPr>
              <a:t> </a:t>
            </a:r>
            <a:r>
              <a:rPr sz="1400" spc="-15" dirty="0">
                <a:solidFill>
                  <a:srgbClr val="F8F8F1"/>
                </a:solidFill>
                <a:latin typeface="Courier New"/>
                <a:cs typeface="Courier New"/>
              </a:rPr>
              <a:t>model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55519" y="1661156"/>
            <a:ext cx="6583680" cy="1005840"/>
          </a:xfrm>
          <a:custGeom>
            <a:avLst/>
            <a:gdLst/>
            <a:ahLst/>
            <a:cxnLst/>
            <a:rect l="l" t="t" r="r" b="b"/>
            <a:pathLst>
              <a:path w="6583680" h="1005839">
                <a:moveTo>
                  <a:pt x="0" y="119481"/>
                </a:moveTo>
                <a:lnTo>
                  <a:pt x="7734" y="72974"/>
                </a:lnTo>
                <a:lnTo>
                  <a:pt x="28816" y="35001"/>
                </a:lnTo>
                <a:lnTo>
                  <a:pt x="60096" y="9398"/>
                </a:lnTo>
                <a:lnTo>
                  <a:pt x="98399" y="0"/>
                </a:lnTo>
                <a:lnTo>
                  <a:pt x="6485064" y="0"/>
                </a:lnTo>
                <a:lnTo>
                  <a:pt x="6523367" y="9398"/>
                </a:lnTo>
                <a:lnTo>
                  <a:pt x="6554647" y="35001"/>
                </a:lnTo>
                <a:lnTo>
                  <a:pt x="6575729" y="72974"/>
                </a:lnTo>
                <a:lnTo>
                  <a:pt x="6583464" y="119481"/>
                </a:lnTo>
                <a:lnTo>
                  <a:pt x="6583464" y="886345"/>
                </a:lnTo>
                <a:lnTo>
                  <a:pt x="6575729" y="932853"/>
                </a:lnTo>
                <a:lnTo>
                  <a:pt x="6554647" y="970826"/>
                </a:lnTo>
                <a:lnTo>
                  <a:pt x="6523367" y="996442"/>
                </a:lnTo>
                <a:lnTo>
                  <a:pt x="6485064" y="1005827"/>
                </a:lnTo>
                <a:lnTo>
                  <a:pt x="98399" y="1005827"/>
                </a:lnTo>
                <a:lnTo>
                  <a:pt x="60096" y="996442"/>
                </a:lnTo>
                <a:lnTo>
                  <a:pt x="28816" y="970826"/>
                </a:lnTo>
                <a:lnTo>
                  <a:pt x="7734" y="932853"/>
                </a:lnTo>
                <a:lnTo>
                  <a:pt x="0" y="886345"/>
                </a:lnTo>
                <a:lnTo>
                  <a:pt x="0" y="119481"/>
                </a:lnTo>
                <a:close/>
              </a:path>
            </a:pathLst>
          </a:custGeom>
          <a:ln w="1219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4648200" y="4968240"/>
            <a:ext cx="5859780" cy="1813560"/>
            <a:chOff x="3124200" y="4968240"/>
            <a:chExt cx="5859780" cy="181356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4200" y="4968240"/>
              <a:ext cx="5859779" cy="181355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846576" y="5044437"/>
              <a:ext cx="1622425" cy="1520825"/>
            </a:xfrm>
            <a:custGeom>
              <a:avLst/>
              <a:gdLst/>
              <a:ahLst/>
              <a:cxnLst/>
              <a:rect l="l" t="t" r="r" b="b"/>
              <a:pathLst>
                <a:path w="1622425" h="1520825">
                  <a:moveTo>
                    <a:pt x="0" y="110667"/>
                  </a:moveTo>
                  <a:lnTo>
                    <a:pt x="9499" y="67589"/>
                  </a:lnTo>
                  <a:lnTo>
                    <a:pt x="35420" y="32410"/>
                  </a:lnTo>
                  <a:lnTo>
                    <a:pt x="73875" y="8699"/>
                  </a:lnTo>
                  <a:lnTo>
                    <a:pt x="120954" y="0"/>
                  </a:lnTo>
                  <a:lnTo>
                    <a:pt x="1501241" y="0"/>
                  </a:lnTo>
                  <a:lnTo>
                    <a:pt x="1548320" y="8699"/>
                  </a:lnTo>
                  <a:lnTo>
                    <a:pt x="1586763" y="32410"/>
                  </a:lnTo>
                  <a:lnTo>
                    <a:pt x="1612684" y="67589"/>
                  </a:lnTo>
                  <a:lnTo>
                    <a:pt x="1622196" y="110667"/>
                  </a:lnTo>
                  <a:lnTo>
                    <a:pt x="1622196" y="1409598"/>
                  </a:lnTo>
                  <a:lnTo>
                    <a:pt x="1612684" y="1452664"/>
                  </a:lnTo>
                  <a:lnTo>
                    <a:pt x="1586763" y="1487843"/>
                  </a:lnTo>
                  <a:lnTo>
                    <a:pt x="1548320" y="1511566"/>
                  </a:lnTo>
                  <a:lnTo>
                    <a:pt x="1501241" y="1520253"/>
                  </a:lnTo>
                  <a:lnTo>
                    <a:pt x="120954" y="1520253"/>
                  </a:lnTo>
                  <a:lnTo>
                    <a:pt x="73875" y="1511566"/>
                  </a:lnTo>
                  <a:lnTo>
                    <a:pt x="35420" y="1487843"/>
                  </a:lnTo>
                  <a:lnTo>
                    <a:pt x="9499" y="1452664"/>
                  </a:lnTo>
                  <a:lnTo>
                    <a:pt x="0" y="1409598"/>
                  </a:lnTo>
                  <a:lnTo>
                    <a:pt x="0" y="110667"/>
                  </a:lnTo>
                  <a:close/>
                </a:path>
              </a:pathLst>
            </a:custGeom>
            <a:ln w="12192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4E11A2F-34A2-1542-48EE-3A6E0EB88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EFB42-5DDD-451A-A3EF-1E58360C8977}" type="datetime1">
              <a:rPr lang="en-US" smtClean="0"/>
              <a:t>2/27/2026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0094A1F-CCEC-9BB5-966F-3331330D990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F037AD0-DFA3-A11D-9D61-B641B2111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D48FE2-E9FE-4F8D-B125-F58A4AFA5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C8E67-FBE7-479A-A19A-1E52D02C6A1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EC3D8-F0A0-44F2-A004-D98E8AD85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1011FF5-CF35-499D-A831-45EC67AF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Connected Layers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27F7CAA-E914-4437-A45D-6D286468B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241146"/>
            <a:ext cx="7659647" cy="2864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AB6812B-B08B-4ED9-9499-97E8B974B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ED8AE-EDC7-4C4D-9798-A4B1CBD3BA4D}" type="datetime1">
              <a:rPr lang="en-US" smtClean="0"/>
              <a:t>2/27/2026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7398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896C1A-4045-49F1-9111-E955B8A2F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9265" indent="-457200">
              <a:spcBef>
                <a:spcPts val="370"/>
              </a:spcBef>
              <a:tabLst>
                <a:tab pos="347980" algn="l"/>
                <a:tab pos="349250" algn="l"/>
              </a:tabLst>
            </a:pPr>
            <a:r>
              <a:rPr lang="en-US" spc="25" dirty="0">
                <a:solidFill>
                  <a:srgbClr val="00B0F0"/>
                </a:solidFill>
                <a:latin typeface="Calibri"/>
                <a:cs typeface="Calibri"/>
              </a:rPr>
              <a:t>Regular </a:t>
            </a:r>
            <a:r>
              <a:rPr lang="en-US" spc="20" dirty="0">
                <a:solidFill>
                  <a:srgbClr val="00B0F0"/>
                </a:solidFill>
                <a:latin typeface="Calibri"/>
                <a:cs typeface="Calibri"/>
              </a:rPr>
              <a:t>neural</a:t>
            </a:r>
            <a:r>
              <a:rPr lang="en-US" spc="-12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lang="en-US" spc="15" dirty="0">
                <a:solidFill>
                  <a:srgbClr val="00B0F0"/>
                </a:solidFill>
                <a:latin typeface="Calibri"/>
                <a:cs typeface="Calibri"/>
              </a:rPr>
              <a:t>network</a:t>
            </a:r>
            <a:endParaRPr lang="en-US" dirty="0">
              <a:solidFill>
                <a:srgbClr val="00B0F0"/>
              </a:solidFill>
              <a:latin typeface="Calibri"/>
              <a:cs typeface="Calibri"/>
            </a:endParaRPr>
          </a:p>
          <a:p>
            <a:pPr marL="469265" marR="5080" indent="-457200">
              <a:lnSpc>
                <a:spcPct val="116100"/>
              </a:lnSpc>
              <a:tabLst>
                <a:tab pos="347980" algn="l"/>
                <a:tab pos="349250" algn="l"/>
              </a:tabLst>
            </a:pPr>
            <a:r>
              <a:rPr lang="en-US" dirty="0"/>
              <a:t>This layer takes an input volume from last layer of CNN and outputs an N dimensional vector.</a:t>
            </a:r>
          </a:p>
          <a:p>
            <a:pPr marL="869315" marR="5080" lvl="1" indent="-457200">
              <a:lnSpc>
                <a:spcPct val="116100"/>
              </a:lnSpc>
              <a:tabLst>
                <a:tab pos="347980" algn="l"/>
                <a:tab pos="349250" algn="l"/>
              </a:tabLst>
            </a:pPr>
            <a:r>
              <a:rPr lang="en-US" dirty="0"/>
              <a:t>Where N is the </a:t>
            </a:r>
            <a:r>
              <a:rPr lang="en-US" dirty="0">
                <a:solidFill>
                  <a:srgbClr val="FF0000"/>
                </a:solidFill>
              </a:rPr>
              <a:t>number of classes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5CF33-C3C5-45FA-A605-58AB10B3A9B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3670A-231E-4884-A350-DCC57F317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152B948-B17D-41A5-8311-6B61A9E12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Connected Layers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0A3ACA5-BD00-471D-81B4-FFD428C3F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F165F-22D3-43FA-8992-4BE7450D40BE}" type="datetime1">
              <a:rPr lang="en-US" smtClean="0"/>
              <a:t>2/27/2026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1484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D8CB16-E27E-4529-9A7D-CFF40BD6B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69265" marR="78105" indent="-457200">
              <a:lnSpc>
                <a:spcPct val="116100"/>
              </a:lnSpc>
              <a:spcBef>
                <a:spcPts val="100"/>
              </a:spcBef>
              <a:tabLst>
                <a:tab pos="347980" algn="l"/>
                <a:tab pos="349250" algn="l"/>
              </a:tabLst>
            </a:pPr>
            <a:r>
              <a:rPr lang="en-US" dirty="0"/>
              <a:t>Pooling is used to progressively </a:t>
            </a:r>
            <a:r>
              <a:rPr lang="en-US" dirty="0">
                <a:solidFill>
                  <a:srgbClr val="FF0000"/>
                </a:solidFill>
              </a:rPr>
              <a:t>reduce the spatial size </a:t>
            </a:r>
            <a:r>
              <a:rPr lang="en-US" dirty="0"/>
              <a:t>of the input</a:t>
            </a:r>
          </a:p>
          <a:p>
            <a:pPr marL="869315" marR="78105" lvl="1" indent="-457200">
              <a:lnSpc>
                <a:spcPct val="116100"/>
              </a:lnSpc>
              <a:spcBef>
                <a:spcPts val="100"/>
              </a:spcBef>
              <a:tabLst>
                <a:tab pos="347980" algn="l"/>
                <a:tab pos="349250" algn="l"/>
              </a:tabLst>
            </a:pPr>
            <a:r>
              <a:rPr lang="en-US" dirty="0"/>
              <a:t>To reduce the amount of parameters and computation </a:t>
            </a:r>
          </a:p>
          <a:p>
            <a:pPr marL="869315" marR="78105" lvl="1" indent="-457200">
              <a:lnSpc>
                <a:spcPct val="116100"/>
              </a:lnSpc>
              <a:spcBef>
                <a:spcPts val="100"/>
              </a:spcBef>
              <a:tabLst>
                <a:tab pos="347980" algn="l"/>
                <a:tab pos="349250" algn="l"/>
              </a:tabLst>
            </a:pPr>
            <a:r>
              <a:rPr lang="en-US" dirty="0"/>
              <a:t>It control overfitting (</a:t>
            </a:r>
            <a:r>
              <a:rPr lang="en-US" dirty="0">
                <a:solidFill>
                  <a:srgbClr val="FF0000"/>
                </a:solidFill>
              </a:rPr>
              <a:t>regularization</a:t>
            </a:r>
            <a:r>
              <a:rPr lang="en-US" dirty="0"/>
              <a:t>). </a:t>
            </a:r>
          </a:p>
          <a:p>
            <a:pPr marL="869315" marR="78105" lvl="1" indent="-457200">
              <a:lnSpc>
                <a:spcPct val="116100"/>
              </a:lnSpc>
              <a:spcBef>
                <a:spcPts val="100"/>
              </a:spcBef>
              <a:tabLst>
                <a:tab pos="347980" algn="l"/>
                <a:tab pos="349250" algn="l"/>
              </a:tabLst>
            </a:pPr>
            <a:r>
              <a:rPr lang="en-US" spc="-5" dirty="0">
                <a:solidFill>
                  <a:srgbClr val="FF0000"/>
                </a:solidFill>
                <a:latin typeface="Calibri"/>
                <a:cs typeface="Calibri"/>
              </a:rPr>
              <a:t>Invariance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to </a:t>
            </a:r>
            <a:r>
              <a:rPr lang="en-US" spc="-5" dirty="0">
                <a:solidFill>
                  <a:srgbClr val="FF0000"/>
                </a:solidFill>
                <a:latin typeface="Calibri"/>
                <a:cs typeface="Calibri"/>
              </a:rPr>
              <a:t>small </a:t>
            </a:r>
            <a:r>
              <a:rPr lang="en-US" spc="20" dirty="0">
                <a:solidFill>
                  <a:srgbClr val="FF0000"/>
                </a:solidFill>
                <a:latin typeface="Calibri"/>
                <a:cs typeface="Calibri"/>
              </a:rPr>
              <a:t>translations </a:t>
            </a:r>
            <a:r>
              <a:rPr lang="en-US" spc="-5" dirty="0">
                <a:latin typeface="Calibri"/>
                <a:cs typeface="Calibri"/>
              </a:rPr>
              <a:t>of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input</a:t>
            </a:r>
            <a:endParaRPr lang="en-US" dirty="0"/>
          </a:p>
          <a:p>
            <a:pPr marL="469265" marR="78105" indent="-457200">
              <a:lnSpc>
                <a:spcPct val="116100"/>
              </a:lnSpc>
              <a:spcBef>
                <a:spcPts val="100"/>
              </a:spcBef>
              <a:tabLst>
                <a:tab pos="347980" algn="l"/>
                <a:tab pos="349250" algn="l"/>
              </a:tabLst>
            </a:pPr>
            <a:r>
              <a:rPr lang="en-US" dirty="0"/>
              <a:t>Commonly insert a Pooling layer in-between successive Conv layers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968593-83C2-428F-9DA8-0E8533D5180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219DA-9726-4775-8B39-15C59BDF4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C26B98-704C-47C7-86BD-7ECF57A45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Pooling Layer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13EA8B-9947-4D52-B3EC-D4CF55FDE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D5517-C7CF-4286-88E2-C8BCDBD729A9}" type="datetime1">
              <a:rPr lang="en-US" smtClean="0"/>
              <a:t>2/27/2026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3045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733801" y="2133600"/>
            <a:ext cx="5137081" cy="41752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7C251-048D-44C9-B953-14E209AB834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2E0ED-518D-4F18-A56B-5C38D754E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27C721A2-2E4F-4A02-9D2B-CCC50EE76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09601"/>
            <a:ext cx="8229600" cy="8382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Pooling Layer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7ADC5A-6A3B-44D6-83EB-53CE7FB84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8239B-7FF9-42F6-BDB5-EDE23CCD62CD}" type="datetime1">
              <a:rPr lang="en-US" smtClean="0"/>
              <a:t>2/27/2026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4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24718</TotalTime>
  <Words>2227</Words>
  <Application>Microsoft Office PowerPoint</Application>
  <PresentationFormat>Widescreen</PresentationFormat>
  <Paragraphs>1108</Paragraphs>
  <Slides>45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Arial</vt:lpstr>
      <vt:lpstr>Calibri</vt:lpstr>
      <vt:lpstr>Carlito</vt:lpstr>
      <vt:lpstr>Courier New</vt:lpstr>
      <vt:lpstr>Garamond</vt:lpstr>
      <vt:lpstr>Trebuchet MS</vt:lpstr>
      <vt:lpstr>Office Theme</vt:lpstr>
      <vt:lpstr>方程式</vt:lpstr>
      <vt:lpstr>Introduction to Convolutional Neural Networks</vt:lpstr>
      <vt:lpstr>What are CNNs ?</vt:lpstr>
      <vt:lpstr>Convolutional neural networks</vt:lpstr>
      <vt:lpstr>Convolutional neural networks</vt:lpstr>
      <vt:lpstr>Smaller Network: CNN</vt:lpstr>
      <vt:lpstr>Convolutional Neural Networks (CNNs)</vt:lpstr>
      <vt:lpstr>CNN architecture</vt:lpstr>
      <vt:lpstr>Convolutional Neural Networks (CovNet)</vt:lpstr>
      <vt:lpstr>A convolutional layer</vt:lpstr>
      <vt:lpstr>Fully Connected Layer</vt:lpstr>
      <vt:lpstr>The convolution operation</vt:lpstr>
      <vt:lpstr>The convolution operation</vt:lpstr>
      <vt:lpstr>Convolution</vt:lpstr>
      <vt:lpstr>Convolution</vt:lpstr>
      <vt:lpstr>Convolution</vt:lpstr>
      <vt:lpstr>Convolution</vt:lpstr>
      <vt:lpstr>Convolution</vt:lpstr>
      <vt:lpstr>Color image: RGB 3 channels</vt:lpstr>
      <vt:lpstr>Convolution Layer </vt:lpstr>
      <vt:lpstr>Convolution Layer</vt:lpstr>
      <vt:lpstr>Convolution Layer</vt:lpstr>
      <vt:lpstr>Convolution Layer</vt:lpstr>
      <vt:lpstr>Convolution Layer</vt:lpstr>
      <vt:lpstr>Convolution Layer</vt:lpstr>
      <vt:lpstr>Convolution Layer</vt:lpstr>
      <vt:lpstr>For example, if we had 6 5x5 filters, we’ll get 6 separate activation maps:</vt:lpstr>
      <vt:lpstr>Preview: ConvNet is a sequence of Convolutional Layers, interspersed with  activation functions</vt:lpstr>
      <vt:lpstr>PowerPoint Presentation</vt:lpstr>
      <vt:lpstr>PowerPoint Presentation</vt:lpstr>
      <vt:lpstr>PowerPoint Presentation</vt:lpstr>
      <vt:lpstr>Visualize the Results</vt:lpstr>
      <vt:lpstr>Preview</vt:lpstr>
      <vt:lpstr>PowerPoint Presentation</vt:lpstr>
      <vt:lpstr>one filter =&gt; one activation map</vt:lpstr>
      <vt:lpstr>PowerPoint Presentation</vt:lpstr>
      <vt:lpstr>The whole CNN</vt:lpstr>
      <vt:lpstr>Flattening</vt:lpstr>
      <vt:lpstr>PowerPoint Presentation</vt:lpstr>
      <vt:lpstr>PowerPoint Presentation</vt:lpstr>
      <vt:lpstr>PowerPoint Presentation</vt:lpstr>
      <vt:lpstr>Putting it all together import tensorflow as tf</vt:lpstr>
      <vt:lpstr>Fully Connected Layers</vt:lpstr>
      <vt:lpstr>Fully Connected Layers</vt:lpstr>
      <vt:lpstr>Pooling Layer</vt:lpstr>
      <vt:lpstr>Pooling Layer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Dr. Ijaz Hussain</dc:creator>
  <cp:lastModifiedBy>Dr. Ijaz</cp:lastModifiedBy>
  <cp:revision>1473</cp:revision>
  <dcterms:created xsi:type="dcterms:W3CDTF">2006-08-16T00:00:00Z</dcterms:created>
  <dcterms:modified xsi:type="dcterms:W3CDTF">2026-02-27T07:27:46Z</dcterms:modified>
</cp:coreProperties>
</file>