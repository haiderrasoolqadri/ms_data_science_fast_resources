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34"/>
  </p:notesMasterIdLst>
  <p:sldIdLst>
    <p:sldId id="525" r:id="rId2"/>
    <p:sldId id="264" r:id="rId3"/>
    <p:sldId id="265" r:id="rId4"/>
    <p:sldId id="267" r:id="rId5"/>
    <p:sldId id="268" r:id="rId6"/>
    <p:sldId id="269" r:id="rId7"/>
    <p:sldId id="270" r:id="rId8"/>
    <p:sldId id="271" r:id="rId9"/>
    <p:sldId id="273" r:id="rId10"/>
    <p:sldId id="274" r:id="rId11"/>
    <p:sldId id="275" r:id="rId12"/>
    <p:sldId id="277" r:id="rId13"/>
    <p:sldId id="279" r:id="rId14"/>
    <p:sldId id="280" r:id="rId15"/>
    <p:sldId id="281" r:id="rId16"/>
    <p:sldId id="283" r:id="rId17"/>
    <p:sldId id="284" r:id="rId18"/>
    <p:sldId id="286" r:id="rId19"/>
    <p:sldId id="287" r:id="rId20"/>
    <p:sldId id="293" r:id="rId21"/>
    <p:sldId id="296" r:id="rId22"/>
    <p:sldId id="294" r:id="rId23"/>
    <p:sldId id="295" r:id="rId24"/>
    <p:sldId id="526" r:id="rId25"/>
    <p:sldId id="527" r:id="rId26"/>
    <p:sldId id="528" r:id="rId27"/>
    <p:sldId id="532" r:id="rId28"/>
    <p:sldId id="529" r:id="rId29"/>
    <p:sldId id="531" r:id="rId30"/>
    <p:sldId id="530" r:id="rId31"/>
    <p:sldId id="1469" r:id="rId32"/>
    <p:sldId id="41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4658"/>
  </p:normalViewPr>
  <p:slideViewPr>
    <p:cSldViewPr snapToGrid="0">
      <p:cViewPr varScale="1">
        <p:scale>
          <a:sx n="97" d="100"/>
          <a:sy n="97" d="100"/>
        </p:scale>
        <p:origin x="11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36DAEA-260D-4EF3-9F53-A6A527581685}" type="datetimeFigureOut">
              <a:rPr lang="en-PK" smtClean="0"/>
              <a:t>18/02/2026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55CD47-0397-4E49-AC32-33BCD45C7742}" type="slidenum">
              <a:rPr lang="en-PK" smtClean="0"/>
              <a:t>‹#›</a:t>
            </a:fld>
            <a:endParaRPr lang="en-PK"/>
          </a:p>
        </p:txBody>
      </p:sp>
    </p:spTree>
    <p:extLst>
      <p:ext uri="{BB962C8B-B14F-4D97-AF65-F5344CB8AC3E}">
        <p14:creationId xmlns:p14="http://schemas.microsoft.com/office/powerpoint/2010/main" val="822701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8D1793F-0F1D-49B1-A0BA-855CC243B45D}" type="slidenum">
              <a:rPr lang="en-US" smtClean="0"/>
              <a:pPr/>
              <a:t>1</a:t>
            </a:fld>
            <a:endParaRPr lang="en-US"/>
          </a:p>
        </p:txBody>
      </p:sp>
    </p:spTree>
    <p:extLst>
      <p:ext uri="{BB962C8B-B14F-4D97-AF65-F5344CB8AC3E}">
        <p14:creationId xmlns:p14="http://schemas.microsoft.com/office/powerpoint/2010/main" val="42620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F1F1F"/>
                </a:solidFill>
                <a:effectLst/>
                <a:latin typeface="Google Sans"/>
              </a:rPr>
              <a:t>In other words, it is the ratio of the change in the y-axis to the change in the x-axis. The formula to calculate the gradient of a line is given as, </a:t>
            </a:r>
            <a:r>
              <a:rPr lang="en-GB" b="0" i="0" dirty="0">
                <a:solidFill>
                  <a:srgbClr val="040C28"/>
                </a:solidFill>
                <a:effectLst/>
                <a:latin typeface="Google Sans"/>
              </a:rPr>
              <a:t>m = (y2 −y1 )/(x2 −x1 ) = </a:t>
            </a:r>
            <a:r>
              <a:rPr lang="en-GB" b="0" i="0" dirty="0" err="1">
                <a:solidFill>
                  <a:srgbClr val="040C28"/>
                </a:solidFill>
                <a:effectLst/>
                <a:latin typeface="Google Sans"/>
              </a:rPr>
              <a:t>Δy</a:t>
            </a:r>
            <a:r>
              <a:rPr lang="en-GB" b="0" i="0" dirty="0">
                <a:solidFill>
                  <a:srgbClr val="040C28"/>
                </a:solidFill>
                <a:effectLst/>
                <a:latin typeface="Google Sans"/>
              </a:rPr>
              <a:t>/</a:t>
            </a:r>
            <a:r>
              <a:rPr lang="en-GB" b="0" i="0" dirty="0" err="1">
                <a:solidFill>
                  <a:srgbClr val="040C28"/>
                </a:solidFill>
                <a:effectLst/>
                <a:latin typeface="Google Sans"/>
              </a:rPr>
              <a:t>Δx</a:t>
            </a:r>
            <a:r>
              <a:rPr lang="en-GB" b="0" i="0" dirty="0">
                <a:solidFill>
                  <a:srgbClr val="1F1F1F"/>
                </a:solidFill>
                <a:effectLst/>
                <a:latin typeface="Google Sans"/>
              </a:rPr>
              <a:t>, Where m represents the gradient of the line.</a:t>
            </a:r>
            <a:endParaRPr lang="en-PK" dirty="0"/>
          </a:p>
        </p:txBody>
      </p:sp>
      <p:sp>
        <p:nvSpPr>
          <p:cNvPr id="4" name="Slide Number Placeholder 3"/>
          <p:cNvSpPr>
            <a:spLocks noGrp="1"/>
          </p:cNvSpPr>
          <p:nvPr>
            <p:ph type="sldNum" sz="quarter" idx="5"/>
          </p:nvPr>
        </p:nvSpPr>
        <p:spPr/>
        <p:txBody>
          <a:bodyPr/>
          <a:lstStyle/>
          <a:p>
            <a:fld id="{2455CD47-0397-4E49-AC32-33BCD45C7742}" type="slidenum">
              <a:rPr lang="en-PK" smtClean="0"/>
              <a:t>3</a:t>
            </a:fld>
            <a:endParaRPr lang="en-PK"/>
          </a:p>
        </p:txBody>
      </p:sp>
    </p:spTree>
    <p:extLst>
      <p:ext uri="{BB962C8B-B14F-4D97-AF65-F5344CB8AC3E}">
        <p14:creationId xmlns:p14="http://schemas.microsoft.com/office/powerpoint/2010/main" val="794970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GB"/>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D4878F8D-8E25-BD4C-BBB2-67CC19C2606F}" type="datetime1">
              <a:rPr lang="en-US" smtClean="0"/>
              <a:t>2/18/26</a:t>
            </a:fld>
            <a:endParaRPr lang="en-PK"/>
          </a:p>
        </p:txBody>
      </p:sp>
      <p:sp>
        <p:nvSpPr>
          <p:cNvPr id="5" name="Footer Placeholder 4"/>
          <p:cNvSpPr>
            <a:spLocks noGrp="1"/>
          </p:cNvSpPr>
          <p:nvPr>
            <p:ph type="ftr" sz="quarter" idx="11"/>
          </p:nvPr>
        </p:nvSpPr>
        <p:spPr/>
        <p:txBody>
          <a:bodyPr/>
          <a:lstStyle>
            <a:lvl1pPr>
              <a:defRPr>
                <a:solidFill>
                  <a:srgbClr val="FFFFFF"/>
                </a:solidFill>
              </a:defRPr>
            </a:lvl1pPr>
          </a:lstStyle>
          <a:p>
            <a:r>
              <a:rPr lang="en-GB"/>
              <a:t>Presented by    Dr. Qurat Ul Ain</a:t>
            </a:r>
            <a:endParaRPr lang="en-PK"/>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CD9A578-84A4-4247-B01E-A84B9E2DF7BB}" type="slidenum">
              <a:rPr lang="en-PK" smtClean="0"/>
              <a:t>‹#›</a:t>
            </a:fld>
            <a:endParaRPr lang="en-PK"/>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12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A2AD699-3C6A-D74D-9270-43913E5A3FBA}" type="datetime1">
              <a:rPr lang="en-US" smtClean="0"/>
              <a:t>2/18/26</a:t>
            </a:fld>
            <a:endParaRPr lang="en-PK"/>
          </a:p>
        </p:txBody>
      </p:sp>
      <p:sp>
        <p:nvSpPr>
          <p:cNvPr id="5" name="Footer Placeholder 4"/>
          <p:cNvSpPr>
            <a:spLocks noGrp="1"/>
          </p:cNvSpPr>
          <p:nvPr>
            <p:ph type="ftr" sz="quarter" idx="11"/>
          </p:nvPr>
        </p:nvSpPr>
        <p:spPr/>
        <p:txBody>
          <a:bodyPr/>
          <a:lstStyle/>
          <a:p>
            <a:r>
              <a:rPr lang="en-GB"/>
              <a:t>Presented by    Dr. Qurat Ul Ain</a:t>
            </a:r>
            <a:endParaRPr lang="en-PK"/>
          </a:p>
        </p:txBody>
      </p:sp>
      <p:sp>
        <p:nvSpPr>
          <p:cNvPr id="6" name="Slide Number Placeholder 5"/>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1245171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GB"/>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769F3EE-0D8E-8347-A4B5-8DF0877D230F}" type="datetime1">
              <a:rPr lang="en-US" smtClean="0"/>
              <a:t>2/18/26</a:t>
            </a:fld>
            <a:endParaRPr lang="en-PK"/>
          </a:p>
        </p:txBody>
      </p:sp>
      <p:sp>
        <p:nvSpPr>
          <p:cNvPr id="5" name="Footer Placeholder 4"/>
          <p:cNvSpPr>
            <a:spLocks noGrp="1"/>
          </p:cNvSpPr>
          <p:nvPr>
            <p:ph type="ftr" sz="quarter" idx="11"/>
          </p:nvPr>
        </p:nvSpPr>
        <p:spPr/>
        <p:txBody>
          <a:bodyPr/>
          <a:lstStyle/>
          <a:p>
            <a:r>
              <a:rPr lang="en-GB"/>
              <a:t>Presented by    Dr. Qurat Ul Ain</a:t>
            </a:r>
            <a:endParaRPr lang="en-PK"/>
          </a:p>
        </p:txBody>
      </p:sp>
      <p:sp>
        <p:nvSpPr>
          <p:cNvPr id="6" name="Slide Number Placeholder 5"/>
          <p:cNvSpPr>
            <a:spLocks noGrp="1"/>
          </p:cNvSpPr>
          <p:nvPr>
            <p:ph type="sldNum" sz="quarter" idx="12"/>
          </p:nvPr>
        </p:nvSpPr>
        <p:spPr/>
        <p:txBody>
          <a:bodyPr/>
          <a:lstStyle/>
          <a:p>
            <a:fld id="{9CD9A578-84A4-4247-B01E-A84B9E2DF7BB}" type="slidenum">
              <a:rPr lang="en-PK" smtClean="0"/>
              <a:t>‹#›</a:t>
            </a:fld>
            <a:endParaRPr lang="en-PK"/>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842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863FC01-B9B8-C148-9963-BBDA43AAF17E}" type="datetime1">
              <a:rPr lang="en-US" smtClean="0"/>
              <a:t>2/18/26</a:t>
            </a:fld>
            <a:endParaRPr lang="en-PK"/>
          </a:p>
        </p:txBody>
      </p:sp>
      <p:sp>
        <p:nvSpPr>
          <p:cNvPr id="6" name="Footer Placeholder 5"/>
          <p:cNvSpPr>
            <a:spLocks noGrp="1"/>
          </p:cNvSpPr>
          <p:nvPr>
            <p:ph type="ftr" sz="quarter" idx="11"/>
          </p:nvPr>
        </p:nvSpPr>
        <p:spPr/>
        <p:txBody>
          <a:bodyPr/>
          <a:lstStyle/>
          <a:p>
            <a:r>
              <a:rPr lang="en-GB"/>
              <a:t>Presented by    Dr. Qurat Ul Ain</a:t>
            </a:r>
            <a:endParaRPr lang="en-PK"/>
          </a:p>
        </p:txBody>
      </p:sp>
      <p:sp>
        <p:nvSpPr>
          <p:cNvPr id="7" name="Slide Number Placeholder 6"/>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670639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170C5EF-DB2B-314C-AFD5-7D74741F6BB8}" type="datetime1">
              <a:rPr lang="en-US" smtClean="0"/>
              <a:t>2/18/26</a:t>
            </a:fld>
            <a:endParaRPr lang="en-PK"/>
          </a:p>
        </p:txBody>
      </p:sp>
      <p:sp>
        <p:nvSpPr>
          <p:cNvPr id="8" name="Footer Placeholder 7"/>
          <p:cNvSpPr>
            <a:spLocks noGrp="1"/>
          </p:cNvSpPr>
          <p:nvPr>
            <p:ph type="ftr" sz="quarter" idx="11"/>
          </p:nvPr>
        </p:nvSpPr>
        <p:spPr/>
        <p:txBody>
          <a:bodyPr/>
          <a:lstStyle/>
          <a:p>
            <a:r>
              <a:rPr lang="en-GB"/>
              <a:t>Presented by    Dr. Qurat Ul Ain</a:t>
            </a:r>
            <a:endParaRPr lang="en-PK"/>
          </a:p>
        </p:txBody>
      </p:sp>
      <p:sp>
        <p:nvSpPr>
          <p:cNvPr id="9" name="Slide Number Placeholder 8"/>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68923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9686F5A-6892-464F-86AB-C20D39347087}" type="datetime1">
              <a:rPr lang="en-US" smtClean="0"/>
              <a:t>2/18/26</a:t>
            </a:fld>
            <a:endParaRPr lang="en-PK"/>
          </a:p>
        </p:txBody>
      </p:sp>
      <p:sp>
        <p:nvSpPr>
          <p:cNvPr id="4" name="Footer Placeholder 3"/>
          <p:cNvSpPr>
            <a:spLocks noGrp="1"/>
          </p:cNvSpPr>
          <p:nvPr>
            <p:ph type="ftr" sz="quarter" idx="11"/>
          </p:nvPr>
        </p:nvSpPr>
        <p:spPr/>
        <p:txBody>
          <a:bodyPr/>
          <a:lstStyle/>
          <a:p>
            <a:r>
              <a:rPr lang="en-GB"/>
              <a:t>Presented by    Dr. Qurat Ul Ain</a:t>
            </a:r>
            <a:endParaRPr lang="en-PK"/>
          </a:p>
        </p:txBody>
      </p:sp>
      <p:sp>
        <p:nvSpPr>
          <p:cNvPr id="5" name="Slide Number Placeholder 4"/>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161791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25E4BF-AF47-374F-B070-E32C31B90F84}" type="datetime1">
              <a:rPr lang="en-US" smtClean="0"/>
              <a:t>2/18/26</a:t>
            </a:fld>
            <a:endParaRPr lang="en-PK"/>
          </a:p>
        </p:txBody>
      </p:sp>
      <p:sp>
        <p:nvSpPr>
          <p:cNvPr id="3" name="Footer Placeholder 2"/>
          <p:cNvSpPr>
            <a:spLocks noGrp="1"/>
          </p:cNvSpPr>
          <p:nvPr>
            <p:ph type="ftr" sz="quarter" idx="11"/>
          </p:nvPr>
        </p:nvSpPr>
        <p:spPr/>
        <p:txBody>
          <a:bodyPr/>
          <a:lstStyle/>
          <a:p>
            <a:r>
              <a:rPr lang="en-GB"/>
              <a:t>Presented by    Dr. Qurat Ul Ain</a:t>
            </a:r>
            <a:endParaRPr lang="en-PK"/>
          </a:p>
        </p:txBody>
      </p:sp>
      <p:sp>
        <p:nvSpPr>
          <p:cNvPr id="4" name="Slide Number Placeholder 3"/>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3984135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GB"/>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9F94A02-D252-BE43-A3CD-1EB5B1EBF6BF}" type="datetime1">
              <a:rPr lang="en-US" smtClean="0"/>
              <a:t>2/18/26</a:t>
            </a:fld>
            <a:endParaRPr lang="en-PK"/>
          </a:p>
        </p:txBody>
      </p:sp>
      <p:sp>
        <p:nvSpPr>
          <p:cNvPr id="6" name="Footer Placeholder 5"/>
          <p:cNvSpPr>
            <a:spLocks noGrp="1"/>
          </p:cNvSpPr>
          <p:nvPr>
            <p:ph type="ftr" sz="quarter" idx="11"/>
          </p:nvPr>
        </p:nvSpPr>
        <p:spPr/>
        <p:txBody>
          <a:bodyPr/>
          <a:lstStyle/>
          <a:p>
            <a:r>
              <a:rPr lang="en-GB"/>
              <a:t>Presented by    Dr. Qurat Ul Ain</a:t>
            </a:r>
            <a:endParaRPr lang="en-PK"/>
          </a:p>
        </p:txBody>
      </p:sp>
      <p:sp>
        <p:nvSpPr>
          <p:cNvPr id="7" name="Slide Number Placeholder 6"/>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287568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681E3962-247D-B942-B690-A78E000F096D}" type="datetime1">
              <a:rPr lang="en-US" smtClean="0"/>
              <a:t>2/18/26</a:t>
            </a:fld>
            <a:endParaRPr lang="en-PK"/>
          </a:p>
        </p:txBody>
      </p:sp>
      <p:sp>
        <p:nvSpPr>
          <p:cNvPr id="6" name="Footer Placeholder 5"/>
          <p:cNvSpPr>
            <a:spLocks noGrp="1"/>
          </p:cNvSpPr>
          <p:nvPr>
            <p:ph type="ftr" sz="quarter" idx="11"/>
          </p:nvPr>
        </p:nvSpPr>
        <p:spPr/>
        <p:txBody>
          <a:bodyPr/>
          <a:lstStyle/>
          <a:p>
            <a:r>
              <a:rPr lang="en-GB"/>
              <a:t>Presented by    Dr. Qurat Ul Ain</a:t>
            </a:r>
            <a:endParaRPr lang="en-PK"/>
          </a:p>
        </p:txBody>
      </p:sp>
      <p:sp>
        <p:nvSpPr>
          <p:cNvPr id="7" name="Slide Number Placeholder 6"/>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2334576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FA6C9BC-3048-824E-9EEC-B8FF40CC8018}" type="datetime1">
              <a:rPr lang="en-US" smtClean="0"/>
              <a:t>2/18/26</a:t>
            </a:fld>
            <a:endParaRPr lang="en-PK"/>
          </a:p>
        </p:txBody>
      </p:sp>
      <p:sp>
        <p:nvSpPr>
          <p:cNvPr id="5" name="Footer Placeholder 4"/>
          <p:cNvSpPr>
            <a:spLocks noGrp="1"/>
          </p:cNvSpPr>
          <p:nvPr>
            <p:ph type="ftr" sz="quarter" idx="11"/>
          </p:nvPr>
        </p:nvSpPr>
        <p:spPr/>
        <p:txBody>
          <a:bodyPr/>
          <a:lstStyle/>
          <a:p>
            <a:r>
              <a:rPr lang="en-GB"/>
              <a:t>Presented by    Dr. Qurat Ul Ain</a:t>
            </a:r>
            <a:endParaRPr lang="en-PK"/>
          </a:p>
        </p:txBody>
      </p:sp>
      <p:sp>
        <p:nvSpPr>
          <p:cNvPr id="6" name="Slide Number Placeholder 5"/>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2347308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112892A-0803-FC4E-9617-BDAA8F35B0CD}" type="datetime1">
              <a:rPr lang="en-US" smtClean="0"/>
              <a:t>2/18/26</a:t>
            </a:fld>
            <a:endParaRPr lang="en-PK"/>
          </a:p>
        </p:txBody>
      </p:sp>
      <p:sp>
        <p:nvSpPr>
          <p:cNvPr id="5" name="Footer Placeholder 4"/>
          <p:cNvSpPr>
            <a:spLocks noGrp="1"/>
          </p:cNvSpPr>
          <p:nvPr>
            <p:ph type="ftr" sz="quarter" idx="11"/>
          </p:nvPr>
        </p:nvSpPr>
        <p:spPr/>
        <p:txBody>
          <a:bodyPr/>
          <a:lstStyle/>
          <a:p>
            <a:r>
              <a:rPr lang="en-GB"/>
              <a:t>Presented by    Dr. Qurat Ul Ain</a:t>
            </a:r>
            <a:endParaRPr lang="en-PK"/>
          </a:p>
        </p:txBody>
      </p:sp>
      <p:sp>
        <p:nvSpPr>
          <p:cNvPr id="6" name="Slide Number Placeholder 5"/>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1566654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FBC1DD19-8A21-9943-8937-D066DD75D6D7}" type="datetime1">
              <a:rPr lang="en-US" smtClean="0"/>
              <a:t>2/18/26</a:t>
            </a:fld>
            <a:endParaRPr lang="en-PK"/>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r>
              <a:rPr lang="en-GB"/>
              <a:t>Presented by    Dr. Qurat Ul Ain</a:t>
            </a:r>
            <a:endParaRPr lang="en-PK"/>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9CD9A578-84A4-4247-B01E-A84B9E2DF7BB}" type="slidenum">
              <a:rPr lang="en-PK" smtClean="0"/>
              <a:t>‹#›</a:t>
            </a:fld>
            <a:endParaRPr lang="en-PK"/>
          </a:p>
        </p:txBody>
      </p:sp>
    </p:spTree>
    <p:extLst>
      <p:ext uri="{BB962C8B-B14F-4D97-AF65-F5344CB8AC3E}">
        <p14:creationId xmlns:p14="http://schemas.microsoft.com/office/powerpoint/2010/main" val="1285879070"/>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datacamp.com/tutorial/convolutional-neural-networks-python#:~:text=categorical%20cross%20entropy"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geeksforgeeks.org/machine-learning/multiclass-classification-using-scikit-lear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04800" y="440891"/>
            <a:ext cx="7239000" cy="646331"/>
          </a:xfrm>
          <a:prstGeom prst="rect">
            <a:avLst/>
          </a:prstGeom>
          <a:noFill/>
        </p:spPr>
        <p:txBody>
          <a:bodyPr wrap="square" rtlCol="0">
            <a:spAutoFit/>
          </a:bodyPr>
          <a:lstStyle/>
          <a:p>
            <a:r>
              <a:rPr lang="en-US" b="1" dirty="0">
                <a:solidFill>
                  <a:schemeClr val="tx2"/>
                </a:solidFill>
                <a:latin typeface="arial" panose="020B0604020202020204" pitchFamily="34" charset="0"/>
              </a:rPr>
              <a:t>National University of Computer and Emerging Sciences,</a:t>
            </a:r>
          </a:p>
          <a:p>
            <a:r>
              <a:rPr lang="en-US" b="1" dirty="0">
                <a:solidFill>
                  <a:schemeClr val="tx2"/>
                </a:solidFill>
                <a:latin typeface="arial" panose="020B0604020202020204" pitchFamily="34" charset="0"/>
              </a:rPr>
              <a:t>Islamabad, Pakistan</a:t>
            </a:r>
            <a:endParaRPr lang="en-US" b="1" dirty="0">
              <a:solidFill>
                <a:schemeClr val="tx2"/>
              </a:solidFill>
            </a:endParaRPr>
          </a:p>
        </p:txBody>
      </p:sp>
      <p:sp>
        <p:nvSpPr>
          <p:cNvPr id="9" name="AutoShape 8"/>
          <p:cNvSpPr>
            <a:spLocks noChangeArrowheads="1"/>
          </p:cNvSpPr>
          <p:nvPr/>
        </p:nvSpPr>
        <p:spPr bwMode="auto">
          <a:xfrm>
            <a:off x="2400301" y="2589242"/>
            <a:ext cx="7391399" cy="838201"/>
          </a:xfrm>
          <a:prstGeom prst="roundRect">
            <a:avLst>
              <a:gd name="adj" fmla="val 16667"/>
            </a:avLst>
          </a:prstGeom>
          <a:solidFill>
            <a:srgbClr val="002060"/>
          </a:solidFill>
          <a:ln w="9525">
            <a:solidFill>
              <a:schemeClr val="tx1"/>
            </a:solidFill>
            <a:round/>
            <a:headEnd/>
            <a:tailEnd/>
          </a:ln>
          <a:effectLst>
            <a:outerShdw dist="45791" dir="3378596" algn="ctr" rotWithShape="0">
              <a:schemeClr val="bg2"/>
            </a:outerShdw>
          </a:effectLst>
        </p:spPr>
        <p:txBody>
          <a:bodyPr wrap="none" anchor="ctr"/>
          <a:lstStyle/>
          <a:p>
            <a:pPr algn="ctr">
              <a:spcBef>
                <a:spcPct val="50000"/>
              </a:spcBef>
            </a:pPr>
            <a:r>
              <a:rPr lang="en-US" sz="3200" dirty="0">
                <a:solidFill>
                  <a:schemeClr val="bg1"/>
                </a:solidFill>
              </a:rPr>
              <a:t>Activation Functions, Loss Functions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a:t>
            </a:fld>
            <a:endParaRPr lang="en-US"/>
          </a:p>
        </p:txBody>
      </p:sp>
      <p:sp>
        <p:nvSpPr>
          <p:cNvPr id="3" name="TextBox 2"/>
          <p:cNvSpPr txBox="1"/>
          <p:nvPr/>
        </p:nvSpPr>
        <p:spPr>
          <a:xfrm>
            <a:off x="2552700" y="3866928"/>
            <a:ext cx="7391400" cy="523220"/>
          </a:xfrm>
          <a:prstGeom prst="rect">
            <a:avLst/>
          </a:prstGeom>
          <a:noFill/>
        </p:spPr>
        <p:txBody>
          <a:bodyPr wrap="square" rtlCol="0">
            <a:spAutoFit/>
          </a:bodyPr>
          <a:lstStyle/>
          <a:p>
            <a:pPr algn="ctr">
              <a:spcBef>
                <a:spcPct val="50000"/>
              </a:spcBef>
            </a:pPr>
            <a:r>
              <a:rPr lang="en-US" sz="2800" b="1" dirty="0"/>
              <a:t>CS-4025: Deep Learning </a:t>
            </a:r>
          </a:p>
        </p:txBody>
      </p:sp>
      <p:pic>
        <p:nvPicPr>
          <p:cNvPr id="4098" name="Picture 2" descr="National University of Computer and Emerging Sciences - Wikipedia">
            <a:extLst>
              <a:ext uri="{FF2B5EF4-FFF2-40B4-BE49-F238E27FC236}">
                <a16:creationId xmlns:a16="http://schemas.microsoft.com/office/drawing/2014/main" id="{E0F510F5-0228-44A0-926A-4D4211F68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1979" y="228600"/>
            <a:ext cx="1223315" cy="1223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6604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9FAF9-BED7-7BCC-624C-7C8D2D2D9AC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DB47502-D306-10FF-6BDD-888B1A14A217}"/>
              </a:ext>
            </a:extLst>
          </p:cNvPr>
          <p:cNvSpPr/>
          <p:nvPr/>
        </p:nvSpPr>
        <p:spPr>
          <a:xfrm>
            <a:off x="3519055" y="319000"/>
            <a:ext cx="5155190" cy="382732"/>
          </a:xfrm>
          <a:custGeom>
            <a:avLst/>
            <a:gdLst/>
            <a:ahLst/>
            <a:cxnLst/>
            <a:rect l="l" t="t" r="r" b="b"/>
            <a:pathLst>
              <a:path w="7560945" h="561340">
                <a:moveTo>
                  <a:pt x="7560564" y="0"/>
                </a:moveTo>
                <a:lnTo>
                  <a:pt x="7557516" y="0"/>
                </a:lnTo>
                <a:lnTo>
                  <a:pt x="3048" y="0"/>
                </a:lnTo>
                <a:lnTo>
                  <a:pt x="0" y="0"/>
                </a:lnTo>
                <a:lnTo>
                  <a:pt x="0" y="3048"/>
                </a:lnTo>
                <a:lnTo>
                  <a:pt x="0" y="560832"/>
                </a:lnTo>
                <a:lnTo>
                  <a:pt x="3048" y="560832"/>
                </a:lnTo>
                <a:lnTo>
                  <a:pt x="3048" y="3048"/>
                </a:lnTo>
                <a:lnTo>
                  <a:pt x="7557516" y="3048"/>
                </a:lnTo>
                <a:lnTo>
                  <a:pt x="7557516" y="560832"/>
                </a:lnTo>
                <a:lnTo>
                  <a:pt x="7560564" y="560832"/>
                </a:lnTo>
                <a:lnTo>
                  <a:pt x="7560564" y="3048"/>
                </a:lnTo>
                <a:lnTo>
                  <a:pt x="7560564" y="0"/>
                </a:lnTo>
                <a:close/>
              </a:path>
            </a:pathLst>
          </a:custGeom>
          <a:solidFill>
            <a:srgbClr val="56A8F0"/>
          </a:solidFill>
        </p:spPr>
        <p:txBody>
          <a:bodyPr wrap="square" lIns="0" tIns="0" rIns="0" bIns="0" rtlCol="0"/>
          <a:lstStyle/>
          <a:p>
            <a:endParaRPr sz="1227"/>
          </a:p>
        </p:txBody>
      </p:sp>
      <p:sp>
        <p:nvSpPr>
          <p:cNvPr id="8" name="object 8">
            <a:extLst>
              <a:ext uri="{FF2B5EF4-FFF2-40B4-BE49-F238E27FC236}">
                <a16:creationId xmlns:a16="http://schemas.microsoft.com/office/drawing/2014/main" id="{55C158E7-9E7A-CE2A-9507-607B9FE70654}"/>
              </a:ext>
            </a:extLst>
          </p:cNvPr>
          <p:cNvSpPr txBox="1"/>
          <p:nvPr/>
        </p:nvSpPr>
        <p:spPr>
          <a:xfrm>
            <a:off x="968721" y="1551416"/>
            <a:ext cx="6726725" cy="4852581"/>
          </a:xfrm>
          <a:prstGeom prst="rect">
            <a:avLst/>
          </a:prstGeom>
        </p:spPr>
        <p:txBody>
          <a:bodyPr vert="horz" wrap="square" lIns="0" tIns="8226" rIns="0" bIns="0" rtlCol="0">
            <a:spAutoFit/>
          </a:bodyPr>
          <a:lstStyle/>
          <a:p>
            <a:pPr marL="294409" indent="-285750">
              <a:spcBef>
                <a:spcPts val="883"/>
              </a:spcBef>
              <a:buFont typeface="Arial" panose="020B0604020202020204" pitchFamily="34" charset="0"/>
              <a:buChar char="•"/>
            </a:pPr>
            <a:r>
              <a:rPr lang="en-GB" sz="1600" spc="-14" dirty="0">
                <a:solidFill>
                  <a:srgbClr val="080912"/>
                </a:solidFill>
                <a:latin typeface="Arial MT"/>
                <a:cs typeface="Arial MT"/>
              </a:rPr>
              <a:t>T</a:t>
            </a:r>
            <a:r>
              <a:rPr sz="1600" spc="-14" dirty="0">
                <a:solidFill>
                  <a:srgbClr val="080912"/>
                </a:solidFill>
                <a:latin typeface="Arial MT"/>
                <a:cs typeface="Arial MT"/>
              </a:rPr>
              <a:t>he</a:t>
            </a:r>
            <a:r>
              <a:rPr sz="1600" spc="-10" dirty="0">
                <a:solidFill>
                  <a:srgbClr val="080912"/>
                </a:solidFill>
                <a:latin typeface="Arial MT"/>
                <a:cs typeface="Arial MT"/>
              </a:rPr>
              <a:t> </a:t>
            </a:r>
            <a:r>
              <a:rPr sz="1600" spc="-14" dirty="0">
                <a:solidFill>
                  <a:srgbClr val="080912"/>
                </a:solidFill>
                <a:latin typeface="Arial MT"/>
                <a:cs typeface="Arial MT"/>
              </a:rPr>
              <a:t>purpose </a:t>
            </a:r>
            <a:r>
              <a:rPr sz="1600" spc="-3" dirty="0">
                <a:solidFill>
                  <a:srgbClr val="080912"/>
                </a:solidFill>
                <a:latin typeface="Arial MT"/>
                <a:cs typeface="Arial MT"/>
              </a:rPr>
              <a:t>of</a:t>
            </a:r>
            <a:r>
              <a:rPr sz="1600" spc="-20" dirty="0">
                <a:solidFill>
                  <a:srgbClr val="080912"/>
                </a:solidFill>
                <a:latin typeface="Arial MT"/>
                <a:cs typeface="Arial MT"/>
              </a:rPr>
              <a:t> </a:t>
            </a:r>
            <a:r>
              <a:rPr sz="1600" spc="-3" dirty="0">
                <a:solidFill>
                  <a:srgbClr val="080912"/>
                </a:solidFill>
                <a:latin typeface="Arial MT"/>
                <a:cs typeface="Arial MT"/>
              </a:rPr>
              <a:t>an</a:t>
            </a:r>
            <a:r>
              <a:rPr sz="1600" spc="-20" dirty="0">
                <a:solidFill>
                  <a:srgbClr val="080912"/>
                </a:solidFill>
                <a:latin typeface="Arial MT"/>
                <a:cs typeface="Arial MT"/>
              </a:rPr>
              <a:t> </a:t>
            </a:r>
            <a:r>
              <a:rPr sz="1600" spc="-14" dirty="0">
                <a:solidFill>
                  <a:srgbClr val="080912"/>
                </a:solidFill>
                <a:latin typeface="Arial MT"/>
                <a:cs typeface="Arial MT"/>
              </a:rPr>
              <a:t>activation</a:t>
            </a:r>
            <a:r>
              <a:rPr sz="1600" spc="-10" dirty="0">
                <a:solidFill>
                  <a:srgbClr val="080912"/>
                </a:solidFill>
                <a:latin typeface="Arial MT"/>
                <a:cs typeface="Arial MT"/>
              </a:rPr>
              <a:t> </a:t>
            </a:r>
            <a:r>
              <a:rPr sz="1600" spc="-14" dirty="0">
                <a:solidFill>
                  <a:srgbClr val="080912"/>
                </a:solidFill>
                <a:latin typeface="Arial MT"/>
                <a:cs typeface="Arial MT"/>
              </a:rPr>
              <a:t>function </a:t>
            </a:r>
            <a:r>
              <a:rPr sz="1600" spc="-10" dirty="0">
                <a:solidFill>
                  <a:srgbClr val="080912"/>
                </a:solidFill>
                <a:latin typeface="Arial MT"/>
                <a:cs typeface="Arial MT"/>
              </a:rPr>
              <a:t>is</a:t>
            </a:r>
            <a:r>
              <a:rPr sz="1600" spc="-7" dirty="0">
                <a:solidFill>
                  <a:srgbClr val="080912"/>
                </a:solidFill>
                <a:latin typeface="Arial MT"/>
                <a:cs typeface="Arial MT"/>
              </a:rPr>
              <a:t> </a:t>
            </a:r>
            <a:r>
              <a:rPr sz="1600" spc="-10" dirty="0">
                <a:solidFill>
                  <a:srgbClr val="080912"/>
                </a:solidFill>
                <a:latin typeface="Arial MT"/>
                <a:cs typeface="Arial MT"/>
              </a:rPr>
              <a:t>to</a:t>
            </a:r>
            <a:r>
              <a:rPr sz="1600" spc="-14" dirty="0">
                <a:solidFill>
                  <a:srgbClr val="080912"/>
                </a:solidFill>
                <a:latin typeface="Arial MT"/>
                <a:cs typeface="Arial MT"/>
              </a:rPr>
              <a:t> </a:t>
            </a:r>
            <a:r>
              <a:rPr sz="1600" spc="-10" dirty="0">
                <a:solidFill>
                  <a:srgbClr val="080912"/>
                </a:solidFill>
                <a:latin typeface="Arial MT"/>
                <a:cs typeface="Arial MT"/>
              </a:rPr>
              <a:t>add </a:t>
            </a:r>
            <a:r>
              <a:rPr sz="1600" spc="-14" dirty="0">
                <a:solidFill>
                  <a:srgbClr val="080912"/>
                </a:solidFill>
                <a:latin typeface="Arial MT"/>
                <a:cs typeface="Arial MT"/>
              </a:rPr>
              <a:t>non-linearity</a:t>
            </a:r>
            <a:r>
              <a:rPr sz="1600" spc="-10" dirty="0">
                <a:solidFill>
                  <a:srgbClr val="080912"/>
                </a:solidFill>
                <a:latin typeface="Arial MT"/>
                <a:cs typeface="Arial MT"/>
              </a:rPr>
              <a:t> to the</a:t>
            </a:r>
            <a:r>
              <a:rPr sz="1600" spc="-20" dirty="0">
                <a:solidFill>
                  <a:srgbClr val="080912"/>
                </a:solidFill>
                <a:latin typeface="Arial MT"/>
                <a:cs typeface="Arial MT"/>
              </a:rPr>
              <a:t> </a:t>
            </a:r>
            <a:r>
              <a:rPr sz="1600" spc="-10" dirty="0">
                <a:solidFill>
                  <a:srgbClr val="080912"/>
                </a:solidFill>
                <a:latin typeface="Arial MT"/>
                <a:cs typeface="Arial MT"/>
              </a:rPr>
              <a:t>neural</a:t>
            </a:r>
            <a:r>
              <a:rPr sz="1600" spc="-20" dirty="0">
                <a:solidFill>
                  <a:srgbClr val="080912"/>
                </a:solidFill>
                <a:latin typeface="Arial MT"/>
                <a:cs typeface="Arial MT"/>
              </a:rPr>
              <a:t> </a:t>
            </a:r>
            <a:r>
              <a:rPr sz="1600" spc="-10" dirty="0">
                <a:solidFill>
                  <a:srgbClr val="080912"/>
                </a:solidFill>
                <a:latin typeface="Arial MT"/>
                <a:cs typeface="Arial MT"/>
              </a:rPr>
              <a:t>network.</a:t>
            </a:r>
            <a:endParaRPr lang="en-GB" sz="1600" spc="-10" dirty="0">
              <a:solidFill>
                <a:srgbClr val="080912"/>
              </a:solidFill>
              <a:latin typeface="Arial MT"/>
              <a:cs typeface="Arial MT"/>
            </a:endParaRPr>
          </a:p>
          <a:p>
            <a:pPr marL="294409" marR="3464" indent="-285750" algn="just">
              <a:lnSpc>
                <a:spcPct val="143700"/>
              </a:lnSpc>
              <a:spcBef>
                <a:spcPts val="65"/>
              </a:spcBef>
              <a:buFont typeface="Arial" panose="020B0604020202020204" pitchFamily="34" charset="0"/>
              <a:buChar char="•"/>
            </a:pPr>
            <a:r>
              <a:rPr lang="en-GB" sz="1600" spc="-10" dirty="0">
                <a:solidFill>
                  <a:srgbClr val="080912"/>
                </a:solidFill>
                <a:latin typeface="Arial MT"/>
                <a:cs typeface="Arial MT"/>
              </a:rPr>
              <a:t>Activation</a:t>
            </a:r>
            <a:r>
              <a:rPr lang="en-GB" sz="1600" spc="-34" dirty="0">
                <a:solidFill>
                  <a:srgbClr val="080912"/>
                </a:solidFill>
                <a:latin typeface="Arial MT"/>
                <a:cs typeface="Arial MT"/>
              </a:rPr>
              <a:t> </a:t>
            </a:r>
            <a:r>
              <a:rPr lang="en-GB" sz="1600" spc="-14" dirty="0">
                <a:solidFill>
                  <a:srgbClr val="080912"/>
                </a:solidFill>
                <a:latin typeface="Arial MT"/>
                <a:cs typeface="Arial MT"/>
              </a:rPr>
              <a:t>functions</a:t>
            </a:r>
            <a:r>
              <a:rPr lang="en-GB" sz="1600" spc="-41" dirty="0">
                <a:solidFill>
                  <a:srgbClr val="080912"/>
                </a:solidFill>
                <a:latin typeface="Arial MT"/>
                <a:cs typeface="Arial MT"/>
              </a:rPr>
              <a:t> </a:t>
            </a:r>
            <a:r>
              <a:rPr lang="en-GB" sz="1600" spc="-10" dirty="0">
                <a:solidFill>
                  <a:srgbClr val="080912"/>
                </a:solidFill>
                <a:latin typeface="Arial MT"/>
                <a:cs typeface="Arial MT"/>
              </a:rPr>
              <a:t>introduce</a:t>
            </a:r>
            <a:r>
              <a:rPr lang="en-GB" sz="1600" spc="-44" dirty="0">
                <a:solidFill>
                  <a:srgbClr val="080912"/>
                </a:solidFill>
                <a:latin typeface="Arial MT"/>
                <a:cs typeface="Arial MT"/>
              </a:rPr>
              <a:t> </a:t>
            </a:r>
            <a:r>
              <a:rPr lang="en-GB" sz="1600" spc="-7" dirty="0">
                <a:solidFill>
                  <a:srgbClr val="080912"/>
                </a:solidFill>
                <a:latin typeface="Arial MT"/>
                <a:cs typeface="Arial MT"/>
              </a:rPr>
              <a:t>an</a:t>
            </a:r>
            <a:r>
              <a:rPr lang="en-GB" sz="1600" spc="-44" dirty="0">
                <a:solidFill>
                  <a:srgbClr val="080912"/>
                </a:solidFill>
                <a:latin typeface="Arial MT"/>
                <a:cs typeface="Arial MT"/>
              </a:rPr>
              <a:t> </a:t>
            </a:r>
            <a:r>
              <a:rPr lang="en-GB" sz="1600" spc="-10" dirty="0">
                <a:solidFill>
                  <a:srgbClr val="080912"/>
                </a:solidFill>
                <a:latin typeface="Arial MT"/>
                <a:cs typeface="Arial MT"/>
              </a:rPr>
              <a:t>additional</a:t>
            </a:r>
            <a:r>
              <a:rPr lang="en-GB" sz="1600" spc="-41" dirty="0">
                <a:solidFill>
                  <a:srgbClr val="080912"/>
                </a:solidFill>
                <a:latin typeface="Arial MT"/>
                <a:cs typeface="Arial MT"/>
              </a:rPr>
              <a:t> </a:t>
            </a:r>
            <a:r>
              <a:rPr lang="en-GB" sz="1600" spc="-10" dirty="0">
                <a:solidFill>
                  <a:srgbClr val="080912"/>
                </a:solidFill>
                <a:latin typeface="Arial MT"/>
                <a:cs typeface="Arial MT"/>
              </a:rPr>
              <a:t>step</a:t>
            </a:r>
            <a:r>
              <a:rPr lang="en-GB" sz="1600" spc="-44" dirty="0">
                <a:solidFill>
                  <a:srgbClr val="080912"/>
                </a:solidFill>
                <a:latin typeface="Arial MT"/>
                <a:cs typeface="Arial MT"/>
              </a:rPr>
              <a:t> </a:t>
            </a:r>
            <a:r>
              <a:rPr lang="en-GB" sz="1600" spc="-3" dirty="0">
                <a:solidFill>
                  <a:srgbClr val="080912"/>
                </a:solidFill>
                <a:latin typeface="Arial MT"/>
                <a:cs typeface="Arial MT"/>
              </a:rPr>
              <a:t>at</a:t>
            </a:r>
            <a:r>
              <a:rPr lang="en-GB" sz="1600" spc="-48" dirty="0">
                <a:solidFill>
                  <a:srgbClr val="080912"/>
                </a:solidFill>
                <a:latin typeface="Arial MT"/>
                <a:cs typeface="Arial MT"/>
              </a:rPr>
              <a:t> </a:t>
            </a:r>
            <a:r>
              <a:rPr lang="en-GB" sz="1600" spc="-10" dirty="0">
                <a:solidFill>
                  <a:srgbClr val="080912"/>
                </a:solidFill>
                <a:latin typeface="Arial MT"/>
                <a:cs typeface="Arial MT"/>
              </a:rPr>
              <a:t>each</a:t>
            </a:r>
            <a:r>
              <a:rPr lang="en-GB" sz="1600" spc="-44" dirty="0">
                <a:solidFill>
                  <a:srgbClr val="080912"/>
                </a:solidFill>
                <a:latin typeface="Arial MT"/>
                <a:cs typeface="Arial MT"/>
              </a:rPr>
              <a:t> </a:t>
            </a:r>
            <a:r>
              <a:rPr lang="en-GB" sz="1600" spc="-10" dirty="0">
                <a:solidFill>
                  <a:srgbClr val="080912"/>
                </a:solidFill>
                <a:latin typeface="Arial MT"/>
                <a:cs typeface="Arial MT"/>
              </a:rPr>
              <a:t>layer</a:t>
            </a:r>
            <a:r>
              <a:rPr lang="en-GB" sz="1600" spc="-41" dirty="0">
                <a:solidFill>
                  <a:srgbClr val="080912"/>
                </a:solidFill>
                <a:latin typeface="Arial MT"/>
                <a:cs typeface="Arial MT"/>
              </a:rPr>
              <a:t> </a:t>
            </a:r>
            <a:r>
              <a:rPr lang="en-GB" sz="1600" spc="-10" dirty="0">
                <a:solidFill>
                  <a:srgbClr val="080912"/>
                </a:solidFill>
                <a:latin typeface="Arial MT"/>
                <a:cs typeface="Arial MT"/>
              </a:rPr>
              <a:t>during</a:t>
            </a:r>
            <a:r>
              <a:rPr lang="en-GB" sz="1600" spc="-31" dirty="0">
                <a:solidFill>
                  <a:srgbClr val="080912"/>
                </a:solidFill>
                <a:latin typeface="Arial MT"/>
                <a:cs typeface="Arial MT"/>
              </a:rPr>
              <a:t> </a:t>
            </a:r>
            <a:r>
              <a:rPr lang="en-GB" sz="1600" spc="-10" dirty="0">
                <a:solidFill>
                  <a:srgbClr val="080912"/>
                </a:solidFill>
                <a:latin typeface="Arial MT"/>
                <a:cs typeface="Arial MT"/>
              </a:rPr>
              <a:t>the</a:t>
            </a:r>
            <a:r>
              <a:rPr lang="en-GB" sz="1600" spc="-44" dirty="0">
                <a:solidFill>
                  <a:srgbClr val="080912"/>
                </a:solidFill>
                <a:latin typeface="Arial MT"/>
                <a:cs typeface="Arial MT"/>
              </a:rPr>
              <a:t> </a:t>
            </a:r>
            <a:r>
              <a:rPr lang="en-GB" sz="1600" spc="-10" dirty="0">
                <a:solidFill>
                  <a:srgbClr val="080912"/>
                </a:solidFill>
                <a:latin typeface="Arial MT"/>
                <a:cs typeface="Arial MT"/>
              </a:rPr>
              <a:t>forward</a:t>
            </a:r>
            <a:r>
              <a:rPr lang="en-GB" sz="1600" spc="-44" dirty="0">
                <a:solidFill>
                  <a:srgbClr val="080912"/>
                </a:solidFill>
                <a:latin typeface="Arial MT"/>
                <a:cs typeface="Arial MT"/>
              </a:rPr>
              <a:t> </a:t>
            </a:r>
            <a:r>
              <a:rPr lang="en-GB" sz="1600" spc="-10" dirty="0">
                <a:solidFill>
                  <a:srgbClr val="080912"/>
                </a:solidFill>
                <a:latin typeface="Arial MT"/>
                <a:cs typeface="Arial MT"/>
              </a:rPr>
              <a:t>propagation, </a:t>
            </a:r>
          </a:p>
          <a:p>
            <a:pPr marL="294409" marR="3464" indent="-285750" algn="just">
              <a:lnSpc>
                <a:spcPct val="143700"/>
              </a:lnSpc>
              <a:spcBef>
                <a:spcPts val="65"/>
              </a:spcBef>
              <a:buFont typeface="Arial" panose="020B0604020202020204" pitchFamily="34" charset="0"/>
              <a:buChar char="•"/>
            </a:pPr>
            <a:r>
              <a:rPr lang="en-GB" sz="1600" spc="-10" dirty="0">
                <a:solidFill>
                  <a:srgbClr val="080912"/>
                </a:solidFill>
                <a:latin typeface="Arial MT"/>
                <a:cs typeface="Arial MT"/>
              </a:rPr>
              <a:t>Let’s</a:t>
            </a:r>
            <a:r>
              <a:rPr lang="en-GB" sz="1600" spc="-20" dirty="0">
                <a:solidFill>
                  <a:srgbClr val="080912"/>
                </a:solidFill>
                <a:latin typeface="Arial MT"/>
                <a:cs typeface="Arial MT"/>
              </a:rPr>
              <a:t> </a:t>
            </a:r>
            <a:r>
              <a:rPr lang="en-GB" sz="1600" spc="-10" dirty="0">
                <a:solidFill>
                  <a:srgbClr val="080912"/>
                </a:solidFill>
                <a:latin typeface="Arial MT"/>
                <a:cs typeface="Arial MT"/>
              </a:rPr>
              <a:t>suppose</a:t>
            </a:r>
            <a:r>
              <a:rPr lang="en-GB" sz="1600" spc="-24" dirty="0">
                <a:solidFill>
                  <a:srgbClr val="080912"/>
                </a:solidFill>
                <a:latin typeface="Arial MT"/>
                <a:cs typeface="Arial MT"/>
              </a:rPr>
              <a:t> </a:t>
            </a:r>
            <a:r>
              <a:rPr lang="en-GB" sz="1600" spc="-7" dirty="0">
                <a:solidFill>
                  <a:srgbClr val="080912"/>
                </a:solidFill>
                <a:latin typeface="Arial MT"/>
                <a:cs typeface="Arial MT"/>
              </a:rPr>
              <a:t>we</a:t>
            </a:r>
            <a:r>
              <a:rPr lang="en-GB" sz="1600" spc="-17" dirty="0">
                <a:solidFill>
                  <a:srgbClr val="080912"/>
                </a:solidFill>
                <a:latin typeface="Arial MT"/>
                <a:cs typeface="Arial MT"/>
              </a:rPr>
              <a:t> </a:t>
            </a:r>
            <a:r>
              <a:rPr lang="en-GB" sz="1600" spc="-10" dirty="0">
                <a:solidFill>
                  <a:srgbClr val="080912"/>
                </a:solidFill>
                <a:latin typeface="Arial MT"/>
                <a:cs typeface="Arial MT"/>
              </a:rPr>
              <a:t>have</a:t>
            </a:r>
            <a:r>
              <a:rPr lang="en-GB" sz="1600" spc="-17" dirty="0">
                <a:solidFill>
                  <a:srgbClr val="080912"/>
                </a:solidFill>
                <a:latin typeface="Arial MT"/>
                <a:cs typeface="Arial MT"/>
              </a:rPr>
              <a:t> </a:t>
            </a:r>
            <a:r>
              <a:rPr lang="en-GB" sz="1600" dirty="0">
                <a:solidFill>
                  <a:srgbClr val="080912"/>
                </a:solidFill>
                <a:latin typeface="Arial MT"/>
                <a:cs typeface="Arial MT"/>
              </a:rPr>
              <a:t>a</a:t>
            </a:r>
            <a:r>
              <a:rPr lang="en-GB" sz="1600" spc="-24" dirty="0">
                <a:solidFill>
                  <a:srgbClr val="080912"/>
                </a:solidFill>
                <a:latin typeface="Arial MT"/>
                <a:cs typeface="Arial MT"/>
              </a:rPr>
              <a:t> </a:t>
            </a:r>
            <a:r>
              <a:rPr lang="en-GB" sz="1600" spc="-10" dirty="0">
                <a:solidFill>
                  <a:srgbClr val="080912"/>
                </a:solidFill>
                <a:latin typeface="Arial MT"/>
                <a:cs typeface="Arial MT"/>
              </a:rPr>
              <a:t>neural</a:t>
            </a:r>
            <a:r>
              <a:rPr lang="en-GB" sz="1600" spc="-27" dirty="0">
                <a:solidFill>
                  <a:srgbClr val="080912"/>
                </a:solidFill>
                <a:latin typeface="Arial MT"/>
                <a:cs typeface="Arial MT"/>
              </a:rPr>
              <a:t> </a:t>
            </a:r>
            <a:r>
              <a:rPr lang="en-GB" sz="1600" spc="-10" dirty="0">
                <a:solidFill>
                  <a:srgbClr val="080912"/>
                </a:solidFill>
                <a:latin typeface="Arial MT"/>
                <a:cs typeface="Arial MT"/>
              </a:rPr>
              <a:t>network</a:t>
            </a:r>
            <a:r>
              <a:rPr lang="en-GB" sz="1600" spc="-20" dirty="0">
                <a:solidFill>
                  <a:srgbClr val="080912"/>
                </a:solidFill>
                <a:latin typeface="Arial MT"/>
                <a:cs typeface="Arial MT"/>
              </a:rPr>
              <a:t> </a:t>
            </a:r>
            <a:r>
              <a:rPr lang="en-GB" sz="1600" spc="-10" dirty="0">
                <a:solidFill>
                  <a:srgbClr val="080912"/>
                </a:solidFill>
                <a:latin typeface="Arial MT"/>
                <a:cs typeface="Arial MT"/>
              </a:rPr>
              <a:t>working</a:t>
            </a:r>
            <a:r>
              <a:rPr lang="en-GB" sz="1600" spc="-31" dirty="0">
                <a:solidFill>
                  <a:srgbClr val="080912"/>
                </a:solidFill>
                <a:latin typeface="Arial MT"/>
                <a:cs typeface="Arial MT"/>
              </a:rPr>
              <a:t> </a:t>
            </a:r>
            <a:r>
              <a:rPr lang="en-GB" sz="1600" i="1" spc="-10" dirty="0">
                <a:solidFill>
                  <a:srgbClr val="080912"/>
                </a:solidFill>
                <a:latin typeface="Arial"/>
                <a:cs typeface="Arial"/>
              </a:rPr>
              <a:t>without</a:t>
            </a:r>
            <a:r>
              <a:rPr lang="en-GB" sz="1600" i="1" spc="-17" dirty="0">
                <a:solidFill>
                  <a:srgbClr val="080912"/>
                </a:solidFill>
                <a:latin typeface="Arial"/>
                <a:cs typeface="Arial"/>
              </a:rPr>
              <a:t> </a:t>
            </a:r>
            <a:r>
              <a:rPr lang="en-GB" sz="1600" spc="-14" dirty="0">
                <a:solidFill>
                  <a:srgbClr val="080912"/>
                </a:solidFill>
                <a:latin typeface="Arial MT"/>
                <a:cs typeface="Arial MT"/>
              </a:rPr>
              <a:t>the</a:t>
            </a:r>
            <a:r>
              <a:rPr lang="en-GB" sz="1600" spc="-24" dirty="0">
                <a:solidFill>
                  <a:srgbClr val="080912"/>
                </a:solidFill>
                <a:latin typeface="Arial MT"/>
                <a:cs typeface="Arial MT"/>
              </a:rPr>
              <a:t> </a:t>
            </a:r>
            <a:r>
              <a:rPr lang="en-GB" sz="1600" spc="-10" dirty="0">
                <a:solidFill>
                  <a:srgbClr val="080912"/>
                </a:solidFill>
                <a:latin typeface="Arial MT"/>
                <a:cs typeface="Arial MT"/>
              </a:rPr>
              <a:t>activation</a:t>
            </a:r>
            <a:r>
              <a:rPr lang="en-GB" sz="1600" spc="-17" dirty="0">
                <a:solidFill>
                  <a:srgbClr val="080912"/>
                </a:solidFill>
                <a:latin typeface="Arial MT"/>
                <a:cs typeface="Arial MT"/>
              </a:rPr>
              <a:t> </a:t>
            </a:r>
            <a:r>
              <a:rPr lang="en-GB" sz="1600" spc="-14" dirty="0">
                <a:solidFill>
                  <a:srgbClr val="080912"/>
                </a:solidFill>
                <a:latin typeface="Arial MT"/>
                <a:cs typeface="Arial MT"/>
              </a:rPr>
              <a:t>functions. </a:t>
            </a:r>
            <a:r>
              <a:rPr lang="en-GB" sz="1600" spc="-7" dirty="0">
                <a:solidFill>
                  <a:srgbClr val="080912"/>
                </a:solidFill>
                <a:latin typeface="Arial MT"/>
                <a:cs typeface="Arial MT"/>
              </a:rPr>
              <a:t>In that </a:t>
            </a:r>
            <a:r>
              <a:rPr lang="en-GB" sz="1600" spc="-10" dirty="0">
                <a:solidFill>
                  <a:srgbClr val="080912"/>
                </a:solidFill>
                <a:latin typeface="Arial MT"/>
                <a:cs typeface="Arial MT"/>
              </a:rPr>
              <a:t>case, every neuron will only </a:t>
            </a:r>
            <a:r>
              <a:rPr lang="en-GB" sz="1600" spc="-3" dirty="0">
                <a:solidFill>
                  <a:srgbClr val="080912"/>
                </a:solidFill>
                <a:latin typeface="Arial MT"/>
                <a:cs typeface="Arial MT"/>
              </a:rPr>
              <a:t>be </a:t>
            </a:r>
            <a:r>
              <a:rPr lang="en-GB" sz="1600" spc="-10" dirty="0">
                <a:solidFill>
                  <a:srgbClr val="080912"/>
                </a:solidFill>
                <a:latin typeface="Arial MT"/>
                <a:cs typeface="Arial MT"/>
              </a:rPr>
              <a:t>performing </a:t>
            </a:r>
            <a:r>
              <a:rPr lang="en-GB" sz="1600" dirty="0">
                <a:solidFill>
                  <a:srgbClr val="080912"/>
                </a:solidFill>
                <a:latin typeface="Arial MT"/>
                <a:cs typeface="Arial MT"/>
              </a:rPr>
              <a:t>a </a:t>
            </a:r>
            <a:r>
              <a:rPr lang="en-GB" sz="1600" spc="-10" dirty="0">
                <a:solidFill>
                  <a:srgbClr val="080912"/>
                </a:solidFill>
                <a:latin typeface="Arial MT"/>
                <a:cs typeface="Arial MT"/>
              </a:rPr>
              <a:t>linear </a:t>
            </a:r>
            <a:r>
              <a:rPr lang="en-GB" sz="1600" spc="-14" dirty="0">
                <a:solidFill>
                  <a:srgbClr val="080912"/>
                </a:solidFill>
                <a:latin typeface="Arial MT"/>
                <a:cs typeface="Arial MT"/>
              </a:rPr>
              <a:t>transformation </a:t>
            </a:r>
            <a:r>
              <a:rPr lang="en-GB" sz="1600" spc="-7" dirty="0">
                <a:solidFill>
                  <a:srgbClr val="080912"/>
                </a:solidFill>
                <a:latin typeface="Arial MT"/>
                <a:cs typeface="Arial MT"/>
              </a:rPr>
              <a:t>on </a:t>
            </a:r>
            <a:r>
              <a:rPr lang="en-GB" sz="1600" spc="-14" dirty="0">
                <a:solidFill>
                  <a:srgbClr val="080912"/>
                </a:solidFill>
                <a:latin typeface="Arial MT"/>
                <a:cs typeface="Arial MT"/>
              </a:rPr>
              <a:t>the </a:t>
            </a:r>
            <a:r>
              <a:rPr lang="en-GB" sz="1600" spc="-10" dirty="0">
                <a:solidFill>
                  <a:srgbClr val="080912"/>
                </a:solidFill>
                <a:latin typeface="Arial MT"/>
                <a:cs typeface="Arial MT"/>
              </a:rPr>
              <a:t>inputs </a:t>
            </a:r>
            <a:r>
              <a:rPr lang="en-GB" sz="1600" spc="-14" dirty="0">
                <a:solidFill>
                  <a:srgbClr val="080912"/>
                </a:solidFill>
                <a:latin typeface="Arial MT"/>
                <a:cs typeface="Arial MT"/>
              </a:rPr>
              <a:t>using </a:t>
            </a:r>
            <a:r>
              <a:rPr lang="en-GB" sz="1600" spc="-10" dirty="0">
                <a:solidFill>
                  <a:srgbClr val="080912"/>
                </a:solidFill>
                <a:latin typeface="Arial MT"/>
                <a:cs typeface="Arial MT"/>
              </a:rPr>
              <a:t> </a:t>
            </a:r>
            <a:r>
              <a:rPr lang="en-GB" sz="1600" spc="-7" dirty="0">
                <a:solidFill>
                  <a:srgbClr val="080912"/>
                </a:solidFill>
                <a:latin typeface="Arial MT"/>
                <a:cs typeface="Arial MT"/>
              </a:rPr>
              <a:t>the </a:t>
            </a:r>
            <a:r>
              <a:rPr lang="en-GB" sz="1600" spc="-10" dirty="0">
                <a:solidFill>
                  <a:srgbClr val="080912"/>
                </a:solidFill>
                <a:latin typeface="Arial MT"/>
                <a:cs typeface="Arial MT"/>
              </a:rPr>
              <a:t>weights and biases. </a:t>
            </a:r>
          </a:p>
          <a:p>
            <a:pPr marL="294409" marR="3464" indent="-285750" algn="just">
              <a:lnSpc>
                <a:spcPct val="143700"/>
              </a:lnSpc>
              <a:spcBef>
                <a:spcPts val="65"/>
              </a:spcBef>
              <a:buFont typeface="Arial" panose="020B0604020202020204" pitchFamily="34" charset="0"/>
              <a:buChar char="•"/>
            </a:pPr>
            <a:r>
              <a:rPr lang="en-GB" sz="1600" spc="-10" dirty="0">
                <a:solidFill>
                  <a:srgbClr val="080912"/>
                </a:solidFill>
                <a:latin typeface="Arial MT"/>
                <a:cs typeface="Arial MT"/>
              </a:rPr>
              <a:t>It’s because </a:t>
            </a:r>
            <a:r>
              <a:rPr lang="en-GB" sz="1600" spc="-7" dirty="0">
                <a:solidFill>
                  <a:srgbClr val="080912"/>
                </a:solidFill>
                <a:latin typeface="Arial MT"/>
                <a:cs typeface="Arial MT"/>
              </a:rPr>
              <a:t>it </a:t>
            </a:r>
            <a:r>
              <a:rPr lang="en-GB" sz="1600" spc="-10" dirty="0">
                <a:solidFill>
                  <a:srgbClr val="080912"/>
                </a:solidFill>
                <a:latin typeface="Arial MT"/>
                <a:cs typeface="Arial MT"/>
              </a:rPr>
              <a:t>doesn’t matter </a:t>
            </a:r>
            <a:r>
              <a:rPr lang="en-GB" sz="1600" spc="-7" dirty="0">
                <a:solidFill>
                  <a:srgbClr val="080912"/>
                </a:solidFill>
                <a:latin typeface="Arial MT"/>
                <a:cs typeface="Arial MT"/>
              </a:rPr>
              <a:t>how </a:t>
            </a:r>
            <a:r>
              <a:rPr lang="en-GB" sz="1600" spc="-10" dirty="0">
                <a:solidFill>
                  <a:srgbClr val="080912"/>
                </a:solidFill>
                <a:latin typeface="Arial MT"/>
                <a:cs typeface="Arial MT"/>
              </a:rPr>
              <a:t>many hidden layers </a:t>
            </a:r>
            <a:r>
              <a:rPr lang="en-GB" sz="1600" spc="-7" dirty="0">
                <a:solidFill>
                  <a:srgbClr val="080912"/>
                </a:solidFill>
                <a:latin typeface="Arial MT"/>
                <a:cs typeface="Arial MT"/>
              </a:rPr>
              <a:t>we </a:t>
            </a:r>
            <a:r>
              <a:rPr lang="en-GB" sz="1600" spc="-10" dirty="0">
                <a:solidFill>
                  <a:srgbClr val="080912"/>
                </a:solidFill>
                <a:latin typeface="Arial MT"/>
                <a:cs typeface="Arial MT"/>
              </a:rPr>
              <a:t>attach in </a:t>
            </a:r>
            <a:r>
              <a:rPr lang="en-GB" sz="1600" spc="-7" dirty="0">
                <a:solidFill>
                  <a:srgbClr val="080912"/>
                </a:solidFill>
                <a:latin typeface="Arial MT"/>
                <a:cs typeface="Arial MT"/>
              </a:rPr>
              <a:t> the </a:t>
            </a:r>
            <a:r>
              <a:rPr lang="en-GB" sz="1600" spc="-10" dirty="0">
                <a:solidFill>
                  <a:srgbClr val="080912"/>
                </a:solidFill>
                <a:latin typeface="Arial MT"/>
                <a:cs typeface="Arial MT"/>
              </a:rPr>
              <a:t>neural network; </a:t>
            </a:r>
            <a:r>
              <a:rPr lang="en-GB" sz="1600" spc="-7" dirty="0">
                <a:solidFill>
                  <a:srgbClr val="080912"/>
                </a:solidFill>
                <a:latin typeface="Arial MT"/>
                <a:cs typeface="Arial MT"/>
              </a:rPr>
              <a:t>all </a:t>
            </a:r>
            <a:r>
              <a:rPr lang="en-GB" sz="1600" spc="-10" dirty="0">
                <a:solidFill>
                  <a:srgbClr val="080912"/>
                </a:solidFill>
                <a:latin typeface="Arial MT"/>
                <a:cs typeface="Arial MT"/>
              </a:rPr>
              <a:t>layers will behave </a:t>
            </a:r>
            <a:r>
              <a:rPr lang="en-GB" sz="1600" spc="-7" dirty="0">
                <a:solidFill>
                  <a:srgbClr val="080912"/>
                </a:solidFill>
                <a:latin typeface="Arial MT"/>
                <a:cs typeface="Arial MT"/>
              </a:rPr>
              <a:t>in </a:t>
            </a:r>
            <a:r>
              <a:rPr lang="en-GB" sz="1600" spc="-10" dirty="0">
                <a:solidFill>
                  <a:srgbClr val="080912"/>
                </a:solidFill>
                <a:latin typeface="Arial MT"/>
                <a:cs typeface="Arial MT"/>
              </a:rPr>
              <a:t>the same way because the </a:t>
            </a:r>
            <a:r>
              <a:rPr lang="en-GB" sz="1600" spc="-14" dirty="0">
                <a:solidFill>
                  <a:srgbClr val="080912"/>
                </a:solidFill>
                <a:latin typeface="Arial MT"/>
                <a:cs typeface="Arial MT"/>
              </a:rPr>
              <a:t>composition </a:t>
            </a:r>
            <a:r>
              <a:rPr lang="en-GB" sz="1600" spc="-3" dirty="0">
                <a:solidFill>
                  <a:srgbClr val="080912"/>
                </a:solidFill>
                <a:latin typeface="Arial MT"/>
                <a:cs typeface="Arial MT"/>
              </a:rPr>
              <a:t>of </a:t>
            </a:r>
            <a:r>
              <a:rPr lang="en-GB" sz="1600" spc="-10" dirty="0">
                <a:solidFill>
                  <a:srgbClr val="080912"/>
                </a:solidFill>
                <a:latin typeface="Arial MT"/>
                <a:cs typeface="Arial MT"/>
              </a:rPr>
              <a:t>two </a:t>
            </a:r>
            <a:r>
              <a:rPr lang="en-GB" sz="1600" spc="-7" dirty="0">
                <a:solidFill>
                  <a:srgbClr val="080912"/>
                </a:solidFill>
                <a:latin typeface="Arial MT"/>
                <a:cs typeface="Arial MT"/>
              </a:rPr>
              <a:t> </a:t>
            </a:r>
            <a:r>
              <a:rPr lang="en-GB" sz="1600" spc="-10" dirty="0">
                <a:solidFill>
                  <a:srgbClr val="080912"/>
                </a:solidFill>
                <a:latin typeface="Arial MT"/>
                <a:cs typeface="Arial MT"/>
              </a:rPr>
              <a:t>linear</a:t>
            </a:r>
            <a:r>
              <a:rPr lang="en-GB" sz="1600" spc="-17" dirty="0">
                <a:solidFill>
                  <a:srgbClr val="080912"/>
                </a:solidFill>
                <a:latin typeface="Arial MT"/>
                <a:cs typeface="Arial MT"/>
              </a:rPr>
              <a:t> </a:t>
            </a:r>
            <a:r>
              <a:rPr lang="en-GB" sz="1600" spc="-14" dirty="0">
                <a:solidFill>
                  <a:srgbClr val="080912"/>
                </a:solidFill>
                <a:latin typeface="Arial MT"/>
                <a:cs typeface="Arial MT"/>
              </a:rPr>
              <a:t>functions</a:t>
            </a:r>
            <a:r>
              <a:rPr lang="en-GB" sz="1600" spc="-17" dirty="0">
                <a:solidFill>
                  <a:srgbClr val="080912"/>
                </a:solidFill>
                <a:latin typeface="Arial MT"/>
                <a:cs typeface="Arial MT"/>
              </a:rPr>
              <a:t> </a:t>
            </a:r>
            <a:r>
              <a:rPr lang="en-GB" sz="1600" spc="-10" dirty="0">
                <a:solidFill>
                  <a:srgbClr val="080912"/>
                </a:solidFill>
                <a:latin typeface="Arial MT"/>
                <a:cs typeface="Arial MT"/>
              </a:rPr>
              <a:t>is</a:t>
            </a:r>
            <a:r>
              <a:rPr lang="en-GB" sz="1600" spc="-24" dirty="0">
                <a:solidFill>
                  <a:srgbClr val="080912"/>
                </a:solidFill>
                <a:latin typeface="Arial MT"/>
                <a:cs typeface="Arial MT"/>
              </a:rPr>
              <a:t> </a:t>
            </a:r>
            <a:r>
              <a:rPr lang="en-GB" sz="1600" dirty="0">
                <a:solidFill>
                  <a:srgbClr val="080912"/>
                </a:solidFill>
                <a:latin typeface="Arial MT"/>
                <a:cs typeface="Arial MT"/>
              </a:rPr>
              <a:t>a</a:t>
            </a:r>
            <a:r>
              <a:rPr lang="en-GB" sz="1600" spc="-20" dirty="0">
                <a:solidFill>
                  <a:srgbClr val="080912"/>
                </a:solidFill>
                <a:latin typeface="Arial MT"/>
                <a:cs typeface="Arial MT"/>
              </a:rPr>
              <a:t> </a:t>
            </a:r>
            <a:r>
              <a:rPr lang="en-GB" sz="1600" spc="-14" dirty="0">
                <a:solidFill>
                  <a:srgbClr val="080912"/>
                </a:solidFill>
                <a:latin typeface="Arial MT"/>
                <a:cs typeface="Arial MT"/>
              </a:rPr>
              <a:t>linear</a:t>
            </a:r>
            <a:r>
              <a:rPr lang="en-GB" sz="1600" spc="-17" dirty="0">
                <a:solidFill>
                  <a:srgbClr val="080912"/>
                </a:solidFill>
                <a:latin typeface="Arial MT"/>
                <a:cs typeface="Arial MT"/>
              </a:rPr>
              <a:t> </a:t>
            </a:r>
            <a:r>
              <a:rPr lang="en-GB" sz="1600" spc="-14" dirty="0">
                <a:solidFill>
                  <a:srgbClr val="080912"/>
                </a:solidFill>
                <a:latin typeface="Arial MT"/>
                <a:cs typeface="Arial MT"/>
              </a:rPr>
              <a:t>function</a:t>
            </a:r>
            <a:r>
              <a:rPr lang="en-GB" sz="1600" spc="-20" dirty="0">
                <a:solidFill>
                  <a:srgbClr val="080912"/>
                </a:solidFill>
                <a:latin typeface="Arial MT"/>
                <a:cs typeface="Arial MT"/>
              </a:rPr>
              <a:t> </a:t>
            </a:r>
            <a:r>
              <a:rPr lang="en-GB" sz="1600" spc="-10" dirty="0">
                <a:solidFill>
                  <a:srgbClr val="080912"/>
                </a:solidFill>
                <a:latin typeface="Arial MT"/>
                <a:cs typeface="Arial MT"/>
              </a:rPr>
              <a:t>itself.</a:t>
            </a:r>
            <a:endParaRPr lang="en-GB" sz="1600" dirty="0">
              <a:latin typeface="Arial MT"/>
              <a:cs typeface="Arial MT"/>
            </a:endParaRPr>
          </a:p>
          <a:p>
            <a:pPr marL="294409" marR="5628" indent="-285750" algn="just">
              <a:lnSpc>
                <a:spcPct val="143900"/>
              </a:lnSpc>
              <a:spcBef>
                <a:spcPts val="399"/>
              </a:spcBef>
              <a:buFont typeface="Arial" panose="020B0604020202020204" pitchFamily="34" charset="0"/>
              <a:buChar char="•"/>
            </a:pPr>
            <a:r>
              <a:rPr lang="en-GB" sz="1600" spc="-10" dirty="0">
                <a:solidFill>
                  <a:srgbClr val="080912"/>
                </a:solidFill>
                <a:latin typeface="Arial MT"/>
                <a:cs typeface="Arial MT"/>
              </a:rPr>
              <a:t>Although the neural network </a:t>
            </a:r>
            <a:r>
              <a:rPr lang="en-GB" sz="1600" spc="-14" dirty="0">
                <a:solidFill>
                  <a:srgbClr val="080912"/>
                </a:solidFill>
                <a:latin typeface="Arial MT"/>
                <a:cs typeface="Arial MT"/>
              </a:rPr>
              <a:t>becomes </a:t>
            </a:r>
            <a:r>
              <a:rPr lang="en-GB" sz="1600" spc="-10" dirty="0">
                <a:solidFill>
                  <a:srgbClr val="080912"/>
                </a:solidFill>
                <a:latin typeface="Arial MT"/>
                <a:cs typeface="Arial MT"/>
              </a:rPr>
              <a:t>simpler, learning </a:t>
            </a:r>
            <a:r>
              <a:rPr lang="en-GB" sz="1600" spc="-7" dirty="0">
                <a:solidFill>
                  <a:srgbClr val="080912"/>
                </a:solidFill>
                <a:latin typeface="Arial MT"/>
                <a:cs typeface="Arial MT"/>
              </a:rPr>
              <a:t>any </a:t>
            </a:r>
            <a:r>
              <a:rPr lang="en-GB" sz="1600" spc="-10" dirty="0">
                <a:solidFill>
                  <a:srgbClr val="080912"/>
                </a:solidFill>
                <a:latin typeface="Arial MT"/>
                <a:cs typeface="Arial MT"/>
              </a:rPr>
              <a:t>complex task is </a:t>
            </a:r>
            <a:r>
              <a:rPr lang="en-GB" sz="1600" spc="-14" dirty="0">
                <a:solidFill>
                  <a:srgbClr val="080912"/>
                </a:solidFill>
                <a:latin typeface="Arial MT"/>
                <a:cs typeface="Arial MT"/>
              </a:rPr>
              <a:t>impossible, </a:t>
            </a:r>
            <a:r>
              <a:rPr lang="en-GB" sz="1600" spc="-7" dirty="0">
                <a:solidFill>
                  <a:srgbClr val="080912"/>
                </a:solidFill>
                <a:latin typeface="Arial MT"/>
                <a:cs typeface="Arial MT"/>
              </a:rPr>
              <a:t>and </a:t>
            </a:r>
            <a:r>
              <a:rPr lang="en-GB" sz="1600" spc="-3" dirty="0">
                <a:solidFill>
                  <a:srgbClr val="080912"/>
                </a:solidFill>
                <a:latin typeface="Arial MT"/>
                <a:cs typeface="Arial MT"/>
              </a:rPr>
              <a:t> </a:t>
            </a:r>
            <a:r>
              <a:rPr lang="en-GB" sz="1600" spc="-7" dirty="0">
                <a:solidFill>
                  <a:srgbClr val="080912"/>
                </a:solidFill>
                <a:latin typeface="Arial MT"/>
                <a:cs typeface="Arial MT"/>
              </a:rPr>
              <a:t>our</a:t>
            </a:r>
            <a:r>
              <a:rPr lang="en-GB" sz="1600" spc="-24" dirty="0">
                <a:solidFill>
                  <a:srgbClr val="080912"/>
                </a:solidFill>
                <a:latin typeface="Arial MT"/>
                <a:cs typeface="Arial MT"/>
              </a:rPr>
              <a:t> </a:t>
            </a:r>
            <a:r>
              <a:rPr lang="en-GB" sz="1600" spc="-10" dirty="0">
                <a:solidFill>
                  <a:srgbClr val="080912"/>
                </a:solidFill>
                <a:latin typeface="Arial MT"/>
                <a:cs typeface="Arial MT"/>
              </a:rPr>
              <a:t>model</a:t>
            </a:r>
            <a:r>
              <a:rPr lang="en-GB" sz="1600" spc="-31" dirty="0">
                <a:solidFill>
                  <a:srgbClr val="080912"/>
                </a:solidFill>
                <a:latin typeface="Arial MT"/>
                <a:cs typeface="Arial MT"/>
              </a:rPr>
              <a:t> </a:t>
            </a:r>
            <a:r>
              <a:rPr lang="en-GB" sz="1600" spc="-10" dirty="0">
                <a:solidFill>
                  <a:srgbClr val="080912"/>
                </a:solidFill>
                <a:latin typeface="Arial MT"/>
                <a:cs typeface="Arial MT"/>
              </a:rPr>
              <a:t>would</a:t>
            </a:r>
            <a:r>
              <a:rPr lang="en-GB" sz="1600" spc="-27" dirty="0">
                <a:solidFill>
                  <a:srgbClr val="080912"/>
                </a:solidFill>
                <a:latin typeface="Arial MT"/>
                <a:cs typeface="Arial MT"/>
              </a:rPr>
              <a:t> </a:t>
            </a:r>
            <a:r>
              <a:rPr lang="en-GB" sz="1600" spc="-7" dirty="0">
                <a:solidFill>
                  <a:srgbClr val="080912"/>
                </a:solidFill>
                <a:latin typeface="Arial MT"/>
                <a:cs typeface="Arial MT"/>
              </a:rPr>
              <a:t>be</a:t>
            </a:r>
            <a:r>
              <a:rPr lang="en-GB" sz="1600" spc="-20" dirty="0">
                <a:solidFill>
                  <a:srgbClr val="080912"/>
                </a:solidFill>
                <a:latin typeface="Arial MT"/>
                <a:cs typeface="Arial MT"/>
              </a:rPr>
              <a:t> </a:t>
            </a:r>
            <a:r>
              <a:rPr lang="en-GB" sz="1600" spc="-10" dirty="0">
                <a:solidFill>
                  <a:srgbClr val="080912"/>
                </a:solidFill>
                <a:latin typeface="Arial MT"/>
                <a:cs typeface="Arial MT"/>
              </a:rPr>
              <a:t>just</a:t>
            </a:r>
            <a:r>
              <a:rPr lang="en-GB" sz="1600" spc="-24" dirty="0">
                <a:solidFill>
                  <a:srgbClr val="080912"/>
                </a:solidFill>
                <a:latin typeface="Arial MT"/>
                <a:cs typeface="Arial MT"/>
              </a:rPr>
              <a:t> </a:t>
            </a:r>
            <a:r>
              <a:rPr lang="en-GB" sz="1600" dirty="0">
                <a:solidFill>
                  <a:srgbClr val="080912"/>
                </a:solidFill>
                <a:latin typeface="Arial MT"/>
                <a:cs typeface="Arial MT"/>
              </a:rPr>
              <a:t>a</a:t>
            </a:r>
            <a:r>
              <a:rPr lang="en-GB" sz="1600" spc="-27" dirty="0">
                <a:solidFill>
                  <a:srgbClr val="080912"/>
                </a:solidFill>
                <a:latin typeface="Arial MT"/>
                <a:cs typeface="Arial MT"/>
              </a:rPr>
              <a:t> </a:t>
            </a:r>
            <a:r>
              <a:rPr lang="en-GB" sz="1600" spc="-10" dirty="0">
                <a:solidFill>
                  <a:srgbClr val="080912"/>
                </a:solidFill>
                <a:latin typeface="Arial MT"/>
                <a:cs typeface="Arial MT"/>
              </a:rPr>
              <a:t>linear</a:t>
            </a:r>
            <a:r>
              <a:rPr lang="en-GB" sz="1600" spc="-17" dirty="0">
                <a:solidFill>
                  <a:srgbClr val="080912"/>
                </a:solidFill>
                <a:latin typeface="Arial MT"/>
                <a:cs typeface="Arial MT"/>
              </a:rPr>
              <a:t> </a:t>
            </a:r>
            <a:r>
              <a:rPr lang="en-GB" sz="1600" spc="-14" dirty="0">
                <a:solidFill>
                  <a:srgbClr val="080912"/>
                </a:solidFill>
                <a:latin typeface="Arial MT"/>
                <a:cs typeface="Arial MT"/>
              </a:rPr>
              <a:t>regression</a:t>
            </a:r>
            <a:r>
              <a:rPr lang="en-GB" sz="1600" spc="-20" dirty="0">
                <a:solidFill>
                  <a:srgbClr val="080912"/>
                </a:solidFill>
                <a:latin typeface="Arial MT"/>
                <a:cs typeface="Arial MT"/>
              </a:rPr>
              <a:t> </a:t>
            </a:r>
            <a:r>
              <a:rPr lang="en-GB" sz="1600" spc="-10" dirty="0">
                <a:solidFill>
                  <a:srgbClr val="080912"/>
                </a:solidFill>
                <a:latin typeface="Arial MT"/>
                <a:cs typeface="Arial MT"/>
              </a:rPr>
              <a:t>model.</a:t>
            </a:r>
            <a:endParaRPr lang="en-GB" sz="1600" dirty="0">
              <a:latin typeface="Arial MT"/>
              <a:cs typeface="Arial MT"/>
            </a:endParaRPr>
          </a:p>
          <a:p>
            <a:pPr marL="8659">
              <a:spcBef>
                <a:spcPts val="883"/>
              </a:spcBef>
            </a:pPr>
            <a:endParaRPr sz="1600" dirty="0">
              <a:latin typeface="Arial MT"/>
              <a:cs typeface="Arial MT"/>
            </a:endParaRPr>
          </a:p>
        </p:txBody>
      </p:sp>
      <p:pic>
        <p:nvPicPr>
          <p:cNvPr id="9" name="object 9">
            <a:extLst>
              <a:ext uri="{FF2B5EF4-FFF2-40B4-BE49-F238E27FC236}">
                <a16:creationId xmlns:a16="http://schemas.microsoft.com/office/drawing/2014/main" id="{1E073BEE-0739-3701-059C-6B935738B4E7}"/>
              </a:ext>
            </a:extLst>
          </p:cNvPr>
          <p:cNvPicPr/>
          <p:nvPr/>
        </p:nvPicPr>
        <p:blipFill>
          <a:blip r:embed="rId2" cstate="print"/>
          <a:stretch>
            <a:fillRect/>
          </a:stretch>
        </p:blipFill>
        <p:spPr>
          <a:xfrm>
            <a:off x="7804087" y="2936259"/>
            <a:ext cx="4046054" cy="2792065"/>
          </a:xfrm>
          <a:prstGeom prst="rect">
            <a:avLst/>
          </a:prstGeom>
        </p:spPr>
      </p:pic>
      <p:sp>
        <p:nvSpPr>
          <p:cNvPr id="13" name="TextBox 12">
            <a:extLst>
              <a:ext uri="{FF2B5EF4-FFF2-40B4-BE49-F238E27FC236}">
                <a16:creationId xmlns:a16="http://schemas.microsoft.com/office/drawing/2014/main" id="{CE068B8B-A707-7CC5-05FB-388F0D993A0C}"/>
              </a:ext>
            </a:extLst>
          </p:cNvPr>
          <p:cNvSpPr txBox="1"/>
          <p:nvPr/>
        </p:nvSpPr>
        <p:spPr>
          <a:xfrm>
            <a:off x="892521" y="202264"/>
            <a:ext cx="9926370" cy="1349152"/>
          </a:xfrm>
          <a:prstGeom prst="rect">
            <a:avLst/>
          </a:prstGeom>
          <a:noFill/>
        </p:spPr>
        <p:txBody>
          <a:bodyPr wrap="square">
            <a:spAutoFit/>
          </a:bodyPr>
          <a:lstStyle/>
          <a:p>
            <a:pPr>
              <a:spcBef>
                <a:spcPts val="17"/>
              </a:spcBef>
            </a:pPr>
            <a:endParaRPr lang="en-GB" sz="1400" dirty="0">
              <a:latin typeface="Arial MT"/>
              <a:cs typeface="Arial MT"/>
            </a:endParaRPr>
          </a:p>
          <a:p>
            <a:pPr marL="8659" marR="719984">
              <a:lnSpc>
                <a:spcPct val="109700"/>
              </a:lnSpc>
            </a:pPr>
            <a:r>
              <a:rPr lang="en-GB" sz="3200" spc="-17" dirty="0">
                <a:solidFill>
                  <a:srgbClr val="050912"/>
                </a:solidFill>
                <a:latin typeface="Arial MT"/>
                <a:cs typeface="Arial MT"/>
              </a:rPr>
              <a:t>Why</a:t>
            </a:r>
            <a:r>
              <a:rPr lang="en-GB" sz="3200" spc="-58" dirty="0">
                <a:solidFill>
                  <a:srgbClr val="050912"/>
                </a:solidFill>
                <a:latin typeface="Arial MT"/>
                <a:cs typeface="Arial MT"/>
              </a:rPr>
              <a:t> </a:t>
            </a:r>
            <a:r>
              <a:rPr lang="en-GB" sz="3200" spc="-17" dirty="0">
                <a:solidFill>
                  <a:srgbClr val="050912"/>
                </a:solidFill>
                <a:latin typeface="Arial MT"/>
                <a:cs typeface="Arial MT"/>
              </a:rPr>
              <a:t>do</a:t>
            </a:r>
            <a:r>
              <a:rPr lang="en-GB" sz="3200" spc="-58" dirty="0">
                <a:solidFill>
                  <a:srgbClr val="050912"/>
                </a:solidFill>
                <a:latin typeface="Arial MT"/>
                <a:cs typeface="Arial MT"/>
              </a:rPr>
              <a:t> </a:t>
            </a:r>
            <a:r>
              <a:rPr lang="en-GB" sz="3200" spc="-27" dirty="0">
                <a:solidFill>
                  <a:srgbClr val="050912"/>
                </a:solidFill>
                <a:latin typeface="Arial MT"/>
                <a:cs typeface="Arial MT"/>
              </a:rPr>
              <a:t>Neural</a:t>
            </a:r>
            <a:r>
              <a:rPr lang="en-GB" sz="3200" spc="-61" dirty="0">
                <a:solidFill>
                  <a:srgbClr val="050912"/>
                </a:solidFill>
                <a:latin typeface="Arial MT"/>
                <a:cs typeface="Arial MT"/>
              </a:rPr>
              <a:t> </a:t>
            </a:r>
            <a:r>
              <a:rPr lang="en-GB" sz="3200" spc="-27" dirty="0">
                <a:solidFill>
                  <a:srgbClr val="050912"/>
                </a:solidFill>
                <a:latin typeface="Arial MT"/>
                <a:cs typeface="Arial MT"/>
              </a:rPr>
              <a:t>Networks</a:t>
            </a:r>
            <a:r>
              <a:rPr lang="en-GB" sz="3200" spc="-48" dirty="0">
                <a:solidFill>
                  <a:srgbClr val="050912"/>
                </a:solidFill>
                <a:latin typeface="Arial MT"/>
                <a:cs typeface="Arial MT"/>
              </a:rPr>
              <a:t> </a:t>
            </a:r>
            <a:r>
              <a:rPr lang="en-GB" sz="3200" spc="-27" dirty="0">
                <a:solidFill>
                  <a:srgbClr val="050912"/>
                </a:solidFill>
                <a:latin typeface="Arial MT"/>
                <a:cs typeface="Arial MT"/>
              </a:rPr>
              <a:t>Need</a:t>
            </a:r>
            <a:r>
              <a:rPr lang="en-GB" sz="3200" spc="-51" dirty="0">
                <a:solidFill>
                  <a:srgbClr val="050912"/>
                </a:solidFill>
                <a:latin typeface="Arial MT"/>
                <a:cs typeface="Arial MT"/>
              </a:rPr>
              <a:t> </a:t>
            </a:r>
            <a:r>
              <a:rPr lang="en-GB" sz="3200" spc="-20" dirty="0">
                <a:solidFill>
                  <a:srgbClr val="050912"/>
                </a:solidFill>
                <a:latin typeface="Arial MT"/>
                <a:cs typeface="Arial MT"/>
              </a:rPr>
              <a:t>an</a:t>
            </a:r>
            <a:r>
              <a:rPr lang="en-GB" sz="3200" spc="-61" dirty="0">
                <a:solidFill>
                  <a:srgbClr val="050912"/>
                </a:solidFill>
                <a:latin typeface="Arial MT"/>
                <a:cs typeface="Arial MT"/>
              </a:rPr>
              <a:t> </a:t>
            </a:r>
            <a:r>
              <a:rPr lang="en-GB" sz="3200" spc="-27" dirty="0">
                <a:solidFill>
                  <a:srgbClr val="050912"/>
                </a:solidFill>
                <a:latin typeface="Arial MT"/>
                <a:cs typeface="Arial MT"/>
              </a:rPr>
              <a:t>Activation </a:t>
            </a:r>
            <a:r>
              <a:rPr lang="en-GB" sz="3200" spc="-443" dirty="0">
                <a:solidFill>
                  <a:srgbClr val="050912"/>
                </a:solidFill>
                <a:latin typeface="Arial MT"/>
                <a:cs typeface="Arial MT"/>
              </a:rPr>
              <a:t> </a:t>
            </a:r>
            <a:r>
              <a:rPr lang="en-GB" sz="3200" spc="-27" dirty="0">
                <a:solidFill>
                  <a:srgbClr val="050912"/>
                </a:solidFill>
                <a:latin typeface="Arial MT"/>
                <a:cs typeface="Arial MT"/>
              </a:rPr>
              <a:t>Function?</a:t>
            </a:r>
            <a:endParaRPr lang="en-GB" sz="3200" dirty="0">
              <a:latin typeface="Arial MT"/>
              <a:cs typeface="Arial MT"/>
            </a:endParaRPr>
          </a:p>
        </p:txBody>
      </p:sp>
      <p:sp>
        <p:nvSpPr>
          <p:cNvPr id="2" name="Slide Number Placeholder 1">
            <a:extLst>
              <a:ext uri="{FF2B5EF4-FFF2-40B4-BE49-F238E27FC236}">
                <a16:creationId xmlns:a16="http://schemas.microsoft.com/office/drawing/2014/main" id="{2F9F3B49-E4B7-D649-AB87-8CAA3C60A602}"/>
              </a:ext>
            </a:extLst>
          </p:cNvPr>
          <p:cNvSpPr>
            <a:spLocks noGrp="1"/>
          </p:cNvSpPr>
          <p:nvPr>
            <p:ph type="sldNum" sz="quarter" idx="12"/>
          </p:nvPr>
        </p:nvSpPr>
        <p:spPr/>
        <p:txBody>
          <a:bodyPr/>
          <a:lstStyle/>
          <a:p>
            <a:fld id="{9CD9A578-84A4-4247-B01E-A84B9E2DF7BB}" type="slidenum">
              <a:rPr lang="en-PK" smtClean="0"/>
              <a:t>2</a:t>
            </a:fld>
            <a:endParaRPr lang="en-PK"/>
          </a:p>
        </p:txBody>
      </p:sp>
    </p:spTree>
    <p:extLst>
      <p:ext uri="{BB962C8B-B14F-4D97-AF65-F5344CB8AC3E}">
        <p14:creationId xmlns:p14="http://schemas.microsoft.com/office/powerpoint/2010/main" val="2229304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A7E936-93A9-8B99-005D-0BB0980BB385}"/>
              </a:ext>
            </a:extLst>
          </p:cNvPr>
          <p:cNvSpPr>
            <a:spLocks noGrp="1"/>
          </p:cNvSpPr>
          <p:nvPr>
            <p:ph type="title"/>
          </p:nvPr>
        </p:nvSpPr>
        <p:spPr/>
        <p:txBody>
          <a:bodyPr>
            <a:normAutofit fontScale="90000"/>
          </a:bodyPr>
          <a:lstStyle/>
          <a:p>
            <a:r>
              <a:rPr lang="en-GB" sz="4400" spc="-27" dirty="0">
                <a:solidFill>
                  <a:srgbClr val="050912"/>
                </a:solidFill>
                <a:latin typeface="Arial MT"/>
                <a:cs typeface="Arial MT"/>
              </a:rPr>
              <a:t>Types</a:t>
            </a:r>
            <a:r>
              <a:rPr lang="en-GB" sz="4400" spc="-55" dirty="0">
                <a:solidFill>
                  <a:srgbClr val="050912"/>
                </a:solidFill>
                <a:latin typeface="Arial MT"/>
                <a:cs typeface="Arial MT"/>
              </a:rPr>
              <a:t> </a:t>
            </a:r>
            <a:r>
              <a:rPr lang="en-GB" sz="4400" spc="-14" dirty="0">
                <a:solidFill>
                  <a:srgbClr val="050912"/>
                </a:solidFill>
                <a:latin typeface="Arial MT"/>
                <a:cs typeface="Arial MT"/>
              </a:rPr>
              <a:t>of</a:t>
            </a:r>
            <a:r>
              <a:rPr lang="en-GB" sz="4400" spc="-61" dirty="0">
                <a:solidFill>
                  <a:srgbClr val="050912"/>
                </a:solidFill>
                <a:latin typeface="Arial MT"/>
                <a:cs typeface="Arial MT"/>
              </a:rPr>
              <a:t> </a:t>
            </a:r>
            <a:r>
              <a:rPr lang="en-GB" sz="4400" spc="-24" dirty="0">
                <a:solidFill>
                  <a:srgbClr val="050912"/>
                </a:solidFill>
                <a:latin typeface="Arial MT"/>
                <a:cs typeface="Arial MT"/>
              </a:rPr>
              <a:t>Neural</a:t>
            </a:r>
            <a:r>
              <a:rPr lang="en-GB" sz="4400" spc="-58" dirty="0">
                <a:solidFill>
                  <a:srgbClr val="050912"/>
                </a:solidFill>
                <a:latin typeface="Arial MT"/>
                <a:cs typeface="Arial MT"/>
              </a:rPr>
              <a:t> </a:t>
            </a:r>
            <a:r>
              <a:rPr lang="en-GB" sz="4400" spc="-27" dirty="0">
                <a:solidFill>
                  <a:srgbClr val="050912"/>
                </a:solidFill>
                <a:latin typeface="Arial MT"/>
                <a:cs typeface="Arial MT"/>
              </a:rPr>
              <a:t>Networks</a:t>
            </a:r>
            <a:r>
              <a:rPr lang="en-GB" sz="4400" spc="-55" dirty="0">
                <a:solidFill>
                  <a:srgbClr val="050912"/>
                </a:solidFill>
                <a:latin typeface="Arial MT"/>
                <a:cs typeface="Arial MT"/>
              </a:rPr>
              <a:t> </a:t>
            </a:r>
            <a:r>
              <a:rPr lang="en-GB" sz="4400" spc="-27" dirty="0">
                <a:solidFill>
                  <a:srgbClr val="050912"/>
                </a:solidFill>
                <a:latin typeface="Arial MT"/>
                <a:cs typeface="Arial MT"/>
              </a:rPr>
              <a:t>Activation</a:t>
            </a:r>
            <a:r>
              <a:rPr lang="en-GB" sz="4400" spc="-58" dirty="0">
                <a:solidFill>
                  <a:srgbClr val="050912"/>
                </a:solidFill>
                <a:latin typeface="Arial MT"/>
                <a:cs typeface="Arial MT"/>
              </a:rPr>
              <a:t> </a:t>
            </a:r>
            <a:r>
              <a:rPr lang="en-GB" sz="4400" spc="-27" dirty="0">
                <a:solidFill>
                  <a:srgbClr val="050912"/>
                </a:solidFill>
                <a:latin typeface="Arial MT"/>
                <a:cs typeface="Arial MT"/>
              </a:rPr>
              <a:t>Functions</a:t>
            </a:r>
            <a:br>
              <a:rPr lang="en-GB" sz="4400" dirty="0">
                <a:latin typeface="Arial MT"/>
                <a:cs typeface="Arial MT"/>
              </a:rPr>
            </a:br>
            <a:endParaRPr lang="en-PK" dirty="0"/>
          </a:p>
        </p:txBody>
      </p:sp>
      <p:sp>
        <p:nvSpPr>
          <p:cNvPr id="4" name="Content Placeholder 3">
            <a:extLst>
              <a:ext uri="{FF2B5EF4-FFF2-40B4-BE49-F238E27FC236}">
                <a16:creationId xmlns:a16="http://schemas.microsoft.com/office/drawing/2014/main" id="{467650C2-BEB6-81D6-18B9-B02B7B1B8C7D}"/>
              </a:ext>
            </a:extLst>
          </p:cNvPr>
          <p:cNvSpPr>
            <a:spLocks noGrp="1"/>
          </p:cNvSpPr>
          <p:nvPr>
            <p:ph idx="1"/>
          </p:nvPr>
        </p:nvSpPr>
        <p:spPr>
          <a:xfrm>
            <a:off x="1034359" y="1795378"/>
            <a:ext cx="9872871" cy="4038600"/>
          </a:xfrm>
        </p:spPr>
        <p:txBody>
          <a:bodyPr/>
          <a:lstStyle/>
          <a:p>
            <a:pPr>
              <a:spcBef>
                <a:spcPts val="34"/>
              </a:spcBef>
            </a:pPr>
            <a:endParaRPr lang="en-GB" sz="1400" dirty="0">
              <a:latin typeface="Arial MT"/>
              <a:cs typeface="Arial MT"/>
            </a:endParaRPr>
          </a:p>
          <a:p>
            <a:pPr marL="8659" algn="just"/>
            <a:r>
              <a:rPr lang="en-GB" sz="2400" spc="-27" dirty="0">
                <a:solidFill>
                  <a:srgbClr val="1F1F1F"/>
                </a:solidFill>
                <a:latin typeface="Arial MT"/>
                <a:cs typeface="Arial MT"/>
              </a:rPr>
              <a:t>B</a:t>
            </a:r>
            <a:r>
              <a:rPr lang="en-GB" sz="2400" spc="-31" dirty="0">
                <a:solidFill>
                  <a:srgbClr val="1F1F1F"/>
                </a:solidFill>
                <a:latin typeface="Arial MT"/>
                <a:cs typeface="Arial MT"/>
              </a:rPr>
              <a:t>i</a:t>
            </a:r>
            <a:r>
              <a:rPr lang="en-GB" sz="2400" spc="-34" dirty="0">
                <a:solidFill>
                  <a:srgbClr val="1F1F1F"/>
                </a:solidFill>
                <a:latin typeface="Arial MT"/>
                <a:cs typeface="Arial MT"/>
              </a:rPr>
              <a:t>na</a:t>
            </a:r>
            <a:r>
              <a:rPr lang="en-GB" sz="2400" spc="-27" dirty="0">
                <a:solidFill>
                  <a:srgbClr val="1F1F1F"/>
                </a:solidFill>
                <a:latin typeface="Arial MT"/>
                <a:cs typeface="Arial MT"/>
              </a:rPr>
              <a:t>r</a:t>
            </a:r>
            <a:r>
              <a:rPr lang="en-GB" sz="2400" dirty="0">
                <a:solidFill>
                  <a:srgbClr val="1F1F1F"/>
                </a:solidFill>
                <a:latin typeface="Arial MT"/>
                <a:cs typeface="Arial MT"/>
              </a:rPr>
              <a:t>y</a:t>
            </a:r>
            <a:r>
              <a:rPr lang="en-GB" sz="2400" spc="-58" dirty="0">
                <a:solidFill>
                  <a:srgbClr val="1F1F1F"/>
                </a:solidFill>
                <a:latin typeface="Arial MT"/>
                <a:cs typeface="Arial MT"/>
              </a:rPr>
              <a:t> </a:t>
            </a:r>
            <a:r>
              <a:rPr lang="en-GB" sz="2400" spc="-27" dirty="0">
                <a:solidFill>
                  <a:srgbClr val="1F1F1F"/>
                </a:solidFill>
                <a:latin typeface="Arial MT"/>
                <a:cs typeface="Arial MT"/>
              </a:rPr>
              <a:t>S</a:t>
            </a:r>
            <a:r>
              <a:rPr lang="en-GB" sz="2400" spc="-24" dirty="0">
                <a:solidFill>
                  <a:srgbClr val="1F1F1F"/>
                </a:solidFill>
                <a:latin typeface="Arial MT"/>
                <a:cs typeface="Arial MT"/>
              </a:rPr>
              <a:t>t</a:t>
            </a:r>
            <a:r>
              <a:rPr lang="en-GB" sz="2400" spc="-34" dirty="0">
                <a:solidFill>
                  <a:srgbClr val="1F1F1F"/>
                </a:solidFill>
                <a:latin typeface="Arial MT"/>
                <a:cs typeface="Arial MT"/>
              </a:rPr>
              <a:t>e</a:t>
            </a:r>
            <a:r>
              <a:rPr lang="en-GB" sz="2400" spc="-3" dirty="0">
                <a:solidFill>
                  <a:srgbClr val="1F1F1F"/>
                </a:solidFill>
                <a:latin typeface="Arial MT"/>
                <a:cs typeface="Arial MT"/>
              </a:rPr>
              <a:t>p</a:t>
            </a:r>
            <a:r>
              <a:rPr lang="en-GB" sz="2400" spc="-68" dirty="0">
                <a:solidFill>
                  <a:srgbClr val="1F1F1F"/>
                </a:solidFill>
                <a:latin typeface="Arial MT"/>
                <a:cs typeface="Arial MT"/>
              </a:rPr>
              <a:t> </a:t>
            </a:r>
            <a:r>
              <a:rPr lang="en-GB" sz="2400" spc="-24" dirty="0">
                <a:solidFill>
                  <a:srgbClr val="1F1F1F"/>
                </a:solidFill>
                <a:latin typeface="Arial MT"/>
                <a:cs typeface="Arial MT"/>
              </a:rPr>
              <a:t>F</a:t>
            </a:r>
            <a:r>
              <a:rPr lang="en-GB" sz="2400" spc="-34" dirty="0">
                <a:solidFill>
                  <a:srgbClr val="1F1F1F"/>
                </a:solidFill>
                <a:latin typeface="Arial MT"/>
                <a:cs typeface="Arial MT"/>
              </a:rPr>
              <a:t>un</a:t>
            </a:r>
            <a:r>
              <a:rPr lang="en-GB" sz="2400" spc="-27" dirty="0">
                <a:solidFill>
                  <a:srgbClr val="1F1F1F"/>
                </a:solidFill>
                <a:latin typeface="Arial MT"/>
                <a:cs typeface="Arial MT"/>
              </a:rPr>
              <a:t>c</a:t>
            </a:r>
            <a:r>
              <a:rPr lang="en-GB" sz="2400" spc="-24" dirty="0">
                <a:solidFill>
                  <a:srgbClr val="1F1F1F"/>
                </a:solidFill>
                <a:latin typeface="Arial MT"/>
                <a:cs typeface="Arial MT"/>
              </a:rPr>
              <a:t>t</a:t>
            </a:r>
            <a:r>
              <a:rPr lang="en-GB" sz="2400" spc="-31" dirty="0">
                <a:solidFill>
                  <a:srgbClr val="1F1F1F"/>
                </a:solidFill>
                <a:latin typeface="Arial MT"/>
                <a:cs typeface="Arial MT"/>
              </a:rPr>
              <a:t>i</a:t>
            </a:r>
            <a:r>
              <a:rPr lang="en-GB" sz="2400" spc="-34" dirty="0">
                <a:solidFill>
                  <a:srgbClr val="1F1F1F"/>
                </a:solidFill>
                <a:latin typeface="Arial MT"/>
                <a:cs typeface="Arial MT"/>
              </a:rPr>
              <a:t>o</a:t>
            </a:r>
            <a:r>
              <a:rPr lang="en-GB" sz="2400" spc="-3" dirty="0">
                <a:solidFill>
                  <a:srgbClr val="1F1F1F"/>
                </a:solidFill>
                <a:latin typeface="Arial MT"/>
                <a:cs typeface="Arial MT"/>
              </a:rPr>
              <a:t>n</a:t>
            </a:r>
            <a:endParaRPr lang="en-GB" sz="2400" dirty="0">
              <a:latin typeface="Arial MT"/>
              <a:cs typeface="Arial MT"/>
            </a:endParaRPr>
          </a:p>
          <a:p>
            <a:pPr marL="8659" marR="5195" algn="just">
              <a:lnSpc>
                <a:spcPct val="143700"/>
              </a:lnSpc>
              <a:spcBef>
                <a:spcPts val="406"/>
              </a:spcBef>
            </a:pPr>
            <a:r>
              <a:rPr lang="en-GB" sz="1400" spc="-10" dirty="0">
                <a:solidFill>
                  <a:srgbClr val="080912"/>
                </a:solidFill>
                <a:latin typeface="Arial MT"/>
                <a:cs typeface="Arial MT"/>
              </a:rPr>
              <a:t>Binary </a:t>
            </a:r>
            <a:r>
              <a:rPr lang="en-GB" sz="1400" spc="-7" dirty="0">
                <a:solidFill>
                  <a:srgbClr val="080912"/>
                </a:solidFill>
                <a:latin typeface="Arial MT"/>
                <a:cs typeface="Arial MT"/>
              </a:rPr>
              <a:t>step </a:t>
            </a:r>
            <a:r>
              <a:rPr lang="en-GB" sz="1400" spc="-10" dirty="0">
                <a:solidFill>
                  <a:srgbClr val="080912"/>
                </a:solidFill>
                <a:latin typeface="Arial MT"/>
                <a:cs typeface="Arial MT"/>
              </a:rPr>
              <a:t>function depends </a:t>
            </a:r>
            <a:r>
              <a:rPr lang="en-GB" sz="1400" spc="-7" dirty="0">
                <a:solidFill>
                  <a:srgbClr val="080912"/>
                </a:solidFill>
                <a:latin typeface="Arial MT"/>
                <a:cs typeface="Arial MT"/>
              </a:rPr>
              <a:t>on </a:t>
            </a:r>
            <a:r>
              <a:rPr lang="en-GB" sz="1400" dirty="0">
                <a:solidFill>
                  <a:srgbClr val="080912"/>
                </a:solidFill>
                <a:latin typeface="Arial MT"/>
                <a:cs typeface="Arial MT"/>
              </a:rPr>
              <a:t>a </a:t>
            </a:r>
            <a:r>
              <a:rPr lang="en-GB" sz="1400" spc="-14" dirty="0">
                <a:solidFill>
                  <a:srgbClr val="080912"/>
                </a:solidFill>
                <a:latin typeface="Arial MT"/>
                <a:cs typeface="Arial MT"/>
              </a:rPr>
              <a:t>threshold </a:t>
            </a:r>
            <a:r>
              <a:rPr lang="en-GB" sz="1400" spc="-10" dirty="0">
                <a:solidFill>
                  <a:srgbClr val="080912"/>
                </a:solidFill>
                <a:latin typeface="Arial MT"/>
                <a:cs typeface="Arial MT"/>
              </a:rPr>
              <a:t>value that decides whether </a:t>
            </a:r>
            <a:r>
              <a:rPr lang="en-GB" sz="1400" dirty="0">
                <a:solidFill>
                  <a:srgbClr val="080912"/>
                </a:solidFill>
                <a:latin typeface="Arial MT"/>
                <a:cs typeface="Arial MT"/>
              </a:rPr>
              <a:t>a </a:t>
            </a:r>
            <a:r>
              <a:rPr lang="en-GB" sz="1400" spc="-10" dirty="0">
                <a:solidFill>
                  <a:srgbClr val="080912"/>
                </a:solidFill>
                <a:latin typeface="Arial MT"/>
                <a:cs typeface="Arial MT"/>
              </a:rPr>
              <a:t>neuron should </a:t>
            </a:r>
            <a:r>
              <a:rPr lang="en-GB" sz="1400" spc="-7" dirty="0">
                <a:solidFill>
                  <a:srgbClr val="080912"/>
                </a:solidFill>
                <a:latin typeface="Arial MT"/>
                <a:cs typeface="Arial MT"/>
              </a:rPr>
              <a:t>be </a:t>
            </a:r>
            <a:r>
              <a:rPr lang="en-GB" sz="1400" spc="-3" dirty="0">
                <a:solidFill>
                  <a:srgbClr val="080912"/>
                </a:solidFill>
                <a:latin typeface="Arial MT"/>
                <a:cs typeface="Arial MT"/>
              </a:rPr>
              <a:t> </a:t>
            </a:r>
            <a:r>
              <a:rPr lang="en-GB" sz="1400" spc="-10" dirty="0">
                <a:solidFill>
                  <a:srgbClr val="080912"/>
                </a:solidFill>
                <a:latin typeface="Arial MT"/>
                <a:cs typeface="Arial MT"/>
              </a:rPr>
              <a:t>activated</a:t>
            </a:r>
            <a:r>
              <a:rPr lang="en-GB" sz="1400" spc="-31" dirty="0">
                <a:solidFill>
                  <a:srgbClr val="080912"/>
                </a:solidFill>
                <a:latin typeface="Arial MT"/>
                <a:cs typeface="Arial MT"/>
              </a:rPr>
              <a:t> </a:t>
            </a:r>
            <a:r>
              <a:rPr lang="en-GB" sz="1400" spc="-3" dirty="0">
                <a:solidFill>
                  <a:srgbClr val="080912"/>
                </a:solidFill>
                <a:latin typeface="Arial MT"/>
                <a:cs typeface="Arial MT"/>
              </a:rPr>
              <a:t>or</a:t>
            </a:r>
            <a:r>
              <a:rPr lang="en-GB" sz="1400" spc="-24" dirty="0">
                <a:solidFill>
                  <a:srgbClr val="080912"/>
                </a:solidFill>
                <a:latin typeface="Arial MT"/>
                <a:cs typeface="Arial MT"/>
              </a:rPr>
              <a:t> </a:t>
            </a:r>
            <a:r>
              <a:rPr lang="en-GB" sz="1400" spc="-10" dirty="0">
                <a:solidFill>
                  <a:srgbClr val="080912"/>
                </a:solidFill>
                <a:latin typeface="Arial MT"/>
                <a:cs typeface="Arial MT"/>
              </a:rPr>
              <a:t>not.</a:t>
            </a:r>
            <a:endParaRPr lang="en-GB" sz="1400" dirty="0">
              <a:latin typeface="Arial MT"/>
              <a:cs typeface="Arial MT"/>
            </a:endParaRPr>
          </a:p>
          <a:p>
            <a:pPr marL="8659" marR="4762" algn="just">
              <a:lnSpc>
                <a:spcPct val="143300"/>
              </a:lnSpc>
              <a:spcBef>
                <a:spcPts val="412"/>
              </a:spcBef>
            </a:pPr>
            <a:r>
              <a:rPr lang="en-GB" sz="1400" spc="-7" dirty="0">
                <a:solidFill>
                  <a:srgbClr val="080912"/>
                </a:solidFill>
                <a:latin typeface="Arial MT"/>
                <a:cs typeface="Arial MT"/>
              </a:rPr>
              <a:t>The</a:t>
            </a:r>
            <a:r>
              <a:rPr lang="en-GB" sz="1400" spc="-55" dirty="0">
                <a:solidFill>
                  <a:srgbClr val="080912"/>
                </a:solidFill>
                <a:latin typeface="Arial MT"/>
                <a:cs typeface="Arial MT"/>
              </a:rPr>
              <a:t> </a:t>
            </a:r>
            <a:r>
              <a:rPr lang="en-GB" sz="1400" spc="-10" dirty="0">
                <a:solidFill>
                  <a:srgbClr val="080912"/>
                </a:solidFill>
                <a:latin typeface="Arial MT"/>
                <a:cs typeface="Arial MT"/>
              </a:rPr>
              <a:t>input</a:t>
            </a:r>
            <a:r>
              <a:rPr lang="en-GB" sz="1400" spc="-58" dirty="0">
                <a:solidFill>
                  <a:srgbClr val="080912"/>
                </a:solidFill>
                <a:latin typeface="Arial MT"/>
                <a:cs typeface="Arial MT"/>
              </a:rPr>
              <a:t> </a:t>
            </a:r>
            <a:r>
              <a:rPr lang="en-GB" sz="1400" spc="-10" dirty="0">
                <a:solidFill>
                  <a:srgbClr val="080912"/>
                </a:solidFill>
                <a:latin typeface="Arial MT"/>
                <a:cs typeface="Arial MT"/>
              </a:rPr>
              <a:t>fed</a:t>
            </a:r>
            <a:r>
              <a:rPr lang="en-GB" sz="1400" spc="-55" dirty="0">
                <a:solidFill>
                  <a:srgbClr val="080912"/>
                </a:solidFill>
                <a:latin typeface="Arial MT"/>
                <a:cs typeface="Arial MT"/>
              </a:rPr>
              <a:t> </a:t>
            </a:r>
            <a:r>
              <a:rPr lang="en-GB" sz="1400" spc="-10" dirty="0">
                <a:solidFill>
                  <a:srgbClr val="080912"/>
                </a:solidFill>
                <a:latin typeface="Arial MT"/>
                <a:cs typeface="Arial MT"/>
              </a:rPr>
              <a:t>to</a:t>
            </a:r>
            <a:r>
              <a:rPr lang="en-GB" sz="1400" spc="-51" dirty="0">
                <a:solidFill>
                  <a:srgbClr val="080912"/>
                </a:solidFill>
                <a:latin typeface="Arial MT"/>
                <a:cs typeface="Arial MT"/>
              </a:rPr>
              <a:t> </a:t>
            </a:r>
            <a:r>
              <a:rPr lang="en-GB" sz="1400" spc="-10" dirty="0">
                <a:solidFill>
                  <a:srgbClr val="080912"/>
                </a:solidFill>
                <a:latin typeface="Arial MT"/>
                <a:cs typeface="Arial MT"/>
              </a:rPr>
              <a:t>the</a:t>
            </a:r>
            <a:r>
              <a:rPr lang="en-GB" sz="1400" spc="-65" dirty="0">
                <a:solidFill>
                  <a:srgbClr val="080912"/>
                </a:solidFill>
                <a:latin typeface="Arial MT"/>
                <a:cs typeface="Arial MT"/>
              </a:rPr>
              <a:t> </a:t>
            </a:r>
            <a:r>
              <a:rPr lang="en-GB" sz="1400" spc="-14" dirty="0">
                <a:solidFill>
                  <a:srgbClr val="080912"/>
                </a:solidFill>
                <a:latin typeface="Arial MT"/>
                <a:cs typeface="Arial MT"/>
              </a:rPr>
              <a:t>activation</a:t>
            </a:r>
            <a:r>
              <a:rPr lang="en-GB" sz="1400" spc="-51" dirty="0">
                <a:solidFill>
                  <a:srgbClr val="080912"/>
                </a:solidFill>
                <a:latin typeface="Arial MT"/>
                <a:cs typeface="Arial MT"/>
              </a:rPr>
              <a:t> </a:t>
            </a:r>
            <a:r>
              <a:rPr lang="en-GB" sz="1400" spc="-10" dirty="0">
                <a:solidFill>
                  <a:srgbClr val="080912"/>
                </a:solidFill>
                <a:latin typeface="Arial MT"/>
                <a:cs typeface="Arial MT"/>
              </a:rPr>
              <a:t>function</a:t>
            </a:r>
            <a:r>
              <a:rPr lang="en-GB" sz="1400" spc="-65" dirty="0">
                <a:solidFill>
                  <a:srgbClr val="080912"/>
                </a:solidFill>
                <a:latin typeface="Arial MT"/>
                <a:cs typeface="Arial MT"/>
              </a:rPr>
              <a:t> </a:t>
            </a:r>
            <a:r>
              <a:rPr lang="en-GB" sz="1400" spc="-10" dirty="0">
                <a:solidFill>
                  <a:srgbClr val="080912"/>
                </a:solidFill>
                <a:latin typeface="Arial MT"/>
                <a:cs typeface="Arial MT"/>
              </a:rPr>
              <a:t>is</a:t>
            </a:r>
            <a:r>
              <a:rPr lang="en-GB" sz="1400" spc="-51" dirty="0">
                <a:solidFill>
                  <a:srgbClr val="080912"/>
                </a:solidFill>
                <a:latin typeface="Arial MT"/>
                <a:cs typeface="Arial MT"/>
              </a:rPr>
              <a:t> </a:t>
            </a:r>
            <a:r>
              <a:rPr lang="en-GB" sz="1400" spc="-10" dirty="0">
                <a:solidFill>
                  <a:srgbClr val="080912"/>
                </a:solidFill>
                <a:latin typeface="Arial MT"/>
                <a:cs typeface="Arial MT"/>
              </a:rPr>
              <a:t>compared</a:t>
            </a:r>
            <a:r>
              <a:rPr lang="en-GB" sz="1400" spc="-51" dirty="0">
                <a:solidFill>
                  <a:srgbClr val="080912"/>
                </a:solidFill>
                <a:latin typeface="Arial MT"/>
                <a:cs typeface="Arial MT"/>
              </a:rPr>
              <a:t> </a:t>
            </a:r>
            <a:r>
              <a:rPr lang="en-GB" sz="1400" spc="-7" dirty="0">
                <a:solidFill>
                  <a:srgbClr val="080912"/>
                </a:solidFill>
                <a:latin typeface="Arial MT"/>
                <a:cs typeface="Arial MT"/>
              </a:rPr>
              <a:t>to</a:t>
            </a:r>
            <a:r>
              <a:rPr lang="en-GB" sz="1400" spc="-65" dirty="0">
                <a:solidFill>
                  <a:srgbClr val="080912"/>
                </a:solidFill>
                <a:latin typeface="Arial MT"/>
                <a:cs typeface="Arial MT"/>
              </a:rPr>
              <a:t> </a:t>
            </a:r>
            <a:r>
              <a:rPr lang="en-GB" sz="1400" dirty="0">
                <a:solidFill>
                  <a:srgbClr val="080912"/>
                </a:solidFill>
                <a:latin typeface="Arial MT"/>
                <a:cs typeface="Arial MT"/>
              </a:rPr>
              <a:t>a</a:t>
            </a:r>
            <a:r>
              <a:rPr lang="en-GB" sz="1400" spc="-61" dirty="0">
                <a:solidFill>
                  <a:srgbClr val="080912"/>
                </a:solidFill>
                <a:latin typeface="Arial MT"/>
                <a:cs typeface="Arial MT"/>
              </a:rPr>
              <a:t> </a:t>
            </a:r>
            <a:r>
              <a:rPr lang="en-GB" sz="1400" spc="-10" dirty="0">
                <a:solidFill>
                  <a:srgbClr val="080912"/>
                </a:solidFill>
                <a:latin typeface="Arial MT"/>
                <a:cs typeface="Arial MT"/>
              </a:rPr>
              <a:t>certain</a:t>
            </a:r>
            <a:r>
              <a:rPr lang="en-GB" sz="1400" spc="-65" dirty="0">
                <a:solidFill>
                  <a:srgbClr val="080912"/>
                </a:solidFill>
                <a:latin typeface="Arial MT"/>
                <a:cs typeface="Arial MT"/>
              </a:rPr>
              <a:t> </a:t>
            </a:r>
            <a:r>
              <a:rPr lang="en-GB" sz="1400" spc="-10" dirty="0">
                <a:solidFill>
                  <a:srgbClr val="080912"/>
                </a:solidFill>
                <a:latin typeface="Arial MT"/>
                <a:cs typeface="Arial MT"/>
              </a:rPr>
              <a:t>threshold;</a:t>
            </a:r>
            <a:r>
              <a:rPr lang="en-GB" sz="1400" spc="-68" dirty="0">
                <a:solidFill>
                  <a:srgbClr val="080912"/>
                </a:solidFill>
                <a:latin typeface="Arial MT"/>
                <a:cs typeface="Arial MT"/>
              </a:rPr>
              <a:t> </a:t>
            </a:r>
            <a:r>
              <a:rPr lang="en-GB" sz="1400" spc="-7" dirty="0">
                <a:solidFill>
                  <a:srgbClr val="080912"/>
                </a:solidFill>
                <a:latin typeface="Arial MT"/>
                <a:cs typeface="Arial MT"/>
              </a:rPr>
              <a:t>if</a:t>
            </a:r>
            <a:r>
              <a:rPr lang="en-GB" sz="1400" spc="-61" dirty="0">
                <a:solidFill>
                  <a:srgbClr val="080912"/>
                </a:solidFill>
                <a:latin typeface="Arial MT"/>
                <a:cs typeface="Arial MT"/>
              </a:rPr>
              <a:t> </a:t>
            </a:r>
            <a:r>
              <a:rPr lang="en-GB" sz="1400" spc="-10" dirty="0">
                <a:solidFill>
                  <a:srgbClr val="080912"/>
                </a:solidFill>
                <a:latin typeface="Arial MT"/>
                <a:cs typeface="Arial MT"/>
              </a:rPr>
              <a:t>the</a:t>
            </a:r>
            <a:r>
              <a:rPr lang="en-GB" sz="1400" spc="-51" dirty="0">
                <a:solidFill>
                  <a:srgbClr val="080912"/>
                </a:solidFill>
                <a:latin typeface="Arial MT"/>
                <a:cs typeface="Arial MT"/>
              </a:rPr>
              <a:t> </a:t>
            </a:r>
            <a:r>
              <a:rPr lang="en-GB" sz="1400" spc="-10" dirty="0">
                <a:solidFill>
                  <a:srgbClr val="080912"/>
                </a:solidFill>
                <a:latin typeface="Arial MT"/>
                <a:cs typeface="Arial MT"/>
              </a:rPr>
              <a:t>input</a:t>
            </a:r>
            <a:r>
              <a:rPr lang="en-GB" sz="1400" spc="-68" dirty="0">
                <a:solidFill>
                  <a:srgbClr val="080912"/>
                </a:solidFill>
                <a:latin typeface="Arial MT"/>
                <a:cs typeface="Arial MT"/>
              </a:rPr>
              <a:t> </a:t>
            </a:r>
            <a:r>
              <a:rPr lang="en-GB" sz="1400" spc="-7" dirty="0">
                <a:solidFill>
                  <a:srgbClr val="080912"/>
                </a:solidFill>
                <a:latin typeface="Arial MT"/>
                <a:cs typeface="Arial MT"/>
              </a:rPr>
              <a:t>is</a:t>
            </a:r>
            <a:r>
              <a:rPr lang="en-GB" sz="1400" spc="-58" dirty="0">
                <a:solidFill>
                  <a:srgbClr val="080912"/>
                </a:solidFill>
                <a:latin typeface="Arial MT"/>
                <a:cs typeface="Arial MT"/>
              </a:rPr>
              <a:t> </a:t>
            </a:r>
            <a:r>
              <a:rPr lang="en-GB" sz="1400" spc="-14" dirty="0">
                <a:solidFill>
                  <a:srgbClr val="080912"/>
                </a:solidFill>
                <a:latin typeface="Arial MT"/>
                <a:cs typeface="Arial MT"/>
              </a:rPr>
              <a:t>greater </a:t>
            </a:r>
            <a:r>
              <a:rPr lang="en-GB" sz="1400" spc="-249" dirty="0">
                <a:solidFill>
                  <a:srgbClr val="080912"/>
                </a:solidFill>
                <a:latin typeface="Arial MT"/>
                <a:cs typeface="Arial MT"/>
              </a:rPr>
              <a:t> </a:t>
            </a:r>
            <a:r>
              <a:rPr lang="en-GB" sz="1400" spc="-10" dirty="0">
                <a:solidFill>
                  <a:srgbClr val="080912"/>
                </a:solidFill>
                <a:latin typeface="Arial MT"/>
                <a:cs typeface="Arial MT"/>
              </a:rPr>
              <a:t>than</a:t>
            </a:r>
            <a:r>
              <a:rPr lang="en-GB" sz="1400" spc="-65" dirty="0">
                <a:solidFill>
                  <a:srgbClr val="080912"/>
                </a:solidFill>
                <a:latin typeface="Arial MT"/>
                <a:cs typeface="Arial MT"/>
              </a:rPr>
              <a:t> </a:t>
            </a:r>
            <a:r>
              <a:rPr lang="en-GB" sz="1400" spc="-7" dirty="0">
                <a:solidFill>
                  <a:srgbClr val="080912"/>
                </a:solidFill>
                <a:latin typeface="Arial MT"/>
                <a:cs typeface="Arial MT"/>
              </a:rPr>
              <a:t>it,</a:t>
            </a:r>
            <a:r>
              <a:rPr lang="en-GB" sz="1400" spc="-68" dirty="0">
                <a:solidFill>
                  <a:srgbClr val="080912"/>
                </a:solidFill>
                <a:latin typeface="Arial MT"/>
                <a:cs typeface="Arial MT"/>
              </a:rPr>
              <a:t> </a:t>
            </a:r>
            <a:r>
              <a:rPr lang="en-GB" sz="1400" spc="-10" dirty="0">
                <a:solidFill>
                  <a:srgbClr val="080912"/>
                </a:solidFill>
                <a:latin typeface="Arial MT"/>
                <a:cs typeface="Arial MT"/>
              </a:rPr>
              <a:t>then</a:t>
            </a:r>
            <a:r>
              <a:rPr lang="en-GB" sz="1400" spc="-61" dirty="0">
                <a:solidFill>
                  <a:srgbClr val="080912"/>
                </a:solidFill>
                <a:latin typeface="Arial MT"/>
                <a:cs typeface="Arial MT"/>
              </a:rPr>
              <a:t> </a:t>
            </a:r>
            <a:r>
              <a:rPr lang="en-GB" sz="1400" spc="-10" dirty="0">
                <a:solidFill>
                  <a:srgbClr val="080912"/>
                </a:solidFill>
                <a:latin typeface="Arial MT"/>
                <a:cs typeface="Arial MT"/>
              </a:rPr>
              <a:t>the</a:t>
            </a:r>
            <a:r>
              <a:rPr lang="en-GB" sz="1400" spc="-65" dirty="0">
                <a:solidFill>
                  <a:srgbClr val="080912"/>
                </a:solidFill>
                <a:latin typeface="Arial MT"/>
                <a:cs typeface="Arial MT"/>
              </a:rPr>
              <a:t> </a:t>
            </a:r>
            <a:r>
              <a:rPr lang="en-GB" sz="1400" spc="-10" dirty="0">
                <a:solidFill>
                  <a:srgbClr val="080912"/>
                </a:solidFill>
                <a:latin typeface="Arial MT"/>
                <a:cs typeface="Arial MT"/>
              </a:rPr>
              <a:t>neuron</a:t>
            </a:r>
            <a:r>
              <a:rPr lang="en-GB" sz="1400" spc="-61" dirty="0">
                <a:solidFill>
                  <a:srgbClr val="080912"/>
                </a:solidFill>
                <a:latin typeface="Arial MT"/>
                <a:cs typeface="Arial MT"/>
              </a:rPr>
              <a:t> </a:t>
            </a:r>
            <a:r>
              <a:rPr lang="en-GB" sz="1400" spc="-10" dirty="0">
                <a:solidFill>
                  <a:srgbClr val="080912"/>
                </a:solidFill>
                <a:latin typeface="Arial MT"/>
                <a:cs typeface="Arial MT"/>
              </a:rPr>
              <a:t>is</a:t>
            </a:r>
            <a:r>
              <a:rPr lang="en-GB" sz="1400" spc="-65" dirty="0">
                <a:solidFill>
                  <a:srgbClr val="080912"/>
                </a:solidFill>
                <a:latin typeface="Arial MT"/>
                <a:cs typeface="Arial MT"/>
              </a:rPr>
              <a:t> </a:t>
            </a:r>
            <a:r>
              <a:rPr lang="en-GB" sz="1400" spc="-10" dirty="0">
                <a:solidFill>
                  <a:srgbClr val="080912"/>
                </a:solidFill>
                <a:latin typeface="Arial MT"/>
                <a:cs typeface="Arial MT"/>
              </a:rPr>
              <a:t>activated,</a:t>
            </a:r>
            <a:r>
              <a:rPr lang="en-GB" sz="1400" spc="-72" dirty="0">
                <a:solidFill>
                  <a:srgbClr val="080912"/>
                </a:solidFill>
                <a:latin typeface="Arial MT"/>
                <a:cs typeface="Arial MT"/>
              </a:rPr>
              <a:t> </a:t>
            </a:r>
            <a:r>
              <a:rPr lang="en-GB" sz="1400" spc="-10" dirty="0">
                <a:solidFill>
                  <a:srgbClr val="080912"/>
                </a:solidFill>
                <a:latin typeface="Arial MT"/>
                <a:cs typeface="Arial MT"/>
              </a:rPr>
              <a:t>else</a:t>
            </a:r>
            <a:r>
              <a:rPr lang="en-GB" sz="1400" spc="-61" dirty="0">
                <a:solidFill>
                  <a:srgbClr val="080912"/>
                </a:solidFill>
                <a:latin typeface="Arial MT"/>
                <a:cs typeface="Arial MT"/>
              </a:rPr>
              <a:t> </a:t>
            </a:r>
            <a:r>
              <a:rPr lang="en-GB" sz="1400" spc="-7" dirty="0">
                <a:solidFill>
                  <a:srgbClr val="080912"/>
                </a:solidFill>
                <a:latin typeface="Arial MT"/>
                <a:cs typeface="Arial MT"/>
              </a:rPr>
              <a:t>it</a:t>
            </a:r>
            <a:r>
              <a:rPr lang="en-GB" sz="1400" spc="-75" dirty="0">
                <a:solidFill>
                  <a:srgbClr val="080912"/>
                </a:solidFill>
                <a:latin typeface="Arial MT"/>
                <a:cs typeface="Arial MT"/>
              </a:rPr>
              <a:t> </a:t>
            </a:r>
            <a:r>
              <a:rPr lang="en-GB" sz="1400" spc="-7" dirty="0">
                <a:solidFill>
                  <a:srgbClr val="080912"/>
                </a:solidFill>
                <a:latin typeface="Arial MT"/>
                <a:cs typeface="Arial MT"/>
              </a:rPr>
              <a:t>is</a:t>
            </a:r>
            <a:r>
              <a:rPr lang="en-GB" sz="1400" spc="-58" dirty="0">
                <a:solidFill>
                  <a:srgbClr val="080912"/>
                </a:solidFill>
                <a:latin typeface="Arial MT"/>
                <a:cs typeface="Arial MT"/>
              </a:rPr>
              <a:t> </a:t>
            </a:r>
            <a:r>
              <a:rPr lang="en-GB" sz="1400" spc="-14" dirty="0">
                <a:solidFill>
                  <a:srgbClr val="080912"/>
                </a:solidFill>
                <a:latin typeface="Arial MT"/>
                <a:cs typeface="Arial MT"/>
              </a:rPr>
              <a:t>deactivated,</a:t>
            </a:r>
            <a:r>
              <a:rPr lang="en-GB" sz="1400" spc="-72" dirty="0">
                <a:solidFill>
                  <a:srgbClr val="080912"/>
                </a:solidFill>
                <a:latin typeface="Arial MT"/>
                <a:cs typeface="Arial MT"/>
              </a:rPr>
              <a:t> </a:t>
            </a:r>
            <a:r>
              <a:rPr lang="en-GB" sz="1400" spc="-14" dirty="0">
                <a:solidFill>
                  <a:srgbClr val="080912"/>
                </a:solidFill>
                <a:latin typeface="Arial MT"/>
                <a:cs typeface="Arial MT"/>
              </a:rPr>
              <a:t>meaning</a:t>
            </a:r>
            <a:r>
              <a:rPr lang="en-GB" sz="1400" spc="-61" dirty="0">
                <a:solidFill>
                  <a:srgbClr val="080912"/>
                </a:solidFill>
                <a:latin typeface="Arial MT"/>
                <a:cs typeface="Arial MT"/>
              </a:rPr>
              <a:t> </a:t>
            </a:r>
            <a:r>
              <a:rPr lang="en-GB" sz="1400" spc="-10" dirty="0">
                <a:solidFill>
                  <a:srgbClr val="080912"/>
                </a:solidFill>
                <a:latin typeface="Arial MT"/>
                <a:cs typeface="Arial MT"/>
              </a:rPr>
              <a:t>that</a:t>
            </a:r>
            <a:r>
              <a:rPr lang="en-GB" sz="1400" spc="-68" dirty="0">
                <a:solidFill>
                  <a:srgbClr val="080912"/>
                </a:solidFill>
                <a:latin typeface="Arial MT"/>
                <a:cs typeface="Arial MT"/>
              </a:rPr>
              <a:t> </a:t>
            </a:r>
            <a:r>
              <a:rPr lang="en-GB" sz="1400" spc="-10" dirty="0">
                <a:solidFill>
                  <a:srgbClr val="080912"/>
                </a:solidFill>
                <a:latin typeface="Arial MT"/>
                <a:cs typeface="Arial MT"/>
              </a:rPr>
              <a:t>its</a:t>
            </a:r>
            <a:r>
              <a:rPr lang="en-GB" sz="1400" spc="-61" dirty="0">
                <a:solidFill>
                  <a:srgbClr val="080912"/>
                </a:solidFill>
                <a:latin typeface="Arial MT"/>
                <a:cs typeface="Arial MT"/>
              </a:rPr>
              <a:t> </a:t>
            </a:r>
            <a:r>
              <a:rPr lang="en-GB" sz="1400" spc="-10" dirty="0">
                <a:solidFill>
                  <a:srgbClr val="080912"/>
                </a:solidFill>
                <a:latin typeface="Arial MT"/>
                <a:cs typeface="Arial MT"/>
              </a:rPr>
              <a:t>output</a:t>
            </a:r>
            <a:r>
              <a:rPr lang="en-GB" sz="1400" spc="-68" dirty="0">
                <a:solidFill>
                  <a:srgbClr val="080912"/>
                </a:solidFill>
                <a:latin typeface="Arial MT"/>
                <a:cs typeface="Arial MT"/>
              </a:rPr>
              <a:t> </a:t>
            </a:r>
            <a:r>
              <a:rPr lang="en-GB" sz="1400" spc="-10" dirty="0">
                <a:solidFill>
                  <a:srgbClr val="080912"/>
                </a:solidFill>
                <a:latin typeface="Arial MT"/>
                <a:cs typeface="Arial MT"/>
              </a:rPr>
              <a:t>is</a:t>
            </a:r>
            <a:r>
              <a:rPr lang="en-GB" sz="1400" spc="-58" dirty="0">
                <a:solidFill>
                  <a:srgbClr val="080912"/>
                </a:solidFill>
                <a:latin typeface="Arial MT"/>
                <a:cs typeface="Arial MT"/>
              </a:rPr>
              <a:t> </a:t>
            </a:r>
            <a:r>
              <a:rPr lang="en-GB" sz="1400" spc="-7" dirty="0">
                <a:solidFill>
                  <a:srgbClr val="080912"/>
                </a:solidFill>
                <a:latin typeface="Arial MT"/>
                <a:cs typeface="Arial MT"/>
              </a:rPr>
              <a:t>not</a:t>
            </a:r>
            <a:r>
              <a:rPr lang="en-GB" sz="1400" spc="-72" dirty="0">
                <a:solidFill>
                  <a:srgbClr val="080912"/>
                </a:solidFill>
                <a:latin typeface="Arial MT"/>
                <a:cs typeface="Arial MT"/>
              </a:rPr>
              <a:t> </a:t>
            </a:r>
            <a:r>
              <a:rPr lang="en-GB" sz="1400" spc="-14" dirty="0">
                <a:solidFill>
                  <a:srgbClr val="080912"/>
                </a:solidFill>
                <a:latin typeface="Arial MT"/>
                <a:cs typeface="Arial MT"/>
              </a:rPr>
              <a:t>passed </a:t>
            </a:r>
            <a:r>
              <a:rPr lang="en-GB" sz="1400" spc="-245" dirty="0">
                <a:solidFill>
                  <a:srgbClr val="080912"/>
                </a:solidFill>
                <a:latin typeface="Arial MT"/>
                <a:cs typeface="Arial MT"/>
              </a:rPr>
              <a:t> </a:t>
            </a:r>
            <a:r>
              <a:rPr lang="en-GB" sz="1400" spc="-3" dirty="0">
                <a:solidFill>
                  <a:srgbClr val="080912"/>
                </a:solidFill>
                <a:latin typeface="Arial MT"/>
                <a:cs typeface="Arial MT"/>
              </a:rPr>
              <a:t>on</a:t>
            </a:r>
            <a:r>
              <a:rPr lang="en-GB" sz="1400" spc="-24" dirty="0">
                <a:solidFill>
                  <a:srgbClr val="080912"/>
                </a:solidFill>
                <a:latin typeface="Arial MT"/>
                <a:cs typeface="Arial MT"/>
              </a:rPr>
              <a:t> </a:t>
            </a:r>
            <a:r>
              <a:rPr lang="en-GB" sz="1400" spc="-10" dirty="0">
                <a:solidFill>
                  <a:srgbClr val="080912"/>
                </a:solidFill>
                <a:latin typeface="Arial MT"/>
                <a:cs typeface="Arial MT"/>
              </a:rPr>
              <a:t>to</a:t>
            </a:r>
            <a:r>
              <a:rPr lang="en-GB" sz="1400" spc="-20" dirty="0">
                <a:solidFill>
                  <a:srgbClr val="080912"/>
                </a:solidFill>
                <a:latin typeface="Arial MT"/>
                <a:cs typeface="Arial MT"/>
              </a:rPr>
              <a:t> </a:t>
            </a:r>
            <a:r>
              <a:rPr lang="en-GB" sz="1400" spc="-10" dirty="0">
                <a:solidFill>
                  <a:srgbClr val="080912"/>
                </a:solidFill>
                <a:latin typeface="Arial MT"/>
                <a:cs typeface="Arial MT"/>
              </a:rPr>
              <a:t>the</a:t>
            </a:r>
            <a:r>
              <a:rPr lang="en-GB" sz="1400" spc="-27" dirty="0">
                <a:solidFill>
                  <a:srgbClr val="080912"/>
                </a:solidFill>
                <a:latin typeface="Arial MT"/>
                <a:cs typeface="Arial MT"/>
              </a:rPr>
              <a:t> </a:t>
            </a:r>
            <a:r>
              <a:rPr lang="en-GB" sz="1400" spc="-10" dirty="0">
                <a:solidFill>
                  <a:srgbClr val="080912"/>
                </a:solidFill>
                <a:latin typeface="Arial MT"/>
                <a:cs typeface="Arial MT"/>
              </a:rPr>
              <a:t>next</a:t>
            </a:r>
            <a:r>
              <a:rPr lang="en-GB" sz="1400" spc="-24" dirty="0">
                <a:solidFill>
                  <a:srgbClr val="080912"/>
                </a:solidFill>
                <a:latin typeface="Arial MT"/>
                <a:cs typeface="Arial MT"/>
              </a:rPr>
              <a:t> </a:t>
            </a:r>
            <a:r>
              <a:rPr lang="en-GB" sz="1400" spc="-14" dirty="0">
                <a:solidFill>
                  <a:srgbClr val="080912"/>
                </a:solidFill>
                <a:latin typeface="Arial MT"/>
                <a:cs typeface="Arial MT"/>
              </a:rPr>
              <a:t>hidden</a:t>
            </a:r>
            <a:r>
              <a:rPr lang="en-GB" sz="1400" spc="-20" dirty="0">
                <a:solidFill>
                  <a:srgbClr val="080912"/>
                </a:solidFill>
                <a:latin typeface="Arial MT"/>
                <a:cs typeface="Arial MT"/>
              </a:rPr>
              <a:t> </a:t>
            </a:r>
            <a:r>
              <a:rPr lang="en-GB" sz="1400" spc="-10" dirty="0">
                <a:solidFill>
                  <a:srgbClr val="080912"/>
                </a:solidFill>
                <a:latin typeface="Arial MT"/>
                <a:cs typeface="Arial MT"/>
              </a:rPr>
              <a:t>layer.</a:t>
            </a:r>
          </a:p>
          <a:p>
            <a:pPr marL="8659">
              <a:spcBef>
                <a:spcPts val="72"/>
              </a:spcBef>
            </a:pPr>
            <a:r>
              <a:rPr lang="en-GB" sz="1400" spc="-7" dirty="0">
                <a:solidFill>
                  <a:srgbClr val="080912"/>
                </a:solidFill>
                <a:latin typeface="Arial MT"/>
                <a:cs typeface="Arial MT"/>
              </a:rPr>
              <a:t>Here</a:t>
            </a:r>
            <a:r>
              <a:rPr lang="en-GB" sz="1400" spc="-31" dirty="0">
                <a:solidFill>
                  <a:srgbClr val="080912"/>
                </a:solidFill>
                <a:latin typeface="Arial MT"/>
                <a:cs typeface="Arial MT"/>
              </a:rPr>
              <a:t> </a:t>
            </a:r>
            <a:r>
              <a:rPr lang="en-GB" sz="1400" spc="-7" dirty="0">
                <a:solidFill>
                  <a:srgbClr val="080912"/>
                </a:solidFill>
                <a:latin typeface="Arial MT"/>
                <a:cs typeface="Arial MT"/>
              </a:rPr>
              <a:t>are</a:t>
            </a:r>
            <a:r>
              <a:rPr lang="en-GB" sz="1400" spc="-31" dirty="0">
                <a:solidFill>
                  <a:srgbClr val="080912"/>
                </a:solidFill>
                <a:latin typeface="Arial MT"/>
                <a:cs typeface="Arial MT"/>
              </a:rPr>
              <a:t> </a:t>
            </a:r>
            <a:r>
              <a:rPr lang="en-GB" sz="1400" spc="-10" dirty="0">
                <a:solidFill>
                  <a:srgbClr val="080912"/>
                </a:solidFill>
                <a:latin typeface="Arial MT"/>
                <a:cs typeface="Arial MT"/>
              </a:rPr>
              <a:t>some</a:t>
            </a:r>
            <a:r>
              <a:rPr lang="en-GB" sz="1400" spc="-31" dirty="0">
                <a:solidFill>
                  <a:srgbClr val="080912"/>
                </a:solidFill>
                <a:latin typeface="Arial MT"/>
                <a:cs typeface="Arial MT"/>
              </a:rPr>
              <a:t> </a:t>
            </a:r>
            <a:r>
              <a:rPr lang="en-GB" sz="1400" spc="-3" dirty="0">
                <a:solidFill>
                  <a:srgbClr val="080912"/>
                </a:solidFill>
                <a:latin typeface="Arial MT"/>
                <a:cs typeface="Arial MT"/>
              </a:rPr>
              <a:t>of</a:t>
            </a:r>
            <a:r>
              <a:rPr lang="en-GB" sz="1400" spc="-27" dirty="0">
                <a:solidFill>
                  <a:srgbClr val="080912"/>
                </a:solidFill>
                <a:latin typeface="Arial MT"/>
                <a:cs typeface="Arial MT"/>
              </a:rPr>
              <a:t> </a:t>
            </a:r>
            <a:r>
              <a:rPr lang="en-GB" sz="1400" spc="-10" dirty="0">
                <a:solidFill>
                  <a:srgbClr val="080912"/>
                </a:solidFill>
                <a:latin typeface="Arial MT"/>
                <a:cs typeface="Arial MT"/>
              </a:rPr>
              <a:t>the</a:t>
            </a:r>
            <a:r>
              <a:rPr lang="en-GB" sz="1400" spc="-24" dirty="0">
                <a:solidFill>
                  <a:srgbClr val="080912"/>
                </a:solidFill>
                <a:latin typeface="Arial MT"/>
                <a:cs typeface="Arial MT"/>
              </a:rPr>
              <a:t> </a:t>
            </a:r>
            <a:r>
              <a:rPr lang="en-GB" sz="1400" spc="-10" dirty="0">
                <a:solidFill>
                  <a:srgbClr val="080912"/>
                </a:solidFill>
                <a:latin typeface="Arial MT"/>
                <a:cs typeface="Arial MT"/>
              </a:rPr>
              <a:t>limitations</a:t>
            </a:r>
            <a:r>
              <a:rPr lang="en-GB" sz="1400" spc="-27" dirty="0">
                <a:solidFill>
                  <a:srgbClr val="080912"/>
                </a:solidFill>
                <a:latin typeface="Arial MT"/>
                <a:cs typeface="Arial MT"/>
              </a:rPr>
              <a:t> </a:t>
            </a:r>
            <a:r>
              <a:rPr lang="en-GB" sz="1400" spc="-3" dirty="0">
                <a:solidFill>
                  <a:srgbClr val="080912"/>
                </a:solidFill>
                <a:latin typeface="Arial MT"/>
                <a:cs typeface="Arial MT"/>
              </a:rPr>
              <a:t>of</a:t>
            </a:r>
            <a:r>
              <a:rPr lang="en-GB" sz="1400" spc="-34" dirty="0">
                <a:solidFill>
                  <a:srgbClr val="080912"/>
                </a:solidFill>
                <a:latin typeface="Arial MT"/>
                <a:cs typeface="Arial MT"/>
              </a:rPr>
              <a:t> </a:t>
            </a:r>
            <a:r>
              <a:rPr lang="en-GB" sz="1400" spc="-10" dirty="0">
                <a:solidFill>
                  <a:srgbClr val="080912"/>
                </a:solidFill>
                <a:latin typeface="Arial MT"/>
                <a:cs typeface="Arial MT"/>
              </a:rPr>
              <a:t>binary</a:t>
            </a:r>
            <a:r>
              <a:rPr lang="en-GB" sz="1400" spc="-27" dirty="0">
                <a:solidFill>
                  <a:srgbClr val="080912"/>
                </a:solidFill>
                <a:latin typeface="Arial MT"/>
                <a:cs typeface="Arial MT"/>
              </a:rPr>
              <a:t> </a:t>
            </a:r>
            <a:r>
              <a:rPr lang="en-GB" sz="1400" spc="-7" dirty="0">
                <a:solidFill>
                  <a:srgbClr val="080912"/>
                </a:solidFill>
                <a:latin typeface="Arial MT"/>
                <a:cs typeface="Arial MT"/>
              </a:rPr>
              <a:t>step</a:t>
            </a:r>
            <a:r>
              <a:rPr lang="en-GB" sz="1400" spc="-24" dirty="0">
                <a:solidFill>
                  <a:srgbClr val="080912"/>
                </a:solidFill>
                <a:latin typeface="Arial MT"/>
                <a:cs typeface="Arial MT"/>
              </a:rPr>
              <a:t> </a:t>
            </a:r>
            <a:r>
              <a:rPr lang="en-GB" sz="1400" spc="-10" dirty="0">
                <a:solidFill>
                  <a:srgbClr val="080912"/>
                </a:solidFill>
                <a:latin typeface="Arial MT"/>
                <a:cs typeface="Arial MT"/>
              </a:rPr>
              <a:t>function:</a:t>
            </a:r>
            <a:endParaRPr lang="en-GB" sz="1400" dirty="0">
              <a:latin typeface="Arial MT"/>
              <a:cs typeface="Arial MT"/>
            </a:endParaRPr>
          </a:p>
          <a:p>
            <a:pPr marL="320378" marR="53252" indent="-156292">
              <a:lnSpc>
                <a:spcPct val="116300"/>
              </a:lnSpc>
              <a:spcBef>
                <a:spcPts val="508"/>
              </a:spcBef>
              <a:buSzPct val="74074"/>
              <a:buFont typeface="Symbol"/>
              <a:buChar char=""/>
              <a:tabLst>
                <a:tab pos="320378" algn="l"/>
                <a:tab pos="320810" algn="l"/>
              </a:tabLst>
            </a:pPr>
            <a:r>
              <a:rPr lang="en-GB" sz="1400" spc="-3" dirty="0">
                <a:solidFill>
                  <a:srgbClr val="080912"/>
                </a:solidFill>
                <a:latin typeface="Arial MT"/>
                <a:cs typeface="Arial MT"/>
              </a:rPr>
              <a:t>It</a:t>
            </a:r>
            <a:r>
              <a:rPr lang="en-GB" sz="1400" dirty="0">
                <a:solidFill>
                  <a:srgbClr val="080912"/>
                </a:solidFill>
                <a:latin typeface="Arial MT"/>
                <a:cs typeface="Arial MT"/>
              </a:rPr>
              <a:t> cannot </a:t>
            </a:r>
            <a:r>
              <a:rPr lang="en-GB" sz="1400" spc="-3" dirty="0">
                <a:solidFill>
                  <a:srgbClr val="080912"/>
                </a:solidFill>
                <a:latin typeface="Arial MT"/>
                <a:cs typeface="Arial MT"/>
              </a:rPr>
              <a:t>provide</a:t>
            </a:r>
            <a:r>
              <a:rPr lang="en-GB" sz="1400" spc="3" dirty="0">
                <a:solidFill>
                  <a:srgbClr val="080912"/>
                </a:solidFill>
                <a:latin typeface="Arial MT"/>
                <a:cs typeface="Arial MT"/>
              </a:rPr>
              <a:t> </a:t>
            </a:r>
            <a:r>
              <a:rPr lang="en-GB" sz="1400" spc="-3" dirty="0">
                <a:solidFill>
                  <a:srgbClr val="080912"/>
                </a:solidFill>
                <a:latin typeface="Arial MT"/>
                <a:cs typeface="Arial MT"/>
              </a:rPr>
              <a:t>multi-value</a:t>
            </a:r>
            <a:r>
              <a:rPr lang="en-GB" sz="1400" spc="3" dirty="0">
                <a:solidFill>
                  <a:srgbClr val="080912"/>
                </a:solidFill>
                <a:latin typeface="Arial MT"/>
                <a:cs typeface="Arial MT"/>
              </a:rPr>
              <a:t> </a:t>
            </a:r>
            <a:r>
              <a:rPr lang="en-GB" sz="1400" spc="-3" dirty="0">
                <a:solidFill>
                  <a:srgbClr val="080912"/>
                </a:solidFill>
                <a:latin typeface="Arial MT"/>
                <a:cs typeface="Arial MT"/>
              </a:rPr>
              <a:t>outputs—for</a:t>
            </a:r>
            <a:r>
              <a:rPr lang="en-GB" sz="1400" spc="3" dirty="0">
                <a:solidFill>
                  <a:srgbClr val="080912"/>
                </a:solidFill>
                <a:latin typeface="Arial MT"/>
                <a:cs typeface="Arial MT"/>
              </a:rPr>
              <a:t> </a:t>
            </a:r>
            <a:r>
              <a:rPr lang="en-GB" sz="1400" dirty="0">
                <a:solidFill>
                  <a:srgbClr val="080912"/>
                </a:solidFill>
                <a:latin typeface="Arial MT"/>
                <a:cs typeface="Arial MT"/>
              </a:rPr>
              <a:t>example,</a:t>
            </a:r>
            <a:r>
              <a:rPr lang="en-GB" sz="1400" spc="3" dirty="0">
                <a:solidFill>
                  <a:srgbClr val="080912"/>
                </a:solidFill>
                <a:latin typeface="Arial MT"/>
                <a:cs typeface="Arial MT"/>
              </a:rPr>
              <a:t> </a:t>
            </a:r>
            <a:r>
              <a:rPr lang="en-GB" sz="1400" dirty="0">
                <a:solidFill>
                  <a:srgbClr val="080912"/>
                </a:solidFill>
                <a:latin typeface="Arial MT"/>
                <a:cs typeface="Arial MT"/>
              </a:rPr>
              <a:t>it cannot</a:t>
            </a:r>
            <a:r>
              <a:rPr lang="en-GB" sz="1400" spc="-7" dirty="0">
                <a:solidFill>
                  <a:srgbClr val="080912"/>
                </a:solidFill>
                <a:latin typeface="Arial MT"/>
                <a:cs typeface="Arial MT"/>
              </a:rPr>
              <a:t> </a:t>
            </a:r>
            <a:r>
              <a:rPr lang="en-GB" sz="1400" dirty="0">
                <a:solidFill>
                  <a:srgbClr val="080912"/>
                </a:solidFill>
                <a:latin typeface="Arial MT"/>
                <a:cs typeface="Arial MT"/>
              </a:rPr>
              <a:t>be</a:t>
            </a:r>
            <a:r>
              <a:rPr lang="en-GB" sz="1400" spc="3" dirty="0">
                <a:solidFill>
                  <a:srgbClr val="080912"/>
                </a:solidFill>
                <a:latin typeface="Arial MT"/>
                <a:cs typeface="Arial MT"/>
              </a:rPr>
              <a:t> </a:t>
            </a:r>
            <a:r>
              <a:rPr lang="en-GB" sz="1400" spc="-3" dirty="0">
                <a:solidFill>
                  <a:srgbClr val="080912"/>
                </a:solidFill>
                <a:latin typeface="Arial MT"/>
                <a:cs typeface="Arial MT"/>
              </a:rPr>
              <a:t>used</a:t>
            </a:r>
            <a:r>
              <a:rPr lang="en-GB" sz="1400" spc="7" dirty="0">
                <a:solidFill>
                  <a:srgbClr val="080912"/>
                </a:solidFill>
                <a:latin typeface="Arial MT"/>
                <a:cs typeface="Arial MT"/>
              </a:rPr>
              <a:t> </a:t>
            </a:r>
            <a:r>
              <a:rPr lang="en-GB" sz="1400" spc="-3" dirty="0">
                <a:solidFill>
                  <a:srgbClr val="080912"/>
                </a:solidFill>
                <a:latin typeface="Arial MT"/>
                <a:cs typeface="Arial MT"/>
              </a:rPr>
              <a:t>for</a:t>
            </a:r>
            <a:r>
              <a:rPr lang="en-GB" sz="1400" spc="7" dirty="0">
                <a:solidFill>
                  <a:srgbClr val="080912"/>
                </a:solidFill>
                <a:latin typeface="Arial MT"/>
                <a:cs typeface="Arial MT"/>
              </a:rPr>
              <a:t> </a:t>
            </a:r>
            <a:r>
              <a:rPr lang="en-GB" sz="1400" spc="-3" dirty="0">
                <a:solidFill>
                  <a:srgbClr val="080912"/>
                </a:solidFill>
                <a:latin typeface="Arial MT"/>
                <a:cs typeface="Arial MT"/>
              </a:rPr>
              <a:t>multi-class </a:t>
            </a:r>
            <a:r>
              <a:rPr lang="en-GB" sz="1400" spc="-245" dirty="0">
                <a:solidFill>
                  <a:srgbClr val="080912"/>
                </a:solidFill>
                <a:latin typeface="Arial MT"/>
                <a:cs typeface="Arial MT"/>
              </a:rPr>
              <a:t> </a:t>
            </a:r>
            <a:r>
              <a:rPr lang="en-GB" sz="1400" spc="-3" dirty="0">
                <a:solidFill>
                  <a:srgbClr val="080912"/>
                </a:solidFill>
                <a:latin typeface="Arial MT"/>
                <a:cs typeface="Arial MT"/>
              </a:rPr>
              <a:t>classification problems.</a:t>
            </a:r>
            <a:endParaRPr lang="en-GB" sz="1400" dirty="0">
              <a:latin typeface="Arial MT"/>
              <a:cs typeface="Arial MT"/>
            </a:endParaRPr>
          </a:p>
          <a:p>
            <a:pPr marL="320378" marR="587503" indent="-156292">
              <a:lnSpc>
                <a:spcPct val="117000"/>
              </a:lnSpc>
              <a:spcBef>
                <a:spcPts val="484"/>
              </a:spcBef>
              <a:buSzPct val="74074"/>
              <a:buFont typeface="Symbol"/>
              <a:buChar char=""/>
              <a:tabLst>
                <a:tab pos="320378" algn="l"/>
                <a:tab pos="320810" algn="l"/>
              </a:tabLst>
            </a:pPr>
            <a:r>
              <a:rPr lang="en-GB" sz="1400" dirty="0">
                <a:solidFill>
                  <a:srgbClr val="080912"/>
                </a:solidFill>
                <a:latin typeface="Arial MT"/>
                <a:cs typeface="Arial MT"/>
              </a:rPr>
              <a:t>The</a:t>
            </a:r>
            <a:r>
              <a:rPr lang="en-GB" sz="1400" spc="3" dirty="0">
                <a:solidFill>
                  <a:srgbClr val="080912"/>
                </a:solidFill>
                <a:latin typeface="Arial MT"/>
                <a:cs typeface="Arial MT"/>
              </a:rPr>
              <a:t> </a:t>
            </a:r>
            <a:r>
              <a:rPr lang="en-GB" sz="1400" spc="-3" dirty="0">
                <a:solidFill>
                  <a:srgbClr val="080912"/>
                </a:solidFill>
                <a:latin typeface="Arial MT"/>
                <a:cs typeface="Arial MT"/>
              </a:rPr>
              <a:t>gradient</a:t>
            </a:r>
            <a:r>
              <a:rPr lang="en-GB" sz="1400" spc="-7" dirty="0">
                <a:solidFill>
                  <a:srgbClr val="080912"/>
                </a:solidFill>
                <a:latin typeface="Arial MT"/>
                <a:cs typeface="Arial MT"/>
              </a:rPr>
              <a:t> </a:t>
            </a:r>
            <a:r>
              <a:rPr lang="en-GB" sz="1400" dirty="0">
                <a:solidFill>
                  <a:srgbClr val="080912"/>
                </a:solidFill>
                <a:latin typeface="Arial MT"/>
                <a:cs typeface="Arial MT"/>
              </a:rPr>
              <a:t>of </a:t>
            </a:r>
            <a:r>
              <a:rPr lang="en-GB" sz="1400" spc="-3" dirty="0">
                <a:solidFill>
                  <a:srgbClr val="080912"/>
                </a:solidFill>
                <a:latin typeface="Arial MT"/>
                <a:cs typeface="Arial MT"/>
              </a:rPr>
              <a:t>the</a:t>
            </a:r>
            <a:r>
              <a:rPr lang="en-GB" sz="1400" dirty="0">
                <a:solidFill>
                  <a:srgbClr val="080912"/>
                </a:solidFill>
                <a:latin typeface="Arial MT"/>
                <a:cs typeface="Arial MT"/>
              </a:rPr>
              <a:t> step </a:t>
            </a:r>
            <a:r>
              <a:rPr lang="en-GB" sz="1400" spc="-3" dirty="0">
                <a:solidFill>
                  <a:srgbClr val="080912"/>
                </a:solidFill>
                <a:latin typeface="Arial MT"/>
                <a:cs typeface="Arial MT"/>
              </a:rPr>
              <a:t>function</a:t>
            </a:r>
            <a:r>
              <a:rPr lang="en-GB" sz="1400" dirty="0">
                <a:solidFill>
                  <a:srgbClr val="080912"/>
                </a:solidFill>
                <a:latin typeface="Arial MT"/>
                <a:cs typeface="Arial MT"/>
              </a:rPr>
              <a:t> </a:t>
            </a:r>
            <a:r>
              <a:rPr lang="en-GB" sz="1400" spc="-7" dirty="0">
                <a:solidFill>
                  <a:srgbClr val="080912"/>
                </a:solidFill>
                <a:latin typeface="Arial MT"/>
                <a:cs typeface="Arial MT"/>
              </a:rPr>
              <a:t>is</a:t>
            </a:r>
            <a:r>
              <a:rPr lang="en-GB" sz="1400" spc="3" dirty="0">
                <a:solidFill>
                  <a:srgbClr val="080912"/>
                </a:solidFill>
                <a:latin typeface="Arial MT"/>
                <a:cs typeface="Arial MT"/>
              </a:rPr>
              <a:t> </a:t>
            </a:r>
            <a:r>
              <a:rPr lang="en-GB" sz="1400" spc="-3" dirty="0">
                <a:solidFill>
                  <a:srgbClr val="080912"/>
                </a:solidFill>
                <a:latin typeface="Arial MT"/>
                <a:cs typeface="Arial MT"/>
              </a:rPr>
              <a:t>zero, </a:t>
            </a:r>
            <a:r>
              <a:rPr lang="en-GB" sz="1400" dirty="0">
                <a:solidFill>
                  <a:srgbClr val="080912"/>
                </a:solidFill>
                <a:latin typeface="Arial MT"/>
                <a:cs typeface="Arial MT"/>
              </a:rPr>
              <a:t>which</a:t>
            </a:r>
            <a:r>
              <a:rPr lang="en-GB" sz="1400" spc="3" dirty="0">
                <a:solidFill>
                  <a:srgbClr val="080912"/>
                </a:solidFill>
                <a:latin typeface="Arial MT"/>
                <a:cs typeface="Arial MT"/>
              </a:rPr>
              <a:t> </a:t>
            </a:r>
            <a:r>
              <a:rPr lang="en-GB" sz="1400" spc="-3" dirty="0">
                <a:solidFill>
                  <a:srgbClr val="080912"/>
                </a:solidFill>
                <a:latin typeface="Arial MT"/>
                <a:cs typeface="Arial MT"/>
              </a:rPr>
              <a:t>causes</a:t>
            </a:r>
            <a:r>
              <a:rPr lang="en-GB" sz="1400" spc="3" dirty="0">
                <a:solidFill>
                  <a:srgbClr val="080912"/>
                </a:solidFill>
                <a:latin typeface="Arial MT"/>
                <a:cs typeface="Arial MT"/>
              </a:rPr>
              <a:t> </a:t>
            </a:r>
            <a:r>
              <a:rPr lang="en-GB" sz="1400" dirty="0">
                <a:solidFill>
                  <a:srgbClr val="080912"/>
                </a:solidFill>
                <a:latin typeface="Arial MT"/>
                <a:cs typeface="Arial MT"/>
              </a:rPr>
              <a:t>a</a:t>
            </a:r>
            <a:r>
              <a:rPr lang="en-GB" sz="1400" spc="3" dirty="0">
                <a:solidFill>
                  <a:srgbClr val="080912"/>
                </a:solidFill>
                <a:latin typeface="Arial MT"/>
                <a:cs typeface="Arial MT"/>
              </a:rPr>
              <a:t> </a:t>
            </a:r>
            <a:r>
              <a:rPr lang="en-GB" sz="1400" spc="-3" dirty="0">
                <a:solidFill>
                  <a:srgbClr val="080912"/>
                </a:solidFill>
                <a:latin typeface="Arial MT"/>
                <a:cs typeface="Arial MT"/>
              </a:rPr>
              <a:t>hindrance</a:t>
            </a:r>
            <a:r>
              <a:rPr lang="en-GB" sz="1400" spc="3" dirty="0">
                <a:solidFill>
                  <a:srgbClr val="080912"/>
                </a:solidFill>
                <a:latin typeface="Arial MT"/>
                <a:cs typeface="Arial MT"/>
              </a:rPr>
              <a:t> </a:t>
            </a:r>
            <a:r>
              <a:rPr lang="en-GB" sz="1400" dirty="0">
                <a:solidFill>
                  <a:srgbClr val="080912"/>
                </a:solidFill>
                <a:latin typeface="Arial MT"/>
                <a:cs typeface="Arial MT"/>
              </a:rPr>
              <a:t>in </a:t>
            </a:r>
            <a:r>
              <a:rPr lang="en-GB" sz="1400" spc="-3" dirty="0">
                <a:solidFill>
                  <a:srgbClr val="080912"/>
                </a:solidFill>
                <a:latin typeface="Arial MT"/>
                <a:cs typeface="Arial MT"/>
              </a:rPr>
              <a:t>the </a:t>
            </a:r>
            <a:r>
              <a:rPr lang="en-GB" sz="1400" spc="-245" dirty="0">
                <a:solidFill>
                  <a:srgbClr val="080912"/>
                </a:solidFill>
                <a:latin typeface="Arial MT"/>
                <a:cs typeface="Arial MT"/>
              </a:rPr>
              <a:t> </a:t>
            </a:r>
            <a:r>
              <a:rPr lang="en-GB" sz="1400" spc="-3" dirty="0">
                <a:solidFill>
                  <a:srgbClr val="080912"/>
                </a:solidFill>
                <a:latin typeface="Arial MT"/>
                <a:cs typeface="Arial MT"/>
              </a:rPr>
              <a:t>backpropagation</a:t>
            </a:r>
            <a:r>
              <a:rPr lang="en-GB" sz="1400" spc="-7" dirty="0">
                <a:solidFill>
                  <a:srgbClr val="080912"/>
                </a:solidFill>
                <a:latin typeface="Arial MT"/>
                <a:cs typeface="Arial MT"/>
              </a:rPr>
              <a:t> </a:t>
            </a:r>
            <a:r>
              <a:rPr lang="en-GB" sz="1400" spc="-3" dirty="0">
                <a:solidFill>
                  <a:srgbClr val="080912"/>
                </a:solidFill>
                <a:latin typeface="Arial MT"/>
                <a:cs typeface="Arial MT"/>
              </a:rPr>
              <a:t>process.</a:t>
            </a:r>
            <a:endParaRPr lang="en-GB" sz="1400" dirty="0">
              <a:latin typeface="Arial MT"/>
              <a:cs typeface="Arial MT"/>
            </a:endParaRPr>
          </a:p>
          <a:p>
            <a:pPr marL="8659" marR="4762" algn="just">
              <a:lnSpc>
                <a:spcPct val="143300"/>
              </a:lnSpc>
              <a:spcBef>
                <a:spcPts val="412"/>
              </a:spcBef>
            </a:pPr>
            <a:endParaRPr lang="en-GB" sz="1400" spc="-10" dirty="0">
              <a:solidFill>
                <a:srgbClr val="080912"/>
              </a:solidFill>
              <a:latin typeface="Arial MT"/>
              <a:cs typeface="Arial MT"/>
            </a:endParaRPr>
          </a:p>
          <a:p>
            <a:pPr marL="8659" marR="4762" algn="just">
              <a:lnSpc>
                <a:spcPct val="143300"/>
              </a:lnSpc>
              <a:spcBef>
                <a:spcPts val="412"/>
              </a:spcBef>
            </a:pPr>
            <a:endParaRPr lang="en-GB" sz="1400" dirty="0">
              <a:latin typeface="Arial MT"/>
              <a:cs typeface="Arial MT"/>
            </a:endParaRPr>
          </a:p>
          <a:p>
            <a:endParaRPr lang="en-PK" dirty="0"/>
          </a:p>
        </p:txBody>
      </p:sp>
      <p:pic>
        <p:nvPicPr>
          <p:cNvPr id="5" name="object 3"/>
          <p:cNvPicPr/>
          <p:nvPr/>
        </p:nvPicPr>
        <p:blipFill>
          <a:blip r:embed="rId3" cstate="print"/>
          <a:stretch>
            <a:fillRect/>
          </a:stretch>
        </p:blipFill>
        <p:spPr>
          <a:xfrm>
            <a:off x="6218467" y="4590107"/>
            <a:ext cx="2885299" cy="1863625"/>
          </a:xfrm>
          <a:prstGeom prst="rect">
            <a:avLst/>
          </a:prstGeom>
        </p:spPr>
      </p:pic>
      <p:pic>
        <p:nvPicPr>
          <p:cNvPr id="6" name="object 4"/>
          <p:cNvPicPr/>
          <p:nvPr/>
        </p:nvPicPr>
        <p:blipFill>
          <a:blip r:embed="rId4" cstate="print"/>
          <a:stretch>
            <a:fillRect/>
          </a:stretch>
        </p:blipFill>
        <p:spPr>
          <a:xfrm>
            <a:off x="3003566" y="4707802"/>
            <a:ext cx="2548253" cy="1242671"/>
          </a:xfrm>
          <a:prstGeom prst="rect">
            <a:avLst/>
          </a:prstGeom>
        </p:spPr>
      </p:pic>
      <p:sp>
        <p:nvSpPr>
          <p:cNvPr id="2" name="Slide Number Placeholder 1">
            <a:extLst>
              <a:ext uri="{FF2B5EF4-FFF2-40B4-BE49-F238E27FC236}">
                <a16:creationId xmlns:a16="http://schemas.microsoft.com/office/drawing/2014/main" id="{F0C22FBE-DB18-4AD9-1791-64861977AD5F}"/>
              </a:ext>
            </a:extLst>
          </p:cNvPr>
          <p:cNvSpPr>
            <a:spLocks noGrp="1"/>
          </p:cNvSpPr>
          <p:nvPr>
            <p:ph type="sldNum" sz="quarter" idx="12"/>
          </p:nvPr>
        </p:nvSpPr>
        <p:spPr/>
        <p:txBody>
          <a:bodyPr/>
          <a:lstStyle/>
          <a:p>
            <a:fld id="{9CD9A578-84A4-4247-B01E-A84B9E2DF7BB}" type="slidenum">
              <a:rPr lang="en-PK" smtClean="0"/>
              <a:t>3</a:t>
            </a:fld>
            <a:endParaRPr lang="en-PK"/>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9252642" y="3720974"/>
            <a:ext cx="2479595" cy="2666081"/>
          </a:xfrm>
          <a:prstGeom prst="rect">
            <a:avLst/>
          </a:prstGeom>
        </p:spPr>
      </p:pic>
      <p:sp>
        <p:nvSpPr>
          <p:cNvPr id="6" name="Title 5">
            <a:extLst>
              <a:ext uri="{FF2B5EF4-FFF2-40B4-BE49-F238E27FC236}">
                <a16:creationId xmlns:a16="http://schemas.microsoft.com/office/drawing/2014/main" id="{01D8B482-C97D-362E-E35A-1179B435C89E}"/>
              </a:ext>
            </a:extLst>
          </p:cNvPr>
          <p:cNvSpPr>
            <a:spLocks noGrp="1"/>
          </p:cNvSpPr>
          <p:nvPr>
            <p:ph type="title"/>
          </p:nvPr>
        </p:nvSpPr>
        <p:spPr/>
        <p:txBody>
          <a:bodyPr/>
          <a:lstStyle/>
          <a:p>
            <a:r>
              <a:rPr lang="en-GB" sz="4400" spc="-34" dirty="0">
                <a:solidFill>
                  <a:srgbClr val="1F1F1F"/>
                </a:solidFill>
                <a:latin typeface="Arial MT"/>
                <a:cs typeface="Arial MT"/>
              </a:rPr>
              <a:t>L</a:t>
            </a:r>
            <a:r>
              <a:rPr lang="en-GB" sz="4400" spc="-31" dirty="0">
                <a:solidFill>
                  <a:srgbClr val="1F1F1F"/>
                </a:solidFill>
                <a:latin typeface="Arial MT"/>
                <a:cs typeface="Arial MT"/>
              </a:rPr>
              <a:t>i</a:t>
            </a:r>
            <a:r>
              <a:rPr lang="en-GB" sz="4400" spc="-34" dirty="0">
                <a:solidFill>
                  <a:srgbClr val="1F1F1F"/>
                </a:solidFill>
                <a:latin typeface="Arial MT"/>
                <a:cs typeface="Arial MT"/>
              </a:rPr>
              <a:t>nea</a:t>
            </a:r>
            <a:r>
              <a:rPr lang="en-GB" sz="4400" dirty="0">
                <a:solidFill>
                  <a:srgbClr val="1F1F1F"/>
                </a:solidFill>
                <a:latin typeface="Arial MT"/>
                <a:cs typeface="Arial MT"/>
              </a:rPr>
              <a:t>r</a:t>
            </a:r>
            <a:r>
              <a:rPr lang="en-GB" sz="4400" spc="-48" dirty="0">
                <a:solidFill>
                  <a:srgbClr val="1F1F1F"/>
                </a:solidFill>
                <a:latin typeface="Arial MT"/>
                <a:cs typeface="Arial MT"/>
              </a:rPr>
              <a:t> </a:t>
            </a:r>
            <a:r>
              <a:rPr lang="en-GB" sz="4400" spc="-27" dirty="0">
                <a:solidFill>
                  <a:srgbClr val="1F1F1F"/>
                </a:solidFill>
                <a:latin typeface="Arial MT"/>
                <a:cs typeface="Arial MT"/>
              </a:rPr>
              <a:t>A</a:t>
            </a:r>
            <a:r>
              <a:rPr lang="en-GB" sz="4400" spc="-34" dirty="0">
                <a:solidFill>
                  <a:srgbClr val="1F1F1F"/>
                </a:solidFill>
                <a:latin typeface="Arial MT"/>
                <a:cs typeface="Arial MT"/>
              </a:rPr>
              <a:t>c</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27" dirty="0">
                <a:solidFill>
                  <a:srgbClr val="1F1F1F"/>
                </a:solidFill>
                <a:latin typeface="Arial MT"/>
                <a:cs typeface="Arial MT"/>
              </a:rPr>
              <a:t>v</a:t>
            </a:r>
            <a:r>
              <a:rPr lang="en-GB" sz="4400" spc="-41" dirty="0">
                <a:solidFill>
                  <a:srgbClr val="1F1F1F"/>
                </a:solidFill>
                <a:latin typeface="Arial MT"/>
                <a:cs typeface="Arial MT"/>
              </a:rPr>
              <a:t>a</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41" dirty="0">
                <a:solidFill>
                  <a:srgbClr val="1F1F1F"/>
                </a:solidFill>
                <a:latin typeface="Arial MT"/>
                <a:cs typeface="Arial MT"/>
              </a:rPr>
              <a:t>o</a:t>
            </a:r>
            <a:r>
              <a:rPr lang="en-GB" sz="4400" spc="-3" dirty="0">
                <a:solidFill>
                  <a:srgbClr val="1F1F1F"/>
                </a:solidFill>
                <a:latin typeface="Arial MT"/>
                <a:cs typeface="Arial MT"/>
              </a:rPr>
              <a:t>n</a:t>
            </a:r>
            <a:r>
              <a:rPr lang="en-GB" sz="4400" spc="-51" dirty="0">
                <a:solidFill>
                  <a:srgbClr val="1F1F1F"/>
                </a:solidFill>
                <a:latin typeface="Arial MT"/>
                <a:cs typeface="Arial MT"/>
              </a:rPr>
              <a:t> </a:t>
            </a:r>
            <a:r>
              <a:rPr lang="en-GB" sz="4400" spc="-24" dirty="0">
                <a:solidFill>
                  <a:srgbClr val="1F1F1F"/>
                </a:solidFill>
                <a:latin typeface="Arial MT"/>
                <a:cs typeface="Arial MT"/>
              </a:rPr>
              <a:t>F</a:t>
            </a:r>
            <a:r>
              <a:rPr lang="en-GB" sz="4400" spc="-34" dirty="0">
                <a:solidFill>
                  <a:srgbClr val="1F1F1F"/>
                </a:solidFill>
                <a:latin typeface="Arial MT"/>
                <a:cs typeface="Arial MT"/>
              </a:rPr>
              <a:t>unc</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34" dirty="0">
                <a:solidFill>
                  <a:srgbClr val="1F1F1F"/>
                </a:solidFill>
                <a:latin typeface="Arial MT"/>
                <a:cs typeface="Arial MT"/>
              </a:rPr>
              <a:t>o</a:t>
            </a:r>
            <a:r>
              <a:rPr lang="en-GB" sz="4400" spc="-3" dirty="0">
                <a:solidFill>
                  <a:srgbClr val="1F1F1F"/>
                </a:solidFill>
                <a:latin typeface="Arial MT"/>
                <a:cs typeface="Arial MT"/>
              </a:rPr>
              <a:t>n</a:t>
            </a:r>
            <a:br>
              <a:rPr lang="en-GB" sz="4400" dirty="0">
                <a:latin typeface="Arial MT"/>
                <a:cs typeface="Arial MT"/>
              </a:rPr>
            </a:br>
            <a:endParaRPr lang="en-PK" dirty="0"/>
          </a:p>
        </p:txBody>
      </p:sp>
      <p:sp>
        <p:nvSpPr>
          <p:cNvPr id="9" name="TextBox 8">
            <a:extLst>
              <a:ext uri="{FF2B5EF4-FFF2-40B4-BE49-F238E27FC236}">
                <a16:creationId xmlns:a16="http://schemas.microsoft.com/office/drawing/2014/main" id="{AC4E7855-DC41-A41F-D31F-61EA8398AAB2}"/>
              </a:ext>
            </a:extLst>
          </p:cNvPr>
          <p:cNvSpPr txBox="1"/>
          <p:nvPr/>
        </p:nvSpPr>
        <p:spPr>
          <a:xfrm>
            <a:off x="1173479" y="1433864"/>
            <a:ext cx="7843771" cy="4381008"/>
          </a:xfrm>
          <a:prstGeom prst="rect">
            <a:avLst/>
          </a:prstGeom>
          <a:noFill/>
        </p:spPr>
        <p:txBody>
          <a:bodyPr wrap="square">
            <a:spAutoFit/>
          </a:bodyPr>
          <a:lstStyle/>
          <a:p>
            <a:pPr>
              <a:spcBef>
                <a:spcPts val="24"/>
              </a:spcBef>
            </a:pPr>
            <a:endParaRPr lang="en-GB" sz="2400" dirty="0">
              <a:latin typeface="Arial MT"/>
              <a:cs typeface="Arial MT"/>
            </a:endParaRPr>
          </a:p>
          <a:p>
            <a:pPr marL="8659" marR="3464">
              <a:lnSpc>
                <a:spcPct val="143700"/>
              </a:lnSpc>
              <a:spcBef>
                <a:spcPts val="406"/>
              </a:spcBef>
            </a:pPr>
            <a:r>
              <a:rPr lang="en-GB" sz="1800" spc="-7" dirty="0">
                <a:solidFill>
                  <a:srgbClr val="080912"/>
                </a:solidFill>
                <a:latin typeface="Arial MT"/>
                <a:cs typeface="Arial MT"/>
              </a:rPr>
              <a:t>The</a:t>
            </a:r>
            <a:r>
              <a:rPr lang="en-GB" sz="1800" spc="222" dirty="0">
                <a:solidFill>
                  <a:srgbClr val="080912"/>
                </a:solidFill>
                <a:latin typeface="Arial MT"/>
                <a:cs typeface="Arial MT"/>
              </a:rPr>
              <a:t> </a:t>
            </a:r>
            <a:r>
              <a:rPr lang="en-GB" sz="1800" spc="-10" dirty="0">
                <a:solidFill>
                  <a:srgbClr val="080912"/>
                </a:solidFill>
                <a:latin typeface="Arial MT"/>
                <a:cs typeface="Arial MT"/>
              </a:rPr>
              <a:t>linear</a:t>
            </a:r>
            <a:r>
              <a:rPr lang="en-GB" sz="1800" spc="225" dirty="0">
                <a:solidFill>
                  <a:srgbClr val="080912"/>
                </a:solidFill>
                <a:latin typeface="Arial MT"/>
                <a:cs typeface="Arial MT"/>
              </a:rPr>
              <a:t> </a:t>
            </a:r>
            <a:r>
              <a:rPr lang="en-GB" sz="1800" spc="-14" dirty="0">
                <a:solidFill>
                  <a:srgbClr val="080912"/>
                </a:solidFill>
                <a:latin typeface="Arial MT"/>
                <a:cs typeface="Arial MT"/>
              </a:rPr>
              <a:t>activation</a:t>
            </a:r>
            <a:r>
              <a:rPr lang="en-GB" sz="1800" spc="225" dirty="0">
                <a:solidFill>
                  <a:srgbClr val="080912"/>
                </a:solidFill>
                <a:latin typeface="Arial MT"/>
                <a:cs typeface="Arial MT"/>
              </a:rPr>
              <a:t> </a:t>
            </a:r>
            <a:r>
              <a:rPr lang="en-GB" sz="1800" spc="-10" dirty="0">
                <a:solidFill>
                  <a:srgbClr val="080912"/>
                </a:solidFill>
                <a:latin typeface="Arial MT"/>
                <a:cs typeface="Arial MT"/>
              </a:rPr>
              <a:t>function</a:t>
            </a:r>
            <a:r>
              <a:rPr lang="en-GB" sz="1800" spc="225" dirty="0">
                <a:solidFill>
                  <a:srgbClr val="080912"/>
                </a:solidFill>
                <a:latin typeface="Arial MT"/>
                <a:cs typeface="Arial MT"/>
              </a:rPr>
              <a:t> </a:t>
            </a:r>
            <a:r>
              <a:rPr lang="en-GB" sz="1800" spc="-10" dirty="0">
                <a:solidFill>
                  <a:srgbClr val="080912"/>
                </a:solidFill>
                <a:latin typeface="Arial MT"/>
                <a:cs typeface="Arial MT"/>
              </a:rPr>
              <a:t>is</a:t>
            </a:r>
            <a:r>
              <a:rPr lang="en-GB" sz="1800" spc="218" dirty="0">
                <a:solidFill>
                  <a:srgbClr val="080912"/>
                </a:solidFill>
                <a:latin typeface="Arial MT"/>
                <a:cs typeface="Arial MT"/>
              </a:rPr>
              <a:t> </a:t>
            </a:r>
            <a:r>
              <a:rPr lang="en-GB" sz="1800" spc="-10" dirty="0">
                <a:solidFill>
                  <a:srgbClr val="080912"/>
                </a:solidFill>
                <a:latin typeface="Arial MT"/>
                <a:cs typeface="Arial MT"/>
              </a:rPr>
              <a:t>also</a:t>
            </a:r>
            <a:r>
              <a:rPr lang="en-GB" sz="1800" spc="211" dirty="0">
                <a:solidFill>
                  <a:srgbClr val="080912"/>
                </a:solidFill>
                <a:latin typeface="Arial MT"/>
                <a:cs typeface="Arial MT"/>
              </a:rPr>
              <a:t> </a:t>
            </a:r>
            <a:r>
              <a:rPr lang="en-GB" sz="1800" spc="-10" dirty="0">
                <a:solidFill>
                  <a:srgbClr val="080912"/>
                </a:solidFill>
                <a:latin typeface="Arial MT"/>
                <a:cs typeface="Arial MT"/>
              </a:rPr>
              <a:t>known</a:t>
            </a:r>
            <a:r>
              <a:rPr lang="en-GB" sz="1800" spc="225" dirty="0">
                <a:solidFill>
                  <a:srgbClr val="080912"/>
                </a:solidFill>
                <a:latin typeface="Arial MT"/>
                <a:cs typeface="Arial MT"/>
              </a:rPr>
              <a:t> </a:t>
            </a:r>
            <a:r>
              <a:rPr lang="en-GB" sz="1800" spc="-7" dirty="0">
                <a:solidFill>
                  <a:srgbClr val="080912"/>
                </a:solidFill>
                <a:latin typeface="Arial MT"/>
                <a:cs typeface="Arial MT"/>
              </a:rPr>
              <a:t>as </a:t>
            </a:r>
            <a:r>
              <a:rPr lang="en-GB" sz="1800" i="1" spc="-14" dirty="0">
                <a:solidFill>
                  <a:srgbClr val="080912"/>
                </a:solidFill>
                <a:latin typeface="Arial"/>
                <a:cs typeface="Arial"/>
              </a:rPr>
              <a:t>Identity  </a:t>
            </a:r>
            <a:r>
              <a:rPr lang="en-GB" sz="1800" i="1" spc="-10" dirty="0">
                <a:solidFill>
                  <a:srgbClr val="080912"/>
                </a:solidFill>
                <a:latin typeface="Arial"/>
                <a:cs typeface="Arial"/>
              </a:rPr>
              <a:t>Function</a:t>
            </a:r>
            <a:r>
              <a:rPr lang="en-GB" sz="1800" i="1" spc="-24" dirty="0">
                <a:solidFill>
                  <a:srgbClr val="080912"/>
                </a:solidFill>
                <a:latin typeface="Arial"/>
                <a:cs typeface="Arial"/>
              </a:rPr>
              <a:t> </a:t>
            </a:r>
            <a:r>
              <a:rPr lang="en-GB" sz="1800" spc="-10" dirty="0">
                <a:solidFill>
                  <a:srgbClr val="080912"/>
                </a:solidFill>
                <a:latin typeface="Arial MT"/>
                <a:cs typeface="Arial MT"/>
              </a:rPr>
              <a:t>where</a:t>
            </a:r>
            <a:r>
              <a:rPr lang="en-GB" sz="1800" spc="225" dirty="0">
                <a:solidFill>
                  <a:srgbClr val="080912"/>
                </a:solidFill>
                <a:latin typeface="Arial MT"/>
                <a:cs typeface="Arial MT"/>
              </a:rPr>
              <a:t> </a:t>
            </a:r>
            <a:r>
              <a:rPr lang="en-GB" sz="1800" spc="-10" dirty="0">
                <a:solidFill>
                  <a:srgbClr val="080912"/>
                </a:solidFill>
                <a:latin typeface="Arial MT"/>
                <a:cs typeface="Arial MT"/>
              </a:rPr>
              <a:t>the</a:t>
            </a:r>
            <a:r>
              <a:rPr lang="en-GB" sz="1800" spc="211" dirty="0">
                <a:solidFill>
                  <a:srgbClr val="080912"/>
                </a:solidFill>
                <a:latin typeface="Arial MT"/>
                <a:cs typeface="Arial MT"/>
              </a:rPr>
              <a:t> </a:t>
            </a:r>
            <a:r>
              <a:rPr lang="en-GB" sz="1800" spc="-14" dirty="0">
                <a:solidFill>
                  <a:srgbClr val="080912"/>
                </a:solidFill>
                <a:latin typeface="Arial MT"/>
                <a:cs typeface="Arial MT"/>
              </a:rPr>
              <a:t>activation</a:t>
            </a:r>
            <a:r>
              <a:rPr lang="en-GB" sz="1800" spc="225" dirty="0">
                <a:solidFill>
                  <a:srgbClr val="080912"/>
                </a:solidFill>
                <a:latin typeface="Arial MT"/>
                <a:cs typeface="Arial MT"/>
              </a:rPr>
              <a:t> </a:t>
            </a:r>
            <a:r>
              <a:rPr lang="en-GB" sz="1800" spc="-10" dirty="0">
                <a:solidFill>
                  <a:srgbClr val="080912"/>
                </a:solidFill>
                <a:latin typeface="Arial MT"/>
                <a:cs typeface="Arial MT"/>
              </a:rPr>
              <a:t>is </a:t>
            </a:r>
            <a:r>
              <a:rPr lang="en-GB" sz="1800" spc="-245" dirty="0">
                <a:solidFill>
                  <a:srgbClr val="080912"/>
                </a:solidFill>
                <a:latin typeface="Arial MT"/>
                <a:cs typeface="Arial MT"/>
              </a:rPr>
              <a:t> </a:t>
            </a:r>
            <a:r>
              <a:rPr lang="en-GB" sz="1800" spc="-10" dirty="0">
                <a:solidFill>
                  <a:srgbClr val="080912"/>
                </a:solidFill>
                <a:latin typeface="Arial MT"/>
                <a:cs typeface="Arial MT"/>
              </a:rPr>
              <a:t>proportional</a:t>
            </a:r>
            <a:r>
              <a:rPr lang="en-GB" sz="1800" spc="-24" dirty="0">
                <a:solidFill>
                  <a:srgbClr val="080912"/>
                </a:solidFill>
                <a:latin typeface="Arial MT"/>
                <a:cs typeface="Arial MT"/>
              </a:rPr>
              <a:t> </a:t>
            </a:r>
            <a:r>
              <a:rPr lang="en-GB" sz="1800" spc="-7" dirty="0">
                <a:solidFill>
                  <a:srgbClr val="080912"/>
                </a:solidFill>
                <a:latin typeface="Arial MT"/>
                <a:cs typeface="Arial MT"/>
              </a:rPr>
              <a:t>to</a:t>
            </a:r>
            <a:r>
              <a:rPr lang="en-GB" sz="1800" spc="-20" dirty="0">
                <a:solidFill>
                  <a:srgbClr val="080912"/>
                </a:solidFill>
                <a:latin typeface="Arial MT"/>
                <a:cs typeface="Arial MT"/>
              </a:rPr>
              <a:t> </a:t>
            </a:r>
            <a:r>
              <a:rPr lang="en-GB" sz="1800" spc="-14" dirty="0">
                <a:solidFill>
                  <a:srgbClr val="080912"/>
                </a:solidFill>
                <a:latin typeface="Arial MT"/>
                <a:cs typeface="Arial MT"/>
              </a:rPr>
              <a:t>the</a:t>
            </a:r>
            <a:r>
              <a:rPr lang="en-GB" sz="1800" spc="-20" dirty="0">
                <a:solidFill>
                  <a:srgbClr val="080912"/>
                </a:solidFill>
                <a:latin typeface="Arial MT"/>
                <a:cs typeface="Arial MT"/>
              </a:rPr>
              <a:t> </a:t>
            </a:r>
            <a:r>
              <a:rPr lang="en-GB" sz="1800" spc="-10" dirty="0">
                <a:solidFill>
                  <a:srgbClr val="080912"/>
                </a:solidFill>
                <a:latin typeface="Arial MT"/>
                <a:cs typeface="Arial MT"/>
              </a:rPr>
              <a:t>input.</a:t>
            </a:r>
          </a:p>
          <a:p>
            <a:pPr marL="8659">
              <a:spcBef>
                <a:spcPts val="72"/>
              </a:spcBef>
            </a:pPr>
            <a:r>
              <a:rPr lang="en-GB" sz="1800" spc="-10" dirty="0">
                <a:solidFill>
                  <a:srgbClr val="080912"/>
                </a:solidFill>
                <a:latin typeface="Arial MT"/>
                <a:cs typeface="Arial MT"/>
              </a:rPr>
              <a:t>However,</a:t>
            </a:r>
            <a:r>
              <a:rPr lang="en-GB" sz="1800" spc="-24" dirty="0">
                <a:solidFill>
                  <a:srgbClr val="080912"/>
                </a:solidFill>
                <a:latin typeface="Arial MT"/>
                <a:cs typeface="Arial MT"/>
              </a:rPr>
              <a:t> </a:t>
            </a:r>
            <a:r>
              <a:rPr lang="en-GB" sz="1800" dirty="0">
                <a:solidFill>
                  <a:srgbClr val="080912"/>
                </a:solidFill>
                <a:latin typeface="Arial MT"/>
                <a:cs typeface="Arial MT"/>
              </a:rPr>
              <a:t>a</a:t>
            </a:r>
            <a:r>
              <a:rPr lang="en-GB" sz="1800" spc="-24" dirty="0">
                <a:solidFill>
                  <a:srgbClr val="080912"/>
                </a:solidFill>
                <a:latin typeface="Arial MT"/>
                <a:cs typeface="Arial MT"/>
              </a:rPr>
              <a:t> </a:t>
            </a:r>
            <a:r>
              <a:rPr lang="en-GB" sz="1800" spc="-10" dirty="0">
                <a:solidFill>
                  <a:srgbClr val="080912"/>
                </a:solidFill>
                <a:latin typeface="Arial MT"/>
                <a:cs typeface="Arial MT"/>
              </a:rPr>
              <a:t>linear</a:t>
            </a:r>
            <a:r>
              <a:rPr lang="en-GB" sz="1800" spc="-14" dirty="0">
                <a:solidFill>
                  <a:srgbClr val="080912"/>
                </a:solidFill>
                <a:latin typeface="Arial MT"/>
                <a:cs typeface="Arial MT"/>
              </a:rPr>
              <a:t> activation</a:t>
            </a:r>
            <a:r>
              <a:rPr lang="en-GB" sz="1800" spc="-17" dirty="0">
                <a:solidFill>
                  <a:srgbClr val="080912"/>
                </a:solidFill>
                <a:latin typeface="Arial MT"/>
                <a:cs typeface="Arial MT"/>
              </a:rPr>
              <a:t> </a:t>
            </a:r>
            <a:r>
              <a:rPr lang="en-GB" sz="1800" spc="-10" dirty="0">
                <a:solidFill>
                  <a:srgbClr val="080912"/>
                </a:solidFill>
                <a:latin typeface="Arial MT"/>
                <a:cs typeface="Arial MT"/>
              </a:rPr>
              <a:t>function</a:t>
            </a:r>
            <a:r>
              <a:rPr lang="en-GB" sz="1800" spc="-24" dirty="0">
                <a:solidFill>
                  <a:srgbClr val="080912"/>
                </a:solidFill>
                <a:latin typeface="Arial MT"/>
                <a:cs typeface="Arial MT"/>
              </a:rPr>
              <a:t> </a:t>
            </a:r>
            <a:r>
              <a:rPr lang="en-GB" sz="1800" spc="-10" dirty="0">
                <a:solidFill>
                  <a:srgbClr val="080912"/>
                </a:solidFill>
                <a:latin typeface="Arial MT"/>
                <a:cs typeface="Arial MT"/>
              </a:rPr>
              <a:t>has</a:t>
            </a:r>
            <a:r>
              <a:rPr lang="en-GB" sz="1800" spc="-20" dirty="0">
                <a:solidFill>
                  <a:srgbClr val="080912"/>
                </a:solidFill>
                <a:latin typeface="Arial MT"/>
                <a:cs typeface="Arial MT"/>
              </a:rPr>
              <a:t> </a:t>
            </a:r>
            <a:r>
              <a:rPr lang="en-GB" sz="1800" spc="-10" dirty="0">
                <a:solidFill>
                  <a:srgbClr val="080912"/>
                </a:solidFill>
                <a:latin typeface="Arial MT"/>
                <a:cs typeface="Arial MT"/>
              </a:rPr>
              <a:t>two</a:t>
            </a:r>
            <a:r>
              <a:rPr lang="en-GB" sz="1800" spc="-17" dirty="0">
                <a:solidFill>
                  <a:srgbClr val="080912"/>
                </a:solidFill>
                <a:latin typeface="Arial MT"/>
                <a:cs typeface="Arial MT"/>
              </a:rPr>
              <a:t> </a:t>
            </a:r>
            <a:r>
              <a:rPr lang="en-GB" sz="1800" spc="-14" dirty="0">
                <a:solidFill>
                  <a:srgbClr val="080912"/>
                </a:solidFill>
                <a:latin typeface="Arial MT"/>
                <a:cs typeface="Arial MT"/>
              </a:rPr>
              <a:t>major problems </a:t>
            </a:r>
            <a:r>
              <a:rPr lang="en-GB" sz="1800" dirty="0">
                <a:solidFill>
                  <a:srgbClr val="080912"/>
                </a:solidFill>
                <a:latin typeface="Arial MT"/>
                <a:cs typeface="Arial MT"/>
              </a:rPr>
              <a:t>:</a:t>
            </a:r>
            <a:endParaRPr lang="en-GB" sz="1800" dirty="0">
              <a:latin typeface="Arial MT"/>
              <a:cs typeface="Arial MT"/>
            </a:endParaRPr>
          </a:p>
          <a:p>
            <a:pPr marL="320378" marR="452858" indent="-156292">
              <a:lnSpc>
                <a:spcPct val="116300"/>
              </a:lnSpc>
              <a:spcBef>
                <a:spcPts val="508"/>
              </a:spcBef>
              <a:buSzPct val="74074"/>
              <a:buFont typeface="Symbol"/>
              <a:buChar char=""/>
              <a:tabLst>
                <a:tab pos="320378" algn="l"/>
                <a:tab pos="320810" algn="l"/>
              </a:tabLst>
            </a:pPr>
            <a:r>
              <a:rPr lang="en-GB" sz="1800" spc="-3" dirty="0">
                <a:solidFill>
                  <a:srgbClr val="080912"/>
                </a:solidFill>
                <a:latin typeface="Arial MT"/>
                <a:cs typeface="Arial MT"/>
              </a:rPr>
              <a:t>It’s </a:t>
            </a:r>
            <a:r>
              <a:rPr lang="en-GB" sz="1800" dirty="0">
                <a:solidFill>
                  <a:srgbClr val="080912"/>
                </a:solidFill>
                <a:latin typeface="Arial MT"/>
                <a:cs typeface="Arial MT"/>
              </a:rPr>
              <a:t>not</a:t>
            </a:r>
            <a:r>
              <a:rPr lang="en-GB" sz="1800" spc="-7" dirty="0">
                <a:solidFill>
                  <a:srgbClr val="080912"/>
                </a:solidFill>
                <a:latin typeface="Arial MT"/>
                <a:cs typeface="Arial MT"/>
              </a:rPr>
              <a:t> </a:t>
            </a:r>
            <a:r>
              <a:rPr lang="en-GB" sz="1800" spc="-3" dirty="0">
                <a:solidFill>
                  <a:srgbClr val="080912"/>
                </a:solidFill>
                <a:latin typeface="Arial MT"/>
                <a:cs typeface="Arial MT"/>
              </a:rPr>
              <a:t>possible</a:t>
            </a:r>
            <a:r>
              <a:rPr lang="en-GB" sz="1800" dirty="0">
                <a:solidFill>
                  <a:srgbClr val="080912"/>
                </a:solidFill>
                <a:latin typeface="Arial MT"/>
                <a:cs typeface="Arial MT"/>
              </a:rPr>
              <a:t> </a:t>
            </a:r>
            <a:r>
              <a:rPr lang="en-GB" sz="1800" spc="-3" dirty="0">
                <a:solidFill>
                  <a:srgbClr val="080912"/>
                </a:solidFill>
                <a:latin typeface="Arial MT"/>
                <a:cs typeface="Arial MT"/>
              </a:rPr>
              <a:t>to</a:t>
            </a:r>
            <a:r>
              <a:rPr lang="en-GB" sz="1800" dirty="0">
                <a:solidFill>
                  <a:srgbClr val="080912"/>
                </a:solidFill>
                <a:latin typeface="Arial MT"/>
                <a:cs typeface="Arial MT"/>
              </a:rPr>
              <a:t> </a:t>
            </a:r>
            <a:r>
              <a:rPr lang="en-GB" sz="1800" spc="-3" dirty="0">
                <a:solidFill>
                  <a:srgbClr val="080912"/>
                </a:solidFill>
                <a:latin typeface="Arial MT"/>
                <a:cs typeface="Arial MT"/>
              </a:rPr>
              <a:t>use</a:t>
            </a:r>
            <a:r>
              <a:rPr lang="en-GB" sz="1800" dirty="0">
                <a:solidFill>
                  <a:srgbClr val="080912"/>
                </a:solidFill>
                <a:latin typeface="Arial MT"/>
                <a:cs typeface="Arial MT"/>
              </a:rPr>
              <a:t> </a:t>
            </a:r>
            <a:r>
              <a:rPr lang="en-GB" sz="1800" spc="-3" dirty="0">
                <a:solidFill>
                  <a:srgbClr val="080912"/>
                </a:solidFill>
                <a:latin typeface="Arial MT"/>
                <a:cs typeface="Arial MT"/>
              </a:rPr>
              <a:t>backpropagation</a:t>
            </a:r>
            <a:r>
              <a:rPr lang="en-GB" sz="1800" spc="-10" dirty="0">
                <a:solidFill>
                  <a:srgbClr val="080912"/>
                </a:solidFill>
                <a:latin typeface="Arial MT"/>
                <a:cs typeface="Arial MT"/>
              </a:rPr>
              <a:t> </a:t>
            </a:r>
            <a:r>
              <a:rPr lang="en-GB" sz="1800" dirty="0">
                <a:solidFill>
                  <a:srgbClr val="080912"/>
                </a:solidFill>
                <a:latin typeface="Arial MT"/>
                <a:cs typeface="Arial MT"/>
              </a:rPr>
              <a:t>as </a:t>
            </a:r>
            <a:r>
              <a:rPr lang="en-GB" sz="1800" spc="-3" dirty="0">
                <a:solidFill>
                  <a:srgbClr val="080912"/>
                </a:solidFill>
                <a:latin typeface="Arial MT"/>
                <a:cs typeface="Arial MT"/>
              </a:rPr>
              <a:t>the</a:t>
            </a:r>
            <a:r>
              <a:rPr lang="en-GB" sz="1800" dirty="0">
                <a:solidFill>
                  <a:srgbClr val="080912"/>
                </a:solidFill>
                <a:latin typeface="Arial MT"/>
                <a:cs typeface="Arial MT"/>
              </a:rPr>
              <a:t> </a:t>
            </a:r>
            <a:r>
              <a:rPr lang="en-GB" sz="1800" spc="-3" dirty="0">
                <a:solidFill>
                  <a:srgbClr val="080912"/>
                </a:solidFill>
                <a:latin typeface="Arial MT"/>
                <a:cs typeface="Arial MT"/>
              </a:rPr>
              <a:t>derivative</a:t>
            </a:r>
            <a:r>
              <a:rPr lang="en-GB" sz="1800" dirty="0">
                <a:solidFill>
                  <a:srgbClr val="080912"/>
                </a:solidFill>
                <a:latin typeface="Arial MT"/>
                <a:cs typeface="Arial MT"/>
              </a:rPr>
              <a:t> of</a:t>
            </a:r>
            <a:r>
              <a:rPr lang="en-GB" sz="1800" spc="-7" dirty="0">
                <a:solidFill>
                  <a:srgbClr val="080912"/>
                </a:solidFill>
                <a:latin typeface="Arial MT"/>
                <a:cs typeface="Arial MT"/>
              </a:rPr>
              <a:t> </a:t>
            </a:r>
            <a:r>
              <a:rPr lang="en-GB" sz="1800" spc="-3" dirty="0">
                <a:solidFill>
                  <a:srgbClr val="080912"/>
                </a:solidFill>
                <a:latin typeface="Arial MT"/>
                <a:cs typeface="Arial MT"/>
              </a:rPr>
              <a:t>the function</a:t>
            </a:r>
            <a:r>
              <a:rPr lang="en-GB" sz="1800" dirty="0">
                <a:solidFill>
                  <a:srgbClr val="080912"/>
                </a:solidFill>
                <a:latin typeface="Arial MT"/>
                <a:cs typeface="Arial MT"/>
              </a:rPr>
              <a:t> </a:t>
            </a:r>
            <a:r>
              <a:rPr lang="en-GB" sz="1800" spc="-3" dirty="0">
                <a:solidFill>
                  <a:srgbClr val="080912"/>
                </a:solidFill>
                <a:latin typeface="Arial MT"/>
                <a:cs typeface="Arial MT"/>
              </a:rPr>
              <a:t>is </a:t>
            </a:r>
            <a:r>
              <a:rPr lang="en-GB" sz="1800" dirty="0">
                <a:solidFill>
                  <a:srgbClr val="080912"/>
                </a:solidFill>
                <a:latin typeface="Arial MT"/>
                <a:cs typeface="Arial MT"/>
              </a:rPr>
              <a:t>a </a:t>
            </a:r>
            <a:r>
              <a:rPr lang="en-GB" sz="1800" spc="-245" dirty="0">
                <a:solidFill>
                  <a:srgbClr val="080912"/>
                </a:solidFill>
                <a:latin typeface="Arial MT"/>
                <a:cs typeface="Arial MT"/>
              </a:rPr>
              <a:t> </a:t>
            </a:r>
            <a:r>
              <a:rPr lang="en-GB" sz="1800" spc="-3" dirty="0">
                <a:solidFill>
                  <a:srgbClr val="080912"/>
                </a:solidFill>
                <a:latin typeface="Arial MT"/>
                <a:cs typeface="Arial MT"/>
              </a:rPr>
              <a:t>constant</a:t>
            </a:r>
            <a:r>
              <a:rPr lang="en-GB" sz="1800" spc="-7" dirty="0">
                <a:solidFill>
                  <a:srgbClr val="080912"/>
                </a:solidFill>
                <a:latin typeface="Arial MT"/>
                <a:cs typeface="Arial MT"/>
              </a:rPr>
              <a:t> </a:t>
            </a:r>
            <a:r>
              <a:rPr lang="en-GB" sz="1800" spc="-3" dirty="0">
                <a:solidFill>
                  <a:srgbClr val="080912"/>
                </a:solidFill>
                <a:latin typeface="Arial MT"/>
                <a:cs typeface="Arial MT"/>
              </a:rPr>
              <a:t>and</a:t>
            </a:r>
            <a:r>
              <a:rPr lang="en-GB" sz="1800" dirty="0">
                <a:solidFill>
                  <a:srgbClr val="080912"/>
                </a:solidFill>
                <a:latin typeface="Arial MT"/>
                <a:cs typeface="Arial MT"/>
              </a:rPr>
              <a:t> </a:t>
            </a:r>
            <a:r>
              <a:rPr lang="en-GB" sz="1800" spc="-3" dirty="0">
                <a:solidFill>
                  <a:srgbClr val="080912"/>
                </a:solidFill>
                <a:latin typeface="Arial MT"/>
                <a:cs typeface="Arial MT"/>
              </a:rPr>
              <a:t>has</a:t>
            </a:r>
            <a:r>
              <a:rPr lang="en-GB" sz="1800" dirty="0">
                <a:solidFill>
                  <a:srgbClr val="080912"/>
                </a:solidFill>
                <a:latin typeface="Arial MT"/>
                <a:cs typeface="Arial MT"/>
              </a:rPr>
              <a:t> </a:t>
            </a:r>
            <a:r>
              <a:rPr lang="en-GB" sz="1800" spc="-3" dirty="0">
                <a:solidFill>
                  <a:srgbClr val="080912"/>
                </a:solidFill>
                <a:latin typeface="Arial MT"/>
                <a:cs typeface="Arial MT"/>
              </a:rPr>
              <a:t>no</a:t>
            </a:r>
            <a:r>
              <a:rPr lang="en-GB" sz="1800" spc="-10" dirty="0">
                <a:solidFill>
                  <a:srgbClr val="080912"/>
                </a:solidFill>
                <a:latin typeface="Arial MT"/>
                <a:cs typeface="Arial MT"/>
              </a:rPr>
              <a:t> </a:t>
            </a:r>
            <a:r>
              <a:rPr lang="en-GB" sz="1800" dirty="0">
                <a:solidFill>
                  <a:srgbClr val="080912"/>
                </a:solidFill>
                <a:latin typeface="Arial MT"/>
                <a:cs typeface="Arial MT"/>
              </a:rPr>
              <a:t>relation </a:t>
            </a:r>
            <a:r>
              <a:rPr lang="en-GB" sz="1800" spc="-3" dirty="0">
                <a:solidFill>
                  <a:srgbClr val="080912"/>
                </a:solidFill>
                <a:latin typeface="Arial MT"/>
                <a:cs typeface="Arial MT"/>
              </a:rPr>
              <a:t>to</a:t>
            </a:r>
            <a:r>
              <a:rPr lang="en-GB" sz="1800" dirty="0">
                <a:solidFill>
                  <a:srgbClr val="080912"/>
                </a:solidFill>
                <a:latin typeface="Arial MT"/>
                <a:cs typeface="Arial MT"/>
              </a:rPr>
              <a:t> </a:t>
            </a:r>
            <a:r>
              <a:rPr lang="en-GB" sz="1800" spc="-3" dirty="0">
                <a:solidFill>
                  <a:srgbClr val="080912"/>
                </a:solidFill>
                <a:latin typeface="Arial MT"/>
                <a:cs typeface="Arial MT"/>
              </a:rPr>
              <a:t>the input</a:t>
            </a:r>
            <a:r>
              <a:rPr lang="en-GB" sz="1800" spc="-7" dirty="0">
                <a:solidFill>
                  <a:srgbClr val="080912"/>
                </a:solidFill>
                <a:latin typeface="Arial MT"/>
                <a:cs typeface="Arial MT"/>
              </a:rPr>
              <a:t> </a:t>
            </a:r>
            <a:r>
              <a:rPr lang="en-GB" sz="1800" dirty="0">
                <a:solidFill>
                  <a:srgbClr val="080912"/>
                </a:solidFill>
                <a:latin typeface="Arial MT"/>
                <a:cs typeface="Arial MT"/>
              </a:rPr>
              <a:t>x.</a:t>
            </a:r>
            <a:endParaRPr lang="en-GB" sz="1800" dirty="0">
              <a:latin typeface="Arial MT"/>
              <a:cs typeface="Arial MT"/>
            </a:endParaRPr>
          </a:p>
          <a:p>
            <a:pPr marL="320378" marR="38965" indent="-156292">
              <a:lnSpc>
                <a:spcPct val="115999"/>
              </a:lnSpc>
              <a:spcBef>
                <a:spcPts val="494"/>
              </a:spcBef>
              <a:buSzPct val="74074"/>
              <a:buFont typeface="Symbol"/>
              <a:buChar char=""/>
              <a:tabLst>
                <a:tab pos="320378" algn="l"/>
                <a:tab pos="320810" algn="l"/>
              </a:tabLst>
            </a:pPr>
            <a:r>
              <a:rPr lang="en-GB" sz="1800" dirty="0">
                <a:solidFill>
                  <a:srgbClr val="080912"/>
                </a:solidFill>
                <a:latin typeface="Arial MT"/>
                <a:cs typeface="Arial MT"/>
              </a:rPr>
              <a:t>All layers</a:t>
            </a:r>
            <a:r>
              <a:rPr lang="en-GB" sz="1800" spc="3" dirty="0">
                <a:solidFill>
                  <a:srgbClr val="080912"/>
                </a:solidFill>
                <a:latin typeface="Arial MT"/>
                <a:cs typeface="Arial MT"/>
              </a:rPr>
              <a:t> </a:t>
            </a:r>
            <a:r>
              <a:rPr lang="en-GB" sz="1800" dirty="0">
                <a:solidFill>
                  <a:srgbClr val="080912"/>
                </a:solidFill>
                <a:latin typeface="Arial MT"/>
                <a:cs typeface="Arial MT"/>
              </a:rPr>
              <a:t>of </a:t>
            </a:r>
            <a:r>
              <a:rPr lang="en-GB" sz="1800" spc="-3" dirty="0">
                <a:solidFill>
                  <a:srgbClr val="080912"/>
                </a:solidFill>
                <a:latin typeface="Arial MT"/>
                <a:cs typeface="Arial MT"/>
              </a:rPr>
              <a:t>the</a:t>
            </a:r>
            <a:r>
              <a:rPr lang="en-GB" sz="1800" dirty="0">
                <a:solidFill>
                  <a:srgbClr val="080912"/>
                </a:solidFill>
                <a:latin typeface="Arial MT"/>
                <a:cs typeface="Arial MT"/>
              </a:rPr>
              <a:t> </a:t>
            </a:r>
            <a:r>
              <a:rPr lang="en-GB" sz="1800" spc="-3" dirty="0">
                <a:solidFill>
                  <a:srgbClr val="080912"/>
                </a:solidFill>
                <a:latin typeface="Arial MT"/>
                <a:cs typeface="Arial MT"/>
              </a:rPr>
              <a:t>neural</a:t>
            </a:r>
            <a:r>
              <a:rPr lang="en-GB" sz="1800" spc="7" dirty="0">
                <a:solidFill>
                  <a:srgbClr val="080912"/>
                </a:solidFill>
                <a:latin typeface="Arial MT"/>
                <a:cs typeface="Arial MT"/>
              </a:rPr>
              <a:t> </a:t>
            </a:r>
            <a:r>
              <a:rPr lang="en-GB" sz="1800" spc="-3" dirty="0">
                <a:solidFill>
                  <a:srgbClr val="080912"/>
                </a:solidFill>
                <a:latin typeface="Arial MT"/>
                <a:cs typeface="Arial MT"/>
              </a:rPr>
              <a:t>network</a:t>
            </a:r>
            <a:r>
              <a:rPr lang="en-GB" sz="1800" spc="3" dirty="0">
                <a:solidFill>
                  <a:srgbClr val="080912"/>
                </a:solidFill>
                <a:latin typeface="Arial MT"/>
                <a:cs typeface="Arial MT"/>
              </a:rPr>
              <a:t> </a:t>
            </a:r>
            <a:r>
              <a:rPr lang="en-GB" sz="1800" dirty="0">
                <a:solidFill>
                  <a:srgbClr val="080912"/>
                </a:solidFill>
                <a:latin typeface="Arial MT"/>
                <a:cs typeface="Arial MT"/>
              </a:rPr>
              <a:t>will</a:t>
            </a:r>
            <a:r>
              <a:rPr lang="en-GB" sz="1800" spc="-7" dirty="0">
                <a:solidFill>
                  <a:srgbClr val="080912"/>
                </a:solidFill>
                <a:latin typeface="Arial MT"/>
                <a:cs typeface="Arial MT"/>
              </a:rPr>
              <a:t> </a:t>
            </a:r>
            <a:r>
              <a:rPr lang="en-GB" sz="1800" spc="-3" dirty="0">
                <a:solidFill>
                  <a:srgbClr val="080912"/>
                </a:solidFill>
                <a:latin typeface="Arial MT"/>
                <a:cs typeface="Arial MT"/>
              </a:rPr>
              <a:t>collapse</a:t>
            </a:r>
            <a:r>
              <a:rPr lang="en-GB" sz="1800" dirty="0">
                <a:solidFill>
                  <a:srgbClr val="080912"/>
                </a:solidFill>
                <a:latin typeface="Arial MT"/>
                <a:cs typeface="Arial MT"/>
              </a:rPr>
              <a:t> into</a:t>
            </a:r>
            <a:r>
              <a:rPr lang="en-GB" sz="1800" spc="3" dirty="0">
                <a:solidFill>
                  <a:srgbClr val="080912"/>
                </a:solidFill>
                <a:latin typeface="Arial MT"/>
                <a:cs typeface="Arial MT"/>
              </a:rPr>
              <a:t> </a:t>
            </a:r>
            <a:r>
              <a:rPr lang="en-GB" sz="1800" spc="-3" dirty="0">
                <a:solidFill>
                  <a:srgbClr val="080912"/>
                </a:solidFill>
                <a:latin typeface="Arial MT"/>
                <a:cs typeface="Arial MT"/>
              </a:rPr>
              <a:t>one</a:t>
            </a:r>
            <a:r>
              <a:rPr lang="en-GB" sz="1800" dirty="0">
                <a:solidFill>
                  <a:srgbClr val="080912"/>
                </a:solidFill>
                <a:latin typeface="Arial MT"/>
                <a:cs typeface="Arial MT"/>
              </a:rPr>
              <a:t> if a</a:t>
            </a:r>
            <a:r>
              <a:rPr lang="en-GB" sz="1800" spc="3" dirty="0">
                <a:solidFill>
                  <a:srgbClr val="080912"/>
                </a:solidFill>
                <a:latin typeface="Arial MT"/>
                <a:cs typeface="Arial MT"/>
              </a:rPr>
              <a:t> </a:t>
            </a:r>
            <a:r>
              <a:rPr lang="en-GB" sz="1800" spc="-3" dirty="0">
                <a:solidFill>
                  <a:srgbClr val="080912"/>
                </a:solidFill>
                <a:latin typeface="Arial MT"/>
                <a:cs typeface="Arial MT"/>
              </a:rPr>
              <a:t>linear</a:t>
            </a:r>
            <a:r>
              <a:rPr lang="en-GB" sz="1800" spc="7" dirty="0">
                <a:solidFill>
                  <a:srgbClr val="080912"/>
                </a:solidFill>
                <a:latin typeface="Arial MT"/>
                <a:cs typeface="Arial MT"/>
              </a:rPr>
              <a:t> </a:t>
            </a:r>
            <a:r>
              <a:rPr lang="en-GB" sz="1800" spc="-3" dirty="0">
                <a:solidFill>
                  <a:srgbClr val="080912"/>
                </a:solidFill>
                <a:latin typeface="Arial MT"/>
                <a:cs typeface="Arial MT"/>
              </a:rPr>
              <a:t>activation</a:t>
            </a:r>
            <a:r>
              <a:rPr lang="en-GB" sz="1800" dirty="0">
                <a:solidFill>
                  <a:srgbClr val="080912"/>
                </a:solidFill>
                <a:latin typeface="Arial MT"/>
                <a:cs typeface="Arial MT"/>
              </a:rPr>
              <a:t> </a:t>
            </a:r>
            <a:r>
              <a:rPr lang="en-GB" sz="1800" spc="-3" dirty="0">
                <a:solidFill>
                  <a:srgbClr val="080912"/>
                </a:solidFill>
                <a:latin typeface="Arial MT"/>
                <a:cs typeface="Arial MT"/>
              </a:rPr>
              <a:t>function</a:t>
            </a:r>
            <a:r>
              <a:rPr lang="en-GB" sz="1800" spc="7" dirty="0">
                <a:solidFill>
                  <a:srgbClr val="080912"/>
                </a:solidFill>
                <a:latin typeface="Arial MT"/>
                <a:cs typeface="Arial MT"/>
              </a:rPr>
              <a:t> </a:t>
            </a:r>
            <a:r>
              <a:rPr lang="en-GB" sz="1800" dirty="0">
                <a:solidFill>
                  <a:srgbClr val="080912"/>
                </a:solidFill>
                <a:latin typeface="Arial MT"/>
                <a:cs typeface="Arial MT"/>
              </a:rPr>
              <a:t>is </a:t>
            </a:r>
            <a:r>
              <a:rPr lang="en-GB" sz="1800" spc="3" dirty="0">
                <a:solidFill>
                  <a:srgbClr val="080912"/>
                </a:solidFill>
                <a:latin typeface="Arial MT"/>
                <a:cs typeface="Arial MT"/>
              </a:rPr>
              <a:t> </a:t>
            </a:r>
            <a:r>
              <a:rPr lang="en-GB" sz="1800" dirty="0">
                <a:solidFill>
                  <a:srgbClr val="080912"/>
                </a:solidFill>
                <a:latin typeface="Arial MT"/>
                <a:cs typeface="Arial MT"/>
              </a:rPr>
              <a:t>used.</a:t>
            </a:r>
            <a:r>
              <a:rPr lang="en-GB" sz="1800" spc="-3" dirty="0">
                <a:solidFill>
                  <a:srgbClr val="080912"/>
                </a:solidFill>
                <a:latin typeface="Arial MT"/>
                <a:cs typeface="Arial MT"/>
              </a:rPr>
              <a:t> No</a:t>
            </a:r>
            <a:r>
              <a:rPr lang="en-GB" sz="1800" spc="7" dirty="0">
                <a:solidFill>
                  <a:srgbClr val="080912"/>
                </a:solidFill>
                <a:latin typeface="Arial MT"/>
                <a:cs typeface="Arial MT"/>
              </a:rPr>
              <a:t> </a:t>
            </a:r>
            <a:r>
              <a:rPr lang="en-GB" sz="1800" spc="-3" dirty="0">
                <a:solidFill>
                  <a:srgbClr val="080912"/>
                </a:solidFill>
                <a:latin typeface="Arial MT"/>
                <a:cs typeface="Arial MT"/>
              </a:rPr>
              <a:t>matter</a:t>
            </a:r>
            <a:r>
              <a:rPr lang="en-GB" sz="1800" spc="7" dirty="0">
                <a:solidFill>
                  <a:srgbClr val="080912"/>
                </a:solidFill>
                <a:latin typeface="Arial MT"/>
                <a:cs typeface="Arial MT"/>
              </a:rPr>
              <a:t> </a:t>
            </a:r>
            <a:r>
              <a:rPr lang="en-GB" sz="1800" spc="-3" dirty="0">
                <a:solidFill>
                  <a:srgbClr val="080912"/>
                </a:solidFill>
                <a:latin typeface="Arial MT"/>
                <a:cs typeface="Arial MT"/>
              </a:rPr>
              <a:t>the number</a:t>
            </a:r>
            <a:r>
              <a:rPr lang="en-GB" sz="1800" dirty="0">
                <a:solidFill>
                  <a:srgbClr val="080912"/>
                </a:solidFill>
                <a:latin typeface="Arial MT"/>
                <a:cs typeface="Arial MT"/>
              </a:rPr>
              <a:t> of </a:t>
            </a:r>
            <a:r>
              <a:rPr lang="en-GB" sz="1800" spc="-3" dirty="0">
                <a:solidFill>
                  <a:srgbClr val="080912"/>
                </a:solidFill>
                <a:latin typeface="Arial MT"/>
                <a:cs typeface="Arial MT"/>
              </a:rPr>
              <a:t>layers</a:t>
            </a:r>
            <a:r>
              <a:rPr lang="en-GB" sz="1800" spc="7" dirty="0">
                <a:solidFill>
                  <a:srgbClr val="080912"/>
                </a:solidFill>
                <a:latin typeface="Arial MT"/>
                <a:cs typeface="Arial MT"/>
              </a:rPr>
              <a:t> </a:t>
            </a:r>
            <a:r>
              <a:rPr lang="en-GB" sz="1800" dirty="0">
                <a:solidFill>
                  <a:srgbClr val="080912"/>
                </a:solidFill>
                <a:latin typeface="Arial MT"/>
                <a:cs typeface="Arial MT"/>
              </a:rPr>
              <a:t>in</a:t>
            </a:r>
            <a:r>
              <a:rPr lang="en-GB" sz="1800" spc="7" dirty="0">
                <a:solidFill>
                  <a:srgbClr val="080912"/>
                </a:solidFill>
                <a:latin typeface="Arial MT"/>
                <a:cs typeface="Arial MT"/>
              </a:rPr>
              <a:t> </a:t>
            </a:r>
            <a:r>
              <a:rPr lang="en-GB" sz="1800" spc="-7" dirty="0">
                <a:solidFill>
                  <a:srgbClr val="080912"/>
                </a:solidFill>
                <a:latin typeface="Arial MT"/>
                <a:cs typeface="Arial MT"/>
              </a:rPr>
              <a:t>the</a:t>
            </a:r>
            <a:r>
              <a:rPr lang="en-GB" sz="1800" dirty="0">
                <a:solidFill>
                  <a:srgbClr val="080912"/>
                </a:solidFill>
                <a:latin typeface="Arial MT"/>
                <a:cs typeface="Arial MT"/>
              </a:rPr>
              <a:t> </a:t>
            </a:r>
            <a:r>
              <a:rPr lang="en-GB" sz="1800" spc="-3" dirty="0">
                <a:solidFill>
                  <a:srgbClr val="080912"/>
                </a:solidFill>
                <a:latin typeface="Arial MT"/>
                <a:cs typeface="Arial MT"/>
              </a:rPr>
              <a:t>neural</a:t>
            </a:r>
            <a:r>
              <a:rPr lang="en-GB" sz="1800" spc="7" dirty="0">
                <a:solidFill>
                  <a:srgbClr val="080912"/>
                </a:solidFill>
                <a:latin typeface="Arial MT"/>
                <a:cs typeface="Arial MT"/>
              </a:rPr>
              <a:t> </a:t>
            </a:r>
            <a:r>
              <a:rPr lang="en-GB" sz="1800" spc="-3" dirty="0">
                <a:solidFill>
                  <a:srgbClr val="080912"/>
                </a:solidFill>
                <a:latin typeface="Arial MT"/>
                <a:cs typeface="Arial MT"/>
              </a:rPr>
              <a:t>network,</a:t>
            </a:r>
            <a:r>
              <a:rPr lang="en-GB" sz="1800" dirty="0">
                <a:solidFill>
                  <a:srgbClr val="080912"/>
                </a:solidFill>
                <a:latin typeface="Arial MT"/>
                <a:cs typeface="Arial MT"/>
              </a:rPr>
              <a:t> </a:t>
            </a:r>
            <a:r>
              <a:rPr lang="en-GB" sz="1800" spc="-3" dirty="0">
                <a:solidFill>
                  <a:srgbClr val="080912"/>
                </a:solidFill>
                <a:latin typeface="Arial MT"/>
                <a:cs typeface="Arial MT"/>
              </a:rPr>
              <a:t>the</a:t>
            </a:r>
            <a:r>
              <a:rPr lang="en-GB" sz="1800" spc="3" dirty="0">
                <a:solidFill>
                  <a:srgbClr val="080912"/>
                </a:solidFill>
                <a:latin typeface="Arial MT"/>
                <a:cs typeface="Arial MT"/>
              </a:rPr>
              <a:t> </a:t>
            </a:r>
            <a:r>
              <a:rPr lang="en-GB" sz="1800" spc="-3" dirty="0">
                <a:solidFill>
                  <a:srgbClr val="080912"/>
                </a:solidFill>
                <a:latin typeface="Arial MT"/>
                <a:cs typeface="Arial MT"/>
              </a:rPr>
              <a:t>last </a:t>
            </a:r>
            <a:r>
              <a:rPr lang="en-GB" sz="1800" dirty="0">
                <a:solidFill>
                  <a:srgbClr val="080912"/>
                </a:solidFill>
                <a:latin typeface="Arial MT"/>
                <a:cs typeface="Arial MT"/>
              </a:rPr>
              <a:t>layer</a:t>
            </a:r>
            <a:r>
              <a:rPr lang="en-GB" sz="1800" spc="-3" dirty="0">
                <a:solidFill>
                  <a:srgbClr val="080912"/>
                </a:solidFill>
                <a:latin typeface="Arial MT"/>
                <a:cs typeface="Arial MT"/>
              </a:rPr>
              <a:t> </a:t>
            </a:r>
            <a:r>
              <a:rPr lang="en-GB" sz="1800" dirty="0">
                <a:solidFill>
                  <a:srgbClr val="080912"/>
                </a:solidFill>
                <a:latin typeface="Arial MT"/>
                <a:cs typeface="Arial MT"/>
              </a:rPr>
              <a:t>will </a:t>
            </a:r>
            <a:r>
              <a:rPr lang="en-GB" sz="1800" spc="-3" dirty="0">
                <a:solidFill>
                  <a:srgbClr val="080912"/>
                </a:solidFill>
                <a:latin typeface="Arial MT"/>
                <a:cs typeface="Arial MT"/>
              </a:rPr>
              <a:t>still</a:t>
            </a:r>
            <a:r>
              <a:rPr lang="en-GB" sz="1800" spc="-10" dirty="0">
                <a:solidFill>
                  <a:srgbClr val="080912"/>
                </a:solidFill>
                <a:latin typeface="Arial MT"/>
                <a:cs typeface="Arial MT"/>
              </a:rPr>
              <a:t> </a:t>
            </a:r>
            <a:r>
              <a:rPr lang="en-GB" sz="1800" dirty="0">
                <a:solidFill>
                  <a:srgbClr val="080912"/>
                </a:solidFill>
                <a:latin typeface="Arial MT"/>
                <a:cs typeface="Arial MT"/>
              </a:rPr>
              <a:t>be </a:t>
            </a:r>
            <a:r>
              <a:rPr lang="en-GB" sz="1800" spc="-245" dirty="0">
                <a:solidFill>
                  <a:srgbClr val="080912"/>
                </a:solidFill>
                <a:latin typeface="Arial MT"/>
                <a:cs typeface="Arial MT"/>
              </a:rPr>
              <a:t> </a:t>
            </a:r>
            <a:r>
              <a:rPr lang="en-GB" sz="1800" dirty="0">
                <a:solidFill>
                  <a:srgbClr val="080912"/>
                </a:solidFill>
                <a:latin typeface="Arial MT"/>
                <a:cs typeface="Arial MT"/>
              </a:rPr>
              <a:t>a</a:t>
            </a:r>
            <a:r>
              <a:rPr lang="en-GB" sz="1800" spc="10" dirty="0">
                <a:solidFill>
                  <a:srgbClr val="080912"/>
                </a:solidFill>
                <a:latin typeface="Arial MT"/>
                <a:cs typeface="Arial MT"/>
              </a:rPr>
              <a:t> </a:t>
            </a:r>
            <a:r>
              <a:rPr lang="en-GB" sz="1800" spc="-3" dirty="0">
                <a:solidFill>
                  <a:srgbClr val="080912"/>
                </a:solidFill>
                <a:latin typeface="Arial MT"/>
                <a:cs typeface="Arial MT"/>
              </a:rPr>
              <a:t>linear</a:t>
            </a:r>
            <a:r>
              <a:rPr lang="en-GB" sz="1800" spc="7" dirty="0">
                <a:solidFill>
                  <a:srgbClr val="080912"/>
                </a:solidFill>
                <a:latin typeface="Arial MT"/>
                <a:cs typeface="Arial MT"/>
              </a:rPr>
              <a:t> </a:t>
            </a:r>
            <a:r>
              <a:rPr lang="en-GB" sz="1800" spc="-3" dirty="0">
                <a:solidFill>
                  <a:srgbClr val="080912"/>
                </a:solidFill>
                <a:latin typeface="Arial MT"/>
                <a:cs typeface="Arial MT"/>
              </a:rPr>
              <a:t>function</a:t>
            </a:r>
            <a:r>
              <a:rPr lang="en-GB" sz="1800" spc="14" dirty="0">
                <a:solidFill>
                  <a:srgbClr val="080912"/>
                </a:solidFill>
                <a:latin typeface="Arial MT"/>
                <a:cs typeface="Arial MT"/>
              </a:rPr>
              <a:t> </a:t>
            </a:r>
            <a:r>
              <a:rPr lang="en-GB" sz="1800" dirty="0">
                <a:solidFill>
                  <a:srgbClr val="080912"/>
                </a:solidFill>
                <a:latin typeface="Arial MT"/>
                <a:cs typeface="Arial MT"/>
              </a:rPr>
              <a:t>of</a:t>
            </a:r>
            <a:r>
              <a:rPr lang="en-GB" sz="1800" spc="3" dirty="0">
                <a:solidFill>
                  <a:srgbClr val="080912"/>
                </a:solidFill>
                <a:latin typeface="Arial MT"/>
                <a:cs typeface="Arial MT"/>
              </a:rPr>
              <a:t> </a:t>
            </a:r>
            <a:r>
              <a:rPr lang="en-GB" sz="1800" spc="-3" dirty="0">
                <a:solidFill>
                  <a:srgbClr val="080912"/>
                </a:solidFill>
                <a:latin typeface="Arial MT"/>
                <a:cs typeface="Arial MT"/>
              </a:rPr>
              <a:t>the</a:t>
            </a:r>
            <a:r>
              <a:rPr lang="en-GB" sz="1800" spc="10" dirty="0">
                <a:solidFill>
                  <a:srgbClr val="080912"/>
                </a:solidFill>
                <a:latin typeface="Arial MT"/>
                <a:cs typeface="Arial MT"/>
              </a:rPr>
              <a:t> </a:t>
            </a:r>
            <a:r>
              <a:rPr lang="en-GB" sz="1800" spc="-3" dirty="0">
                <a:solidFill>
                  <a:srgbClr val="080912"/>
                </a:solidFill>
                <a:latin typeface="Arial MT"/>
                <a:cs typeface="Arial MT"/>
              </a:rPr>
              <a:t>first</a:t>
            </a:r>
            <a:r>
              <a:rPr lang="en-GB" sz="1800" spc="3" dirty="0">
                <a:solidFill>
                  <a:srgbClr val="080912"/>
                </a:solidFill>
                <a:latin typeface="Arial MT"/>
                <a:cs typeface="Arial MT"/>
              </a:rPr>
              <a:t> </a:t>
            </a:r>
            <a:r>
              <a:rPr lang="en-GB" sz="1800" dirty="0">
                <a:solidFill>
                  <a:srgbClr val="080912"/>
                </a:solidFill>
                <a:latin typeface="Arial MT"/>
                <a:cs typeface="Arial MT"/>
              </a:rPr>
              <a:t>layer.</a:t>
            </a:r>
            <a:r>
              <a:rPr lang="en-GB" sz="1800" spc="7" dirty="0">
                <a:solidFill>
                  <a:srgbClr val="080912"/>
                </a:solidFill>
                <a:latin typeface="Arial MT"/>
                <a:cs typeface="Arial MT"/>
              </a:rPr>
              <a:t> </a:t>
            </a:r>
            <a:r>
              <a:rPr lang="en-GB" sz="1800" dirty="0">
                <a:solidFill>
                  <a:srgbClr val="080912"/>
                </a:solidFill>
                <a:latin typeface="Arial MT"/>
                <a:cs typeface="Arial MT"/>
              </a:rPr>
              <a:t>So,</a:t>
            </a:r>
            <a:r>
              <a:rPr lang="en-GB" sz="1800" spc="3" dirty="0">
                <a:solidFill>
                  <a:srgbClr val="080912"/>
                </a:solidFill>
                <a:latin typeface="Arial MT"/>
                <a:cs typeface="Arial MT"/>
              </a:rPr>
              <a:t> </a:t>
            </a:r>
            <a:r>
              <a:rPr lang="en-GB" sz="1800" spc="-3" dirty="0">
                <a:solidFill>
                  <a:srgbClr val="080912"/>
                </a:solidFill>
                <a:latin typeface="Arial MT"/>
                <a:cs typeface="Arial MT"/>
              </a:rPr>
              <a:t>essentially,</a:t>
            </a:r>
            <a:r>
              <a:rPr lang="en-GB" sz="1800" spc="7" dirty="0">
                <a:solidFill>
                  <a:srgbClr val="080912"/>
                </a:solidFill>
                <a:latin typeface="Arial MT"/>
                <a:cs typeface="Arial MT"/>
              </a:rPr>
              <a:t> </a:t>
            </a:r>
            <a:r>
              <a:rPr lang="en-GB" sz="1800" dirty="0">
                <a:solidFill>
                  <a:srgbClr val="080912"/>
                </a:solidFill>
                <a:latin typeface="Arial MT"/>
                <a:cs typeface="Arial MT"/>
              </a:rPr>
              <a:t>a</a:t>
            </a:r>
            <a:r>
              <a:rPr lang="en-GB" sz="1800" spc="10" dirty="0">
                <a:solidFill>
                  <a:srgbClr val="080912"/>
                </a:solidFill>
                <a:latin typeface="Arial MT"/>
                <a:cs typeface="Arial MT"/>
              </a:rPr>
              <a:t> </a:t>
            </a:r>
            <a:r>
              <a:rPr lang="en-GB" sz="1800" spc="-3" dirty="0">
                <a:solidFill>
                  <a:srgbClr val="080912"/>
                </a:solidFill>
                <a:latin typeface="Arial MT"/>
                <a:cs typeface="Arial MT"/>
              </a:rPr>
              <a:t>linear</a:t>
            </a:r>
            <a:r>
              <a:rPr lang="en-GB" sz="1800" spc="10" dirty="0">
                <a:solidFill>
                  <a:srgbClr val="080912"/>
                </a:solidFill>
                <a:latin typeface="Arial MT"/>
                <a:cs typeface="Arial MT"/>
              </a:rPr>
              <a:t> </a:t>
            </a:r>
            <a:r>
              <a:rPr lang="en-GB" sz="1800" spc="-3" dirty="0">
                <a:solidFill>
                  <a:srgbClr val="080912"/>
                </a:solidFill>
                <a:latin typeface="Arial MT"/>
                <a:cs typeface="Arial MT"/>
              </a:rPr>
              <a:t>activation</a:t>
            </a:r>
            <a:r>
              <a:rPr lang="en-GB" sz="1800" spc="10" dirty="0">
                <a:solidFill>
                  <a:srgbClr val="080912"/>
                </a:solidFill>
                <a:latin typeface="Arial MT"/>
                <a:cs typeface="Arial MT"/>
              </a:rPr>
              <a:t> </a:t>
            </a:r>
            <a:r>
              <a:rPr lang="en-GB" sz="1800" spc="-3" dirty="0">
                <a:solidFill>
                  <a:srgbClr val="080912"/>
                </a:solidFill>
                <a:latin typeface="Arial MT"/>
                <a:cs typeface="Arial MT"/>
              </a:rPr>
              <a:t>function</a:t>
            </a:r>
            <a:r>
              <a:rPr lang="en-GB" sz="1800" spc="10" dirty="0">
                <a:solidFill>
                  <a:srgbClr val="080912"/>
                </a:solidFill>
                <a:latin typeface="Arial MT"/>
                <a:cs typeface="Arial MT"/>
              </a:rPr>
              <a:t> </a:t>
            </a:r>
            <a:r>
              <a:rPr lang="en-GB" sz="1800" spc="-3" dirty="0">
                <a:solidFill>
                  <a:srgbClr val="080912"/>
                </a:solidFill>
                <a:latin typeface="Arial MT"/>
                <a:cs typeface="Arial MT"/>
              </a:rPr>
              <a:t>turns </a:t>
            </a:r>
            <a:r>
              <a:rPr lang="en-GB" sz="1800" dirty="0">
                <a:solidFill>
                  <a:srgbClr val="080912"/>
                </a:solidFill>
                <a:latin typeface="Arial MT"/>
                <a:cs typeface="Arial MT"/>
              </a:rPr>
              <a:t> </a:t>
            </a:r>
            <a:r>
              <a:rPr lang="en-GB" sz="1800" spc="-3" dirty="0">
                <a:solidFill>
                  <a:srgbClr val="080912"/>
                </a:solidFill>
                <a:latin typeface="Arial MT"/>
                <a:cs typeface="Arial MT"/>
              </a:rPr>
              <a:t>the neural</a:t>
            </a:r>
            <a:r>
              <a:rPr lang="en-GB" sz="1800" dirty="0">
                <a:solidFill>
                  <a:srgbClr val="080912"/>
                </a:solidFill>
                <a:latin typeface="Arial MT"/>
                <a:cs typeface="Arial MT"/>
              </a:rPr>
              <a:t> </a:t>
            </a:r>
            <a:r>
              <a:rPr lang="en-GB" sz="1800" spc="-3" dirty="0">
                <a:solidFill>
                  <a:srgbClr val="080912"/>
                </a:solidFill>
                <a:latin typeface="Arial MT"/>
                <a:cs typeface="Arial MT"/>
              </a:rPr>
              <a:t>network</a:t>
            </a:r>
            <a:r>
              <a:rPr lang="en-GB" sz="1800" dirty="0">
                <a:solidFill>
                  <a:srgbClr val="080912"/>
                </a:solidFill>
                <a:latin typeface="Arial MT"/>
                <a:cs typeface="Arial MT"/>
              </a:rPr>
              <a:t> </a:t>
            </a:r>
            <a:r>
              <a:rPr lang="en-GB" sz="1800" spc="-3" dirty="0">
                <a:solidFill>
                  <a:srgbClr val="080912"/>
                </a:solidFill>
                <a:latin typeface="Arial MT"/>
                <a:cs typeface="Arial MT"/>
              </a:rPr>
              <a:t>into just</a:t>
            </a:r>
            <a:r>
              <a:rPr lang="en-GB" sz="1800" spc="-7" dirty="0">
                <a:solidFill>
                  <a:srgbClr val="080912"/>
                </a:solidFill>
                <a:latin typeface="Arial MT"/>
                <a:cs typeface="Arial MT"/>
              </a:rPr>
              <a:t> </a:t>
            </a:r>
            <a:r>
              <a:rPr lang="en-GB" sz="1800" dirty="0">
                <a:solidFill>
                  <a:srgbClr val="080912"/>
                </a:solidFill>
                <a:latin typeface="Arial MT"/>
                <a:cs typeface="Arial MT"/>
              </a:rPr>
              <a:t>one </a:t>
            </a:r>
            <a:r>
              <a:rPr lang="en-GB" sz="1800" spc="-3" dirty="0">
                <a:solidFill>
                  <a:srgbClr val="080912"/>
                </a:solidFill>
                <a:latin typeface="Arial MT"/>
                <a:cs typeface="Arial MT"/>
              </a:rPr>
              <a:t>layer.</a:t>
            </a:r>
            <a:endParaRPr lang="en-GB" sz="1800" dirty="0">
              <a:latin typeface="Arial MT"/>
              <a:cs typeface="Arial MT"/>
            </a:endParaRPr>
          </a:p>
          <a:p>
            <a:pPr marL="8659" marR="3464">
              <a:lnSpc>
                <a:spcPct val="143700"/>
              </a:lnSpc>
              <a:spcBef>
                <a:spcPts val="406"/>
              </a:spcBef>
            </a:pPr>
            <a:endParaRPr lang="en-GB" sz="1800" dirty="0">
              <a:latin typeface="Arial MT"/>
              <a:cs typeface="Arial MT"/>
            </a:endParaRPr>
          </a:p>
        </p:txBody>
      </p:sp>
      <p:pic>
        <p:nvPicPr>
          <p:cNvPr id="10" name="object 3"/>
          <p:cNvPicPr/>
          <p:nvPr/>
        </p:nvPicPr>
        <p:blipFill>
          <a:blip r:embed="rId3" cstate="print"/>
          <a:stretch>
            <a:fillRect/>
          </a:stretch>
        </p:blipFill>
        <p:spPr>
          <a:xfrm>
            <a:off x="9690942" y="1659617"/>
            <a:ext cx="1552142" cy="1487199"/>
          </a:xfrm>
          <a:prstGeom prst="rect">
            <a:avLst/>
          </a:prstGeom>
        </p:spPr>
      </p:pic>
      <p:sp>
        <p:nvSpPr>
          <p:cNvPr id="2" name="Slide Number Placeholder 1">
            <a:extLst>
              <a:ext uri="{FF2B5EF4-FFF2-40B4-BE49-F238E27FC236}">
                <a16:creationId xmlns:a16="http://schemas.microsoft.com/office/drawing/2014/main" id="{54F91D4B-1E0E-23E0-589B-FE1EA180B7AA}"/>
              </a:ext>
            </a:extLst>
          </p:cNvPr>
          <p:cNvSpPr>
            <a:spLocks noGrp="1"/>
          </p:cNvSpPr>
          <p:nvPr>
            <p:ph type="sldNum" sz="quarter" idx="12"/>
          </p:nvPr>
        </p:nvSpPr>
        <p:spPr/>
        <p:txBody>
          <a:bodyPr/>
          <a:lstStyle/>
          <a:p>
            <a:fld id="{9CD9A578-84A4-4247-B01E-A84B9E2DF7BB}" type="slidenum">
              <a:rPr lang="en-PK" smtClean="0"/>
              <a:t>4</a:t>
            </a:fld>
            <a:endParaRPr lang="en-PK"/>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C1C7D7-8DA7-F9D0-6316-0F58DD91CA89}"/>
              </a:ext>
            </a:extLst>
          </p:cNvPr>
          <p:cNvSpPr>
            <a:spLocks noGrp="1"/>
          </p:cNvSpPr>
          <p:nvPr>
            <p:ph type="title"/>
          </p:nvPr>
        </p:nvSpPr>
        <p:spPr>
          <a:xfrm>
            <a:off x="681273" y="596683"/>
            <a:ext cx="9875520" cy="813017"/>
          </a:xfrm>
        </p:spPr>
        <p:txBody>
          <a:bodyPr>
            <a:normAutofit fontScale="90000"/>
          </a:bodyPr>
          <a:lstStyle/>
          <a:p>
            <a:r>
              <a:rPr lang="en-GB" sz="4400" spc="-31" dirty="0">
                <a:solidFill>
                  <a:srgbClr val="1F1F1F"/>
                </a:solidFill>
                <a:latin typeface="Arial MT"/>
                <a:cs typeface="Arial MT"/>
              </a:rPr>
              <a:t>N</a:t>
            </a:r>
            <a:r>
              <a:rPr lang="en-GB" sz="4400" spc="-34" dirty="0">
                <a:solidFill>
                  <a:srgbClr val="1F1F1F"/>
                </a:solidFill>
                <a:latin typeface="Arial MT"/>
                <a:cs typeface="Arial MT"/>
              </a:rPr>
              <a:t>o</a:t>
            </a:r>
            <a:r>
              <a:rPr lang="en-GB" sz="4400" spc="-31" dirty="0">
                <a:solidFill>
                  <a:srgbClr val="1F1F1F"/>
                </a:solidFill>
                <a:latin typeface="Arial MT"/>
                <a:cs typeface="Arial MT"/>
              </a:rPr>
              <a:t>n</a:t>
            </a:r>
            <a:r>
              <a:rPr lang="en-GB" sz="4400" spc="-27" dirty="0">
                <a:solidFill>
                  <a:srgbClr val="1F1F1F"/>
                </a:solidFill>
                <a:latin typeface="Arial MT"/>
                <a:cs typeface="Arial MT"/>
              </a:rPr>
              <a:t>-</a:t>
            </a:r>
            <a:r>
              <a:rPr lang="en-GB" sz="4400" spc="-34" dirty="0">
                <a:solidFill>
                  <a:srgbClr val="1F1F1F"/>
                </a:solidFill>
                <a:latin typeface="Arial MT"/>
                <a:cs typeface="Arial MT"/>
              </a:rPr>
              <a:t>L</a:t>
            </a:r>
            <a:r>
              <a:rPr lang="en-GB" sz="4400" spc="-31" dirty="0">
                <a:solidFill>
                  <a:srgbClr val="1F1F1F"/>
                </a:solidFill>
                <a:latin typeface="Arial MT"/>
                <a:cs typeface="Arial MT"/>
              </a:rPr>
              <a:t>i</a:t>
            </a:r>
            <a:r>
              <a:rPr lang="en-GB" sz="4400" spc="-34" dirty="0">
                <a:solidFill>
                  <a:srgbClr val="1F1F1F"/>
                </a:solidFill>
                <a:latin typeface="Arial MT"/>
                <a:cs typeface="Arial MT"/>
              </a:rPr>
              <a:t>nea</a:t>
            </a:r>
            <a:r>
              <a:rPr lang="en-GB" sz="4400" dirty="0">
                <a:solidFill>
                  <a:srgbClr val="1F1F1F"/>
                </a:solidFill>
                <a:latin typeface="Arial MT"/>
                <a:cs typeface="Arial MT"/>
              </a:rPr>
              <a:t>r</a:t>
            </a:r>
            <a:r>
              <a:rPr lang="en-GB" sz="4400" spc="-48" dirty="0">
                <a:solidFill>
                  <a:srgbClr val="1F1F1F"/>
                </a:solidFill>
                <a:latin typeface="Arial MT"/>
                <a:cs typeface="Arial MT"/>
              </a:rPr>
              <a:t> </a:t>
            </a:r>
            <a:r>
              <a:rPr lang="en-GB" sz="4400" spc="-27" dirty="0">
                <a:solidFill>
                  <a:srgbClr val="1F1F1F"/>
                </a:solidFill>
                <a:latin typeface="Arial MT"/>
                <a:cs typeface="Arial MT"/>
              </a:rPr>
              <a:t>A</a:t>
            </a:r>
            <a:r>
              <a:rPr lang="en-GB" sz="4400" spc="-34" dirty="0">
                <a:solidFill>
                  <a:srgbClr val="1F1F1F"/>
                </a:solidFill>
                <a:latin typeface="Arial MT"/>
                <a:cs typeface="Arial MT"/>
              </a:rPr>
              <a:t>c</a:t>
            </a:r>
            <a:r>
              <a:rPr lang="en-GB" sz="4400" spc="-24" dirty="0">
                <a:solidFill>
                  <a:srgbClr val="1F1F1F"/>
                </a:solidFill>
                <a:latin typeface="Arial MT"/>
                <a:cs typeface="Arial MT"/>
              </a:rPr>
              <a:t>t</a:t>
            </a:r>
            <a:r>
              <a:rPr lang="en-GB" sz="4400" spc="-41" dirty="0">
                <a:solidFill>
                  <a:srgbClr val="1F1F1F"/>
                </a:solidFill>
                <a:latin typeface="Arial MT"/>
                <a:cs typeface="Arial MT"/>
              </a:rPr>
              <a:t>i</a:t>
            </a:r>
            <a:r>
              <a:rPr lang="en-GB" sz="4400" spc="-27" dirty="0">
                <a:solidFill>
                  <a:srgbClr val="1F1F1F"/>
                </a:solidFill>
                <a:latin typeface="Arial MT"/>
                <a:cs typeface="Arial MT"/>
              </a:rPr>
              <a:t>v</a:t>
            </a:r>
            <a:r>
              <a:rPr lang="en-GB" sz="4400" spc="-34" dirty="0">
                <a:solidFill>
                  <a:srgbClr val="1F1F1F"/>
                </a:solidFill>
                <a:latin typeface="Arial MT"/>
                <a:cs typeface="Arial MT"/>
              </a:rPr>
              <a:t>a</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34" dirty="0">
                <a:solidFill>
                  <a:srgbClr val="1F1F1F"/>
                </a:solidFill>
                <a:latin typeface="Arial MT"/>
                <a:cs typeface="Arial MT"/>
              </a:rPr>
              <a:t>o</a:t>
            </a:r>
            <a:r>
              <a:rPr lang="en-GB" sz="4400" spc="-3" dirty="0">
                <a:solidFill>
                  <a:srgbClr val="1F1F1F"/>
                </a:solidFill>
                <a:latin typeface="Arial MT"/>
                <a:cs typeface="Arial MT"/>
              </a:rPr>
              <a:t>n</a:t>
            </a:r>
            <a:r>
              <a:rPr lang="en-GB" sz="4400" spc="-61" dirty="0">
                <a:solidFill>
                  <a:srgbClr val="1F1F1F"/>
                </a:solidFill>
                <a:latin typeface="Arial MT"/>
                <a:cs typeface="Arial MT"/>
              </a:rPr>
              <a:t> </a:t>
            </a:r>
            <a:r>
              <a:rPr lang="en-GB" sz="4400" spc="-24" dirty="0">
                <a:solidFill>
                  <a:srgbClr val="1F1F1F"/>
                </a:solidFill>
                <a:latin typeface="Arial MT"/>
                <a:cs typeface="Arial MT"/>
              </a:rPr>
              <a:t>F</a:t>
            </a:r>
            <a:r>
              <a:rPr lang="en-GB" sz="4400" spc="-34" dirty="0">
                <a:solidFill>
                  <a:srgbClr val="1F1F1F"/>
                </a:solidFill>
                <a:latin typeface="Arial MT"/>
                <a:cs typeface="Arial MT"/>
              </a:rPr>
              <a:t>unc</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34" dirty="0">
                <a:solidFill>
                  <a:srgbClr val="1F1F1F"/>
                </a:solidFill>
                <a:latin typeface="Arial MT"/>
                <a:cs typeface="Arial MT"/>
              </a:rPr>
              <a:t>o</a:t>
            </a:r>
            <a:r>
              <a:rPr lang="en-GB" sz="4400" spc="-41" dirty="0">
                <a:solidFill>
                  <a:srgbClr val="1F1F1F"/>
                </a:solidFill>
                <a:latin typeface="Arial MT"/>
                <a:cs typeface="Arial MT"/>
              </a:rPr>
              <a:t>n</a:t>
            </a:r>
            <a:r>
              <a:rPr lang="en-GB" sz="4400" dirty="0">
                <a:solidFill>
                  <a:srgbClr val="1F1F1F"/>
                </a:solidFill>
                <a:latin typeface="Arial MT"/>
                <a:cs typeface="Arial MT"/>
              </a:rPr>
              <a:t>s</a:t>
            </a:r>
            <a:br>
              <a:rPr lang="en-GB" sz="4400" dirty="0">
                <a:latin typeface="Arial MT"/>
                <a:cs typeface="Arial MT"/>
              </a:rPr>
            </a:br>
            <a:endParaRPr lang="en-PK" dirty="0"/>
          </a:p>
        </p:txBody>
      </p:sp>
      <p:sp>
        <p:nvSpPr>
          <p:cNvPr id="5" name="Content Placeholder 4">
            <a:extLst>
              <a:ext uri="{FF2B5EF4-FFF2-40B4-BE49-F238E27FC236}">
                <a16:creationId xmlns:a16="http://schemas.microsoft.com/office/drawing/2014/main" id="{B545BC36-8C24-DC78-817C-4CA013E36FE0}"/>
              </a:ext>
            </a:extLst>
          </p:cNvPr>
          <p:cNvSpPr>
            <a:spLocks noGrp="1"/>
          </p:cNvSpPr>
          <p:nvPr>
            <p:ph idx="1"/>
          </p:nvPr>
        </p:nvSpPr>
        <p:spPr>
          <a:xfrm>
            <a:off x="762754" y="1409700"/>
            <a:ext cx="9872871" cy="4038600"/>
          </a:xfrm>
        </p:spPr>
        <p:txBody>
          <a:bodyPr>
            <a:normAutofit fontScale="85000" lnSpcReduction="10000"/>
          </a:bodyPr>
          <a:lstStyle/>
          <a:p>
            <a:pPr marL="8659">
              <a:spcBef>
                <a:spcPts val="886"/>
              </a:spcBef>
            </a:pPr>
            <a:r>
              <a:rPr lang="en-GB" sz="2400" spc="-7"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linear</a:t>
            </a:r>
            <a:r>
              <a:rPr lang="en-GB" sz="2400" spc="-24"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24" dirty="0">
                <a:solidFill>
                  <a:srgbClr val="080912"/>
                </a:solidFill>
                <a:latin typeface="Arial MT"/>
                <a:cs typeface="Arial MT"/>
              </a:rPr>
              <a:t> </a:t>
            </a:r>
            <a:r>
              <a:rPr lang="en-GB" sz="2400" spc="-10" dirty="0">
                <a:solidFill>
                  <a:srgbClr val="080912"/>
                </a:solidFill>
                <a:latin typeface="Arial MT"/>
                <a:cs typeface="Arial MT"/>
              </a:rPr>
              <a:t>function</a:t>
            </a:r>
            <a:r>
              <a:rPr lang="en-GB" sz="2400" spc="-27" dirty="0">
                <a:solidFill>
                  <a:srgbClr val="080912"/>
                </a:solidFill>
                <a:latin typeface="Arial MT"/>
                <a:cs typeface="Arial MT"/>
              </a:rPr>
              <a:t> </a:t>
            </a:r>
            <a:r>
              <a:rPr lang="en-GB" sz="2400" spc="-10" dirty="0">
                <a:solidFill>
                  <a:srgbClr val="080912"/>
                </a:solidFill>
                <a:latin typeface="Arial MT"/>
                <a:cs typeface="Arial MT"/>
              </a:rPr>
              <a:t>shown</a:t>
            </a:r>
            <a:r>
              <a:rPr lang="en-GB" sz="2400" spc="-27" dirty="0">
                <a:solidFill>
                  <a:srgbClr val="080912"/>
                </a:solidFill>
                <a:latin typeface="Arial MT"/>
                <a:cs typeface="Arial MT"/>
              </a:rPr>
              <a:t> </a:t>
            </a:r>
            <a:r>
              <a:rPr lang="en-GB" sz="2400" spc="-10" dirty="0">
                <a:solidFill>
                  <a:srgbClr val="080912"/>
                </a:solidFill>
                <a:latin typeface="Arial MT"/>
                <a:cs typeface="Arial MT"/>
              </a:rPr>
              <a:t>above</a:t>
            </a:r>
            <a:r>
              <a:rPr lang="en-GB" sz="2400" spc="-17" dirty="0">
                <a:solidFill>
                  <a:srgbClr val="080912"/>
                </a:solidFill>
                <a:latin typeface="Arial MT"/>
                <a:cs typeface="Arial MT"/>
              </a:rPr>
              <a:t> </a:t>
            </a:r>
            <a:r>
              <a:rPr lang="en-GB" sz="2400" spc="-10" dirty="0">
                <a:solidFill>
                  <a:srgbClr val="080912"/>
                </a:solidFill>
                <a:latin typeface="Arial MT"/>
                <a:cs typeface="Arial MT"/>
              </a:rPr>
              <a:t>is</a:t>
            </a:r>
            <a:r>
              <a:rPr lang="en-GB" sz="2400" spc="-24" dirty="0">
                <a:solidFill>
                  <a:srgbClr val="080912"/>
                </a:solidFill>
                <a:latin typeface="Arial MT"/>
                <a:cs typeface="Arial MT"/>
              </a:rPr>
              <a:t> </a:t>
            </a:r>
            <a:r>
              <a:rPr lang="en-GB" sz="2400" spc="-10" dirty="0">
                <a:solidFill>
                  <a:srgbClr val="080912"/>
                </a:solidFill>
                <a:latin typeface="Arial MT"/>
                <a:cs typeface="Arial MT"/>
              </a:rPr>
              <a:t>simply</a:t>
            </a:r>
            <a:r>
              <a:rPr lang="en-GB" sz="2400" spc="-17" dirty="0">
                <a:solidFill>
                  <a:srgbClr val="080912"/>
                </a:solidFill>
                <a:latin typeface="Arial MT"/>
                <a:cs typeface="Arial MT"/>
              </a:rPr>
              <a:t> </a:t>
            </a:r>
            <a:r>
              <a:rPr lang="en-GB" sz="2400" dirty="0">
                <a:solidFill>
                  <a:srgbClr val="080912"/>
                </a:solidFill>
                <a:latin typeface="Arial MT"/>
                <a:cs typeface="Arial MT"/>
              </a:rPr>
              <a:t>a</a:t>
            </a:r>
            <a:r>
              <a:rPr lang="en-GB" sz="2400" spc="-24" dirty="0">
                <a:solidFill>
                  <a:srgbClr val="080912"/>
                </a:solidFill>
                <a:latin typeface="Arial MT"/>
                <a:cs typeface="Arial MT"/>
              </a:rPr>
              <a:t> </a:t>
            </a:r>
            <a:r>
              <a:rPr lang="en-GB" sz="2400" spc="-14" dirty="0">
                <a:solidFill>
                  <a:srgbClr val="080912"/>
                </a:solidFill>
                <a:latin typeface="Arial MT"/>
                <a:cs typeface="Arial MT"/>
              </a:rPr>
              <a:t>linear</a:t>
            </a:r>
            <a:r>
              <a:rPr lang="en-GB" sz="2400" spc="-17" dirty="0">
                <a:solidFill>
                  <a:srgbClr val="080912"/>
                </a:solidFill>
                <a:latin typeface="Arial MT"/>
                <a:cs typeface="Arial MT"/>
              </a:rPr>
              <a:t> </a:t>
            </a:r>
            <a:r>
              <a:rPr lang="en-GB" sz="2400" spc="-10" dirty="0">
                <a:solidFill>
                  <a:srgbClr val="080912"/>
                </a:solidFill>
                <a:latin typeface="Arial MT"/>
                <a:cs typeface="Arial MT"/>
              </a:rPr>
              <a:t>regression</a:t>
            </a:r>
            <a:r>
              <a:rPr lang="en-GB" sz="2400" spc="-27" dirty="0">
                <a:solidFill>
                  <a:srgbClr val="080912"/>
                </a:solidFill>
                <a:latin typeface="Arial MT"/>
                <a:cs typeface="Arial MT"/>
              </a:rPr>
              <a:t> </a:t>
            </a:r>
            <a:r>
              <a:rPr lang="en-GB" sz="2400" spc="-10" dirty="0">
                <a:solidFill>
                  <a:srgbClr val="080912"/>
                </a:solidFill>
                <a:latin typeface="Arial MT"/>
                <a:cs typeface="Arial MT"/>
              </a:rPr>
              <a:t>model.</a:t>
            </a:r>
            <a:endParaRPr lang="en-GB" sz="2400" dirty="0">
              <a:latin typeface="Arial MT"/>
              <a:cs typeface="Arial MT"/>
            </a:endParaRPr>
          </a:p>
          <a:p>
            <a:pPr marL="8659" marR="5195">
              <a:lnSpc>
                <a:spcPct val="143700"/>
              </a:lnSpc>
              <a:spcBef>
                <a:spcPts val="402"/>
              </a:spcBef>
            </a:pPr>
            <a:r>
              <a:rPr lang="en-GB" sz="2400" spc="-10" dirty="0">
                <a:solidFill>
                  <a:srgbClr val="080912"/>
                </a:solidFill>
                <a:latin typeface="Arial MT"/>
                <a:cs typeface="Arial MT"/>
              </a:rPr>
              <a:t>Because</a:t>
            </a:r>
            <a:r>
              <a:rPr lang="en-GB" sz="2400" spc="130" dirty="0">
                <a:solidFill>
                  <a:srgbClr val="080912"/>
                </a:solidFill>
                <a:latin typeface="Arial MT"/>
                <a:cs typeface="Arial MT"/>
              </a:rPr>
              <a:t> </a:t>
            </a:r>
            <a:r>
              <a:rPr lang="en-GB" sz="2400" spc="-3" dirty="0">
                <a:solidFill>
                  <a:srgbClr val="080912"/>
                </a:solidFill>
                <a:latin typeface="Arial MT"/>
                <a:cs typeface="Arial MT"/>
              </a:rPr>
              <a:t>of</a:t>
            </a:r>
            <a:r>
              <a:rPr lang="en-GB" sz="2400" spc="126" dirty="0">
                <a:solidFill>
                  <a:srgbClr val="080912"/>
                </a:solidFill>
                <a:latin typeface="Arial MT"/>
                <a:cs typeface="Arial MT"/>
              </a:rPr>
              <a:t> </a:t>
            </a:r>
            <a:r>
              <a:rPr lang="en-GB" sz="2400" spc="-10" dirty="0">
                <a:solidFill>
                  <a:srgbClr val="080912"/>
                </a:solidFill>
                <a:latin typeface="Arial MT"/>
                <a:cs typeface="Arial MT"/>
              </a:rPr>
              <a:t>its</a:t>
            </a:r>
            <a:r>
              <a:rPr lang="en-GB" sz="2400" spc="133" dirty="0">
                <a:solidFill>
                  <a:srgbClr val="080912"/>
                </a:solidFill>
                <a:latin typeface="Arial MT"/>
                <a:cs typeface="Arial MT"/>
              </a:rPr>
              <a:t> </a:t>
            </a:r>
            <a:r>
              <a:rPr lang="en-GB" sz="2400" spc="-10" dirty="0">
                <a:solidFill>
                  <a:srgbClr val="080912"/>
                </a:solidFill>
                <a:latin typeface="Arial MT"/>
                <a:cs typeface="Arial MT"/>
              </a:rPr>
              <a:t>limited</a:t>
            </a:r>
            <a:r>
              <a:rPr lang="en-GB" sz="2400" spc="123" dirty="0">
                <a:solidFill>
                  <a:srgbClr val="080912"/>
                </a:solidFill>
                <a:latin typeface="Arial MT"/>
                <a:cs typeface="Arial MT"/>
              </a:rPr>
              <a:t> </a:t>
            </a:r>
            <a:r>
              <a:rPr lang="en-GB" sz="2400" spc="-10" dirty="0">
                <a:solidFill>
                  <a:srgbClr val="080912"/>
                </a:solidFill>
                <a:latin typeface="Arial MT"/>
                <a:cs typeface="Arial MT"/>
              </a:rPr>
              <a:t>power,</a:t>
            </a:r>
            <a:r>
              <a:rPr lang="en-GB" sz="2400" spc="126" dirty="0">
                <a:solidFill>
                  <a:srgbClr val="080912"/>
                </a:solidFill>
                <a:latin typeface="Arial MT"/>
                <a:cs typeface="Arial MT"/>
              </a:rPr>
              <a:t> </a:t>
            </a:r>
            <a:r>
              <a:rPr lang="en-GB" sz="2400" spc="-14" dirty="0">
                <a:solidFill>
                  <a:srgbClr val="080912"/>
                </a:solidFill>
                <a:latin typeface="Arial MT"/>
                <a:cs typeface="Arial MT"/>
              </a:rPr>
              <a:t>this</a:t>
            </a:r>
            <a:r>
              <a:rPr lang="en-GB" sz="2400" spc="133" dirty="0">
                <a:solidFill>
                  <a:srgbClr val="080912"/>
                </a:solidFill>
                <a:latin typeface="Arial MT"/>
                <a:cs typeface="Arial MT"/>
              </a:rPr>
              <a:t> </a:t>
            </a:r>
            <a:r>
              <a:rPr lang="en-GB" sz="2400" spc="-10" dirty="0">
                <a:solidFill>
                  <a:srgbClr val="080912"/>
                </a:solidFill>
                <a:latin typeface="Arial MT"/>
                <a:cs typeface="Arial MT"/>
              </a:rPr>
              <a:t>does</a:t>
            </a:r>
            <a:r>
              <a:rPr lang="en-GB" sz="2400" spc="126" dirty="0">
                <a:solidFill>
                  <a:srgbClr val="080912"/>
                </a:solidFill>
                <a:latin typeface="Arial MT"/>
                <a:cs typeface="Arial MT"/>
              </a:rPr>
              <a:t> </a:t>
            </a:r>
            <a:r>
              <a:rPr lang="en-GB" sz="2400" spc="-3" dirty="0">
                <a:solidFill>
                  <a:srgbClr val="080912"/>
                </a:solidFill>
                <a:latin typeface="Arial MT"/>
                <a:cs typeface="Arial MT"/>
              </a:rPr>
              <a:t>not</a:t>
            </a:r>
            <a:r>
              <a:rPr lang="en-GB" sz="2400" spc="116" dirty="0">
                <a:solidFill>
                  <a:srgbClr val="080912"/>
                </a:solidFill>
                <a:latin typeface="Arial MT"/>
                <a:cs typeface="Arial MT"/>
              </a:rPr>
              <a:t> </a:t>
            </a:r>
            <a:r>
              <a:rPr lang="en-GB" sz="2400" spc="-10" dirty="0">
                <a:solidFill>
                  <a:srgbClr val="080912"/>
                </a:solidFill>
                <a:latin typeface="Arial MT"/>
                <a:cs typeface="Arial MT"/>
              </a:rPr>
              <a:t>allow</a:t>
            </a:r>
            <a:r>
              <a:rPr lang="en-GB" sz="2400" spc="133" dirty="0">
                <a:solidFill>
                  <a:srgbClr val="080912"/>
                </a:solidFill>
                <a:latin typeface="Arial MT"/>
                <a:cs typeface="Arial MT"/>
              </a:rPr>
              <a:t> </a:t>
            </a:r>
            <a:r>
              <a:rPr lang="en-GB" sz="2400" spc="-10" dirty="0">
                <a:solidFill>
                  <a:srgbClr val="080912"/>
                </a:solidFill>
                <a:latin typeface="Arial MT"/>
                <a:cs typeface="Arial MT"/>
              </a:rPr>
              <a:t>the</a:t>
            </a:r>
            <a:r>
              <a:rPr lang="en-GB" sz="2400" spc="133" dirty="0">
                <a:solidFill>
                  <a:srgbClr val="080912"/>
                </a:solidFill>
                <a:latin typeface="Arial MT"/>
                <a:cs typeface="Arial MT"/>
              </a:rPr>
              <a:t> </a:t>
            </a:r>
            <a:r>
              <a:rPr lang="en-GB" sz="2400" spc="-10" dirty="0">
                <a:solidFill>
                  <a:srgbClr val="080912"/>
                </a:solidFill>
                <a:latin typeface="Arial MT"/>
                <a:cs typeface="Arial MT"/>
              </a:rPr>
              <a:t>model</a:t>
            </a:r>
            <a:r>
              <a:rPr lang="en-GB" sz="2400" spc="130" dirty="0">
                <a:solidFill>
                  <a:srgbClr val="080912"/>
                </a:solidFill>
                <a:latin typeface="Arial MT"/>
                <a:cs typeface="Arial MT"/>
              </a:rPr>
              <a:t> </a:t>
            </a:r>
            <a:r>
              <a:rPr lang="en-GB" sz="2400" spc="-7" dirty="0">
                <a:solidFill>
                  <a:srgbClr val="080912"/>
                </a:solidFill>
                <a:latin typeface="Arial MT"/>
                <a:cs typeface="Arial MT"/>
              </a:rPr>
              <a:t>to</a:t>
            </a:r>
            <a:r>
              <a:rPr lang="en-GB" sz="2400" spc="123" dirty="0">
                <a:solidFill>
                  <a:srgbClr val="080912"/>
                </a:solidFill>
                <a:latin typeface="Arial MT"/>
                <a:cs typeface="Arial MT"/>
              </a:rPr>
              <a:t> </a:t>
            </a:r>
            <a:r>
              <a:rPr lang="en-GB" sz="2400" spc="-10" dirty="0">
                <a:solidFill>
                  <a:srgbClr val="080912"/>
                </a:solidFill>
                <a:latin typeface="Arial MT"/>
                <a:cs typeface="Arial MT"/>
              </a:rPr>
              <a:t>create</a:t>
            </a:r>
            <a:r>
              <a:rPr lang="en-GB" sz="2400" spc="123" dirty="0">
                <a:solidFill>
                  <a:srgbClr val="080912"/>
                </a:solidFill>
                <a:latin typeface="Arial MT"/>
                <a:cs typeface="Arial MT"/>
              </a:rPr>
              <a:t> </a:t>
            </a:r>
            <a:r>
              <a:rPr lang="en-GB" sz="2400" spc="-10" dirty="0">
                <a:solidFill>
                  <a:srgbClr val="080912"/>
                </a:solidFill>
                <a:latin typeface="Arial MT"/>
                <a:cs typeface="Arial MT"/>
              </a:rPr>
              <a:t>complex</a:t>
            </a:r>
            <a:r>
              <a:rPr lang="en-GB" sz="2400" spc="133" dirty="0">
                <a:solidFill>
                  <a:srgbClr val="080912"/>
                </a:solidFill>
                <a:latin typeface="Arial MT"/>
                <a:cs typeface="Arial MT"/>
              </a:rPr>
              <a:t> </a:t>
            </a:r>
            <a:r>
              <a:rPr lang="en-GB" sz="2400" spc="-14" dirty="0">
                <a:solidFill>
                  <a:srgbClr val="080912"/>
                </a:solidFill>
                <a:latin typeface="Arial MT"/>
                <a:cs typeface="Arial MT"/>
              </a:rPr>
              <a:t>mappings </a:t>
            </a:r>
            <a:r>
              <a:rPr lang="en-GB" sz="2400" spc="-249" dirty="0">
                <a:solidFill>
                  <a:srgbClr val="080912"/>
                </a:solidFill>
                <a:latin typeface="Arial MT"/>
                <a:cs typeface="Arial MT"/>
              </a:rPr>
              <a:t> </a:t>
            </a:r>
            <a:r>
              <a:rPr lang="en-GB" sz="2400" spc="-10" dirty="0">
                <a:solidFill>
                  <a:srgbClr val="080912"/>
                </a:solidFill>
                <a:latin typeface="Arial MT"/>
                <a:cs typeface="Arial MT"/>
              </a:rPr>
              <a:t>between</a:t>
            </a:r>
            <a:r>
              <a:rPr lang="en-GB" sz="2400" spc="-20" dirty="0">
                <a:solidFill>
                  <a:srgbClr val="080912"/>
                </a:solidFill>
                <a:latin typeface="Arial MT"/>
                <a:cs typeface="Arial MT"/>
              </a:rPr>
              <a:t> </a:t>
            </a:r>
            <a:r>
              <a:rPr lang="en-GB" sz="2400" spc="-14" dirty="0">
                <a:solidFill>
                  <a:srgbClr val="080912"/>
                </a:solidFill>
                <a:latin typeface="Arial MT"/>
                <a:cs typeface="Arial MT"/>
              </a:rPr>
              <a:t>the</a:t>
            </a:r>
            <a:r>
              <a:rPr lang="en-GB" sz="2400" spc="-20" dirty="0">
                <a:solidFill>
                  <a:srgbClr val="080912"/>
                </a:solidFill>
                <a:latin typeface="Arial MT"/>
                <a:cs typeface="Arial MT"/>
              </a:rPr>
              <a:t> </a:t>
            </a:r>
            <a:r>
              <a:rPr lang="en-GB" sz="2400" spc="-14" dirty="0">
                <a:solidFill>
                  <a:srgbClr val="080912"/>
                </a:solidFill>
                <a:latin typeface="Arial MT"/>
                <a:cs typeface="Arial MT"/>
              </a:rPr>
              <a:t>network’s</a:t>
            </a:r>
            <a:r>
              <a:rPr lang="en-GB" sz="2400" spc="-17" dirty="0">
                <a:solidFill>
                  <a:srgbClr val="080912"/>
                </a:solidFill>
                <a:latin typeface="Arial MT"/>
                <a:cs typeface="Arial MT"/>
              </a:rPr>
              <a:t> </a:t>
            </a:r>
            <a:r>
              <a:rPr lang="en-GB" sz="2400" spc="-14" dirty="0">
                <a:solidFill>
                  <a:srgbClr val="080912"/>
                </a:solidFill>
                <a:latin typeface="Arial MT"/>
                <a:cs typeface="Arial MT"/>
              </a:rPr>
              <a:t>inputs</a:t>
            </a:r>
            <a:r>
              <a:rPr lang="en-GB" sz="2400" spc="-17" dirty="0">
                <a:solidFill>
                  <a:srgbClr val="080912"/>
                </a:solidFill>
                <a:latin typeface="Arial MT"/>
                <a:cs typeface="Arial MT"/>
              </a:rPr>
              <a:t> </a:t>
            </a:r>
            <a:r>
              <a:rPr lang="en-GB" sz="2400" spc="-10" dirty="0">
                <a:solidFill>
                  <a:srgbClr val="080912"/>
                </a:solidFill>
                <a:latin typeface="Arial MT"/>
                <a:cs typeface="Arial MT"/>
              </a:rPr>
              <a:t>and</a:t>
            </a:r>
            <a:r>
              <a:rPr lang="en-GB" sz="2400" spc="-20" dirty="0">
                <a:solidFill>
                  <a:srgbClr val="080912"/>
                </a:solidFill>
                <a:latin typeface="Arial MT"/>
                <a:cs typeface="Arial MT"/>
              </a:rPr>
              <a:t> </a:t>
            </a:r>
            <a:r>
              <a:rPr lang="en-GB" sz="2400" spc="-10" dirty="0">
                <a:solidFill>
                  <a:srgbClr val="080912"/>
                </a:solidFill>
                <a:latin typeface="Arial MT"/>
                <a:cs typeface="Arial MT"/>
              </a:rPr>
              <a:t>outputs.</a:t>
            </a:r>
            <a:endParaRPr lang="en-GB" sz="2400" dirty="0">
              <a:latin typeface="Arial MT"/>
              <a:cs typeface="Arial MT"/>
            </a:endParaRPr>
          </a:p>
          <a:p>
            <a:pPr marL="8659" algn="just">
              <a:spcBef>
                <a:spcPts val="893"/>
              </a:spcBef>
            </a:pPr>
            <a:r>
              <a:rPr lang="en-GB" sz="2400" spc="-10" dirty="0">
                <a:solidFill>
                  <a:srgbClr val="080912"/>
                </a:solidFill>
                <a:latin typeface="Arial MT"/>
                <a:cs typeface="Arial MT"/>
              </a:rPr>
              <a:t>Non-linear</a:t>
            </a:r>
            <a:r>
              <a:rPr lang="en-GB" sz="2400" spc="-17" dirty="0">
                <a:solidFill>
                  <a:srgbClr val="080912"/>
                </a:solidFill>
                <a:latin typeface="Arial MT"/>
                <a:cs typeface="Arial MT"/>
              </a:rPr>
              <a:t> </a:t>
            </a:r>
            <a:r>
              <a:rPr lang="en-GB" sz="2400" spc="-14" dirty="0">
                <a:solidFill>
                  <a:srgbClr val="080912"/>
                </a:solidFill>
                <a:latin typeface="Arial MT"/>
                <a:cs typeface="Arial MT"/>
              </a:rPr>
              <a:t>activation</a:t>
            </a:r>
            <a:r>
              <a:rPr lang="en-GB" sz="2400" spc="-20" dirty="0">
                <a:solidFill>
                  <a:srgbClr val="080912"/>
                </a:solidFill>
                <a:latin typeface="Arial MT"/>
                <a:cs typeface="Arial MT"/>
              </a:rPr>
              <a:t> </a:t>
            </a:r>
            <a:r>
              <a:rPr lang="en-GB" sz="2400" spc="-14" dirty="0">
                <a:solidFill>
                  <a:srgbClr val="080912"/>
                </a:solidFill>
                <a:latin typeface="Arial MT"/>
                <a:cs typeface="Arial MT"/>
              </a:rPr>
              <a:t>functions</a:t>
            </a:r>
            <a:r>
              <a:rPr lang="en-GB" sz="2400" spc="-17" dirty="0">
                <a:solidFill>
                  <a:srgbClr val="080912"/>
                </a:solidFill>
                <a:latin typeface="Arial MT"/>
                <a:cs typeface="Arial MT"/>
              </a:rPr>
              <a:t> </a:t>
            </a:r>
            <a:r>
              <a:rPr lang="en-GB" sz="2400" spc="-10" dirty="0">
                <a:solidFill>
                  <a:srgbClr val="080912"/>
                </a:solidFill>
                <a:latin typeface="Arial MT"/>
                <a:cs typeface="Arial MT"/>
              </a:rPr>
              <a:t>solve</a:t>
            </a:r>
            <a:r>
              <a:rPr lang="en-GB" sz="2400" spc="-14" dirty="0">
                <a:solidFill>
                  <a:srgbClr val="080912"/>
                </a:solidFill>
                <a:latin typeface="Arial MT"/>
                <a:cs typeface="Arial MT"/>
              </a:rPr>
              <a:t> </a:t>
            </a:r>
            <a:r>
              <a:rPr lang="en-GB" sz="2400" spc="-10" dirty="0">
                <a:solidFill>
                  <a:srgbClr val="080912"/>
                </a:solidFill>
                <a:latin typeface="Arial MT"/>
                <a:cs typeface="Arial MT"/>
              </a:rPr>
              <a:t>the following</a:t>
            </a:r>
            <a:r>
              <a:rPr lang="en-GB" sz="2400" spc="-20" dirty="0">
                <a:solidFill>
                  <a:srgbClr val="080912"/>
                </a:solidFill>
                <a:latin typeface="Arial MT"/>
                <a:cs typeface="Arial MT"/>
              </a:rPr>
              <a:t> </a:t>
            </a:r>
            <a:r>
              <a:rPr lang="en-GB" sz="2400" spc="-14" dirty="0">
                <a:solidFill>
                  <a:srgbClr val="080912"/>
                </a:solidFill>
                <a:latin typeface="Arial MT"/>
                <a:cs typeface="Arial MT"/>
              </a:rPr>
              <a:t>limitations</a:t>
            </a:r>
            <a:r>
              <a:rPr lang="en-GB" sz="2400" spc="-17" dirty="0">
                <a:solidFill>
                  <a:srgbClr val="080912"/>
                </a:solidFill>
                <a:latin typeface="Arial MT"/>
                <a:cs typeface="Arial MT"/>
              </a:rPr>
              <a:t> </a:t>
            </a:r>
            <a:r>
              <a:rPr lang="en-GB" sz="2400" spc="-7" dirty="0">
                <a:solidFill>
                  <a:srgbClr val="080912"/>
                </a:solidFill>
                <a:latin typeface="Arial MT"/>
                <a:cs typeface="Arial MT"/>
              </a:rPr>
              <a:t>of</a:t>
            </a:r>
            <a:r>
              <a:rPr lang="en-GB" sz="2400" spc="-17" dirty="0">
                <a:solidFill>
                  <a:srgbClr val="080912"/>
                </a:solidFill>
                <a:latin typeface="Arial MT"/>
                <a:cs typeface="Arial MT"/>
              </a:rPr>
              <a:t> </a:t>
            </a:r>
            <a:r>
              <a:rPr lang="en-GB" sz="2400" spc="-10" dirty="0">
                <a:solidFill>
                  <a:srgbClr val="080912"/>
                </a:solidFill>
                <a:latin typeface="Arial MT"/>
                <a:cs typeface="Arial MT"/>
              </a:rPr>
              <a:t>linear</a:t>
            </a:r>
            <a:r>
              <a:rPr lang="en-GB" sz="2400" spc="-14"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14" dirty="0">
                <a:solidFill>
                  <a:srgbClr val="080912"/>
                </a:solidFill>
                <a:latin typeface="Arial MT"/>
                <a:cs typeface="Arial MT"/>
              </a:rPr>
              <a:t> functions:</a:t>
            </a:r>
            <a:endParaRPr lang="en-GB" sz="2400" dirty="0">
              <a:latin typeface="Arial MT"/>
              <a:cs typeface="Arial MT"/>
            </a:endParaRPr>
          </a:p>
          <a:p>
            <a:pPr marL="320378" marR="116895" indent="-156292" algn="just">
              <a:lnSpc>
                <a:spcPct val="115999"/>
              </a:lnSpc>
              <a:spcBef>
                <a:spcPts val="508"/>
              </a:spcBef>
              <a:buSzPct val="74074"/>
              <a:buFont typeface="Symbol"/>
              <a:buChar char=""/>
              <a:tabLst>
                <a:tab pos="320810" algn="l"/>
              </a:tabLst>
            </a:pPr>
            <a:r>
              <a:rPr lang="en-GB" sz="2400" dirty="0">
                <a:solidFill>
                  <a:srgbClr val="080912"/>
                </a:solidFill>
                <a:latin typeface="Arial MT"/>
                <a:cs typeface="Arial MT"/>
              </a:rPr>
              <a:t>They allow </a:t>
            </a:r>
            <a:r>
              <a:rPr lang="en-GB" sz="2400" spc="-3" dirty="0">
                <a:solidFill>
                  <a:srgbClr val="080912"/>
                </a:solidFill>
                <a:latin typeface="Arial MT"/>
                <a:cs typeface="Arial MT"/>
              </a:rPr>
              <a:t>backpropagation because </a:t>
            </a:r>
            <a:r>
              <a:rPr lang="en-GB" sz="2400" dirty="0">
                <a:solidFill>
                  <a:srgbClr val="080912"/>
                </a:solidFill>
                <a:latin typeface="Arial MT"/>
                <a:cs typeface="Arial MT"/>
              </a:rPr>
              <a:t>now </a:t>
            </a:r>
            <a:r>
              <a:rPr lang="en-GB" sz="2400" spc="-3" dirty="0">
                <a:solidFill>
                  <a:srgbClr val="080912"/>
                </a:solidFill>
                <a:latin typeface="Arial MT"/>
                <a:cs typeface="Arial MT"/>
              </a:rPr>
              <a:t>the derivative function would </a:t>
            </a:r>
            <a:r>
              <a:rPr lang="en-GB" sz="2400" dirty="0">
                <a:solidFill>
                  <a:srgbClr val="080912"/>
                </a:solidFill>
                <a:latin typeface="Arial MT"/>
                <a:cs typeface="Arial MT"/>
              </a:rPr>
              <a:t>be </a:t>
            </a:r>
            <a:r>
              <a:rPr lang="en-GB" sz="2400" spc="-3" dirty="0">
                <a:solidFill>
                  <a:srgbClr val="080912"/>
                </a:solidFill>
                <a:latin typeface="Arial MT"/>
                <a:cs typeface="Arial MT"/>
              </a:rPr>
              <a:t>related </a:t>
            </a:r>
            <a:r>
              <a:rPr lang="en-GB" sz="2400" dirty="0">
                <a:solidFill>
                  <a:srgbClr val="080912"/>
                </a:solidFill>
                <a:latin typeface="Arial MT"/>
                <a:cs typeface="Arial MT"/>
              </a:rPr>
              <a:t> </a:t>
            </a:r>
            <a:r>
              <a:rPr lang="en-GB" sz="2400" spc="-3" dirty="0">
                <a:solidFill>
                  <a:srgbClr val="080912"/>
                </a:solidFill>
                <a:latin typeface="Arial MT"/>
                <a:cs typeface="Arial MT"/>
              </a:rPr>
              <a:t>to the input, </a:t>
            </a:r>
            <a:r>
              <a:rPr lang="en-GB" sz="2400" dirty="0">
                <a:solidFill>
                  <a:srgbClr val="080912"/>
                </a:solidFill>
                <a:latin typeface="Arial MT"/>
                <a:cs typeface="Arial MT"/>
              </a:rPr>
              <a:t>and </a:t>
            </a:r>
            <a:r>
              <a:rPr lang="en-GB" sz="2400" spc="-3" dirty="0">
                <a:solidFill>
                  <a:srgbClr val="080912"/>
                </a:solidFill>
                <a:latin typeface="Arial MT"/>
                <a:cs typeface="Arial MT"/>
              </a:rPr>
              <a:t>it’s possible to go back </a:t>
            </a:r>
            <a:r>
              <a:rPr lang="en-GB" sz="2400" dirty="0">
                <a:solidFill>
                  <a:srgbClr val="080912"/>
                </a:solidFill>
                <a:latin typeface="Arial MT"/>
                <a:cs typeface="Arial MT"/>
              </a:rPr>
              <a:t>and </a:t>
            </a:r>
            <a:r>
              <a:rPr lang="en-GB" sz="2400" spc="-3" dirty="0">
                <a:solidFill>
                  <a:srgbClr val="080912"/>
                </a:solidFill>
                <a:latin typeface="Arial MT"/>
                <a:cs typeface="Arial MT"/>
              </a:rPr>
              <a:t>understand which weights </a:t>
            </a:r>
            <a:r>
              <a:rPr lang="en-GB" sz="2400" spc="-7" dirty="0">
                <a:solidFill>
                  <a:srgbClr val="080912"/>
                </a:solidFill>
                <a:latin typeface="Arial MT"/>
                <a:cs typeface="Arial MT"/>
              </a:rPr>
              <a:t>in </a:t>
            </a:r>
            <a:r>
              <a:rPr lang="en-GB" sz="2400" spc="-3" dirty="0">
                <a:solidFill>
                  <a:srgbClr val="080912"/>
                </a:solidFill>
                <a:latin typeface="Arial MT"/>
                <a:cs typeface="Arial MT"/>
              </a:rPr>
              <a:t>the </a:t>
            </a:r>
            <a:r>
              <a:rPr lang="en-GB" sz="2400" spc="-7" dirty="0">
                <a:solidFill>
                  <a:srgbClr val="080912"/>
                </a:solidFill>
                <a:latin typeface="Arial MT"/>
                <a:cs typeface="Arial MT"/>
              </a:rPr>
              <a:t>input </a:t>
            </a:r>
            <a:r>
              <a:rPr lang="en-GB" sz="2400" spc="-249" dirty="0">
                <a:solidFill>
                  <a:srgbClr val="080912"/>
                </a:solidFill>
                <a:latin typeface="Arial MT"/>
                <a:cs typeface="Arial MT"/>
              </a:rPr>
              <a:t> </a:t>
            </a:r>
            <a:r>
              <a:rPr lang="en-GB" sz="2400" dirty="0">
                <a:solidFill>
                  <a:srgbClr val="080912"/>
                </a:solidFill>
                <a:latin typeface="Arial MT"/>
                <a:cs typeface="Arial MT"/>
              </a:rPr>
              <a:t>neurons</a:t>
            </a:r>
            <a:r>
              <a:rPr lang="en-GB" sz="2400" spc="-10" dirty="0">
                <a:solidFill>
                  <a:srgbClr val="080912"/>
                </a:solidFill>
                <a:latin typeface="Arial MT"/>
                <a:cs typeface="Arial MT"/>
              </a:rPr>
              <a:t> </a:t>
            </a:r>
            <a:r>
              <a:rPr lang="en-GB" sz="2400" spc="-3" dirty="0">
                <a:solidFill>
                  <a:srgbClr val="080912"/>
                </a:solidFill>
                <a:latin typeface="Arial MT"/>
                <a:cs typeface="Arial MT"/>
              </a:rPr>
              <a:t>can</a:t>
            </a:r>
            <a:r>
              <a:rPr lang="en-GB" sz="2400" dirty="0">
                <a:solidFill>
                  <a:srgbClr val="080912"/>
                </a:solidFill>
                <a:latin typeface="Arial MT"/>
                <a:cs typeface="Arial MT"/>
              </a:rPr>
              <a:t> </a:t>
            </a:r>
            <a:r>
              <a:rPr lang="en-GB" sz="2400" spc="-3" dirty="0">
                <a:solidFill>
                  <a:srgbClr val="080912"/>
                </a:solidFill>
                <a:latin typeface="Arial MT"/>
                <a:cs typeface="Arial MT"/>
              </a:rPr>
              <a:t>provide</a:t>
            </a:r>
            <a:r>
              <a:rPr lang="en-GB" sz="2400" spc="-10" dirty="0">
                <a:solidFill>
                  <a:srgbClr val="080912"/>
                </a:solidFill>
                <a:latin typeface="Arial MT"/>
                <a:cs typeface="Arial MT"/>
              </a:rPr>
              <a:t> </a:t>
            </a:r>
            <a:r>
              <a:rPr lang="en-GB" sz="2400" dirty="0">
                <a:solidFill>
                  <a:srgbClr val="080912"/>
                </a:solidFill>
                <a:latin typeface="Arial MT"/>
                <a:cs typeface="Arial MT"/>
              </a:rPr>
              <a:t>a better </a:t>
            </a:r>
            <a:r>
              <a:rPr lang="en-GB" sz="2400" spc="-3" dirty="0">
                <a:solidFill>
                  <a:srgbClr val="080912"/>
                </a:solidFill>
                <a:latin typeface="Arial MT"/>
                <a:cs typeface="Arial MT"/>
              </a:rPr>
              <a:t>prediction.</a:t>
            </a:r>
            <a:endParaRPr lang="en-GB" sz="2400" dirty="0">
              <a:latin typeface="Arial MT"/>
              <a:cs typeface="Arial MT"/>
            </a:endParaRPr>
          </a:p>
          <a:p>
            <a:pPr marL="320378" marR="106071" indent="-156292">
              <a:lnSpc>
                <a:spcPct val="115900"/>
              </a:lnSpc>
              <a:spcBef>
                <a:spcPts val="505"/>
              </a:spcBef>
              <a:buSzPct val="74074"/>
              <a:buFont typeface="Symbol"/>
              <a:buChar char=""/>
              <a:tabLst>
                <a:tab pos="320378" algn="l"/>
                <a:tab pos="320810" algn="l"/>
              </a:tabLst>
            </a:pPr>
            <a:r>
              <a:rPr lang="en-GB" sz="2400" dirty="0">
                <a:solidFill>
                  <a:srgbClr val="080912"/>
                </a:solidFill>
                <a:latin typeface="Arial MT"/>
                <a:cs typeface="Arial MT"/>
              </a:rPr>
              <a:t>They allow</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stacking</a:t>
            </a:r>
            <a:r>
              <a:rPr lang="en-GB" sz="2400" spc="3" dirty="0">
                <a:solidFill>
                  <a:srgbClr val="080912"/>
                </a:solidFill>
                <a:latin typeface="Arial MT"/>
                <a:cs typeface="Arial MT"/>
              </a:rPr>
              <a:t> </a:t>
            </a:r>
            <a:r>
              <a:rPr lang="en-GB" sz="2400" dirty="0">
                <a:solidFill>
                  <a:srgbClr val="080912"/>
                </a:solidFill>
                <a:latin typeface="Arial MT"/>
                <a:cs typeface="Arial MT"/>
              </a:rPr>
              <a:t>of</a:t>
            </a:r>
            <a:r>
              <a:rPr lang="en-GB" sz="2400" spc="-3" dirty="0">
                <a:solidFill>
                  <a:srgbClr val="080912"/>
                </a:solidFill>
                <a:latin typeface="Arial MT"/>
                <a:cs typeface="Arial MT"/>
              </a:rPr>
              <a:t> multiple</a:t>
            </a:r>
            <a:r>
              <a:rPr lang="en-GB" sz="2400" spc="3" dirty="0">
                <a:solidFill>
                  <a:srgbClr val="080912"/>
                </a:solidFill>
                <a:latin typeface="Arial MT"/>
                <a:cs typeface="Arial MT"/>
              </a:rPr>
              <a:t> </a:t>
            </a:r>
            <a:r>
              <a:rPr lang="en-GB" sz="2400" spc="-3" dirty="0">
                <a:solidFill>
                  <a:srgbClr val="080912"/>
                </a:solidFill>
                <a:latin typeface="Arial MT"/>
                <a:cs typeface="Arial MT"/>
              </a:rPr>
              <a:t>layers</a:t>
            </a:r>
            <a:r>
              <a:rPr lang="en-GB" sz="2400" spc="3" dirty="0">
                <a:solidFill>
                  <a:srgbClr val="080912"/>
                </a:solidFill>
                <a:latin typeface="Arial MT"/>
                <a:cs typeface="Arial MT"/>
              </a:rPr>
              <a:t> </a:t>
            </a:r>
            <a:r>
              <a:rPr lang="en-GB" sz="2400" dirty="0">
                <a:solidFill>
                  <a:srgbClr val="080912"/>
                </a:solidFill>
                <a:latin typeface="Arial MT"/>
                <a:cs typeface="Arial MT"/>
              </a:rPr>
              <a:t>of</a:t>
            </a:r>
            <a:r>
              <a:rPr lang="en-GB" sz="2400" spc="-7" dirty="0">
                <a:solidFill>
                  <a:srgbClr val="080912"/>
                </a:solidFill>
                <a:latin typeface="Arial MT"/>
                <a:cs typeface="Arial MT"/>
              </a:rPr>
              <a:t> </a:t>
            </a:r>
            <a:r>
              <a:rPr lang="en-GB" sz="2400" spc="-3" dirty="0">
                <a:solidFill>
                  <a:srgbClr val="080912"/>
                </a:solidFill>
                <a:latin typeface="Arial MT"/>
                <a:cs typeface="Arial MT"/>
              </a:rPr>
              <a:t>neurons</a:t>
            </a:r>
            <a:r>
              <a:rPr lang="en-GB" sz="2400" spc="3" dirty="0">
                <a:solidFill>
                  <a:srgbClr val="080912"/>
                </a:solidFill>
                <a:latin typeface="Arial MT"/>
                <a:cs typeface="Arial MT"/>
              </a:rPr>
              <a:t> </a:t>
            </a:r>
            <a:r>
              <a:rPr lang="en-GB" sz="2400" spc="-3" dirty="0">
                <a:solidFill>
                  <a:srgbClr val="080912"/>
                </a:solidFill>
                <a:latin typeface="Arial MT"/>
                <a:cs typeface="Arial MT"/>
              </a:rPr>
              <a:t>as</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dirty="0">
                <a:solidFill>
                  <a:srgbClr val="080912"/>
                </a:solidFill>
                <a:latin typeface="Arial MT"/>
                <a:cs typeface="Arial MT"/>
              </a:rPr>
              <a:t>output</a:t>
            </a:r>
            <a:r>
              <a:rPr lang="en-GB" sz="2400" spc="-14" dirty="0">
                <a:solidFill>
                  <a:srgbClr val="080912"/>
                </a:solidFill>
                <a:latin typeface="Arial MT"/>
                <a:cs typeface="Arial MT"/>
              </a:rPr>
              <a:t> </a:t>
            </a:r>
            <a:r>
              <a:rPr lang="en-GB" sz="2400" dirty="0">
                <a:solidFill>
                  <a:srgbClr val="080912"/>
                </a:solidFill>
                <a:latin typeface="Arial MT"/>
                <a:cs typeface="Arial MT"/>
              </a:rPr>
              <a:t>would</a:t>
            </a:r>
            <a:r>
              <a:rPr lang="en-GB" sz="2400" spc="3" dirty="0">
                <a:solidFill>
                  <a:srgbClr val="080912"/>
                </a:solidFill>
                <a:latin typeface="Arial MT"/>
                <a:cs typeface="Arial MT"/>
              </a:rPr>
              <a:t> </a:t>
            </a:r>
            <a:r>
              <a:rPr lang="en-GB" sz="2400" spc="-3" dirty="0">
                <a:solidFill>
                  <a:srgbClr val="080912"/>
                </a:solidFill>
                <a:latin typeface="Arial MT"/>
                <a:cs typeface="Arial MT"/>
              </a:rPr>
              <a:t>now</a:t>
            </a:r>
            <a:r>
              <a:rPr lang="en-GB" sz="2400" spc="3" dirty="0">
                <a:solidFill>
                  <a:srgbClr val="080912"/>
                </a:solidFill>
                <a:latin typeface="Arial MT"/>
                <a:cs typeface="Arial MT"/>
              </a:rPr>
              <a:t> </a:t>
            </a:r>
            <a:r>
              <a:rPr lang="en-GB" sz="2400" spc="7" dirty="0">
                <a:solidFill>
                  <a:srgbClr val="080912"/>
                </a:solidFill>
                <a:latin typeface="Arial MT"/>
                <a:cs typeface="Arial MT"/>
              </a:rPr>
              <a:t>be</a:t>
            </a:r>
            <a:r>
              <a:rPr lang="en-GB" sz="2400" dirty="0">
                <a:solidFill>
                  <a:srgbClr val="080912"/>
                </a:solidFill>
                <a:latin typeface="Arial MT"/>
                <a:cs typeface="Arial MT"/>
              </a:rPr>
              <a:t> a </a:t>
            </a:r>
            <a:r>
              <a:rPr lang="en-GB" sz="2400" spc="-245" dirty="0">
                <a:solidFill>
                  <a:srgbClr val="080912"/>
                </a:solidFill>
                <a:latin typeface="Arial MT"/>
                <a:cs typeface="Arial MT"/>
              </a:rPr>
              <a:t> </a:t>
            </a:r>
            <a:r>
              <a:rPr lang="en-GB" sz="2400" spc="-3" dirty="0">
                <a:solidFill>
                  <a:srgbClr val="080912"/>
                </a:solidFill>
                <a:latin typeface="Arial MT"/>
                <a:cs typeface="Arial MT"/>
              </a:rPr>
              <a:t>non-linear</a:t>
            </a:r>
            <a:r>
              <a:rPr lang="en-GB" sz="2400" spc="3" dirty="0">
                <a:solidFill>
                  <a:srgbClr val="080912"/>
                </a:solidFill>
                <a:latin typeface="Arial MT"/>
                <a:cs typeface="Arial MT"/>
              </a:rPr>
              <a:t> </a:t>
            </a:r>
            <a:r>
              <a:rPr lang="en-GB" sz="2400" spc="-3" dirty="0">
                <a:solidFill>
                  <a:srgbClr val="080912"/>
                </a:solidFill>
                <a:latin typeface="Arial MT"/>
                <a:cs typeface="Arial MT"/>
              </a:rPr>
              <a:t>combination</a:t>
            </a:r>
            <a:r>
              <a:rPr lang="en-GB" sz="2400" spc="3" dirty="0">
                <a:solidFill>
                  <a:srgbClr val="080912"/>
                </a:solidFill>
                <a:latin typeface="Arial MT"/>
                <a:cs typeface="Arial MT"/>
              </a:rPr>
              <a:t> </a:t>
            </a:r>
            <a:r>
              <a:rPr lang="en-GB" sz="2400" dirty="0">
                <a:solidFill>
                  <a:srgbClr val="080912"/>
                </a:solidFill>
                <a:latin typeface="Arial MT"/>
                <a:cs typeface="Arial MT"/>
              </a:rPr>
              <a:t>of input</a:t>
            </a:r>
            <a:r>
              <a:rPr lang="en-GB" sz="2400" spc="3" dirty="0">
                <a:solidFill>
                  <a:srgbClr val="080912"/>
                </a:solidFill>
                <a:latin typeface="Arial MT"/>
                <a:cs typeface="Arial MT"/>
              </a:rPr>
              <a:t> </a:t>
            </a:r>
            <a:r>
              <a:rPr lang="en-GB" sz="2400" spc="-3" dirty="0">
                <a:solidFill>
                  <a:srgbClr val="080912"/>
                </a:solidFill>
                <a:latin typeface="Arial MT"/>
                <a:cs typeface="Arial MT"/>
              </a:rPr>
              <a:t>passed</a:t>
            </a:r>
            <a:r>
              <a:rPr lang="en-GB" sz="2400" spc="3" dirty="0">
                <a:solidFill>
                  <a:srgbClr val="080912"/>
                </a:solidFill>
                <a:latin typeface="Arial MT"/>
                <a:cs typeface="Arial MT"/>
              </a:rPr>
              <a:t> </a:t>
            </a:r>
            <a:r>
              <a:rPr lang="en-GB" sz="2400" spc="-3" dirty="0">
                <a:solidFill>
                  <a:srgbClr val="080912"/>
                </a:solidFill>
                <a:latin typeface="Arial MT"/>
                <a:cs typeface="Arial MT"/>
              </a:rPr>
              <a:t>through</a:t>
            </a:r>
            <a:r>
              <a:rPr lang="en-GB" sz="2400" spc="7" dirty="0">
                <a:solidFill>
                  <a:srgbClr val="080912"/>
                </a:solidFill>
                <a:latin typeface="Arial MT"/>
                <a:cs typeface="Arial MT"/>
              </a:rPr>
              <a:t> </a:t>
            </a:r>
            <a:r>
              <a:rPr lang="en-GB" sz="2400" spc="-3" dirty="0">
                <a:solidFill>
                  <a:srgbClr val="080912"/>
                </a:solidFill>
                <a:latin typeface="Arial MT"/>
                <a:cs typeface="Arial MT"/>
              </a:rPr>
              <a:t>multiple</a:t>
            </a:r>
            <a:r>
              <a:rPr lang="en-GB" sz="2400" spc="10" dirty="0">
                <a:solidFill>
                  <a:srgbClr val="080912"/>
                </a:solidFill>
                <a:latin typeface="Arial MT"/>
                <a:cs typeface="Arial MT"/>
              </a:rPr>
              <a:t> </a:t>
            </a:r>
            <a:r>
              <a:rPr lang="en-GB" sz="2400" spc="-3" dirty="0">
                <a:solidFill>
                  <a:srgbClr val="080912"/>
                </a:solidFill>
                <a:latin typeface="Arial MT"/>
                <a:cs typeface="Arial MT"/>
              </a:rPr>
              <a:t>layers.</a:t>
            </a:r>
            <a:r>
              <a:rPr lang="en-GB" sz="2400" dirty="0">
                <a:solidFill>
                  <a:srgbClr val="080912"/>
                </a:solidFill>
                <a:latin typeface="Arial MT"/>
                <a:cs typeface="Arial MT"/>
              </a:rPr>
              <a:t> </a:t>
            </a:r>
            <a:r>
              <a:rPr lang="en-GB" sz="2400" spc="-3" dirty="0">
                <a:solidFill>
                  <a:srgbClr val="080912"/>
                </a:solidFill>
                <a:latin typeface="Arial MT"/>
                <a:cs typeface="Arial MT"/>
              </a:rPr>
              <a:t>Any</a:t>
            </a:r>
            <a:r>
              <a:rPr lang="en-GB" sz="2400" spc="7" dirty="0">
                <a:solidFill>
                  <a:srgbClr val="080912"/>
                </a:solidFill>
                <a:latin typeface="Arial MT"/>
                <a:cs typeface="Arial MT"/>
              </a:rPr>
              <a:t> </a:t>
            </a:r>
            <a:r>
              <a:rPr lang="en-GB" sz="2400" spc="-3" dirty="0">
                <a:solidFill>
                  <a:srgbClr val="080912"/>
                </a:solidFill>
                <a:latin typeface="Arial MT"/>
                <a:cs typeface="Arial MT"/>
              </a:rPr>
              <a:t>output</a:t>
            </a:r>
            <a:r>
              <a:rPr lang="en-GB" sz="2400" dirty="0">
                <a:solidFill>
                  <a:srgbClr val="080912"/>
                </a:solidFill>
                <a:latin typeface="Arial MT"/>
                <a:cs typeface="Arial MT"/>
              </a:rPr>
              <a:t> </a:t>
            </a:r>
            <a:r>
              <a:rPr lang="en-GB" sz="2400" spc="-3" dirty="0">
                <a:solidFill>
                  <a:srgbClr val="080912"/>
                </a:solidFill>
                <a:latin typeface="Arial MT"/>
                <a:cs typeface="Arial MT"/>
              </a:rPr>
              <a:t>can</a:t>
            </a:r>
            <a:r>
              <a:rPr lang="en-GB" sz="2400" spc="7" dirty="0">
                <a:solidFill>
                  <a:srgbClr val="080912"/>
                </a:solidFill>
                <a:latin typeface="Arial MT"/>
                <a:cs typeface="Arial MT"/>
              </a:rPr>
              <a:t> </a:t>
            </a:r>
            <a:r>
              <a:rPr lang="en-GB" sz="2400" spc="-3" dirty="0">
                <a:solidFill>
                  <a:srgbClr val="080912"/>
                </a:solidFill>
                <a:latin typeface="Arial MT"/>
                <a:cs typeface="Arial MT"/>
              </a:rPr>
              <a:t>be </a:t>
            </a:r>
            <a:r>
              <a:rPr lang="en-GB" sz="2400" dirty="0">
                <a:solidFill>
                  <a:srgbClr val="080912"/>
                </a:solidFill>
                <a:latin typeface="Arial MT"/>
                <a:cs typeface="Arial MT"/>
              </a:rPr>
              <a:t> </a:t>
            </a:r>
            <a:r>
              <a:rPr lang="en-GB" sz="2400" spc="-3" dirty="0">
                <a:solidFill>
                  <a:srgbClr val="080912"/>
                </a:solidFill>
                <a:latin typeface="Arial MT"/>
                <a:cs typeface="Arial MT"/>
              </a:rPr>
              <a:t>represented</a:t>
            </a:r>
            <a:r>
              <a:rPr lang="en-GB" sz="2400" dirty="0">
                <a:solidFill>
                  <a:srgbClr val="080912"/>
                </a:solidFill>
                <a:latin typeface="Arial MT"/>
                <a:cs typeface="Arial MT"/>
              </a:rPr>
              <a:t> as</a:t>
            </a:r>
            <a:r>
              <a:rPr lang="en-GB" sz="2400" spc="-10" dirty="0">
                <a:solidFill>
                  <a:srgbClr val="080912"/>
                </a:solidFill>
                <a:latin typeface="Arial MT"/>
                <a:cs typeface="Arial MT"/>
              </a:rPr>
              <a:t> </a:t>
            </a:r>
            <a:r>
              <a:rPr lang="en-GB" sz="2400" dirty="0">
                <a:solidFill>
                  <a:srgbClr val="080912"/>
                </a:solidFill>
                <a:latin typeface="Arial MT"/>
                <a:cs typeface="Arial MT"/>
              </a:rPr>
              <a:t>a </a:t>
            </a:r>
            <a:r>
              <a:rPr lang="en-GB" sz="2400" spc="-3" dirty="0">
                <a:solidFill>
                  <a:srgbClr val="080912"/>
                </a:solidFill>
                <a:latin typeface="Arial MT"/>
                <a:cs typeface="Arial MT"/>
              </a:rPr>
              <a:t>functional</a:t>
            </a:r>
            <a:r>
              <a:rPr lang="en-GB" sz="2400" spc="-10" dirty="0">
                <a:solidFill>
                  <a:srgbClr val="080912"/>
                </a:solidFill>
                <a:latin typeface="Arial MT"/>
                <a:cs typeface="Arial MT"/>
              </a:rPr>
              <a:t> </a:t>
            </a:r>
            <a:r>
              <a:rPr lang="en-GB" sz="2400" spc="-3" dirty="0">
                <a:solidFill>
                  <a:srgbClr val="080912"/>
                </a:solidFill>
                <a:latin typeface="Arial MT"/>
                <a:cs typeface="Arial MT"/>
              </a:rPr>
              <a:t>computation</a:t>
            </a:r>
            <a:r>
              <a:rPr lang="en-GB" sz="2400" dirty="0">
                <a:solidFill>
                  <a:srgbClr val="080912"/>
                </a:solidFill>
                <a:latin typeface="Arial MT"/>
                <a:cs typeface="Arial MT"/>
              </a:rPr>
              <a:t> in</a:t>
            </a:r>
            <a:r>
              <a:rPr lang="en-GB" sz="2400" spc="-3" dirty="0">
                <a:solidFill>
                  <a:srgbClr val="080912"/>
                </a:solidFill>
                <a:latin typeface="Arial MT"/>
                <a:cs typeface="Arial MT"/>
              </a:rPr>
              <a:t> </a:t>
            </a:r>
            <a:r>
              <a:rPr lang="en-GB" sz="2400" dirty="0">
                <a:solidFill>
                  <a:srgbClr val="080912"/>
                </a:solidFill>
                <a:latin typeface="Arial MT"/>
                <a:cs typeface="Arial MT"/>
              </a:rPr>
              <a:t>a </a:t>
            </a:r>
            <a:r>
              <a:rPr lang="en-GB" sz="2400" spc="-3" dirty="0">
                <a:solidFill>
                  <a:srgbClr val="080912"/>
                </a:solidFill>
                <a:latin typeface="Arial MT"/>
                <a:cs typeface="Arial MT"/>
              </a:rPr>
              <a:t>neural</a:t>
            </a:r>
            <a:r>
              <a:rPr lang="en-GB" sz="2400" spc="3" dirty="0">
                <a:solidFill>
                  <a:srgbClr val="080912"/>
                </a:solidFill>
                <a:latin typeface="Arial MT"/>
                <a:cs typeface="Arial MT"/>
              </a:rPr>
              <a:t> </a:t>
            </a:r>
            <a:r>
              <a:rPr lang="en-GB" sz="2400" spc="-3" dirty="0">
                <a:solidFill>
                  <a:srgbClr val="080912"/>
                </a:solidFill>
                <a:latin typeface="Arial MT"/>
                <a:cs typeface="Arial MT"/>
              </a:rPr>
              <a:t>network.</a:t>
            </a:r>
            <a:endParaRPr lang="en-GB" sz="2400" dirty="0">
              <a:latin typeface="Arial MT"/>
              <a:cs typeface="Arial MT"/>
            </a:endParaRPr>
          </a:p>
          <a:p>
            <a:endParaRPr lang="en-PK" dirty="0"/>
          </a:p>
        </p:txBody>
      </p:sp>
      <p:sp>
        <p:nvSpPr>
          <p:cNvPr id="2" name="Slide Number Placeholder 1">
            <a:extLst>
              <a:ext uri="{FF2B5EF4-FFF2-40B4-BE49-F238E27FC236}">
                <a16:creationId xmlns:a16="http://schemas.microsoft.com/office/drawing/2014/main" id="{B9D08276-38E6-EDAA-BB8E-A28E7AD45B02}"/>
              </a:ext>
            </a:extLst>
          </p:cNvPr>
          <p:cNvSpPr>
            <a:spLocks noGrp="1"/>
          </p:cNvSpPr>
          <p:nvPr>
            <p:ph type="sldNum" sz="quarter" idx="12"/>
          </p:nvPr>
        </p:nvSpPr>
        <p:spPr/>
        <p:txBody>
          <a:bodyPr/>
          <a:lstStyle/>
          <a:p>
            <a:fld id="{9CD9A578-84A4-4247-B01E-A84B9E2DF7BB}" type="slidenum">
              <a:rPr lang="en-PK" smtClean="0"/>
              <a:t>5</a:t>
            </a:fld>
            <a:endParaRPr lang="en-PK"/>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8590686" y="3947311"/>
            <a:ext cx="3319935" cy="2617246"/>
          </a:xfrm>
          <a:prstGeom prst="rect">
            <a:avLst/>
          </a:prstGeom>
        </p:spPr>
      </p:pic>
      <p:sp>
        <p:nvSpPr>
          <p:cNvPr id="5" name="Title 4">
            <a:extLst>
              <a:ext uri="{FF2B5EF4-FFF2-40B4-BE49-F238E27FC236}">
                <a16:creationId xmlns:a16="http://schemas.microsoft.com/office/drawing/2014/main" id="{B38E8222-6C00-E0CE-7C7F-C248EE5CBFB6}"/>
              </a:ext>
            </a:extLst>
          </p:cNvPr>
          <p:cNvSpPr>
            <a:spLocks noGrp="1"/>
          </p:cNvSpPr>
          <p:nvPr>
            <p:ph type="title"/>
          </p:nvPr>
        </p:nvSpPr>
        <p:spPr>
          <a:xfrm>
            <a:off x="375133" y="908087"/>
            <a:ext cx="9875520" cy="1356360"/>
          </a:xfrm>
        </p:spPr>
        <p:txBody>
          <a:bodyPr>
            <a:normAutofit fontScale="90000"/>
          </a:bodyPr>
          <a:lstStyle/>
          <a:p>
            <a:r>
              <a:rPr lang="en-GB" sz="4400" spc="-51" dirty="0">
                <a:solidFill>
                  <a:srgbClr val="1F1F1F"/>
                </a:solidFill>
                <a:latin typeface="Arial MT"/>
                <a:cs typeface="Arial MT"/>
              </a:rPr>
              <a:t> </a:t>
            </a:r>
            <a:r>
              <a:rPr lang="en-GB" sz="4400" spc="-31" dirty="0">
                <a:solidFill>
                  <a:srgbClr val="1F1F1F"/>
                </a:solidFill>
                <a:latin typeface="Arial MT"/>
                <a:cs typeface="Arial MT"/>
              </a:rPr>
              <a:t>N</a:t>
            </a:r>
            <a:r>
              <a:rPr lang="en-GB" sz="4400" spc="-34" dirty="0">
                <a:solidFill>
                  <a:srgbClr val="1F1F1F"/>
                </a:solidFill>
                <a:latin typeface="Arial MT"/>
                <a:cs typeface="Arial MT"/>
              </a:rPr>
              <a:t>o</a:t>
            </a:r>
            <a:r>
              <a:rPr lang="en-GB" sz="4400" spc="-31" dirty="0">
                <a:solidFill>
                  <a:srgbClr val="1F1F1F"/>
                </a:solidFill>
                <a:latin typeface="Arial MT"/>
                <a:cs typeface="Arial MT"/>
              </a:rPr>
              <a:t>n</a:t>
            </a:r>
            <a:r>
              <a:rPr lang="en-GB" sz="4400" spc="-27" dirty="0">
                <a:solidFill>
                  <a:srgbClr val="1F1F1F"/>
                </a:solidFill>
                <a:latin typeface="Arial MT"/>
                <a:cs typeface="Arial MT"/>
              </a:rPr>
              <a:t>-</a:t>
            </a:r>
            <a:r>
              <a:rPr lang="en-GB" sz="4400" spc="-34" dirty="0">
                <a:solidFill>
                  <a:srgbClr val="1F1F1F"/>
                </a:solidFill>
                <a:latin typeface="Arial MT"/>
                <a:cs typeface="Arial MT"/>
              </a:rPr>
              <a:t>L</a:t>
            </a:r>
            <a:r>
              <a:rPr lang="en-GB" sz="4400" spc="-31" dirty="0">
                <a:solidFill>
                  <a:srgbClr val="1F1F1F"/>
                </a:solidFill>
                <a:latin typeface="Arial MT"/>
                <a:cs typeface="Arial MT"/>
              </a:rPr>
              <a:t>i</a:t>
            </a:r>
            <a:r>
              <a:rPr lang="en-GB" sz="4400" spc="-34" dirty="0">
                <a:solidFill>
                  <a:srgbClr val="1F1F1F"/>
                </a:solidFill>
                <a:latin typeface="Arial MT"/>
                <a:cs typeface="Arial MT"/>
              </a:rPr>
              <a:t>nea</a:t>
            </a:r>
            <a:r>
              <a:rPr lang="en-GB" sz="4400" dirty="0">
                <a:solidFill>
                  <a:srgbClr val="1F1F1F"/>
                </a:solidFill>
                <a:latin typeface="Arial MT"/>
                <a:cs typeface="Arial MT"/>
              </a:rPr>
              <a:t>r</a:t>
            </a:r>
            <a:r>
              <a:rPr lang="en-GB" sz="4400" spc="-58" dirty="0">
                <a:solidFill>
                  <a:srgbClr val="1F1F1F"/>
                </a:solidFill>
                <a:latin typeface="Arial MT"/>
                <a:cs typeface="Arial MT"/>
              </a:rPr>
              <a:t> </a:t>
            </a:r>
            <a:r>
              <a:rPr lang="en-GB" sz="4400" spc="-31" dirty="0">
                <a:solidFill>
                  <a:srgbClr val="1F1F1F"/>
                </a:solidFill>
                <a:latin typeface="Arial MT"/>
                <a:cs typeface="Arial MT"/>
              </a:rPr>
              <a:t>N</a:t>
            </a:r>
            <a:r>
              <a:rPr lang="en-GB" sz="4400" spc="-34" dirty="0">
                <a:solidFill>
                  <a:srgbClr val="1F1F1F"/>
                </a:solidFill>
                <a:latin typeface="Arial MT"/>
                <a:cs typeface="Arial MT"/>
              </a:rPr>
              <a:t>eu</a:t>
            </a:r>
            <a:r>
              <a:rPr lang="en-GB" sz="4400" spc="-27" dirty="0">
                <a:solidFill>
                  <a:srgbClr val="1F1F1F"/>
                </a:solidFill>
                <a:latin typeface="Arial MT"/>
                <a:cs typeface="Arial MT"/>
              </a:rPr>
              <a:t>r</a:t>
            </a:r>
            <a:r>
              <a:rPr lang="en-GB" sz="4400" spc="-34" dirty="0">
                <a:solidFill>
                  <a:srgbClr val="1F1F1F"/>
                </a:solidFill>
                <a:latin typeface="Arial MT"/>
                <a:cs typeface="Arial MT"/>
              </a:rPr>
              <a:t>a</a:t>
            </a:r>
            <a:r>
              <a:rPr lang="en-GB" sz="4400" spc="-3" dirty="0">
                <a:solidFill>
                  <a:srgbClr val="1F1F1F"/>
                </a:solidFill>
                <a:latin typeface="Arial MT"/>
                <a:cs typeface="Arial MT"/>
              </a:rPr>
              <a:t>l</a:t>
            </a:r>
            <a:r>
              <a:rPr lang="en-GB" sz="4400" spc="-51" dirty="0">
                <a:solidFill>
                  <a:srgbClr val="1F1F1F"/>
                </a:solidFill>
                <a:latin typeface="Arial MT"/>
                <a:cs typeface="Arial MT"/>
              </a:rPr>
              <a:t> </a:t>
            </a:r>
            <a:r>
              <a:rPr lang="en-GB" sz="4400" spc="-31" dirty="0">
                <a:solidFill>
                  <a:srgbClr val="1F1F1F"/>
                </a:solidFill>
                <a:latin typeface="Arial MT"/>
                <a:cs typeface="Arial MT"/>
              </a:rPr>
              <a:t>N</a:t>
            </a:r>
            <a:r>
              <a:rPr lang="en-GB" sz="4400" spc="-34" dirty="0">
                <a:solidFill>
                  <a:srgbClr val="1F1F1F"/>
                </a:solidFill>
                <a:latin typeface="Arial MT"/>
                <a:cs typeface="Arial MT"/>
              </a:rPr>
              <a:t>e</a:t>
            </a:r>
            <a:r>
              <a:rPr lang="en-GB" sz="4400" spc="-24" dirty="0">
                <a:solidFill>
                  <a:srgbClr val="1F1F1F"/>
                </a:solidFill>
                <a:latin typeface="Arial MT"/>
                <a:cs typeface="Arial MT"/>
              </a:rPr>
              <a:t>t</a:t>
            </a:r>
            <a:r>
              <a:rPr lang="en-GB" sz="4400" spc="-31" dirty="0">
                <a:solidFill>
                  <a:srgbClr val="1F1F1F"/>
                </a:solidFill>
                <a:latin typeface="Arial MT"/>
                <a:cs typeface="Arial MT"/>
              </a:rPr>
              <a:t>w</a:t>
            </a:r>
            <a:r>
              <a:rPr lang="en-GB" sz="4400" spc="-41" dirty="0">
                <a:solidFill>
                  <a:srgbClr val="1F1F1F"/>
                </a:solidFill>
                <a:latin typeface="Arial MT"/>
                <a:cs typeface="Arial MT"/>
              </a:rPr>
              <a:t>o</a:t>
            </a:r>
            <a:r>
              <a:rPr lang="en-GB" sz="4400" spc="-27" dirty="0">
                <a:solidFill>
                  <a:srgbClr val="1F1F1F"/>
                </a:solidFill>
                <a:latin typeface="Arial MT"/>
                <a:cs typeface="Arial MT"/>
              </a:rPr>
              <a:t>r</a:t>
            </a:r>
            <a:r>
              <a:rPr lang="en-GB" sz="4400" spc="-34" dirty="0">
                <a:solidFill>
                  <a:srgbClr val="1F1F1F"/>
                </a:solidFill>
                <a:latin typeface="Arial MT"/>
                <a:cs typeface="Arial MT"/>
              </a:rPr>
              <a:t>k</a:t>
            </a:r>
            <a:r>
              <a:rPr lang="en-GB" sz="4400" dirty="0">
                <a:solidFill>
                  <a:srgbClr val="1F1F1F"/>
                </a:solidFill>
                <a:latin typeface="Arial MT"/>
                <a:cs typeface="Arial MT"/>
              </a:rPr>
              <a:t>s</a:t>
            </a:r>
            <a:r>
              <a:rPr lang="en-GB" sz="4400" spc="-48" dirty="0">
                <a:solidFill>
                  <a:srgbClr val="1F1F1F"/>
                </a:solidFill>
                <a:latin typeface="Arial MT"/>
                <a:cs typeface="Arial MT"/>
              </a:rPr>
              <a:t> </a:t>
            </a:r>
            <a:r>
              <a:rPr lang="en-GB" sz="4400" spc="-34" dirty="0">
                <a:solidFill>
                  <a:srgbClr val="1F1F1F"/>
                </a:solidFill>
                <a:latin typeface="Arial MT"/>
                <a:cs typeface="Arial MT"/>
              </a:rPr>
              <a:t>A</a:t>
            </a:r>
            <a:r>
              <a:rPr lang="en-GB" sz="4400" spc="-27" dirty="0">
                <a:solidFill>
                  <a:srgbClr val="1F1F1F"/>
                </a:solidFill>
                <a:latin typeface="Arial MT"/>
                <a:cs typeface="Arial MT"/>
              </a:rPr>
              <a:t>c</a:t>
            </a:r>
            <a:r>
              <a:rPr lang="en-GB" sz="4400" spc="-24" dirty="0">
                <a:solidFill>
                  <a:srgbClr val="1F1F1F"/>
                </a:solidFill>
                <a:latin typeface="Arial MT"/>
                <a:cs typeface="Arial MT"/>
              </a:rPr>
              <a:t>t</a:t>
            </a:r>
            <a:r>
              <a:rPr lang="en-GB" sz="4400" spc="-41" dirty="0">
                <a:solidFill>
                  <a:srgbClr val="1F1F1F"/>
                </a:solidFill>
                <a:latin typeface="Arial MT"/>
                <a:cs typeface="Arial MT"/>
              </a:rPr>
              <a:t>i</a:t>
            </a:r>
            <a:r>
              <a:rPr lang="en-GB" sz="4400" spc="-27" dirty="0">
                <a:solidFill>
                  <a:srgbClr val="1F1F1F"/>
                </a:solidFill>
                <a:latin typeface="Arial MT"/>
                <a:cs typeface="Arial MT"/>
              </a:rPr>
              <a:t>v</a:t>
            </a:r>
            <a:r>
              <a:rPr lang="en-GB" sz="4400" spc="-34" dirty="0">
                <a:solidFill>
                  <a:srgbClr val="1F1F1F"/>
                </a:solidFill>
                <a:latin typeface="Arial MT"/>
                <a:cs typeface="Arial MT"/>
              </a:rPr>
              <a:t>a</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34" dirty="0">
                <a:solidFill>
                  <a:srgbClr val="1F1F1F"/>
                </a:solidFill>
                <a:latin typeface="Arial MT"/>
                <a:cs typeface="Arial MT"/>
              </a:rPr>
              <a:t>o</a:t>
            </a:r>
            <a:r>
              <a:rPr lang="en-GB" sz="4400" spc="-3" dirty="0">
                <a:solidFill>
                  <a:srgbClr val="1F1F1F"/>
                </a:solidFill>
                <a:latin typeface="Arial MT"/>
                <a:cs typeface="Arial MT"/>
              </a:rPr>
              <a:t>n</a:t>
            </a:r>
            <a:r>
              <a:rPr lang="en-GB" sz="4400" spc="-58" dirty="0">
                <a:solidFill>
                  <a:srgbClr val="1F1F1F"/>
                </a:solidFill>
                <a:latin typeface="Arial MT"/>
                <a:cs typeface="Arial MT"/>
              </a:rPr>
              <a:t> </a:t>
            </a:r>
            <a:r>
              <a:rPr lang="en-GB" sz="4400" spc="-24" dirty="0">
                <a:solidFill>
                  <a:srgbClr val="1F1F1F"/>
                </a:solidFill>
                <a:latin typeface="Arial MT"/>
                <a:cs typeface="Arial MT"/>
              </a:rPr>
              <a:t>F</a:t>
            </a:r>
            <a:r>
              <a:rPr lang="en-GB" sz="4400" spc="-34" dirty="0">
                <a:solidFill>
                  <a:srgbClr val="1F1F1F"/>
                </a:solidFill>
                <a:latin typeface="Arial MT"/>
                <a:cs typeface="Arial MT"/>
              </a:rPr>
              <a:t>u</a:t>
            </a:r>
            <a:r>
              <a:rPr lang="en-GB" sz="4400" spc="-41" dirty="0">
                <a:solidFill>
                  <a:srgbClr val="1F1F1F"/>
                </a:solidFill>
                <a:latin typeface="Arial MT"/>
                <a:cs typeface="Arial MT"/>
              </a:rPr>
              <a:t>n</a:t>
            </a:r>
            <a:r>
              <a:rPr lang="en-GB" sz="4400" spc="-27" dirty="0">
                <a:solidFill>
                  <a:srgbClr val="1F1F1F"/>
                </a:solidFill>
                <a:latin typeface="Arial MT"/>
                <a:cs typeface="Arial MT"/>
              </a:rPr>
              <a:t>c</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34" dirty="0">
                <a:solidFill>
                  <a:srgbClr val="1F1F1F"/>
                </a:solidFill>
                <a:latin typeface="Arial MT"/>
                <a:cs typeface="Arial MT"/>
              </a:rPr>
              <a:t>on</a:t>
            </a:r>
            <a:r>
              <a:rPr lang="en-GB" sz="4400" dirty="0">
                <a:solidFill>
                  <a:srgbClr val="1F1F1F"/>
                </a:solidFill>
                <a:latin typeface="Arial MT"/>
                <a:cs typeface="Arial MT"/>
              </a:rPr>
              <a:t>s</a:t>
            </a:r>
            <a:br>
              <a:rPr lang="en-GB" sz="4400" dirty="0">
                <a:solidFill>
                  <a:srgbClr val="1F1F1F"/>
                </a:solidFill>
                <a:latin typeface="Arial MT"/>
                <a:cs typeface="Arial MT"/>
              </a:rPr>
            </a:br>
            <a:r>
              <a:rPr lang="en-GB" sz="4400" b="1" spc="-31" dirty="0">
                <a:solidFill>
                  <a:srgbClr val="272E40"/>
                </a:solidFill>
                <a:latin typeface="Arial"/>
                <a:cs typeface="Arial"/>
              </a:rPr>
              <a:t>S</a:t>
            </a:r>
            <a:r>
              <a:rPr lang="en-GB" sz="4400" b="1" spc="-24" dirty="0">
                <a:solidFill>
                  <a:srgbClr val="272E40"/>
                </a:solidFill>
                <a:latin typeface="Arial"/>
                <a:cs typeface="Arial"/>
              </a:rPr>
              <a:t>i</a:t>
            </a:r>
            <a:r>
              <a:rPr lang="en-GB" sz="4400" b="1" spc="-31" dirty="0">
                <a:solidFill>
                  <a:srgbClr val="272E40"/>
                </a:solidFill>
                <a:latin typeface="Arial"/>
                <a:cs typeface="Arial"/>
              </a:rPr>
              <a:t>gmo</a:t>
            </a:r>
            <a:r>
              <a:rPr lang="en-GB" sz="4400" b="1" spc="-24" dirty="0">
                <a:solidFill>
                  <a:srgbClr val="272E40"/>
                </a:solidFill>
                <a:latin typeface="Arial"/>
                <a:cs typeface="Arial"/>
              </a:rPr>
              <a:t>i</a:t>
            </a:r>
            <a:r>
              <a:rPr lang="en-GB" sz="4400" b="1" dirty="0">
                <a:solidFill>
                  <a:srgbClr val="272E40"/>
                </a:solidFill>
                <a:latin typeface="Arial"/>
                <a:cs typeface="Arial"/>
              </a:rPr>
              <a:t>d</a:t>
            </a:r>
            <a:r>
              <a:rPr lang="en-GB" sz="4400" b="1" spc="-61" dirty="0">
                <a:solidFill>
                  <a:srgbClr val="272E40"/>
                </a:solidFill>
                <a:latin typeface="Arial"/>
                <a:cs typeface="Arial"/>
              </a:rPr>
              <a:t> </a:t>
            </a:r>
            <a:r>
              <a:rPr lang="en-GB" sz="4400" b="1" dirty="0">
                <a:solidFill>
                  <a:srgbClr val="272E40"/>
                </a:solidFill>
                <a:latin typeface="Arial"/>
                <a:cs typeface="Arial"/>
              </a:rPr>
              <a:t>/</a:t>
            </a:r>
            <a:r>
              <a:rPr lang="en-GB" sz="4400" b="1" spc="-55" dirty="0">
                <a:solidFill>
                  <a:srgbClr val="272E40"/>
                </a:solidFill>
                <a:latin typeface="Arial"/>
                <a:cs typeface="Arial"/>
              </a:rPr>
              <a:t> </a:t>
            </a:r>
            <a:r>
              <a:rPr lang="en-GB" sz="4400" b="1" spc="-31" dirty="0">
                <a:solidFill>
                  <a:srgbClr val="272E40"/>
                </a:solidFill>
                <a:latin typeface="Arial"/>
                <a:cs typeface="Arial"/>
              </a:rPr>
              <a:t>Lo</a:t>
            </a:r>
            <a:r>
              <a:rPr lang="en-GB" sz="4400" b="1" spc="-37" dirty="0">
                <a:solidFill>
                  <a:srgbClr val="272E40"/>
                </a:solidFill>
                <a:latin typeface="Arial"/>
                <a:cs typeface="Arial"/>
              </a:rPr>
              <a:t>g</a:t>
            </a:r>
            <a:r>
              <a:rPr lang="en-GB" sz="4400" b="1" spc="-24" dirty="0">
                <a:solidFill>
                  <a:srgbClr val="272E40"/>
                </a:solidFill>
                <a:latin typeface="Arial"/>
                <a:cs typeface="Arial"/>
              </a:rPr>
              <a:t>i</a:t>
            </a:r>
            <a:r>
              <a:rPr lang="en-GB" sz="4400" b="1" spc="-34" dirty="0">
                <a:solidFill>
                  <a:srgbClr val="272E40"/>
                </a:solidFill>
                <a:latin typeface="Arial"/>
                <a:cs typeface="Arial"/>
              </a:rPr>
              <a:t>s</a:t>
            </a:r>
            <a:r>
              <a:rPr lang="en-GB" sz="4400" b="1" spc="-31" dirty="0">
                <a:solidFill>
                  <a:srgbClr val="272E40"/>
                </a:solidFill>
                <a:latin typeface="Arial"/>
                <a:cs typeface="Arial"/>
              </a:rPr>
              <a:t>t</a:t>
            </a:r>
            <a:r>
              <a:rPr lang="en-GB" sz="4400" b="1" spc="-24" dirty="0">
                <a:solidFill>
                  <a:srgbClr val="272E40"/>
                </a:solidFill>
                <a:latin typeface="Arial"/>
                <a:cs typeface="Arial"/>
              </a:rPr>
              <a:t>i</a:t>
            </a:r>
            <a:r>
              <a:rPr lang="en-GB" sz="4400" b="1" spc="-3" dirty="0">
                <a:solidFill>
                  <a:srgbClr val="272E40"/>
                </a:solidFill>
                <a:latin typeface="Arial"/>
                <a:cs typeface="Arial"/>
              </a:rPr>
              <a:t>c</a:t>
            </a:r>
            <a:r>
              <a:rPr lang="en-GB" sz="4400" b="1" spc="-51" dirty="0">
                <a:solidFill>
                  <a:srgbClr val="272E40"/>
                </a:solidFill>
                <a:latin typeface="Arial"/>
                <a:cs typeface="Arial"/>
              </a:rPr>
              <a:t> </a:t>
            </a:r>
            <a:r>
              <a:rPr lang="en-GB" sz="4400" b="1" spc="-31" dirty="0">
                <a:solidFill>
                  <a:srgbClr val="272E40"/>
                </a:solidFill>
                <a:latin typeface="Arial"/>
                <a:cs typeface="Arial"/>
              </a:rPr>
              <a:t>A</a:t>
            </a:r>
            <a:r>
              <a:rPr lang="en-GB" sz="4400" b="1" spc="-34" dirty="0">
                <a:solidFill>
                  <a:srgbClr val="272E40"/>
                </a:solidFill>
                <a:latin typeface="Arial"/>
                <a:cs typeface="Arial"/>
              </a:rPr>
              <a:t>c</a:t>
            </a:r>
            <a:r>
              <a:rPr lang="en-GB" sz="4400" b="1" spc="-31" dirty="0">
                <a:solidFill>
                  <a:srgbClr val="272E40"/>
                </a:solidFill>
                <a:latin typeface="Arial"/>
                <a:cs typeface="Arial"/>
              </a:rPr>
              <a:t>ti</a:t>
            </a:r>
            <a:r>
              <a:rPr lang="en-GB" sz="4400" b="1" spc="-24" dirty="0">
                <a:solidFill>
                  <a:srgbClr val="272E40"/>
                </a:solidFill>
                <a:latin typeface="Arial"/>
                <a:cs typeface="Arial"/>
              </a:rPr>
              <a:t>v</a:t>
            </a:r>
            <a:r>
              <a:rPr lang="en-GB" sz="4400" b="1" spc="-34" dirty="0">
                <a:solidFill>
                  <a:srgbClr val="272E40"/>
                </a:solidFill>
                <a:latin typeface="Arial"/>
                <a:cs typeface="Arial"/>
              </a:rPr>
              <a:t>a</a:t>
            </a:r>
            <a:r>
              <a:rPr lang="en-GB" sz="4400" b="1" spc="-31" dirty="0">
                <a:solidFill>
                  <a:srgbClr val="272E40"/>
                </a:solidFill>
                <a:latin typeface="Arial"/>
                <a:cs typeface="Arial"/>
              </a:rPr>
              <a:t>t</a:t>
            </a:r>
            <a:r>
              <a:rPr lang="en-GB" sz="4400" b="1" spc="-24" dirty="0">
                <a:solidFill>
                  <a:srgbClr val="272E40"/>
                </a:solidFill>
                <a:latin typeface="Arial"/>
                <a:cs typeface="Arial"/>
              </a:rPr>
              <a:t>i</a:t>
            </a:r>
            <a:r>
              <a:rPr lang="en-GB" sz="4400" b="1" spc="-31" dirty="0">
                <a:solidFill>
                  <a:srgbClr val="272E40"/>
                </a:solidFill>
                <a:latin typeface="Arial"/>
                <a:cs typeface="Arial"/>
              </a:rPr>
              <a:t>o</a:t>
            </a:r>
            <a:r>
              <a:rPr lang="en-GB" sz="4400" b="1" dirty="0">
                <a:solidFill>
                  <a:srgbClr val="272E40"/>
                </a:solidFill>
                <a:latin typeface="Arial"/>
                <a:cs typeface="Arial"/>
              </a:rPr>
              <a:t>n</a:t>
            </a:r>
            <a:r>
              <a:rPr lang="en-GB" sz="4400" b="1" spc="-51" dirty="0">
                <a:solidFill>
                  <a:srgbClr val="272E40"/>
                </a:solidFill>
                <a:latin typeface="Arial"/>
                <a:cs typeface="Arial"/>
              </a:rPr>
              <a:t> </a:t>
            </a:r>
            <a:r>
              <a:rPr lang="en-GB" sz="4400" b="1" spc="-31" dirty="0">
                <a:solidFill>
                  <a:srgbClr val="272E40"/>
                </a:solidFill>
                <a:latin typeface="Arial"/>
                <a:cs typeface="Arial"/>
              </a:rPr>
              <a:t>Fu</a:t>
            </a:r>
            <a:r>
              <a:rPr lang="en-GB" sz="4400" b="1" spc="-37" dirty="0">
                <a:solidFill>
                  <a:srgbClr val="272E40"/>
                </a:solidFill>
                <a:latin typeface="Arial"/>
                <a:cs typeface="Arial"/>
              </a:rPr>
              <a:t>n</a:t>
            </a:r>
            <a:r>
              <a:rPr lang="en-GB" sz="4400" b="1" spc="-34" dirty="0">
                <a:solidFill>
                  <a:srgbClr val="272E40"/>
                </a:solidFill>
                <a:latin typeface="Arial"/>
                <a:cs typeface="Arial"/>
              </a:rPr>
              <a:t>c</a:t>
            </a:r>
            <a:r>
              <a:rPr lang="en-GB" sz="4400" b="1" spc="-24" dirty="0">
                <a:solidFill>
                  <a:srgbClr val="272E40"/>
                </a:solidFill>
                <a:latin typeface="Arial"/>
                <a:cs typeface="Arial"/>
              </a:rPr>
              <a:t>t</a:t>
            </a:r>
            <a:r>
              <a:rPr lang="en-GB" sz="4400" b="1" spc="-31" dirty="0">
                <a:solidFill>
                  <a:srgbClr val="272E40"/>
                </a:solidFill>
                <a:latin typeface="Arial"/>
                <a:cs typeface="Arial"/>
              </a:rPr>
              <a:t>io</a:t>
            </a:r>
            <a:r>
              <a:rPr lang="en-GB" sz="4400" b="1" dirty="0">
                <a:solidFill>
                  <a:srgbClr val="272E40"/>
                </a:solidFill>
                <a:latin typeface="Arial"/>
                <a:cs typeface="Arial"/>
              </a:rPr>
              <a:t>n</a:t>
            </a:r>
            <a:br>
              <a:rPr lang="en-GB" sz="4400" dirty="0">
                <a:latin typeface="Arial MT"/>
                <a:cs typeface="Arial MT"/>
              </a:rPr>
            </a:br>
            <a:br>
              <a:rPr lang="en-GB" sz="4400" dirty="0">
                <a:latin typeface="Arial"/>
                <a:cs typeface="Arial"/>
              </a:rPr>
            </a:br>
            <a:endParaRPr lang="en-PK" dirty="0"/>
          </a:p>
        </p:txBody>
      </p:sp>
      <p:sp>
        <p:nvSpPr>
          <p:cNvPr id="6" name="Content Placeholder 5">
            <a:extLst>
              <a:ext uri="{FF2B5EF4-FFF2-40B4-BE49-F238E27FC236}">
                <a16:creationId xmlns:a16="http://schemas.microsoft.com/office/drawing/2014/main" id="{0D4980C6-E3D3-74E2-AB02-0FFA7416D667}"/>
              </a:ext>
            </a:extLst>
          </p:cNvPr>
          <p:cNvSpPr>
            <a:spLocks noGrp="1"/>
          </p:cNvSpPr>
          <p:nvPr>
            <p:ph idx="1"/>
          </p:nvPr>
        </p:nvSpPr>
        <p:spPr>
          <a:xfrm>
            <a:off x="572632" y="2281474"/>
            <a:ext cx="9872871" cy="2030994"/>
          </a:xfrm>
        </p:spPr>
        <p:txBody>
          <a:bodyPr>
            <a:normAutofit fontScale="92500" lnSpcReduction="10000"/>
          </a:bodyPr>
          <a:lstStyle/>
          <a:p>
            <a:pPr marL="8659">
              <a:spcBef>
                <a:spcPts val="815"/>
              </a:spcBef>
            </a:pPr>
            <a:r>
              <a:rPr lang="en-GB" sz="2400" spc="-7" dirty="0">
                <a:solidFill>
                  <a:srgbClr val="080912"/>
                </a:solidFill>
                <a:latin typeface="Arial MT"/>
                <a:cs typeface="Arial MT"/>
              </a:rPr>
              <a:t>This</a:t>
            </a:r>
            <a:r>
              <a:rPr lang="en-GB" sz="2400" spc="-1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17" dirty="0">
                <a:solidFill>
                  <a:srgbClr val="080912"/>
                </a:solidFill>
                <a:latin typeface="Arial MT"/>
                <a:cs typeface="Arial MT"/>
              </a:rPr>
              <a:t> </a:t>
            </a:r>
            <a:r>
              <a:rPr lang="en-GB" sz="2400" spc="-14" dirty="0">
                <a:solidFill>
                  <a:srgbClr val="080912"/>
                </a:solidFill>
                <a:latin typeface="Arial MT"/>
                <a:cs typeface="Arial MT"/>
              </a:rPr>
              <a:t>takes </a:t>
            </a:r>
            <a:r>
              <a:rPr lang="en-GB" sz="2400" spc="-10" dirty="0">
                <a:solidFill>
                  <a:srgbClr val="080912"/>
                </a:solidFill>
                <a:latin typeface="Arial MT"/>
                <a:cs typeface="Arial MT"/>
              </a:rPr>
              <a:t>any</a:t>
            </a:r>
            <a:r>
              <a:rPr lang="en-GB" sz="2400" spc="-17" dirty="0">
                <a:solidFill>
                  <a:srgbClr val="080912"/>
                </a:solidFill>
                <a:latin typeface="Arial MT"/>
                <a:cs typeface="Arial MT"/>
              </a:rPr>
              <a:t> </a:t>
            </a:r>
            <a:r>
              <a:rPr lang="en-GB" sz="2400" spc="-10" dirty="0">
                <a:solidFill>
                  <a:srgbClr val="080912"/>
                </a:solidFill>
                <a:latin typeface="Arial MT"/>
                <a:cs typeface="Arial MT"/>
              </a:rPr>
              <a:t>real</a:t>
            </a:r>
            <a:r>
              <a:rPr lang="en-GB" sz="2400" spc="-27" dirty="0">
                <a:solidFill>
                  <a:srgbClr val="080912"/>
                </a:solidFill>
                <a:latin typeface="Arial MT"/>
                <a:cs typeface="Arial MT"/>
              </a:rPr>
              <a:t> </a:t>
            </a:r>
            <a:r>
              <a:rPr lang="en-GB" sz="2400" spc="-10" dirty="0">
                <a:solidFill>
                  <a:srgbClr val="080912"/>
                </a:solidFill>
                <a:latin typeface="Arial MT"/>
                <a:cs typeface="Arial MT"/>
              </a:rPr>
              <a:t>value</a:t>
            </a:r>
            <a:r>
              <a:rPr lang="en-GB" sz="2400" spc="-24" dirty="0">
                <a:solidFill>
                  <a:srgbClr val="080912"/>
                </a:solidFill>
                <a:latin typeface="Arial MT"/>
                <a:cs typeface="Arial MT"/>
              </a:rPr>
              <a:t> </a:t>
            </a:r>
            <a:r>
              <a:rPr lang="en-GB" sz="2400" spc="-7" dirty="0">
                <a:solidFill>
                  <a:srgbClr val="080912"/>
                </a:solidFill>
                <a:latin typeface="Arial MT"/>
                <a:cs typeface="Arial MT"/>
              </a:rPr>
              <a:t>as</a:t>
            </a:r>
            <a:r>
              <a:rPr lang="en-GB" sz="2400" spc="-17" dirty="0">
                <a:solidFill>
                  <a:srgbClr val="080912"/>
                </a:solidFill>
                <a:latin typeface="Arial MT"/>
                <a:cs typeface="Arial MT"/>
              </a:rPr>
              <a:t> </a:t>
            </a:r>
            <a:r>
              <a:rPr lang="en-GB" sz="2400" spc="-10" dirty="0">
                <a:solidFill>
                  <a:srgbClr val="080912"/>
                </a:solidFill>
                <a:latin typeface="Arial MT"/>
                <a:cs typeface="Arial MT"/>
              </a:rPr>
              <a:t>input</a:t>
            </a:r>
            <a:r>
              <a:rPr lang="en-GB" sz="2400" spc="-20" dirty="0">
                <a:solidFill>
                  <a:srgbClr val="080912"/>
                </a:solidFill>
                <a:latin typeface="Arial MT"/>
                <a:cs typeface="Arial MT"/>
              </a:rPr>
              <a:t> </a:t>
            </a:r>
            <a:r>
              <a:rPr lang="en-GB" sz="2400" spc="-7" dirty="0">
                <a:solidFill>
                  <a:srgbClr val="080912"/>
                </a:solidFill>
                <a:latin typeface="Arial MT"/>
                <a:cs typeface="Arial MT"/>
              </a:rPr>
              <a:t>and</a:t>
            </a:r>
            <a:r>
              <a:rPr lang="en-GB" sz="2400" spc="-24" dirty="0">
                <a:solidFill>
                  <a:srgbClr val="080912"/>
                </a:solidFill>
                <a:latin typeface="Arial MT"/>
                <a:cs typeface="Arial MT"/>
              </a:rPr>
              <a:t> </a:t>
            </a:r>
            <a:r>
              <a:rPr lang="en-GB" sz="2400" spc="-10" dirty="0">
                <a:solidFill>
                  <a:srgbClr val="080912"/>
                </a:solidFill>
                <a:latin typeface="Arial MT"/>
                <a:cs typeface="Arial MT"/>
              </a:rPr>
              <a:t>outputs</a:t>
            </a:r>
            <a:r>
              <a:rPr lang="en-GB" sz="2400" spc="-24" dirty="0">
                <a:solidFill>
                  <a:srgbClr val="080912"/>
                </a:solidFill>
                <a:latin typeface="Arial MT"/>
                <a:cs typeface="Arial MT"/>
              </a:rPr>
              <a:t> </a:t>
            </a:r>
            <a:r>
              <a:rPr lang="en-GB" sz="2400" spc="-10" dirty="0">
                <a:solidFill>
                  <a:srgbClr val="080912"/>
                </a:solidFill>
                <a:latin typeface="Arial MT"/>
                <a:cs typeface="Arial MT"/>
              </a:rPr>
              <a:t>values</a:t>
            </a:r>
            <a:r>
              <a:rPr lang="en-GB" sz="2400" spc="-20" dirty="0">
                <a:solidFill>
                  <a:srgbClr val="080912"/>
                </a:solidFill>
                <a:latin typeface="Arial MT"/>
                <a:cs typeface="Arial MT"/>
              </a:rPr>
              <a:t> </a:t>
            </a:r>
            <a:r>
              <a:rPr lang="en-GB" sz="2400" spc="-7" dirty="0">
                <a:solidFill>
                  <a:srgbClr val="080912"/>
                </a:solidFill>
                <a:latin typeface="Arial MT"/>
                <a:cs typeface="Arial MT"/>
              </a:rPr>
              <a:t>in</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range</a:t>
            </a:r>
            <a:r>
              <a:rPr lang="en-GB" sz="2400" spc="-17" dirty="0">
                <a:solidFill>
                  <a:srgbClr val="080912"/>
                </a:solidFill>
                <a:latin typeface="Arial MT"/>
                <a:cs typeface="Arial MT"/>
              </a:rPr>
              <a:t> </a:t>
            </a:r>
            <a:r>
              <a:rPr lang="en-GB" sz="2400" spc="-3" dirty="0">
                <a:solidFill>
                  <a:srgbClr val="080912"/>
                </a:solidFill>
                <a:latin typeface="Arial MT"/>
                <a:cs typeface="Arial MT"/>
              </a:rPr>
              <a:t>of</a:t>
            </a:r>
            <a:r>
              <a:rPr lang="en-GB" sz="2400" spc="-27" dirty="0">
                <a:solidFill>
                  <a:srgbClr val="080912"/>
                </a:solidFill>
                <a:latin typeface="Arial MT"/>
                <a:cs typeface="Arial MT"/>
              </a:rPr>
              <a:t> </a:t>
            </a:r>
            <a:r>
              <a:rPr lang="en-GB" sz="2400" dirty="0">
                <a:solidFill>
                  <a:srgbClr val="080912"/>
                </a:solidFill>
                <a:latin typeface="Arial MT"/>
                <a:cs typeface="Arial MT"/>
              </a:rPr>
              <a:t>0</a:t>
            </a:r>
            <a:r>
              <a:rPr lang="en-GB" sz="2400" spc="-20" dirty="0">
                <a:solidFill>
                  <a:srgbClr val="080912"/>
                </a:solidFill>
                <a:latin typeface="Arial MT"/>
                <a:cs typeface="Arial MT"/>
              </a:rPr>
              <a:t> </a:t>
            </a:r>
            <a:r>
              <a:rPr lang="en-GB" sz="2400" spc="-10" dirty="0">
                <a:solidFill>
                  <a:srgbClr val="080912"/>
                </a:solidFill>
                <a:latin typeface="Arial MT"/>
                <a:cs typeface="Arial MT"/>
              </a:rPr>
              <a:t>to</a:t>
            </a:r>
            <a:r>
              <a:rPr lang="en-GB" sz="2400" spc="-17" dirty="0">
                <a:solidFill>
                  <a:srgbClr val="080912"/>
                </a:solidFill>
                <a:latin typeface="Arial MT"/>
                <a:cs typeface="Arial MT"/>
              </a:rPr>
              <a:t> </a:t>
            </a:r>
            <a:r>
              <a:rPr lang="en-GB" sz="2400" spc="-7" dirty="0">
                <a:solidFill>
                  <a:srgbClr val="080912"/>
                </a:solidFill>
                <a:latin typeface="Arial MT"/>
                <a:cs typeface="Arial MT"/>
              </a:rPr>
              <a:t>1.</a:t>
            </a:r>
            <a:endParaRPr lang="en-GB" sz="2400" dirty="0">
              <a:latin typeface="Arial MT"/>
              <a:cs typeface="Arial MT"/>
            </a:endParaRPr>
          </a:p>
          <a:p>
            <a:pPr marL="8659" marR="3464">
              <a:lnSpc>
                <a:spcPct val="143700"/>
              </a:lnSpc>
              <a:spcBef>
                <a:spcPts val="402"/>
              </a:spcBef>
            </a:pPr>
            <a:r>
              <a:rPr lang="en-GB" sz="2400" spc="-7" dirty="0">
                <a:solidFill>
                  <a:srgbClr val="080912"/>
                </a:solidFill>
                <a:latin typeface="Arial MT"/>
                <a:cs typeface="Arial MT"/>
              </a:rPr>
              <a:t>The</a:t>
            </a:r>
            <a:r>
              <a:rPr lang="en-GB" sz="2400" spc="55" dirty="0">
                <a:solidFill>
                  <a:srgbClr val="080912"/>
                </a:solidFill>
                <a:latin typeface="Arial MT"/>
                <a:cs typeface="Arial MT"/>
              </a:rPr>
              <a:t> </a:t>
            </a:r>
            <a:r>
              <a:rPr lang="en-GB" sz="2400" spc="-10" dirty="0">
                <a:solidFill>
                  <a:srgbClr val="080912"/>
                </a:solidFill>
                <a:latin typeface="Arial MT"/>
                <a:cs typeface="Arial MT"/>
              </a:rPr>
              <a:t>larger</a:t>
            </a:r>
            <a:r>
              <a:rPr lang="en-GB" sz="2400" spc="58" dirty="0">
                <a:solidFill>
                  <a:srgbClr val="080912"/>
                </a:solidFill>
                <a:latin typeface="Arial MT"/>
                <a:cs typeface="Arial MT"/>
              </a:rPr>
              <a:t> </a:t>
            </a:r>
            <a:r>
              <a:rPr lang="en-GB" sz="2400" spc="-10" dirty="0">
                <a:solidFill>
                  <a:srgbClr val="080912"/>
                </a:solidFill>
                <a:latin typeface="Arial MT"/>
                <a:cs typeface="Arial MT"/>
              </a:rPr>
              <a:t>the</a:t>
            </a:r>
            <a:r>
              <a:rPr lang="en-GB" sz="2400" spc="58" dirty="0">
                <a:solidFill>
                  <a:srgbClr val="080912"/>
                </a:solidFill>
                <a:latin typeface="Arial MT"/>
                <a:cs typeface="Arial MT"/>
              </a:rPr>
              <a:t> </a:t>
            </a:r>
            <a:r>
              <a:rPr lang="en-GB" sz="2400" spc="-10" dirty="0">
                <a:solidFill>
                  <a:srgbClr val="080912"/>
                </a:solidFill>
                <a:latin typeface="Arial MT"/>
                <a:cs typeface="Arial MT"/>
              </a:rPr>
              <a:t>input</a:t>
            </a:r>
            <a:r>
              <a:rPr lang="en-GB" sz="2400" spc="51" dirty="0">
                <a:solidFill>
                  <a:srgbClr val="080912"/>
                </a:solidFill>
                <a:latin typeface="Arial MT"/>
                <a:cs typeface="Arial MT"/>
              </a:rPr>
              <a:t> </a:t>
            </a:r>
            <a:r>
              <a:rPr lang="en-GB" sz="2400" spc="-10" dirty="0">
                <a:solidFill>
                  <a:srgbClr val="080912"/>
                </a:solidFill>
                <a:latin typeface="Arial MT"/>
                <a:cs typeface="Arial MT"/>
              </a:rPr>
              <a:t>(more</a:t>
            </a:r>
            <a:r>
              <a:rPr lang="en-GB" sz="2400" spc="48" dirty="0">
                <a:solidFill>
                  <a:srgbClr val="080912"/>
                </a:solidFill>
                <a:latin typeface="Arial MT"/>
                <a:cs typeface="Arial MT"/>
              </a:rPr>
              <a:t> </a:t>
            </a:r>
            <a:r>
              <a:rPr lang="en-GB" sz="2400" spc="-10" dirty="0">
                <a:solidFill>
                  <a:srgbClr val="080912"/>
                </a:solidFill>
                <a:latin typeface="Arial MT"/>
                <a:cs typeface="Arial MT"/>
              </a:rPr>
              <a:t>positive),</a:t>
            </a:r>
            <a:r>
              <a:rPr lang="en-GB" sz="2400" spc="51" dirty="0">
                <a:solidFill>
                  <a:srgbClr val="080912"/>
                </a:solidFill>
                <a:latin typeface="Arial MT"/>
                <a:cs typeface="Arial MT"/>
              </a:rPr>
              <a:t> </a:t>
            </a:r>
            <a:r>
              <a:rPr lang="en-GB" sz="2400" spc="-10" dirty="0">
                <a:solidFill>
                  <a:srgbClr val="080912"/>
                </a:solidFill>
                <a:latin typeface="Arial MT"/>
                <a:cs typeface="Arial MT"/>
              </a:rPr>
              <a:t>the</a:t>
            </a:r>
            <a:r>
              <a:rPr lang="en-GB" sz="2400" spc="48" dirty="0">
                <a:solidFill>
                  <a:srgbClr val="080912"/>
                </a:solidFill>
                <a:latin typeface="Arial MT"/>
                <a:cs typeface="Arial MT"/>
              </a:rPr>
              <a:t> </a:t>
            </a:r>
            <a:r>
              <a:rPr lang="en-GB" sz="2400" spc="-10" dirty="0">
                <a:solidFill>
                  <a:srgbClr val="080912"/>
                </a:solidFill>
                <a:latin typeface="Arial MT"/>
                <a:cs typeface="Arial MT"/>
              </a:rPr>
              <a:t>closer</a:t>
            </a:r>
            <a:r>
              <a:rPr lang="en-GB" sz="2400" spc="58" dirty="0">
                <a:solidFill>
                  <a:srgbClr val="080912"/>
                </a:solidFill>
                <a:latin typeface="Arial MT"/>
                <a:cs typeface="Arial MT"/>
              </a:rPr>
              <a:t> </a:t>
            </a:r>
            <a:r>
              <a:rPr lang="en-GB" sz="2400" spc="-10" dirty="0">
                <a:solidFill>
                  <a:srgbClr val="080912"/>
                </a:solidFill>
                <a:latin typeface="Arial MT"/>
                <a:cs typeface="Arial MT"/>
              </a:rPr>
              <a:t>the</a:t>
            </a:r>
            <a:r>
              <a:rPr lang="en-GB" sz="2400" spc="58" dirty="0">
                <a:solidFill>
                  <a:srgbClr val="080912"/>
                </a:solidFill>
                <a:latin typeface="Arial MT"/>
                <a:cs typeface="Arial MT"/>
              </a:rPr>
              <a:t> </a:t>
            </a:r>
            <a:r>
              <a:rPr lang="en-GB" sz="2400" spc="-10" dirty="0">
                <a:solidFill>
                  <a:srgbClr val="080912"/>
                </a:solidFill>
                <a:latin typeface="Arial MT"/>
                <a:cs typeface="Arial MT"/>
              </a:rPr>
              <a:t>output</a:t>
            </a:r>
            <a:r>
              <a:rPr lang="en-GB" sz="2400" spc="44" dirty="0">
                <a:solidFill>
                  <a:srgbClr val="080912"/>
                </a:solidFill>
                <a:latin typeface="Arial MT"/>
                <a:cs typeface="Arial MT"/>
              </a:rPr>
              <a:t> </a:t>
            </a:r>
            <a:r>
              <a:rPr lang="en-GB" sz="2400" spc="-10" dirty="0">
                <a:solidFill>
                  <a:srgbClr val="080912"/>
                </a:solidFill>
                <a:latin typeface="Arial MT"/>
                <a:cs typeface="Arial MT"/>
              </a:rPr>
              <a:t>value</a:t>
            </a:r>
            <a:r>
              <a:rPr lang="en-GB" sz="2400" spc="48" dirty="0">
                <a:solidFill>
                  <a:srgbClr val="080912"/>
                </a:solidFill>
                <a:latin typeface="Arial MT"/>
                <a:cs typeface="Arial MT"/>
              </a:rPr>
              <a:t> </a:t>
            </a:r>
            <a:r>
              <a:rPr lang="en-GB" sz="2400" spc="-7" dirty="0">
                <a:solidFill>
                  <a:srgbClr val="080912"/>
                </a:solidFill>
                <a:latin typeface="Arial MT"/>
                <a:cs typeface="Arial MT"/>
              </a:rPr>
              <a:t>will</a:t>
            </a:r>
            <a:r>
              <a:rPr lang="en-GB" sz="2400" spc="55" dirty="0">
                <a:solidFill>
                  <a:srgbClr val="080912"/>
                </a:solidFill>
                <a:latin typeface="Arial MT"/>
                <a:cs typeface="Arial MT"/>
              </a:rPr>
              <a:t> </a:t>
            </a:r>
            <a:r>
              <a:rPr lang="en-GB" sz="2400" spc="-7" dirty="0">
                <a:solidFill>
                  <a:srgbClr val="080912"/>
                </a:solidFill>
                <a:latin typeface="Arial MT"/>
                <a:cs typeface="Arial MT"/>
              </a:rPr>
              <a:t>be</a:t>
            </a:r>
            <a:r>
              <a:rPr lang="en-GB" sz="2400" spc="58" dirty="0">
                <a:solidFill>
                  <a:srgbClr val="080912"/>
                </a:solidFill>
                <a:latin typeface="Arial MT"/>
                <a:cs typeface="Arial MT"/>
              </a:rPr>
              <a:t> </a:t>
            </a:r>
            <a:r>
              <a:rPr lang="en-GB" sz="2400" spc="-7" dirty="0">
                <a:solidFill>
                  <a:srgbClr val="080912"/>
                </a:solidFill>
                <a:latin typeface="Arial MT"/>
                <a:cs typeface="Arial MT"/>
              </a:rPr>
              <a:t>to</a:t>
            </a:r>
            <a:r>
              <a:rPr lang="en-GB" sz="2400" spc="58" dirty="0">
                <a:solidFill>
                  <a:srgbClr val="080912"/>
                </a:solidFill>
                <a:latin typeface="Arial MT"/>
                <a:cs typeface="Arial MT"/>
              </a:rPr>
              <a:t> </a:t>
            </a:r>
            <a:r>
              <a:rPr lang="en-GB" sz="2400" spc="-7" dirty="0">
                <a:solidFill>
                  <a:srgbClr val="080912"/>
                </a:solidFill>
                <a:latin typeface="Arial MT"/>
                <a:cs typeface="Arial MT"/>
              </a:rPr>
              <a:t>1.0,</a:t>
            </a:r>
            <a:r>
              <a:rPr lang="en-GB" sz="2400" spc="51" dirty="0">
                <a:solidFill>
                  <a:srgbClr val="080912"/>
                </a:solidFill>
                <a:latin typeface="Arial MT"/>
                <a:cs typeface="Arial MT"/>
              </a:rPr>
              <a:t> </a:t>
            </a:r>
            <a:r>
              <a:rPr lang="en-GB" sz="2400" spc="-10" dirty="0">
                <a:solidFill>
                  <a:srgbClr val="080912"/>
                </a:solidFill>
                <a:latin typeface="Arial MT"/>
                <a:cs typeface="Arial MT"/>
              </a:rPr>
              <a:t>whereas</a:t>
            </a:r>
            <a:r>
              <a:rPr lang="en-GB" sz="2400" spc="61" dirty="0">
                <a:solidFill>
                  <a:srgbClr val="080912"/>
                </a:solidFill>
                <a:latin typeface="Arial MT"/>
                <a:cs typeface="Arial MT"/>
              </a:rPr>
              <a:t> </a:t>
            </a:r>
            <a:r>
              <a:rPr lang="en-GB" sz="2400" spc="-10" dirty="0">
                <a:solidFill>
                  <a:srgbClr val="080912"/>
                </a:solidFill>
                <a:latin typeface="Arial MT"/>
                <a:cs typeface="Arial MT"/>
              </a:rPr>
              <a:t>the </a:t>
            </a:r>
            <a:r>
              <a:rPr lang="en-GB" sz="2400" spc="-245" dirty="0">
                <a:solidFill>
                  <a:srgbClr val="080912"/>
                </a:solidFill>
                <a:latin typeface="Arial MT"/>
                <a:cs typeface="Arial MT"/>
              </a:rPr>
              <a:t> </a:t>
            </a:r>
            <a:r>
              <a:rPr lang="en-GB" sz="2400" spc="-10" dirty="0">
                <a:solidFill>
                  <a:srgbClr val="080912"/>
                </a:solidFill>
                <a:latin typeface="Arial MT"/>
                <a:cs typeface="Arial MT"/>
              </a:rPr>
              <a:t>smaller</a:t>
            </a:r>
            <a:r>
              <a:rPr lang="en-GB" sz="2400" spc="-17" dirty="0">
                <a:solidFill>
                  <a:srgbClr val="080912"/>
                </a:solidFill>
                <a:latin typeface="Arial MT"/>
                <a:cs typeface="Arial MT"/>
              </a:rPr>
              <a:t> </a:t>
            </a:r>
            <a:r>
              <a:rPr lang="en-GB" sz="2400" spc="-14" dirty="0">
                <a:solidFill>
                  <a:srgbClr val="080912"/>
                </a:solidFill>
                <a:latin typeface="Arial MT"/>
                <a:cs typeface="Arial MT"/>
              </a:rPr>
              <a:t>the</a:t>
            </a:r>
            <a:r>
              <a:rPr lang="en-GB" sz="2400" spc="-17" dirty="0">
                <a:solidFill>
                  <a:srgbClr val="080912"/>
                </a:solidFill>
                <a:latin typeface="Arial MT"/>
                <a:cs typeface="Arial MT"/>
              </a:rPr>
              <a:t> </a:t>
            </a:r>
            <a:r>
              <a:rPr lang="en-GB" sz="2400" spc="-10" dirty="0">
                <a:solidFill>
                  <a:srgbClr val="080912"/>
                </a:solidFill>
                <a:latin typeface="Arial MT"/>
                <a:cs typeface="Arial MT"/>
              </a:rPr>
              <a:t>input</a:t>
            </a:r>
            <a:r>
              <a:rPr lang="en-GB" sz="2400" spc="-31" dirty="0">
                <a:solidFill>
                  <a:srgbClr val="080912"/>
                </a:solidFill>
                <a:latin typeface="Arial MT"/>
                <a:cs typeface="Arial MT"/>
              </a:rPr>
              <a:t> </a:t>
            </a:r>
            <a:r>
              <a:rPr lang="en-GB" sz="2400" spc="-10" dirty="0">
                <a:solidFill>
                  <a:srgbClr val="080912"/>
                </a:solidFill>
                <a:latin typeface="Arial MT"/>
                <a:cs typeface="Arial MT"/>
              </a:rPr>
              <a:t>(more</a:t>
            </a:r>
            <a:r>
              <a:rPr lang="en-GB" sz="2400" spc="-24" dirty="0">
                <a:solidFill>
                  <a:srgbClr val="080912"/>
                </a:solidFill>
                <a:latin typeface="Arial MT"/>
                <a:cs typeface="Arial MT"/>
              </a:rPr>
              <a:t> </a:t>
            </a:r>
            <a:r>
              <a:rPr lang="en-GB" sz="2400" spc="-10" dirty="0">
                <a:solidFill>
                  <a:srgbClr val="080912"/>
                </a:solidFill>
                <a:latin typeface="Arial MT"/>
                <a:cs typeface="Arial MT"/>
              </a:rPr>
              <a:t>negative),</a:t>
            </a:r>
            <a:r>
              <a:rPr lang="en-GB" sz="2400" spc="-24" dirty="0">
                <a:solidFill>
                  <a:srgbClr val="080912"/>
                </a:solidFill>
                <a:latin typeface="Arial MT"/>
                <a:cs typeface="Arial MT"/>
              </a:rPr>
              <a:t> </a:t>
            </a:r>
            <a:r>
              <a:rPr lang="en-GB" sz="2400" spc="-10"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closer</a:t>
            </a:r>
            <a:r>
              <a:rPr lang="en-GB" sz="2400" spc="-17" dirty="0">
                <a:solidFill>
                  <a:srgbClr val="080912"/>
                </a:solidFill>
                <a:latin typeface="Arial MT"/>
                <a:cs typeface="Arial MT"/>
              </a:rPr>
              <a:t> </a:t>
            </a:r>
            <a:r>
              <a:rPr lang="en-GB" sz="2400" spc="-14" dirty="0">
                <a:solidFill>
                  <a:srgbClr val="080912"/>
                </a:solidFill>
                <a:latin typeface="Arial MT"/>
                <a:cs typeface="Arial MT"/>
              </a:rPr>
              <a:t>the</a:t>
            </a:r>
            <a:r>
              <a:rPr lang="en-GB" sz="2400" spc="-17" dirty="0">
                <a:solidFill>
                  <a:srgbClr val="080912"/>
                </a:solidFill>
                <a:latin typeface="Arial MT"/>
                <a:cs typeface="Arial MT"/>
              </a:rPr>
              <a:t> </a:t>
            </a:r>
            <a:r>
              <a:rPr lang="en-GB" sz="2400" spc="-10" dirty="0">
                <a:solidFill>
                  <a:srgbClr val="080912"/>
                </a:solidFill>
                <a:latin typeface="Arial MT"/>
                <a:cs typeface="Arial MT"/>
              </a:rPr>
              <a:t>output</a:t>
            </a:r>
            <a:r>
              <a:rPr lang="en-GB" sz="2400" spc="-31" dirty="0">
                <a:solidFill>
                  <a:srgbClr val="080912"/>
                </a:solidFill>
                <a:latin typeface="Arial MT"/>
                <a:cs typeface="Arial MT"/>
              </a:rPr>
              <a:t> </a:t>
            </a:r>
            <a:r>
              <a:rPr lang="en-GB" sz="2400" spc="-10" dirty="0">
                <a:solidFill>
                  <a:srgbClr val="080912"/>
                </a:solidFill>
                <a:latin typeface="Arial MT"/>
                <a:cs typeface="Arial MT"/>
              </a:rPr>
              <a:t>will</a:t>
            </a:r>
            <a:r>
              <a:rPr lang="en-GB" sz="2400" spc="-27" dirty="0">
                <a:solidFill>
                  <a:srgbClr val="080912"/>
                </a:solidFill>
                <a:latin typeface="Arial MT"/>
                <a:cs typeface="Arial MT"/>
              </a:rPr>
              <a:t> </a:t>
            </a:r>
            <a:r>
              <a:rPr lang="en-GB" sz="2400" spc="-7" dirty="0">
                <a:solidFill>
                  <a:srgbClr val="080912"/>
                </a:solidFill>
                <a:latin typeface="Arial MT"/>
                <a:cs typeface="Arial MT"/>
              </a:rPr>
              <a:t>be</a:t>
            </a:r>
            <a:r>
              <a:rPr lang="en-GB" sz="2400" spc="-27" dirty="0">
                <a:solidFill>
                  <a:srgbClr val="080912"/>
                </a:solidFill>
                <a:latin typeface="Arial MT"/>
                <a:cs typeface="Arial MT"/>
              </a:rPr>
              <a:t> </a:t>
            </a:r>
            <a:r>
              <a:rPr lang="en-GB" sz="2400" spc="-7" dirty="0">
                <a:solidFill>
                  <a:srgbClr val="080912"/>
                </a:solidFill>
                <a:latin typeface="Arial MT"/>
                <a:cs typeface="Arial MT"/>
              </a:rPr>
              <a:t>to</a:t>
            </a:r>
            <a:r>
              <a:rPr lang="en-GB" sz="2400" spc="-17" dirty="0">
                <a:solidFill>
                  <a:srgbClr val="080912"/>
                </a:solidFill>
                <a:latin typeface="Arial MT"/>
                <a:cs typeface="Arial MT"/>
              </a:rPr>
              <a:t> </a:t>
            </a:r>
            <a:r>
              <a:rPr lang="en-GB" sz="2400" spc="-7" dirty="0">
                <a:solidFill>
                  <a:srgbClr val="080912"/>
                </a:solidFill>
                <a:latin typeface="Arial MT"/>
                <a:cs typeface="Arial MT"/>
              </a:rPr>
              <a:t>0.0,</a:t>
            </a:r>
            <a:r>
              <a:rPr lang="en-GB" sz="2400" spc="-31" dirty="0">
                <a:solidFill>
                  <a:srgbClr val="080912"/>
                </a:solidFill>
                <a:latin typeface="Arial MT"/>
                <a:cs typeface="Arial MT"/>
              </a:rPr>
              <a:t> </a:t>
            </a:r>
            <a:r>
              <a:rPr lang="en-GB" sz="2400" spc="-7" dirty="0">
                <a:solidFill>
                  <a:srgbClr val="080912"/>
                </a:solidFill>
                <a:latin typeface="Arial MT"/>
                <a:cs typeface="Arial MT"/>
              </a:rPr>
              <a:t>as</a:t>
            </a:r>
            <a:r>
              <a:rPr lang="en-GB" sz="2400" spc="-20" dirty="0">
                <a:solidFill>
                  <a:srgbClr val="080912"/>
                </a:solidFill>
                <a:latin typeface="Arial MT"/>
                <a:cs typeface="Arial MT"/>
              </a:rPr>
              <a:t> </a:t>
            </a:r>
            <a:r>
              <a:rPr lang="en-GB" sz="2400" spc="-10" dirty="0">
                <a:solidFill>
                  <a:srgbClr val="080912"/>
                </a:solidFill>
                <a:latin typeface="Arial MT"/>
                <a:cs typeface="Arial MT"/>
              </a:rPr>
              <a:t>shown</a:t>
            </a:r>
            <a:r>
              <a:rPr lang="en-GB" sz="2400" spc="-20" dirty="0">
                <a:solidFill>
                  <a:srgbClr val="080912"/>
                </a:solidFill>
                <a:latin typeface="Arial MT"/>
                <a:cs typeface="Arial MT"/>
              </a:rPr>
              <a:t> </a:t>
            </a:r>
            <a:r>
              <a:rPr lang="en-GB" sz="2400" spc="-10" dirty="0">
                <a:solidFill>
                  <a:srgbClr val="080912"/>
                </a:solidFill>
                <a:latin typeface="Arial MT"/>
                <a:cs typeface="Arial MT"/>
              </a:rPr>
              <a:t>below.</a:t>
            </a:r>
            <a:endParaRPr lang="en-GB" sz="2400" dirty="0">
              <a:latin typeface="Arial MT"/>
              <a:cs typeface="Arial MT"/>
            </a:endParaRPr>
          </a:p>
          <a:p>
            <a:endParaRPr lang="en-PK" dirty="0"/>
          </a:p>
        </p:txBody>
      </p:sp>
      <p:pic>
        <p:nvPicPr>
          <p:cNvPr id="7" name="object 3"/>
          <p:cNvPicPr/>
          <p:nvPr/>
        </p:nvPicPr>
        <p:blipFill>
          <a:blip r:embed="rId3" cstate="print"/>
          <a:stretch>
            <a:fillRect/>
          </a:stretch>
        </p:blipFill>
        <p:spPr>
          <a:xfrm>
            <a:off x="5433047" y="4346523"/>
            <a:ext cx="2705347" cy="1767585"/>
          </a:xfrm>
          <a:prstGeom prst="rect">
            <a:avLst/>
          </a:prstGeom>
        </p:spPr>
      </p:pic>
      <p:sp>
        <p:nvSpPr>
          <p:cNvPr id="2" name="Slide Number Placeholder 1">
            <a:extLst>
              <a:ext uri="{FF2B5EF4-FFF2-40B4-BE49-F238E27FC236}">
                <a16:creationId xmlns:a16="http://schemas.microsoft.com/office/drawing/2014/main" id="{C42BAB7D-9948-2DE8-75BF-4BECBF546276}"/>
              </a:ext>
            </a:extLst>
          </p:cNvPr>
          <p:cNvSpPr>
            <a:spLocks noGrp="1"/>
          </p:cNvSpPr>
          <p:nvPr>
            <p:ph type="sldNum" sz="quarter" idx="12"/>
          </p:nvPr>
        </p:nvSpPr>
        <p:spPr/>
        <p:txBody>
          <a:bodyPr/>
          <a:lstStyle/>
          <a:p>
            <a:fld id="{9CD9A578-84A4-4247-B01E-A84B9E2DF7BB}" type="slidenum">
              <a:rPr lang="en-PK" smtClean="0"/>
              <a:t>6</a:t>
            </a:fld>
            <a:endParaRPr lang="en-PK"/>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6E74E0-7924-31A8-BCC4-246993C71867}"/>
              </a:ext>
            </a:extLst>
          </p:cNvPr>
          <p:cNvSpPr>
            <a:spLocks noGrp="1"/>
          </p:cNvSpPr>
          <p:nvPr>
            <p:ph type="title"/>
          </p:nvPr>
        </p:nvSpPr>
        <p:spPr>
          <a:xfrm>
            <a:off x="723892" y="426871"/>
            <a:ext cx="9875520" cy="1356360"/>
          </a:xfrm>
        </p:spPr>
        <p:txBody>
          <a:bodyPr/>
          <a:lstStyle/>
          <a:p>
            <a:r>
              <a:rPr lang="en-GB" dirty="0"/>
              <a:t>Why sigmoid?</a:t>
            </a:r>
            <a:endParaRPr lang="en-PK" dirty="0"/>
          </a:p>
        </p:txBody>
      </p:sp>
      <p:sp>
        <p:nvSpPr>
          <p:cNvPr id="5" name="Content Placeholder 4">
            <a:extLst>
              <a:ext uri="{FF2B5EF4-FFF2-40B4-BE49-F238E27FC236}">
                <a16:creationId xmlns:a16="http://schemas.microsoft.com/office/drawing/2014/main" id="{9C93196C-E973-95B6-93C9-29DF629BD423}"/>
              </a:ext>
            </a:extLst>
          </p:cNvPr>
          <p:cNvSpPr>
            <a:spLocks noGrp="1"/>
          </p:cNvSpPr>
          <p:nvPr>
            <p:ph idx="1"/>
          </p:nvPr>
        </p:nvSpPr>
        <p:spPr>
          <a:xfrm>
            <a:off x="726542" y="1895469"/>
            <a:ext cx="7358204" cy="4038600"/>
          </a:xfrm>
        </p:spPr>
        <p:txBody>
          <a:bodyPr>
            <a:normAutofit/>
          </a:bodyPr>
          <a:lstStyle/>
          <a:p>
            <a:pPr marL="320378" marR="288773" indent="-156292" algn="just">
              <a:lnSpc>
                <a:spcPct val="115900"/>
              </a:lnSpc>
              <a:spcBef>
                <a:spcPts val="511"/>
              </a:spcBef>
              <a:buSzPct val="74074"/>
              <a:buFont typeface="Symbol"/>
              <a:buChar char=""/>
              <a:tabLst>
                <a:tab pos="320810" algn="l"/>
              </a:tabLst>
            </a:pPr>
            <a:r>
              <a:rPr lang="en-GB" sz="2400" spc="-3" dirty="0">
                <a:solidFill>
                  <a:srgbClr val="080912"/>
                </a:solidFill>
                <a:latin typeface="Arial MT"/>
                <a:cs typeface="Arial MT"/>
              </a:rPr>
              <a:t>It </a:t>
            </a:r>
            <a:r>
              <a:rPr lang="en-GB" sz="2400" dirty="0">
                <a:solidFill>
                  <a:srgbClr val="080912"/>
                </a:solidFill>
                <a:latin typeface="Arial MT"/>
                <a:cs typeface="Arial MT"/>
              </a:rPr>
              <a:t>is </a:t>
            </a:r>
            <a:r>
              <a:rPr lang="en-GB" sz="2400" spc="-3" dirty="0">
                <a:solidFill>
                  <a:srgbClr val="080912"/>
                </a:solidFill>
                <a:latin typeface="Arial MT"/>
                <a:cs typeface="Arial MT"/>
              </a:rPr>
              <a:t>commonly used for </a:t>
            </a:r>
            <a:r>
              <a:rPr lang="en-GB" sz="2400" dirty="0">
                <a:solidFill>
                  <a:srgbClr val="080912"/>
                </a:solidFill>
                <a:latin typeface="Arial MT"/>
                <a:cs typeface="Arial MT"/>
              </a:rPr>
              <a:t>models </a:t>
            </a:r>
            <a:r>
              <a:rPr lang="en-GB" sz="2400" spc="-3" dirty="0">
                <a:solidFill>
                  <a:srgbClr val="080912"/>
                </a:solidFill>
                <a:latin typeface="Arial MT"/>
                <a:cs typeface="Arial MT"/>
              </a:rPr>
              <a:t>where we have to predict the </a:t>
            </a:r>
            <a:r>
              <a:rPr lang="en-GB" sz="2400" dirty="0">
                <a:solidFill>
                  <a:srgbClr val="080912"/>
                </a:solidFill>
                <a:latin typeface="Arial MT"/>
                <a:cs typeface="Arial MT"/>
              </a:rPr>
              <a:t>probability </a:t>
            </a:r>
            <a:r>
              <a:rPr lang="en-GB" sz="2400" spc="-3" dirty="0">
                <a:solidFill>
                  <a:srgbClr val="080912"/>
                </a:solidFill>
                <a:latin typeface="Arial MT"/>
                <a:cs typeface="Arial MT"/>
              </a:rPr>
              <a:t>as </a:t>
            </a:r>
            <a:r>
              <a:rPr lang="en-GB" sz="2400" dirty="0">
                <a:solidFill>
                  <a:srgbClr val="080912"/>
                </a:solidFill>
                <a:latin typeface="Arial MT"/>
                <a:cs typeface="Arial MT"/>
              </a:rPr>
              <a:t>an </a:t>
            </a:r>
            <a:r>
              <a:rPr lang="en-GB" sz="2400" spc="-249" dirty="0">
                <a:solidFill>
                  <a:srgbClr val="080912"/>
                </a:solidFill>
                <a:latin typeface="Arial MT"/>
                <a:cs typeface="Arial MT"/>
              </a:rPr>
              <a:t> </a:t>
            </a:r>
            <a:r>
              <a:rPr lang="en-GB" sz="2400" spc="-3" dirty="0">
                <a:solidFill>
                  <a:srgbClr val="080912"/>
                </a:solidFill>
                <a:latin typeface="Arial MT"/>
                <a:cs typeface="Arial MT"/>
              </a:rPr>
              <a:t>output. Since probability </a:t>
            </a:r>
            <a:r>
              <a:rPr lang="en-GB" sz="2400" dirty="0">
                <a:solidFill>
                  <a:srgbClr val="080912"/>
                </a:solidFill>
                <a:latin typeface="Arial MT"/>
                <a:cs typeface="Arial MT"/>
              </a:rPr>
              <a:t>of </a:t>
            </a:r>
            <a:r>
              <a:rPr lang="en-GB" sz="2400" spc="-3" dirty="0">
                <a:solidFill>
                  <a:srgbClr val="080912"/>
                </a:solidFill>
                <a:latin typeface="Arial MT"/>
                <a:cs typeface="Arial MT"/>
              </a:rPr>
              <a:t>anything exists only between the </a:t>
            </a:r>
            <a:r>
              <a:rPr lang="en-GB" sz="2400" dirty="0">
                <a:solidFill>
                  <a:srgbClr val="080912"/>
                </a:solidFill>
                <a:latin typeface="Arial MT"/>
                <a:cs typeface="Arial MT"/>
              </a:rPr>
              <a:t>range of 0 </a:t>
            </a:r>
            <a:r>
              <a:rPr lang="en-GB" sz="2400" spc="-3" dirty="0">
                <a:solidFill>
                  <a:srgbClr val="080912"/>
                </a:solidFill>
                <a:latin typeface="Arial MT"/>
                <a:cs typeface="Arial MT"/>
              </a:rPr>
              <a:t>and </a:t>
            </a:r>
            <a:r>
              <a:rPr lang="en-GB" sz="2400" dirty="0">
                <a:solidFill>
                  <a:srgbClr val="080912"/>
                </a:solidFill>
                <a:latin typeface="Arial MT"/>
                <a:cs typeface="Arial MT"/>
              </a:rPr>
              <a:t>1, </a:t>
            </a:r>
            <a:r>
              <a:rPr lang="en-GB" sz="2400" spc="-249" dirty="0">
                <a:solidFill>
                  <a:srgbClr val="080912"/>
                </a:solidFill>
                <a:latin typeface="Arial MT"/>
                <a:cs typeface="Arial MT"/>
              </a:rPr>
              <a:t> </a:t>
            </a:r>
            <a:r>
              <a:rPr lang="en-GB" sz="2400" dirty="0">
                <a:solidFill>
                  <a:srgbClr val="080912"/>
                </a:solidFill>
                <a:latin typeface="Arial MT"/>
                <a:cs typeface="Arial MT"/>
              </a:rPr>
              <a:t>sigmoid </a:t>
            </a:r>
            <a:r>
              <a:rPr lang="en-GB" sz="2400" spc="-7" dirty="0">
                <a:solidFill>
                  <a:srgbClr val="080912"/>
                </a:solidFill>
                <a:latin typeface="Arial MT"/>
                <a:cs typeface="Arial MT"/>
              </a:rPr>
              <a:t>is</a:t>
            </a:r>
            <a:r>
              <a:rPr lang="en-GB" sz="2400" dirty="0">
                <a:solidFill>
                  <a:srgbClr val="080912"/>
                </a:solidFill>
                <a:latin typeface="Arial MT"/>
                <a:cs typeface="Arial MT"/>
              </a:rPr>
              <a:t> </a:t>
            </a:r>
            <a:r>
              <a:rPr lang="en-GB" sz="2400" spc="-3" dirty="0">
                <a:solidFill>
                  <a:srgbClr val="080912"/>
                </a:solidFill>
                <a:latin typeface="Arial MT"/>
                <a:cs typeface="Arial MT"/>
              </a:rPr>
              <a:t>the right</a:t>
            </a:r>
            <a:r>
              <a:rPr lang="en-GB" sz="2400" spc="-17" dirty="0">
                <a:solidFill>
                  <a:srgbClr val="080912"/>
                </a:solidFill>
                <a:latin typeface="Arial MT"/>
                <a:cs typeface="Arial MT"/>
              </a:rPr>
              <a:t> </a:t>
            </a:r>
            <a:r>
              <a:rPr lang="en-GB" sz="2400" spc="-3" dirty="0">
                <a:solidFill>
                  <a:srgbClr val="080912"/>
                </a:solidFill>
                <a:latin typeface="Arial MT"/>
                <a:cs typeface="Arial MT"/>
              </a:rPr>
              <a:t>choice</a:t>
            </a:r>
            <a:r>
              <a:rPr lang="en-GB" sz="2400" dirty="0">
                <a:solidFill>
                  <a:srgbClr val="080912"/>
                </a:solidFill>
                <a:latin typeface="Arial MT"/>
                <a:cs typeface="Arial MT"/>
              </a:rPr>
              <a:t> </a:t>
            </a:r>
            <a:r>
              <a:rPr lang="en-GB" sz="2400" spc="-3" dirty="0">
                <a:solidFill>
                  <a:srgbClr val="080912"/>
                </a:solidFill>
                <a:latin typeface="Arial MT"/>
                <a:cs typeface="Arial MT"/>
              </a:rPr>
              <a:t>because</a:t>
            </a:r>
            <a:r>
              <a:rPr lang="en-GB" sz="2400" dirty="0">
                <a:solidFill>
                  <a:srgbClr val="080912"/>
                </a:solidFill>
                <a:latin typeface="Arial MT"/>
                <a:cs typeface="Arial MT"/>
              </a:rPr>
              <a:t> of</a:t>
            </a:r>
            <a:r>
              <a:rPr lang="en-GB" sz="2400" spc="-7" dirty="0">
                <a:solidFill>
                  <a:srgbClr val="080912"/>
                </a:solidFill>
                <a:latin typeface="Arial MT"/>
                <a:cs typeface="Arial MT"/>
              </a:rPr>
              <a:t> </a:t>
            </a:r>
            <a:r>
              <a:rPr lang="en-GB" sz="2400" spc="-3" dirty="0">
                <a:solidFill>
                  <a:srgbClr val="080912"/>
                </a:solidFill>
                <a:latin typeface="Arial MT"/>
                <a:cs typeface="Arial MT"/>
              </a:rPr>
              <a:t>its</a:t>
            </a:r>
            <a:r>
              <a:rPr lang="en-GB" sz="2400" dirty="0">
                <a:solidFill>
                  <a:srgbClr val="080912"/>
                </a:solidFill>
                <a:latin typeface="Arial MT"/>
                <a:cs typeface="Arial MT"/>
              </a:rPr>
              <a:t> </a:t>
            </a:r>
            <a:r>
              <a:rPr lang="en-GB" sz="2400" spc="-3" dirty="0">
                <a:solidFill>
                  <a:srgbClr val="080912"/>
                </a:solidFill>
                <a:latin typeface="Arial MT"/>
                <a:cs typeface="Arial MT"/>
              </a:rPr>
              <a:t>range.</a:t>
            </a:r>
            <a:endParaRPr lang="en-GB" sz="2400" dirty="0">
              <a:latin typeface="Arial MT"/>
              <a:cs typeface="Arial MT"/>
            </a:endParaRPr>
          </a:p>
          <a:p>
            <a:pPr marL="320378" marR="3464" indent="-156292">
              <a:lnSpc>
                <a:spcPct val="115999"/>
              </a:lnSpc>
              <a:spcBef>
                <a:spcPts val="501"/>
              </a:spcBef>
              <a:buSzPct val="74074"/>
              <a:buFont typeface="Symbol"/>
              <a:buChar char=""/>
              <a:tabLst>
                <a:tab pos="320378" algn="l"/>
                <a:tab pos="320810" algn="l"/>
              </a:tabLst>
            </a:pPr>
            <a:r>
              <a:rPr lang="en-GB" sz="2400"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function</a:t>
            </a:r>
            <a:r>
              <a:rPr lang="en-GB" sz="2400" spc="3" dirty="0">
                <a:solidFill>
                  <a:srgbClr val="080912"/>
                </a:solidFill>
                <a:latin typeface="Arial MT"/>
                <a:cs typeface="Arial MT"/>
              </a:rPr>
              <a:t> </a:t>
            </a:r>
            <a:r>
              <a:rPr lang="en-GB" sz="2400" dirty="0">
                <a:solidFill>
                  <a:srgbClr val="080912"/>
                </a:solidFill>
                <a:latin typeface="Arial MT"/>
                <a:cs typeface="Arial MT"/>
              </a:rPr>
              <a:t>is</a:t>
            </a:r>
            <a:r>
              <a:rPr lang="en-GB" sz="2400" spc="3" dirty="0">
                <a:solidFill>
                  <a:srgbClr val="080912"/>
                </a:solidFill>
                <a:latin typeface="Arial MT"/>
                <a:cs typeface="Arial MT"/>
              </a:rPr>
              <a:t> </a:t>
            </a:r>
            <a:r>
              <a:rPr lang="en-GB" sz="2400" spc="-3" dirty="0">
                <a:solidFill>
                  <a:srgbClr val="080912"/>
                </a:solidFill>
                <a:latin typeface="Arial MT"/>
                <a:cs typeface="Arial MT"/>
              </a:rPr>
              <a:t>differentiable</a:t>
            </a:r>
            <a:r>
              <a:rPr lang="en-GB" sz="2400" spc="3" dirty="0">
                <a:solidFill>
                  <a:srgbClr val="080912"/>
                </a:solidFill>
                <a:latin typeface="Arial MT"/>
                <a:cs typeface="Arial MT"/>
              </a:rPr>
              <a:t> </a:t>
            </a:r>
            <a:r>
              <a:rPr lang="en-GB" sz="2400" spc="-3" dirty="0">
                <a:solidFill>
                  <a:srgbClr val="080912"/>
                </a:solidFill>
                <a:latin typeface="Arial MT"/>
                <a:cs typeface="Arial MT"/>
              </a:rPr>
              <a:t>and</a:t>
            </a:r>
            <a:r>
              <a:rPr lang="en-GB" sz="2400" spc="3" dirty="0">
                <a:solidFill>
                  <a:srgbClr val="080912"/>
                </a:solidFill>
                <a:latin typeface="Arial MT"/>
                <a:cs typeface="Arial MT"/>
              </a:rPr>
              <a:t> </a:t>
            </a:r>
            <a:r>
              <a:rPr lang="en-GB" sz="2400" spc="-3" dirty="0">
                <a:solidFill>
                  <a:srgbClr val="080912"/>
                </a:solidFill>
                <a:latin typeface="Arial MT"/>
                <a:cs typeface="Arial MT"/>
              </a:rPr>
              <a:t>provides</a:t>
            </a:r>
            <a:r>
              <a:rPr lang="en-GB" sz="2400" spc="3" dirty="0">
                <a:solidFill>
                  <a:srgbClr val="080912"/>
                </a:solidFill>
                <a:latin typeface="Arial MT"/>
                <a:cs typeface="Arial MT"/>
              </a:rPr>
              <a:t> </a:t>
            </a:r>
            <a:r>
              <a:rPr lang="en-GB" sz="2400" dirty="0">
                <a:solidFill>
                  <a:srgbClr val="080912"/>
                </a:solidFill>
                <a:latin typeface="Arial MT"/>
                <a:cs typeface="Arial MT"/>
              </a:rPr>
              <a:t>a</a:t>
            </a:r>
            <a:r>
              <a:rPr lang="en-GB" sz="2400" spc="3" dirty="0">
                <a:solidFill>
                  <a:srgbClr val="080912"/>
                </a:solidFill>
                <a:latin typeface="Arial MT"/>
                <a:cs typeface="Arial MT"/>
              </a:rPr>
              <a:t> </a:t>
            </a:r>
            <a:r>
              <a:rPr lang="en-GB" sz="2400" spc="-3" dirty="0">
                <a:solidFill>
                  <a:srgbClr val="080912"/>
                </a:solidFill>
                <a:latin typeface="Arial MT"/>
                <a:cs typeface="Arial MT"/>
              </a:rPr>
              <a:t>smooth</a:t>
            </a:r>
            <a:r>
              <a:rPr lang="en-GB" sz="2400" dirty="0">
                <a:solidFill>
                  <a:srgbClr val="080912"/>
                </a:solidFill>
                <a:latin typeface="Arial MT"/>
                <a:cs typeface="Arial MT"/>
              </a:rPr>
              <a:t> </a:t>
            </a:r>
            <a:r>
              <a:rPr lang="en-GB" sz="2400" spc="-3" dirty="0">
                <a:solidFill>
                  <a:srgbClr val="080912"/>
                </a:solidFill>
                <a:latin typeface="Arial MT"/>
                <a:cs typeface="Arial MT"/>
              </a:rPr>
              <a:t>gradient,</a:t>
            </a:r>
            <a:r>
              <a:rPr lang="en-GB" sz="2400" spc="-14" dirty="0">
                <a:solidFill>
                  <a:srgbClr val="080912"/>
                </a:solidFill>
                <a:latin typeface="Arial MT"/>
                <a:cs typeface="Arial MT"/>
              </a:rPr>
              <a:t> </a:t>
            </a:r>
            <a:r>
              <a:rPr lang="en-GB" sz="2400" dirty="0">
                <a:solidFill>
                  <a:srgbClr val="080912"/>
                </a:solidFill>
                <a:latin typeface="Arial MT"/>
                <a:cs typeface="Arial MT"/>
              </a:rPr>
              <a:t>i.e.,</a:t>
            </a:r>
            <a:r>
              <a:rPr lang="en-GB" sz="2400" spc="-7" dirty="0">
                <a:solidFill>
                  <a:srgbClr val="080912"/>
                </a:solidFill>
                <a:latin typeface="Arial MT"/>
                <a:cs typeface="Arial MT"/>
              </a:rPr>
              <a:t> </a:t>
            </a:r>
            <a:r>
              <a:rPr lang="en-GB" sz="2400" dirty="0">
                <a:solidFill>
                  <a:srgbClr val="080912"/>
                </a:solidFill>
                <a:latin typeface="Arial MT"/>
                <a:cs typeface="Arial MT"/>
              </a:rPr>
              <a:t>preventing</a:t>
            </a:r>
            <a:r>
              <a:rPr lang="en-GB" sz="2400" spc="3" dirty="0">
                <a:solidFill>
                  <a:srgbClr val="080912"/>
                </a:solidFill>
                <a:latin typeface="Arial MT"/>
                <a:cs typeface="Arial MT"/>
              </a:rPr>
              <a:t> </a:t>
            </a:r>
            <a:r>
              <a:rPr lang="en-GB" sz="2400" dirty="0">
                <a:solidFill>
                  <a:srgbClr val="080912"/>
                </a:solidFill>
                <a:latin typeface="Arial MT"/>
                <a:cs typeface="Arial MT"/>
              </a:rPr>
              <a:t>jumps </a:t>
            </a:r>
            <a:r>
              <a:rPr lang="en-GB" sz="2400" spc="-245" dirty="0">
                <a:solidFill>
                  <a:srgbClr val="080912"/>
                </a:solidFill>
                <a:latin typeface="Arial MT"/>
                <a:cs typeface="Arial MT"/>
              </a:rPr>
              <a:t> </a:t>
            </a:r>
            <a:r>
              <a:rPr lang="en-GB" sz="2400" dirty="0">
                <a:solidFill>
                  <a:srgbClr val="080912"/>
                </a:solidFill>
                <a:latin typeface="Arial MT"/>
                <a:cs typeface="Arial MT"/>
              </a:rPr>
              <a:t>in </a:t>
            </a:r>
            <a:r>
              <a:rPr lang="en-GB" sz="2400" spc="-3" dirty="0">
                <a:solidFill>
                  <a:srgbClr val="080912"/>
                </a:solidFill>
                <a:latin typeface="Arial MT"/>
                <a:cs typeface="Arial MT"/>
              </a:rPr>
              <a:t>output values. This</a:t>
            </a:r>
            <a:r>
              <a:rPr lang="en-GB" sz="2400" spc="3" dirty="0">
                <a:solidFill>
                  <a:srgbClr val="080912"/>
                </a:solidFill>
                <a:latin typeface="Arial MT"/>
                <a:cs typeface="Arial MT"/>
              </a:rPr>
              <a:t> </a:t>
            </a:r>
            <a:r>
              <a:rPr lang="en-GB" sz="2400" dirty="0">
                <a:solidFill>
                  <a:srgbClr val="080912"/>
                </a:solidFill>
                <a:latin typeface="Arial MT"/>
                <a:cs typeface="Arial MT"/>
              </a:rPr>
              <a:t>is</a:t>
            </a:r>
            <a:r>
              <a:rPr lang="en-GB" sz="2400" spc="-7" dirty="0">
                <a:solidFill>
                  <a:srgbClr val="080912"/>
                </a:solidFill>
                <a:latin typeface="Arial MT"/>
                <a:cs typeface="Arial MT"/>
              </a:rPr>
              <a:t> </a:t>
            </a:r>
            <a:r>
              <a:rPr lang="en-GB" sz="2400" spc="-3" dirty="0">
                <a:solidFill>
                  <a:srgbClr val="080912"/>
                </a:solidFill>
                <a:latin typeface="Arial MT"/>
                <a:cs typeface="Arial MT"/>
              </a:rPr>
              <a:t>represented</a:t>
            </a:r>
            <a:r>
              <a:rPr lang="en-GB" sz="2400" spc="3" dirty="0">
                <a:solidFill>
                  <a:srgbClr val="080912"/>
                </a:solidFill>
                <a:latin typeface="Arial MT"/>
                <a:cs typeface="Arial MT"/>
              </a:rPr>
              <a:t> </a:t>
            </a:r>
            <a:r>
              <a:rPr lang="en-GB" sz="2400" dirty="0">
                <a:solidFill>
                  <a:srgbClr val="080912"/>
                </a:solidFill>
                <a:latin typeface="Arial MT"/>
                <a:cs typeface="Arial MT"/>
              </a:rPr>
              <a:t>by</a:t>
            </a:r>
            <a:r>
              <a:rPr lang="en-GB" sz="2400" spc="-7" dirty="0">
                <a:solidFill>
                  <a:srgbClr val="080912"/>
                </a:solidFill>
                <a:latin typeface="Arial MT"/>
                <a:cs typeface="Arial MT"/>
              </a:rPr>
              <a:t> </a:t>
            </a:r>
            <a:r>
              <a:rPr lang="en-GB" sz="2400" dirty="0">
                <a:solidFill>
                  <a:srgbClr val="080912"/>
                </a:solidFill>
                <a:latin typeface="Arial MT"/>
                <a:cs typeface="Arial MT"/>
              </a:rPr>
              <a:t>an S-shape</a:t>
            </a:r>
            <a:r>
              <a:rPr lang="en-GB" sz="2400" spc="3" dirty="0">
                <a:solidFill>
                  <a:srgbClr val="080912"/>
                </a:solidFill>
                <a:latin typeface="Arial MT"/>
                <a:cs typeface="Arial MT"/>
              </a:rPr>
              <a:t> </a:t>
            </a:r>
            <a:r>
              <a:rPr lang="en-GB" sz="2400" dirty="0">
                <a:solidFill>
                  <a:srgbClr val="080912"/>
                </a:solidFill>
                <a:latin typeface="Arial MT"/>
                <a:cs typeface="Arial MT"/>
              </a:rPr>
              <a:t>of</a:t>
            </a:r>
            <a:r>
              <a:rPr lang="en-GB" sz="2400" spc="-3" dirty="0">
                <a:solidFill>
                  <a:srgbClr val="080912"/>
                </a:solidFill>
                <a:latin typeface="Arial MT"/>
                <a:cs typeface="Arial MT"/>
              </a:rPr>
              <a:t> the sigmoid</a:t>
            </a:r>
            <a:r>
              <a:rPr lang="en-GB" sz="2400" spc="3" dirty="0">
                <a:solidFill>
                  <a:srgbClr val="080912"/>
                </a:solidFill>
                <a:latin typeface="Arial MT"/>
                <a:cs typeface="Arial MT"/>
              </a:rPr>
              <a:t> </a:t>
            </a:r>
            <a:r>
              <a:rPr lang="en-GB" sz="2400" spc="-3" dirty="0">
                <a:solidFill>
                  <a:srgbClr val="080912"/>
                </a:solidFill>
                <a:latin typeface="Arial MT"/>
                <a:cs typeface="Arial MT"/>
              </a:rPr>
              <a:t>activation </a:t>
            </a:r>
            <a:r>
              <a:rPr lang="en-GB" sz="2400" dirty="0">
                <a:solidFill>
                  <a:srgbClr val="080912"/>
                </a:solidFill>
                <a:latin typeface="Arial MT"/>
                <a:cs typeface="Arial MT"/>
              </a:rPr>
              <a:t> </a:t>
            </a:r>
            <a:r>
              <a:rPr lang="en-GB" sz="2400" spc="-3" dirty="0">
                <a:solidFill>
                  <a:srgbClr val="080912"/>
                </a:solidFill>
                <a:latin typeface="Arial MT"/>
                <a:cs typeface="Arial MT"/>
              </a:rPr>
              <a:t>function.</a:t>
            </a:r>
            <a:endParaRPr lang="en-GB" sz="2400" dirty="0">
              <a:latin typeface="Arial MT"/>
              <a:cs typeface="Arial MT"/>
            </a:endParaRPr>
          </a:p>
          <a:p>
            <a:pPr>
              <a:spcBef>
                <a:spcPts val="10"/>
              </a:spcBef>
              <a:buClr>
                <a:srgbClr val="080912"/>
              </a:buClr>
              <a:buFont typeface="Symbol"/>
              <a:buChar char=""/>
            </a:pPr>
            <a:endParaRPr lang="en-GB" sz="2000" dirty="0">
              <a:latin typeface="Arial MT"/>
              <a:cs typeface="Arial MT"/>
            </a:endParaRPr>
          </a:p>
          <a:p>
            <a:endParaRPr lang="en-PK" dirty="0"/>
          </a:p>
        </p:txBody>
      </p:sp>
      <p:sp>
        <p:nvSpPr>
          <p:cNvPr id="2" name="Slide Number Placeholder 1">
            <a:extLst>
              <a:ext uri="{FF2B5EF4-FFF2-40B4-BE49-F238E27FC236}">
                <a16:creationId xmlns:a16="http://schemas.microsoft.com/office/drawing/2014/main" id="{05E489BA-78BD-0106-3B2C-B9AD62F1E189}"/>
              </a:ext>
            </a:extLst>
          </p:cNvPr>
          <p:cNvSpPr>
            <a:spLocks noGrp="1"/>
          </p:cNvSpPr>
          <p:nvPr>
            <p:ph type="sldNum" sz="quarter" idx="12"/>
          </p:nvPr>
        </p:nvSpPr>
        <p:spPr/>
        <p:txBody>
          <a:bodyPr/>
          <a:lstStyle/>
          <a:p>
            <a:fld id="{9CD9A578-84A4-4247-B01E-A84B9E2DF7BB}" type="slidenum">
              <a:rPr lang="en-PK" smtClean="0"/>
              <a:t>7</a:t>
            </a:fld>
            <a:endParaRPr lang="en-PK"/>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4F5B18-F37B-0286-472A-8DCD395D12A2}"/>
              </a:ext>
            </a:extLst>
          </p:cNvPr>
          <p:cNvSpPr>
            <a:spLocks noGrp="1"/>
          </p:cNvSpPr>
          <p:nvPr>
            <p:ph type="title"/>
          </p:nvPr>
        </p:nvSpPr>
        <p:spPr>
          <a:xfrm>
            <a:off x="1158240" y="786142"/>
            <a:ext cx="9875520" cy="820848"/>
          </a:xfrm>
        </p:spPr>
        <p:txBody>
          <a:bodyPr>
            <a:normAutofit fontScale="90000"/>
          </a:bodyPr>
          <a:lstStyle/>
          <a:p>
            <a:r>
              <a:rPr lang="en-GB" sz="4400" b="1" dirty="0">
                <a:solidFill>
                  <a:srgbClr val="272E40"/>
                </a:solidFill>
                <a:latin typeface="Arial"/>
                <a:cs typeface="Arial"/>
              </a:rPr>
              <a:t>Limitations of Sigmoid-</a:t>
            </a:r>
            <a:r>
              <a:rPr lang="en-GB" sz="4400" i="1" spc="-10" dirty="0">
                <a:solidFill>
                  <a:srgbClr val="080912"/>
                </a:solidFill>
                <a:latin typeface="Arial"/>
                <a:cs typeface="Arial"/>
              </a:rPr>
              <a:t> Vanishing</a:t>
            </a:r>
            <a:r>
              <a:rPr lang="en-GB" sz="4400" i="1" spc="-27" dirty="0">
                <a:solidFill>
                  <a:srgbClr val="080912"/>
                </a:solidFill>
                <a:latin typeface="Arial"/>
                <a:cs typeface="Arial"/>
              </a:rPr>
              <a:t> </a:t>
            </a:r>
            <a:r>
              <a:rPr lang="en-GB" sz="4400" i="1" spc="-10" dirty="0">
                <a:solidFill>
                  <a:srgbClr val="080912"/>
                </a:solidFill>
                <a:latin typeface="Arial"/>
                <a:cs typeface="Arial"/>
              </a:rPr>
              <a:t>gradient</a:t>
            </a:r>
            <a:r>
              <a:rPr lang="en-GB" sz="4400" i="1" spc="-27" dirty="0">
                <a:solidFill>
                  <a:srgbClr val="080912"/>
                </a:solidFill>
                <a:latin typeface="Arial"/>
                <a:cs typeface="Arial"/>
              </a:rPr>
              <a:t> </a:t>
            </a:r>
            <a:r>
              <a:rPr lang="en-GB" sz="4400" spc="-10" dirty="0">
                <a:solidFill>
                  <a:srgbClr val="080912"/>
                </a:solidFill>
                <a:latin typeface="Arial MT"/>
                <a:cs typeface="Arial MT"/>
              </a:rPr>
              <a:t>problem</a:t>
            </a:r>
            <a:br>
              <a:rPr lang="en-GB" sz="4400" dirty="0">
                <a:latin typeface="Arial"/>
                <a:cs typeface="Arial"/>
              </a:rPr>
            </a:br>
            <a:endParaRPr lang="en-PK" dirty="0"/>
          </a:p>
        </p:txBody>
      </p:sp>
      <p:sp>
        <p:nvSpPr>
          <p:cNvPr id="8" name="Content Placeholder 7">
            <a:extLst>
              <a:ext uri="{FF2B5EF4-FFF2-40B4-BE49-F238E27FC236}">
                <a16:creationId xmlns:a16="http://schemas.microsoft.com/office/drawing/2014/main" id="{C16B384E-B3D8-B3F3-1129-87D7CFC1FE67}"/>
              </a:ext>
            </a:extLst>
          </p:cNvPr>
          <p:cNvSpPr>
            <a:spLocks noGrp="1"/>
          </p:cNvSpPr>
          <p:nvPr>
            <p:ph idx="1"/>
          </p:nvPr>
        </p:nvSpPr>
        <p:spPr>
          <a:xfrm>
            <a:off x="1034359" y="1622834"/>
            <a:ext cx="7267670" cy="4038600"/>
          </a:xfrm>
        </p:spPr>
        <p:txBody>
          <a:bodyPr>
            <a:normAutofit/>
          </a:bodyPr>
          <a:lstStyle/>
          <a:p>
            <a:pPr marL="8659" marR="3464" algn="just">
              <a:lnSpc>
                <a:spcPct val="143700"/>
              </a:lnSpc>
              <a:spcBef>
                <a:spcPts val="3"/>
              </a:spcBef>
            </a:pPr>
            <a:r>
              <a:rPr lang="en-GB" sz="1800" spc="-7" dirty="0">
                <a:solidFill>
                  <a:srgbClr val="080912"/>
                </a:solidFill>
                <a:latin typeface="Arial MT"/>
                <a:cs typeface="Arial MT"/>
              </a:rPr>
              <a:t>As shown in f</a:t>
            </a:r>
            <a:r>
              <a:rPr lang="en-GB" sz="1800" spc="-10" dirty="0">
                <a:solidFill>
                  <a:srgbClr val="080912"/>
                </a:solidFill>
                <a:latin typeface="Arial MT"/>
                <a:cs typeface="Arial MT"/>
              </a:rPr>
              <a:t>igure, the gradient values are only significant for range </a:t>
            </a:r>
            <a:r>
              <a:rPr lang="en-GB" sz="1800" spc="-7" dirty="0">
                <a:solidFill>
                  <a:srgbClr val="080912"/>
                </a:solidFill>
                <a:latin typeface="Arial MT"/>
                <a:cs typeface="Arial MT"/>
              </a:rPr>
              <a:t>-3 </a:t>
            </a:r>
            <a:r>
              <a:rPr lang="en-GB" sz="1800" spc="-10" dirty="0">
                <a:solidFill>
                  <a:srgbClr val="080912"/>
                </a:solidFill>
                <a:latin typeface="Arial MT"/>
                <a:cs typeface="Arial MT"/>
              </a:rPr>
              <a:t>to </a:t>
            </a:r>
            <a:r>
              <a:rPr lang="en-GB" sz="1800" spc="-249" dirty="0">
                <a:solidFill>
                  <a:srgbClr val="080912"/>
                </a:solidFill>
                <a:latin typeface="Arial MT"/>
                <a:cs typeface="Arial MT"/>
              </a:rPr>
              <a:t> </a:t>
            </a:r>
            <a:r>
              <a:rPr lang="en-GB" sz="1800" spc="-3" dirty="0">
                <a:solidFill>
                  <a:srgbClr val="080912"/>
                </a:solidFill>
                <a:latin typeface="Arial MT"/>
                <a:cs typeface="Arial MT"/>
              </a:rPr>
              <a:t>3,</a:t>
            </a:r>
            <a:r>
              <a:rPr lang="en-GB" sz="1800" spc="-27" dirty="0">
                <a:solidFill>
                  <a:srgbClr val="080912"/>
                </a:solidFill>
                <a:latin typeface="Arial MT"/>
                <a:cs typeface="Arial MT"/>
              </a:rPr>
              <a:t> </a:t>
            </a:r>
            <a:r>
              <a:rPr lang="en-GB" sz="1800" spc="-10" dirty="0">
                <a:solidFill>
                  <a:srgbClr val="080912"/>
                </a:solidFill>
                <a:latin typeface="Arial MT"/>
                <a:cs typeface="Arial MT"/>
              </a:rPr>
              <a:t>and</a:t>
            </a:r>
            <a:r>
              <a:rPr lang="en-GB" sz="1800" spc="-20" dirty="0">
                <a:solidFill>
                  <a:srgbClr val="080912"/>
                </a:solidFill>
                <a:latin typeface="Arial MT"/>
                <a:cs typeface="Arial MT"/>
              </a:rPr>
              <a:t> </a:t>
            </a:r>
            <a:r>
              <a:rPr lang="en-GB" sz="1800" spc="-10" dirty="0">
                <a:solidFill>
                  <a:srgbClr val="080912"/>
                </a:solidFill>
                <a:latin typeface="Arial MT"/>
                <a:cs typeface="Arial MT"/>
              </a:rPr>
              <a:t>the</a:t>
            </a:r>
            <a:r>
              <a:rPr lang="en-GB" sz="1800" spc="-27" dirty="0">
                <a:solidFill>
                  <a:srgbClr val="080912"/>
                </a:solidFill>
                <a:latin typeface="Arial MT"/>
                <a:cs typeface="Arial MT"/>
              </a:rPr>
              <a:t> </a:t>
            </a:r>
            <a:r>
              <a:rPr lang="en-GB" sz="1800" spc="-10" dirty="0">
                <a:solidFill>
                  <a:srgbClr val="080912"/>
                </a:solidFill>
                <a:latin typeface="Arial MT"/>
                <a:cs typeface="Arial MT"/>
              </a:rPr>
              <a:t>graph</a:t>
            </a:r>
            <a:r>
              <a:rPr lang="en-GB" sz="1800" spc="-20" dirty="0">
                <a:solidFill>
                  <a:srgbClr val="080912"/>
                </a:solidFill>
                <a:latin typeface="Arial MT"/>
                <a:cs typeface="Arial MT"/>
              </a:rPr>
              <a:t> </a:t>
            </a:r>
            <a:r>
              <a:rPr lang="en-GB" sz="1800" spc="-10" dirty="0">
                <a:solidFill>
                  <a:srgbClr val="080912"/>
                </a:solidFill>
                <a:latin typeface="Arial MT"/>
                <a:cs typeface="Arial MT"/>
              </a:rPr>
              <a:t>gets</a:t>
            </a:r>
            <a:r>
              <a:rPr lang="en-GB" sz="1800" spc="-24" dirty="0">
                <a:solidFill>
                  <a:srgbClr val="080912"/>
                </a:solidFill>
                <a:latin typeface="Arial MT"/>
                <a:cs typeface="Arial MT"/>
              </a:rPr>
              <a:t> </a:t>
            </a:r>
            <a:r>
              <a:rPr lang="en-GB" sz="1800" spc="-10" dirty="0">
                <a:solidFill>
                  <a:srgbClr val="080912"/>
                </a:solidFill>
                <a:latin typeface="Arial MT"/>
                <a:cs typeface="Arial MT"/>
              </a:rPr>
              <a:t>much</a:t>
            </a:r>
            <a:r>
              <a:rPr lang="en-GB" sz="1800" spc="-20" dirty="0">
                <a:solidFill>
                  <a:srgbClr val="080912"/>
                </a:solidFill>
                <a:latin typeface="Arial MT"/>
                <a:cs typeface="Arial MT"/>
              </a:rPr>
              <a:t> </a:t>
            </a:r>
            <a:r>
              <a:rPr lang="en-GB" sz="1800" spc="-10" dirty="0">
                <a:solidFill>
                  <a:srgbClr val="080912"/>
                </a:solidFill>
                <a:latin typeface="Arial MT"/>
                <a:cs typeface="Arial MT"/>
              </a:rPr>
              <a:t>flatter</a:t>
            </a:r>
            <a:r>
              <a:rPr lang="en-GB" sz="1800" spc="-17" dirty="0">
                <a:solidFill>
                  <a:srgbClr val="080912"/>
                </a:solidFill>
                <a:latin typeface="Arial MT"/>
                <a:cs typeface="Arial MT"/>
              </a:rPr>
              <a:t> </a:t>
            </a:r>
            <a:r>
              <a:rPr lang="en-GB" sz="1800" spc="-10" dirty="0">
                <a:solidFill>
                  <a:srgbClr val="080912"/>
                </a:solidFill>
                <a:latin typeface="Arial MT"/>
                <a:cs typeface="Arial MT"/>
              </a:rPr>
              <a:t>in</a:t>
            </a:r>
            <a:r>
              <a:rPr lang="en-GB" sz="1800" spc="-27" dirty="0">
                <a:solidFill>
                  <a:srgbClr val="080912"/>
                </a:solidFill>
                <a:latin typeface="Arial MT"/>
                <a:cs typeface="Arial MT"/>
              </a:rPr>
              <a:t> </a:t>
            </a:r>
            <a:r>
              <a:rPr lang="en-GB" sz="1800" spc="-10" dirty="0">
                <a:solidFill>
                  <a:srgbClr val="080912"/>
                </a:solidFill>
                <a:latin typeface="Arial MT"/>
                <a:cs typeface="Arial MT"/>
              </a:rPr>
              <a:t>other</a:t>
            </a:r>
            <a:r>
              <a:rPr lang="en-GB" sz="1800" spc="-24" dirty="0">
                <a:solidFill>
                  <a:srgbClr val="080912"/>
                </a:solidFill>
                <a:latin typeface="Arial MT"/>
                <a:cs typeface="Arial MT"/>
              </a:rPr>
              <a:t> </a:t>
            </a:r>
            <a:r>
              <a:rPr lang="en-GB" sz="1800" spc="-10" dirty="0">
                <a:solidFill>
                  <a:srgbClr val="080912"/>
                </a:solidFill>
                <a:latin typeface="Arial MT"/>
                <a:cs typeface="Arial MT"/>
              </a:rPr>
              <a:t>regions.</a:t>
            </a:r>
            <a:endParaRPr lang="en-GB" sz="1800" dirty="0">
              <a:latin typeface="Arial MT"/>
              <a:cs typeface="Arial MT"/>
            </a:endParaRPr>
          </a:p>
          <a:p>
            <a:pPr marL="8659" marR="3464" algn="just">
              <a:lnSpc>
                <a:spcPct val="143800"/>
              </a:lnSpc>
              <a:spcBef>
                <a:spcPts val="399"/>
              </a:spcBef>
            </a:pPr>
            <a:r>
              <a:rPr lang="en-GB" sz="1800" spc="-7" dirty="0">
                <a:solidFill>
                  <a:srgbClr val="080912"/>
                </a:solidFill>
                <a:latin typeface="Arial MT"/>
                <a:cs typeface="Arial MT"/>
              </a:rPr>
              <a:t>It </a:t>
            </a:r>
            <a:r>
              <a:rPr lang="en-GB" sz="1800" spc="-10" dirty="0">
                <a:solidFill>
                  <a:srgbClr val="080912"/>
                </a:solidFill>
                <a:latin typeface="Arial MT"/>
                <a:cs typeface="Arial MT"/>
              </a:rPr>
              <a:t>implies that for values greater than </a:t>
            </a:r>
            <a:r>
              <a:rPr lang="en-GB" sz="1800" dirty="0">
                <a:solidFill>
                  <a:srgbClr val="080912"/>
                </a:solidFill>
                <a:latin typeface="Arial MT"/>
                <a:cs typeface="Arial MT"/>
              </a:rPr>
              <a:t>3 </a:t>
            </a:r>
            <a:r>
              <a:rPr lang="en-GB" sz="1800" spc="-3" dirty="0">
                <a:solidFill>
                  <a:srgbClr val="080912"/>
                </a:solidFill>
                <a:latin typeface="Arial MT"/>
                <a:cs typeface="Arial MT"/>
              </a:rPr>
              <a:t>or </a:t>
            </a:r>
            <a:r>
              <a:rPr lang="en-GB" sz="1800" spc="-10" dirty="0">
                <a:solidFill>
                  <a:srgbClr val="080912"/>
                </a:solidFill>
                <a:latin typeface="Arial MT"/>
                <a:cs typeface="Arial MT"/>
              </a:rPr>
              <a:t>less than </a:t>
            </a:r>
            <a:r>
              <a:rPr lang="en-GB" sz="1800" spc="-7" dirty="0">
                <a:solidFill>
                  <a:srgbClr val="080912"/>
                </a:solidFill>
                <a:latin typeface="Arial MT"/>
                <a:cs typeface="Arial MT"/>
              </a:rPr>
              <a:t>-3, </a:t>
            </a:r>
            <a:r>
              <a:rPr lang="en-GB" sz="1800" spc="-10" dirty="0">
                <a:solidFill>
                  <a:srgbClr val="080912"/>
                </a:solidFill>
                <a:latin typeface="Arial MT"/>
                <a:cs typeface="Arial MT"/>
              </a:rPr>
              <a:t>the function will have </a:t>
            </a:r>
            <a:r>
              <a:rPr lang="en-GB" sz="1800" spc="-7" dirty="0">
                <a:solidFill>
                  <a:srgbClr val="080912"/>
                </a:solidFill>
                <a:latin typeface="Arial MT"/>
                <a:cs typeface="Arial MT"/>
              </a:rPr>
              <a:t>very </a:t>
            </a:r>
            <a:r>
              <a:rPr lang="en-GB" sz="1800" spc="-10" dirty="0">
                <a:solidFill>
                  <a:srgbClr val="080912"/>
                </a:solidFill>
                <a:latin typeface="Arial MT"/>
                <a:cs typeface="Arial MT"/>
              </a:rPr>
              <a:t>small </a:t>
            </a:r>
            <a:r>
              <a:rPr lang="en-GB" sz="1800" spc="-7" dirty="0">
                <a:solidFill>
                  <a:srgbClr val="080912"/>
                </a:solidFill>
                <a:latin typeface="Arial MT"/>
                <a:cs typeface="Arial MT"/>
              </a:rPr>
              <a:t> </a:t>
            </a:r>
            <a:r>
              <a:rPr lang="en-GB" sz="1800" spc="-10" dirty="0">
                <a:solidFill>
                  <a:srgbClr val="080912"/>
                </a:solidFill>
                <a:latin typeface="Arial MT"/>
                <a:cs typeface="Arial MT"/>
              </a:rPr>
              <a:t>gradients. As the gradient value </a:t>
            </a:r>
            <a:r>
              <a:rPr lang="en-GB" sz="1800" spc="-14" dirty="0">
                <a:solidFill>
                  <a:srgbClr val="080912"/>
                </a:solidFill>
                <a:latin typeface="Arial MT"/>
                <a:cs typeface="Arial MT"/>
              </a:rPr>
              <a:t>approaches </a:t>
            </a:r>
            <a:r>
              <a:rPr lang="en-GB" sz="1800" spc="-10" dirty="0">
                <a:solidFill>
                  <a:srgbClr val="080912"/>
                </a:solidFill>
                <a:latin typeface="Arial MT"/>
                <a:cs typeface="Arial MT"/>
              </a:rPr>
              <a:t>zero, the network ceases to learn </a:t>
            </a:r>
            <a:r>
              <a:rPr lang="en-GB" sz="1800" spc="-7" dirty="0">
                <a:solidFill>
                  <a:srgbClr val="080912"/>
                </a:solidFill>
                <a:latin typeface="Arial MT"/>
                <a:cs typeface="Arial MT"/>
              </a:rPr>
              <a:t>and </a:t>
            </a:r>
            <a:r>
              <a:rPr lang="en-GB" sz="1800" spc="-10" dirty="0">
                <a:solidFill>
                  <a:srgbClr val="080912"/>
                </a:solidFill>
                <a:latin typeface="Arial MT"/>
                <a:cs typeface="Arial MT"/>
              </a:rPr>
              <a:t>suffers </a:t>
            </a:r>
            <a:r>
              <a:rPr lang="en-GB" sz="1800" spc="-7" dirty="0">
                <a:solidFill>
                  <a:srgbClr val="080912"/>
                </a:solidFill>
                <a:latin typeface="Arial MT"/>
                <a:cs typeface="Arial MT"/>
              </a:rPr>
              <a:t> </a:t>
            </a:r>
            <a:r>
              <a:rPr lang="en-GB" sz="1800" spc="-10" dirty="0">
                <a:solidFill>
                  <a:srgbClr val="080912"/>
                </a:solidFill>
                <a:latin typeface="Arial MT"/>
                <a:cs typeface="Arial MT"/>
              </a:rPr>
              <a:t>from</a:t>
            </a:r>
            <a:r>
              <a:rPr lang="en-GB" sz="1800" spc="-24" dirty="0">
                <a:solidFill>
                  <a:srgbClr val="080912"/>
                </a:solidFill>
                <a:latin typeface="Arial MT"/>
                <a:cs typeface="Arial MT"/>
              </a:rPr>
              <a:t> </a:t>
            </a:r>
            <a:r>
              <a:rPr lang="en-GB" sz="1800" spc="-10" dirty="0">
                <a:solidFill>
                  <a:srgbClr val="080912"/>
                </a:solidFill>
                <a:latin typeface="Arial MT"/>
                <a:cs typeface="Arial MT"/>
              </a:rPr>
              <a:t>the</a:t>
            </a:r>
            <a:r>
              <a:rPr lang="en-GB" sz="1800" spc="-24" dirty="0">
                <a:solidFill>
                  <a:srgbClr val="080912"/>
                </a:solidFill>
                <a:latin typeface="Arial MT"/>
                <a:cs typeface="Arial MT"/>
              </a:rPr>
              <a:t> </a:t>
            </a:r>
            <a:r>
              <a:rPr lang="en-GB" sz="1800" i="1" spc="-10" dirty="0">
                <a:solidFill>
                  <a:schemeClr val="accent2">
                    <a:lumMod val="75000"/>
                  </a:schemeClr>
                </a:solidFill>
                <a:latin typeface="Arial"/>
                <a:cs typeface="Arial"/>
              </a:rPr>
              <a:t>Vanishing</a:t>
            </a:r>
            <a:r>
              <a:rPr lang="en-GB" sz="1800" i="1" spc="-27" dirty="0">
                <a:solidFill>
                  <a:schemeClr val="accent2">
                    <a:lumMod val="75000"/>
                  </a:schemeClr>
                </a:solidFill>
                <a:latin typeface="Arial"/>
                <a:cs typeface="Arial"/>
              </a:rPr>
              <a:t> </a:t>
            </a:r>
            <a:r>
              <a:rPr lang="en-GB" sz="1800" i="1" spc="-10" dirty="0">
                <a:solidFill>
                  <a:schemeClr val="accent2">
                    <a:lumMod val="75000"/>
                  </a:schemeClr>
                </a:solidFill>
                <a:latin typeface="Arial"/>
                <a:cs typeface="Arial"/>
              </a:rPr>
              <a:t>gradient</a:t>
            </a:r>
            <a:r>
              <a:rPr lang="en-GB" sz="1800" i="1" spc="-27" dirty="0">
                <a:solidFill>
                  <a:schemeClr val="accent2">
                    <a:lumMod val="75000"/>
                  </a:schemeClr>
                </a:solidFill>
                <a:latin typeface="Arial"/>
                <a:cs typeface="Arial"/>
              </a:rPr>
              <a:t> </a:t>
            </a:r>
            <a:r>
              <a:rPr lang="en-GB" sz="1800" spc="-10" dirty="0">
                <a:solidFill>
                  <a:schemeClr val="accent2">
                    <a:lumMod val="75000"/>
                  </a:schemeClr>
                </a:solidFill>
                <a:latin typeface="Arial MT"/>
                <a:cs typeface="Arial MT"/>
              </a:rPr>
              <a:t>problem.</a:t>
            </a:r>
            <a:endParaRPr lang="en-GB" sz="1800" dirty="0">
              <a:solidFill>
                <a:schemeClr val="accent2">
                  <a:lumMod val="75000"/>
                </a:schemeClr>
              </a:solidFill>
              <a:latin typeface="Arial MT"/>
              <a:cs typeface="Arial MT"/>
            </a:endParaRPr>
          </a:p>
          <a:p>
            <a:pPr marL="320378" marR="81393" indent="-156292" algn="just">
              <a:lnSpc>
                <a:spcPct val="115599"/>
              </a:lnSpc>
              <a:spcBef>
                <a:spcPts val="508"/>
              </a:spcBef>
              <a:buSzPct val="74074"/>
              <a:buFont typeface="Symbol"/>
              <a:buChar char=""/>
              <a:tabLst>
                <a:tab pos="320810" algn="l"/>
              </a:tabLst>
            </a:pPr>
            <a:r>
              <a:rPr lang="en-GB" sz="1800" dirty="0">
                <a:solidFill>
                  <a:srgbClr val="080912"/>
                </a:solidFill>
                <a:latin typeface="Arial MT"/>
                <a:cs typeface="Arial MT"/>
              </a:rPr>
              <a:t>The output of </a:t>
            </a:r>
            <a:r>
              <a:rPr lang="en-GB" sz="1800" spc="-3" dirty="0">
                <a:solidFill>
                  <a:srgbClr val="080912"/>
                </a:solidFill>
                <a:latin typeface="Arial MT"/>
                <a:cs typeface="Arial MT"/>
              </a:rPr>
              <a:t>the logistic function </a:t>
            </a:r>
            <a:r>
              <a:rPr lang="en-GB" sz="1800" spc="-7" dirty="0">
                <a:solidFill>
                  <a:srgbClr val="080912"/>
                </a:solidFill>
                <a:latin typeface="Arial MT"/>
                <a:cs typeface="Arial MT"/>
              </a:rPr>
              <a:t>is </a:t>
            </a:r>
            <a:r>
              <a:rPr lang="en-GB" sz="1800" dirty="0">
                <a:solidFill>
                  <a:srgbClr val="080912"/>
                </a:solidFill>
                <a:latin typeface="Arial MT"/>
                <a:cs typeface="Arial MT"/>
              </a:rPr>
              <a:t>not </a:t>
            </a:r>
            <a:r>
              <a:rPr lang="en-GB" sz="1800" spc="-3" dirty="0">
                <a:solidFill>
                  <a:srgbClr val="080912"/>
                </a:solidFill>
                <a:latin typeface="Arial MT"/>
                <a:cs typeface="Arial MT"/>
              </a:rPr>
              <a:t>symmetric around </a:t>
            </a:r>
            <a:r>
              <a:rPr lang="en-GB" sz="1800" dirty="0">
                <a:solidFill>
                  <a:srgbClr val="080912"/>
                </a:solidFill>
                <a:latin typeface="Arial MT"/>
                <a:cs typeface="Arial MT"/>
              </a:rPr>
              <a:t>zero. So </a:t>
            </a:r>
            <a:r>
              <a:rPr lang="en-GB" sz="1800" spc="-3" dirty="0">
                <a:solidFill>
                  <a:srgbClr val="080912"/>
                </a:solidFill>
                <a:latin typeface="Arial MT"/>
                <a:cs typeface="Arial MT"/>
              </a:rPr>
              <a:t>the </a:t>
            </a:r>
            <a:r>
              <a:rPr lang="en-GB" sz="1800" dirty="0">
                <a:solidFill>
                  <a:srgbClr val="080912"/>
                </a:solidFill>
                <a:latin typeface="Arial MT"/>
                <a:cs typeface="Arial MT"/>
              </a:rPr>
              <a:t>output of all </a:t>
            </a:r>
            <a:r>
              <a:rPr lang="en-GB" sz="1800" spc="-249" dirty="0">
                <a:solidFill>
                  <a:srgbClr val="080912"/>
                </a:solidFill>
                <a:latin typeface="Arial MT"/>
                <a:cs typeface="Arial MT"/>
              </a:rPr>
              <a:t> </a:t>
            </a:r>
            <a:r>
              <a:rPr lang="en-GB" sz="1800" spc="-3" dirty="0">
                <a:solidFill>
                  <a:srgbClr val="080912"/>
                </a:solidFill>
                <a:latin typeface="Arial MT"/>
                <a:cs typeface="Arial MT"/>
              </a:rPr>
              <a:t>the neurons</a:t>
            </a:r>
            <a:r>
              <a:rPr lang="en-GB" sz="1800" spc="3" dirty="0">
                <a:solidFill>
                  <a:srgbClr val="080912"/>
                </a:solidFill>
                <a:latin typeface="Arial MT"/>
                <a:cs typeface="Arial MT"/>
              </a:rPr>
              <a:t> </a:t>
            </a:r>
            <a:r>
              <a:rPr lang="en-GB" sz="1800" dirty="0">
                <a:solidFill>
                  <a:srgbClr val="080912"/>
                </a:solidFill>
                <a:latin typeface="Arial MT"/>
                <a:cs typeface="Arial MT"/>
              </a:rPr>
              <a:t>will</a:t>
            </a:r>
            <a:r>
              <a:rPr lang="en-GB" sz="1800" spc="-7" dirty="0">
                <a:solidFill>
                  <a:srgbClr val="080912"/>
                </a:solidFill>
                <a:latin typeface="Arial MT"/>
                <a:cs typeface="Arial MT"/>
              </a:rPr>
              <a:t> </a:t>
            </a:r>
            <a:r>
              <a:rPr lang="en-GB" sz="1800" spc="-3" dirty="0">
                <a:solidFill>
                  <a:srgbClr val="080912"/>
                </a:solidFill>
                <a:latin typeface="Arial MT"/>
                <a:cs typeface="Arial MT"/>
              </a:rPr>
              <a:t>be</a:t>
            </a:r>
            <a:r>
              <a:rPr lang="en-GB" sz="1800" spc="-7" dirty="0">
                <a:solidFill>
                  <a:srgbClr val="080912"/>
                </a:solidFill>
                <a:latin typeface="Arial MT"/>
                <a:cs typeface="Arial MT"/>
              </a:rPr>
              <a:t> </a:t>
            </a:r>
            <a:r>
              <a:rPr lang="en-GB" sz="1800" dirty="0">
                <a:solidFill>
                  <a:srgbClr val="080912"/>
                </a:solidFill>
                <a:latin typeface="Arial MT"/>
                <a:cs typeface="Arial MT"/>
              </a:rPr>
              <a:t>of</a:t>
            </a:r>
            <a:r>
              <a:rPr lang="en-GB" sz="1800" spc="-7" dirty="0">
                <a:solidFill>
                  <a:srgbClr val="080912"/>
                </a:solidFill>
                <a:latin typeface="Arial MT"/>
                <a:cs typeface="Arial MT"/>
              </a:rPr>
              <a:t> </a:t>
            </a:r>
            <a:r>
              <a:rPr lang="en-GB" sz="1800" spc="-3" dirty="0">
                <a:solidFill>
                  <a:srgbClr val="080912"/>
                </a:solidFill>
                <a:latin typeface="Arial MT"/>
                <a:cs typeface="Arial MT"/>
              </a:rPr>
              <a:t>the</a:t>
            </a:r>
            <a:r>
              <a:rPr lang="en-GB" sz="1800" dirty="0">
                <a:solidFill>
                  <a:srgbClr val="080912"/>
                </a:solidFill>
                <a:latin typeface="Arial MT"/>
                <a:cs typeface="Arial MT"/>
              </a:rPr>
              <a:t> same</a:t>
            </a:r>
            <a:r>
              <a:rPr lang="en-GB" sz="1800" spc="-10" dirty="0">
                <a:solidFill>
                  <a:srgbClr val="080912"/>
                </a:solidFill>
                <a:latin typeface="Arial MT"/>
                <a:cs typeface="Arial MT"/>
              </a:rPr>
              <a:t> </a:t>
            </a:r>
            <a:r>
              <a:rPr lang="en-GB" sz="1800" dirty="0">
                <a:solidFill>
                  <a:srgbClr val="080912"/>
                </a:solidFill>
                <a:latin typeface="Arial MT"/>
                <a:cs typeface="Arial MT"/>
              </a:rPr>
              <a:t>sign. </a:t>
            </a:r>
            <a:r>
              <a:rPr lang="en-GB" sz="1800" spc="-3" dirty="0">
                <a:solidFill>
                  <a:srgbClr val="080912"/>
                </a:solidFill>
                <a:latin typeface="Arial MT"/>
                <a:cs typeface="Arial MT"/>
              </a:rPr>
              <a:t>This</a:t>
            </a:r>
            <a:r>
              <a:rPr lang="en-GB" sz="1800" dirty="0">
                <a:solidFill>
                  <a:srgbClr val="080912"/>
                </a:solidFill>
                <a:latin typeface="Arial MT"/>
                <a:cs typeface="Arial MT"/>
              </a:rPr>
              <a:t> </a:t>
            </a:r>
            <a:r>
              <a:rPr lang="en-GB" sz="1800" spc="-3" dirty="0">
                <a:solidFill>
                  <a:srgbClr val="080912"/>
                </a:solidFill>
                <a:latin typeface="Arial MT"/>
                <a:cs typeface="Arial MT"/>
              </a:rPr>
              <a:t>makes</a:t>
            </a:r>
            <a:r>
              <a:rPr lang="en-GB" sz="1800" spc="3" dirty="0">
                <a:solidFill>
                  <a:srgbClr val="080912"/>
                </a:solidFill>
                <a:latin typeface="Arial MT"/>
                <a:cs typeface="Arial MT"/>
              </a:rPr>
              <a:t> </a:t>
            </a:r>
            <a:r>
              <a:rPr lang="en-GB" sz="1800" spc="-3" dirty="0">
                <a:solidFill>
                  <a:srgbClr val="080912"/>
                </a:solidFill>
                <a:latin typeface="Arial MT"/>
                <a:cs typeface="Arial MT"/>
              </a:rPr>
              <a:t>the</a:t>
            </a:r>
            <a:r>
              <a:rPr lang="en-GB" sz="1800" spc="14" dirty="0">
                <a:solidFill>
                  <a:srgbClr val="0F63FD"/>
                </a:solidFill>
                <a:latin typeface="Arial MT"/>
                <a:cs typeface="Arial MT"/>
              </a:rPr>
              <a:t> </a:t>
            </a:r>
            <a:r>
              <a:rPr lang="en-GB" sz="1800" spc="-3" dirty="0">
                <a:solidFill>
                  <a:srgbClr val="080912"/>
                </a:solidFill>
                <a:latin typeface="Arial MT"/>
              </a:rPr>
              <a:t>training of the neural network more difficult and unstable.</a:t>
            </a:r>
          </a:p>
          <a:p>
            <a:endParaRPr lang="en-PK" dirty="0"/>
          </a:p>
        </p:txBody>
      </p:sp>
      <p:pic>
        <p:nvPicPr>
          <p:cNvPr id="9" name="object 3"/>
          <p:cNvPicPr/>
          <p:nvPr/>
        </p:nvPicPr>
        <p:blipFill>
          <a:blip r:embed="rId2" cstate="print"/>
          <a:stretch>
            <a:fillRect/>
          </a:stretch>
        </p:blipFill>
        <p:spPr>
          <a:xfrm>
            <a:off x="8302029" y="2986694"/>
            <a:ext cx="3558011" cy="3044443"/>
          </a:xfrm>
          <a:prstGeom prst="rect">
            <a:avLst/>
          </a:prstGeom>
        </p:spPr>
      </p:pic>
      <p:sp>
        <p:nvSpPr>
          <p:cNvPr id="2" name="Slide Number Placeholder 1">
            <a:extLst>
              <a:ext uri="{FF2B5EF4-FFF2-40B4-BE49-F238E27FC236}">
                <a16:creationId xmlns:a16="http://schemas.microsoft.com/office/drawing/2014/main" id="{312CE219-86B6-0EBC-4697-4F7525632ED0}"/>
              </a:ext>
            </a:extLst>
          </p:cNvPr>
          <p:cNvSpPr>
            <a:spLocks noGrp="1"/>
          </p:cNvSpPr>
          <p:nvPr>
            <p:ph type="sldNum" sz="quarter" idx="12"/>
          </p:nvPr>
        </p:nvSpPr>
        <p:spPr/>
        <p:txBody>
          <a:bodyPr/>
          <a:lstStyle/>
          <a:p>
            <a:fld id="{9CD9A578-84A4-4247-B01E-A84B9E2DF7BB}" type="slidenum">
              <a:rPr lang="en-PK" smtClean="0"/>
              <a:t>8</a:t>
            </a:fld>
            <a:endParaRPr lang="en-PK"/>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633772" y="1811215"/>
            <a:ext cx="2191331" cy="1356360"/>
          </a:xfrm>
          <a:prstGeom prst="rect">
            <a:avLst/>
          </a:prstGeom>
        </p:spPr>
      </p:pic>
      <p:sp>
        <p:nvSpPr>
          <p:cNvPr id="4" name="Title 3">
            <a:extLst>
              <a:ext uri="{FF2B5EF4-FFF2-40B4-BE49-F238E27FC236}">
                <a16:creationId xmlns:a16="http://schemas.microsoft.com/office/drawing/2014/main" id="{25310006-CA4A-74E8-809F-DB3CC34DB605}"/>
              </a:ext>
            </a:extLst>
          </p:cNvPr>
          <p:cNvSpPr>
            <a:spLocks noGrp="1"/>
          </p:cNvSpPr>
          <p:nvPr>
            <p:ph type="title"/>
          </p:nvPr>
        </p:nvSpPr>
        <p:spPr/>
        <p:txBody>
          <a:bodyPr/>
          <a:lstStyle/>
          <a:p>
            <a:r>
              <a:rPr lang="en-GB" sz="4400" b="1" spc="-31" dirty="0">
                <a:solidFill>
                  <a:srgbClr val="272E40"/>
                </a:solidFill>
                <a:latin typeface="Arial"/>
                <a:cs typeface="Arial"/>
              </a:rPr>
              <a:t>T</a:t>
            </a:r>
            <a:r>
              <a:rPr lang="en-GB" sz="4400" b="1" spc="-24" dirty="0">
                <a:solidFill>
                  <a:srgbClr val="272E40"/>
                </a:solidFill>
                <a:latin typeface="Arial"/>
                <a:cs typeface="Arial"/>
              </a:rPr>
              <a:t>a</a:t>
            </a:r>
            <a:r>
              <a:rPr lang="en-GB" sz="4400" b="1" spc="-31" dirty="0">
                <a:solidFill>
                  <a:srgbClr val="272E40"/>
                </a:solidFill>
                <a:latin typeface="Arial"/>
                <a:cs typeface="Arial"/>
              </a:rPr>
              <a:t>n</a:t>
            </a:r>
            <a:r>
              <a:rPr lang="en-GB" sz="4400" b="1" dirty="0">
                <a:solidFill>
                  <a:srgbClr val="272E40"/>
                </a:solidFill>
                <a:latin typeface="Arial"/>
                <a:cs typeface="Arial"/>
              </a:rPr>
              <a:t>h</a:t>
            </a:r>
            <a:r>
              <a:rPr lang="en-GB" sz="4400" b="1" spc="-51" dirty="0">
                <a:solidFill>
                  <a:srgbClr val="272E40"/>
                </a:solidFill>
                <a:latin typeface="Arial"/>
                <a:cs typeface="Arial"/>
              </a:rPr>
              <a:t> </a:t>
            </a:r>
            <a:r>
              <a:rPr lang="en-GB" sz="4400" b="1" spc="-31" dirty="0">
                <a:solidFill>
                  <a:srgbClr val="272E40"/>
                </a:solidFill>
                <a:latin typeface="Arial"/>
                <a:cs typeface="Arial"/>
              </a:rPr>
              <a:t>Fu</a:t>
            </a:r>
            <a:r>
              <a:rPr lang="en-GB" sz="4400" b="1" spc="-37" dirty="0">
                <a:solidFill>
                  <a:srgbClr val="272E40"/>
                </a:solidFill>
                <a:latin typeface="Arial"/>
                <a:cs typeface="Arial"/>
              </a:rPr>
              <a:t>n</a:t>
            </a:r>
            <a:r>
              <a:rPr lang="en-GB" sz="4400" b="1" spc="-34" dirty="0">
                <a:solidFill>
                  <a:srgbClr val="272E40"/>
                </a:solidFill>
                <a:latin typeface="Arial"/>
                <a:cs typeface="Arial"/>
              </a:rPr>
              <a:t>c</a:t>
            </a:r>
            <a:r>
              <a:rPr lang="en-GB" sz="4400" b="1" spc="-24" dirty="0">
                <a:solidFill>
                  <a:srgbClr val="272E40"/>
                </a:solidFill>
                <a:latin typeface="Arial"/>
                <a:cs typeface="Arial"/>
              </a:rPr>
              <a:t>ti</a:t>
            </a:r>
            <a:r>
              <a:rPr lang="en-GB" sz="4400" b="1" spc="-31" dirty="0">
                <a:solidFill>
                  <a:srgbClr val="272E40"/>
                </a:solidFill>
                <a:latin typeface="Arial"/>
                <a:cs typeface="Arial"/>
              </a:rPr>
              <a:t>o</a:t>
            </a:r>
            <a:r>
              <a:rPr lang="en-GB" sz="4400" b="1" dirty="0">
                <a:solidFill>
                  <a:srgbClr val="272E40"/>
                </a:solidFill>
                <a:latin typeface="Arial"/>
                <a:cs typeface="Arial"/>
              </a:rPr>
              <a:t>n</a:t>
            </a:r>
            <a:r>
              <a:rPr lang="en-GB" sz="4400" b="1" spc="-68" dirty="0">
                <a:solidFill>
                  <a:srgbClr val="272E40"/>
                </a:solidFill>
                <a:latin typeface="Arial"/>
                <a:cs typeface="Arial"/>
              </a:rPr>
              <a:t> </a:t>
            </a:r>
            <a:r>
              <a:rPr lang="en-GB" sz="4400" b="1" spc="-24" dirty="0">
                <a:solidFill>
                  <a:srgbClr val="272E40"/>
                </a:solidFill>
                <a:latin typeface="Arial"/>
                <a:cs typeface="Arial"/>
              </a:rPr>
              <a:t>(</a:t>
            </a:r>
            <a:r>
              <a:rPr lang="en-GB" sz="4400" b="1" spc="-41" dirty="0">
                <a:solidFill>
                  <a:srgbClr val="272E40"/>
                </a:solidFill>
                <a:latin typeface="Arial"/>
                <a:cs typeface="Arial"/>
              </a:rPr>
              <a:t>H</a:t>
            </a:r>
            <a:r>
              <a:rPr lang="en-GB" sz="4400" b="1" spc="-24" dirty="0">
                <a:solidFill>
                  <a:srgbClr val="272E40"/>
                </a:solidFill>
                <a:latin typeface="Arial"/>
                <a:cs typeface="Arial"/>
              </a:rPr>
              <a:t>y</a:t>
            </a:r>
            <a:r>
              <a:rPr lang="en-GB" sz="4400" b="1" spc="-37" dirty="0">
                <a:solidFill>
                  <a:srgbClr val="272E40"/>
                </a:solidFill>
                <a:latin typeface="Arial"/>
                <a:cs typeface="Arial"/>
              </a:rPr>
              <a:t>p</a:t>
            </a:r>
            <a:r>
              <a:rPr lang="en-GB" sz="4400" b="1" spc="-24" dirty="0">
                <a:solidFill>
                  <a:srgbClr val="272E40"/>
                </a:solidFill>
                <a:latin typeface="Arial"/>
                <a:cs typeface="Arial"/>
              </a:rPr>
              <a:t>e</a:t>
            </a:r>
            <a:r>
              <a:rPr lang="en-GB" sz="4400" b="1" spc="-27" dirty="0">
                <a:solidFill>
                  <a:srgbClr val="272E40"/>
                </a:solidFill>
                <a:latin typeface="Arial"/>
                <a:cs typeface="Arial"/>
              </a:rPr>
              <a:t>r</a:t>
            </a:r>
            <a:r>
              <a:rPr lang="en-GB" sz="4400" b="1" spc="-31" dirty="0">
                <a:solidFill>
                  <a:srgbClr val="272E40"/>
                </a:solidFill>
                <a:latin typeface="Arial"/>
                <a:cs typeface="Arial"/>
              </a:rPr>
              <a:t>b</a:t>
            </a:r>
            <a:r>
              <a:rPr lang="en-GB" sz="4400" b="1" spc="-37" dirty="0">
                <a:solidFill>
                  <a:srgbClr val="272E40"/>
                </a:solidFill>
                <a:latin typeface="Arial"/>
                <a:cs typeface="Arial"/>
              </a:rPr>
              <a:t>o</a:t>
            </a:r>
            <a:r>
              <a:rPr lang="en-GB" sz="4400" b="1" spc="-24" dirty="0">
                <a:solidFill>
                  <a:srgbClr val="272E40"/>
                </a:solidFill>
                <a:latin typeface="Arial"/>
                <a:cs typeface="Arial"/>
              </a:rPr>
              <a:t>l</a:t>
            </a:r>
            <a:r>
              <a:rPr lang="en-GB" sz="4400" b="1" spc="-31" dirty="0">
                <a:solidFill>
                  <a:srgbClr val="272E40"/>
                </a:solidFill>
                <a:latin typeface="Arial"/>
                <a:cs typeface="Arial"/>
              </a:rPr>
              <a:t>i</a:t>
            </a:r>
            <a:r>
              <a:rPr lang="en-GB" sz="4400" b="1" spc="-3" dirty="0">
                <a:solidFill>
                  <a:srgbClr val="272E40"/>
                </a:solidFill>
                <a:latin typeface="Arial"/>
                <a:cs typeface="Arial"/>
              </a:rPr>
              <a:t>c</a:t>
            </a:r>
            <a:r>
              <a:rPr lang="en-GB" sz="4400" b="1" spc="-61" dirty="0">
                <a:solidFill>
                  <a:srgbClr val="272E40"/>
                </a:solidFill>
                <a:latin typeface="Arial"/>
                <a:cs typeface="Arial"/>
              </a:rPr>
              <a:t> </a:t>
            </a:r>
            <a:r>
              <a:rPr lang="en-GB" sz="4400" b="1" spc="-31" dirty="0">
                <a:solidFill>
                  <a:srgbClr val="272E40"/>
                </a:solidFill>
                <a:latin typeface="Arial"/>
                <a:cs typeface="Arial"/>
              </a:rPr>
              <a:t>T</a:t>
            </a:r>
            <a:r>
              <a:rPr lang="en-GB" sz="4400" b="1" spc="-24" dirty="0">
                <a:solidFill>
                  <a:srgbClr val="272E40"/>
                </a:solidFill>
                <a:latin typeface="Arial"/>
                <a:cs typeface="Arial"/>
              </a:rPr>
              <a:t>a</a:t>
            </a:r>
            <a:r>
              <a:rPr lang="en-GB" sz="4400" b="1" spc="-31" dirty="0">
                <a:solidFill>
                  <a:srgbClr val="272E40"/>
                </a:solidFill>
                <a:latin typeface="Arial"/>
                <a:cs typeface="Arial"/>
              </a:rPr>
              <a:t>ng</a:t>
            </a:r>
            <a:r>
              <a:rPr lang="en-GB" sz="4400" b="1" spc="-24" dirty="0">
                <a:solidFill>
                  <a:srgbClr val="272E40"/>
                </a:solidFill>
                <a:latin typeface="Arial"/>
                <a:cs typeface="Arial"/>
              </a:rPr>
              <a:t>e</a:t>
            </a:r>
            <a:r>
              <a:rPr lang="en-GB" sz="4400" b="1" spc="-37" dirty="0">
                <a:solidFill>
                  <a:srgbClr val="272E40"/>
                </a:solidFill>
                <a:latin typeface="Arial"/>
                <a:cs typeface="Arial"/>
              </a:rPr>
              <a:t>n</a:t>
            </a:r>
            <a:r>
              <a:rPr lang="en-GB" sz="4400" b="1" spc="-31" dirty="0">
                <a:solidFill>
                  <a:srgbClr val="272E40"/>
                </a:solidFill>
                <a:latin typeface="Arial"/>
                <a:cs typeface="Arial"/>
              </a:rPr>
              <a:t>t</a:t>
            </a:r>
            <a:r>
              <a:rPr lang="en-GB" sz="4400" b="1" dirty="0">
                <a:solidFill>
                  <a:srgbClr val="272E40"/>
                </a:solidFill>
                <a:latin typeface="Arial"/>
                <a:cs typeface="Arial"/>
              </a:rPr>
              <a:t>)</a:t>
            </a:r>
            <a:endParaRPr lang="en-PK" dirty="0"/>
          </a:p>
        </p:txBody>
      </p:sp>
      <p:sp>
        <p:nvSpPr>
          <p:cNvPr id="5" name="Content Placeholder 4">
            <a:extLst>
              <a:ext uri="{FF2B5EF4-FFF2-40B4-BE49-F238E27FC236}">
                <a16:creationId xmlns:a16="http://schemas.microsoft.com/office/drawing/2014/main" id="{05537E6B-07A5-AF8E-FBDA-1C31F2C748C1}"/>
              </a:ext>
            </a:extLst>
          </p:cNvPr>
          <p:cNvSpPr>
            <a:spLocks noGrp="1"/>
          </p:cNvSpPr>
          <p:nvPr>
            <p:ph idx="1"/>
          </p:nvPr>
        </p:nvSpPr>
        <p:spPr>
          <a:xfrm>
            <a:off x="1143001" y="1811215"/>
            <a:ext cx="7376310" cy="4284785"/>
          </a:xfrm>
        </p:spPr>
        <p:txBody>
          <a:bodyPr>
            <a:normAutofit fontScale="77500" lnSpcReduction="20000"/>
          </a:bodyPr>
          <a:lstStyle/>
          <a:p>
            <a:pPr algn="just"/>
            <a:r>
              <a:rPr lang="en-GB" sz="2400" spc="-10" dirty="0">
                <a:solidFill>
                  <a:srgbClr val="080912"/>
                </a:solidFill>
                <a:latin typeface="Arial MT"/>
                <a:cs typeface="Arial MT"/>
              </a:rPr>
              <a:t>Tanh</a:t>
            </a:r>
            <a:r>
              <a:rPr lang="en-GB" sz="2400" spc="-41" dirty="0">
                <a:solidFill>
                  <a:srgbClr val="080912"/>
                </a:solidFill>
                <a:latin typeface="Arial MT"/>
                <a:cs typeface="Arial MT"/>
              </a:rPr>
              <a:t> </a:t>
            </a:r>
            <a:r>
              <a:rPr lang="en-GB" sz="2400" spc="-14" dirty="0">
                <a:solidFill>
                  <a:srgbClr val="080912"/>
                </a:solidFill>
                <a:latin typeface="Arial MT"/>
                <a:cs typeface="Arial MT"/>
              </a:rPr>
              <a:t>function</a:t>
            </a:r>
            <a:r>
              <a:rPr lang="en-GB" sz="2400" spc="-41" dirty="0">
                <a:solidFill>
                  <a:srgbClr val="080912"/>
                </a:solidFill>
                <a:latin typeface="Arial MT"/>
                <a:cs typeface="Arial MT"/>
              </a:rPr>
              <a:t> </a:t>
            </a:r>
            <a:r>
              <a:rPr lang="en-GB" sz="2400" spc="-10" dirty="0">
                <a:solidFill>
                  <a:srgbClr val="080912"/>
                </a:solidFill>
                <a:latin typeface="Arial MT"/>
                <a:cs typeface="Arial MT"/>
              </a:rPr>
              <a:t>is</a:t>
            </a:r>
            <a:r>
              <a:rPr lang="en-GB" sz="2400" spc="-41" dirty="0">
                <a:solidFill>
                  <a:srgbClr val="080912"/>
                </a:solidFill>
                <a:latin typeface="Arial MT"/>
                <a:cs typeface="Arial MT"/>
              </a:rPr>
              <a:t> </a:t>
            </a:r>
            <a:r>
              <a:rPr lang="en-GB" sz="2400" spc="-10" dirty="0">
                <a:solidFill>
                  <a:srgbClr val="080912"/>
                </a:solidFill>
                <a:latin typeface="Arial MT"/>
                <a:cs typeface="Arial MT"/>
              </a:rPr>
              <a:t>very</a:t>
            </a:r>
            <a:r>
              <a:rPr lang="en-GB" sz="2400" spc="-44" dirty="0">
                <a:solidFill>
                  <a:srgbClr val="080912"/>
                </a:solidFill>
                <a:latin typeface="Arial MT"/>
                <a:cs typeface="Arial MT"/>
              </a:rPr>
              <a:t> </a:t>
            </a:r>
            <a:r>
              <a:rPr lang="en-GB" sz="2400" spc="-10" dirty="0">
                <a:solidFill>
                  <a:srgbClr val="080912"/>
                </a:solidFill>
                <a:latin typeface="Arial MT"/>
                <a:cs typeface="Arial MT"/>
              </a:rPr>
              <a:t>similar</a:t>
            </a:r>
            <a:r>
              <a:rPr lang="en-GB" sz="2400" spc="-34" dirty="0">
                <a:solidFill>
                  <a:srgbClr val="080912"/>
                </a:solidFill>
                <a:latin typeface="Arial MT"/>
                <a:cs typeface="Arial MT"/>
              </a:rPr>
              <a:t> </a:t>
            </a:r>
            <a:r>
              <a:rPr lang="en-GB" sz="2400" spc="-10" dirty="0">
                <a:solidFill>
                  <a:srgbClr val="080912"/>
                </a:solidFill>
                <a:latin typeface="Arial MT"/>
                <a:cs typeface="Arial MT"/>
              </a:rPr>
              <a:t>to</a:t>
            </a:r>
            <a:r>
              <a:rPr lang="en-GB" sz="2400" spc="-41" dirty="0">
                <a:solidFill>
                  <a:srgbClr val="080912"/>
                </a:solidFill>
                <a:latin typeface="Arial MT"/>
                <a:cs typeface="Arial MT"/>
              </a:rPr>
              <a:t> </a:t>
            </a:r>
            <a:r>
              <a:rPr lang="en-GB" sz="2400" spc="-10" dirty="0">
                <a:solidFill>
                  <a:srgbClr val="080912"/>
                </a:solidFill>
                <a:latin typeface="Arial MT"/>
                <a:cs typeface="Arial MT"/>
              </a:rPr>
              <a:t>the</a:t>
            </a:r>
            <a:r>
              <a:rPr lang="en-GB" sz="2400" spc="-51" dirty="0">
                <a:solidFill>
                  <a:srgbClr val="080912"/>
                </a:solidFill>
                <a:latin typeface="Arial MT"/>
                <a:cs typeface="Arial MT"/>
              </a:rPr>
              <a:t> </a:t>
            </a:r>
            <a:r>
              <a:rPr lang="en-GB" sz="2400" spc="-14" dirty="0">
                <a:solidFill>
                  <a:srgbClr val="080912"/>
                </a:solidFill>
                <a:latin typeface="Arial MT"/>
                <a:cs typeface="Arial MT"/>
              </a:rPr>
              <a:t>sigmoid/logistic</a:t>
            </a:r>
            <a:r>
              <a:rPr lang="en-GB" sz="2400" spc="-44"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37" dirty="0">
                <a:solidFill>
                  <a:srgbClr val="080912"/>
                </a:solidFill>
                <a:latin typeface="Arial MT"/>
                <a:cs typeface="Arial MT"/>
              </a:rPr>
              <a:t> </a:t>
            </a:r>
            <a:r>
              <a:rPr lang="en-GB" sz="2400" spc="-10" dirty="0">
                <a:solidFill>
                  <a:srgbClr val="080912"/>
                </a:solidFill>
                <a:latin typeface="Arial MT"/>
                <a:cs typeface="Arial MT"/>
              </a:rPr>
              <a:t>function,</a:t>
            </a:r>
            <a:r>
              <a:rPr lang="en-GB" sz="2400" spc="-55" dirty="0">
                <a:solidFill>
                  <a:srgbClr val="080912"/>
                </a:solidFill>
                <a:latin typeface="Arial MT"/>
                <a:cs typeface="Arial MT"/>
              </a:rPr>
              <a:t> </a:t>
            </a:r>
            <a:r>
              <a:rPr lang="en-GB" sz="2400" spc="-7" dirty="0">
                <a:solidFill>
                  <a:srgbClr val="080912"/>
                </a:solidFill>
                <a:latin typeface="Arial MT"/>
                <a:cs typeface="Arial MT"/>
              </a:rPr>
              <a:t>and</a:t>
            </a:r>
            <a:r>
              <a:rPr lang="en-GB" sz="2400" spc="-44" dirty="0">
                <a:solidFill>
                  <a:srgbClr val="080912"/>
                </a:solidFill>
                <a:latin typeface="Arial MT"/>
                <a:cs typeface="Arial MT"/>
              </a:rPr>
              <a:t> </a:t>
            </a:r>
            <a:r>
              <a:rPr lang="en-GB" sz="2400" spc="-10" dirty="0">
                <a:solidFill>
                  <a:srgbClr val="080912"/>
                </a:solidFill>
                <a:latin typeface="Arial MT"/>
                <a:cs typeface="Arial MT"/>
              </a:rPr>
              <a:t>even</a:t>
            </a:r>
            <a:r>
              <a:rPr lang="en-GB" sz="2400" spc="-48" dirty="0">
                <a:solidFill>
                  <a:srgbClr val="080912"/>
                </a:solidFill>
                <a:latin typeface="Arial MT"/>
                <a:cs typeface="Arial MT"/>
              </a:rPr>
              <a:t> </a:t>
            </a:r>
            <a:r>
              <a:rPr lang="en-GB" sz="2400" spc="-10" dirty="0">
                <a:solidFill>
                  <a:srgbClr val="080912"/>
                </a:solidFill>
                <a:latin typeface="Arial MT"/>
                <a:cs typeface="Arial MT"/>
              </a:rPr>
              <a:t>has</a:t>
            </a:r>
            <a:r>
              <a:rPr lang="en-GB" sz="2400" spc="-34" dirty="0">
                <a:solidFill>
                  <a:srgbClr val="080912"/>
                </a:solidFill>
                <a:latin typeface="Arial MT"/>
                <a:cs typeface="Arial MT"/>
              </a:rPr>
              <a:t> </a:t>
            </a:r>
            <a:r>
              <a:rPr lang="en-GB" sz="2400" spc="-14" dirty="0">
                <a:solidFill>
                  <a:srgbClr val="080912"/>
                </a:solidFill>
                <a:latin typeface="Arial MT"/>
                <a:cs typeface="Arial MT"/>
              </a:rPr>
              <a:t>the</a:t>
            </a:r>
            <a:r>
              <a:rPr lang="en-GB" sz="2400" spc="-48" dirty="0">
                <a:solidFill>
                  <a:srgbClr val="080912"/>
                </a:solidFill>
                <a:latin typeface="Arial MT"/>
                <a:cs typeface="Arial MT"/>
              </a:rPr>
              <a:t> </a:t>
            </a:r>
            <a:r>
              <a:rPr lang="en-GB" sz="2400" spc="-10" dirty="0">
                <a:solidFill>
                  <a:srgbClr val="080912"/>
                </a:solidFill>
                <a:latin typeface="Arial MT"/>
                <a:cs typeface="Arial MT"/>
              </a:rPr>
              <a:t>same </a:t>
            </a:r>
            <a:r>
              <a:rPr lang="en-GB" sz="2400" spc="-249" dirty="0">
                <a:solidFill>
                  <a:srgbClr val="080912"/>
                </a:solidFill>
                <a:latin typeface="Arial MT"/>
                <a:cs typeface="Arial MT"/>
              </a:rPr>
              <a:t> </a:t>
            </a:r>
            <a:r>
              <a:rPr lang="en-GB" sz="2400" spc="-10" dirty="0">
                <a:solidFill>
                  <a:srgbClr val="080912"/>
                </a:solidFill>
                <a:latin typeface="Arial MT"/>
                <a:cs typeface="Arial MT"/>
              </a:rPr>
              <a:t>S-shape </a:t>
            </a:r>
            <a:r>
              <a:rPr lang="en-GB" sz="2400" spc="-7" dirty="0">
                <a:solidFill>
                  <a:srgbClr val="080912"/>
                </a:solidFill>
                <a:latin typeface="Arial MT"/>
                <a:cs typeface="Arial MT"/>
              </a:rPr>
              <a:t>with </a:t>
            </a:r>
            <a:r>
              <a:rPr lang="en-GB" sz="2400" spc="-14" dirty="0">
                <a:solidFill>
                  <a:srgbClr val="080912"/>
                </a:solidFill>
                <a:latin typeface="Arial MT"/>
                <a:cs typeface="Arial MT"/>
              </a:rPr>
              <a:t>the </a:t>
            </a:r>
            <a:r>
              <a:rPr lang="en-GB" sz="2400" spc="-10" dirty="0">
                <a:solidFill>
                  <a:srgbClr val="080912"/>
                </a:solidFill>
                <a:latin typeface="Arial MT"/>
                <a:cs typeface="Arial MT"/>
              </a:rPr>
              <a:t>difference </a:t>
            </a:r>
            <a:r>
              <a:rPr lang="en-GB" sz="2400" spc="-7" dirty="0">
                <a:solidFill>
                  <a:srgbClr val="080912"/>
                </a:solidFill>
                <a:latin typeface="Arial MT"/>
                <a:cs typeface="Arial MT"/>
              </a:rPr>
              <a:t>in </a:t>
            </a:r>
            <a:r>
              <a:rPr lang="en-GB" sz="2400" spc="-10" dirty="0">
                <a:solidFill>
                  <a:srgbClr val="080912"/>
                </a:solidFill>
                <a:latin typeface="Arial MT"/>
                <a:cs typeface="Arial MT"/>
              </a:rPr>
              <a:t>output range </a:t>
            </a:r>
            <a:r>
              <a:rPr lang="en-GB" sz="2400" spc="-3" dirty="0">
                <a:solidFill>
                  <a:srgbClr val="080912"/>
                </a:solidFill>
                <a:latin typeface="Arial MT"/>
                <a:cs typeface="Arial MT"/>
              </a:rPr>
              <a:t>of </a:t>
            </a:r>
            <a:r>
              <a:rPr lang="en-GB" sz="2400" spc="-7" dirty="0">
                <a:solidFill>
                  <a:srgbClr val="080912"/>
                </a:solidFill>
                <a:latin typeface="Arial MT"/>
                <a:cs typeface="Arial MT"/>
              </a:rPr>
              <a:t>-1 to </a:t>
            </a:r>
            <a:r>
              <a:rPr lang="en-GB" sz="2400" spc="-3" dirty="0">
                <a:solidFill>
                  <a:srgbClr val="080912"/>
                </a:solidFill>
                <a:latin typeface="Arial MT"/>
                <a:cs typeface="Arial MT"/>
              </a:rPr>
              <a:t>1. </a:t>
            </a:r>
            <a:r>
              <a:rPr lang="en-GB" sz="2400" spc="-7" dirty="0">
                <a:solidFill>
                  <a:srgbClr val="080912"/>
                </a:solidFill>
                <a:latin typeface="Arial MT"/>
                <a:cs typeface="Arial MT"/>
              </a:rPr>
              <a:t>In Tanh, </a:t>
            </a:r>
            <a:r>
              <a:rPr lang="en-GB" sz="2400" spc="-10" dirty="0">
                <a:solidFill>
                  <a:srgbClr val="080912"/>
                </a:solidFill>
                <a:latin typeface="Arial MT"/>
                <a:cs typeface="Arial MT"/>
              </a:rPr>
              <a:t>the </a:t>
            </a:r>
            <a:r>
              <a:rPr lang="en-GB" sz="2400" spc="-14" dirty="0">
                <a:solidFill>
                  <a:srgbClr val="080912"/>
                </a:solidFill>
                <a:latin typeface="Arial MT"/>
                <a:cs typeface="Arial MT"/>
              </a:rPr>
              <a:t>larger </a:t>
            </a:r>
            <a:r>
              <a:rPr lang="en-GB" sz="2400" spc="-10" dirty="0">
                <a:solidFill>
                  <a:srgbClr val="080912"/>
                </a:solidFill>
                <a:latin typeface="Arial MT"/>
                <a:cs typeface="Arial MT"/>
              </a:rPr>
              <a:t>the input (more </a:t>
            </a:r>
            <a:r>
              <a:rPr lang="en-GB" sz="2400" spc="-7" dirty="0">
                <a:solidFill>
                  <a:srgbClr val="080912"/>
                </a:solidFill>
                <a:latin typeface="Arial MT"/>
                <a:cs typeface="Arial MT"/>
              </a:rPr>
              <a:t> </a:t>
            </a:r>
            <a:r>
              <a:rPr lang="en-GB" sz="2400" spc="-10" dirty="0">
                <a:solidFill>
                  <a:srgbClr val="080912"/>
                </a:solidFill>
                <a:latin typeface="Arial MT"/>
                <a:cs typeface="Arial MT"/>
              </a:rPr>
              <a:t>positive), </a:t>
            </a:r>
            <a:r>
              <a:rPr lang="en-GB" sz="2400" spc="-14" dirty="0">
                <a:solidFill>
                  <a:srgbClr val="080912"/>
                </a:solidFill>
                <a:latin typeface="Arial MT"/>
                <a:cs typeface="Arial MT"/>
              </a:rPr>
              <a:t>the </a:t>
            </a:r>
            <a:r>
              <a:rPr lang="en-GB" sz="2400" spc="-10" dirty="0">
                <a:solidFill>
                  <a:srgbClr val="080912"/>
                </a:solidFill>
                <a:latin typeface="Arial MT"/>
                <a:cs typeface="Arial MT"/>
              </a:rPr>
              <a:t>closer </a:t>
            </a:r>
            <a:r>
              <a:rPr lang="en-GB" sz="2400" spc="-7" dirty="0">
                <a:solidFill>
                  <a:srgbClr val="080912"/>
                </a:solidFill>
                <a:latin typeface="Arial MT"/>
                <a:cs typeface="Arial MT"/>
              </a:rPr>
              <a:t>the </a:t>
            </a:r>
            <a:r>
              <a:rPr lang="en-GB" sz="2400" spc="-10" dirty="0">
                <a:solidFill>
                  <a:srgbClr val="080912"/>
                </a:solidFill>
                <a:latin typeface="Arial MT"/>
                <a:cs typeface="Arial MT"/>
              </a:rPr>
              <a:t>output value will </a:t>
            </a:r>
            <a:r>
              <a:rPr lang="en-GB" sz="2400" spc="-3" dirty="0">
                <a:solidFill>
                  <a:srgbClr val="080912"/>
                </a:solidFill>
                <a:latin typeface="Arial MT"/>
                <a:cs typeface="Arial MT"/>
              </a:rPr>
              <a:t>be </a:t>
            </a:r>
            <a:r>
              <a:rPr lang="en-GB" sz="2400" spc="-10" dirty="0">
                <a:solidFill>
                  <a:srgbClr val="080912"/>
                </a:solidFill>
                <a:latin typeface="Arial MT"/>
                <a:cs typeface="Arial MT"/>
              </a:rPr>
              <a:t>to </a:t>
            </a:r>
            <a:r>
              <a:rPr lang="en-GB" sz="2400" spc="-7" dirty="0">
                <a:solidFill>
                  <a:srgbClr val="080912"/>
                </a:solidFill>
                <a:latin typeface="Arial MT"/>
                <a:cs typeface="Arial MT"/>
              </a:rPr>
              <a:t>1.0, </a:t>
            </a:r>
            <a:r>
              <a:rPr lang="en-GB" sz="2400" spc="-10" dirty="0">
                <a:solidFill>
                  <a:srgbClr val="080912"/>
                </a:solidFill>
                <a:latin typeface="Arial MT"/>
                <a:cs typeface="Arial MT"/>
              </a:rPr>
              <a:t>whereas the smaller the input </a:t>
            </a:r>
            <a:r>
              <a:rPr lang="en-GB" sz="2400" spc="-14" dirty="0">
                <a:solidFill>
                  <a:srgbClr val="080912"/>
                </a:solidFill>
                <a:latin typeface="Arial MT"/>
                <a:cs typeface="Arial MT"/>
              </a:rPr>
              <a:t>(more </a:t>
            </a:r>
            <a:r>
              <a:rPr lang="en-GB" sz="2400" spc="-10" dirty="0">
                <a:solidFill>
                  <a:srgbClr val="080912"/>
                </a:solidFill>
                <a:latin typeface="Arial MT"/>
                <a:cs typeface="Arial MT"/>
              </a:rPr>
              <a:t> negative),</a:t>
            </a:r>
            <a:r>
              <a:rPr lang="en-GB" sz="2400" spc="-27" dirty="0">
                <a:solidFill>
                  <a:srgbClr val="080912"/>
                </a:solidFill>
                <a:latin typeface="Arial MT"/>
                <a:cs typeface="Arial MT"/>
              </a:rPr>
              <a:t> </a:t>
            </a:r>
            <a:r>
              <a:rPr lang="en-GB" sz="2400" spc="-14"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closer</a:t>
            </a:r>
            <a:r>
              <a:rPr lang="en-GB" sz="2400" spc="-24" dirty="0">
                <a:solidFill>
                  <a:srgbClr val="080912"/>
                </a:solidFill>
                <a:latin typeface="Arial MT"/>
                <a:cs typeface="Arial MT"/>
              </a:rPr>
              <a:t> </a:t>
            </a:r>
            <a:r>
              <a:rPr lang="en-GB" sz="2400" spc="-7"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output</a:t>
            </a:r>
            <a:r>
              <a:rPr lang="en-GB" sz="2400" spc="-31" dirty="0">
                <a:solidFill>
                  <a:srgbClr val="080912"/>
                </a:solidFill>
                <a:latin typeface="Arial MT"/>
                <a:cs typeface="Arial MT"/>
              </a:rPr>
              <a:t> </a:t>
            </a:r>
            <a:r>
              <a:rPr lang="en-GB" sz="2400" spc="-10" dirty="0">
                <a:solidFill>
                  <a:srgbClr val="080912"/>
                </a:solidFill>
                <a:latin typeface="Arial MT"/>
                <a:cs typeface="Arial MT"/>
              </a:rPr>
              <a:t>will</a:t>
            </a:r>
            <a:r>
              <a:rPr lang="en-GB" sz="2400" spc="-20" dirty="0">
                <a:solidFill>
                  <a:srgbClr val="080912"/>
                </a:solidFill>
                <a:latin typeface="Arial MT"/>
                <a:cs typeface="Arial MT"/>
              </a:rPr>
              <a:t> </a:t>
            </a:r>
            <a:r>
              <a:rPr lang="en-GB" sz="2400" spc="-7" dirty="0">
                <a:solidFill>
                  <a:srgbClr val="080912"/>
                </a:solidFill>
                <a:latin typeface="Arial MT"/>
                <a:cs typeface="Arial MT"/>
              </a:rPr>
              <a:t>be</a:t>
            </a:r>
            <a:r>
              <a:rPr lang="en-GB" sz="2400" spc="-20" dirty="0">
                <a:solidFill>
                  <a:srgbClr val="080912"/>
                </a:solidFill>
                <a:latin typeface="Arial MT"/>
                <a:cs typeface="Arial MT"/>
              </a:rPr>
              <a:t> </a:t>
            </a:r>
            <a:r>
              <a:rPr lang="en-GB" sz="2400" spc="-10" dirty="0">
                <a:solidFill>
                  <a:srgbClr val="080912"/>
                </a:solidFill>
                <a:latin typeface="Arial MT"/>
                <a:cs typeface="Arial MT"/>
              </a:rPr>
              <a:t>to</a:t>
            </a:r>
            <a:r>
              <a:rPr lang="en-GB" sz="2400" spc="-27" dirty="0">
                <a:solidFill>
                  <a:srgbClr val="080912"/>
                </a:solidFill>
                <a:latin typeface="Arial MT"/>
                <a:cs typeface="Arial MT"/>
              </a:rPr>
              <a:t> </a:t>
            </a:r>
            <a:r>
              <a:rPr lang="en-GB" sz="2400" spc="-7" dirty="0">
                <a:solidFill>
                  <a:srgbClr val="080912"/>
                </a:solidFill>
                <a:latin typeface="Arial MT"/>
                <a:cs typeface="Arial MT"/>
              </a:rPr>
              <a:t>-1.0.</a:t>
            </a:r>
          </a:p>
          <a:p>
            <a:endParaRPr lang="en-GB" sz="2400" spc="-7" dirty="0">
              <a:solidFill>
                <a:srgbClr val="080912"/>
              </a:solidFill>
              <a:latin typeface="Arial MT"/>
              <a:cs typeface="Arial MT"/>
            </a:endParaRPr>
          </a:p>
          <a:p>
            <a:pPr marL="8659">
              <a:spcBef>
                <a:spcPts val="72"/>
              </a:spcBef>
            </a:pPr>
            <a:r>
              <a:rPr lang="en-GB" sz="2400" spc="-10" dirty="0">
                <a:solidFill>
                  <a:srgbClr val="080912"/>
                </a:solidFill>
                <a:latin typeface="Arial MT"/>
                <a:cs typeface="Arial MT"/>
              </a:rPr>
              <a:t>Advantages</a:t>
            </a:r>
            <a:r>
              <a:rPr lang="en-GB" sz="2400" spc="-31" dirty="0">
                <a:solidFill>
                  <a:srgbClr val="080912"/>
                </a:solidFill>
                <a:latin typeface="Arial MT"/>
                <a:cs typeface="Arial MT"/>
              </a:rPr>
              <a:t> </a:t>
            </a:r>
            <a:r>
              <a:rPr lang="en-GB" sz="2400" spc="-3" dirty="0">
                <a:solidFill>
                  <a:srgbClr val="080912"/>
                </a:solidFill>
                <a:latin typeface="Arial MT"/>
                <a:cs typeface="Arial MT"/>
              </a:rPr>
              <a:t>of</a:t>
            </a:r>
            <a:r>
              <a:rPr lang="en-GB" sz="2400" spc="-34" dirty="0">
                <a:solidFill>
                  <a:srgbClr val="080912"/>
                </a:solidFill>
                <a:latin typeface="Arial MT"/>
                <a:cs typeface="Arial MT"/>
              </a:rPr>
              <a:t> </a:t>
            </a:r>
            <a:r>
              <a:rPr lang="en-GB" sz="2400" spc="-10" dirty="0">
                <a:solidFill>
                  <a:srgbClr val="080912"/>
                </a:solidFill>
                <a:latin typeface="Arial MT"/>
                <a:cs typeface="Arial MT"/>
              </a:rPr>
              <a:t>using</a:t>
            </a:r>
            <a:r>
              <a:rPr lang="en-GB" sz="2400" spc="-31" dirty="0">
                <a:solidFill>
                  <a:srgbClr val="080912"/>
                </a:solidFill>
                <a:latin typeface="Arial MT"/>
                <a:cs typeface="Arial MT"/>
              </a:rPr>
              <a:t> </a:t>
            </a:r>
            <a:r>
              <a:rPr lang="en-GB" sz="2400" spc="-10" dirty="0">
                <a:solidFill>
                  <a:srgbClr val="080912"/>
                </a:solidFill>
                <a:latin typeface="Arial MT"/>
                <a:cs typeface="Arial MT"/>
              </a:rPr>
              <a:t>this</a:t>
            </a:r>
            <a:r>
              <a:rPr lang="en-GB" sz="2400" spc="-31"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24" dirty="0">
                <a:solidFill>
                  <a:srgbClr val="080912"/>
                </a:solidFill>
                <a:latin typeface="Arial MT"/>
                <a:cs typeface="Arial MT"/>
              </a:rPr>
              <a:t> </a:t>
            </a:r>
            <a:r>
              <a:rPr lang="en-GB" sz="2400" spc="-10" dirty="0">
                <a:solidFill>
                  <a:srgbClr val="080912"/>
                </a:solidFill>
                <a:latin typeface="Arial MT"/>
                <a:cs typeface="Arial MT"/>
              </a:rPr>
              <a:t>function</a:t>
            </a:r>
            <a:r>
              <a:rPr lang="en-GB" sz="2400" spc="-31" dirty="0">
                <a:solidFill>
                  <a:srgbClr val="080912"/>
                </a:solidFill>
                <a:latin typeface="Arial MT"/>
                <a:cs typeface="Arial MT"/>
              </a:rPr>
              <a:t> </a:t>
            </a:r>
            <a:r>
              <a:rPr lang="en-GB" sz="2400" spc="-7" dirty="0">
                <a:solidFill>
                  <a:srgbClr val="080912"/>
                </a:solidFill>
                <a:latin typeface="Arial MT"/>
                <a:cs typeface="Arial MT"/>
              </a:rPr>
              <a:t>are:</a:t>
            </a:r>
            <a:endParaRPr lang="en-GB" sz="2400" dirty="0">
              <a:latin typeface="Arial MT"/>
              <a:cs typeface="Arial MT"/>
            </a:endParaRPr>
          </a:p>
          <a:p>
            <a:pPr marL="320378" marR="43294" indent="-156292">
              <a:lnSpc>
                <a:spcPct val="116300"/>
              </a:lnSpc>
              <a:spcBef>
                <a:spcPts val="498"/>
              </a:spcBef>
              <a:buSzPct val="74074"/>
              <a:buFont typeface="Symbol"/>
              <a:buChar char=""/>
              <a:tabLst>
                <a:tab pos="320378" algn="l"/>
                <a:tab pos="320810" algn="l"/>
              </a:tabLst>
            </a:pPr>
            <a:r>
              <a:rPr lang="en-GB" sz="2400" dirty="0">
                <a:solidFill>
                  <a:srgbClr val="080912"/>
                </a:solidFill>
                <a:latin typeface="Arial MT"/>
                <a:cs typeface="Arial MT"/>
              </a:rPr>
              <a:t>The output of </a:t>
            </a:r>
            <a:r>
              <a:rPr lang="en-GB" sz="2400" spc="-3" dirty="0">
                <a:solidFill>
                  <a:srgbClr val="080912"/>
                </a:solidFill>
                <a:latin typeface="Arial MT"/>
                <a:cs typeface="Arial MT"/>
              </a:rPr>
              <a:t>the tanh activation function </a:t>
            </a:r>
            <a:r>
              <a:rPr lang="en-GB" sz="2400" dirty="0">
                <a:solidFill>
                  <a:srgbClr val="080912"/>
                </a:solidFill>
                <a:latin typeface="Arial MT"/>
                <a:cs typeface="Arial MT"/>
              </a:rPr>
              <a:t>is </a:t>
            </a:r>
            <a:r>
              <a:rPr lang="en-GB" sz="2400" spc="-3" dirty="0">
                <a:solidFill>
                  <a:srgbClr val="080912"/>
                </a:solidFill>
                <a:latin typeface="Arial MT"/>
                <a:cs typeface="Arial MT"/>
              </a:rPr>
              <a:t>Zero </a:t>
            </a:r>
            <a:r>
              <a:rPr lang="en-GB" sz="2400" dirty="0">
                <a:solidFill>
                  <a:srgbClr val="080912"/>
                </a:solidFill>
                <a:latin typeface="Arial MT"/>
                <a:cs typeface="Arial MT"/>
              </a:rPr>
              <a:t>cantered; </a:t>
            </a:r>
            <a:r>
              <a:rPr lang="en-GB" sz="2400" spc="3" dirty="0">
                <a:solidFill>
                  <a:srgbClr val="080912"/>
                </a:solidFill>
                <a:latin typeface="Arial MT"/>
                <a:cs typeface="Arial MT"/>
              </a:rPr>
              <a:t>hence </a:t>
            </a:r>
            <a:r>
              <a:rPr lang="en-GB" sz="2400" dirty="0">
                <a:solidFill>
                  <a:srgbClr val="080912"/>
                </a:solidFill>
                <a:latin typeface="Arial MT"/>
                <a:cs typeface="Arial MT"/>
              </a:rPr>
              <a:t>we </a:t>
            </a:r>
            <a:r>
              <a:rPr lang="en-GB" sz="2400" spc="-3" dirty="0">
                <a:solidFill>
                  <a:srgbClr val="080912"/>
                </a:solidFill>
                <a:latin typeface="Arial MT"/>
                <a:cs typeface="Arial MT"/>
              </a:rPr>
              <a:t>can easily </a:t>
            </a:r>
            <a:r>
              <a:rPr lang="en-GB" sz="2400" spc="-249" dirty="0">
                <a:solidFill>
                  <a:srgbClr val="080912"/>
                </a:solidFill>
                <a:latin typeface="Arial MT"/>
                <a:cs typeface="Arial MT"/>
              </a:rPr>
              <a:t> </a:t>
            </a:r>
            <a:r>
              <a:rPr lang="en-GB" sz="2400" dirty="0">
                <a:solidFill>
                  <a:srgbClr val="080912"/>
                </a:solidFill>
                <a:latin typeface="Arial MT"/>
                <a:cs typeface="Arial MT"/>
              </a:rPr>
              <a:t>map</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output values</a:t>
            </a:r>
            <a:r>
              <a:rPr lang="en-GB" sz="2400" spc="7" dirty="0">
                <a:solidFill>
                  <a:srgbClr val="080912"/>
                </a:solidFill>
                <a:latin typeface="Arial MT"/>
                <a:cs typeface="Arial MT"/>
              </a:rPr>
              <a:t> </a:t>
            </a:r>
            <a:r>
              <a:rPr lang="en-GB" sz="2400" spc="-3" dirty="0">
                <a:solidFill>
                  <a:srgbClr val="080912"/>
                </a:solidFill>
                <a:latin typeface="Arial MT"/>
                <a:cs typeface="Arial MT"/>
              </a:rPr>
              <a:t>as</a:t>
            </a:r>
            <a:r>
              <a:rPr lang="en-GB" sz="2400" spc="-7" dirty="0">
                <a:solidFill>
                  <a:srgbClr val="080912"/>
                </a:solidFill>
                <a:latin typeface="Arial MT"/>
                <a:cs typeface="Arial MT"/>
              </a:rPr>
              <a:t> </a:t>
            </a:r>
            <a:r>
              <a:rPr lang="en-GB" sz="2400" spc="-3" dirty="0">
                <a:solidFill>
                  <a:srgbClr val="080912"/>
                </a:solidFill>
                <a:latin typeface="Arial MT"/>
                <a:cs typeface="Arial MT"/>
              </a:rPr>
              <a:t>strongly</a:t>
            </a:r>
            <a:r>
              <a:rPr lang="en-GB" sz="2400" spc="3" dirty="0">
                <a:solidFill>
                  <a:srgbClr val="080912"/>
                </a:solidFill>
                <a:latin typeface="Arial MT"/>
                <a:cs typeface="Arial MT"/>
              </a:rPr>
              <a:t> </a:t>
            </a:r>
            <a:r>
              <a:rPr lang="en-GB" sz="2400" spc="-3" dirty="0">
                <a:solidFill>
                  <a:srgbClr val="080912"/>
                </a:solidFill>
                <a:latin typeface="Arial MT"/>
                <a:cs typeface="Arial MT"/>
              </a:rPr>
              <a:t>negative, neutral,</a:t>
            </a:r>
            <a:r>
              <a:rPr lang="en-GB" sz="2400" dirty="0">
                <a:solidFill>
                  <a:srgbClr val="080912"/>
                </a:solidFill>
                <a:latin typeface="Arial MT"/>
                <a:cs typeface="Arial MT"/>
              </a:rPr>
              <a:t> or</a:t>
            </a:r>
            <a:r>
              <a:rPr lang="en-GB" sz="2400" spc="-7" dirty="0">
                <a:solidFill>
                  <a:srgbClr val="080912"/>
                </a:solidFill>
                <a:latin typeface="Arial MT"/>
                <a:cs typeface="Arial MT"/>
              </a:rPr>
              <a:t> </a:t>
            </a:r>
            <a:r>
              <a:rPr lang="en-GB" sz="2400" spc="-3" dirty="0">
                <a:solidFill>
                  <a:srgbClr val="080912"/>
                </a:solidFill>
                <a:latin typeface="Arial MT"/>
                <a:cs typeface="Arial MT"/>
              </a:rPr>
              <a:t>strongly</a:t>
            </a:r>
            <a:r>
              <a:rPr lang="en-GB" sz="2400" spc="3" dirty="0">
                <a:solidFill>
                  <a:srgbClr val="080912"/>
                </a:solidFill>
                <a:latin typeface="Arial MT"/>
                <a:cs typeface="Arial MT"/>
              </a:rPr>
              <a:t> </a:t>
            </a:r>
            <a:r>
              <a:rPr lang="en-GB" sz="2400" spc="-3" dirty="0">
                <a:solidFill>
                  <a:srgbClr val="080912"/>
                </a:solidFill>
                <a:latin typeface="Arial MT"/>
                <a:cs typeface="Arial MT"/>
              </a:rPr>
              <a:t>positive.</a:t>
            </a:r>
            <a:endParaRPr lang="en-GB" sz="2400" dirty="0">
              <a:latin typeface="Arial MT"/>
              <a:cs typeface="Arial MT"/>
            </a:endParaRPr>
          </a:p>
          <a:p>
            <a:pPr marL="320378" marR="3464" indent="-156292">
              <a:lnSpc>
                <a:spcPct val="115999"/>
              </a:lnSpc>
              <a:spcBef>
                <a:spcPts val="505"/>
              </a:spcBef>
              <a:buSzPct val="74074"/>
              <a:buFont typeface="Symbol"/>
              <a:buChar char=""/>
              <a:tabLst>
                <a:tab pos="320378" algn="l"/>
                <a:tab pos="320810" algn="l"/>
              </a:tabLst>
            </a:pPr>
            <a:r>
              <a:rPr lang="en-GB" sz="2400" spc="-3" dirty="0">
                <a:solidFill>
                  <a:srgbClr val="080912"/>
                </a:solidFill>
                <a:latin typeface="Arial MT"/>
                <a:cs typeface="Arial MT"/>
              </a:rPr>
              <a:t>Usually</a:t>
            </a:r>
            <a:r>
              <a:rPr lang="en-GB" sz="2400" spc="3" dirty="0">
                <a:solidFill>
                  <a:srgbClr val="080912"/>
                </a:solidFill>
                <a:latin typeface="Arial MT"/>
                <a:cs typeface="Arial MT"/>
              </a:rPr>
              <a:t> </a:t>
            </a:r>
            <a:r>
              <a:rPr lang="en-GB" sz="2400" spc="-3" dirty="0">
                <a:solidFill>
                  <a:srgbClr val="080912"/>
                </a:solidFill>
                <a:latin typeface="Arial MT"/>
                <a:cs typeface="Arial MT"/>
              </a:rPr>
              <a:t>used</a:t>
            </a:r>
            <a:r>
              <a:rPr lang="en-GB" sz="2400" spc="3" dirty="0">
                <a:solidFill>
                  <a:srgbClr val="080912"/>
                </a:solidFill>
                <a:latin typeface="Arial MT"/>
                <a:cs typeface="Arial MT"/>
              </a:rPr>
              <a:t> </a:t>
            </a:r>
            <a:r>
              <a:rPr lang="en-GB" sz="2400" dirty="0">
                <a:solidFill>
                  <a:srgbClr val="080912"/>
                </a:solidFill>
                <a:latin typeface="Arial MT"/>
                <a:cs typeface="Arial MT"/>
              </a:rPr>
              <a:t>in </a:t>
            </a:r>
            <a:r>
              <a:rPr lang="en-GB" sz="2400" spc="-3" dirty="0">
                <a:solidFill>
                  <a:srgbClr val="080912"/>
                </a:solidFill>
                <a:latin typeface="Arial MT"/>
                <a:cs typeface="Arial MT"/>
              </a:rPr>
              <a:t>hidden</a:t>
            </a:r>
            <a:r>
              <a:rPr lang="en-GB" sz="2400" spc="3" dirty="0">
                <a:solidFill>
                  <a:srgbClr val="080912"/>
                </a:solidFill>
                <a:latin typeface="Arial MT"/>
                <a:cs typeface="Arial MT"/>
              </a:rPr>
              <a:t> </a:t>
            </a:r>
            <a:r>
              <a:rPr lang="en-GB" sz="2400" spc="-3" dirty="0">
                <a:solidFill>
                  <a:srgbClr val="080912"/>
                </a:solidFill>
                <a:latin typeface="Arial MT"/>
                <a:cs typeface="Arial MT"/>
              </a:rPr>
              <a:t>layers</a:t>
            </a:r>
            <a:r>
              <a:rPr lang="en-GB" sz="2400" spc="-7" dirty="0">
                <a:solidFill>
                  <a:srgbClr val="080912"/>
                </a:solidFill>
                <a:latin typeface="Arial MT"/>
                <a:cs typeface="Arial MT"/>
              </a:rPr>
              <a:t> </a:t>
            </a:r>
            <a:r>
              <a:rPr lang="en-GB" sz="2400" dirty="0">
                <a:solidFill>
                  <a:srgbClr val="080912"/>
                </a:solidFill>
                <a:latin typeface="Arial MT"/>
                <a:cs typeface="Arial MT"/>
              </a:rPr>
              <a:t>of</a:t>
            </a:r>
            <a:r>
              <a:rPr lang="en-GB" sz="2400" spc="-3" dirty="0">
                <a:solidFill>
                  <a:srgbClr val="080912"/>
                </a:solidFill>
                <a:latin typeface="Arial MT"/>
                <a:cs typeface="Arial MT"/>
              </a:rPr>
              <a:t> </a:t>
            </a:r>
            <a:r>
              <a:rPr lang="en-GB" sz="2400" dirty="0">
                <a:solidFill>
                  <a:srgbClr val="080912"/>
                </a:solidFill>
                <a:latin typeface="Arial MT"/>
                <a:cs typeface="Arial MT"/>
              </a:rPr>
              <a:t>a</a:t>
            </a:r>
            <a:r>
              <a:rPr lang="en-GB" sz="2400" spc="3" dirty="0">
                <a:solidFill>
                  <a:srgbClr val="080912"/>
                </a:solidFill>
                <a:latin typeface="Arial MT"/>
                <a:cs typeface="Arial MT"/>
              </a:rPr>
              <a:t> </a:t>
            </a:r>
            <a:r>
              <a:rPr lang="en-GB" sz="2400" spc="-3" dirty="0">
                <a:solidFill>
                  <a:srgbClr val="080912"/>
                </a:solidFill>
                <a:latin typeface="Arial MT"/>
                <a:cs typeface="Arial MT"/>
              </a:rPr>
              <a:t>neural network</a:t>
            </a:r>
            <a:r>
              <a:rPr lang="en-GB" sz="2400" spc="3" dirty="0">
                <a:solidFill>
                  <a:srgbClr val="080912"/>
                </a:solidFill>
                <a:latin typeface="Arial MT"/>
                <a:cs typeface="Arial MT"/>
              </a:rPr>
              <a:t> </a:t>
            </a:r>
            <a:r>
              <a:rPr lang="en-GB" sz="2400" spc="-3" dirty="0">
                <a:solidFill>
                  <a:srgbClr val="080912"/>
                </a:solidFill>
                <a:latin typeface="Arial MT"/>
                <a:cs typeface="Arial MT"/>
              </a:rPr>
              <a:t>as</a:t>
            </a:r>
            <a:r>
              <a:rPr lang="en-GB" sz="2400" spc="3" dirty="0">
                <a:solidFill>
                  <a:srgbClr val="080912"/>
                </a:solidFill>
                <a:latin typeface="Arial MT"/>
                <a:cs typeface="Arial MT"/>
              </a:rPr>
              <a:t> </a:t>
            </a:r>
            <a:r>
              <a:rPr lang="en-GB" sz="2400" spc="-3" dirty="0">
                <a:solidFill>
                  <a:srgbClr val="080912"/>
                </a:solidFill>
                <a:latin typeface="Arial MT"/>
                <a:cs typeface="Arial MT"/>
              </a:rPr>
              <a:t>its</a:t>
            </a:r>
            <a:r>
              <a:rPr lang="en-GB" sz="2400" spc="7" dirty="0">
                <a:solidFill>
                  <a:srgbClr val="080912"/>
                </a:solidFill>
                <a:latin typeface="Arial MT"/>
                <a:cs typeface="Arial MT"/>
              </a:rPr>
              <a:t> </a:t>
            </a:r>
            <a:r>
              <a:rPr lang="en-GB" sz="2400" spc="-3" dirty="0">
                <a:solidFill>
                  <a:srgbClr val="080912"/>
                </a:solidFill>
                <a:latin typeface="Arial MT"/>
                <a:cs typeface="Arial MT"/>
              </a:rPr>
              <a:t>values</a:t>
            </a:r>
            <a:r>
              <a:rPr lang="en-GB" sz="2400" spc="3" dirty="0">
                <a:solidFill>
                  <a:srgbClr val="080912"/>
                </a:solidFill>
                <a:latin typeface="Arial MT"/>
                <a:cs typeface="Arial MT"/>
              </a:rPr>
              <a:t> </a:t>
            </a:r>
            <a:r>
              <a:rPr lang="en-GB" sz="2400" dirty="0">
                <a:solidFill>
                  <a:srgbClr val="080912"/>
                </a:solidFill>
                <a:latin typeface="Arial MT"/>
                <a:cs typeface="Arial MT"/>
              </a:rPr>
              <a:t>lie between</a:t>
            </a:r>
            <a:r>
              <a:rPr lang="en-GB" sz="2400" spc="17" dirty="0">
                <a:solidFill>
                  <a:srgbClr val="080912"/>
                </a:solidFill>
                <a:latin typeface="Arial MT"/>
                <a:cs typeface="Arial MT"/>
              </a:rPr>
              <a:t> </a:t>
            </a:r>
            <a:r>
              <a:rPr lang="en-GB" sz="2400" dirty="0">
                <a:solidFill>
                  <a:srgbClr val="080912"/>
                </a:solidFill>
                <a:latin typeface="Arial MT"/>
                <a:cs typeface="Arial MT"/>
              </a:rPr>
              <a:t>-1</a:t>
            </a:r>
            <a:r>
              <a:rPr lang="en-GB" sz="2400" spc="3" dirty="0">
                <a:solidFill>
                  <a:srgbClr val="080912"/>
                </a:solidFill>
                <a:latin typeface="Arial MT"/>
                <a:cs typeface="Arial MT"/>
              </a:rPr>
              <a:t> </a:t>
            </a:r>
            <a:r>
              <a:rPr lang="en-GB" sz="2400" spc="-3" dirty="0">
                <a:solidFill>
                  <a:srgbClr val="080912"/>
                </a:solidFill>
                <a:latin typeface="Arial MT"/>
                <a:cs typeface="Arial MT"/>
              </a:rPr>
              <a:t>to 1; </a:t>
            </a:r>
            <a:r>
              <a:rPr lang="en-GB" sz="2400" spc="-245" dirty="0">
                <a:solidFill>
                  <a:srgbClr val="080912"/>
                </a:solidFill>
                <a:latin typeface="Arial MT"/>
                <a:cs typeface="Arial MT"/>
              </a:rPr>
              <a:t> </a:t>
            </a:r>
            <a:r>
              <a:rPr lang="en-GB" sz="2400" spc="-3" dirty="0">
                <a:solidFill>
                  <a:srgbClr val="080912"/>
                </a:solidFill>
                <a:latin typeface="Arial MT"/>
                <a:cs typeface="Arial MT"/>
              </a:rPr>
              <a:t>therefore, the</a:t>
            </a:r>
            <a:r>
              <a:rPr lang="en-GB" sz="2400" dirty="0">
                <a:solidFill>
                  <a:srgbClr val="080912"/>
                </a:solidFill>
                <a:latin typeface="Arial MT"/>
                <a:cs typeface="Arial MT"/>
              </a:rPr>
              <a:t> </a:t>
            </a:r>
            <a:r>
              <a:rPr lang="en-GB" sz="2400" spc="-3" dirty="0">
                <a:solidFill>
                  <a:srgbClr val="080912"/>
                </a:solidFill>
                <a:latin typeface="Arial MT"/>
                <a:cs typeface="Arial MT"/>
              </a:rPr>
              <a:t>mean</a:t>
            </a:r>
            <a:r>
              <a:rPr lang="en-GB" sz="2400" spc="-7" dirty="0">
                <a:solidFill>
                  <a:srgbClr val="080912"/>
                </a:solidFill>
                <a:latin typeface="Arial MT"/>
                <a:cs typeface="Arial MT"/>
              </a:rPr>
              <a:t> </a:t>
            </a:r>
            <a:r>
              <a:rPr lang="en-GB" sz="2400" spc="-3" dirty="0">
                <a:solidFill>
                  <a:srgbClr val="080912"/>
                </a:solidFill>
                <a:latin typeface="Arial MT"/>
                <a:cs typeface="Arial MT"/>
              </a:rPr>
              <a:t>for</a:t>
            </a:r>
            <a:r>
              <a:rPr lang="en-GB" sz="2400" spc="7"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a:t>
            </a:r>
            <a:r>
              <a:rPr lang="en-GB" sz="2400" spc="-3" dirty="0">
                <a:solidFill>
                  <a:srgbClr val="080912"/>
                </a:solidFill>
                <a:latin typeface="Arial MT"/>
                <a:cs typeface="Arial MT"/>
              </a:rPr>
              <a:t>hidden</a:t>
            </a:r>
            <a:r>
              <a:rPr lang="en-GB" sz="2400" spc="3" dirty="0">
                <a:solidFill>
                  <a:srgbClr val="080912"/>
                </a:solidFill>
                <a:latin typeface="Arial MT"/>
                <a:cs typeface="Arial MT"/>
              </a:rPr>
              <a:t> </a:t>
            </a:r>
            <a:r>
              <a:rPr lang="en-GB" sz="2400" spc="-3" dirty="0">
                <a:solidFill>
                  <a:srgbClr val="080912"/>
                </a:solidFill>
                <a:latin typeface="Arial MT"/>
                <a:cs typeface="Arial MT"/>
              </a:rPr>
              <a:t>layer comes</a:t>
            </a:r>
            <a:r>
              <a:rPr lang="en-GB" sz="2400" spc="3" dirty="0">
                <a:solidFill>
                  <a:srgbClr val="080912"/>
                </a:solidFill>
                <a:latin typeface="Arial MT"/>
                <a:cs typeface="Arial MT"/>
              </a:rPr>
              <a:t> </a:t>
            </a:r>
            <a:r>
              <a:rPr lang="en-GB" sz="2400" dirty="0">
                <a:solidFill>
                  <a:srgbClr val="080912"/>
                </a:solidFill>
                <a:latin typeface="Arial MT"/>
                <a:cs typeface="Arial MT"/>
              </a:rPr>
              <a:t>out</a:t>
            </a:r>
            <a:r>
              <a:rPr lang="en-GB" sz="2400" spc="-3" dirty="0">
                <a:solidFill>
                  <a:srgbClr val="080912"/>
                </a:solidFill>
                <a:latin typeface="Arial MT"/>
                <a:cs typeface="Arial MT"/>
              </a:rPr>
              <a:t> to</a:t>
            </a:r>
            <a:r>
              <a:rPr lang="en-GB" sz="2400" spc="3" dirty="0">
                <a:solidFill>
                  <a:srgbClr val="080912"/>
                </a:solidFill>
                <a:latin typeface="Arial MT"/>
                <a:cs typeface="Arial MT"/>
              </a:rPr>
              <a:t> </a:t>
            </a:r>
            <a:r>
              <a:rPr lang="en-GB" sz="2400" dirty="0">
                <a:solidFill>
                  <a:srgbClr val="080912"/>
                </a:solidFill>
                <a:latin typeface="Arial MT"/>
                <a:cs typeface="Arial MT"/>
              </a:rPr>
              <a:t>be</a:t>
            </a:r>
            <a:r>
              <a:rPr lang="en-GB" sz="2400" spc="-3" dirty="0">
                <a:solidFill>
                  <a:srgbClr val="080912"/>
                </a:solidFill>
                <a:latin typeface="Arial MT"/>
                <a:cs typeface="Arial MT"/>
              </a:rPr>
              <a:t> </a:t>
            </a:r>
            <a:r>
              <a:rPr lang="en-GB" sz="2400" dirty="0">
                <a:solidFill>
                  <a:srgbClr val="080912"/>
                </a:solidFill>
                <a:latin typeface="Arial MT"/>
                <a:cs typeface="Arial MT"/>
              </a:rPr>
              <a:t>0</a:t>
            </a:r>
            <a:r>
              <a:rPr lang="en-GB" sz="2400" spc="3" dirty="0">
                <a:solidFill>
                  <a:srgbClr val="080912"/>
                </a:solidFill>
                <a:latin typeface="Arial MT"/>
                <a:cs typeface="Arial MT"/>
              </a:rPr>
              <a:t> </a:t>
            </a:r>
            <a:r>
              <a:rPr lang="en-GB" sz="2400" spc="-3" dirty="0">
                <a:solidFill>
                  <a:srgbClr val="080912"/>
                </a:solidFill>
                <a:latin typeface="Arial MT"/>
                <a:cs typeface="Arial MT"/>
              </a:rPr>
              <a:t>or</a:t>
            </a:r>
            <a:r>
              <a:rPr lang="en-GB" sz="2400" dirty="0">
                <a:solidFill>
                  <a:srgbClr val="080912"/>
                </a:solidFill>
                <a:latin typeface="Arial MT"/>
                <a:cs typeface="Arial MT"/>
              </a:rPr>
              <a:t> </a:t>
            </a:r>
            <a:r>
              <a:rPr lang="en-GB" sz="2400" spc="-3" dirty="0">
                <a:solidFill>
                  <a:srgbClr val="080912"/>
                </a:solidFill>
                <a:latin typeface="Arial MT"/>
                <a:cs typeface="Arial MT"/>
              </a:rPr>
              <a:t>very</a:t>
            </a:r>
            <a:r>
              <a:rPr lang="en-GB" sz="2400" spc="7" dirty="0">
                <a:solidFill>
                  <a:srgbClr val="080912"/>
                </a:solidFill>
                <a:latin typeface="Arial MT"/>
                <a:cs typeface="Arial MT"/>
              </a:rPr>
              <a:t> </a:t>
            </a:r>
            <a:r>
              <a:rPr lang="en-GB" sz="2400" spc="-3" dirty="0">
                <a:solidFill>
                  <a:srgbClr val="080912"/>
                </a:solidFill>
                <a:latin typeface="Arial MT"/>
                <a:cs typeface="Arial MT"/>
              </a:rPr>
              <a:t>close</a:t>
            </a:r>
            <a:r>
              <a:rPr lang="en-GB" sz="2400" dirty="0">
                <a:solidFill>
                  <a:srgbClr val="080912"/>
                </a:solidFill>
                <a:latin typeface="Arial MT"/>
                <a:cs typeface="Arial MT"/>
              </a:rPr>
              <a:t> </a:t>
            </a:r>
            <a:r>
              <a:rPr lang="en-GB" sz="2400" spc="-3" dirty="0">
                <a:solidFill>
                  <a:srgbClr val="080912"/>
                </a:solidFill>
                <a:latin typeface="Arial MT"/>
                <a:cs typeface="Arial MT"/>
              </a:rPr>
              <a:t>to</a:t>
            </a:r>
            <a:r>
              <a:rPr lang="en-GB" sz="2400" spc="3" dirty="0">
                <a:solidFill>
                  <a:srgbClr val="080912"/>
                </a:solidFill>
                <a:latin typeface="Arial MT"/>
                <a:cs typeface="Arial MT"/>
              </a:rPr>
              <a:t> </a:t>
            </a:r>
            <a:r>
              <a:rPr lang="en-GB" sz="2400" spc="-3" dirty="0">
                <a:solidFill>
                  <a:srgbClr val="080912"/>
                </a:solidFill>
                <a:latin typeface="Arial MT"/>
                <a:cs typeface="Arial MT"/>
              </a:rPr>
              <a:t>it.</a:t>
            </a:r>
            <a:r>
              <a:rPr lang="en-GB" sz="2400" spc="27" dirty="0">
                <a:solidFill>
                  <a:srgbClr val="080912"/>
                </a:solidFill>
                <a:latin typeface="Arial MT"/>
                <a:cs typeface="Arial MT"/>
              </a:rPr>
              <a:t> </a:t>
            </a:r>
            <a:r>
              <a:rPr lang="en-GB" sz="2400" spc="-3" dirty="0">
                <a:solidFill>
                  <a:srgbClr val="080912"/>
                </a:solidFill>
                <a:latin typeface="Arial MT"/>
                <a:cs typeface="Arial MT"/>
              </a:rPr>
              <a:t>It </a:t>
            </a:r>
            <a:r>
              <a:rPr lang="en-GB" sz="2400" dirty="0">
                <a:solidFill>
                  <a:srgbClr val="080912"/>
                </a:solidFill>
                <a:latin typeface="Arial MT"/>
                <a:cs typeface="Arial MT"/>
              </a:rPr>
              <a:t> </a:t>
            </a:r>
            <a:r>
              <a:rPr lang="en-GB" sz="2400" spc="-3" dirty="0">
                <a:solidFill>
                  <a:srgbClr val="080912"/>
                </a:solidFill>
                <a:latin typeface="Arial MT"/>
                <a:cs typeface="Arial MT"/>
              </a:rPr>
              <a:t>helps</a:t>
            </a:r>
            <a:r>
              <a:rPr lang="en-GB" sz="2400" spc="3" dirty="0">
                <a:solidFill>
                  <a:srgbClr val="080912"/>
                </a:solidFill>
                <a:latin typeface="Arial MT"/>
                <a:cs typeface="Arial MT"/>
              </a:rPr>
              <a:t> </a:t>
            </a:r>
            <a:r>
              <a:rPr lang="en-GB" sz="2400" dirty="0">
                <a:solidFill>
                  <a:srgbClr val="080912"/>
                </a:solidFill>
                <a:latin typeface="Arial MT"/>
                <a:cs typeface="Arial MT"/>
              </a:rPr>
              <a:t>in</a:t>
            </a:r>
            <a:r>
              <a:rPr lang="en-GB" sz="2400" spc="-7" dirty="0">
                <a:solidFill>
                  <a:srgbClr val="080912"/>
                </a:solidFill>
                <a:latin typeface="Arial MT"/>
                <a:cs typeface="Arial MT"/>
              </a:rPr>
              <a:t> </a:t>
            </a:r>
            <a:r>
              <a:rPr lang="en-GB" sz="2400" dirty="0">
                <a:solidFill>
                  <a:srgbClr val="080912"/>
                </a:solidFill>
                <a:latin typeface="Arial MT"/>
                <a:cs typeface="Arial MT"/>
              </a:rPr>
              <a:t>cantering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dirty="0">
                <a:solidFill>
                  <a:srgbClr val="080912"/>
                </a:solidFill>
                <a:latin typeface="Arial MT"/>
                <a:cs typeface="Arial MT"/>
              </a:rPr>
              <a:t>data </a:t>
            </a:r>
            <a:r>
              <a:rPr lang="en-GB" sz="2400" spc="-3" dirty="0">
                <a:solidFill>
                  <a:srgbClr val="080912"/>
                </a:solidFill>
                <a:latin typeface="Arial MT"/>
                <a:cs typeface="Arial MT"/>
              </a:rPr>
              <a:t>and</a:t>
            </a:r>
            <a:r>
              <a:rPr lang="en-GB" sz="2400" dirty="0">
                <a:solidFill>
                  <a:srgbClr val="080912"/>
                </a:solidFill>
                <a:latin typeface="Arial MT"/>
                <a:cs typeface="Arial MT"/>
              </a:rPr>
              <a:t> </a:t>
            </a:r>
            <a:r>
              <a:rPr lang="en-GB" sz="2400" spc="-3" dirty="0">
                <a:solidFill>
                  <a:srgbClr val="080912"/>
                </a:solidFill>
                <a:latin typeface="Arial MT"/>
                <a:cs typeface="Arial MT"/>
              </a:rPr>
              <a:t>makes</a:t>
            </a:r>
            <a:r>
              <a:rPr lang="en-GB" sz="2400" spc="7" dirty="0">
                <a:solidFill>
                  <a:srgbClr val="080912"/>
                </a:solidFill>
                <a:latin typeface="Arial MT"/>
                <a:cs typeface="Arial MT"/>
              </a:rPr>
              <a:t> </a:t>
            </a:r>
            <a:r>
              <a:rPr lang="en-GB" sz="2400" spc="-3" dirty="0">
                <a:solidFill>
                  <a:srgbClr val="080912"/>
                </a:solidFill>
                <a:latin typeface="Arial MT"/>
                <a:cs typeface="Arial MT"/>
              </a:rPr>
              <a:t>learning</a:t>
            </a:r>
            <a:r>
              <a:rPr lang="en-GB" sz="2400" dirty="0">
                <a:solidFill>
                  <a:srgbClr val="080912"/>
                </a:solidFill>
                <a:latin typeface="Arial MT"/>
                <a:cs typeface="Arial MT"/>
              </a:rPr>
              <a:t> </a:t>
            </a:r>
            <a:r>
              <a:rPr lang="en-GB" sz="2400" spc="-3" dirty="0">
                <a:solidFill>
                  <a:srgbClr val="080912"/>
                </a:solidFill>
                <a:latin typeface="Arial MT"/>
                <a:cs typeface="Arial MT"/>
              </a:rPr>
              <a:t>for</a:t>
            </a:r>
            <a:r>
              <a:rPr lang="en-GB" sz="2400"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next</a:t>
            </a:r>
            <a:r>
              <a:rPr lang="en-GB" sz="2400" spc="-3" dirty="0">
                <a:solidFill>
                  <a:srgbClr val="080912"/>
                </a:solidFill>
                <a:latin typeface="Arial MT"/>
                <a:cs typeface="Arial MT"/>
              </a:rPr>
              <a:t> layer</a:t>
            </a:r>
            <a:r>
              <a:rPr lang="en-GB" sz="2400" spc="3" dirty="0">
                <a:solidFill>
                  <a:srgbClr val="080912"/>
                </a:solidFill>
                <a:latin typeface="Arial MT"/>
                <a:cs typeface="Arial MT"/>
              </a:rPr>
              <a:t> </a:t>
            </a:r>
            <a:r>
              <a:rPr lang="en-GB" sz="2400" spc="-3" dirty="0">
                <a:solidFill>
                  <a:srgbClr val="080912"/>
                </a:solidFill>
                <a:latin typeface="Arial MT"/>
                <a:cs typeface="Arial MT"/>
              </a:rPr>
              <a:t>much</a:t>
            </a:r>
            <a:r>
              <a:rPr lang="en-GB" sz="2400" dirty="0">
                <a:solidFill>
                  <a:srgbClr val="080912"/>
                </a:solidFill>
                <a:latin typeface="Arial MT"/>
                <a:cs typeface="Arial MT"/>
              </a:rPr>
              <a:t> </a:t>
            </a:r>
            <a:r>
              <a:rPr lang="en-GB" sz="2400" spc="-3" dirty="0">
                <a:solidFill>
                  <a:srgbClr val="080912"/>
                </a:solidFill>
                <a:latin typeface="Arial MT"/>
                <a:cs typeface="Arial MT"/>
              </a:rPr>
              <a:t>easier.</a:t>
            </a:r>
            <a:endParaRPr lang="en-GB" sz="2400" dirty="0">
              <a:latin typeface="Arial MT"/>
              <a:cs typeface="Arial MT"/>
            </a:endParaRPr>
          </a:p>
          <a:p>
            <a:endParaRPr lang="en-GB" sz="2400" dirty="0">
              <a:latin typeface="Arial MT"/>
              <a:cs typeface="Arial MT"/>
            </a:endParaRPr>
          </a:p>
          <a:p>
            <a:endParaRPr lang="en-PK" dirty="0"/>
          </a:p>
        </p:txBody>
      </p:sp>
      <p:pic>
        <p:nvPicPr>
          <p:cNvPr id="6" name="object 4"/>
          <p:cNvPicPr/>
          <p:nvPr/>
        </p:nvPicPr>
        <p:blipFill>
          <a:blip r:embed="rId3" cstate="print"/>
          <a:stretch>
            <a:fillRect/>
          </a:stretch>
        </p:blipFill>
        <p:spPr>
          <a:xfrm>
            <a:off x="8633772" y="3802455"/>
            <a:ext cx="2746434" cy="2362955"/>
          </a:xfrm>
          <a:prstGeom prst="rect">
            <a:avLst/>
          </a:prstGeom>
        </p:spPr>
      </p:pic>
      <p:sp>
        <p:nvSpPr>
          <p:cNvPr id="2" name="Slide Number Placeholder 1">
            <a:extLst>
              <a:ext uri="{FF2B5EF4-FFF2-40B4-BE49-F238E27FC236}">
                <a16:creationId xmlns:a16="http://schemas.microsoft.com/office/drawing/2014/main" id="{84FA3A38-1AFE-D2D4-E9BB-D1464772B709}"/>
              </a:ext>
            </a:extLst>
          </p:cNvPr>
          <p:cNvSpPr>
            <a:spLocks noGrp="1"/>
          </p:cNvSpPr>
          <p:nvPr>
            <p:ph type="sldNum" sz="quarter" idx="12"/>
          </p:nvPr>
        </p:nvSpPr>
        <p:spPr/>
        <p:txBody>
          <a:bodyPr/>
          <a:lstStyle/>
          <a:p>
            <a:fld id="{9CD9A578-84A4-4247-B01E-A84B9E2DF7BB}" type="slidenum">
              <a:rPr lang="en-PK" smtClean="0"/>
              <a:t>9</a:t>
            </a:fld>
            <a:endParaRPr lang="en-PK"/>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749387" y="3406226"/>
            <a:ext cx="4696258" cy="150758"/>
          </a:xfrm>
          <a:prstGeom prst="rect">
            <a:avLst/>
          </a:prstGeom>
        </p:spPr>
        <p:txBody>
          <a:bodyPr vert="horz" wrap="square" lIns="0" tIns="9092" rIns="0" bIns="0" rtlCol="0">
            <a:spAutoFit/>
          </a:bodyPr>
          <a:lstStyle/>
          <a:p>
            <a:pPr marL="8659" algn="just">
              <a:spcBef>
                <a:spcPts val="72"/>
              </a:spcBef>
            </a:pPr>
            <a:endParaRPr lang="en-PK" sz="920" dirty="0">
              <a:latin typeface="Arial MT"/>
              <a:cs typeface="Arial MT"/>
            </a:endParaRPr>
          </a:p>
        </p:txBody>
      </p:sp>
      <p:sp>
        <p:nvSpPr>
          <p:cNvPr id="6" name="object 6"/>
          <p:cNvSpPr/>
          <p:nvPr/>
        </p:nvSpPr>
        <p:spPr>
          <a:xfrm>
            <a:off x="3519055" y="4894725"/>
            <a:ext cx="5155190" cy="162358"/>
          </a:xfrm>
          <a:custGeom>
            <a:avLst/>
            <a:gdLst/>
            <a:ahLst/>
            <a:cxnLst/>
            <a:rect l="l" t="t" r="r" b="b"/>
            <a:pathLst>
              <a:path w="7560945" h="238125">
                <a:moveTo>
                  <a:pt x="3048" y="0"/>
                </a:moveTo>
                <a:lnTo>
                  <a:pt x="0" y="0"/>
                </a:lnTo>
                <a:lnTo>
                  <a:pt x="0" y="237744"/>
                </a:lnTo>
                <a:lnTo>
                  <a:pt x="3048" y="237744"/>
                </a:lnTo>
                <a:lnTo>
                  <a:pt x="3048" y="0"/>
                </a:lnTo>
                <a:close/>
              </a:path>
              <a:path w="7560945" h="238125">
                <a:moveTo>
                  <a:pt x="7560564" y="0"/>
                </a:moveTo>
                <a:lnTo>
                  <a:pt x="7557516" y="0"/>
                </a:lnTo>
                <a:lnTo>
                  <a:pt x="7557516" y="237744"/>
                </a:lnTo>
                <a:lnTo>
                  <a:pt x="7560564" y="237744"/>
                </a:lnTo>
                <a:lnTo>
                  <a:pt x="7560564" y="0"/>
                </a:lnTo>
                <a:close/>
              </a:path>
            </a:pathLst>
          </a:custGeom>
          <a:solidFill>
            <a:srgbClr val="56A8F0"/>
          </a:solidFill>
        </p:spPr>
        <p:txBody>
          <a:bodyPr wrap="square" lIns="0" tIns="0" rIns="0" bIns="0" rtlCol="0"/>
          <a:lstStyle/>
          <a:p>
            <a:endParaRPr sz="1227"/>
          </a:p>
        </p:txBody>
      </p:sp>
      <p:sp>
        <p:nvSpPr>
          <p:cNvPr id="11" name="Title 10">
            <a:extLst>
              <a:ext uri="{FF2B5EF4-FFF2-40B4-BE49-F238E27FC236}">
                <a16:creationId xmlns:a16="http://schemas.microsoft.com/office/drawing/2014/main" id="{2AD92BD1-59D0-91EC-E14E-AF18AECE65E5}"/>
              </a:ext>
            </a:extLst>
          </p:cNvPr>
          <p:cNvSpPr>
            <a:spLocks noGrp="1"/>
          </p:cNvSpPr>
          <p:nvPr>
            <p:ph type="title"/>
          </p:nvPr>
        </p:nvSpPr>
        <p:spPr/>
        <p:txBody>
          <a:bodyPr>
            <a:normAutofit fontScale="90000"/>
          </a:bodyPr>
          <a:lstStyle/>
          <a:p>
            <a:r>
              <a:rPr lang="en-GB" sz="4400" dirty="0">
                <a:solidFill>
                  <a:srgbClr val="080912"/>
                </a:solidFill>
                <a:latin typeface="Arial MT"/>
                <a:cs typeface="Arial MT"/>
              </a:rPr>
              <a:t>Gradient</a:t>
            </a:r>
            <a:r>
              <a:rPr lang="en-GB" sz="4400" spc="-7" dirty="0">
                <a:solidFill>
                  <a:srgbClr val="080912"/>
                </a:solidFill>
                <a:latin typeface="Arial MT"/>
                <a:cs typeface="Arial MT"/>
              </a:rPr>
              <a:t> </a:t>
            </a:r>
            <a:r>
              <a:rPr lang="en-GB" sz="4400" dirty="0">
                <a:solidFill>
                  <a:srgbClr val="080912"/>
                </a:solidFill>
                <a:latin typeface="Arial MT"/>
                <a:cs typeface="Arial MT"/>
              </a:rPr>
              <a:t>of</a:t>
            </a:r>
            <a:r>
              <a:rPr lang="en-GB" sz="4400" spc="-3" dirty="0">
                <a:solidFill>
                  <a:srgbClr val="080912"/>
                </a:solidFill>
                <a:latin typeface="Arial MT"/>
                <a:cs typeface="Arial MT"/>
              </a:rPr>
              <a:t> the</a:t>
            </a:r>
            <a:r>
              <a:rPr lang="en-GB" sz="4400" spc="-10" dirty="0">
                <a:solidFill>
                  <a:srgbClr val="080912"/>
                </a:solidFill>
                <a:latin typeface="Arial MT"/>
                <a:cs typeface="Arial MT"/>
              </a:rPr>
              <a:t> </a:t>
            </a:r>
            <a:r>
              <a:rPr lang="en-GB" sz="4400" dirty="0">
                <a:solidFill>
                  <a:srgbClr val="080912"/>
                </a:solidFill>
                <a:latin typeface="Arial MT"/>
                <a:cs typeface="Arial MT"/>
              </a:rPr>
              <a:t>Tanh </a:t>
            </a:r>
            <a:r>
              <a:rPr lang="en-GB" sz="4400" spc="-3" dirty="0">
                <a:solidFill>
                  <a:srgbClr val="080912"/>
                </a:solidFill>
                <a:latin typeface="Arial MT"/>
                <a:cs typeface="Arial MT"/>
              </a:rPr>
              <a:t>Activation</a:t>
            </a:r>
            <a:r>
              <a:rPr lang="en-GB" sz="4400" spc="-10" dirty="0">
                <a:solidFill>
                  <a:srgbClr val="080912"/>
                </a:solidFill>
                <a:latin typeface="Arial MT"/>
                <a:cs typeface="Arial MT"/>
              </a:rPr>
              <a:t> </a:t>
            </a:r>
            <a:r>
              <a:rPr lang="en-GB" sz="4400" dirty="0">
                <a:solidFill>
                  <a:srgbClr val="080912"/>
                </a:solidFill>
                <a:latin typeface="Arial MT"/>
                <a:cs typeface="Arial MT"/>
              </a:rPr>
              <a:t>Function</a:t>
            </a:r>
            <a:br>
              <a:rPr lang="en-GB" sz="4400" dirty="0">
                <a:latin typeface="Arial MT"/>
                <a:cs typeface="Arial MT"/>
              </a:rPr>
            </a:br>
            <a:endParaRPr lang="en-PK" dirty="0"/>
          </a:p>
        </p:txBody>
      </p:sp>
      <p:sp>
        <p:nvSpPr>
          <p:cNvPr id="12" name="Content Placeholder 11">
            <a:extLst>
              <a:ext uri="{FF2B5EF4-FFF2-40B4-BE49-F238E27FC236}">
                <a16:creationId xmlns:a16="http://schemas.microsoft.com/office/drawing/2014/main" id="{5E6FF930-4873-F8BE-7D27-A48FA758F724}"/>
              </a:ext>
            </a:extLst>
          </p:cNvPr>
          <p:cNvSpPr>
            <a:spLocks noGrp="1"/>
          </p:cNvSpPr>
          <p:nvPr>
            <p:ph idx="1"/>
          </p:nvPr>
        </p:nvSpPr>
        <p:spPr>
          <a:xfrm>
            <a:off x="1081634" y="2109609"/>
            <a:ext cx="6831095" cy="2782432"/>
          </a:xfrm>
        </p:spPr>
        <p:txBody>
          <a:bodyPr>
            <a:normAutofit fontScale="70000" lnSpcReduction="20000"/>
          </a:bodyPr>
          <a:lstStyle/>
          <a:p>
            <a:pPr marL="8659" marR="3464" algn="just">
              <a:lnSpc>
                <a:spcPct val="143700"/>
              </a:lnSpc>
              <a:spcBef>
                <a:spcPts val="409"/>
              </a:spcBef>
            </a:pPr>
            <a:r>
              <a:rPr lang="en-GB" sz="2400" spc="-14" dirty="0">
                <a:solidFill>
                  <a:srgbClr val="080912"/>
                </a:solidFill>
                <a:latin typeface="Arial MT"/>
                <a:cs typeface="Arial MT"/>
              </a:rPr>
              <a:t>Faces the </a:t>
            </a:r>
            <a:r>
              <a:rPr lang="en-GB" sz="2400" spc="-10" dirty="0">
                <a:solidFill>
                  <a:srgbClr val="080912"/>
                </a:solidFill>
                <a:latin typeface="Arial MT"/>
                <a:cs typeface="Arial MT"/>
              </a:rPr>
              <a:t>problem </a:t>
            </a:r>
            <a:r>
              <a:rPr lang="en-GB" sz="2400" spc="-3" dirty="0">
                <a:solidFill>
                  <a:srgbClr val="080912"/>
                </a:solidFill>
                <a:latin typeface="Arial MT"/>
                <a:cs typeface="Arial MT"/>
              </a:rPr>
              <a:t>of </a:t>
            </a:r>
            <a:r>
              <a:rPr lang="en-GB" sz="2400" spc="-10" dirty="0">
                <a:solidFill>
                  <a:srgbClr val="080912"/>
                </a:solidFill>
                <a:latin typeface="Arial MT"/>
                <a:cs typeface="Arial MT"/>
              </a:rPr>
              <a:t>vanishing </a:t>
            </a:r>
            <a:r>
              <a:rPr lang="en-GB" sz="2400" spc="-14" dirty="0">
                <a:solidFill>
                  <a:srgbClr val="080912"/>
                </a:solidFill>
                <a:latin typeface="Arial MT"/>
                <a:cs typeface="Arial MT"/>
              </a:rPr>
              <a:t>gradients </a:t>
            </a:r>
            <a:r>
              <a:rPr lang="en-GB" sz="2400" spc="-10" dirty="0">
                <a:solidFill>
                  <a:srgbClr val="080912"/>
                </a:solidFill>
                <a:latin typeface="Arial MT"/>
                <a:cs typeface="Arial MT"/>
              </a:rPr>
              <a:t>similar to the sigmoid </a:t>
            </a:r>
            <a:r>
              <a:rPr lang="en-GB" sz="2400" spc="-7"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20" dirty="0">
                <a:solidFill>
                  <a:srgbClr val="080912"/>
                </a:solidFill>
                <a:latin typeface="Arial MT"/>
                <a:cs typeface="Arial MT"/>
              </a:rPr>
              <a:t> </a:t>
            </a:r>
            <a:r>
              <a:rPr lang="en-GB" sz="2400" spc="-10"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0" dirty="0">
                <a:solidFill>
                  <a:srgbClr val="080912"/>
                </a:solidFill>
                <a:latin typeface="Arial MT"/>
                <a:cs typeface="Arial MT"/>
              </a:rPr>
              <a:t>Plus</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gradient</a:t>
            </a:r>
            <a:r>
              <a:rPr lang="en-GB" sz="2400" spc="-31" dirty="0">
                <a:solidFill>
                  <a:srgbClr val="080912"/>
                </a:solidFill>
                <a:latin typeface="Arial MT"/>
                <a:cs typeface="Arial MT"/>
              </a:rPr>
              <a:t> </a:t>
            </a:r>
            <a:r>
              <a:rPr lang="en-GB" sz="2400" spc="-3" dirty="0">
                <a:solidFill>
                  <a:srgbClr val="080912"/>
                </a:solidFill>
                <a:latin typeface="Arial MT"/>
                <a:cs typeface="Arial MT"/>
              </a:rPr>
              <a:t>of</a:t>
            </a:r>
            <a:r>
              <a:rPr lang="en-GB" sz="2400" spc="-24" dirty="0">
                <a:solidFill>
                  <a:srgbClr val="080912"/>
                </a:solidFill>
                <a:latin typeface="Arial MT"/>
                <a:cs typeface="Arial MT"/>
              </a:rPr>
              <a:t> </a:t>
            </a:r>
            <a:r>
              <a:rPr lang="en-GB" sz="2400" spc="-10" dirty="0">
                <a:solidFill>
                  <a:srgbClr val="080912"/>
                </a:solidFill>
                <a:latin typeface="Arial MT"/>
                <a:cs typeface="Arial MT"/>
              </a:rPr>
              <a:t>the</a:t>
            </a:r>
            <a:r>
              <a:rPr lang="en-GB" sz="2400" spc="-17" dirty="0">
                <a:solidFill>
                  <a:srgbClr val="080912"/>
                </a:solidFill>
                <a:latin typeface="Arial MT"/>
                <a:cs typeface="Arial MT"/>
              </a:rPr>
              <a:t> </a:t>
            </a:r>
            <a:r>
              <a:rPr lang="en-GB" sz="2400" spc="-10" dirty="0">
                <a:solidFill>
                  <a:srgbClr val="080912"/>
                </a:solidFill>
                <a:latin typeface="Arial MT"/>
                <a:cs typeface="Arial MT"/>
              </a:rPr>
              <a:t>tanh</a:t>
            </a:r>
            <a:r>
              <a:rPr lang="en-GB" sz="2400" spc="-20" dirty="0">
                <a:solidFill>
                  <a:srgbClr val="080912"/>
                </a:solidFill>
                <a:latin typeface="Arial MT"/>
                <a:cs typeface="Arial MT"/>
              </a:rPr>
              <a:t> </a:t>
            </a:r>
            <a:r>
              <a:rPr lang="en-GB" sz="2400" spc="-10" dirty="0">
                <a:solidFill>
                  <a:srgbClr val="080912"/>
                </a:solidFill>
                <a:latin typeface="Arial MT"/>
                <a:cs typeface="Arial MT"/>
              </a:rPr>
              <a:t>function</a:t>
            </a:r>
            <a:r>
              <a:rPr lang="en-GB" sz="2400" spc="-20" dirty="0">
                <a:solidFill>
                  <a:srgbClr val="080912"/>
                </a:solidFill>
                <a:latin typeface="Arial MT"/>
                <a:cs typeface="Arial MT"/>
              </a:rPr>
              <a:t> </a:t>
            </a:r>
            <a:r>
              <a:rPr lang="en-GB" sz="2400" spc="-10" dirty="0">
                <a:solidFill>
                  <a:srgbClr val="080912"/>
                </a:solidFill>
                <a:latin typeface="Arial MT"/>
                <a:cs typeface="Arial MT"/>
              </a:rPr>
              <a:t>is</a:t>
            </a:r>
            <a:r>
              <a:rPr lang="en-GB" sz="2400" spc="-20" dirty="0">
                <a:solidFill>
                  <a:srgbClr val="080912"/>
                </a:solidFill>
                <a:latin typeface="Arial MT"/>
                <a:cs typeface="Arial MT"/>
              </a:rPr>
              <a:t> </a:t>
            </a:r>
            <a:r>
              <a:rPr lang="en-GB" sz="2400" spc="-10" dirty="0">
                <a:solidFill>
                  <a:srgbClr val="080912"/>
                </a:solidFill>
                <a:latin typeface="Arial MT"/>
                <a:cs typeface="Arial MT"/>
              </a:rPr>
              <a:t>much</a:t>
            </a:r>
            <a:r>
              <a:rPr lang="en-GB" sz="2400" spc="-27" dirty="0">
                <a:solidFill>
                  <a:srgbClr val="080912"/>
                </a:solidFill>
                <a:latin typeface="Arial MT"/>
                <a:cs typeface="Arial MT"/>
              </a:rPr>
              <a:t> </a:t>
            </a:r>
            <a:r>
              <a:rPr lang="en-GB" sz="2400" spc="-10" dirty="0">
                <a:solidFill>
                  <a:srgbClr val="080912"/>
                </a:solidFill>
                <a:latin typeface="Arial MT"/>
                <a:cs typeface="Arial MT"/>
              </a:rPr>
              <a:t>steeper</a:t>
            </a:r>
            <a:r>
              <a:rPr lang="en-GB" sz="2400" spc="-24" dirty="0">
                <a:solidFill>
                  <a:srgbClr val="080912"/>
                </a:solidFill>
                <a:latin typeface="Arial MT"/>
                <a:cs typeface="Arial MT"/>
              </a:rPr>
              <a:t> </a:t>
            </a:r>
            <a:r>
              <a:rPr lang="en-GB" sz="2400" spc="-7" dirty="0">
                <a:solidFill>
                  <a:srgbClr val="080912"/>
                </a:solidFill>
                <a:latin typeface="Arial MT"/>
                <a:cs typeface="Arial MT"/>
              </a:rPr>
              <a:t>as</a:t>
            </a:r>
            <a:r>
              <a:rPr lang="en-GB" sz="2400" spc="-14" dirty="0">
                <a:solidFill>
                  <a:srgbClr val="080912"/>
                </a:solidFill>
                <a:latin typeface="Arial MT"/>
                <a:cs typeface="Arial MT"/>
              </a:rPr>
              <a:t> </a:t>
            </a:r>
            <a:r>
              <a:rPr lang="en-GB" sz="2400" spc="-10" dirty="0">
                <a:solidFill>
                  <a:srgbClr val="080912"/>
                </a:solidFill>
                <a:latin typeface="Arial MT"/>
                <a:cs typeface="Arial MT"/>
              </a:rPr>
              <a:t>compared</a:t>
            </a:r>
            <a:r>
              <a:rPr lang="en-GB" sz="2400" spc="-20" dirty="0">
                <a:solidFill>
                  <a:srgbClr val="080912"/>
                </a:solidFill>
                <a:latin typeface="Arial MT"/>
                <a:cs typeface="Arial MT"/>
              </a:rPr>
              <a:t> </a:t>
            </a:r>
            <a:r>
              <a:rPr lang="en-GB" sz="2400" spc="-10" dirty="0">
                <a:solidFill>
                  <a:srgbClr val="080912"/>
                </a:solidFill>
                <a:latin typeface="Arial MT"/>
                <a:cs typeface="Arial MT"/>
              </a:rPr>
              <a:t>to</a:t>
            </a:r>
            <a:r>
              <a:rPr lang="en-GB" sz="2400" spc="-20" dirty="0">
                <a:solidFill>
                  <a:srgbClr val="080912"/>
                </a:solidFill>
                <a:latin typeface="Arial MT"/>
                <a:cs typeface="Arial MT"/>
              </a:rPr>
              <a:t> </a:t>
            </a:r>
            <a:r>
              <a:rPr lang="en-GB" sz="2400" spc="-14" dirty="0">
                <a:solidFill>
                  <a:srgbClr val="080912"/>
                </a:solidFill>
                <a:latin typeface="Arial MT"/>
                <a:cs typeface="Arial MT"/>
              </a:rPr>
              <a:t>the </a:t>
            </a:r>
            <a:r>
              <a:rPr lang="en-GB" sz="2400" spc="-245" dirty="0">
                <a:solidFill>
                  <a:srgbClr val="080912"/>
                </a:solidFill>
                <a:latin typeface="Arial MT"/>
                <a:cs typeface="Arial MT"/>
              </a:rPr>
              <a:t> </a:t>
            </a:r>
            <a:r>
              <a:rPr lang="en-GB" sz="2400" spc="-10" dirty="0">
                <a:solidFill>
                  <a:srgbClr val="080912"/>
                </a:solidFill>
                <a:latin typeface="Arial MT"/>
                <a:cs typeface="Arial MT"/>
              </a:rPr>
              <a:t>sigmoid</a:t>
            </a:r>
            <a:r>
              <a:rPr lang="en-GB" sz="2400" spc="-24" dirty="0">
                <a:solidFill>
                  <a:srgbClr val="080912"/>
                </a:solidFill>
                <a:latin typeface="Arial MT"/>
                <a:cs typeface="Arial MT"/>
              </a:rPr>
              <a:t> </a:t>
            </a:r>
            <a:r>
              <a:rPr lang="en-GB" sz="2400" spc="-10" dirty="0">
                <a:solidFill>
                  <a:srgbClr val="080912"/>
                </a:solidFill>
                <a:latin typeface="Arial MT"/>
                <a:cs typeface="Arial MT"/>
              </a:rPr>
              <a:t>function.</a:t>
            </a:r>
          </a:p>
          <a:p>
            <a:pPr marL="8659" marR="3464" algn="just">
              <a:lnSpc>
                <a:spcPct val="143700"/>
              </a:lnSpc>
              <a:spcBef>
                <a:spcPts val="409"/>
              </a:spcBef>
            </a:pPr>
            <a:r>
              <a:rPr lang="en-GB" sz="2400" spc="-3" dirty="0">
                <a:solidFill>
                  <a:srgbClr val="080912"/>
                </a:solidFill>
                <a:latin typeface="Arial MT"/>
                <a:cs typeface="Arial MT"/>
              </a:rPr>
              <a:t>Although</a:t>
            </a:r>
            <a:r>
              <a:rPr lang="en-GB" sz="2400" spc="201" dirty="0">
                <a:solidFill>
                  <a:srgbClr val="080912"/>
                </a:solidFill>
                <a:latin typeface="Arial MT"/>
                <a:cs typeface="Arial MT"/>
              </a:rPr>
              <a:t> </a:t>
            </a:r>
            <a:r>
              <a:rPr lang="en-GB" sz="2400" dirty="0">
                <a:solidFill>
                  <a:srgbClr val="080912"/>
                </a:solidFill>
                <a:latin typeface="Arial MT"/>
                <a:cs typeface="Arial MT"/>
              </a:rPr>
              <a:t>both</a:t>
            </a:r>
            <a:r>
              <a:rPr lang="en-GB" sz="2400" spc="201" dirty="0">
                <a:solidFill>
                  <a:srgbClr val="080912"/>
                </a:solidFill>
                <a:latin typeface="Arial MT"/>
                <a:cs typeface="Arial MT"/>
              </a:rPr>
              <a:t> </a:t>
            </a:r>
            <a:r>
              <a:rPr lang="en-GB" sz="2400" dirty="0">
                <a:solidFill>
                  <a:srgbClr val="080912"/>
                </a:solidFill>
                <a:latin typeface="Arial MT"/>
                <a:cs typeface="Arial MT"/>
              </a:rPr>
              <a:t>sigmoid</a:t>
            </a:r>
            <a:r>
              <a:rPr lang="en-GB" sz="2400" spc="198" dirty="0">
                <a:solidFill>
                  <a:srgbClr val="080912"/>
                </a:solidFill>
                <a:latin typeface="Arial MT"/>
                <a:cs typeface="Arial MT"/>
              </a:rPr>
              <a:t> </a:t>
            </a:r>
            <a:r>
              <a:rPr lang="en-GB" sz="2400" spc="-3" dirty="0">
                <a:solidFill>
                  <a:srgbClr val="080912"/>
                </a:solidFill>
                <a:latin typeface="Arial MT"/>
                <a:cs typeface="Arial MT"/>
              </a:rPr>
              <a:t>and</a:t>
            </a:r>
            <a:r>
              <a:rPr lang="en-GB" sz="2400" spc="208" dirty="0">
                <a:solidFill>
                  <a:srgbClr val="080912"/>
                </a:solidFill>
                <a:latin typeface="Arial MT"/>
                <a:cs typeface="Arial MT"/>
              </a:rPr>
              <a:t> </a:t>
            </a:r>
            <a:r>
              <a:rPr lang="en-GB" sz="2400" spc="-3" dirty="0">
                <a:solidFill>
                  <a:srgbClr val="080912"/>
                </a:solidFill>
                <a:latin typeface="Arial MT"/>
                <a:cs typeface="Arial MT"/>
              </a:rPr>
              <a:t>tanh</a:t>
            </a:r>
            <a:r>
              <a:rPr lang="en-GB" sz="2400" spc="208" dirty="0">
                <a:solidFill>
                  <a:srgbClr val="080912"/>
                </a:solidFill>
                <a:latin typeface="Arial MT"/>
                <a:cs typeface="Arial MT"/>
              </a:rPr>
              <a:t> </a:t>
            </a:r>
            <a:r>
              <a:rPr lang="en-GB" sz="2400" spc="-3" dirty="0">
                <a:solidFill>
                  <a:srgbClr val="080912"/>
                </a:solidFill>
                <a:latin typeface="Arial MT"/>
                <a:cs typeface="Arial MT"/>
              </a:rPr>
              <a:t>face</a:t>
            </a:r>
            <a:r>
              <a:rPr lang="en-GB" sz="2400" spc="194" dirty="0">
                <a:solidFill>
                  <a:srgbClr val="080912"/>
                </a:solidFill>
                <a:latin typeface="Arial MT"/>
                <a:cs typeface="Arial MT"/>
              </a:rPr>
              <a:t> </a:t>
            </a:r>
            <a:r>
              <a:rPr lang="en-GB" sz="2400" spc="-3" dirty="0">
                <a:solidFill>
                  <a:srgbClr val="080912"/>
                </a:solidFill>
                <a:latin typeface="Arial MT"/>
                <a:cs typeface="Arial MT"/>
              </a:rPr>
              <a:t>vanishing</a:t>
            </a:r>
            <a:r>
              <a:rPr lang="en-GB" sz="2400" spc="201" dirty="0">
                <a:solidFill>
                  <a:srgbClr val="080912"/>
                </a:solidFill>
                <a:latin typeface="Arial MT"/>
                <a:cs typeface="Arial MT"/>
              </a:rPr>
              <a:t> </a:t>
            </a:r>
            <a:r>
              <a:rPr lang="en-GB" sz="2400" spc="-3" dirty="0">
                <a:solidFill>
                  <a:srgbClr val="080912"/>
                </a:solidFill>
                <a:latin typeface="Arial MT"/>
                <a:cs typeface="Arial MT"/>
              </a:rPr>
              <a:t>gradient</a:t>
            </a:r>
            <a:r>
              <a:rPr lang="en-GB" sz="2400" spc="205" dirty="0">
                <a:solidFill>
                  <a:srgbClr val="080912"/>
                </a:solidFill>
                <a:latin typeface="Arial MT"/>
                <a:cs typeface="Arial MT"/>
              </a:rPr>
              <a:t> </a:t>
            </a:r>
            <a:r>
              <a:rPr lang="en-GB" sz="2400" spc="-3" dirty="0">
                <a:solidFill>
                  <a:srgbClr val="080912"/>
                </a:solidFill>
                <a:latin typeface="Arial MT"/>
                <a:cs typeface="Arial MT"/>
              </a:rPr>
              <a:t>issue,</a:t>
            </a:r>
            <a:r>
              <a:rPr lang="en-GB" sz="2400" spc="205" dirty="0">
                <a:solidFill>
                  <a:srgbClr val="080912"/>
                </a:solidFill>
                <a:latin typeface="Arial MT"/>
                <a:cs typeface="Arial MT"/>
              </a:rPr>
              <a:t> </a:t>
            </a:r>
            <a:r>
              <a:rPr lang="en-GB" sz="2400" spc="-3" dirty="0">
                <a:solidFill>
                  <a:srgbClr val="080912"/>
                </a:solidFill>
                <a:latin typeface="Arial MT"/>
                <a:cs typeface="Arial MT"/>
              </a:rPr>
              <a:t>tanh</a:t>
            </a:r>
            <a:r>
              <a:rPr lang="en-GB" sz="2400" spc="205" dirty="0">
                <a:solidFill>
                  <a:srgbClr val="080912"/>
                </a:solidFill>
                <a:latin typeface="Arial MT"/>
                <a:cs typeface="Arial MT"/>
              </a:rPr>
              <a:t> </a:t>
            </a:r>
            <a:r>
              <a:rPr lang="en-GB" sz="2400" spc="-7" dirty="0">
                <a:solidFill>
                  <a:srgbClr val="080912"/>
                </a:solidFill>
                <a:latin typeface="Arial MT"/>
                <a:cs typeface="Arial MT"/>
              </a:rPr>
              <a:t>is</a:t>
            </a:r>
            <a:r>
              <a:rPr lang="en-GB" sz="2400" spc="201" dirty="0">
                <a:solidFill>
                  <a:srgbClr val="080912"/>
                </a:solidFill>
                <a:latin typeface="Arial MT"/>
                <a:cs typeface="Arial MT"/>
              </a:rPr>
              <a:t> </a:t>
            </a:r>
            <a:r>
              <a:rPr lang="en-GB" sz="2400" dirty="0">
                <a:solidFill>
                  <a:srgbClr val="080912"/>
                </a:solidFill>
                <a:latin typeface="Arial MT"/>
                <a:cs typeface="Arial MT"/>
              </a:rPr>
              <a:t>zero </a:t>
            </a:r>
            <a:r>
              <a:rPr lang="en-GB" sz="2400" dirty="0" err="1">
                <a:solidFill>
                  <a:srgbClr val="080912"/>
                </a:solidFill>
                <a:latin typeface="Arial MT"/>
                <a:cs typeface="Arial MT"/>
              </a:rPr>
              <a:t>centered</a:t>
            </a:r>
            <a:r>
              <a:rPr lang="en-GB" sz="2400" dirty="0">
                <a:solidFill>
                  <a:srgbClr val="080912"/>
                </a:solidFill>
                <a:latin typeface="Arial MT"/>
                <a:cs typeface="Arial MT"/>
              </a:rPr>
              <a:t>,</a:t>
            </a:r>
            <a:r>
              <a:rPr lang="en-GB" sz="2400" spc="44" dirty="0">
                <a:solidFill>
                  <a:srgbClr val="080912"/>
                </a:solidFill>
                <a:latin typeface="Arial MT"/>
                <a:cs typeface="Arial MT"/>
              </a:rPr>
              <a:t> </a:t>
            </a:r>
            <a:r>
              <a:rPr lang="en-GB" sz="2400" spc="-3" dirty="0">
                <a:solidFill>
                  <a:srgbClr val="080912"/>
                </a:solidFill>
                <a:latin typeface="Arial MT"/>
                <a:cs typeface="Arial MT"/>
              </a:rPr>
              <a:t>and</a:t>
            </a:r>
            <a:r>
              <a:rPr lang="en-GB" sz="2400" spc="51" dirty="0">
                <a:solidFill>
                  <a:srgbClr val="080912"/>
                </a:solidFill>
                <a:latin typeface="Arial MT"/>
                <a:cs typeface="Arial MT"/>
              </a:rPr>
              <a:t> </a:t>
            </a:r>
            <a:r>
              <a:rPr lang="en-GB" sz="2400" spc="-3" dirty="0">
                <a:solidFill>
                  <a:srgbClr val="080912"/>
                </a:solidFill>
                <a:latin typeface="Arial MT"/>
                <a:cs typeface="Arial MT"/>
              </a:rPr>
              <a:t>the</a:t>
            </a:r>
            <a:r>
              <a:rPr lang="en-GB" sz="2400" spc="51" dirty="0">
                <a:solidFill>
                  <a:srgbClr val="080912"/>
                </a:solidFill>
                <a:latin typeface="Arial MT"/>
                <a:cs typeface="Arial MT"/>
              </a:rPr>
              <a:t> </a:t>
            </a:r>
            <a:r>
              <a:rPr lang="en-GB" sz="2400" spc="-3" dirty="0">
                <a:solidFill>
                  <a:srgbClr val="080912"/>
                </a:solidFill>
                <a:latin typeface="Arial MT"/>
                <a:cs typeface="Arial MT"/>
              </a:rPr>
              <a:t>gradients</a:t>
            </a:r>
            <a:r>
              <a:rPr lang="en-GB" sz="2400" spc="55" dirty="0">
                <a:solidFill>
                  <a:srgbClr val="080912"/>
                </a:solidFill>
                <a:latin typeface="Arial MT"/>
                <a:cs typeface="Arial MT"/>
              </a:rPr>
              <a:t> </a:t>
            </a:r>
            <a:r>
              <a:rPr lang="en-GB" sz="2400" spc="-3" dirty="0">
                <a:solidFill>
                  <a:srgbClr val="080912"/>
                </a:solidFill>
                <a:latin typeface="Arial MT"/>
                <a:cs typeface="Arial MT"/>
              </a:rPr>
              <a:t>are</a:t>
            </a:r>
            <a:r>
              <a:rPr lang="en-GB" sz="2400" spc="51" dirty="0">
                <a:solidFill>
                  <a:srgbClr val="080912"/>
                </a:solidFill>
                <a:latin typeface="Arial MT"/>
                <a:cs typeface="Arial MT"/>
              </a:rPr>
              <a:t> </a:t>
            </a:r>
            <a:r>
              <a:rPr lang="en-GB" sz="2400" dirty="0">
                <a:solidFill>
                  <a:srgbClr val="080912"/>
                </a:solidFill>
                <a:latin typeface="Arial MT"/>
                <a:cs typeface="Arial MT"/>
              </a:rPr>
              <a:t>not</a:t>
            </a:r>
            <a:r>
              <a:rPr lang="en-GB" sz="2400" spc="48" dirty="0">
                <a:solidFill>
                  <a:srgbClr val="080912"/>
                </a:solidFill>
                <a:latin typeface="Arial MT"/>
                <a:cs typeface="Arial MT"/>
              </a:rPr>
              <a:t> </a:t>
            </a:r>
            <a:r>
              <a:rPr lang="en-GB" sz="2400" spc="-3" dirty="0">
                <a:solidFill>
                  <a:srgbClr val="080912"/>
                </a:solidFill>
                <a:latin typeface="Arial MT"/>
                <a:cs typeface="Arial MT"/>
              </a:rPr>
              <a:t>restricted</a:t>
            </a:r>
            <a:r>
              <a:rPr lang="en-GB" sz="2400" spc="51" dirty="0">
                <a:solidFill>
                  <a:srgbClr val="080912"/>
                </a:solidFill>
                <a:latin typeface="Arial MT"/>
                <a:cs typeface="Arial MT"/>
              </a:rPr>
              <a:t> </a:t>
            </a:r>
            <a:r>
              <a:rPr lang="en-GB" sz="2400" spc="-3" dirty="0">
                <a:solidFill>
                  <a:srgbClr val="080912"/>
                </a:solidFill>
                <a:latin typeface="Arial MT"/>
                <a:cs typeface="Arial MT"/>
              </a:rPr>
              <a:t>to</a:t>
            </a:r>
            <a:r>
              <a:rPr lang="en-GB" sz="2400" spc="48" dirty="0">
                <a:solidFill>
                  <a:srgbClr val="080912"/>
                </a:solidFill>
                <a:latin typeface="Arial MT"/>
                <a:cs typeface="Arial MT"/>
              </a:rPr>
              <a:t> </a:t>
            </a:r>
            <a:r>
              <a:rPr lang="en-GB" sz="2400" spc="-3" dirty="0">
                <a:solidFill>
                  <a:srgbClr val="080912"/>
                </a:solidFill>
                <a:latin typeface="Arial MT"/>
                <a:cs typeface="Arial MT"/>
              </a:rPr>
              <a:t>move</a:t>
            </a:r>
            <a:r>
              <a:rPr lang="en-GB" sz="2400" spc="51" dirty="0">
                <a:solidFill>
                  <a:srgbClr val="080912"/>
                </a:solidFill>
                <a:latin typeface="Arial MT"/>
                <a:cs typeface="Arial MT"/>
              </a:rPr>
              <a:t> </a:t>
            </a:r>
            <a:r>
              <a:rPr lang="en-GB" sz="2400" dirty="0">
                <a:solidFill>
                  <a:srgbClr val="080912"/>
                </a:solidFill>
                <a:latin typeface="Arial MT"/>
                <a:cs typeface="Arial MT"/>
              </a:rPr>
              <a:t>in</a:t>
            </a:r>
            <a:r>
              <a:rPr lang="en-GB" sz="2400" spc="51" dirty="0">
                <a:solidFill>
                  <a:srgbClr val="080912"/>
                </a:solidFill>
                <a:latin typeface="Arial MT"/>
                <a:cs typeface="Arial MT"/>
              </a:rPr>
              <a:t> </a:t>
            </a:r>
            <a:r>
              <a:rPr lang="en-GB" sz="2400" dirty="0">
                <a:solidFill>
                  <a:srgbClr val="080912"/>
                </a:solidFill>
                <a:latin typeface="Arial MT"/>
                <a:cs typeface="Arial MT"/>
              </a:rPr>
              <a:t>a</a:t>
            </a:r>
            <a:r>
              <a:rPr lang="en-GB" sz="2400" spc="44" dirty="0">
                <a:solidFill>
                  <a:srgbClr val="080912"/>
                </a:solidFill>
                <a:latin typeface="Arial MT"/>
                <a:cs typeface="Arial MT"/>
              </a:rPr>
              <a:t> </a:t>
            </a:r>
            <a:r>
              <a:rPr lang="en-GB" sz="2400" spc="-3" dirty="0">
                <a:solidFill>
                  <a:srgbClr val="080912"/>
                </a:solidFill>
                <a:latin typeface="Arial MT"/>
                <a:cs typeface="Arial MT"/>
              </a:rPr>
              <a:t>certain</a:t>
            </a:r>
            <a:r>
              <a:rPr lang="en-GB" sz="2400" spc="55" dirty="0">
                <a:solidFill>
                  <a:srgbClr val="080912"/>
                </a:solidFill>
                <a:latin typeface="Arial MT"/>
                <a:cs typeface="Arial MT"/>
              </a:rPr>
              <a:t> </a:t>
            </a:r>
            <a:r>
              <a:rPr lang="en-GB" sz="2400" spc="-3" dirty="0">
                <a:solidFill>
                  <a:srgbClr val="080912"/>
                </a:solidFill>
                <a:latin typeface="Arial MT"/>
                <a:cs typeface="Arial MT"/>
              </a:rPr>
              <a:t>direction.</a:t>
            </a:r>
            <a:r>
              <a:rPr lang="en-GB" sz="2400" spc="48" dirty="0">
                <a:solidFill>
                  <a:srgbClr val="080912"/>
                </a:solidFill>
                <a:latin typeface="Arial MT"/>
                <a:cs typeface="Arial MT"/>
              </a:rPr>
              <a:t> </a:t>
            </a:r>
            <a:r>
              <a:rPr lang="en-GB" sz="2400" spc="-3" dirty="0">
                <a:solidFill>
                  <a:srgbClr val="080912"/>
                </a:solidFill>
                <a:latin typeface="Arial MT"/>
                <a:cs typeface="Arial MT"/>
              </a:rPr>
              <a:t>Therefore,</a:t>
            </a:r>
            <a:r>
              <a:rPr lang="en-GB" sz="2400" spc="48" dirty="0">
                <a:solidFill>
                  <a:srgbClr val="080912"/>
                </a:solidFill>
                <a:latin typeface="Arial MT"/>
                <a:cs typeface="Arial MT"/>
              </a:rPr>
              <a:t> </a:t>
            </a:r>
            <a:r>
              <a:rPr lang="en-GB" sz="2400" dirty="0">
                <a:solidFill>
                  <a:srgbClr val="080912"/>
                </a:solidFill>
                <a:latin typeface="Arial MT"/>
                <a:cs typeface="Arial MT"/>
              </a:rPr>
              <a:t>in </a:t>
            </a:r>
            <a:r>
              <a:rPr lang="en-GB" sz="2400" spc="-3" dirty="0">
                <a:solidFill>
                  <a:srgbClr val="080912"/>
                </a:solidFill>
                <a:latin typeface="Arial MT"/>
                <a:cs typeface="Arial MT"/>
              </a:rPr>
              <a:t>practice,</a:t>
            </a:r>
            <a:r>
              <a:rPr lang="en-GB" sz="2400" dirty="0">
                <a:solidFill>
                  <a:srgbClr val="080912"/>
                </a:solidFill>
                <a:latin typeface="Arial MT"/>
                <a:cs typeface="Arial MT"/>
              </a:rPr>
              <a:t> </a:t>
            </a:r>
            <a:r>
              <a:rPr lang="en-GB" sz="2400" spc="-3" dirty="0">
                <a:solidFill>
                  <a:srgbClr val="080912"/>
                </a:solidFill>
                <a:latin typeface="Arial MT"/>
                <a:cs typeface="Arial MT"/>
              </a:rPr>
              <a:t>tanh</a:t>
            </a:r>
            <a:r>
              <a:rPr lang="en-GB" sz="2400" spc="7" dirty="0">
                <a:solidFill>
                  <a:srgbClr val="080912"/>
                </a:solidFill>
                <a:latin typeface="Arial MT"/>
                <a:cs typeface="Arial MT"/>
              </a:rPr>
              <a:t> </a:t>
            </a:r>
            <a:r>
              <a:rPr lang="en-GB" sz="2400" spc="-3" dirty="0">
                <a:solidFill>
                  <a:srgbClr val="080912"/>
                </a:solidFill>
                <a:latin typeface="Arial MT"/>
                <a:cs typeface="Arial MT"/>
              </a:rPr>
              <a:t>nonlinearity</a:t>
            </a:r>
            <a:r>
              <a:rPr lang="en-GB" sz="2400" spc="7" dirty="0">
                <a:solidFill>
                  <a:srgbClr val="080912"/>
                </a:solidFill>
                <a:latin typeface="Arial MT"/>
                <a:cs typeface="Arial MT"/>
              </a:rPr>
              <a:t> </a:t>
            </a:r>
            <a:r>
              <a:rPr lang="en-GB" sz="2400" dirty="0">
                <a:solidFill>
                  <a:srgbClr val="080912"/>
                </a:solidFill>
                <a:latin typeface="Arial MT"/>
                <a:cs typeface="Arial MT"/>
              </a:rPr>
              <a:t>is</a:t>
            </a:r>
            <a:r>
              <a:rPr lang="en-GB" sz="2400" spc="-3" dirty="0">
                <a:solidFill>
                  <a:srgbClr val="080912"/>
                </a:solidFill>
                <a:latin typeface="Arial MT"/>
                <a:cs typeface="Arial MT"/>
              </a:rPr>
              <a:t> </a:t>
            </a:r>
            <a:r>
              <a:rPr lang="en-GB" sz="2400" dirty="0">
                <a:solidFill>
                  <a:srgbClr val="080912"/>
                </a:solidFill>
                <a:latin typeface="Arial MT"/>
                <a:cs typeface="Arial MT"/>
              </a:rPr>
              <a:t>always</a:t>
            </a:r>
            <a:r>
              <a:rPr lang="en-GB" sz="2400" spc="7" dirty="0">
                <a:solidFill>
                  <a:srgbClr val="080912"/>
                </a:solidFill>
                <a:latin typeface="Arial MT"/>
                <a:cs typeface="Arial MT"/>
              </a:rPr>
              <a:t> </a:t>
            </a:r>
            <a:r>
              <a:rPr lang="en-GB" sz="2400" spc="-3" dirty="0">
                <a:solidFill>
                  <a:srgbClr val="080912"/>
                </a:solidFill>
                <a:latin typeface="Arial MT"/>
                <a:cs typeface="Arial MT"/>
              </a:rPr>
              <a:t>preferred</a:t>
            </a:r>
            <a:r>
              <a:rPr lang="en-GB" sz="2400" spc="3" dirty="0">
                <a:solidFill>
                  <a:srgbClr val="080912"/>
                </a:solidFill>
                <a:latin typeface="Arial MT"/>
                <a:cs typeface="Arial MT"/>
              </a:rPr>
              <a:t> </a:t>
            </a:r>
            <a:r>
              <a:rPr lang="en-GB" sz="2400" spc="-3" dirty="0">
                <a:solidFill>
                  <a:srgbClr val="080912"/>
                </a:solidFill>
                <a:latin typeface="Arial MT"/>
                <a:cs typeface="Arial MT"/>
              </a:rPr>
              <a:t>to </a:t>
            </a:r>
            <a:r>
              <a:rPr lang="en-GB" sz="2400" dirty="0">
                <a:solidFill>
                  <a:srgbClr val="080912"/>
                </a:solidFill>
                <a:latin typeface="Arial MT"/>
                <a:cs typeface="Arial MT"/>
              </a:rPr>
              <a:t>sigmoid</a:t>
            </a:r>
            <a:r>
              <a:rPr lang="en-GB" sz="2400" spc="7" dirty="0">
                <a:solidFill>
                  <a:srgbClr val="080912"/>
                </a:solidFill>
                <a:latin typeface="Arial MT"/>
                <a:cs typeface="Arial MT"/>
              </a:rPr>
              <a:t> </a:t>
            </a:r>
            <a:r>
              <a:rPr lang="en-GB" sz="2400" spc="-3" dirty="0">
                <a:solidFill>
                  <a:srgbClr val="080912"/>
                </a:solidFill>
                <a:latin typeface="Arial MT"/>
                <a:cs typeface="Arial MT"/>
              </a:rPr>
              <a:t>nonlinearity</a:t>
            </a:r>
            <a:endParaRPr lang="en-GB" sz="2400" dirty="0">
              <a:latin typeface="Arial MT"/>
              <a:cs typeface="Arial MT"/>
            </a:endParaRPr>
          </a:p>
          <a:p>
            <a:pPr marL="8659" marR="3464" algn="just">
              <a:lnSpc>
                <a:spcPct val="143700"/>
              </a:lnSpc>
              <a:spcBef>
                <a:spcPts val="409"/>
              </a:spcBef>
            </a:pPr>
            <a:endParaRPr lang="en-GB" sz="2400" dirty="0">
              <a:latin typeface="Arial MT"/>
              <a:cs typeface="Arial MT"/>
            </a:endParaRPr>
          </a:p>
          <a:p>
            <a:endParaRPr lang="en-PK" dirty="0"/>
          </a:p>
        </p:txBody>
      </p:sp>
      <p:pic>
        <p:nvPicPr>
          <p:cNvPr id="13" name="object 10"/>
          <p:cNvPicPr/>
          <p:nvPr/>
        </p:nvPicPr>
        <p:blipFill>
          <a:blip r:embed="rId2" cstate="print"/>
          <a:stretch>
            <a:fillRect/>
          </a:stretch>
        </p:blipFill>
        <p:spPr>
          <a:xfrm>
            <a:off x="8278700" y="2323494"/>
            <a:ext cx="3258223" cy="2568547"/>
          </a:xfrm>
          <a:prstGeom prst="rect">
            <a:avLst/>
          </a:prstGeom>
        </p:spPr>
      </p:pic>
      <p:sp>
        <p:nvSpPr>
          <p:cNvPr id="3" name="Slide Number Placeholder 2">
            <a:extLst>
              <a:ext uri="{FF2B5EF4-FFF2-40B4-BE49-F238E27FC236}">
                <a16:creationId xmlns:a16="http://schemas.microsoft.com/office/drawing/2014/main" id="{55887ED4-7B6A-9682-2D1D-82A31E817EE3}"/>
              </a:ext>
            </a:extLst>
          </p:cNvPr>
          <p:cNvSpPr>
            <a:spLocks noGrp="1"/>
          </p:cNvSpPr>
          <p:nvPr>
            <p:ph type="sldNum" sz="quarter" idx="12"/>
          </p:nvPr>
        </p:nvSpPr>
        <p:spPr/>
        <p:txBody>
          <a:bodyPr/>
          <a:lstStyle/>
          <a:p>
            <a:fld id="{9CD9A578-84A4-4247-B01E-A84B9E2DF7BB}" type="slidenum">
              <a:rPr lang="en-PK" smtClean="0"/>
              <a:t>10</a:t>
            </a:fld>
            <a:endParaRPr lang="en-PK"/>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8745648" y="1965960"/>
            <a:ext cx="2669380" cy="2440970"/>
          </a:xfrm>
          <a:prstGeom prst="rect">
            <a:avLst/>
          </a:prstGeom>
        </p:spPr>
      </p:pic>
      <p:sp>
        <p:nvSpPr>
          <p:cNvPr id="5" name="Title 4">
            <a:extLst>
              <a:ext uri="{FF2B5EF4-FFF2-40B4-BE49-F238E27FC236}">
                <a16:creationId xmlns:a16="http://schemas.microsoft.com/office/drawing/2014/main" id="{0C046A70-3E9A-714F-2719-9ED466ED20F1}"/>
              </a:ext>
            </a:extLst>
          </p:cNvPr>
          <p:cNvSpPr>
            <a:spLocks noGrp="1"/>
          </p:cNvSpPr>
          <p:nvPr>
            <p:ph type="title"/>
          </p:nvPr>
        </p:nvSpPr>
        <p:spPr/>
        <p:txBody>
          <a:bodyPr/>
          <a:lstStyle/>
          <a:p>
            <a:pPr marL="8659">
              <a:spcBef>
                <a:spcPts val="68"/>
              </a:spcBef>
            </a:pPr>
            <a:r>
              <a:rPr lang="en-GB" sz="4800" b="1" spc="-31" dirty="0" err="1">
                <a:solidFill>
                  <a:srgbClr val="272E40"/>
                </a:solidFill>
                <a:latin typeface="Arial"/>
                <a:cs typeface="Arial"/>
              </a:rPr>
              <a:t>R</a:t>
            </a:r>
            <a:r>
              <a:rPr lang="en-GB" sz="4800" b="1" spc="-24" dirty="0" err="1">
                <a:solidFill>
                  <a:srgbClr val="272E40"/>
                </a:solidFill>
                <a:latin typeface="Arial"/>
                <a:cs typeface="Arial"/>
              </a:rPr>
              <a:t>e</a:t>
            </a:r>
            <a:r>
              <a:rPr lang="en-GB" sz="4800" b="1" spc="-31" dirty="0" err="1">
                <a:solidFill>
                  <a:srgbClr val="272E40"/>
                </a:solidFill>
                <a:latin typeface="Arial"/>
                <a:cs typeface="Arial"/>
              </a:rPr>
              <a:t>L</a:t>
            </a:r>
            <a:r>
              <a:rPr lang="en-GB" sz="4800" b="1" spc="-3" dirty="0" err="1">
                <a:solidFill>
                  <a:srgbClr val="272E40"/>
                </a:solidFill>
                <a:latin typeface="Arial"/>
                <a:cs typeface="Arial"/>
              </a:rPr>
              <a:t>U</a:t>
            </a:r>
            <a:r>
              <a:rPr lang="en-GB" sz="4800" b="1" spc="-51" dirty="0">
                <a:solidFill>
                  <a:srgbClr val="272E40"/>
                </a:solidFill>
                <a:latin typeface="Arial"/>
                <a:cs typeface="Arial"/>
              </a:rPr>
              <a:t> </a:t>
            </a:r>
            <a:r>
              <a:rPr lang="en-GB" sz="4800" b="1" spc="-31" dirty="0">
                <a:solidFill>
                  <a:srgbClr val="272E40"/>
                </a:solidFill>
                <a:latin typeface="Arial"/>
                <a:cs typeface="Arial"/>
              </a:rPr>
              <a:t>Fu</a:t>
            </a:r>
            <a:r>
              <a:rPr lang="en-GB" sz="4800" b="1" spc="-37" dirty="0">
                <a:solidFill>
                  <a:srgbClr val="272E40"/>
                </a:solidFill>
                <a:latin typeface="Arial"/>
                <a:cs typeface="Arial"/>
              </a:rPr>
              <a:t>n</a:t>
            </a:r>
            <a:r>
              <a:rPr lang="en-GB" sz="4800" b="1" spc="-34" dirty="0">
                <a:solidFill>
                  <a:srgbClr val="272E40"/>
                </a:solidFill>
                <a:latin typeface="Arial"/>
                <a:cs typeface="Arial"/>
              </a:rPr>
              <a:t>c</a:t>
            </a:r>
            <a:r>
              <a:rPr lang="en-GB" sz="4800" b="1" spc="-31" dirty="0">
                <a:solidFill>
                  <a:srgbClr val="272E40"/>
                </a:solidFill>
                <a:latin typeface="Arial"/>
                <a:cs typeface="Arial"/>
              </a:rPr>
              <a:t>t</a:t>
            </a:r>
            <a:r>
              <a:rPr lang="en-GB" sz="4800" b="1" spc="-24" dirty="0">
                <a:solidFill>
                  <a:srgbClr val="272E40"/>
                </a:solidFill>
                <a:latin typeface="Arial"/>
                <a:cs typeface="Arial"/>
              </a:rPr>
              <a:t>i</a:t>
            </a:r>
            <a:r>
              <a:rPr lang="en-GB" sz="4800" b="1" spc="-31" dirty="0">
                <a:solidFill>
                  <a:srgbClr val="272E40"/>
                </a:solidFill>
                <a:latin typeface="Arial"/>
                <a:cs typeface="Arial"/>
              </a:rPr>
              <a:t>o</a:t>
            </a:r>
            <a:r>
              <a:rPr lang="en-GB" sz="4800" b="1" dirty="0">
                <a:solidFill>
                  <a:srgbClr val="272E40"/>
                </a:solidFill>
                <a:latin typeface="Arial"/>
                <a:cs typeface="Arial"/>
              </a:rPr>
              <a:t>n-(</a:t>
            </a:r>
            <a:r>
              <a:rPr lang="en-GB" sz="4400" spc="-10" dirty="0">
                <a:solidFill>
                  <a:srgbClr val="080912"/>
                </a:solidFill>
                <a:latin typeface="Arial MT"/>
                <a:cs typeface="Arial MT"/>
              </a:rPr>
              <a:t>Rectified</a:t>
            </a:r>
            <a:r>
              <a:rPr lang="en-GB" sz="4400" spc="-31" dirty="0">
                <a:solidFill>
                  <a:srgbClr val="080912"/>
                </a:solidFill>
                <a:latin typeface="Arial MT"/>
                <a:cs typeface="Arial MT"/>
              </a:rPr>
              <a:t> </a:t>
            </a:r>
            <a:r>
              <a:rPr lang="en-GB" sz="4400" spc="-10" dirty="0">
                <a:solidFill>
                  <a:srgbClr val="080912"/>
                </a:solidFill>
                <a:latin typeface="Arial MT"/>
                <a:cs typeface="Arial MT"/>
              </a:rPr>
              <a:t>Linear</a:t>
            </a:r>
            <a:r>
              <a:rPr lang="en-GB" sz="4400" spc="-31" dirty="0">
                <a:solidFill>
                  <a:srgbClr val="080912"/>
                </a:solidFill>
                <a:latin typeface="Arial MT"/>
                <a:cs typeface="Arial MT"/>
              </a:rPr>
              <a:t> </a:t>
            </a:r>
            <a:r>
              <a:rPr lang="en-GB" sz="4400" spc="-7" dirty="0">
                <a:solidFill>
                  <a:srgbClr val="080912"/>
                </a:solidFill>
                <a:latin typeface="Arial MT"/>
                <a:cs typeface="Arial MT"/>
              </a:rPr>
              <a:t>Unit Function)</a:t>
            </a:r>
            <a:endParaRPr lang="en-PK" dirty="0"/>
          </a:p>
        </p:txBody>
      </p:sp>
      <p:sp>
        <p:nvSpPr>
          <p:cNvPr id="6" name="Content Placeholder 5">
            <a:extLst>
              <a:ext uri="{FF2B5EF4-FFF2-40B4-BE49-F238E27FC236}">
                <a16:creationId xmlns:a16="http://schemas.microsoft.com/office/drawing/2014/main" id="{BEA20F29-6B82-9744-9D64-BFE3FF21A777}"/>
              </a:ext>
            </a:extLst>
          </p:cNvPr>
          <p:cNvSpPr>
            <a:spLocks noGrp="1"/>
          </p:cNvSpPr>
          <p:nvPr>
            <p:ph idx="1"/>
          </p:nvPr>
        </p:nvSpPr>
        <p:spPr>
          <a:xfrm>
            <a:off x="1233536" y="2057400"/>
            <a:ext cx="6489070" cy="4038600"/>
          </a:xfrm>
        </p:spPr>
        <p:txBody>
          <a:bodyPr>
            <a:normAutofit fontScale="62500" lnSpcReduction="20000"/>
          </a:bodyPr>
          <a:lstStyle/>
          <a:p>
            <a:pPr marL="8659" marR="3464">
              <a:lnSpc>
                <a:spcPct val="143700"/>
              </a:lnSpc>
              <a:spcBef>
                <a:spcPts val="65"/>
              </a:spcBef>
            </a:pPr>
            <a:r>
              <a:rPr lang="en-GB" sz="2400" spc="-10" dirty="0">
                <a:solidFill>
                  <a:srgbClr val="080912"/>
                </a:solidFill>
                <a:latin typeface="Arial MT"/>
                <a:cs typeface="Arial MT"/>
              </a:rPr>
              <a:t>Although</a:t>
            </a:r>
            <a:r>
              <a:rPr lang="en-GB" sz="2400" spc="-44" dirty="0">
                <a:solidFill>
                  <a:srgbClr val="080912"/>
                </a:solidFill>
                <a:latin typeface="Arial MT"/>
                <a:cs typeface="Arial MT"/>
              </a:rPr>
              <a:t> </a:t>
            </a:r>
            <a:r>
              <a:rPr lang="en-GB" sz="2400" spc="-7" dirty="0">
                <a:solidFill>
                  <a:srgbClr val="080912"/>
                </a:solidFill>
                <a:latin typeface="Arial MT"/>
                <a:cs typeface="Arial MT"/>
              </a:rPr>
              <a:t>it</a:t>
            </a:r>
            <a:r>
              <a:rPr lang="en-GB" sz="2400" spc="-55" dirty="0">
                <a:solidFill>
                  <a:srgbClr val="080912"/>
                </a:solidFill>
                <a:latin typeface="Arial MT"/>
                <a:cs typeface="Arial MT"/>
              </a:rPr>
              <a:t> </a:t>
            </a:r>
            <a:r>
              <a:rPr lang="en-GB" sz="2400" spc="-10" dirty="0">
                <a:solidFill>
                  <a:srgbClr val="080912"/>
                </a:solidFill>
                <a:latin typeface="Arial MT"/>
                <a:cs typeface="Arial MT"/>
              </a:rPr>
              <a:t>gives</a:t>
            </a:r>
            <a:r>
              <a:rPr lang="en-GB" sz="2400" spc="-44" dirty="0">
                <a:solidFill>
                  <a:srgbClr val="080912"/>
                </a:solidFill>
                <a:latin typeface="Arial MT"/>
                <a:cs typeface="Arial MT"/>
              </a:rPr>
              <a:t> </a:t>
            </a:r>
            <a:r>
              <a:rPr lang="en-GB" sz="2400" spc="-3" dirty="0">
                <a:solidFill>
                  <a:srgbClr val="080912"/>
                </a:solidFill>
                <a:latin typeface="Arial MT"/>
                <a:cs typeface="Arial MT"/>
              </a:rPr>
              <a:t>an</a:t>
            </a:r>
            <a:r>
              <a:rPr lang="en-GB" sz="2400" spc="-48" dirty="0">
                <a:solidFill>
                  <a:srgbClr val="080912"/>
                </a:solidFill>
                <a:latin typeface="Arial MT"/>
                <a:cs typeface="Arial MT"/>
              </a:rPr>
              <a:t> </a:t>
            </a:r>
            <a:r>
              <a:rPr lang="en-GB" sz="2400" spc="-10" dirty="0">
                <a:solidFill>
                  <a:srgbClr val="080912"/>
                </a:solidFill>
                <a:latin typeface="Arial MT"/>
                <a:cs typeface="Arial MT"/>
              </a:rPr>
              <a:t>impression</a:t>
            </a:r>
            <a:r>
              <a:rPr lang="en-GB" sz="2400" spc="-48" dirty="0">
                <a:solidFill>
                  <a:srgbClr val="080912"/>
                </a:solidFill>
                <a:latin typeface="Arial MT"/>
                <a:cs typeface="Arial MT"/>
              </a:rPr>
              <a:t> </a:t>
            </a:r>
            <a:r>
              <a:rPr lang="en-GB" sz="2400" spc="-3" dirty="0">
                <a:solidFill>
                  <a:srgbClr val="080912"/>
                </a:solidFill>
                <a:latin typeface="Arial MT"/>
                <a:cs typeface="Arial MT"/>
              </a:rPr>
              <a:t>of</a:t>
            </a:r>
            <a:r>
              <a:rPr lang="en-GB" sz="2400" spc="-55" dirty="0">
                <a:solidFill>
                  <a:srgbClr val="080912"/>
                </a:solidFill>
                <a:latin typeface="Arial MT"/>
                <a:cs typeface="Arial MT"/>
              </a:rPr>
              <a:t> </a:t>
            </a:r>
            <a:r>
              <a:rPr lang="en-GB" sz="2400" dirty="0">
                <a:solidFill>
                  <a:srgbClr val="080912"/>
                </a:solidFill>
                <a:latin typeface="Arial MT"/>
                <a:cs typeface="Arial MT"/>
              </a:rPr>
              <a:t>a</a:t>
            </a:r>
            <a:r>
              <a:rPr lang="en-GB" sz="2400" spc="-41" dirty="0">
                <a:solidFill>
                  <a:srgbClr val="080912"/>
                </a:solidFill>
                <a:latin typeface="Arial MT"/>
                <a:cs typeface="Arial MT"/>
              </a:rPr>
              <a:t> </a:t>
            </a:r>
            <a:r>
              <a:rPr lang="en-GB" sz="2400" spc="-10" dirty="0">
                <a:solidFill>
                  <a:srgbClr val="080912"/>
                </a:solidFill>
                <a:latin typeface="Arial MT"/>
                <a:cs typeface="Arial MT"/>
              </a:rPr>
              <a:t>linear</a:t>
            </a:r>
            <a:r>
              <a:rPr lang="en-GB" sz="2400" spc="-44" dirty="0">
                <a:solidFill>
                  <a:srgbClr val="080912"/>
                </a:solidFill>
                <a:latin typeface="Arial MT"/>
                <a:cs typeface="Arial MT"/>
              </a:rPr>
              <a:t> </a:t>
            </a:r>
            <a:r>
              <a:rPr lang="en-GB" sz="2400" spc="-10" dirty="0">
                <a:solidFill>
                  <a:srgbClr val="080912"/>
                </a:solidFill>
                <a:latin typeface="Arial MT"/>
                <a:cs typeface="Arial MT"/>
              </a:rPr>
              <a:t>function,</a:t>
            </a:r>
            <a:r>
              <a:rPr lang="en-GB" sz="2400" spc="-58" dirty="0">
                <a:solidFill>
                  <a:srgbClr val="080912"/>
                </a:solidFill>
                <a:latin typeface="Arial MT"/>
                <a:cs typeface="Arial MT"/>
              </a:rPr>
              <a:t> </a:t>
            </a:r>
            <a:r>
              <a:rPr lang="en-GB" sz="2400" spc="-10" dirty="0" err="1">
                <a:solidFill>
                  <a:srgbClr val="080912"/>
                </a:solidFill>
                <a:latin typeface="Arial MT"/>
                <a:cs typeface="Arial MT"/>
              </a:rPr>
              <a:t>ReLU</a:t>
            </a:r>
            <a:r>
              <a:rPr lang="en-GB" sz="2400" spc="-44" dirty="0">
                <a:solidFill>
                  <a:srgbClr val="080912"/>
                </a:solidFill>
                <a:latin typeface="Arial MT"/>
                <a:cs typeface="Arial MT"/>
              </a:rPr>
              <a:t> </a:t>
            </a:r>
            <a:r>
              <a:rPr lang="en-GB" sz="2400" spc="-10" dirty="0">
                <a:solidFill>
                  <a:srgbClr val="080912"/>
                </a:solidFill>
                <a:latin typeface="Arial MT"/>
                <a:cs typeface="Arial MT"/>
              </a:rPr>
              <a:t>has</a:t>
            </a:r>
            <a:r>
              <a:rPr lang="en-GB" sz="2400" spc="-44" dirty="0">
                <a:solidFill>
                  <a:srgbClr val="080912"/>
                </a:solidFill>
                <a:latin typeface="Arial MT"/>
                <a:cs typeface="Arial MT"/>
              </a:rPr>
              <a:t> </a:t>
            </a:r>
            <a:r>
              <a:rPr lang="en-GB" sz="2400" dirty="0">
                <a:solidFill>
                  <a:srgbClr val="080912"/>
                </a:solidFill>
                <a:latin typeface="Arial MT"/>
                <a:cs typeface="Arial MT"/>
              </a:rPr>
              <a:t>a</a:t>
            </a:r>
            <a:r>
              <a:rPr lang="en-GB" sz="2400" spc="-41" dirty="0">
                <a:solidFill>
                  <a:srgbClr val="080912"/>
                </a:solidFill>
                <a:latin typeface="Arial MT"/>
                <a:cs typeface="Arial MT"/>
              </a:rPr>
              <a:t> </a:t>
            </a:r>
            <a:r>
              <a:rPr lang="en-GB" sz="2400" spc="-14" dirty="0">
                <a:solidFill>
                  <a:srgbClr val="080912"/>
                </a:solidFill>
                <a:latin typeface="Arial MT"/>
                <a:cs typeface="Arial MT"/>
              </a:rPr>
              <a:t>derivative</a:t>
            </a:r>
            <a:r>
              <a:rPr lang="en-GB" sz="2400" spc="-41" dirty="0">
                <a:solidFill>
                  <a:srgbClr val="080912"/>
                </a:solidFill>
                <a:latin typeface="Arial MT"/>
                <a:cs typeface="Arial MT"/>
              </a:rPr>
              <a:t> </a:t>
            </a:r>
            <a:r>
              <a:rPr lang="en-GB" sz="2400" spc="-14" dirty="0">
                <a:solidFill>
                  <a:srgbClr val="080912"/>
                </a:solidFill>
                <a:latin typeface="Arial MT"/>
                <a:cs typeface="Arial MT"/>
              </a:rPr>
              <a:t>function</a:t>
            </a:r>
            <a:r>
              <a:rPr lang="en-GB" sz="2400" spc="-48" dirty="0">
                <a:solidFill>
                  <a:srgbClr val="080912"/>
                </a:solidFill>
                <a:latin typeface="Arial MT"/>
                <a:cs typeface="Arial MT"/>
              </a:rPr>
              <a:t> </a:t>
            </a:r>
            <a:r>
              <a:rPr lang="en-GB" sz="2400" spc="-7" dirty="0">
                <a:solidFill>
                  <a:srgbClr val="080912"/>
                </a:solidFill>
                <a:latin typeface="Arial MT"/>
                <a:cs typeface="Arial MT"/>
              </a:rPr>
              <a:t>and</a:t>
            </a:r>
            <a:r>
              <a:rPr lang="en-GB" sz="2400" spc="-48" dirty="0">
                <a:solidFill>
                  <a:srgbClr val="080912"/>
                </a:solidFill>
                <a:latin typeface="Arial MT"/>
                <a:cs typeface="Arial MT"/>
              </a:rPr>
              <a:t> </a:t>
            </a:r>
            <a:r>
              <a:rPr lang="en-GB" sz="2400" spc="-10" dirty="0">
                <a:solidFill>
                  <a:srgbClr val="080912"/>
                </a:solidFill>
                <a:latin typeface="Arial MT"/>
                <a:cs typeface="Arial MT"/>
              </a:rPr>
              <a:t>allows </a:t>
            </a:r>
            <a:r>
              <a:rPr lang="en-GB" sz="2400" spc="-245" dirty="0">
                <a:solidFill>
                  <a:srgbClr val="080912"/>
                </a:solidFill>
                <a:latin typeface="Arial MT"/>
                <a:cs typeface="Arial MT"/>
              </a:rPr>
              <a:t> </a:t>
            </a:r>
            <a:r>
              <a:rPr lang="en-GB" sz="2400" spc="-7" dirty="0">
                <a:solidFill>
                  <a:srgbClr val="080912"/>
                </a:solidFill>
                <a:latin typeface="Arial MT"/>
                <a:cs typeface="Arial MT"/>
              </a:rPr>
              <a:t>for</a:t>
            </a:r>
            <a:r>
              <a:rPr lang="en-GB" sz="2400" spc="-24" dirty="0">
                <a:solidFill>
                  <a:srgbClr val="080912"/>
                </a:solidFill>
                <a:latin typeface="Arial MT"/>
                <a:cs typeface="Arial MT"/>
              </a:rPr>
              <a:t> </a:t>
            </a:r>
            <a:r>
              <a:rPr lang="en-GB" sz="2400" spc="-14" dirty="0">
                <a:solidFill>
                  <a:srgbClr val="080912"/>
                </a:solidFill>
                <a:latin typeface="Arial MT"/>
                <a:cs typeface="Arial MT"/>
              </a:rPr>
              <a:t>backpropagation</a:t>
            </a:r>
            <a:r>
              <a:rPr lang="en-GB" sz="2400" spc="-27" dirty="0">
                <a:solidFill>
                  <a:srgbClr val="080912"/>
                </a:solidFill>
                <a:latin typeface="Arial MT"/>
                <a:cs typeface="Arial MT"/>
              </a:rPr>
              <a:t> </a:t>
            </a:r>
            <a:r>
              <a:rPr lang="en-GB" sz="2400" spc="-10" dirty="0">
                <a:solidFill>
                  <a:srgbClr val="080912"/>
                </a:solidFill>
                <a:latin typeface="Arial MT"/>
                <a:cs typeface="Arial MT"/>
              </a:rPr>
              <a:t>while</a:t>
            </a:r>
            <a:r>
              <a:rPr lang="en-GB" sz="2400" spc="-24" dirty="0">
                <a:solidFill>
                  <a:srgbClr val="080912"/>
                </a:solidFill>
                <a:latin typeface="Arial MT"/>
                <a:cs typeface="Arial MT"/>
              </a:rPr>
              <a:t> </a:t>
            </a:r>
            <a:r>
              <a:rPr lang="en-GB" sz="2400" spc="-14" dirty="0">
                <a:solidFill>
                  <a:srgbClr val="080912"/>
                </a:solidFill>
                <a:latin typeface="Arial MT"/>
                <a:cs typeface="Arial MT"/>
              </a:rPr>
              <a:t>simultaneously</a:t>
            </a:r>
            <a:r>
              <a:rPr lang="en-GB" sz="2400" spc="-24" dirty="0">
                <a:solidFill>
                  <a:srgbClr val="080912"/>
                </a:solidFill>
                <a:latin typeface="Arial MT"/>
                <a:cs typeface="Arial MT"/>
              </a:rPr>
              <a:t> </a:t>
            </a:r>
            <a:r>
              <a:rPr lang="en-GB" sz="2400" spc="-10" dirty="0">
                <a:solidFill>
                  <a:srgbClr val="080912"/>
                </a:solidFill>
                <a:latin typeface="Arial MT"/>
                <a:cs typeface="Arial MT"/>
              </a:rPr>
              <a:t>making</a:t>
            </a:r>
            <a:r>
              <a:rPr lang="en-GB" sz="2400" spc="-17" dirty="0">
                <a:solidFill>
                  <a:srgbClr val="080912"/>
                </a:solidFill>
                <a:latin typeface="Arial MT"/>
                <a:cs typeface="Arial MT"/>
              </a:rPr>
              <a:t> </a:t>
            </a:r>
            <a:r>
              <a:rPr lang="en-GB" sz="2400" spc="-7" dirty="0">
                <a:solidFill>
                  <a:srgbClr val="080912"/>
                </a:solidFill>
                <a:latin typeface="Arial MT"/>
                <a:cs typeface="Arial MT"/>
              </a:rPr>
              <a:t>it</a:t>
            </a:r>
            <a:r>
              <a:rPr lang="en-GB" sz="2400" spc="-31" dirty="0">
                <a:solidFill>
                  <a:srgbClr val="080912"/>
                </a:solidFill>
                <a:latin typeface="Arial MT"/>
                <a:cs typeface="Arial MT"/>
              </a:rPr>
              <a:t> </a:t>
            </a:r>
            <a:r>
              <a:rPr lang="en-GB" sz="2400" spc="-10" dirty="0">
                <a:solidFill>
                  <a:srgbClr val="080912"/>
                </a:solidFill>
                <a:latin typeface="Arial MT"/>
                <a:cs typeface="Arial MT"/>
              </a:rPr>
              <a:t>computationally</a:t>
            </a:r>
            <a:r>
              <a:rPr lang="en-GB" sz="2400" spc="-14" dirty="0">
                <a:solidFill>
                  <a:srgbClr val="080912"/>
                </a:solidFill>
                <a:latin typeface="Arial MT"/>
                <a:cs typeface="Arial MT"/>
              </a:rPr>
              <a:t> </a:t>
            </a:r>
            <a:r>
              <a:rPr lang="en-GB" sz="2400" spc="-10" dirty="0">
                <a:solidFill>
                  <a:srgbClr val="080912"/>
                </a:solidFill>
                <a:latin typeface="Arial MT"/>
                <a:cs typeface="Arial MT"/>
              </a:rPr>
              <a:t>efficient.</a:t>
            </a:r>
            <a:endParaRPr lang="en-GB" sz="2400" dirty="0">
              <a:latin typeface="Arial MT"/>
              <a:cs typeface="Arial MT"/>
            </a:endParaRPr>
          </a:p>
          <a:p>
            <a:pPr marL="8659" marR="4329">
              <a:lnSpc>
                <a:spcPct val="143700"/>
              </a:lnSpc>
              <a:spcBef>
                <a:spcPts val="402"/>
              </a:spcBef>
            </a:pPr>
            <a:r>
              <a:rPr lang="en-GB" sz="2400" spc="-7" dirty="0">
                <a:solidFill>
                  <a:srgbClr val="080912"/>
                </a:solidFill>
                <a:latin typeface="Arial MT"/>
                <a:cs typeface="Arial MT"/>
              </a:rPr>
              <a:t>The</a:t>
            </a:r>
            <a:r>
              <a:rPr lang="en-GB" sz="2400" spc="10" dirty="0">
                <a:solidFill>
                  <a:srgbClr val="080912"/>
                </a:solidFill>
                <a:latin typeface="Arial MT"/>
                <a:cs typeface="Arial MT"/>
              </a:rPr>
              <a:t> </a:t>
            </a:r>
            <a:r>
              <a:rPr lang="en-GB" sz="2400" spc="-10" dirty="0">
                <a:solidFill>
                  <a:srgbClr val="080912"/>
                </a:solidFill>
                <a:latin typeface="Arial MT"/>
                <a:cs typeface="Arial MT"/>
              </a:rPr>
              <a:t>main</a:t>
            </a:r>
            <a:r>
              <a:rPr lang="en-GB" sz="2400" dirty="0">
                <a:solidFill>
                  <a:srgbClr val="080912"/>
                </a:solidFill>
                <a:latin typeface="Arial MT"/>
                <a:cs typeface="Arial MT"/>
              </a:rPr>
              <a:t> </a:t>
            </a:r>
            <a:r>
              <a:rPr lang="en-GB" sz="2400" spc="-10" dirty="0">
                <a:solidFill>
                  <a:srgbClr val="080912"/>
                </a:solidFill>
                <a:latin typeface="Arial MT"/>
                <a:cs typeface="Arial MT"/>
              </a:rPr>
              <a:t>catch</a:t>
            </a:r>
            <a:r>
              <a:rPr lang="en-GB" sz="2400" spc="10" dirty="0">
                <a:solidFill>
                  <a:srgbClr val="080912"/>
                </a:solidFill>
                <a:latin typeface="Arial MT"/>
                <a:cs typeface="Arial MT"/>
              </a:rPr>
              <a:t> </a:t>
            </a:r>
            <a:r>
              <a:rPr lang="en-GB" sz="2400" spc="-10" dirty="0">
                <a:solidFill>
                  <a:srgbClr val="080912"/>
                </a:solidFill>
                <a:latin typeface="Arial MT"/>
                <a:cs typeface="Arial MT"/>
              </a:rPr>
              <a:t>here</a:t>
            </a:r>
            <a:r>
              <a:rPr lang="en-GB" sz="2400" dirty="0">
                <a:solidFill>
                  <a:srgbClr val="080912"/>
                </a:solidFill>
                <a:latin typeface="Arial MT"/>
                <a:cs typeface="Arial MT"/>
              </a:rPr>
              <a:t> </a:t>
            </a:r>
            <a:r>
              <a:rPr lang="en-GB" sz="2400" spc="-7" dirty="0">
                <a:solidFill>
                  <a:srgbClr val="080912"/>
                </a:solidFill>
                <a:latin typeface="Arial MT"/>
                <a:cs typeface="Arial MT"/>
              </a:rPr>
              <a:t>is</a:t>
            </a:r>
            <a:r>
              <a:rPr lang="en-GB" sz="2400" spc="10" dirty="0">
                <a:solidFill>
                  <a:srgbClr val="080912"/>
                </a:solidFill>
                <a:latin typeface="Arial MT"/>
                <a:cs typeface="Arial MT"/>
              </a:rPr>
              <a:t> </a:t>
            </a:r>
            <a:r>
              <a:rPr lang="en-GB" sz="2400" spc="-10" dirty="0">
                <a:solidFill>
                  <a:srgbClr val="080912"/>
                </a:solidFill>
                <a:latin typeface="Arial MT"/>
                <a:cs typeface="Arial MT"/>
              </a:rPr>
              <a:t>that</a:t>
            </a:r>
            <a:r>
              <a:rPr lang="en-GB" sz="2400" spc="7" dirty="0">
                <a:solidFill>
                  <a:srgbClr val="080912"/>
                </a:solidFill>
                <a:latin typeface="Arial MT"/>
                <a:cs typeface="Arial MT"/>
              </a:rPr>
              <a:t> </a:t>
            </a:r>
            <a:r>
              <a:rPr lang="en-GB" sz="2400" spc="-10" dirty="0">
                <a:solidFill>
                  <a:srgbClr val="080912"/>
                </a:solidFill>
                <a:latin typeface="Arial MT"/>
                <a:cs typeface="Arial MT"/>
              </a:rPr>
              <a:t>the</a:t>
            </a:r>
            <a:r>
              <a:rPr lang="en-GB" sz="2400" dirty="0">
                <a:solidFill>
                  <a:srgbClr val="080912"/>
                </a:solidFill>
                <a:latin typeface="Arial MT"/>
                <a:cs typeface="Arial MT"/>
              </a:rPr>
              <a:t>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a:t>
            </a:r>
            <a:r>
              <a:rPr lang="en-GB" sz="2400" spc="-10" dirty="0">
                <a:solidFill>
                  <a:srgbClr val="080912"/>
                </a:solidFill>
                <a:latin typeface="Arial MT"/>
                <a:cs typeface="Arial MT"/>
              </a:rPr>
              <a:t>function</a:t>
            </a:r>
            <a:r>
              <a:rPr lang="en-GB" sz="2400" spc="10" dirty="0">
                <a:solidFill>
                  <a:srgbClr val="080912"/>
                </a:solidFill>
                <a:latin typeface="Arial MT"/>
                <a:cs typeface="Arial MT"/>
              </a:rPr>
              <a:t> </a:t>
            </a:r>
            <a:r>
              <a:rPr lang="en-GB" sz="2400" spc="-10" dirty="0">
                <a:solidFill>
                  <a:srgbClr val="080912"/>
                </a:solidFill>
                <a:latin typeface="Arial MT"/>
                <a:cs typeface="Arial MT"/>
              </a:rPr>
              <a:t>does</a:t>
            </a:r>
            <a:r>
              <a:rPr lang="en-GB" sz="2400" spc="3" dirty="0">
                <a:solidFill>
                  <a:srgbClr val="080912"/>
                </a:solidFill>
                <a:latin typeface="Arial MT"/>
                <a:cs typeface="Arial MT"/>
              </a:rPr>
              <a:t> </a:t>
            </a:r>
            <a:r>
              <a:rPr lang="en-GB" sz="2400" spc="-7" dirty="0">
                <a:solidFill>
                  <a:srgbClr val="080912"/>
                </a:solidFill>
                <a:latin typeface="Arial MT"/>
                <a:cs typeface="Arial MT"/>
              </a:rPr>
              <a:t>not</a:t>
            </a:r>
            <a:r>
              <a:rPr lang="en-GB" sz="2400" spc="3" dirty="0">
                <a:solidFill>
                  <a:srgbClr val="080912"/>
                </a:solidFill>
                <a:latin typeface="Arial MT"/>
                <a:cs typeface="Arial MT"/>
              </a:rPr>
              <a:t> </a:t>
            </a:r>
            <a:r>
              <a:rPr lang="en-GB" sz="2400" spc="-14" dirty="0">
                <a:solidFill>
                  <a:srgbClr val="080912"/>
                </a:solidFill>
                <a:latin typeface="Arial MT"/>
                <a:cs typeface="Arial MT"/>
              </a:rPr>
              <a:t>activate</a:t>
            </a:r>
            <a:r>
              <a:rPr lang="en-GB" sz="2400" spc="14" dirty="0">
                <a:solidFill>
                  <a:srgbClr val="080912"/>
                </a:solidFill>
                <a:latin typeface="Arial MT"/>
                <a:cs typeface="Arial MT"/>
              </a:rPr>
              <a:t> </a:t>
            </a:r>
            <a:r>
              <a:rPr lang="en-GB" sz="2400" spc="-7" dirty="0">
                <a:solidFill>
                  <a:srgbClr val="080912"/>
                </a:solidFill>
                <a:latin typeface="Arial MT"/>
                <a:cs typeface="Arial MT"/>
              </a:rPr>
              <a:t>all</a:t>
            </a:r>
            <a:r>
              <a:rPr lang="en-GB" sz="2400" spc="7" dirty="0">
                <a:solidFill>
                  <a:srgbClr val="080912"/>
                </a:solidFill>
                <a:latin typeface="Arial MT"/>
                <a:cs typeface="Arial MT"/>
              </a:rPr>
              <a:t> </a:t>
            </a:r>
            <a:r>
              <a:rPr lang="en-GB" sz="2400" spc="-10" dirty="0">
                <a:solidFill>
                  <a:srgbClr val="080912"/>
                </a:solidFill>
                <a:latin typeface="Arial MT"/>
                <a:cs typeface="Arial MT"/>
              </a:rPr>
              <a:t>the</a:t>
            </a:r>
            <a:r>
              <a:rPr lang="en-GB" sz="2400" spc="10" dirty="0">
                <a:solidFill>
                  <a:srgbClr val="080912"/>
                </a:solidFill>
                <a:latin typeface="Arial MT"/>
                <a:cs typeface="Arial MT"/>
              </a:rPr>
              <a:t> </a:t>
            </a:r>
            <a:r>
              <a:rPr lang="en-GB" sz="2400" spc="-14" dirty="0">
                <a:solidFill>
                  <a:srgbClr val="080912"/>
                </a:solidFill>
                <a:latin typeface="Arial MT"/>
                <a:cs typeface="Arial MT"/>
              </a:rPr>
              <a:t>neurons</a:t>
            </a:r>
            <a:r>
              <a:rPr lang="en-GB" sz="2400" spc="10" dirty="0">
                <a:solidFill>
                  <a:srgbClr val="080912"/>
                </a:solidFill>
                <a:latin typeface="Arial MT"/>
                <a:cs typeface="Arial MT"/>
              </a:rPr>
              <a:t> </a:t>
            </a:r>
            <a:r>
              <a:rPr lang="en-GB" sz="2400" spc="-3" dirty="0">
                <a:solidFill>
                  <a:srgbClr val="080912"/>
                </a:solidFill>
                <a:latin typeface="Arial MT"/>
                <a:cs typeface="Arial MT"/>
              </a:rPr>
              <a:t>at</a:t>
            </a:r>
            <a:r>
              <a:rPr lang="en-GB" sz="2400" spc="-7" dirty="0">
                <a:solidFill>
                  <a:srgbClr val="080912"/>
                </a:solidFill>
                <a:latin typeface="Arial MT"/>
                <a:cs typeface="Arial MT"/>
              </a:rPr>
              <a:t> the</a:t>
            </a:r>
            <a:r>
              <a:rPr lang="en-GB" sz="2400" spc="3" dirty="0">
                <a:solidFill>
                  <a:srgbClr val="080912"/>
                </a:solidFill>
                <a:latin typeface="Arial MT"/>
                <a:cs typeface="Arial MT"/>
              </a:rPr>
              <a:t> </a:t>
            </a:r>
            <a:r>
              <a:rPr lang="en-GB" sz="2400" spc="-10" dirty="0">
                <a:solidFill>
                  <a:srgbClr val="080912"/>
                </a:solidFill>
                <a:latin typeface="Arial MT"/>
                <a:cs typeface="Arial MT"/>
              </a:rPr>
              <a:t>same </a:t>
            </a:r>
            <a:r>
              <a:rPr lang="en-GB" sz="2400" spc="-245" dirty="0">
                <a:solidFill>
                  <a:srgbClr val="080912"/>
                </a:solidFill>
                <a:latin typeface="Arial MT"/>
                <a:cs typeface="Arial MT"/>
              </a:rPr>
              <a:t> </a:t>
            </a:r>
            <a:r>
              <a:rPr lang="en-GB" sz="2400" spc="-7" dirty="0">
                <a:solidFill>
                  <a:srgbClr val="080912"/>
                </a:solidFill>
                <a:latin typeface="Arial MT"/>
                <a:cs typeface="Arial MT"/>
              </a:rPr>
              <a:t>time.</a:t>
            </a:r>
            <a:endParaRPr lang="en-GB" sz="2400" dirty="0">
              <a:latin typeface="Arial MT"/>
              <a:cs typeface="Arial MT"/>
            </a:endParaRPr>
          </a:p>
          <a:p>
            <a:pPr marL="8659">
              <a:spcBef>
                <a:spcPts val="893"/>
              </a:spcBef>
            </a:pPr>
            <a:r>
              <a:rPr lang="en-GB" sz="2400" spc="-7"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neurons</a:t>
            </a:r>
            <a:r>
              <a:rPr lang="en-GB" sz="2400" spc="-17" dirty="0">
                <a:solidFill>
                  <a:srgbClr val="080912"/>
                </a:solidFill>
                <a:latin typeface="Arial MT"/>
                <a:cs typeface="Arial MT"/>
              </a:rPr>
              <a:t> </a:t>
            </a:r>
            <a:r>
              <a:rPr lang="en-GB" sz="2400" spc="-10" dirty="0">
                <a:solidFill>
                  <a:srgbClr val="080912"/>
                </a:solidFill>
                <a:latin typeface="Arial MT"/>
                <a:cs typeface="Arial MT"/>
              </a:rPr>
              <a:t>will</a:t>
            </a:r>
            <a:r>
              <a:rPr lang="en-GB" sz="2400" spc="-17" dirty="0">
                <a:solidFill>
                  <a:srgbClr val="080912"/>
                </a:solidFill>
                <a:latin typeface="Arial MT"/>
                <a:cs typeface="Arial MT"/>
              </a:rPr>
              <a:t> </a:t>
            </a:r>
            <a:r>
              <a:rPr lang="en-GB" sz="2400" spc="-10" dirty="0">
                <a:solidFill>
                  <a:srgbClr val="080912"/>
                </a:solidFill>
                <a:latin typeface="Arial MT"/>
                <a:cs typeface="Arial MT"/>
              </a:rPr>
              <a:t>only</a:t>
            </a:r>
            <a:r>
              <a:rPr lang="en-GB" sz="2400" spc="-17" dirty="0">
                <a:solidFill>
                  <a:srgbClr val="080912"/>
                </a:solidFill>
                <a:latin typeface="Arial MT"/>
                <a:cs typeface="Arial MT"/>
              </a:rPr>
              <a:t> </a:t>
            </a:r>
            <a:r>
              <a:rPr lang="en-GB" sz="2400" spc="-3" dirty="0">
                <a:solidFill>
                  <a:srgbClr val="080912"/>
                </a:solidFill>
                <a:latin typeface="Arial MT"/>
                <a:cs typeface="Arial MT"/>
              </a:rPr>
              <a:t>be</a:t>
            </a:r>
            <a:r>
              <a:rPr lang="en-GB" sz="2400" spc="-20" dirty="0">
                <a:solidFill>
                  <a:srgbClr val="080912"/>
                </a:solidFill>
                <a:latin typeface="Arial MT"/>
                <a:cs typeface="Arial MT"/>
              </a:rPr>
              <a:t> </a:t>
            </a:r>
            <a:r>
              <a:rPr lang="en-GB" sz="2400" spc="-14" dirty="0">
                <a:solidFill>
                  <a:srgbClr val="080912"/>
                </a:solidFill>
                <a:latin typeface="Arial MT"/>
                <a:cs typeface="Arial MT"/>
              </a:rPr>
              <a:t>deactivated</a:t>
            </a:r>
            <a:r>
              <a:rPr lang="en-GB" sz="2400" spc="-17" dirty="0">
                <a:solidFill>
                  <a:srgbClr val="080912"/>
                </a:solidFill>
                <a:latin typeface="Arial MT"/>
                <a:cs typeface="Arial MT"/>
              </a:rPr>
              <a:t> </a:t>
            </a:r>
            <a:r>
              <a:rPr lang="en-GB" sz="2400" spc="-7" dirty="0">
                <a:solidFill>
                  <a:srgbClr val="080912"/>
                </a:solidFill>
                <a:latin typeface="Arial MT"/>
                <a:cs typeface="Arial MT"/>
              </a:rPr>
              <a:t>if</a:t>
            </a:r>
            <a:r>
              <a:rPr lang="en-GB" sz="2400" spc="-17" dirty="0">
                <a:solidFill>
                  <a:srgbClr val="080912"/>
                </a:solidFill>
                <a:latin typeface="Arial MT"/>
                <a:cs typeface="Arial MT"/>
              </a:rPr>
              <a:t> </a:t>
            </a:r>
            <a:r>
              <a:rPr lang="en-GB" sz="2400" spc="-14" dirty="0">
                <a:solidFill>
                  <a:srgbClr val="080912"/>
                </a:solidFill>
                <a:latin typeface="Arial MT"/>
                <a:cs typeface="Arial MT"/>
              </a:rPr>
              <a:t>the </a:t>
            </a:r>
            <a:r>
              <a:rPr lang="en-GB" sz="2400" spc="-10" dirty="0">
                <a:solidFill>
                  <a:srgbClr val="080912"/>
                </a:solidFill>
                <a:latin typeface="Arial MT"/>
                <a:cs typeface="Arial MT"/>
              </a:rPr>
              <a:t>output</a:t>
            </a:r>
            <a:r>
              <a:rPr lang="en-GB" sz="2400" spc="-27" dirty="0">
                <a:solidFill>
                  <a:srgbClr val="080912"/>
                </a:solidFill>
                <a:latin typeface="Arial MT"/>
                <a:cs typeface="Arial MT"/>
              </a:rPr>
              <a:t> </a:t>
            </a:r>
            <a:r>
              <a:rPr lang="en-GB" sz="2400" spc="-3" dirty="0">
                <a:solidFill>
                  <a:srgbClr val="080912"/>
                </a:solidFill>
                <a:latin typeface="Arial MT"/>
                <a:cs typeface="Arial MT"/>
              </a:rPr>
              <a:t>of</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linear</a:t>
            </a:r>
            <a:r>
              <a:rPr lang="en-GB" sz="2400" spc="-17" dirty="0">
                <a:solidFill>
                  <a:srgbClr val="080912"/>
                </a:solidFill>
                <a:latin typeface="Arial MT"/>
                <a:cs typeface="Arial MT"/>
              </a:rPr>
              <a:t> </a:t>
            </a:r>
            <a:r>
              <a:rPr lang="en-GB" sz="2400" spc="-14" dirty="0">
                <a:solidFill>
                  <a:srgbClr val="080912"/>
                </a:solidFill>
                <a:latin typeface="Arial MT"/>
                <a:cs typeface="Arial MT"/>
              </a:rPr>
              <a:t>transformation</a:t>
            </a:r>
            <a:r>
              <a:rPr lang="en-GB" sz="2400" spc="-20" dirty="0">
                <a:solidFill>
                  <a:srgbClr val="080912"/>
                </a:solidFill>
                <a:latin typeface="Arial MT"/>
                <a:cs typeface="Arial MT"/>
              </a:rPr>
              <a:t> </a:t>
            </a:r>
            <a:r>
              <a:rPr lang="en-GB" sz="2400" spc="-10" dirty="0">
                <a:solidFill>
                  <a:srgbClr val="080912"/>
                </a:solidFill>
                <a:latin typeface="Arial MT"/>
                <a:cs typeface="Arial MT"/>
              </a:rPr>
              <a:t>is</a:t>
            </a:r>
            <a:r>
              <a:rPr lang="en-GB" sz="2400" spc="-14" dirty="0">
                <a:solidFill>
                  <a:srgbClr val="080912"/>
                </a:solidFill>
                <a:latin typeface="Arial MT"/>
                <a:cs typeface="Arial MT"/>
              </a:rPr>
              <a:t> </a:t>
            </a:r>
            <a:r>
              <a:rPr lang="en-GB" sz="2400" spc="-10" dirty="0">
                <a:solidFill>
                  <a:srgbClr val="080912"/>
                </a:solidFill>
                <a:latin typeface="Arial MT"/>
                <a:cs typeface="Arial MT"/>
              </a:rPr>
              <a:t>less than</a:t>
            </a:r>
            <a:r>
              <a:rPr lang="en-GB" sz="2400" spc="-20" dirty="0">
                <a:solidFill>
                  <a:srgbClr val="080912"/>
                </a:solidFill>
                <a:latin typeface="Arial MT"/>
                <a:cs typeface="Arial MT"/>
              </a:rPr>
              <a:t> </a:t>
            </a:r>
            <a:r>
              <a:rPr lang="en-GB" sz="2400" spc="-3" dirty="0">
                <a:solidFill>
                  <a:srgbClr val="080912"/>
                </a:solidFill>
                <a:latin typeface="Arial MT"/>
                <a:cs typeface="Arial MT"/>
              </a:rPr>
              <a:t>0.</a:t>
            </a:r>
          </a:p>
          <a:p>
            <a:pPr marL="8659">
              <a:spcBef>
                <a:spcPts val="893"/>
              </a:spcBef>
            </a:pPr>
            <a:endParaRPr lang="en-GB" sz="2400" spc="-3" dirty="0">
              <a:solidFill>
                <a:srgbClr val="080912"/>
              </a:solidFill>
              <a:latin typeface="Arial MT"/>
              <a:cs typeface="Arial MT"/>
            </a:endParaRPr>
          </a:p>
          <a:p>
            <a:pPr marL="8659">
              <a:spcBef>
                <a:spcPts val="72"/>
              </a:spcBef>
            </a:pPr>
            <a:r>
              <a:rPr lang="en-GB" sz="2400" spc="-7" dirty="0">
                <a:solidFill>
                  <a:srgbClr val="080912"/>
                </a:solidFill>
                <a:latin typeface="Arial MT"/>
                <a:cs typeface="Arial MT"/>
              </a:rPr>
              <a:t>The</a:t>
            </a:r>
            <a:r>
              <a:rPr lang="en-GB" sz="2400" spc="-27" dirty="0">
                <a:solidFill>
                  <a:srgbClr val="080912"/>
                </a:solidFill>
                <a:latin typeface="Arial MT"/>
                <a:cs typeface="Arial MT"/>
              </a:rPr>
              <a:t> </a:t>
            </a:r>
            <a:r>
              <a:rPr lang="en-GB" sz="2400" spc="-14" dirty="0">
                <a:solidFill>
                  <a:srgbClr val="080912"/>
                </a:solidFill>
                <a:latin typeface="Arial MT"/>
                <a:cs typeface="Arial MT"/>
              </a:rPr>
              <a:t>advantages</a:t>
            </a:r>
            <a:r>
              <a:rPr lang="en-GB" sz="2400" spc="-17" dirty="0">
                <a:solidFill>
                  <a:srgbClr val="080912"/>
                </a:solidFill>
                <a:latin typeface="Arial MT"/>
                <a:cs typeface="Arial MT"/>
              </a:rPr>
              <a:t> </a:t>
            </a:r>
            <a:r>
              <a:rPr lang="en-GB" sz="2400" spc="-3" dirty="0">
                <a:solidFill>
                  <a:srgbClr val="080912"/>
                </a:solidFill>
                <a:latin typeface="Arial MT"/>
                <a:cs typeface="Arial MT"/>
              </a:rPr>
              <a:t>of</a:t>
            </a:r>
            <a:r>
              <a:rPr lang="en-GB" sz="2400" spc="-27" dirty="0">
                <a:solidFill>
                  <a:srgbClr val="080912"/>
                </a:solidFill>
                <a:latin typeface="Arial MT"/>
                <a:cs typeface="Arial MT"/>
              </a:rPr>
              <a:t> </a:t>
            </a:r>
            <a:r>
              <a:rPr lang="en-GB" sz="2400" spc="-10" dirty="0">
                <a:solidFill>
                  <a:srgbClr val="080912"/>
                </a:solidFill>
                <a:latin typeface="Arial MT"/>
                <a:cs typeface="Arial MT"/>
              </a:rPr>
              <a:t>using</a:t>
            </a:r>
            <a:r>
              <a:rPr lang="en-GB" sz="2400" spc="-27" dirty="0">
                <a:solidFill>
                  <a:srgbClr val="080912"/>
                </a:solidFill>
                <a:latin typeface="Arial MT"/>
                <a:cs typeface="Arial MT"/>
              </a:rPr>
              <a:t> </a:t>
            </a:r>
            <a:r>
              <a:rPr lang="en-GB" sz="2400" spc="-10" dirty="0" err="1">
                <a:solidFill>
                  <a:srgbClr val="080912"/>
                </a:solidFill>
                <a:latin typeface="Arial MT"/>
                <a:cs typeface="Arial MT"/>
              </a:rPr>
              <a:t>ReLU</a:t>
            </a:r>
            <a:r>
              <a:rPr lang="en-GB" sz="2400" spc="-24" dirty="0">
                <a:solidFill>
                  <a:srgbClr val="080912"/>
                </a:solidFill>
                <a:latin typeface="Arial MT"/>
                <a:cs typeface="Arial MT"/>
              </a:rPr>
              <a:t> </a:t>
            </a:r>
            <a:r>
              <a:rPr lang="en-GB" sz="2400" spc="-7" dirty="0">
                <a:solidFill>
                  <a:srgbClr val="080912"/>
                </a:solidFill>
                <a:latin typeface="Arial MT"/>
                <a:cs typeface="Arial MT"/>
              </a:rPr>
              <a:t>as</a:t>
            </a:r>
            <a:r>
              <a:rPr lang="en-GB" sz="2400" spc="-14" dirty="0">
                <a:solidFill>
                  <a:srgbClr val="080912"/>
                </a:solidFill>
                <a:latin typeface="Arial MT"/>
                <a:cs typeface="Arial MT"/>
              </a:rPr>
              <a:t> </a:t>
            </a:r>
            <a:r>
              <a:rPr lang="en-GB" sz="2400" spc="-7" dirty="0">
                <a:solidFill>
                  <a:srgbClr val="080912"/>
                </a:solidFill>
                <a:latin typeface="Arial MT"/>
                <a:cs typeface="Arial MT"/>
              </a:rPr>
              <a:t>an</a:t>
            </a:r>
            <a:r>
              <a:rPr lang="en-GB" sz="2400" spc="-27"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1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7" dirty="0">
                <a:solidFill>
                  <a:srgbClr val="080912"/>
                </a:solidFill>
                <a:latin typeface="Arial MT"/>
                <a:cs typeface="Arial MT"/>
              </a:rPr>
              <a:t> </a:t>
            </a:r>
            <a:r>
              <a:rPr lang="en-GB" sz="2400" spc="-7" dirty="0">
                <a:solidFill>
                  <a:srgbClr val="080912"/>
                </a:solidFill>
                <a:latin typeface="Arial MT"/>
                <a:cs typeface="Arial MT"/>
              </a:rPr>
              <a:t>are</a:t>
            </a:r>
            <a:r>
              <a:rPr lang="en-GB" sz="2400" spc="-27" dirty="0">
                <a:solidFill>
                  <a:srgbClr val="080912"/>
                </a:solidFill>
                <a:latin typeface="Arial MT"/>
                <a:cs typeface="Arial MT"/>
              </a:rPr>
              <a:t> </a:t>
            </a:r>
            <a:r>
              <a:rPr lang="en-GB" sz="2400" spc="-7" dirty="0">
                <a:solidFill>
                  <a:srgbClr val="080912"/>
                </a:solidFill>
                <a:latin typeface="Arial MT"/>
                <a:cs typeface="Arial MT"/>
              </a:rPr>
              <a:t>as</a:t>
            </a:r>
            <a:r>
              <a:rPr lang="en-GB" sz="2400" spc="-14" dirty="0">
                <a:solidFill>
                  <a:srgbClr val="080912"/>
                </a:solidFill>
                <a:latin typeface="Arial MT"/>
                <a:cs typeface="Arial MT"/>
              </a:rPr>
              <a:t> </a:t>
            </a:r>
            <a:r>
              <a:rPr lang="en-GB" sz="2400" spc="-10" dirty="0">
                <a:solidFill>
                  <a:srgbClr val="080912"/>
                </a:solidFill>
                <a:latin typeface="Arial MT"/>
                <a:cs typeface="Arial MT"/>
              </a:rPr>
              <a:t>follows:</a:t>
            </a:r>
            <a:endParaRPr lang="en-GB" sz="2400" dirty="0">
              <a:latin typeface="Arial MT"/>
              <a:cs typeface="Arial MT"/>
            </a:endParaRPr>
          </a:p>
          <a:p>
            <a:pPr marL="320378" marR="19482" indent="-156292">
              <a:lnSpc>
                <a:spcPct val="116300"/>
              </a:lnSpc>
              <a:spcBef>
                <a:spcPts val="508"/>
              </a:spcBef>
              <a:buSzPct val="74074"/>
              <a:buFont typeface="Symbol"/>
              <a:buChar char=""/>
              <a:tabLst>
                <a:tab pos="320378" algn="l"/>
                <a:tab pos="320810" algn="l"/>
              </a:tabLst>
            </a:pPr>
            <a:r>
              <a:rPr lang="en-GB" sz="2400" spc="-3" dirty="0">
                <a:solidFill>
                  <a:srgbClr val="080912"/>
                </a:solidFill>
                <a:latin typeface="Arial MT"/>
                <a:cs typeface="Arial MT"/>
              </a:rPr>
              <a:t>Since</a:t>
            </a:r>
            <a:r>
              <a:rPr lang="en-GB" sz="2400" spc="7" dirty="0">
                <a:solidFill>
                  <a:srgbClr val="080912"/>
                </a:solidFill>
                <a:latin typeface="Arial MT"/>
                <a:cs typeface="Arial MT"/>
              </a:rPr>
              <a:t> </a:t>
            </a:r>
            <a:r>
              <a:rPr lang="en-GB" sz="2400" spc="-3" dirty="0">
                <a:solidFill>
                  <a:srgbClr val="080912"/>
                </a:solidFill>
                <a:latin typeface="Arial MT"/>
                <a:cs typeface="Arial MT"/>
              </a:rPr>
              <a:t>only</a:t>
            </a:r>
            <a:r>
              <a:rPr lang="en-GB" sz="2400" spc="7" dirty="0">
                <a:solidFill>
                  <a:srgbClr val="080912"/>
                </a:solidFill>
                <a:latin typeface="Arial MT"/>
                <a:cs typeface="Arial MT"/>
              </a:rPr>
              <a:t> </a:t>
            </a:r>
            <a:r>
              <a:rPr lang="en-GB" sz="2400" dirty="0">
                <a:solidFill>
                  <a:srgbClr val="080912"/>
                </a:solidFill>
                <a:latin typeface="Arial MT"/>
                <a:cs typeface="Arial MT"/>
              </a:rPr>
              <a:t>a</a:t>
            </a:r>
            <a:r>
              <a:rPr lang="en-GB" sz="2400" spc="-3" dirty="0">
                <a:solidFill>
                  <a:srgbClr val="080912"/>
                </a:solidFill>
                <a:latin typeface="Arial MT"/>
                <a:cs typeface="Arial MT"/>
              </a:rPr>
              <a:t> certain number</a:t>
            </a:r>
            <a:r>
              <a:rPr lang="en-GB" sz="2400" spc="7" dirty="0">
                <a:solidFill>
                  <a:srgbClr val="080912"/>
                </a:solidFill>
                <a:latin typeface="Arial MT"/>
                <a:cs typeface="Arial MT"/>
              </a:rPr>
              <a:t> </a:t>
            </a:r>
            <a:r>
              <a:rPr lang="en-GB" sz="2400" dirty="0">
                <a:solidFill>
                  <a:srgbClr val="080912"/>
                </a:solidFill>
                <a:latin typeface="Arial MT"/>
                <a:cs typeface="Arial MT"/>
              </a:rPr>
              <a:t>of </a:t>
            </a:r>
            <a:r>
              <a:rPr lang="en-GB" sz="2400" spc="-3" dirty="0">
                <a:solidFill>
                  <a:srgbClr val="080912"/>
                </a:solidFill>
                <a:latin typeface="Arial MT"/>
                <a:cs typeface="Arial MT"/>
              </a:rPr>
              <a:t>neurons</a:t>
            </a:r>
            <a:r>
              <a:rPr lang="en-GB" sz="2400" spc="7" dirty="0">
                <a:solidFill>
                  <a:srgbClr val="080912"/>
                </a:solidFill>
                <a:latin typeface="Arial MT"/>
                <a:cs typeface="Arial MT"/>
              </a:rPr>
              <a:t> </a:t>
            </a:r>
            <a:r>
              <a:rPr lang="en-GB" sz="2400" dirty="0">
                <a:solidFill>
                  <a:srgbClr val="080912"/>
                </a:solidFill>
                <a:latin typeface="Arial MT"/>
                <a:cs typeface="Arial MT"/>
              </a:rPr>
              <a:t>are</a:t>
            </a:r>
            <a:r>
              <a:rPr lang="en-GB" sz="2400" spc="-3" dirty="0">
                <a:solidFill>
                  <a:srgbClr val="080912"/>
                </a:solidFill>
                <a:latin typeface="Arial MT"/>
                <a:cs typeface="Arial MT"/>
              </a:rPr>
              <a:t> activated,</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err="1">
                <a:solidFill>
                  <a:srgbClr val="080912"/>
                </a:solidFill>
                <a:latin typeface="Arial MT"/>
                <a:cs typeface="Arial MT"/>
              </a:rPr>
              <a:t>ReLU</a:t>
            </a:r>
            <a:r>
              <a:rPr lang="en-GB" sz="2400" spc="7" dirty="0">
                <a:solidFill>
                  <a:srgbClr val="080912"/>
                </a:solidFill>
                <a:latin typeface="Arial MT"/>
                <a:cs typeface="Arial MT"/>
              </a:rPr>
              <a:t> </a:t>
            </a:r>
            <a:r>
              <a:rPr lang="en-GB" sz="2400" spc="-3" dirty="0">
                <a:solidFill>
                  <a:srgbClr val="080912"/>
                </a:solidFill>
                <a:latin typeface="Arial MT"/>
                <a:cs typeface="Arial MT"/>
              </a:rPr>
              <a:t>function</a:t>
            </a:r>
            <a:r>
              <a:rPr lang="en-GB" sz="2400" spc="10" dirty="0">
                <a:solidFill>
                  <a:srgbClr val="080912"/>
                </a:solidFill>
                <a:latin typeface="Arial MT"/>
                <a:cs typeface="Arial MT"/>
              </a:rPr>
              <a:t> </a:t>
            </a:r>
            <a:r>
              <a:rPr lang="en-GB" sz="2400" spc="-7" dirty="0">
                <a:solidFill>
                  <a:srgbClr val="080912"/>
                </a:solidFill>
                <a:latin typeface="Arial MT"/>
                <a:cs typeface="Arial MT"/>
              </a:rPr>
              <a:t>is</a:t>
            </a:r>
            <a:r>
              <a:rPr lang="en-GB" sz="2400" spc="7" dirty="0">
                <a:solidFill>
                  <a:srgbClr val="080912"/>
                </a:solidFill>
                <a:latin typeface="Arial MT"/>
                <a:cs typeface="Arial MT"/>
              </a:rPr>
              <a:t> far</a:t>
            </a:r>
            <a:r>
              <a:rPr lang="en-GB" sz="2400" spc="-3" dirty="0">
                <a:solidFill>
                  <a:srgbClr val="080912"/>
                </a:solidFill>
                <a:latin typeface="Arial MT"/>
                <a:cs typeface="Arial MT"/>
              </a:rPr>
              <a:t> </a:t>
            </a:r>
            <a:r>
              <a:rPr lang="en-GB" sz="2400" dirty="0">
                <a:solidFill>
                  <a:srgbClr val="080912"/>
                </a:solidFill>
                <a:latin typeface="Arial MT"/>
                <a:cs typeface="Arial MT"/>
              </a:rPr>
              <a:t>more </a:t>
            </a:r>
            <a:r>
              <a:rPr lang="en-GB" sz="2400" spc="-245" dirty="0">
                <a:solidFill>
                  <a:srgbClr val="080912"/>
                </a:solidFill>
                <a:latin typeface="Arial MT"/>
                <a:cs typeface="Arial MT"/>
              </a:rPr>
              <a:t> </a:t>
            </a:r>
            <a:r>
              <a:rPr lang="en-GB" sz="2400" spc="-3" dirty="0">
                <a:solidFill>
                  <a:srgbClr val="080912"/>
                </a:solidFill>
                <a:latin typeface="Arial MT"/>
                <a:cs typeface="Arial MT"/>
              </a:rPr>
              <a:t>computationally</a:t>
            </a:r>
            <a:r>
              <a:rPr lang="en-GB" sz="2400" dirty="0">
                <a:solidFill>
                  <a:srgbClr val="080912"/>
                </a:solidFill>
                <a:latin typeface="Arial MT"/>
                <a:cs typeface="Arial MT"/>
              </a:rPr>
              <a:t> </a:t>
            </a:r>
            <a:r>
              <a:rPr lang="en-GB" sz="2400" spc="-3" dirty="0">
                <a:solidFill>
                  <a:srgbClr val="080912"/>
                </a:solidFill>
                <a:latin typeface="Arial MT"/>
                <a:cs typeface="Arial MT"/>
              </a:rPr>
              <a:t>efficient</a:t>
            </a:r>
            <a:r>
              <a:rPr lang="en-GB" sz="2400" dirty="0">
                <a:solidFill>
                  <a:srgbClr val="080912"/>
                </a:solidFill>
                <a:latin typeface="Arial MT"/>
                <a:cs typeface="Arial MT"/>
              </a:rPr>
              <a:t> when</a:t>
            </a:r>
            <a:r>
              <a:rPr lang="en-GB" sz="2400" spc="-7" dirty="0">
                <a:solidFill>
                  <a:srgbClr val="080912"/>
                </a:solidFill>
                <a:latin typeface="Arial MT"/>
                <a:cs typeface="Arial MT"/>
              </a:rPr>
              <a:t> </a:t>
            </a:r>
            <a:r>
              <a:rPr lang="en-GB" sz="2400" spc="-3" dirty="0">
                <a:solidFill>
                  <a:srgbClr val="080912"/>
                </a:solidFill>
                <a:latin typeface="Arial MT"/>
                <a:cs typeface="Arial MT"/>
              </a:rPr>
              <a:t>compared</a:t>
            </a:r>
            <a:r>
              <a:rPr lang="en-GB" sz="2400" spc="-7" dirty="0">
                <a:solidFill>
                  <a:srgbClr val="080912"/>
                </a:solidFill>
                <a:latin typeface="Arial MT"/>
                <a:cs typeface="Arial MT"/>
              </a:rPr>
              <a:t> </a:t>
            </a:r>
            <a:r>
              <a:rPr lang="en-GB" sz="2400" spc="-3" dirty="0">
                <a:solidFill>
                  <a:srgbClr val="080912"/>
                </a:solidFill>
                <a:latin typeface="Arial MT"/>
                <a:cs typeface="Arial MT"/>
              </a:rPr>
              <a:t>to</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sigmoid</a:t>
            </a:r>
            <a:r>
              <a:rPr lang="en-GB" sz="2400" spc="3" dirty="0">
                <a:solidFill>
                  <a:srgbClr val="080912"/>
                </a:solidFill>
                <a:latin typeface="Arial MT"/>
                <a:cs typeface="Arial MT"/>
              </a:rPr>
              <a:t> </a:t>
            </a:r>
            <a:r>
              <a:rPr lang="en-GB" sz="2400" spc="-3" dirty="0">
                <a:solidFill>
                  <a:srgbClr val="080912"/>
                </a:solidFill>
                <a:latin typeface="Arial MT"/>
                <a:cs typeface="Arial MT"/>
              </a:rPr>
              <a:t>and tanh</a:t>
            </a:r>
            <a:r>
              <a:rPr lang="en-GB" sz="2400" spc="3" dirty="0">
                <a:solidFill>
                  <a:srgbClr val="080912"/>
                </a:solidFill>
                <a:latin typeface="Arial MT"/>
                <a:cs typeface="Arial MT"/>
              </a:rPr>
              <a:t> </a:t>
            </a:r>
            <a:r>
              <a:rPr lang="en-GB" sz="2400" spc="-3" dirty="0">
                <a:solidFill>
                  <a:srgbClr val="080912"/>
                </a:solidFill>
                <a:latin typeface="Arial MT"/>
                <a:cs typeface="Arial MT"/>
              </a:rPr>
              <a:t>functions.</a:t>
            </a:r>
            <a:endParaRPr lang="en-GB" sz="2400" dirty="0">
              <a:latin typeface="Arial MT"/>
              <a:cs typeface="Arial MT"/>
            </a:endParaRPr>
          </a:p>
          <a:p>
            <a:pPr marL="320378" marR="3464" indent="-156292">
              <a:lnSpc>
                <a:spcPct val="117000"/>
              </a:lnSpc>
              <a:spcBef>
                <a:spcPts val="481"/>
              </a:spcBef>
              <a:buSzPct val="74074"/>
              <a:buFont typeface="Symbol"/>
              <a:buChar char=""/>
              <a:tabLst>
                <a:tab pos="320378" algn="l"/>
                <a:tab pos="320810" algn="l"/>
              </a:tabLst>
            </a:pPr>
            <a:r>
              <a:rPr lang="en-GB" sz="2400" dirty="0" err="1">
                <a:solidFill>
                  <a:srgbClr val="080912"/>
                </a:solidFill>
                <a:latin typeface="Arial MT"/>
                <a:cs typeface="Arial MT"/>
              </a:rPr>
              <a:t>ReLU</a:t>
            </a:r>
            <a:r>
              <a:rPr lang="en-GB" sz="2400" spc="-7" dirty="0">
                <a:solidFill>
                  <a:srgbClr val="080912"/>
                </a:solidFill>
                <a:latin typeface="Arial MT"/>
                <a:cs typeface="Arial MT"/>
              </a:rPr>
              <a:t> </a:t>
            </a:r>
            <a:r>
              <a:rPr lang="en-GB" sz="2400" spc="-3" dirty="0">
                <a:solidFill>
                  <a:srgbClr val="080912"/>
                </a:solidFill>
                <a:latin typeface="Arial MT"/>
                <a:cs typeface="Arial MT"/>
              </a:rPr>
              <a:t>accelerates</a:t>
            </a:r>
            <a:r>
              <a:rPr lang="en-GB" sz="2400" spc="7"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convergence</a:t>
            </a:r>
            <a:r>
              <a:rPr lang="en-GB" sz="2400" spc="7" dirty="0">
                <a:solidFill>
                  <a:srgbClr val="080912"/>
                </a:solidFill>
                <a:latin typeface="Arial MT"/>
                <a:cs typeface="Arial MT"/>
              </a:rPr>
              <a:t> </a:t>
            </a:r>
            <a:r>
              <a:rPr lang="en-GB" sz="2400" dirty="0">
                <a:solidFill>
                  <a:srgbClr val="080912"/>
                </a:solidFill>
                <a:latin typeface="Arial MT"/>
                <a:cs typeface="Arial MT"/>
              </a:rPr>
              <a:t>of </a:t>
            </a:r>
            <a:r>
              <a:rPr lang="en-GB" sz="2400" spc="-3" dirty="0">
                <a:solidFill>
                  <a:srgbClr val="080912"/>
                </a:solidFill>
                <a:latin typeface="Arial MT"/>
                <a:cs typeface="Arial MT"/>
              </a:rPr>
              <a:t>gradient</a:t>
            </a:r>
            <a:r>
              <a:rPr lang="en-GB" sz="2400" dirty="0">
                <a:solidFill>
                  <a:srgbClr val="080912"/>
                </a:solidFill>
                <a:latin typeface="Arial MT"/>
                <a:cs typeface="Arial MT"/>
              </a:rPr>
              <a:t> descent </a:t>
            </a:r>
            <a:r>
              <a:rPr lang="en-GB" sz="2400" spc="-3" dirty="0">
                <a:solidFill>
                  <a:srgbClr val="080912"/>
                </a:solidFill>
                <a:latin typeface="Arial MT"/>
                <a:cs typeface="Arial MT"/>
              </a:rPr>
              <a:t>towards</a:t>
            </a:r>
            <a:r>
              <a:rPr lang="en-GB" sz="2400" spc="7"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global</a:t>
            </a:r>
            <a:r>
              <a:rPr lang="en-GB" sz="2400" spc="7" dirty="0">
                <a:solidFill>
                  <a:srgbClr val="080912"/>
                </a:solidFill>
                <a:latin typeface="Arial MT"/>
                <a:cs typeface="Arial MT"/>
              </a:rPr>
              <a:t> </a:t>
            </a:r>
            <a:r>
              <a:rPr lang="en-GB" sz="2400" spc="-3" dirty="0">
                <a:solidFill>
                  <a:srgbClr val="080912"/>
                </a:solidFill>
                <a:latin typeface="Arial MT"/>
                <a:cs typeface="Arial MT"/>
              </a:rPr>
              <a:t>minimum </a:t>
            </a:r>
            <a:r>
              <a:rPr lang="en-GB" sz="2400" spc="-245" dirty="0">
                <a:solidFill>
                  <a:srgbClr val="080912"/>
                </a:solidFill>
                <a:latin typeface="Arial MT"/>
                <a:cs typeface="Arial MT"/>
              </a:rPr>
              <a:t> </a:t>
            </a:r>
            <a:r>
              <a:rPr lang="en-GB" sz="2400" dirty="0">
                <a:solidFill>
                  <a:srgbClr val="080912"/>
                </a:solidFill>
                <a:latin typeface="Arial MT"/>
                <a:cs typeface="Arial MT"/>
              </a:rPr>
              <a:t>of</a:t>
            </a:r>
            <a:r>
              <a:rPr lang="en-GB" sz="2400" spc="-7" dirty="0">
                <a:solidFill>
                  <a:srgbClr val="080912"/>
                </a:solidFill>
                <a:latin typeface="Arial MT"/>
                <a:cs typeface="Arial MT"/>
              </a:rPr>
              <a:t> </a:t>
            </a:r>
            <a:r>
              <a:rPr lang="en-GB" sz="2400" spc="-3" dirty="0">
                <a:solidFill>
                  <a:srgbClr val="080912"/>
                </a:solidFill>
                <a:latin typeface="Arial MT"/>
                <a:cs typeface="Arial MT"/>
              </a:rPr>
              <a:t>the </a:t>
            </a:r>
            <a:r>
              <a:rPr lang="en-GB" sz="2400" dirty="0">
                <a:solidFill>
                  <a:srgbClr val="080912"/>
                </a:solidFill>
                <a:latin typeface="Arial MT"/>
                <a:cs typeface="Arial MT"/>
              </a:rPr>
              <a:t>loss </a:t>
            </a:r>
            <a:r>
              <a:rPr lang="en-GB" sz="2400" spc="-3" dirty="0">
                <a:solidFill>
                  <a:srgbClr val="080912"/>
                </a:solidFill>
                <a:latin typeface="Arial MT"/>
                <a:cs typeface="Arial MT"/>
              </a:rPr>
              <a:t>function</a:t>
            </a:r>
            <a:r>
              <a:rPr lang="en-GB" sz="2400" spc="-10" dirty="0">
                <a:solidFill>
                  <a:srgbClr val="080912"/>
                </a:solidFill>
                <a:latin typeface="Arial MT"/>
                <a:cs typeface="Arial MT"/>
              </a:rPr>
              <a:t> </a:t>
            </a:r>
            <a:r>
              <a:rPr lang="en-GB" sz="2400" dirty="0">
                <a:solidFill>
                  <a:srgbClr val="080912"/>
                </a:solidFill>
                <a:latin typeface="Arial MT"/>
                <a:cs typeface="Arial MT"/>
              </a:rPr>
              <a:t>due </a:t>
            </a:r>
            <a:r>
              <a:rPr lang="en-GB" sz="2400" spc="-3" dirty="0">
                <a:solidFill>
                  <a:srgbClr val="080912"/>
                </a:solidFill>
                <a:latin typeface="Arial MT"/>
                <a:cs typeface="Arial MT"/>
              </a:rPr>
              <a:t>to</a:t>
            </a:r>
            <a:r>
              <a:rPr lang="en-GB" sz="2400" spc="3" dirty="0">
                <a:solidFill>
                  <a:srgbClr val="080912"/>
                </a:solidFill>
                <a:latin typeface="Arial MT"/>
                <a:cs typeface="Arial MT"/>
              </a:rPr>
              <a:t> </a:t>
            </a:r>
            <a:r>
              <a:rPr lang="en-GB" sz="2400" spc="-3" dirty="0">
                <a:solidFill>
                  <a:srgbClr val="080912"/>
                </a:solidFill>
                <a:latin typeface="Arial MT"/>
                <a:cs typeface="Arial MT"/>
              </a:rPr>
              <a:t>its</a:t>
            </a:r>
            <a:r>
              <a:rPr lang="en-GB" sz="2400" dirty="0">
                <a:solidFill>
                  <a:srgbClr val="080912"/>
                </a:solidFill>
                <a:latin typeface="Arial MT"/>
                <a:cs typeface="Arial MT"/>
              </a:rPr>
              <a:t> </a:t>
            </a:r>
            <a:r>
              <a:rPr lang="en-GB" sz="2400" spc="-3" dirty="0">
                <a:solidFill>
                  <a:srgbClr val="080912"/>
                </a:solidFill>
                <a:latin typeface="Arial MT"/>
                <a:cs typeface="Arial MT"/>
              </a:rPr>
              <a:t>linear,</a:t>
            </a:r>
            <a:r>
              <a:rPr lang="en-GB" sz="2400" spc="-7" dirty="0">
                <a:solidFill>
                  <a:srgbClr val="080912"/>
                </a:solidFill>
                <a:latin typeface="Arial MT"/>
                <a:cs typeface="Arial MT"/>
              </a:rPr>
              <a:t> </a:t>
            </a:r>
            <a:r>
              <a:rPr lang="en-GB" sz="2400" dirty="0">
                <a:solidFill>
                  <a:srgbClr val="080912"/>
                </a:solidFill>
                <a:latin typeface="Arial MT"/>
                <a:cs typeface="Arial MT"/>
              </a:rPr>
              <a:t>non-saturating</a:t>
            </a:r>
            <a:r>
              <a:rPr lang="en-GB" sz="2400" spc="-10" dirty="0">
                <a:solidFill>
                  <a:srgbClr val="080912"/>
                </a:solidFill>
                <a:latin typeface="Arial MT"/>
                <a:cs typeface="Arial MT"/>
              </a:rPr>
              <a:t> </a:t>
            </a:r>
            <a:r>
              <a:rPr lang="en-GB" sz="2400" spc="-3" dirty="0">
                <a:solidFill>
                  <a:srgbClr val="080912"/>
                </a:solidFill>
                <a:latin typeface="Arial MT"/>
                <a:cs typeface="Arial MT"/>
              </a:rPr>
              <a:t>property.</a:t>
            </a:r>
            <a:endParaRPr lang="en-GB" sz="2400" dirty="0">
              <a:latin typeface="Arial MT"/>
              <a:cs typeface="Arial MT"/>
            </a:endParaRPr>
          </a:p>
          <a:p>
            <a:pPr>
              <a:spcBef>
                <a:spcPts val="3"/>
              </a:spcBef>
              <a:buClr>
                <a:srgbClr val="080912"/>
              </a:buClr>
              <a:buFont typeface="Symbol"/>
              <a:buChar char=""/>
            </a:pPr>
            <a:endParaRPr lang="en-GB" sz="2000" dirty="0">
              <a:latin typeface="Arial MT"/>
              <a:cs typeface="Arial MT"/>
            </a:endParaRPr>
          </a:p>
          <a:p>
            <a:pPr marL="8659">
              <a:spcBef>
                <a:spcPts val="893"/>
              </a:spcBef>
            </a:pPr>
            <a:endParaRPr lang="en-GB" sz="2400" dirty="0">
              <a:latin typeface="Arial MT"/>
              <a:cs typeface="Arial MT"/>
            </a:endParaRPr>
          </a:p>
          <a:p>
            <a:endParaRPr lang="en-PK" dirty="0"/>
          </a:p>
        </p:txBody>
      </p:sp>
      <p:pic>
        <p:nvPicPr>
          <p:cNvPr id="7" name="object 3"/>
          <p:cNvPicPr/>
          <p:nvPr/>
        </p:nvPicPr>
        <p:blipFill>
          <a:blip r:embed="rId3" cstate="print"/>
          <a:stretch>
            <a:fillRect/>
          </a:stretch>
        </p:blipFill>
        <p:spPr>
          <a:xfrm>
            <a:off x="8590218" y="4600475"/>
            <a:ext cx="2701636" cy="1284466"/>
          </a:xfrm>
          <a:prstGeom prst="rect">
            <a:avLst/>
          </a:prstGeom>
        </p:spPr>
      </p:pic>
      <p:sp>
        <p:nvSpPr>
          <p:cNvPr id="2" name="Slide Number Placeholder 1">
            <a:extLst>
              <a:ext uri="{FF2B5EF4-FFF2-40B4-BE49-F238E27FC236}">
                <a16:creationId xmlns:a16="http://schemas.microsoft.com/office/drawing/2014/main" id="{AA1660AE-9529-F600-0673-075BF17F761A}"/>
              </a:ext>
            </a:extLst>
          </p:cNvPr>
          <p:cNvSpPr>
            <a:spLocks noGrp="1"/>
          </p:cNvSpPr>
          <p:nvPr>
            <p:ph type="sldNum" sz="quarter" idx="12"/>
          </p:nvPr>
        </p:nvSpPr>
        <p:spPr/>
        <p:txBody>
          <a:bodyPr/>
          <a:lstStyle/>
          <a:p>
            <a:fld id="{9CD9A578-84A4-4247-B01E-A84B9E2DF7BB}" type="slidenum">
              <a:rPr lang="en-PK" smtClean="0"/>
              <a:t>11</a:t>
            </a:fld>
            <a:endParaRPr lang="en-PK"/>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052402" y="1218633"/>
            <a:ext cx="3768783" cy="3328118"/>
          </a:xfrm>
          <a:prstGeom prst="rect">
            <a:avLst/>
          </a:prstGeom>
        </p:spPr>
      </p:pic>
      <p:sp>
        <p:nvSpPr>
          <p:cNvPr id="4" name="Title 3">
            <a:extLst>
              <a:ext uri="{FF2B5EF4-FFF2-40B4-BE49-F238E27FC236}">
                <a16:creationId xmlns:a16="http://schemas.microsoft.com/office/drawing/2014/main" id="{915D351F-D005-8D1B-E4B1-B7D2787776AD}"/>
              </a:ext>
            </a:extLst>
          </p:cNvPr>
          <p:cNvSpPr>
            <a:spLocks noGrp="1"/>
          </p:cNvSpPr>
          <p:nvPr>
            <p:ph type="title"/>
          </p:nvPr>
        </p:nvSpPr>
        <p:spPr>
          <a:xfrm>
            <a:off x="1158240" y="667401"/>
            <a:ext cx="9875520" cy="551232"/>
          </a:xfrm>
        </p:spPr>
        <p:txBody>
          <a:bodyPr>
            <a:normAutofit fontScale="90000"/>
          </a:bodyPr>
          <a:lstStyle/>
          <a:p>
            <a:pPr marL="0" indent="0" algn="just">
              <a:spcBef>
                <a:spcPts val="72"/>
              </a:spcBef>
              <a:buNone/>
            </a:pPr>
            <a:r>
              <a:rPr lang="en-GB" sz="4400" dirty="0">
                <a:solidFill>
                  <a:srgbClr val="080912"/>
                </a:solidFill>
                <a:latin typeface="Arial MT"/>
                <a:cs typeface="Arial MT"/>
              </a:rPr>
              <a:t>The</a:t>
            </a:r>
            <a:r>
              <a:rPr lang="en-GB" sz="4400" spc="-20" dirty="0">
                <a:solidFill>
                  <a:srgbClr val="080912"/>
                </a:solidFill>
                <a:latin typeface="Arial MT"/>
                <a:cs typeface="Arial MT"/>
              </a:rPr>
              <a:t> </a:t>
            </a:r>
            <a:r>
              <a:rPr lang="en-GB" sz="4400" dirty="0">
                <a:solidFill>
                  <a:srgbClr val="080912"/>
                </a:solidFill>
                <a:latin typeface="Arial MT"/>
                <a:cs typeface="Arial MT"/>
              </a:rPr>
              <a:t>Dying</a:t>
            </a:r>
            <a:r>
              <a:rPr lang="en-GB" sz="4400" spc="-17" dirty="0">
                <a:solidFill>
                  <a:srgbClr val="080912"/>
                </a:solidFill>
                <a:latin typeface="Arial MT"/>
                <a:cs typeface="Arial MT"/>
              </a:rPr>
              <a:t> </a:t>
            </a:r>
            <a:r>
              <a:rPr lang="en-GB" sz="4400" spc="-3" dirty="0" err="1">
                <a:solidFill>
                  <a:srgbClr val="080912"/>
                </a:solidFill>
                <a:latin typeface="Arial MT"/>
                <a:cs typeface="Arial MT"/>
              </a:rPr>
              <a:t>ReLU</a:t>
            </a:r>
            <a:r>
              <a:rPr lang="en-GB" sz="4400" spc="-14" dirty="0">
                <a:solidFill>
                  <a:srgbClr val="080912"/>
                </a:solidFill>
                <a:latin typeface="Arial MT"/>
                <a:cs typeface="Arial MT"/>
              </a:rPr>
              <a:t> </a:t>
            </a:r>
            <a:r>
              <a:rPr lang="en-GB" sz="4400" dirty="0">
                <a:solidFill>
                  <a:srgbClr val="080912"/>
                </a:solidFill>
                <a:latin typeface="Arial MT"/>
                <a:cs typeface="Arial MT"/>
              </a:rPr>
              <a:t>problem</a:t>
            </a:r>
            <a:endParaRPr lang="en-GB" sz="4400" dirty="0">
              <a:latin typeface="Arial MT"/>
              <a:cs typeface="Arial MT"/>
            </a:endParaRPr>
          </a:p>
        </p:txBody>
      </p:sp>
      <p:sp>
        <p:nvSpPr>
          <p:cNvPr id="5" name="Content Placeholder 4">
            <a:extLst>
              <a:ext uri="{FF2B5EF4-FFF2-40B4-BE49-F238E27FC236}">
                <a16:creationId xmlns:a16="http://schemas.microsoft.com/office/drawing/2014/main" id="{C103240B-A1AD-FE77-1FDF-D9FCF1562957}"/>
              </a:ext>
            </a:extLst>
          </p:cNvPr>
          <p:cNvSpPr>
            <a:spLocks noGrp="1"/>
          </p:cNvSpPr>
          <p:nvPr>
            <p:ph idx="1"/>
          </p:nvPr>
        </p:nvSpPr>
        <p:spPr>
          <a:xfrm>
            <a:off x="1150439" y="1511928"/>
            <a:ext cx="6453075" cy="3611391"/>
          </a:xfrm>
        </p:spPr>
        <p:txBody>
          <a:bodyPr>
            <a:normAutofit fontScale="92500" lnSpcReduction="10000"/>
          </a:bodyPr>
          <a:lstStyle/>
          <a:p>
            <a:pPr marL="8659" marR="3464" algn="just">
              <a:lnSpc>
                <a:spcPct val="143300"/>
              </a:lnSpc>
            </a:pPr>
            <a:r>
              <a:rPr lang="en-GB" sz="2400" spc="-7" dirty="0">
                <a:solidFill>
                  <a:srgbClr val="080912"/>
                </a:solidFill>
                <a:latin typeface="Arial MT"/>
                <a:cs typeface="Arial MT"/>
              </a:rPr>
              <a:t>The </a:t>
            </a:r>
            <a:r>
              <a:rPr lang="en-GB" sz="2400" spc="-10" dirty="0">
                <a:solidFill>
                  <a:srgbClr val="080912"/>
                </a:solidFill>
                <a:latin typeface="Arial MT"/>
                <a:cs typeface="Arial MT"/>
              </a:rPr>
              <a:t>negative side </a:t>
            </a:r>
            <a:r>
              <a:rPr lang="en-GB" sz="2400" spc="-3" dirty="0">
                <a:solidFill>
                  <a:srgbClr val="080912"/>
                </a:solidFill>
                <a:latin typeface="Arial MT"/>
                <a:cs typeface="Arial MT"/>
              </a:rPr>
              <a:t>of </a:t>
            </a:r>
            <a:r>
              <a:rPr lang="en-GB" sz="2400" spc="-7" dirty="0">
                <a:solidFill>
                  <a:srgbClr val="080912"/>
                </a:solidFill>
                <a:latin typeface="Arial MT"/>
                <a:cs typeface="Arial MT"/>
              </a:rPr>
              <a:t>the </a:t>
            </a:r>
            <a:r>
              <a:rPr lang="en-GB" sz="2400" spc="-10" dirty="0">
                <a:solidFill>
                  <a:srgbClr val="080912"/>
                </a:solidFill>
                <a:latin typeface="Arial MT"/>
                <a:cs typeface="Arial MT"/>
              </a:rPr>
              <a:t>graph makes </a:t>
            </a:r>
            <a:r>
              <a:rPr lang="en-GB" sz="2400" spc="-14" dirty="0">
                <a:solidFill>
                  <a:srgbClr val="080912"/>
                </a:solidFill>
                <a:latin typeface="Arial MT"/>
                <a:cs typeface="Arial MT"/>
              </a:rPr>
              <a:t>the </a:t>
            </a:r>
            <a:r>
              <a:rPr lang="en-GB" sz="2400" spc="-10" dirty="0">
                <a:solidFill>
                  <a:srgbClr val="080912"/>
                </a:solidFill>
                <a:latin typeface="Arial MT"/>
                <a:cs typeface="Arial MT"/>
              </a:rPr>
              <a:t>gradient value zero. </a:t>
            </a:r>
            <a:r>
              <a:rPr lang="en-GB" sz="2400" spc="-7" dirty="0">
                <a:solidFill>
                  <a:srgbClr val="080912"/>
                </a:solidFill>
                <a:latin typeface="Arial MT"/>
                <a:cs typeface="Arial MT"/>
              </a:rPr>
              <a:t>Due </a:t>
            </a:r>
            <a:r>
              <a:rPr lang="en-GB" sz="2400" spc="-10" dirty="0">
                <a:solidFill>
                  <a:srgbClr val="080912"/>
                </a:solidFill>
                <a:latin typeface="Arial MT"/>
                <a:cs typeface="Arial MT"/>
              </a:rPr>
              <a:t>to this reason, during the </a:t>
            </a:r>
            <a:r>
              <a:rPr lang="en-GB" sz="2400" spc="-249" dirty="0">
                <a:solidFill>
                  <a:srgbClr val="080912"/>
                </a:solidFill>
                <a:latin typeface="Arial MT"/>
                <a:cs typeface="Arial MT"/>
              </a:rPr>
              <a:t> </a:t>
            </a:r>
            <a:r>
              <a:rPr lang="en-GB" sz="2400" spc="-14" dirty="0">
                <a:solidFill>
                  <a:srgbClr val="080912"/>
                </a:solidFill>
                <a:latin typeface="Arial MT"/>
                <a:cs typeface="Arial MT"/>
              </a:rPr>
              <a:t>backpropagation</a:t>
            </a:r>
            <a:r>
              <a:rPr lang="en-GB" sz="2400" spc="-51" dirty="0">
                <a:solidFill>
                  <a:srgbClr val="080912"/>
                </a:solidFill>
                <a:latin typeface="Arial MT"/>
                <a:cs typeface="Arial MT"/>
              </a:rPr>
              <a:t> </a:t>
            </a:r>
            <a:r>
              <a:rPr lang="en-GB" sz="2400" spc="-14" dirty="0">
                <a:solidFill>
                  <a:srgbClr val="080912"/>
                </a:solidFill>
                <a:latin typeface="Arial MT"/>
                <a:cs typeface="Arial MT"/>
              </a:rPr>
              <a:t>process,</a:t>
            </a:r>
            <a:r>
              <a:rPr lang="en-GB" sz="2400" spc="-58" dirty="0">
                <a:solidFill>
                  <a:srgbClr val="080912"/>
                </a:solidFill>
                <a:latin typeface="Arial MT"/>
                <a:cs typeface="Arial MT"/>
              </a:rPr>
              <a:t> </a:t>
            </a:r>
            <a:r>
              <a:rPr lang="en-GB" sz="2400" spc="-10" dirty="0">
                <a:solidFill>
                  <a:srgbClr val="080912"/>
                </a:solidFill>
                <a:latin typeface="Arial MT"/>
                <a:cs typeface="Arial MT"/>
              </a:rPr>
              <a:t>the</a:t>
            </a:r>
            <a:r>
              <a:rPr lang="en-GB" sz="2400" spc="-58" dirty="0">
                <a:solidFill>
                  <a:srgbClr val="080912"/>
                </a:solidFill>
                <a:latin typeface="Arial MT"/>
                <a:cs typeface="Arial MT"/>
              </a:rPr>
              <a:t> </a:t>
            </a:r>
            <a:r>
              <a:rPr lang="en-GB" sz="2400" spc="-10" dirty="0">
                <a:solidFill>
                  <a:srgbClr val="080912"/>
                </a:solidFill>
                <a:latin typeface="Arial MT"/>
                <a:cs typeface="Arial MT"/>
              </a:rPr>
              <a:t>weights</a:t>
            </a:r>
            <a:r>
              <a:rPr lang="en-GB" sz="2400" spc="-58" dirty="0">
                <a:solidFill>
                  <a:srgbClr val="080912"/>
                </a:solidFill>
                <a:latin typeface="Arial MT"/>
                <a:cs typeface="Arial MT"/>
              </a:rPr>
              <a:t> </a:t>
            </a:r>
            <a:r>
              <a:rPr lang="en-GB" sz="2400" spc="-10" dirty="0">
                <a:solidFill>
                  <a:srgbClr val="080912"/>
                </a:solidFill>
                <a:latin typeface="Arial MT"/>
                <a:cs typeface="Arial MT"/>
              </a:rPr>
              <a:t>and</a:t>
            </a:r>
            <a:r>
              <a:rPr lang="en-GB" sz="2400" spc="-51" dirty="0">
                <a:solidFill>
                  <a:srgbClr val="080912"/>
                </a:solidFill>
                <a:latin typeface="Arial MT"/>
                <a:cs typeface="Arial MT"/>
              </a:rPr>
              <a:t> </a:t>
            </a:r>
            <a:r>
              <a:rPr lang="en-GB" sz="2400" spc="-14" dirty="0">
                <a:solidFill>
                  <a:srgbClr val="080912"/>
                </a:solidFill>
                <a:latin typeface="Arial MT"/>
                <a:cs typeface="Arial MT"/>
              </a:rPr>
              <a:t>biases</a:t>
            </a:r>
            <a:r>
              <a:rPr lang="en-GB" sz="2400" spc="-48" dirty="0">
                <a:solidFill>
                  <a:srgbClr val="080912"/>
                </a:solidFill>
                <a:latin typeface="Arial MT"/>
                <a:cs typeface="Arial MT"/>
              </a:rPr>
              <a:t> </a:t>
            </a:r>
            <a:r>
              <a:rPr lang="en-GB" sz="2400" spc="-10" dirty="0">
                <a:solidFill>
                  <a:srgbClr val="080912"/>
                </a:solidFill>
                <a:latin typeface="Arial MT"/>
                <a:cs typeface="Arial MT"/>
              </a:rPr>
              <a:t>for</a:t>
            </a:r>
            <a:r>
              <a:rPr lang="en-GB" sz="2400" spc="-61" dirty="0">
                <a:solidFill>
                  <a:srgbClr val="080912"/>
                </a:solidFill>
                <a:latin typeface="Arial MT"/>
                <a:cs typeface="Arial MT"/>
              </a:rPr>
              <a:t> </a:t>
            </a:r>
            <a:r>
              <a:rPr lang="en-GB" sz="2400" spc="-10" dirty="0">
                <a:solidFill>
                  <a:srgbClr val="080912"/>
                </a:solidFill>
                <a:latin typeface="Arial MT"/>
                <a:cs typeface="Arial MT"/>
              </a:rPr>
              <a:t>some</a:t>
            </a:r>
            <a:r>
              <a:rPr lang="en-GB" sz="2400" spc="-61" dirty="0">
                <a:solidFill>
                  <a:srgbClr val="080912"/>
                </a:solidFill>
                <a:latin typeface="Arial MT"/>
                <a:cs typeface="Arial MT"/>
              </a:rPr>
              <a:t> </a:t>
            </a:r>
            <a:r>
              <a:rPr lang="en-GB" sz="2400" spc="-14" dirty="0">
                <a:solidFill>
                  <a:srgbClr val="080912"/>
                </a:solidFill>
                <a:latin typeface="Arial MT"/>
                <a:cs typeface="Arial MT"/>
              </a:rPr>
              <a:t>neurons</a:t>
            </a:r>
            <a:r>
              <a:rPr lang="en-GB" sz="2400" spc="-55" dirty="0">
                <a:solidFill>
                  <a:srgbClr val="080912"/>
                </a:solidFill>
                <a:latin typeface="Arial MT"/>
                <a:cs typeface="Arial MT"/>
              </a:rPr>
              <a:t> </a:t>
            </a:r>
            <a:r>
              <a:rPr lang="en-GB" sz="2400" spc="-7" dirty="0">
                <a:solidFill>
                  <a:srgbClr val="080912"/>
                </a:solidFill>
                <a:latin typeface="Arial MT"/>
                <a:cs typeface="Arial MT"/>
              </a:rPr>
              <a:t>are</a:t>
            </a:r>
            <a:r>
              <a:rPr lang="en-GB" sz="2400" spc="-61" dirty="0">
                <a:solidFill>
                  <a:srgbClr val="080912"/>
                </a:solidFill>
                <a:latin typeface="Arial MT"/>
                <a:cs typeface="Arial MT"/>
              </a:rPr>
              <a:t> </a:t>
            </a:r>
            <a:r>
              <a:rPr lang="en-GB" sz="2400" spc="-3" dirty="0">
                <a:solidFill>
                  <a:srgbClr val="080912"/>
                </a:solidFill>
                <a:latin typeface="Arial MT"/>
                <a:cs typeface="Arial MT"/>
              </a:rPr>
              <a:t>not</a:t>
            </a:r>
            <a:r>
              <a:rPr lang="en-GB" sz="2400" spc="-68" dirty="0">
                <a:solidFill>
                  <a:srgbClr val="080912"/>
                </a:solidFill>
                <a:latin typeface="Arial MT"/>
                <a:cs typeface="Arial MT"/>
              </a:rPr>
              <a:t> </a:t>
            </a:r>
            <a:r>
              <a:rPr lang="en-GB" sz="2400" spc="-10" dirty="0">
                <a:solidFill>
                  <a:srgbClr val="080912"/>
                </a:solidFill>
                <a:latin typeface="Arial MT"/>
                <a:cs typeface="Arial MT"/>
              </a:rPr>
              <a:t>updated.</a:t>
            </a:r>
            <a:r>
              <a:rPr lang="en-GB" sz="2400" spc="-55" dirty="0">
                <a:solidFill>
                  <a:srgbClr val="080912"/>
                </a:solidFill>
                <a:latin typeface="Arial MT"/>
                <a:cs typeface="Arial MT"/>
              </a:rPr>
              <a:t> </a:t>
            </a:r>
            <a:r>
              <a:rPr lang="en-GB" sz="2400" spc="-10" dirty="0">
                <a:solidFill>
                  <a:srgbClr val="080912"/>
                </a:solidFill>
                <a:latin typeface="Arial MT"/>
                <a:cs typeface="Arial MT"/>
              </a:rPr>
              <a:t>This</a:t>
            </a:r>
            <a:r>
              <a:rPr lang="en-GB" sz="2400" spc="-58" dirty="0">
                <a:solidFill>
                  <a:srgbClr val="080912"/>
                </a:solidFill>
                <a:latin typeface="Arial MT"/>
                <a:cs typeface="Arial MT"/>
              </a:rPr>
              <a:t> </a:t>
            </a:r>
            <a:r>
              <a:rPr lang="en-GB" sz="2400" spc="-10" dirty="0">
                <a:solidFill>
                  <a:srgbClr val="080912"/>
                </a:solidFill>
                <a:latin typeface="Arial MT"/>
                <a:cs typeface="Arial MT"/>
              </a:rPr>
              <a:t>can </a:t>
            </a:r>
            <a:r>
              <a:rPr lang="en-GB" sz="2400" spc="-249" dirty="0">
                <a:solidFill>
                  <a:srgbClr val="080912"/>
                </a:solidFill>
                <a:latin typeface="Arial MT"/>
                <a:cs typeface="Arial MT"/>
              </a:rPr>
              <a:t> </a:t>
            </a:r>
            <a:r>
              <a:rPr lang="en-GB" sz="2400" spc="-10" dirty="0">
                <a:solidFill>
                  <a:srgbClr val="080912"/>
                </a:solidFill>
                <a:latin typeface="Arial MT"/>
                <a:cs typeface="Arial MT"/>
              </a:rPr>
              <a:t>create</a:t>
            </a:r>
            <a:r>
              <a:rPr lang="en-GB" sz="2400" spc="-24" dirty="0">
                <a:solidFill>
                  <a:srgbClr val="080912"/>
                </a:solidFill>
                <a:latin typeface="Arial MT"/>
                <a:cs typeface="Arial MT"/>
              </a:rPr>
              <a:t> </a:t>
            </a:r>
            <a:r>
              <a:rPr lang="en-GB" sz="2400" spc="-14" dirty="0">
                <a:solidFill>
                  <a:srgbClr val="080912"/>
                </a:solidFill>
                <a:latin typeface="Arial MT"/>
                <a:cs typeface="Arial MT"/>
              </a:rPr>
              <a:t>dead</a:t>
            </a:r>
            <a:r>
              <a:rPr lang="en-GB" sz="2400" spc="-20" dirty="0">
                <a:solidFill>
                  <a:srgbClr val="080912"/>
                </a:solidFill>
                <a:latin typeface="Arial MT"/>
                <a:cs typeface="Arial MT"/>
              </a:rPr>
              <a:t> </a:t>
            </a:r>
            <a:r>
              <a:rPr lang="en-GB" sz="2400" spc="-14" dirty="0">
                <a:solidFill>
                  <a:srgbClr val="080912"/>
                </a:solidFill>
                <a:latin typeface="Arial MT"/>
                <a:cs typeface="Arial MT"/>
              </a:rPr>
              <a:t>neurons</a:t>
            </a:r>
            <a:r>
              <a:rPr lang="en-GB" sz="2400" spc="-24" dirty="0">
                <a:solidFill>
                  <a:srgbClr val="080912"/>
                </a:solidFill>
                <a:latin typeface="Arial MT"/>
                <a:cs typeface="Arial MT"/>
              </a:rPr>
              <a:t> </a:t>
            </a:r>
            <a:r>
              <a:rPr lang="en-GB" sz="2400" spc="-10" dirty="0">
                <a:solidFill>
                  <a:srgbClr val="080912"/>
                </a:solidFill>
                <a:latin typeface="Arial MT"/>
                <a:cs typeface="Arial MT"/>
              </a:rPr>
              <a:t>which</a:t>
            </a:r>
            <a:r>
              <a:rPr lang="en-GB" sz="2400" spc="-20" dirty="0">
                <a:solidFill>
                  <a:srgbClr val="080912"/>
                </a:solidFill>
                <a:latin typeface="Arial MT"/>
                <a:cs typeface="Arial MT"/>
              </a:rPr>
              <a:t> </a:t>
            </a:r>
            <a:r>
              <a:rPr lang="en-GB" sz="2400" spc="-10" dirty="0">
                <a:solidFill>
                  <a:srgbClr val="080912"/>
                </a:solidFill>
                <a:latin typeface="Arial MT"/>
                <a:cs typeface="Arial MT"/>
              </a:rPr>
              <a:t>never</a:t>
            </a:r>
            <a:r>
              <a:rPr lang="en-GB" sz="2400" spc="-24" dirty="0">
                <a:solidFill>
                  <a:srgbClr val="080912"/>
                </a:solidFill>
                <a:latin typeface="Arial MT"/>
                <a:cs typeface="Arial MT"/>
              </a:rPr>
              <a:t> </a:t>
            </a:r>
            <a:r>
              <a:rPr lang="en-GB" sz="2400" spc="-7" dirty="0">
                <a:solidFill>
                  <a:srgbClr val="080912"/>
                </a:solidFill>
                <a:latin typeface="Arial MT"/>
                <a:cs typeface="Arial MT"/>
              </a:rPr>
              <a:t>get</a:t>
            </a:r>
            <a:r>
              <a:rPr lang="en-GB" sz="2400" spc="-24" dirty="0">
                <a:solidFill>
                  <a:srgbClr val="080912"/>
                </a:solidFill>
                <a:latin typeface="Arial MT"/>
                <a:cs typeface="Arial MT"/>
              </a:rPr>
              <a:t> </a:t>
            </a:r>
            <a:r>
              <a:rPr lang="en-GB" sz="2400" spc="-10" dirty="0">
                <a:solidFill>
                  <a:srgbClr val="080912"/>
                </a:solidFill>
                <a:latin typeface="Arial MT"/>
                <a:cs typeface="Arial MT"/>
              </a:rPr>
              <a:t>activated.</a:t>
            </a:r>
            <a:endParaRPr lang="en-GB" sz="2400" dirty="0">
              <a:latin typeface="Arial MT"/>
              <a:cs typeface="Arial MT"/>
            </a:endParaRPr>
          </a:p>
          <a:p>
            <a:pPr marL="320378" marR="419089" indent="-156292" algn="just">
              <a:lnSpc>
                <a:spcPct val="116500"/>
              </a:lnSpc>
              <a:spcBef>
                <a:spcPts val="505"/>
              </a:spcBef>
              <a:buSzPct val="74074"/>
              <a:buFont typeface="Symbol"/>
              <a:buChar char=""/>
              <a:tabLst>
                <a:tab pos="320810" algn="l"/>
              </a:tabLst>
            </a:pPr>
            <a:r>
              <a:rPr lang="en-GB" sz="2400" dirty="0">
                <a:solidFill>
                  <a:srgbClr val="080912"/>
                </a:solidFill>
                <a:latin typeface="Arial MT"/>
                <a:cs typeface="Arial MT"/>
              </a:rPr>
              <a:t>All </a:t>
            </a:r>
            <a:r>
              <a:rPr lang="en-GB" sz="2400" spc="-3" dirty="0">
                <a:solidFill>
                  <a:srgbClr val="080912"/>
                </a:solidFill>
                <a:latin typeface="Arial MT"/>
                <a:cs typeface="Arial MT"/>
              </a:rPr>
              <a:t>the </a:t>
            </a:r>
            <a:r>
              <a:rPr lang="en-GB" sz="2400" dirty="0">
                <a:solidFill>
                  <a:srgbClr val="080912"/>
                </a:solidFill>
                <a:latin typeface="Arial MT"/>
                <a:cs typeface="Arial MT"/>
              </a:rPr>
              <a:t>negative </a:t>
            </a:r>
            <a:r>
              <a:rPr lang="en-GB" sz="2400" spc="-3" dirty="0">
                <a:solidFill>
                  <a:srgbClr val="080912"/>
                </a:solidFill>
                <a:latin typeface="Arial MT"/>
                <a:cs typeface="Arial MT"/>
              </a:rPr>
              <a:t>input </a:t>
            </a:r>
            <a:r>
              <a:rPr lang="en-GB" sz="2400" dirty="0">
                <a:solidFill>
                  <a:srgbClr val="080912"/>
                </a:solidFill>
                <a:latin typeface="Arial MT"/>
                <a:cs typeface="Arial MT"/>
              </a:rPr>
              <a:t>values </a:t>
            </a:r>
            <a:r>
              <a:rPr lang="en-GB" sz="2400" spc="-3" dirty="0">
                <a:solidFill>
                  <a:srgbClr val="080912"/>
                </a:solidFill>
                <a:latin typeface="Arial MT"/>
                <a:cs typeface="Arial MT"/>
              </a:rPr>
              <a:t>become zero immediately, which decreases the </a:t>
            </a:r>
            <a:r>
              <a:rPr lang="en-GB" sz="2400" spc="-249" dirty="0">
                <a:solidFill>
                  <a:srgbClr val="080912"/>
                </a:solidFill>
                <a:latin typeface="Arial MT"/>
                <a:cs typeface="Arial MT"/>
              </a:rPr>
              <a:t> </a:t>
            </a:r>
            <a:r>
              <a:rPr lang="en-GB" sz="2400" spc="-3" dirty="0">
                <a:solidFill>
                  <a:srgbClr val="080912"/>
                </a:solidFill>
                <a:latin typeface="Arial MT"/>
                <a:cs typeface="Arial MT"/>
              </a:rPr>
              <a:t>model’s</a:t>
            </a:r>
            <a:r>
              <a:rPr lang="en-GB" sz="2400" dirty="0">
                <a:solidFill>
                  <a:srgbClr val="080912"/>
                </a:solidFill>
                <a:latin typeface="Arial MT"/>
                <a:cs typeface="Arial MT"/>
              </a:rPr>
              <a:t> </a:t>
            </a:r>
            <a:r>
              <a:rPr lang="en-GB" sz="2400" spc="-3" dirty="0">
                <a:solidFill>
                  <a:srgbClr val="080912"/>
                </a:solidFill>
                <a:latin typeface="Arial MT"/>
                <a:cs typeface="Arial MT"/>
              </a:rPr>
              <a:t>ability</a:t>
            </a:r>
            <a:r>
              <a:rPr lang="en-GB" sz="2400" dirty="0">
                <a:solidFill>
                  <a:srgbClr val="080912"/>
                </a:solidFill>
                <a:latin typeface="Arial MT"/>
                <a:cs typeface="Arial MT"/>
              </a:rPr>
              <a:t> </a:t>
            </a:r>
            <a:r>
              <a:rPr lang="en-GB" sz="2400" spc="-3" dirty="0">
                <a:solidFill>
                  <a:srgbClr val="080912"/>
                </a:solidFill>
                <a:latin typeface="Arial MT"/>
                <a:cs typeface="Arial MT"/>
              </a:rPr>
              <a:t>to</a:t>
            </a:r>
            <a:r>
              <a:rPr lang="en-GB" sz="2400" dirty="0">
                <a:solidFill>
                  <a:srgbClr val="080912"/>
                </a:solidFill>
                <a:latin typeface="Arial MT"/>
                <a:cs typeface="Arial MT"/>
              </a:rPr>
              <a:t> </a:t>
            </a:r>
            <a:r>
              <a:rPr lang="en-GB" sz="2400" spc="-3" dirty="0">
                <a:solidFill>
                  <a:srgbClr val="080912"/>
                </a:solidFill>
                <a:latin typeface="Arial MT"/>
                <a:cs typeface="Arial MT"/>
              </a:rPr>
              <a:t>fit</a:t>
            </a:r>
            <a:r>
              <a:rPr lang="en-GB" sz="2400" spc="-7" dirty="0">
                <a:solidFill>
                  <a:srgbClr val="080912"/>
                </a:solidFill>
                <a:latin typeface="Arial MT"/>
                <a:cs typeface="Arial MT"/>
              </a:rPr>
              <a:t> </a:t>
            </a:r>
            <a:r>
              <a:rPr lang="en-GB" sz="2400" dirty="0">
                <a:solidFill>
                  <a:srgbClr val="080912"/>
                </a:solidFill>
                <a:latin typeface="Arial MT"/>
                <a:cs typeface="Arial MT"/>
              </a:rPr>
              <a:t>or</a:t>
            </a:r>
            <a:r>
              <a:rPr lang="en-GB" sz="2400" spc="7" dirty="0">
                <a:solidFill>
                  <a:srgbClr val="0F63FD"/>
                </a:solidFill>
                <a:latin typeface="Arial MT"/>
                <a:cs typeface="Arial MT"/>
              </a:rPr>
              <a:t> </a:t>
            </a:r>
            <a:r>
              <a:rPr lang="en-GB" sz="2000" u="sng" spc="-3" dirty="0">
                <a:solidFill>
                  <a:srgbClr val="0F63FD"/>
                </a:solidFill>
                <a:uFill>
                  <a:solidFill>
                    <a:srgbClr val="0F63FD"/>
                  </a:solidFill>
                </a:uFill>
                <a:latin typeface="Arial MT"/>
                <a:cs typeface="Arial MT"/>
              </a:rPr>
              <a:t>train</a:t>
            </a:r>
            <a:r>
              <a:rPr lang="en-GB" sz="2000" u="sng" spc="-7" dirty="0">
                <a:solidFill>
                  <a:srgbClr val="0F63FD"/>
                </a:solidFill>
                <a:uFill>
                  <a:solidFill>
                    <a:srgbClr val="0F63FD"/>
                  </a:solidFill>
                </a:uFill>
                <a:latin typeface="Arial MT"/>
                <a:cs typeface="Arial MT"/>
              </a:rPr>
              <a:t> </a:t>
            </a:r>
            <a:r>
              <a:rPr lang="en-GB" sz="2000" u="sng" dirty="0">
                <a:solidFill>
                  <a:srgbClr val="0F63FD"/>
                </a:solidFill>
                <a:uFill>
                  <a:solidFill>
                    <a:srgbClr val="0F63FD"/>
                  </a:solidFill>
                </a:uFill>
                <a:latin typeface="Arial MT"/>
                <a:cs typeface="Arial MT"/>
              </a:rPr>
              <a:t>from</a:t>
            </a:r>
            <a:r>
              <a:rPr lang="en-GB" sz="2000" u="sng" spc="-3" dirty="0">
                <a:solidFill>
                  <a:srgbClr val="0F63FD"/>
                </a:solidFill>
                <a:uFill>
                  <a:solidFill>
                    <a:srgbClr val="0F63FD"/>
                  </a:solidFill>
                </a:uFill>
                <a:latin typeface="Arial MT"/>
                <a:cs typeface="Arial MT"/>
              </a:rPr>
              <a:t> the</a:t>
            </a:r>
            <a:r>
              <a:rPr lang="en-GB" sz="2000" u="sng" dirty="0">
                <a:solidFill>
                  <a:srgbClr val="0F63FD"/>
                </a:solidFill>
                <a:uFill>
                  <a:solidFill>
                    <a:srgbClr val="0F63FD"/>
                  </a:solidFill>
                </a:uFill>
                <a:latin typeface="Arial MT"/>
                <a:cs typeface="Arial MT"/>
              </a:rPr>
              <a:t> </a:t>
            </a:r>
            <a:r>
              <a:rPr lang="en-GB" sz="2000" u="sng" spc="-3" dirty="0">
                <a:solidFill>
                  <a:srgbClr val="0F63FD"/>
                </a:solidFill>
                <a:uFill>
                  <a:solidFill>
                    <a:srgbClr val="0F63FD"/>
                  </a:solidFill>
                </a:uFill>
                <a:latin typeface="Arial MT"/>
                <a:cs typeface="Arial MT"/>
              </a:rPr>
              <a:t>data</a:t>
            </a:r>
            <a:r>
              <a:rPr lang="en-GB" sz="2000" spc="27" dirty="0">
                <a:solidFill>
                  <a:srgbClr val="0F63FD"/>
                </a:solidFill>
                <a:latin typeface="Arial MT"/>
                <a:cs typeface="Arial MT"/>
              </a:rPr>
              <a:t> </a:t>
            </a:r>
            <a:r>
              <a:rPr lang="en-GB" sz="2400" spc="-3" dirty="0">
                <a:solidFill>
                  <a:srgbClr val="080912"/>
                </a:solidFill>
                <a:latin typeface="Arial MT"/>
                <a:cs typeface="Arial MT"/>
              </a:rPr>
              <a:t>properly.</a:t>
            </a:r>
          </a:p>
          <a:p>
            <a:pPr marL="320378" marR="419089" indent="-156292" algn="just">
              <a:lnSpc>
                <a:spcPct val="116500"/>
              </a:lnSpc>
              <a:spcBef>
                <a:spcPts val="505"/>
              </a:spcBef>
              <a:buSzPct val="74074"/>
              <a:buFont typeface="Symbol"/>
              <a:buChar char=""/>
              <a:tabLst>
                <a:tab pos="320810" algn="l"/>
              </a:tabLst>
            </a:pPr>
            <a:endParaRPr lang="en-GB" sz="2400" dirty="0">
              <a:latin typeface="Arial MT"/>
              <a:cs typeface="Arial MT"/>
            </a:endParaRPr>
          </a:p>
          <a:p>
            <a:endParaRPr lang="en-PK" dirty="0"/>
          </a:p>
        </p:txBody>
      </p:sp>
      <p:sp>
        <p:nvSpPr>
          <p:cNvPr id="2" name="Slide Number Placeholder 1">
            <a:extLst>
              <a:ext uri="{FF2B5EF4-FFF2-40B4-BE49-F238E27FC236}">
                <a16:creationId xmlns:a16="http://schemas.microsoft.com/office/drawing/2014/main" id="{34B8417F-A92E-9EE2-E6D3-13E50054166B}"/>
              </a:ext>
            </a:extLst>
          </p:cNvPr>
          <p:cNvSpPr>
            <a:spLocks noGrp="1"/>
          </p:cNvSpPr>
          <p:nvPr>
            <p:ph type="sldNum" sz="quarter" idx="12"/>
          </p:nvPr>
        </p:nvSpPr>
        <p:spPr/>
        <p:txBody>
          <a:bodyPr/>
          <a:lstStyle/>
          <a:p>
            <a:fld id="{9CD9A578-84A4-4247-B01E-A84B9E2DF7BB}" type="slidenum">
              <a:rPr lang="en-PK" smtClean="0"/>
              <a:t>12</a:t>
            </a:fld>
            <a:endParaRPr lang="en-PK"/>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749387" y="5807998"/>
            <a:ext cx="3632056" cy="150758"/>
          </a:xfrm>
          <a:prstGeom prst="rect">
            <a:avLst/>
          </a:prstGeom>
        </p:spPr>
        <p:txBody>
          <a:bodyPr vert="horz" wrap="square" lIns="0" tIns="9092" rIns="0" bIns="0" rtlCol="0">
            <a:spAutoFit/>
          </a:bodyPr>
          <a:lstStyle/>
          <a:p>
            <a:pPr marL="8659">
              <a:spcBef>
                <a:spcPts val="72"/>
              </a:spcBef>
            </a:pPr>
            <a:r>
              <a:rPr sz="920" dirty="0">
                <a:solidFill>
                  <a:srgbClr val="080912"/>
                </a:solidFill>
                <a:latin typeface="Arial MT"/>
                <a:cs typeface="Arial MT"/>
              </a:rPr>
              <a:t>.</a:t>
            </a:r>
            <a:endParaRPr sz="920" dirty="0">
              <a:latin typeface="Arial MT"/>
              <a:cs typeface="Arial MT"/>
            </a:endParaRPr>
          </a:p>
        </p:txBody>
      </p:sp>
      <p:pic>
        <p:nvPicPr>
          <p:cNvPr id="5" name="object 5"/>
          <p:cNvPicPr/>
          <p:nvPr/>
        </p:nvPicPr>
        <p:blipFill>
          <a:blip r:embed="rId2" cstate="print"/>
          <a:stretch>
            <a:fillRect/>
          </a:stretch>
        </p:blipFill>
        <p:spPr>
          <a:xfrm>
            <a:off x="8908610" y="4127964"/>
            <a:ext cx="2375136" cy="2479840"/>
          </a:xfrm>
          <a:prstGeom prst="rect">
            <a:avLst/>
          </a:prstGeom>
        </p:spPr>
      </p:pic>
      <p:sp>
        <p:nvSpPr>
          <p:cNvPr id="6" name="Title 5">
            <a:extLst>
              <a:ext uri="{FF2B5EF4-FFF2-40B4-BE49-F238E27FC236}">
                <a16:creationId xmlns:a16="http://schemas.microsoft.com/office/drawing/2014/main" id="{D0300DA9-3C2F-BF34-4524-B4C013A7A5CC}"/>
              </a:ext>
            </a:extLst>
          </p:cNvPr>
          <p:cNvSpPr>
            <a:spLocks noGrp="1"/>
          </p:cNvSpPr>
          <p:nvPr>
            <p:ph type="title"/>
          </p:nvPr>
        </p:nvSpPr>
        <p:spPr/>
        <p:txBody>
          <a:bodyPr/>
          <a:lstStyle/>
          <a:p>
            <a:r>
              <a:rPr lang="en-GB" sz="4400" b="1" spc="-31" dirty="0">
                <a:solidFill>
                  <a:srgbClr val="272E40"/>
                </a:solidFill>
                <a:latin typeface="Arial"/>
                <a:cs typeface="Arial"/>
              </a:rPr>
              <a:t>L</a:t>
            </a:r>
            <a:r>
              <a:rPr lang="en-GB" sz="4400" b="1" spc="-34" dirty="0">
                <a:solidFill>
                  <a:srgbClr val="272E40"/>
                </a:solidFill>
                <a:latin typeface="Arial"/>
                <a:cs typeface="Arial"/>
              </a:rPr>
              <a:t>e</a:t>
            </a:r>
            <a:r>
              <a:rPr lang="en-GB" sz="4400" b="1" spc="-24" dirty="0">
                <a:solidFill>
                  <a:srgbClr val="272E40"/>
                </a:solidFill>
                <a:latin typeface="Arial"/>
                <a:cs typeface="Arial"/>
              </a:rPr>
              <a:t>a</a:t>
            </a:r>
            <a:r>
              <a:rPr lang="en-GB" sz="4400" b="1" spc="-34" dirty="0">
                <a:solidFill>
                  <a:srgbClr val="272E40"/>
                </a:solidFill>
                <a:latin typeface="Arial"/>
                <a:cs typeface="Arial"/>
              </a:rPr>
              <a:t>k</a:t>
            </a:r>
            <a:r>
              <a:rPr lang="en-GB" sz="4400" b="1" spc="-3" dirty="0">
                <a:solidFill>
                  <a:srgbClr val="272E40"/>
                </a:solidFill>
                <a:latin typeface="Arial"/>
                <a:cs typeface="Arial"/>
              </a:rPr>
              <a:t>y</a:t>
            </a:r>
            <a:r>
              <a:rPr lang="en-GB" sz="4400" b="1" spc="-51" dirty="0">
                <a:solidFill>
                  <a:srgbClr val="272E40"/>
                </a:solidFill>
                <a:latin typeface="Arial"/>
                <a:cs typeface="Arial"/>
              </a:rPr>
              <a:t> </a:t>
            </a:r>
            <a:r>
              <a:rPr lang="en-GB" sz="4400" b="1" spc="-41" dirty="0" err="1">
                <a:solidFill>
                  <a:srgbClr val="272E40"/>
                </a:solidFill>
                <a:latin typeface="Arial"/>
                <a:cs typeface="Arial"/>
              </a:rPr>
              <a:t>R</a:t>
            </a:r>
            <a:r>
              <a:rPr lang="en-GB" sz="4400" b="1" spc="-24" dirty="0" err="1">
                <a:solidFill>
                  <a:srgbClr val="272E40"/>
                </a:solidFill>
                <a:latin typeface="Arial"/>
                <a:cs typeface="Arial"/>
              </a:rPr>
              <a:t>e</a:t>
            </a:r>
            <a:r>
              <a:rPr lang="en-GB" sz="4400" b="1" spc="-31" dirty="0" err="1">
                <a:solidFill>
                  <a:srgbClr val="272E40"/>
                </a:solidFill>
                <a:latin typeface="Arial"/>
                <a:cs typeface="Arial"/>
              </a:rPr>
              <a:t>L</a:t>
            </a:r>
            <a:r>
              <a:rPr lang="en-GB" sz="4400" b="1" spc="-3" dirty="0" err="1">
                <a:solidFill>
                  <a:srgbClr val="272E40"/>
                </a:solidFill>
                <a:latin typeface="Arial"/>
                <a:cs typeface="Arial"/>
              </a:rPr>
              <a:t>U</a:t>
            </a:r>
            <a:r>
              <a:rPr lang="en-GB" sz="4400" b="1" spc="-51" dirty="0">
                <a:solidFill>
                  <a:srgbClr val="272E40"/>
                </a:solidFill>
                <a:latin typeface="Arial"/>
                <a:cs typeface="Arial"/>
              </a:rPr>
              <a:t> </a:t>
            </a:r>
            <a:r>
              <a:rPr lang="en-GB" sz="4400" b="1" spc="-31" dirty="0">
                <a:solidFill>
                  <a:srgbClr val="272E40"/>
                </a:solidFill>
                <a:latin typeface="Arial"/>
                <a:cs typeface="Arial"/>
              </a:rPr>
              <a:t>Fu</a:t>
            </a:r>
            <a:r>
              <a:rPr lang="en-GB" sz="4400" b="1" spc="-37" dirty="0">
                <a:solidFill>
                  <a:srgbClr val="272E40"/>
                </a:solidFill>
                <a:latin typeface="Arial"/>
                <a:cs typeface="Arial"/>
              </a:rPr>
              <a:t>n</a:t>
            </a:r>
            <a:r>
              <a:rPr lang="en-GB" sz="4400" b="1" spc="-34" dirty="0">
                <a:solidFill>
                  <a:srgbClr val="272E40"/>
                </a:solidFill>
                <a:latin typeface="Arial"/>
                <a:cs typeface="Arial"/>
              </a:rPr>
              <a:t>c</a:t>
            </a:r>
            <a:r>
              <a:rPr lang="en-GB" sz="4400" b="1" spc="-24" dirty="0">
                <a:solidFill>
                  <a:srgbClr val="272E40"/>
                </a:solidFill>
                <a:latin typeface="Arial"/>
                <a:cs typeface="Arial"/>
              </a:rPr>
              <a:t>ti</a:t>
            </a:r>
            <a:r>
              <a:rPr lang="en-GB" sz="4400" b="1" spc="-31" dirty="0">
                <a:solidFill>
                  <a:srgbClr val="272E40"/>
                </a:solidFill>
                <a:latin typeface="Arial"/>
                <a:cs typeface="Arial"/>
              </a:rPr>
              <a:t>o</a:t>
            </a:r>
            <a:r>
              <a:rPr lang="en-GB" sz="4400" b="1" dirty="0">
                <a:solidFill>
                  <a:srgbClr val="272E40"/>
                </a:solidFill>
                <a:latin typeface="Arial"/>
                <a:cs typeface="Arial"/>
              </a:rPr>
              <a:t>n</a:t>
            </a:r>
            <a:br>
              <a:rPr lang="en-GB" sz="4400" dirty="0">
                <a:latin typeface="Arial"/>
                <a:cs typeface="Arial"/>
              </a:rPr>
            </a:br>
            <a:endParaRPr lang="en-PK" dirty="0"/>
          </a:p>
        </p:txBody>
      </p:sp>
      <p:sp>
        <p:nvSpPr>
          <p:cNvPr id="7" name="Content Placeholder 6">
            <a:extLst>
              <a:ext uri="{FF2B5EF4-FFF2-40B4-BE49-F238E27FC236}">
                <a16:creationId xmlns:a16="http://schemas.microsoft.com/office/drawing/2014/main" id="{D9C88A9C-1E66-1925-68B8-834A18740065}"/>
              </a:ext>
            </a:extLst>
          </p:cNvPr>
          <p:cNvSpPr>
            <a:spLocks noGrp="1"/>
          </p:cNvSpPr>
          <p:nvPr>
            <p:ph idx="1"/>
          </p:nvPr>
        </p:nvSpPr>
        <p:spPr>
          <a:xfrm>
            <a:off x="1143000" y="1665838"/>
            <a:ext cx="7177135" cy="4142159"/>
          </a:xfrm>
        </p:spPr>
        <p:txBody>
          <a:bodyPr>
            <a:normAutofit fontScale="70000" lnSpcReduction="20000"/>
          </a:bodyPr>
          <a:lstStyle/>
          <a:p>
            <a:pPr marL="8659" marR="3896" algn="just">
              <a:lnSpc>
                <a:spcPct val="143700"/>
              </a:lnSpc>
              <a:spcBef>
                <a:spcPts val="399"/>
              </a:spcBef>
            </a:pPr>
            <a:r>
              <a:rPr lang="en-GB" sz="2400" spc="-10" dirty="0">
                <a:solidFill>
                  <a:srgbClr val="080912"/>
                </a:solidFill>
                <a:latin typeface="Arial MT"/>
                <a:cs typeface="Arial MT"/>
              </a:rPr>
              <a:t>Leaky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is </a:t>
            </a:r>
            <a:r>
              <a:rPr lang="en-GB" sz="2400" spc="-3" dirty="0">
                <a:solidFill>
                  <a:srgbClr val="080912"/>
                </a:solidFill>
                <a:latin typeface="Arial MT"/>
                <a:cs typeface="Arial MT"/>
              </a:rPr>
              <a:t>an </a:t>
            </a:r>
            <a:r>
              <a:rPr lang="en-GB" sz="2400" spc="-14" dirty="0">
                <a:solidFill>
                  <a:srgbClr val="080912"/>
                </a:solidFill>
                <a:latin typeface="Arial MT"/>
                <a:cs typeface="Arial MT"/>
              </a:rPr>
              <a:t>improved </a:t>
            </a:r>
            <a:r>
              <a:rPr lang="en-GB" sz="2400" spc="-10" dirty="0">
                <a:solidFill>
                  <a:srgbClr val="080912"/>
                </a:solidFill>
                <a:latin typeface="Arial MT"/>
                <a:cs typeface="Arial MT"/>
              </a:rPr>
              <a:t>version </a:t>
            </a:r>
            <a:r>
              <a:rPr lang="en-GB" sz="2400" spc="-3" dirty="0">
                <a:solidFill>
                  <a:srgbClr val="080912"/>
                </a:solidFill>
                <a:latin typeface="Arial MT"/>
                <a:cs typeface="Arial MT"/>
              </a:rPr>
              <a:t>of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function </a:t>
            </a:r>
            <a:r>
              <a:rPr lang="en-GB" sz="2400" spc="-7" dirty="0">
                <a:solidFill>
                  <a:srgbClr val="080912"/>
                </a:solidFill>
                <a:latin typeface="Arial MT"/>
                <a:cs typeface="Arial MT"/>
              </a:rPr>
              <a:t>to </a:t>
            </a:r>
            <a:r>
              <a:rPr lang="en-GB" sz="2400" spc="-10" dirty="0">
                <a:solidFill>
                  <a:srgbClr val="080912"/>
                </a:solidFill>
                <a:latin typeface="Arial MT"/>
                <a:cs typeface="Arial MT"/>
              </a:rPr>
              <a:t>solve the Dying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problem </a:t>
            </a:r>
            <a:r>
              <a:rPr lang="en-GB" sz="2400" spc="-7" dirty="0">
                <a:solidFill>
                  <a:srgbClr val="080912"/>
                </a:solidFill>
                <a:latin typeface="Arial MT"/>
                <a:cs typeface="Arial MT"/>
              </a:rPr>
              <a:t>as it </a:t>
            </a:r>
            <a:r>
              <a:rPr lang="en-GB" sz="2400" spc="-3" dirty="0">
                <a:solidFill>
                  <a:srgbClr val="080912"/>
                </a:solidFill>
                <a:latin typeface="Arial MT"/>
                <a:cs typeface="Arial MT"/>
              </a:rPr>
              <a:t> </a:t>
            </a:r>
            <a:r>
              <a:rPr lang="en-GB" sz="2400" spc="-7" dirty="0">
                <a:solidFill>
                  <a:srgbClr val="080912"/>
                </a:solidFill>
                <a:latin typeface="Arial MT"/>
                <a:cs typeface="Arial MT"/>
              </a:rPr>
              <a:t>has</a:t>
            </a:r>
            <a:r>
              <a:rPr lang="en-GB" sz="2400" spc="-24" dirty="0">
                <a:solidFill>
                  <a:srgbClr val="080912"/>
                </a:solidFill>
                <a:latin typeface="Arial MT"/>
                <a:cs typeface="Arial MT"/>
              </a:rPr>
              <a:t> </a:t>
            </a:r>
            <a:r>
              <a:rPr lang="en-GB" sz="2400" dirty="0">
                <a:solidFill>
                  <a:srgbClr val="080912"/>
                </a:solidFill>
                <a:latin typeface="Arial MT"/>
                <a:cs typeface="Arial MT"/>
              </a:rPr>
              <a:t>a</a:t>
            </a:r>
            <a:r>
              <a:rPr lang="en-GB" sz="2400" spc="-27" dirty="0">
                <a:solidFill>
                  <a:srgbClr val="080912"/>
                </a:solidFill>
                <a:latin typeface="Arial MT"/>
                <a:cs typeface="Arial MT"/>
              </a:rPr>
              <a:t> </a:t>
            </a:r>
            <a:r>
              <a:rPr lang="en-GB" sz="2400" spc="-10" dirty="0">
                <a:solidFill>
                  <a:srgbClr val="080912"/>
                </a:solidFill>
                <a:latin typeface="Arial MT"/>
                <a:cs typeface="Arial MT"/>
              </a:rPr>
              <a:t>small</a:t>
            </a:r>
            <a:r>
              <a:rPr lang="en-GB" sz="2400" spc="-20" dirty="0">
                <a:solidFill>
                  <a:srgbClr val="080912"/>
                </a:solidFill>
                <a:latin typeface="Arial MT"/>
                <a:cs typeface="Arial MT"/>
              </a:rPr>
              <a:t> </a:t>
            </a:r>
            <a:r>
              <a:rPr lang="en-GB" sz="2400" spc="-14" dirty="0">
                <a:solidFill>
                  <a:srgbClr val="080912"/>
                </a:solidFill>
                <a:latin typeface="Arial MT"/>
                <a:cs typeface="Arial MT"/>
              </a:rPr>
              <a:t>positive</a:t>
            </a:r>
            <a:r>
              <a:rPr lang="en-GB" sz="2400" spc="-27" dirty="0">
                <a:solidFill>
                  <a:srgbClr val="080912"/>
                </a:solidFill>
                <a:latin typeface="Arial MT"/>
                <a:cs typeface="Arial MT"/>
              </a:rPr>
              <a:t> </a:t>
            </a:r>
            <a:r>
              <a:rPr lang="en-GB" sz="2400" spc="-10" dirty="0">
                <a:solidFill>
                  <a:srgbClr val="080912"/>
                </a:solidFill>
                <a:latin typeface="Arial MT"/>
                <a:cs typeface="Arial MT"/>
              </a:rPr>
              <a:t>slope</a:t>
            </a:r>
            <a:r>
              <a:rPr lang="en-GB" sz="2400" spc="-27" dirty="0">
                <a:solidFill>
                  <a:srgbClr val="080912"/>
                </a:solidFill>
                <a:latin typeface="Arial MT"/>
                <a:cs typeface="Arial MT"/>
              </a:rPr>
              <a:t> </a:t>
            </a:r>
            <a:r>
              <a:rPr lang="en-GB" sz="2400" spc="-7" dirty="0">
                <a:solidFill>
                  <a:srgbClr val="080912"/>
                </a:solidFill>
                <a:latin typeface="Arial MT"/>
                <a:cs typeface="Arial MT"/>
              </a:rPr>
              <a:t>in</a:t>
            </a:r>
            <a:r>
              <a:rPr lang="en-GB" sz="2400" spc="-20" dirty="0">
                <a:solidFill>
                  <a:srgbClr val="080912"/>
                </a:solidFill>
                <a:latin typeface="Arial MT"/>
                <a:cs typeface="Arial MT"/>
              </a:rPr>
              <a:t> </a:t>
            </a:r>
            <a:r>
              <a:rPr lang="en-GB" sz="2400" spc="-14"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negative</a:t>
            </a:r>
            <a:r>
              <a:rPr lang="en-GB" sz="2400" spc="-27" dirty="0">
                <a:solidFill>
                  <a:srgbClr val="080912"/>
                </a:solidFill>
                <a:latin typeface="Arial MT"/>
                <a:cs typeface="Arial MT"/>
              </a:rPr>
              <a:t> </a:t>
            </a:r>
            <a:r>
              <a:rPr lang="en-GB" sz="2400" spc="-10" dirty="0">
                <a:solidFill>
                  <a:srgbClr val="080912"/>
                </a:solidFill>
                <a:latin typeface="Arial MT"/>
                <a:cs typeface="Arial MT"/>
              </a:rPr>
              <a:t>area.</a:t>
            </a:r>
            <a:endParaRPr lang="en-GB" sz="2400" spc="-7" dirty="0">
              <a:solidFill>
                <a:srgbClr val="080912"/>
              </a:solidFill>
              <a:latin typeface="Arial MT"/>
              <a:cs typeface="Arial MT"/>
            </a:endParaRPr>
          </a:p>
          <a:p>
            <a:pPr marL="8659" marR="6927" algn="just">
              <a:lnSpc>
                <a:spcPct val="143700"/>
              </a:lnSpc>
              <a:spcBef>
                <a:spcPts val="65"/>
              </a:spcBef>
            </a:pPr>
            <a:r>
              <a:rPr lang="en-GB" sz="2400" spc="-7" dirty="0">
                <a:solidFill>
                  <a:srgbClr val="080912"/>
                </a:solidFill>
                <a:latin typeface="Arial MT"/>
                <a:cs typeface="Arial MT"/>
              </a:rPr>
              <a:t>The </a:t>
            </a:r>
            <a:r>
              <a:rPr lang="en-GB" sz="2400" spc="-14" dirty="0">
                <a:solidFill>
                  <a:srgbClr val="080912"/>
                </a:solidFill>
                <a:latin typeface="Arial MT"/>
                <a:cs typeface="Arial MT"/>
              </a:rPr>
              <a:t>advantages </a:t>
            </a:r>
            <a:r>
              <a:rPr lang="en-GB" sz="2400" spc="-3" dirty="0">
                <a:solidFill>
                  <a:srgbClr val="080912"/>
                </a:solidFill>
                <a:latin typeface="Arial MT"/>
                <a:cs typeface="Arial MT"/>
              </a:rPr>
              <a:t>of </a:t>
            </a:r>
            <a:r>
              <a:rPr lang="en-GB" sz="2400" spc="-10" dirty="0">
                <a:solidFill>
                  <a:srgbClr val="080912"/>
                </a:solidFill>
                <a:latin typeface="Arial MT"/>
                <a:cs typeface="Arial MT"/>
              </a:rPr>
              <a:t>Leaky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are same </a:t>
            </a:r>
            <a:r>
              <a:rPr lang="en-GB" sz="2400" spc="-7" dirty="0">
                <a:solidFill>
                  <a:srgbClr val="080912"/>
                </a:solidFill>
                <a:latin typeface="Arial MT"/>
                <a:cs typeface="Arial MT"/>
              </a:rPr>
              <a:t>as </a:t>
            </a:r>
            <a:r>
              <a:rPr lang="en-GB" sz="2400" spc="-10" dirty="0">
                <a:solidFill>
                  <a:srgbClr val="080912"/>
                </a:solidFill>
                <a:latin typeface="Arial MT"/>
                <a:cs typeface="Arial MT"/>
              </a:rPr>
              <a:t>that </a:t>
            </a:r>
            <a:r>
              <a:rPr lang="en-GB" sz="2400" spc="-3" dirty="0">
                <a:solidFill>
                  <a:srgbClr val="080912"/>
                </a:solidFill>
                <a:latin typeface="Arial MT"/>
                <a:cs typeface="Arial MT"/>
              </a:rPr>
              <a:t>of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in addition to the fact </a:t>
            </a:r>
            <a:r>
              <a:rPr lang="en-GB" sz="2400" spc="-7" dirty="0">
                <a:solidFill>
                  <a:srgbClr val="080912"/>
                </a:solidFill>
                <a:latin typeface="Arial MT"/>
                <a:cs typeface="Arial MT"/>
              </a:rPr>
              <a:t>that it </a:t>
            </a:r>
            <a:r>
              <a:rPr lang="en-GB" sz="2400" spc="-14" dirty="0">
                <a:solidFill>
                  <a:srgbClr val="080912"/>
                </a:solidFill>
                <a:latin typeface="Arial MT"/>
                <a:cs typeface="Arial MT"/>
              </a:rPr>
              <a:t>does </a:t>
            </a:r>
            <a:r>
              <a:rPr lang="en-GB" sz="2400" spc="-249" dirty="0">
                <a:solidFill>
                  <a:srgbClr val="080912"/>
                </a:solidFill>
                <a:latin typeface="Arial MT"/>
                <a:cs typeface="Arial MT"/>
              </a:rPr>
              <a:t> </a:t>
            </a:r>
            <a:r>
              <a:rPr lang="en-GB" sz="2400" spc="-10" dirty="0">
                <a:solidFill>
                  <a:srgbClr val="080912"/>
                </a:solidFill>
                <a:latin typeface="Arial MT"/>
                <a:cs typeface="Arial MT"/>
              </a:rPr>
              <a:t>enable</a:t>
            </a:r>
            <a:r>
              <a:rPr lang="en-GB" sz="2400" spc="-20" dirty="0">
                <a:solidFill>
                  <a:srgbClr val="080912"/>
                </a:solidFill>
                <a:latin typeface="Arial MT"/>
                <a:cs typeface="Arial MT"/>
              </a:rPr>
              <a:t> </a:t>
            </a:r>
            <a:r>
              <a:rPr lang="en-GB" sz="2400" spc="-14" dirty="0">
                <a:solidFill>
                  <a:srgbClr val="080912"/>
                </a:solidFill>
                <a:latin typeface="Arial MT"/>
                <a:cs typeface="Arial MT"/>
              </a:rPr>
              <a:t>backpropagation,</a:t>
            </a:r>
            <a:r>
              <a:rPr lang="en-GB" sz="2400" spc="-24" dirty="0">
                <a:solidFill>
                  <a:srgbClr val="080912"/>
                </a:solidFill>
                <a:latin typeface="Arial MT"/>
                <a:cs typeface="Arial MT"/>
              </a:rPr>
              <a:t> </a:t>
            </a:r>
            <a:r>
              <a:rPr lang="en-GB" sz="2400" spc="-10" dirty="0">
                <a:solidFill>
                  <a:srgbClr val="080912"/>
                </a:solidFill>
                <a:latin typeface="Arial MT"/>
                <a:cs typeface="Arial MT"/>
              </a:rPr>
              <a:t>even</a:t>
            </a:r>
            <a:r>
              <a:rPr lang="en-GB" sz="2400" spc="-20" dirty="0">
                <a:solidFill>
                  <a:srgbClr val="080912"/>
                </a:solidFill>
                <a:latin typeface="Arial MT"/>
                <a:cs typeface="Arial MT"/>
              </a:rPr>
              <a:t> </a:t>
            </a:r>
            <a:r>
              <a:rPr lang="en-GB" sz="2400" spc="-10" dirty="0">
                <a:solidFill>
                  <a:srgbClr val="080912"/>
                </a:solidFill>
                <a:latin typeface="Arial MT"/>
                <a:cs typeface="Arial MT"/>
              </a:rPr>
              <a:t>for</a:t>
            </a:r>
            <a:r>
              <a:rPr lang="en-GB" sz="2400" spc="-24" dirty="0">
                <a:solidFill>
                  <a:srgbClr val="080912"/>
                </a:solidFill>
                <a:latin typeface="Arial MT"/>
                <a:cs typeface="Arial MT"/>
              </a:rPr>
              <a:t> </a:t>
            </a:r>
            <a:r>
              <a:rPr lang="en-GB" sz="2400" spc="-10" dirty="0">
                <a:solidFill>
                  <a:srgbClr val="080912"/>
                </a:solidFill>
                <a:latin typeface="Arial MT"/>
                <a:cs typeface="Arial MT"/>
              </a:rPr>
              <a:t>negative</a:t>
            </a:r>
            <a:r>
              <a:rPr lang="en-GB" sz="2400" spc="-20" dirty="0">
                <a:solidFill>
                  <a:srgbClr val="080912"/>
                </a:solidFill>
                <a:latin typeface="Arial MT"/>
                <a:cs typeface="Arial MT"/>
              </a:rPr>
              <a:t> </a:t>
            </a:r>
            <a:r>
              <a:rPr lang="en-GB" sz="2400" spc="-10" dirty="0">
                <a:solidFill>
                  <a:srgbClr val="080912"/>
                </a:solidFill>
                <a:latin typeface="Arial MT"/>
                <a:cs typeface="Arial MT"/>
              </a:rPr>
              <a:t>input</a:t>
            </a:r>
            <a:r>
              <a:rPr lang="en-GB" sz="2400" spc="-31" dirty="0">
                <a:solidFill>
                  <a:srgbClr val="080912"/>
                </a:solidFill>
                <a:latin typeface="Arial MT"/>
                <a:cs typeface="Arial MT"/>
              </a:rPr>
              <a:t> </a:t>
            </a:r>
            <a:r>
              <a:rPr lang="en-GB" sz="2400" spc="-10" dirty="0">
                <a:solidFill>
                  <a:srgbClr val="080912"/>
                </a:solidFill>
                <a:latin typeface="Arial MT"/>
                <a:cs typeface="Arial MT"/>
              </a:rPr>
              <a:t>values.</a:t>
            </a:r>
            <a:endParaRPr lang="en-GB" sz="2400" dirty="0">
              <a:latin typeface="Arial MT"/>
              <a:cs typeface="Arial MT"/>
            </a:endParaRPr>
          </a:p>
          <a:p>
            <a:pPr marL="8659" marR="3464" algn="just">
              <a:lnSpc>
                <a:spcPct val="143700"/>
              </a:lnSpc>
              <a:spcBef>
                <a:spcPts val="402"/>
              </a:spcBef>
            </a:pPr>
            <a:r>
              <a:rPr lang="en-GB" sz="2400" spc="-7" dirty="0">
                <a:solidFill>
                  <a:srgbClr val="080912"/>
                </a:solidFill>
                <a:latin typeface="Arial MT"/>
                <a:cs typeface="Arial MT"/>
              </a:rPr>
              <a:t>By</a:t>
            </a:r>
            <a:r>
              <a:rPr lang="en-GB" sz="2400" spc="-20" dirty="0">
                <a:solidFill>
                  <a:srgbClr val="080912"/>
                </a:solidFill>
                <a:latin typeface="Arial MT"/>
                <a:cs typeface="Arial MT"/>
              </a:rPr>
              <a:t> </a:t>
            </a:r>
            <a:r>
              <a:rPr lang="en-GB" sz="2400" spc="-10" dirty="0">
                <a:solidFill>
                  <a:srgbClr val="080912"/>
                </a:solidFill>
                <a:latin typeface="Arial MT"/>
                <a:cs typeface="Arial MT"/>
              </a:rPr>
              <a:t>making</a:t>
            </a:r>
            <a:r>
              <a:rPr lang="en-GB" sz="2400" spc="-20" dirty="0">
                <a:solidFill>
                  <a:srgbClr val="080912"/>
                </a:solidFill>
                <a:latin typeface="Arial MT"/>
                <a:cs typeface="Arial MT"/>
              </a:rPr>
              <a:t> </a:t>
            </a:r>
            <a:r>
              <a:rPr lang="en-GB" sz="2400" spc="-14" dirty="0">
                <a:solidFill>
                  <a:srgbClr val="080912"/>
                </a:solidFill>
                <a:latin typeface="Arial MT"/>
                <a:cs typeface="Arial MT"/>
              </a:rPr>
              <a:t>this</a:t>
            </a:r>
            <a:r>
              <a:rPr lang="en-GB" sz="2400" spc="-17" dirty="0">
                <a:solidFill>
                  <a:srgbClr val="080912"/>
                </a:solidFill>
                <a:latin typeface="Arial MT"/>
                <a:cs typeface="Arial MT"/>
              </a:rPr>
              <a:t> </a:t>
            </a:r>
            <a:r>
              <a:rPr lang="en-GB" sz="2400" spc="-10" dirty="0">
                <a:solidFill>
                  <a:srgbClr val="080912"/>
                </a:solidFill>
                <a:latin typeface="Arial MT"/>
                <a:cs typeface="Arial MT"/>
              </a:rPr>
              <a:t>minor</a:t>
            </a:r>
            <a:r>
              <a:rPr lang="en-GB" sz="2400" spc="-17" dirty="0">
                <a:solidFill>
                  <a:srgbClr val="080912"/>
                </a:solidFill>
                <a:latin typeface="Arial MT"/>
                <a:cs typeface="Arial MT"/>
              </a:rPr>
              <a:t> </a:t>
            </a:r>
            <a:r>
              <a:rPr lang="en-GB" sz="2400" spc="-14" dirty="0">
                <a:solidFill>
                  <a:srgbClr val="080912"/>
                </a:solidFill>
                <a:latin typeface="Arial MT"/>
                <a:cs typeface="Arial MT"/>
              </a:rPr>
              <a:t>modification for</a:t>
            </a:r>
            <a:r>
              <a:rPr lang="en-GB" sz="2400" spc="-17" dirty="0">
                <a:solidFill>
                  <a:srgbClr val="080912"/>
                </a:solidFill>
                <a:latin typeface="Arial MT"/>
                <a:cs typeface="Arial MT"/>
              </a:rPr>
              <a:t> </a:t>
            </a:r>
            <a:r>
              <a:rPr lang="en-GB" sz="2400" spc="-10" dirty="0">
                <a:solidFill>
                  <a:srgbClr val="080912"/>
                </a:solidFill>
                <a:latin typeface="Arial MT"/>
                <a:cs typeface="Arial MT"/>
              </a:rPr>
              <a:t>negative</a:t>
            </a:r>
            <a:r>
              <a:rPr lang="en-GB" sz="2400" spc="-14" dirty="0">
                <a:solidFill>
                  <a:srgbClr val="080912"/>
                </a:solidFill>
                <a:latin typeface="Arial MT"/>
                <a:cs typeface="Arial MT"/>
              </a:rPr>
              <a:t> </a:t>
            </a:r>
            <a:r>
              <a:rPr lang="en-GB" sz="2400" spc="-10" dirty="0">
                <a:solidFill>
                  <a:srgbClr val="080912"/>
                </a:solidFill>
                <a:latin typeface="Arial MT"/>
                <a:cs typeface="Arial MT"/>
              </a:rPr>
              <a:t>input</a:t>
            </a:r>
            <a:r>
              <a:rPr lang="en-GB" sz="2400" spc="-37" dirty="0">
                <a:solidFill>
                  <a:srgbClr val="080912"/>
                </a:solidFill>
                <a:latin typeface="Arial MT"/>
                <a:cs typeface="Arial MT"/>
              </a:rPr>
              <a:t> </a:t>
            </a:r>
            <a:r>
              <a:rPr lang="en-GB" sz="2400" spc="-10" dirty="0">
                <a:solidFill>
                  <a:srgbClr val="080912"/>
                </a:solidFill>
                <a:latin typeface="Arial MT"/>
                <a:cs typeface="Arial MT"/>
              </a:rPr>
              <a:t>values,</a:t>
            </a:r>
            <a:r>
              <a:rPr lang="en-GB" sz="2400" spc="-17" dirty="0">
                <a:solidFill>
                  <a:srgbClr val="080912"/>
                </a:solidFill>
                <a:latin typeface="Arial MT"/>
                <a:cs typeface="Arial MT"/>
              </a:rPr>
              <a:t> </a:t>
            </a:r>
            <a:r>
              <a:rPr lang="en-GB" sz="2400" spc="-14"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gradient</a:t>
            </a:r>
            <a:r>
              <a:rPr lang="en-GB" sz="2400" spc="-34" dirty="0">
                <a:solidFill>
                  <a:srgbClr val="080912"/>
                </a:solidFill>
                <a:latin typeface="Arial MT"/>
                <a:cs typeface="Arial MT"/>
              </a:rPr>
              <a:t> </a:t>
            </a:r>
            <a:r>
              <a:rPr lang="en-GB" sz="2400" spc="-3" dirty="0">
                <a:solidFill>
                  <a:srgbClr val="080912"/>
                </a:solidFill>
                <a:latin typeface="Arial MT"/>
                <a:cs typeface="Arial MT"/>
              </a:rPr>
              <a:t>of</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left</a:t>
            </a:r>
            <a:r>
              <a:rPr lang="en-GB" sz="2400" spc="-27" dirty="0">
                <a:solidFill>
                  <a:srgbClr val="080912"/>
                </a:solidFill>
                <a:latin typeface="Arial MT"/>
                <a:cs typeface="Arial MT"/>
              </a:rPr>
              <a:t> </a:t>
            </a:r>
            <a:r>
              <a:rPr lang="en-GB" sz="2400" spc="-10" dirty="0">
                <a:solidFill>
                  <a:srgbClr val="080912"/>
                </a:solidFill>
                <a:latin typeface="Arial MT"/>
                <a:cs typeface="Arial MT"/>
              </a:rPr>
              <a:t>side</a:t>
            </a:r>
            <a:r>
              <a:rPr lang="en-GB" sz="2400" spc="-20" dirty="0">
                <a:solidFill>
                  <a:srgbClr val="080912"/>
                </a:solidFill>
                <a:latin typeface="Arial MT"/>
                <a:cs typeface="Arial MT"/>
              </a:rPr>
              <a:t> </a:t>
            </a:r>
            <a:r>
              <a:rPr lang="en-GB" sz="2400" spc="-3" dirty="0">
                <a:solidFill>
                  <a:srgbClr val="080912"/>
                </a:solidFill>
                <a:latin typeface="Arial MT"/>
                <a:cs typeface="Arial MT"/>
              </a:rPr>
              <a:t>of</a:t>
            </a:r>
            <a:r>
              <a:rPr lang="en-GB" sz="2400" spc="-17" dirty="0">
                <a:solidFill>
                  <a:srgbClr val="080912"/>
                </a:solidFill>
                <a:latin typeface="Arial MT"/>
                <a:cs typeface="Arial MT"/>
              </a:rPr>
              <a:t> </a:t>
            </a:r>
            <a:r>
              <a:rPr lang="en-GB" sz="2400" spc="-14" dirty="0">
                <a:solidFill>
                  <a:srgbClr val="080912"/>
                </a:solidFill>
                <a:latin typeface="Arial MT"/>
                <a:cs typeface="Arial MT"/>
              </a:rPr>
              <a:t>the </a:t>
            </a:r>
            <a:r>
              <a:rPr lang="en-GB" sz="2400" spc="-249" dirty="0">
                <a:solidFill>
                  <a:srgbClr val="080912"/>
                </a:solidFill>
                <a:latin typeface="Arial MT"/>
                <a:cs typeface="Arial MT"/>
              </a:rPr>
              <a:t> </a:t>
            </a:r>
            <a:r>
              <a:rPr lang="en-GB" sz="2400" spc="-10" dirty="0">
                <a:solidFill>
                  <a:srgbClr val="080912"/>
                </a:solidFill>
                <a:latin typeface="Arial MT"/>
                <a:cs typeface="Arial MT"/>
              </a:rPr>
              <a:t>graph comes </a:t>
            </a:r>
            <a:r>
              <a:rPr lang="en-GB" sz="2400" spc="-7" dirty="0">
                <a:solidFill>
                  <a:srgbClr val="080912"/>
                </a:solidFill>
                <a:latin typeface="Arial MT"/>
                <a:cs typeface="Arial MT"/>
              </a:rPr>
              <a:t>out </a:t>
            </a:r>
            <a:r>
              <a:rPr lang="en-GB" sz="2400" spc="-10" dirty="0">
                <a:solidFill>
                  <a:srgbClr val="080912"/>
                </a:solidFill>
                <a:latin typeface="Arial MT"/>
                <a:cs typeface="Arial MT"/>
              </a:rPr>
              <a:t>to </a:t>
            </a:r>
            <a:r>
              <a:rPr lang="en-GB" sz="2400" spc="-7" dirty="0">
                <a:solidFill>
                  <a:srgbClr val="080912"/>
                </a:solidFill>
                <a:latin typeface="Arial MT"/>
                <a:cs typeface="Arial MT"/>
              </a:rPr>
              <a:t>be </a:t>
            </a:r>
            <a:r>
              <a:rPr lang="en-GB" sz="2400" dirty="0">
                <a:solidFill>
                  <a:srgbClr val="080912"/>
                </a:solidFill>
                <a:latin typeface="Arial MT"/>
                <a:cs typeface="Arial MT"/>
              </a:rPr>
              <a:t>a </a:t>
            </a:r>
            <a:r>
              <a:rPr lang="en-GB" sz="2400" spc="-10" dirty="0">
                <a:solidFill>
                  <a:srgbClr val="080912"/>
                </a:solidFill>
                <a:latin typeface="Arial MT"/>
                <a:cs typeface="Arial MT"/>
              </a:rPr>
              <a:t>non-zero value. Therefore, </a:t>
            </a:r>
            <a:r>
              <a:rPr lang="en-GB" sz="2400" spc="-3" dirty="0">
                <a:solidFill>
                  <a:srgbClr val="080912"/>
                </a:solidFill>
                <a:latin typeface="Arial MT"/>
                <a:cs typeface="Arial MT"/>
              </a:rPr>
              <a:t>we </a:t>
            </a:r>
            <a:r>
              <a:rPr lang="en-GB" sz="2400" spc="-10" dirty="0">
                <a:solidFill>
                  <a:srgbClr val="080912"/>
                </a:solidFill>
                <a:latin typeface="Arial MT"/>
                <a:cs typeface="Arial MT"/>
              </a:rPr>
              <a:t>would </a:t>
            </a:r>
            <a:r>
              <a:rPr lang="en-GB" sz="2400" spc="-7" dirty="0">
                <a:solidFill>
                  <a:srgbClr val="080912"/>
                </a:solidFill>
                <a:latin typeface="Arial MT"/>
                <a:cs typeface="Arial MT"/>
              </a:rPr>
              <a:t>no </a:t>
            </a:r>
            <a:r>
              <a:rPr lang="en-GB" sz="2400" spc="-10" dirty="0">
                <a:solidFill>
                  <a:srgbClr val="080912"/>
                </a:solidFill>
                <a:latin typeface="Arial MT"/>
                <a:cs typeface="Arial MT"/>
              </a:rPr>
              <a:t>longer </a:t>
            </a:r>
            <a:r>
              <a:rPr lang="en-GB" sz="2400" spc="-14" dirty="0">
                <a:solidFill>
                  <a:srgbClr val="080912"/>
                </a:solidFill>
                <a:latin typeface="Arial MT"/>
                <a:cs typeface="Arial MT"/>
              </a:rPr>
              <a:t>encounter </a:t>
            </a:r>
            <a:r>
              <a:rPr lang="en-GB" sz="2400" spc="-10" dirty="0">
                <a:solidFill>
                  <a:srgbClr val="080912"/>
                </a:solidFill>
                <a:latin typeface="Arial MT"/>
                <a:cs typeface="Arial MT"/>
              </a:rPr>
              <a:t>dead </a:t>
            </a:r>
            <a:r>
              <a:rPr lang="en-GB" sz="2400" spc="-7" dirty="0">
                <a:solidFill>
                  <a:srgbClr val="080912"/>
                </a:solidFill>
                <a:latin typeface="Arial MT"/>
                <a:cs typeface="Arial MT"/>
              </a:rPr>
              <a:t> </a:t>
            </a:r>
            <a:r>
              <a:rPr lang="en-GB" sz="2400" spc="-10" dirty="0">
                <a:solidFill>
                  <a:srgbClr val="080912"/>
                </a:solidFill>
                <a:latin typeface="Arial MT"/>
                <a:cs typeface="Arial MT"/>
              </a:rPr>
              <a:t>neurons</a:t>
            </a:r>
            <a:r>
              <a:rPr lang="en-GB" sz="2400" spc="-20" dirty="0">
                <a:solidFill>
                  <a:srgbClr val="080912"/>
                </a:solidFill>
                <a:latin typeface="Arial MT"/>
                <a:cs typeface="Arial MT"/>
              </a:rPr>
              <a:t> </a:t>
            </a:r>
            <a:r>
              <a:rPr lang="en-GB" sz="2400" spc="-10" dirty="0">
                <a:solidFill>
                  <a:srgbClr val="080912"/>
                </a:solidFill>
                <a:latin typeface="Arial MT"/>
                <a:cs typeface="Arial MT"/>
              </a:rPr>
              <a:t>in</a:t>
            </a:r>
            <a:r>
              <a:rPr lang="en-GB" sz="2400" spc="-20" dirty="0">
                <a:solidFill>
                  <a:srgbClr val="080912"/>
                </a:solidFill>
                <a:latin typeface="Arial MT"/>
                <a:cs typeface="Arial MT"/>
              </a:rPr>
              <a:t> </a:t>
            </a:r>
            <a:r>
              <a:rPr lang="en-GB" sz="2400" spc="-7" dirty="0">
                <a:solidFill>
                  <a:srgbClr val="080912"/>
                </a:solidFill>
                <a:latin typeface="Arial MT"/>
                <a:cs typeface="Arial MT"/>
              </a:rPr>
              <a:t>that</a:t>
            </a:r>
            <a:r>
              <a:rPr lang="en-GB" sz="2400" spc="-31" dirty="0">
                <a:solidFill>
                  <a:srgbClr val="080912"/>
                </a:solidFill>
                <a:latin typeface="Arial MT"/>
                <a:cs typeface="Arial MT"/>
              </a:rPr>
              <a:t> </a:t>
            </a:r>
            <a:r>
              <a:rPr lang="en-GB" sz="2400" spc="-10" dirty="0">
                <a:solidFill>
                  <a:srgbClr val="080912"/>
                </a:solidFill>
                <a:latin typeface="Arial MT"/>
                <a:cs typeface="Arial MT"/>
              </a:rPr>
              <a:t>region.</a:t>
            </a:r>
            <a:endParaRPr lang="en-GB" sz="2400" dirty="0">
              <a:latin typeface="Arial MT"/>
              <a:cs typeface="Arial MT"/>
            </a:endParaRPr>
          </a:p>
          <a:p>
            <a:pPr marL="8659">
              <a:spcBef>
                <a:spcPts val="72"/>
              </a:spcBef>
            </a:pPr>
            <a:endParaRPr lang="en-GB" sz="2400" spc="-7" dirty="0">
              <a:solidFill>
                <a:srgbClr val="080912"/>
              </a:solidFill>
              <a:latin typeface="Arial MT"/>
              <a:cs typeface="Arial MT"/>
            </a:endParaRPr>
          </a:p>
          <a:p>
            <a:pPr marL="8659">
              <a:spcBef>
                <a:spcPts val="72"/>
              </a:spcBef>
            </a:pPr>
            <a:r>
              <a:rPr lang="en-GB" sz="2400" spc="-7"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limitations</a:t>
            </a:r>
            <a:r>
              <a:rPr lang="en-GB" sz="2400" spc="-20" dirty="0">
                <a:solidFill>
                  <a:srgbClr val="080912"/>
                </a:solidFill>
                <a:latin typeface="Arial MT"/>
                <a:cs typeface="Arial MT"/>
              </a:rPr>
              <a:t> </a:t>
            </a:r>
            <a:r>
              <a:rPr lang="en-GB" sz="2400" spc="-10" dirty="0">
                <a:solidFill>
                  <a:srgbClr val="080912"/>
                </a:solidFill>
                <a:latin typeface="Arial MT"/>
                <a:cs typeface="Arial MT"/>
              </a:rPr>
              <a:t>that</a:t>
            </a:r>
            <a:r>
              <a:rPr lang="en-GB" sz="2400" spc="-24" dirty="0">
                <a:solidFill>
                  <a:srgbClr val="080912"/>
                </a:solidFill>
                <a:latin typeface="Arial MT"/>
                <a:cs typeface="Arial MT"/>
              </a:rPr>
              <a:t> </a:t>
            </a:r>
            <a:r>
              <a:rPr lang="en-GB" sz="2400" spc="-10" dirty="0">
                <a:solidFill>
                  <a:srgbClr val="080912"/>
                </a:solidFill>
                <a:latin typeface="Arial MT"/>
                <a:cs typeface="Arial MT"/>
              </a:rPr>
              <a:t>this</a:t>
            </a:r>
            <a:r>
              <a:rPr lang="en-GB" sz="2400" spc="-20"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0" dirty="0">
                <a:solidFill>
                  <a:srgbClr val="080912"/>
                </a:solidFill>
                <a:latin typeface="Arial MT"/>
                <a:cs typeface="Arial MT"/>
              </a:rPr>
              <a:t> </a:t>
            </a:r>
            <a:r>
              <a:rPr lang="en-GB" sz="2400" spc="-14" dirty="0">
                <a:solidFill>
                  <a:srgbClr val="080912"/>
                </a:solidFill>
                <a:latin typeface="Arial MT"/>
                <a:cs typeface="Arial MT"/>
              </a:rPr>
              <a:t>faces</a:t>
            </a:r>
            <a:r>
              <a:rPr lang="en-GB" sz="2400" spc="-20" dirty="0">
                <a:solidFill>
                  <a:srgbClr val="080912"/>
                </a:solidFill>
                <a:latin typeface="Arial MT"/>
                <a:cs typeface="Arial MT"/>
              </a:rPr>
              <a:t> </a:t>
            </a:r>
            <a:r>
              <a:rPr lang="en-GB" sz="2400" spc="-10" dirty="0">
                <a:solidFill>
                  <a:srgbClr val="080912"/>
                </a:solidFill>
                <a:latin typeface="Arial MT"/>
                <a:cs typeface="Arial MT"/>
              </a:rPr>
              <a:t>include:</a:t>
            </a:r>
            <a:endParaRPr lang="en-GB" sz="2400" dirty="0">
              <a:latin typeface="Arial MT"/>
              <a:cs typeface="Arial MT"/>
            </a:endParaRPr>
          </a:p>
          <a:p>
            <a:pPr marL="320378" indent="-156292">
              <a:spcBef>
                <a:spcPts val="685"/>
              </a:spcBef>
              <a:buSzPct val="74074"/>
              <a:buFont typeface="Symbol"/>
              <a:buChar char=""/>
              <a:tabLst>
                <a:tab pos="320378" algn="l"/>
                <a:tab pos="320810" algn="l"/>
              </a:tabLst>
            </a:pPr>
            <a:r>
              <a:rPr lang="en-GB" sz="2400"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predictions</a:t>
            </a:r>
            <a:r>
              <a:rPr lang="en-GB" sz="2400" spc="3" dirty="0">
                <a:solidFill>
                  <a:srgbClr val="080912"/>
                </a:solidFill>
                <a:latin typeface="Arial MT"/>
                <a:cs typeface="Arial MT"/>
              </a:rPr>
              <a:t> </a:t>
            </a:r>
            <a:r>
              <a:rPr lang="en-GB" sz="2400" spc="-3" dirty="0">
                <a:solidFill>
                  <a:srgbClr val="080912"/>
                </a:solidFill>
                <a:latin typeface="Arial MT"/>
                <a:cs typeface="Arial MT"/>
              </a:rPr>
              <a:t>may </a:t>
            </a:r>
            <a:r>
              <a:rPr lang="en-GB" sz="2400" dirty="0">
                <a:solidFill>
                  <a:srgbClr val="080912"/>
                </a:solidFill>
                <a:latin typeface="Arial MT"/>
                <a:cs typeface="Arial MT"/>
              </a:rPr>
              <a:t>not</a:t>
            </a:r>
            <a:r>
              <a:rPr lang="en-GB" sz="2400" spc="-3" dirty="0">
                <a:solidFill>
                  <a:srgbClr val="080912"/>
                </a:solidFill>
                <a:latin typeface="Arial MT"/>
                <a:cs typeface="Arial MT"/>
              </a:rPr>
              <a:t> </a:t>
            </a:r>
            <a:r>
              <a:rPr lang="en-GB" sz="2400" dirty="0">
                <a:solidFill>
                  <a:srgbClr val="080912"/>
                </a:solidFill>
                <a:latin typeface="Arial MT"/>
                <a:cs typeface="Arial MT"/>
              </a:rPr>
              <a:t>be </a:t>
            </a:r>
            <a:r>
              <a:rPr lang="en-GB" sz="2400" spc="-3" dirty="0">
                <a:solidFill>
                  <a:srgbClr val="080912"/>
                </a:solidFill>
                <a:latin typeface="Arial MT"/>
                <a:cs typeface="Arial MT"/>
              </a:rPr>
              <a:t>consistent for</a:t>
            </a:r>
            <a:r>
              <a:rPr lang="en-GB" sz="2400" dirty="0">
                <a:solidFill>
                  <a:srgbClr val="080912"/>
                </a:solidFill>
                <a:latin typeface="Arial MT"/>
                <a:cs typeface="Arial MT"/>
              </a:rPr>
              <a:t> </a:t>
            </a:r>
            <a:r>
              <a:rPr lang="en-GB" sz="2400" spc="-3" dirty="0">
                <a:solidFill>
                  <a:srgbClr val="080912"/>
                </a:solidFill>
                <a:latin typeface="Arial MT"/>
                <a:cs typeface="Arial MT"/>
              </a:rPr>
              <a:t>negative</a:t>
            </a:r>
            <a:r>
              <a:rPr lang="en-GB" sz="2400" spc="7" dirty="0">
                <a:solidFill>
                  <a:srgbClr val="080912"/>
                </a:solidFill>
                <a:latin typeface="Arial MT"/>
                <a:cs typeface="Arial MT"/>
              </a:rPr>
              <a:t> </a:t>
            </a:r>
            <a:r>
              <a:rPr lang="en-GB" sz="2400" dirty="0">
                <a:solidFill>
                  <a:srgbClr val="080912"/>
                </a:solidFill>
                <a:latin typeface="Arial MT"/>
                <a:cs typeface="Arial MT"/>
              </a:rPr>
              <a:t>input</a:t>
            </a:r>
            <a:r>
              <a:rPr lang="en-GB" sz="2400" spc="-3" dirty="0">
                <a:solidFill>
                  <a:srgbClr val="080912"/>
                </a:solidFill>
                <a:latin typeface="Arial MT"/>
                <a:cs typeface="Arial MT"/>
              </a:rPr>
              <a:t> </a:t>
            </a:r>
            <a:r>
              <a:rPr lang="en-GB" sz="2400" dirty="0">
                <a:solidFill>
                  <a:srgbClr val="080912"/>
                </a:solidFill>
                <a:latin typeface="Arial MT"/>
                <a:cs typeface="Arial MT"/>
              </a:rPr>
              <a:t>values</a:t>
            </a:r>
          </a:p>
          <a:p>
            <a:pPr marL="320378" indent="-156292">
              <a:spcBef>
                <a:spcPts val="685"/>
              </a:spcBef>
              <a:buSzPct val="74074"/>
              <a:buFont typeface="Symbol"/>
              <a:buChar char=""/>
              <a:tabLst>
                <a:tab pos="320378" algn="l"/>
                <a:tab pos="320810" algn="l"/>
              </a:tabLst>
            </a:pPr>
            <a:r>
              <a:rPr lang="en-GB" sz="2400"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gradient for</a:t>
            </a:r>
            <a:r>
              <a:rPr lang="en-GB" sz="2400" spc="7" dirty="0">
                <a:solidFill>
                  <a:srgbClr val="080912"/>
                </a:solidFill>
                <a:latin typeface="Arial MT"/>
                <a:cs typeface="Arial MT"/>
              </a:rPr>
              <a:t> </a:t>
            </a:r>
            <a:r>
              <a:rPr lang="en-GB" sz="2400" dirty="0">
                <a:solidFill>
                  <a:srgbClr val="080912"/>
                </a:solidFill>
                <a:latin typeface="Arial MT"/>
                <a:cs typeface="Arial MT"/>
              </a:rPr>
              <a:t>negative</a:t>
            </a:r>
            <a:r>
              <a:rPr lang="en-GB" sz="2400" spc="-7" dirty="0">
                <a:solidFill>
                  <a:srgbClr val="080912"/>
                </a:solidFill>
                <a:latin typeface="Arial MT"/>
                <a:cs typeface="Arial MT"/>
              </a:rPr>
              <a:t> </a:t>
            </a:r>
            <a:r>
              <a:rPr lang="en-GB" sz="2400" spc="-3" dirty="0">
                <a:solidFill>
                  <a:srgbClr val="080912"/>
                </a:solidFill>
                <a:latin typeface="Arial MT"/>
                <a:cs typeface="Arial MT"/>
              </a:rPr>
              <a:t>values</a:t>
            </a:r>
            <a:r>
              <a:rPr lang="en-GB" sz="2400" spc="3" dirty="0">
                <a:solidFill>
                  <a:srgbClr val="080912"/>
                </a:solidFill>
                <a:latin typeface="Arial MT"/>
                <a:cs typeface="Arial MT"/>
              </a:rPr>
              <a:t> </a:t>
            </a:r>
            <a:r>
              <a:rPr lang="en-GB" sz="2400" dirty="0">
                <a:solidFill>
                  <a:srgbClr val="080912"/>
                </a:solidFill>
                <a:latin typeface="Arial MT"/>
                <a:cs typeface="Arial MT"/>
              </a:rPr>
              <a:t>is</a:t>
            </a:r>
            <a:r>
              <a:rPr lang="en-GB" sz="2400" spc="-3" dirty="0">
                <a:solidFill>
                  <a:srgbClr val="080912"/>
                </a:solidFill>
                <a:latin typeface="Arial MT"/>
                <a:cs typeface="Arial MT"/>
              </a:rPr>
              <a:t> </a:t>
            </a:r>
            <a:r>
              <a:rPr lang="en-GB" sz="2400" dirty="0">
                <a:solidFill>
                  <a:srgbClr val="080912"/>
                </a:solidFill>
                <a:latin typeface="Arial MT"/>
                <a:cs typeface="Arial MT"/>
              </a:rPr>
              <a:t>a</a:t>
            </a:r>
            <a:r>
              <a:rPr lang="en-GB" sz="2400" spc="3" dirty="0">
                <a:solidFill>
                  <a:srgbClr val="080912"/>
                </a:solidFill>
                <a:latin typeface="Arial MT"/>
                <a:cs typeface="Arial MT"/>
              </a:rPr>
              <a:t> </a:t>
            </a:r>
            <a:r>
              <a:rPr lang="en-GB" sz="2400" spc="-3" dirty="0">
                <a:solidFill>
                  <a:srgbClr val="080912"/>
                </a:solidFill>
                <a:latin typeface="Arial MT"/>
                <a:cs typeface="Arial MT"/>
              </a:rPr>
              <a:t>small</a:t>
            </a:r>
            <a:r>
              <a:rPr lang="en-GB" sz="2400" dirty="0">
                <a:solidFill>
                  <a:srgbClr val="080912"/>
                </a:solidFill>
                <a:latin typeface="Arial MT"/>
                <a:cs typeface="Arial MT"/>
              </a:rPr>
              <a:t> </a:t>
            </a:r>
            <a:r>
              <a:rPr lang="en-GB" sz="2400" spc="-3" dirty="0">
                <a:solidFill>
                  <a:srgbClr val="080912"/>
                </a:solidFill>
                <a:latin typeface="Arial MT"/>
                <a:cs typeface="Arial MT"/>
              </a:rPr>
              <a:t>value</a:t>
            </a:r>
            <a:r>
              <a:rPr lang="en-GB" sz="2400" spc="3" dirty="0">
                <a:solidFill>
                  <a:srgbClr val="080912"/>
                </a:solidFill>
                <a:latin typeface="Arial MT"/>
                <a:cs typeface="Arial MT"/>
              </a:rPr>
              <a:t> </a:t>
            </a:r>
            <a:r>
              <a:rPr lang="en-GB" sz="2400" spc="-3" dirty="0">
                <a:solidFill>
                  <a:srgbClr val="080912"/>
                </a:solidFill>
                <a:latin typeface="Arial MT"/>
                <a:cs typeface="Arial MT"/>
              </a:rPr>
              <a:t>that makes the</a:t>
            </a:r>
            <a:r>
              <a:rPr lang="en-GB" sz="2400" spc="3" dirty="0">
                <a:solidFill>
                  <a:srgbClr val="080912"/>
                </a:solidFill>
                <a:latin typeface="Arial MT"/>
                <a:cs typeface="Arial MT"/>
              </a:rPr>
              <a:t> </a:t>
            </a:r>
            <a:r>
              <a:rPr lang="en-GB" sz="2400" dirty="0">
                <a:solidFill>
                  <a:srgbClr val="080912"/>
                </a:solidFill>
                <a:latin typeface="Arial MT"/>
                <a:cs typeface="Arial MT"/>
              </a:rPr>
              <a:t>learning</a:t>
            </a:r>
            <a:r>
              <a:rPr lang="en-GB" sz="2400" spc="3" dirty="0">
                <a:solidFill>
                  <a:srgbClr val="080912"/>
                </a:solidFill>
                <a:latin typeface="Arial MT"/>
                <a:cs typeface="Arial MT"/>
              </a:rPr>
              <a:t> </a:t>
            </a:r>
            <a:r>
              <a:rPr lang="en-GB" sz="2400" dirty="0">
                <a:solidFill>
                  <a:srgbClr val="080912"/>
                </a:solidFill>
                <a:latin typeface="Arial MT"/>
                <a:cs typeface="Arial MT"/>
              </a:rPr>
              <a:t>of</a:t>
            </a:r>
            <a:r>
              <a:rPr lang="en-GB" sz="2400" spc="-3" dirty="0">
                <a:solidFill>
                  <a:srgbClr val="080912"/>
                </a:solidFill>
                <a:latin typeface="Arial MT"/>
                <a:cs typeface="Arial MT"/>
              </a:rPr>
              <a:t> model </a:t>
            </a:r>
            <a:r>
              <a:rPr lang="en-GB" sz="2400" spc="-245" dirty="0">
                <a:solidFill>
                  <a:srgbClr val="080912"/>
                </a:solidFill>
                <a:latin typeface="Arial MT"/>
                <a:cs typeface="Arial MT"/>
              </a:rPr>
              <a:t> </a:t>
            </a:r>
            <a:r>
              <a:rPr lang="en-GB" sz="2400" spc="-3" dirty="0">
                <a:solidFill>
                  <a:srgbClr val="080912"/>
                </a:solidFill>
                <a:latin typeface="Arial MT"/>
                <a:cs typeface="Arial MT"/>
              </a:rPr>
              <a:t>parameters</a:t>
            </a:r>
            <a:r>
              <a:rPr lang="en-GB" sz="2400" dirty="0">
                <a:solidFill>
                  <a:srgbClr val="080912"/>
                </a:solidFill>
                <a:latin typeface="Arial MT"/>
                <a:cs typeface="Arial MT"/>
              </a:rPr>
              <a:t> </a:t>
            </a:r>
            <a:r>
              <a:rPr lang="en-GB" sz="2400" spc="-3" dirty="0">
                <a:solidFill>
                  <a:srgbClr val="080912"/>
                </a:solidFill>
                <a:latin typeface="Arial MT"/>
                <a:cs typeface="Arial MT"/>
              </a:rPr>
              <a:t>time-consuming.</a:t>
            </a:r>
            <a:endParaRPr lang="en-GB" sz="2400" dirty="0">
              <a:latin typeface="Arial MT"/>
              <a:cs typeface="Arial MT"/>
            </a:endParaRPr>
          </a:p>
          <a:p>
            <a:pPr marL="320378" indent="-156292">
              <a:spcBef>
                <a:spcPts val="685"/>
              </a:spcBef>
              <a:buSzPct val="74074"/>
              <a:buFont typeface="Symbol"/>
              <a:buChar char=""/>
              <a:tabLst>
                <a:tab pos="320378" algn="l"/>
                <a:tab pos="320810" algn="l"/>
              </a:tabLst>
            </a:pPr>
            <a:endParaRPr lang="en-PK" dirty="0"/>
          </a:p>
        </p:txBody>
      </p:sp>
      <p:pic>
        <p:nvPicPr>
          <p:cNvPr id="8" name="object 3"/>
          <p:cNvPicPr/>
          <p:nvPr/>
        </p:nvPicPr>
        <p:blipFill>
          <a:blip r:embed="rId3" cstate="print"/>
          <a:stretch>
            <a:fillRect/>
          </a:stretch>
        </p:blipFill>
        <p:spPr>
          <a:xfrm>
            <a:off x="8809022" y="1227426"/>
            <a:ext cx="2879001" cy="2201574"/>
          </a:xfrm>
          <a:prstGeom prst="rect">
            <a:avLst/>
          </a:prstGeom>
        </p:spPr>
      </p:pic>
      <p:pic>
        <p:nvPicPr>
          <p:cNvPr id="9" name="object 4"/>
          <p:cNvPicPr/>
          <p:nvPr/>
        </p:nvPicPr>
        <p:blipFill>
          <a:blip r:embed="rId4" cstate="print"/>
          <a:stretch>
            <a:fillRect/>
          </a:stretch>
        </p:blipFill>
        <p:spPr>
          <a:xfrm>
            <a:off x="8977196" y="3289975"/>
            <a:ext cx="1938683" cy="684496"/>
          </a:xfrm>
          <a:prstGeom prst="rect">
            <a:avLst/>
          </a:prstGeom>
        </p:spPr>
      </p:pic>
      <p:sp>
        <p:nvSpPr>
          <p:cNvPr id="2" name="Slide Number Placeholder 1">
            <a:extLst>
              <a:ext uri="{FF2B5EF4-FFF2-40B4-BE49-F238E27FC236}">
                <a16:creationId xmlns:a16="http://schemas.microsoft.com/office/drawing/2014/main" id="{4A1655A0-C896-DED8-91D7-5ADAD41C44A6}"/>
              </a:ext>
            </a:extLst>
          </p:cNvPr>
          <p:cNvSpPr>
            <a:spLocks noGrp="1"/>
          </p:cNvSpPr>
          <p:nvPr>
            <p:ph type="sldNum" sz="quarter" idx="12"/>
          </p:nvPr>
        </p:nvSpPr>
        <p:spPr/>
        <p:txBody>
          <a:bodyPr/>
          <a:lstStyle/>
          <a:p>
            <a:fld id="{9CD9A578-84A4-4247-B01E-A84B9E2DF7BB}" type="slidenum">
              <a:rPr lang="en-PK" smtClean="0"/>
              <a:t>13</a:t>
            </a:fld>
            <a:endParaRPr lang="en-PK"/>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8060700" y="1648660"/>
            <a:ext cx="3733323" cy="3368643"/>
          </a:xfrm>
          <a:prstGeom prst="rect">
            <a:avLst/>
          </a:prstGeom>
        </p:spPr>
      </p:pic>
      <p:sp>
        <p:nvSpPr>
          <p:cNvPr id="6" name="Title 5">
            <a:extLst>
              <a:ext uri="{FF2B5EF4-FFF2-40B4-BE49-F238E27FC236}">
                <a16:creationId xmlns:a16="http://schemas.microsoft.com/office/drawing/2014/main" id="{8D162B68-83EA-D965-D0E9-C73B64D295DF}"/>
              </a:ext>
            </a:extLst>
          </p:cNvPr>
          <p:cNvSpPr>
            <a:spLocks noGrp="1"/>
          </p:cNvSpPr>
          <p:nvPr>
            <p:ph type="title"/>
          </p:nvPr>
        </p:nvSpPr>
        <p:spPr>
          <a:xfrm>
            <a:off x="1140351" y="558393"/>
            <a:ext cx="9875520" cy="1356360"/>
          </a:xfrm>
        </p:spPr>
        <p:txBody>
          <a:bodyPr/>
          <a:lstStyle/>
          <a:p>
            <a:r>
              <a:rPr lang="en-GB" sz="4400" b="1" spc="-31" dirty="0">
                <a:solidFill>
                  <a:srgbClr val="272E40"/>
                </a:solidFill>
                <a:latin typeface="Arial"/>
                <a:cs typeface="Arial"/>
              </a:rPr>
              <a:t>P</a:t>
            </a:r>
            <a:r>
              <a:rPr lang="en-GB" sz="4400" b="1" spc="-24" dirty="0">
                <a:solidFill>
                  <a:srgbClr val="272E40"/>
                </a:solidFill>
                <a:latin typeface="Arial"/>
                <a:cs typeface="Arial"/>
              </a:rPr>
              <a:t>a</a:t>
            </a:r>
            <a:r>
              <a:rPr lang="en-GB" sz="4400" b="1" spc="-34" dirty="0">
                <a:solidFill>
                  <a:srgbClr val="272E40"/>
                </a:solidFill>
                <a:latin typeface="Arial"/>
                <a:cs typeface="Arial"/>
              </a:rPr>
              <a:t>r</a:t>
            </a:r>
            <a:r>
              <a:rPr lang="en-GB" sz="4400" b="1" spc="-24" dirty="0">
                <a:solidFill>
                  <a:srgbClr val="272E40"/>
                </a:solidFill>
                <a:latin typeface="Arial"/>
                <a:cs typeface="Arial"/>
              </a:rPr>
              <a:t>a</a:t>
            </a:r>
            <a:r>
              <a:rPr lang="en-GB" sz="4400" b="1" spc="-37" dirty="0">
                <a:solidFill>
                  <a:srgbClr val="272E40"/>
                </a:solidFill>
                <a:latin typeface="Arial"/>
                <a:cs typeface="Arial"/>
              </a:rPr>
              <a:t>m</a:t>
            </a:r>
            <a:r>
              <a:rPr lang="en-GB" sz="4400" b="1" spc="-34" dirty="0">
                <a:solidFill>
                  <a:srgbClr val="272E40"/>
                </a:solidFill>
                <a:latin typeface="Arial"/>
                <a:cs typeface="Arial"/>
              </a:rPr>
              <a:t>e</a:t>
            </a:r>
            <a:r>
              <a:rPr lang="en-GB" sz="4400" b="1" spc="-31" dirty="0">
                <a:solidFill>
                  <a:srgbClr val="272E40"/>
                </a:solidFill>
                <a:latin typeface="Arial"/>
                <a:cs typeface="Arial"/>
              </a:rPr>
              <a:t>t</a:t>
            </a:r>
            <a:r>
              <a:rPr lang="en-GB" sz="4400" b="1" spc="-27" dirty="0">
                <a:solidFill>
                  <a:srgbClr val="272E40"/>
                </a:solidFill>
                <a:latin typeface="Arial"/>
                <a:cs typeface="Arial"/>
              </a:rPr>
              <a:t>r</a:t>
            </a:r>
            <a:r>
              <a:rPr lang="en-GB" sz="4400" b="1" spc="-31" dirty="0">
                <a:solidFill>
                  <a:srgbClr val="272E40"/>
                </a:solidFill>
                <a:latin typeface="Arial"/>
                <a:cs typeface="Arial"/>
              </a:rPr>
              <a:t>i</a:t>
            </a:r>
            <a:r>
              <a:rPr lang="en-GB" sz="4400" b="1" spc="-3" dirty="0">
                <a:solidFill>
                  <a:srgbClr val="272E40"/>
                </a:solidFill>
                <a:latin typeface="Arial"/>
                <a:cs typeface="Arial"/>
              </a:rPr>
              <a:t>c</a:t>
            </a:r>
            <a:r>
              <a:rPr lang="en-GB" sz="4400" b="1" spc="-51" dirty="0">
                <a:solidFill>
                  <a:srgbClr val="272E40"/>
                </a:solidFill>
                <a:latin typeface="Arial"/>
                <a:cs typeface="Arial"/>
              </a:rPr>
              <a:t> </a:t>
            </a:r>
            <a:r>
              <a:rPr lang="en-GB" sz="4400" b="1" spc="-41" dirty="0" err="1">
                <a:solidFill>
                  <a:srgbClr val="272E40"/>
                </a:solidFill>
                <a:latin typeface="Arial"/>
                <a:cs typeface="Arial"/>
              </a:rPr>
              <a:t>R</a:t>
            </a:r>
            <a:r>
              <a:rPr lang="en-GB" sz="4400" b="1" spc="-24" dirty="0" err="1">
                <a:solidFill>
                  <a:srgbClr val="272E40"/>
                </a:solidFill>
                <a:latin typeface="Arial"/>
                <a:cs typeface="Arial"/>
              </a:rPr>
              <a:t>e</a:t>
            </a:r>
            <a:r>
              <a:rPr lang="en-GB" sz="4400" b="1" spc="-31" dirty="0" err="1">
                <a:solidFill>
                  <a:srgbClr val="272E40"/>
                </a:solidFill>
                <a:latin typeface="Arial"/>
                <a:cs typeface="Arial"/>
              </a:rPr>
              <a:t>L</a:t>
            </a:r>
            <a:r>
              <a:rPr lang="en-GB" sz="4400" b="1" spc="-3" dirty="0" err="1">
                <a:solidFill>
                  <a:srgbClr val="272E40"/>
                </a:solidFill>
                <a:latin typeface="Arial"/>
                <a:cs typeface="Arial"/>
              </a:rPr>
              <a:t>U</a:t>
            </a:r>
            <a:r>
              <a:rPr lang="en-GB" sz="4400" b="1" spc="-58" dirty="0">
                <a:solidFill>
                  <a:srgbClr val="272E40"/>
                </a:solidFill>
                <a:latin typeface="Arial"/>
                <a:cs typeface="Arial"/>
              </a:rPr>
              <a:t> </a:t>
            </a:r>
            <a:r>
              <a:rPr lang="en-GB" sz="4400" b="1" spc="-31" dirty="0">
                <a:solidFill>
                  <a:srgbClr val="272E40"/>
                </a:solidFill>
                <a:latin typeface="Arial"/>
                <a:cs typeface="Arial"/>
              </a:rPr>
              <a:t>Fun</a:t>
            </a:r>
            <a:r>
              <a:rPr lang="en-GB" sz="4400" b="1" spc="-24" dirty="0">
                <a:solidFill>
                  <a:srgbClr val="272E40"/>
                </a:solidFill>
                <a:latin typeface="Arial"/>
                <a:cs typeface="Arial"/>
              </a:rPr>
              <a:t>c</a:t>
            </a:r>
            <a:r>
              <a:rPr lang="en-GB" sz="4400" b="1" spc="-31" dirty="0">
                <a:solidFill>
                  <a:srgbClr val="272E40"/>
                </a:solidFill>
                <a:latin typeface="Arial"/>
                <a:cs typeface="Arial"/>
              </a:rPr>
              <a:t>t</a:t>
            </a:r>
            <a:r>
              <a:rPr lang="en-GB" sz="4400" b="1" spc="-24" dirty="0">
                <a:solidFill>
                  <a:srgbClr val="272E40"/>
                </a:solidFill>
                <a:latin typeface="Arial"/>
                <a:cs typeface="Arial"/>
              </a:rPr>
              <a:t>i</a:t>
            </a:r>
            <a:r>
              <a:rPr lang="en-GB" sz="4400" b="1" spc="-31" dirty="0">
                <a:solidFill>
                  <a:srgbClr val="272E40"/>
                </a:solidFill>
                <a:latin typeface="Arial"/>
                <a:cs typeface="Arial"/>
              </a:rPr>
              <a:t>o</a:t>
            </a:r>
            <a:r>
              <a:rPr lang="en-GB" sz="4400" b="1" dirty="0">
                <a:solidFill>
                  <a:srgbClr val="272E40"/>
                </a:solidFill>
                <a:latin typeface="Arial"/>
                <a:cs typeface="Arial"/>
              </a:rPr>
              <a:t>n</a:t>
            </a:r>
            <a:endParaRPr lang="en-PK" dirty="0"/>
          </a:p>
        </p:txBody>
      </p:sp>
      <p:sp>
        <p:nvSpPr>
          <p:cNvPr id="7" name="Content Placeholder 6">
            <a:extLst>
              <a:ext uri="{FF2B5EF4-FFF2-40B4-BE49-F238E27FC236}">
                <a16:creationId xmlns:a16="http://schemas.microsoft.com/office/drawing/2014/main" id="{812F1B33-3EC9-2025-11C7-29154CB4BA74}"/>
              </a:ext>
            </a:extLst>
          </p:cNvPr>
          <p:cNvSpPr>
            <a:spLocks noGrp="1"/>
          </p:cNvSpPr>
          <p:nvPr>
            <p:ph idx="1"/>
          </p:nvPr>
        </p:nvSpPr>
        <p:spPr>
          <a:xfrm>
            <a:off x="1274601" y="1760782"/>
            <a:ext cx="6235574" cy="4038600"/>
          </a:xfrm>
        </p:spPr>
        <p:txBody>
          <a:bodyPr>
            <a:normAutofit fontScale="77500" lnSpcReduction="20000"/>
          </a:bodyPr>
          <a:lstStyle/>
          <a:p>
            <a:pPr marL="8659" marR="4329">
              <a:lnSpc>
                <a:spcPct val="143700"/>
              </a:lnSpc>
              <a:spcBef>
                <a:spcPts val="406"/>
              </a:spcBef>
            </a:pPr>
            <a:r>
              <a:rPr lang="en-GB" sz="2000" spc="-14" dirty="0">
                <a:solidFill>
                  <a:srgbClr val="080912"/>
                </a:solidFill>
                <a:latin typeface="Arial MT"/>
                <a:cs typeface="Arial MT"/>
              </a:rPr>
              <a:t>Parametric</a:t>
            </a:r>
            <a:r>
              <a:rPr lang="en-GB" sz="2000" spc="116" dirty="0">
                <a:solidFill>
                  <a:srgbClr val="080912"/>
                </a:solidFill>
                <a:latin typeface="Arial MT"/>
                <a:cs typeface="Arial MT"/>
              </a:rPr>
              <a:t> </a:t>
            </a:r>
            <a:r>
              <a:rPr lang="en-GB" sz="2000" spc="-7" dirty="0" err="1">
                <a:solidFill>
                  <a:srgbClr val="080912"/>
                </a:solidFill>
                <a:latin typeface="Arial MT"/>
                <a:cs typeface="Arial MT"/>
              </a:rPr>
              <a:t>ReLU</a:t>
            </a:r>
            <a:r>
              <a:rPr lang="en-GB" sz="2000" spc="116" dirty="0">
                <a:solidFill>
                  <a:srgbClr val="080912"/>
                </a:solidFill>
                <a:latin typeface="Arial MT"/>
                <a:cs typeface="Arial MT"/>
              </a:rPr>
              <a:t> </a:t>
            </a:r>
            <a:r>
              <a:rPr lang="en-GB" sz="2000" spc="-10" dirty="0">
                <a:solidFill>
                  <a:srgbClr val="080912"/>
                </a:solidFill>
                <a:latin typeface="Arial MT"/>
                <a:cs typeface="Arial MT"/>
              </a:rPr>
              <a:t>is</a:t>
            </a:r>
            <a:r>
              <a:rPr lang="en-GB" sz="2000" spc="119" dirty="0">
                <a:solidFill>
                  <a:srgbClr val="080912"/>
                </a:solidFill>
                <a:latin typeface="Arial MT"/>
                <a:cs typeface="Arial MT"/>
              </a:rPr>
              <a:t> </a:t>
            </a:r>
            <a:r>
              <a:rPr lang="en-GB" sz="2000" spc="-10" dirty="0">
                <a:solidFill>
                  <a:srgbClr val="080912"/>
                </a:solidFill>
                <a:latin typeface="Arial MT"/>
                <a:cs typeface="Arial MT"/>
              </a:rPr>
              <a:t>another</a:t>
            </a:r>
            <a:r>
              <a:rPr lang="en-GB" sz="2000" spc="116" dirty="0">
                <a:solidFill>
                  <a:srgbClr val="080912"/>
                </a:solidFill>
                <a:latin typeface="Arial MT"/>
                <a:cs typeface="Arial MT"/>
              </a:rPr>
              <a:t> </a:t>
            </a:r>
            <a:r>
              <a:rPr lang="en-GB" sz="2000" spc="-10" dirty="0">
                <a:solidFill>
                  <a:srgbClr val="080912"/>
                </a:solidFill>
                <a:latin typeface="Arial MT"/>
                <a:cs typeface="Arial MT"/>
              </a:rPr>
              <a:t>variant</a:t>
            </a:r>
            <a:r>
              <a:rPr lang="en-GB" sz="2000" spc="106" dirty="0">
                <a:solidFill>
                  <a:srgbClr val="080912"/>
                </a:solidFill>
                <a:latin typeface="Arial MT"/>
                <a:cs typeface="Arial MT"/>
              </a:rPr>
              <a:t> </a:t>
            </a:r>
            <a:r>
              <a:rPr lang="en-GB" sz="2000" spc="-3" dirty="0">
                <a:solidFill>
                  <a:srgbClr val="080912"/>
                </a:solidFill>
                <a:latin typeface="Arial MT"/>
                <a:cs typeface="Arial MT"/>
              </a:rPr>
              <a:t>of</a:t>
            </a:r>
            <a:r>
              <a:rPr lang="en-GB" sz="2000" spc="102" dirty="0">
                <a:solidFill>
                  <a:srgbClr val="080912"/>
                </a:solidFill>
                <a:latin typeface="Arial MT"/>
                <a:cs typeface="Arial MT"/>
              </a:rPr>
              <a:t> </a:t>
            </a:r>
            <a:r>
              <a:rPr lang="en-GB" sz="2000" spc="-7" dirty="0" err="1">
                <a:solidFill>
                  <a:srgbClr val="080912"/>
                </a:solidFill>
                <a:latin typeface="Arial MT"/>
                <a:cs typeface="Arial MT"/>
              </a:rPr>
              <a:t>ReLU</a:t>
            </a:r>
            <a:r>
              <a:rPr lang="en-GB" sz="2000" spc="116" dirty="0">
                <a:solidFill>
                  <a:srgbClr val="080912"/>
                </a:solidFill>
                <a:latin typeface="Arial MT"/>
                <a:cs typeface="Arial MT"/>
              </a:rPr>
              <a:t> </a:t>
            </a:r>
            <a:r>
              <a:rPr lang="en-GB" sz="2000" spc="-10" dirty="0">
                <a:solidFill>
                  <a:srgbClr val="080912"/>
                </a:solidFill>
                <a:latin typeface="Arial MT"/>
                <a:cs typeface="Arial MT"/>
              </a:rPr>
              <a:t>that</a:t>
            </a:r>
            <a:r>
              <a:rPr lang="en-GB" sz="2000" spc="109" dirty="0">
                <a:solidFill>
                  <a:srgbClr val="080912"/>
                </a:solidFill>
                <a:latin typeface="Arial MT"/>
                <a:cs typeface="Arial MT"/>
              </a:rPr>
              <a:t> </a:t>
            </a:r>
            <a:r>
              <a:rPr lang="en-GB" sz="2000" spc="-10" dirty="0">
                <a:solidFill>
                  <a:srgbClr val="080912"/>
                </a:solidFill>
                <a:latin typeface="Arial MT"/>
                <a:cs typeface="Arial MT"/>
              </a:rPr>
              <a:t>aims</a:t>
            </a:r>
            <a:r>
              <a:rPr lang="en-GB" sz="2000" spc="123" dirty="0">
                <a:solidFill>
                  <a:srgbClr val="080912"/>
                </a:solidFill>
                <a:latin typeface="Arial MT"/>
                <a:cs typeface="Arial MT"/>
              </a:rPr>
              <a:t> </a:t>
            </a:r>
            <a:r>
              <a:rPr lang="en-GB" sz="2000" spc="-10" dirty="0">
                <a:solidFill>
                  <a:srgbClr val="080912"/>
                </a:solidFill>
                <a:latin typeface="Arial MT"/>
                <a:cs typeface="Arial MT"/>
              </a:rPr>
              <a:t>to</a:t>
            </a:r>
            <a:r>
              <a:rPr lang="en-GB" sz="2000" spc="106" dirty="0">
                <a:solidFill>
                  <a:srgbClr val="080912"/>
                </a:solidFill>
                <a:latin typeface="Arial MT"/>
                <a:cs typeface="Arial MT"/>
              </a:rPr>
              <a:t> </a:t>
            </a:r>
            <a:r>
              <a:rPr lang="en-GB" sz="2000" spc="-10" dirty="0">
                <a:solidFill>
                  <a:srgbClr val="080912"/>
                </a:solidFill>
                <a:latin typeface="Arial MT"/>
                <a:cs typeface="Arial MT"/>
              </a:rPr>
              <a:t>solve</a:t>
            </a:r>
            <a:r>
              <a:rPr lang="en-GB" sz="2000" spc="123" dirty="0">
                <a:solidFill>
                  <a:srgbClr val="080912"/>
                </a:solidFill>
                <a:latin typeface="Arial MT"/>
                <a:cs typeface="Arial MT"/>
              </a:rPr>
              <a:t> </a:t>
            </a:r>
            <a:r>
              <a:rPr lang="en-GB" sz="2000" spc="-10" dirty="0">
                <a:solidFill>
                  <a:srgbClr val="080912"/>
                </a:solidFill>
                <a:latin typeface="Arial MT"/>
                <a:cs typeface="Arial MT"/>
              </a:rPr>
              <a:t>the</a:t>
            </a:r>
            <a:r>
              <a:rPr lang="en-GB" sz="2000" spc="106" dirty="0">
                <a:solidFill>
                  <a:srgbClr val="080912"/>
                </a:solidFill>
                <a:latin typeface="Arial MT"/>
                <a:cs typeface="Arial MT"/>
              </a:rPr>
              <a:t> </a:t>
            </a:r>
            <a:r>
              <a:rPr lang="en-GB" sz="2000" spc="-10" dirty="0">
                <a:solidFill>
                  <a:srgbClr val="080912"/>
                </a:solidFill>
                <a:latin typeface="Arial MT"/>
                <a:cs typeface="Arial MT"/>
              </a:rPr>
              <a:t>problem</a:t>
            </a:r>
            <a:r>
              <a:rPr lang="en-GB" sz="2000" spc="109" dirty="0">
                <a:solidFill>
                  <a:srgbClr val="080912"/>
                </a:solidFill>
                <a:latin typeface="Arial MT"/>
                <a:cs typeface="Arial MT"/>
              </a:rPr>
              <a:t> </a:t>
            </a:r>
            <a:r>
              <a:rPr lang="en-GB" sz="2000" spc="-7" dirty="0">
                <a:solidFill>
                  <a:srgbClr val="080912"/>
                </a:solidFill>
                <a:latin typeface="Arial MT"/>
                <a:cs typeface="Arial MT"/>
              </a:rPr>
              <a:t>of</a:t>
            </a:r>
            <a:r>
              <a:rPr lang="en-GB" sz="2000" spc="119" dirty="0">
                <a:solidFill>
                  <a:srgbClr val="080912"/>
                </a:solidFill>
                <a:latin typeface="Arial MT"/>
                <a:cs typeface="Arial MT"/>
              </a:rPr>
              <a:t> </a:t>
            </a:r>
            <a:r>
              <a:rPr lang="en-GB" sz="2000" spc="-10" dirty="0">
                <a:solidFill>
                  <a:srgbClr val="080912"/>
                </a:solidFill>
                <a:latin typeface="Arial MT"/>
                <a:cs typeface="Arial MT"/>
              </a:rPr>
              <a:t>gradient’s </a:t>
            </a:r>
            <a:r>
              <a:rPr lang="en-GB" sz="2000" spc="-245" dirty="0">
                <a:solidFill>
                  <a:srgbClr val="080912"/>
                </a:solidFill>
                <a:latin typeface="Arial MT"/>
                <a:cs typeface="Arial MT"/>
              </a:rPr>
              <a:t> </a:t>
            </a:r>
            <a:r>
              <a:rPr lang="en-GB" sz="2000" spc="-10" dirty="0">
                <a:solidFill>
                  <a:srgbClr val="080912"/>
                </a:solidFill>
                <a:latin typeface="Arial MT"/>
                <a:cs typeface="Arial MT"/>
              </a:rPr>
              <a:t>becoming</a:t>
            </a:r>
            <a:r>
              <a:rPr lang="en-GB" sz="2000" spc="-27" dirty="0">
                <a:solidFill>
                  <a:srgbClr val="080912"/>
                </a:solidFill>
                <a:latin typeface="Arial MT"/>
                <a:cs typeface="Arial MT"/>
              </a:rPr>
              <a:t> </a:t>
            </a:r>
            <a:r>
              <a:rPr lang="en-GB" sz="2000" spc="-10" dirty="0">
                <a:solidFill>
                  <a:srgbClr val="080912"/>
                </a:solidFill>
                <a:latin typeface="Arial MT"/>
                <a:cs typeface="Arial MT"/>
              </a:rPr>
              <a:t>zero</a:t>
            </a:r>
            <a:r>
              <a:rPr lang="en-GB" sz="2000" spc="-20" dirty="0">
                <a:solidFill>
                  <a:srgbClr val="080912"/>
                </a:solidFill>
                <a:latin typeface="Arial MT"/>
                <a:cs typeface="Arial MT"/>
              </a:rPr>
              <a:t> </a:t>
            </a:r>
            <a:r>
              <a:rPr lang="en-GB" sz="2000" spc="-14" dirty="0">
                <a:solidFill>
                  <a:srgbClr val="080912"/>
                </a:solidFill>
                <a:latin typeface="Arial MT"/>
                <a:cs typeface="Arial MT"/>
              </a:rPr>
              <a:t>for</a:t>
            </a:r>
            <a:r>
              <a:rPr lang="en-GB" sz="2000" spc="-17" dirty="0">
                <a:solidFill>
                  <a:srgbClr val="080912"/>
                </a:solidFill>
                <a:latin typeface="Arial MT"/>
                <a:cs typeface="Arial MT"/>
              </a:rPr>
              <a:t> </a:t>
            </a:r>
            <a:r>
              <a:rPr lang="en-GB" sz="2000" spc="-10" dirty="0">
                <a:solidFill>
                  <a:srgbClr val="080912"/>
                </a:solidFill>
                <a:latin typeface="Arial MT"/>
                <a:cs typeface="Arial MT"/>
              </a:rPr>
              <a:t>the</a:t>
            </a:r>
            <a:r>
              <a:rPr lang="en-GB" sz="2000" spc="-20" dirty="0">
                <a:solidFill>
                  <a:srgbClr val="080912"/>
                </a:solidFill>
                <a:latin typeface="Arial MT"/>
                <a:cs typeface="Arial MT"/>
              </a:rPr>
              <a:t> </a:t>
            </a:r>
            <a:r>
              <a:rPr lang="en-GB" sz="2000" spc="-10" dirty="0">
                <a:solidFill>
                  <a:srgbClr val="080912"/>
                </a:solidFill>
                <a:latin typeface="Arial MT"/>
                <a:cs typeface="Arial MT"/>
              </a:rPr>
              <a:t>left</a:t>
            </a:r>
            <a:r>
              <a:rPr lang="en-GB" sz="2000" spc="-24" dirty="0">
                <a:solidFill>
                  <a:srgbClr val="080912"/>
                </a:solidFill>
                <a:latin typeface="Arial MT"/>
                <a:cs typeface="Arial MT"/>
              </a:rPr>
              <a:t> </a:t>
            </a:r>
            <a:r>
              <a:rPr lang="en-GB" sz="2000" spc="-10" dirty="0">
                <a:solidFill>
                  <a:srgbClr val="080912"/>
                </a:solidFill>
                <a:latin typeface="Arial MT"/>
                <a:cs typeface="Arial MT"/>
              </a:rPr>
              <a:t>half</a:t>
            </a:r>
            <a:r>
              <a:rPr lang="en-GB" sz="2000" spc="-31" dirty="0">
                <a:solidFill>
                  <a:srgbClr val="080912"/>
                </a:solidFill>
                <a:latin typeface="Arial MT"/>
                <a:cs typeface="Arial MT"/>
              </a:rPr>
              <a:t> </a:t>
            </a:r>
            <a:r>
              <a:rPr lang="en-GB" sz="2000" spc="-3" dirty="0">
                <a:solidFill>
                  <a:srgbClr val="080912"/>
                </a:solidFill>
                <a:latin typeface="Arial MT"/>
                <a:cs typeface="Arial MT"/>
              </a:rPr>
              <a:t>of</a:t>
            </a:r>
            <a:r>
              <a:rPr lang="en-GB" sz="2000" spc="-24" dirty="0">
                <a:solidFill>
                  <a:srgbClr val="080912"/>
                </a:solidFill>
                <a:latin typeface="Arial MT"/>
                <a:cs typeface="Arial MT"/>
              </a:rPr>
              <a:t> </a:t>
            </a:r>
            <a:r>
              <a:rPr lang="en-GB" sz="2000" spc="-10" dirty="0">
                <a:solidFill>
                  <a:srgbClr val="080912"/>
                </a:solidFill>
                <a:latin typeface="Arial MT"/>
                <a:cs typeface="Arial MT"/>
              </a:rPr>
              <a:t>the</a:t>
            </a:r>
            <a:r>
              <a:rPr lang="en-GB" sz="2000" spc="-27" dirty="0">
                <a:solidFill>
                  <a:srgbClr val="080912"/>
                </a:solidFill>
                <a:latin typeface="Arial MT"/>
                <a:cs typeface="Arial MT"/>
              </a:rPr>
              <a:t> </a:t>
            </a:r>
            <a:r>
              <a:rPr lang="en-GB" sz="2000" spc="-10" dirty="0">
                <a:solidFill>
                  <a:srgbClr val="080912"/>
                </a:solidFill>
                <a:latin typeface="Arial MT"/>
                <a:cs typeface="Arial MT"/>
              </a:rPr>
              <a:t>axis.</a:t>
            </a:r>
            <a:endParaRPr lang="en-GB" sz="2000" dirty="0">
              <a:latin typeface="Arial MT"/>
              <a:cs typeface="Arial MT"/>
            </a:endParaRPr>
          </a:p>
          <a:p>
            <a:pPr marL="8659" marR="3464">
              <a:lnSpc>
                <a:spcPct val="143700"/>
              </a:lnSpc>
              <a:spcBef>
                <a:spcPts val="399"/>
              </a:spcBef>
            </a:pPr>
            <a:r>
              <a:rPr lang="en-GB" sz="2000" spc="-7" dirty="0">
                <a:solidFill>
                  <a:srgbClr val="080912"/>
                </a:solidFill>
                <a:latin typeface="Arial MT"/>
                <a:cs typeface="Arial MT"/>
              </a:rPr>
              <a:t>This</a:t>
            </a:r>
            <a:r>
              <a:rPr lang="en-GB" sz="2000" spc="92" dirty="0">
                <a:solidFill>
                  <a:srgbClr val="080912"/>
                </a:solidFill>
                <a:latin typeface="Arial MT"/>
                <a:cs typeface="Arial MT"/>
              </a:rPr>
              <a:t> </a:t>
            </a:r>
            <a:r>
              <a:rPr lang="en-GB" sz="2000" spc="-14" dirty="0">
                <a:solidFill>
                  <a:srgbClr val="080912"/>
                </a:solidFill>
                <a:latin typeface="Arial MT"/>
                <a:cs typeface="Arial MT"/>
              </a:rPr>
              <a:t>function</a:t>
            </a:r>
            <a:r>
              <a:rPr lang="en-GB" sz="2000" spc="82" dirty="0">
                <a:solidFill>
                  <a:srgbClr val="080912"/>
                </a:solidFill>
                <a:latin typeface="Arial MT"/>
                <a:cs typeface="Arial MT"/>
              </a:rPr>
              <a:t> </a:t>
            </a:r>
            <a:r>
              <a:rPr lang="en-GB" sz="2000" spc="-14" dirty="0">
                <a:solidFill>
                  <a:srgbClr val="080912"/>
                </a:solidFill>
                <a:latin typeface="Arial MT"/>
                <a:cs typeface="Arial MT"/>
              </a:rPr>
              <a:t>provides</a:t>
            </a:r>
            <a:r>
              <a:rPr lang="en-GB" sz="2000" spc="92" dirty="0">
                <a:solidFill>
                  <a:srgbClr val="080912"/>
                </a:solidFill>
                <a:latin typeface="Arial MT"/>
                <a:cs typeface="Arial MT"/>
              </a:rPr>
              <a:t> </a:t>
            </a:r>
            <a:r>
              <a:rPr lang="en-GB" sz="2000" spc="-10" dirty="0">
                <a:solidFill>
                  <a:srgbClr val="080912"/>
                </a:solidFill>
                <a:latin typeface="Arial MT"/>
                <a:cs typeface="Arial MT"/>
              </a:rPr>
              <a:t>the</a:t>
            </a:r>
            <a:r>
              <a:rPr lang="en-GB" sz="2000" spc="82" dirty="0">
                <a:solidFill>
                  <a:srgbClr val="080912"/>
                </a:solidFill>
                <a:latin typeface="Arial MT"/>
                <a:cs typeface="Arial MT"/>
              </a:rPr>
              <a:t> </a:t>
            </a:r>
            <a:r>
              <a:rPr lang="en-GB" sz="2000" spc="-10" dirty="0">
                <a:solidFill>
                  <a:srgbClr val="080912"/>
                </a:solidFill>
                <a:latin typeface="Arial MT"/>
                <a:cs typeface="Arial MT"/>
              </a:rPr>
              <a:t>slope</a:t>
            </a:r>
            <a:r>
              <a:rPr lang="en-GB" sz="2000" spc="92" dirty="0">
                <a:solidFill>
                  <a:srgbClr val="080912"/>
                </a:solidFill>
                <a:latin typeface="Arial MT"/>
                <a:cs typeface="Arial MT"/>
              </a:rPr>
              <a:t> </a:t>
            </a:r>
            <a:r>
              <a:rPr lang="en-GB" sz="2000" spc="-3" dirty="0">
                <a:solidFill>
                  <a:srgbClr val="080912"/>
                </a:solidFill>
                <a:latin typeface="Arial MT"/>
                <a:cs typeface="Arial MT"/>
              </a:rPr>
              <a:t>of</a:t>
            </a:r>
            <a:r>
              <a:rPr lang="en-GB" sz="2000" spc="85" dirty="0">
                <a:solidFill>
                  <a:srgbClr val="080912"/>
                </a:solidFill>
                <a:latin typeface="Arial MT"/>
                <a:cs typeface="Arial MT"/>
              </a:rPr>
              <a:t> </a:t>
            </a:r>
            <a:r>
              <a:rPr lang="en-GB" sz="2000" spc="-14" dirty="0">
                <a:solidFill>
                  <a:srgbClr val="080912"/>
                </a:solidFill>
                <a:latin typeface="Arial MT"/>
                <a:cs typeface="Arial MT"/>
              </a:rPr>
              <a:t>the</a:t>
            </a:r>
            <a:r>
              <a:rPr lang="en-GB" sz="2000" spc="82" dirty="0">
                <a:solidFill>
                  <a:srgbClr val="080912"/>
                </a:solidFill>
                <a:latin typeface="Arial MT"/>
                <a:cs typeface="Arial MT"/>
              </a:rPr>
              <a:t> </a:t>
            </a:r>
            <a:r>
              <a:rPr lang="en-GB" sz="2000" spc="-10" dirty="0">
                <a:solidFill>
                  <a:srgbClr val="080912"/>
                </a:solidFill>
                <a:latin typeface="Arial MT"/>
                <a:cs typeface="Arial MT"/>
              </a:rPr>
              <a:t>negative</a:t>
            </a:r>
            <a:r>
              <a:rPr lang="en-GB" sz="2000" spc="92" dirty="0">
                <a:solidFill>
                  <a:srgbClr val="080912"/>
                </a:solidFill>
                <a:latin typeface="Arial MT"/>
                <a:cs typeface="Arial MT"/>
              </a:rPr>
              <a:t> </a:t>
            </a:r>
            <a:r>
              <a:rPr lang="en-GB" sz="2000" spc="-10" dirty="0">
                <a:solidFill>
                  <a:srgbClr val="080912"/>
                </a:solidFill>
                <a:latin typeface="Arial MT"/>
                <a:cs typeface="Arial MT"/>
              </a:rPr>
              <a:t>part</a:t>
            </a:r>
            <a:r>
              <a:rPr lang="en-GB" sz="2000" spc="85" dirty="0">
                <a:solidFill>
                  <a:srgbClr val="080912"/>
                </a:solidFill>
                <a:latin typeface="Arial MT"/>
                <a:cs typeface="Arial MT"/>
              </a:rPr>
              <a:t> </a:t>
            </a:r>
            <a:r>
              <a:rPr lang="en-GB" sz="2000" spc="-3" dirty="0">
                <a:solidFill>
                  <a:srgbClr val="080912"/>
                </a:solidFill>
                <a:latin typeface="Arial MT"/>
                <a:cs typeface="Arial MT"/>
              </a:rPr>
              <a:t>of</a:t>
            </a:r>
            <a:r>
              <a:rPr lang="en-GB" sz="2000" spc="85" dirty="0">
                <a:solidFill>
                  <a:srgbClr val="080912"/>
                </a:solidFill>
                <a:latin typeface="Arial MT"/>
                <a:cs typeface="Arial MT"/>
              </a:rPr>
              <a:t> </a:t>
            </a:r>
            <a:r>
              <a:rPr lang="en-GB" sz="2000" spc="-10" dirty="0">
                <a:solidFill>
                  <a:srgbClr val="080912"/>
                </a:solidFill>
                <a:latin typeface="Arial MT"/>
                <a:cs typeface="Arial MT"/>
              </a:rPr>
              <a:t>the</a:t>
            </a:r>
            <a:r>
              <a:rPr lang="en-GB" sz="2000" spc="82" dirty="0">
                <a:solidFill>
                  <a:srgbClr val="080912"/>
                </a:solidFill>
                <a:latin typeface="Arial MT"/>
                <a:cs typeface="Arial MT"/>
              </a:rPr>
              <a:t> </a:t>
            </a:r>
            <a:r>
              <a:rPr lang="en-GB" sz="2000" spc="-10" dirty="0">
                <a:solidFill>
                  <a:srgbClr val="080912"/>
                </a:solidFill>
                <a:latin typeface="Arial MT"/>
                <a:cs typeface="Arial MT"/>
              </a:rPr>
              <a:t>function</a:t>
            </a:r>
            <a:r>
              <a:rPr lang="en-GB" sz="2000" spc="95" dirty="0">
                <a:solidFill>
                  <a:srgbClr val="080912"/>
                </a:solidFill>
                <a:latin typeface="Arial MT"/>
                <a:cs typeface="Arial MT"/>
              </a:rPr>
              <a:t> </a:t>
            </a:r>
            <a:r>
              <a:rPr lang="en-GB" sz="2000" spc="-7" dirty="0">
                <a:solidFill>
                  <a:srgbClr val="080912"/>
                </a:solidFill>
                <a:latin typeface="Arial MT"/>
                <a:cs typeface="Arial MT"/>
              </a:rPr>
              <a:t>as</a:t>
            </a:r>
            <a:r>
              <a:rPr lang="en-GB" sz="2000" spc="85" dirty="0">
                <a:solidFill>
                  <a:srgbClr val="080912"/>
                </a:solidFill>
                <a:latin typeface="Arial MT"/>
                <a:cs typeface="Arial MT"/>
              </a:rPr>
              <a:t> </a:t>
            </a:r>
            <a:r>
              <a:rPr lang="en-GB" sz="2000" spc="-7" dirty="0">
                <a:solidFill>
                  <a:srgbClr val="080912"/>
                </a:solidFill>
                <a:latin typeface="Arial MT"/>
                <a:cs typeface="Arial MT"/>
              </a:rPr>
              <a:t>an</a:t>
            </a:r>
            <a:r>
              <a:rPr lang="en-GB" sz="2000" spc="92" dirty="0">
                <a:solidFill>
                  <a:srgbClr val="080912"/>
                </a:solidFill>
                <a:latin typeface="Arial MT"/>
                <a:cs typeface="Arial MT"/>
              </a:rPr>
              <a:t> </a:t>
            </a:r>
            <a:r>
              <a:rPr lang="en-GB" sz="2000" spc="-10" dirty="0">
                <a:solidFill>
                  <a:srgbClr val="080912"/>
                </a:solidFill>
                <a:latin typeface="Arial MT"/>
                <a:cs typeface="Arial MT"/>
              </a:rPr>
              <a:t>argument</a:t>
            </a:r>
            <a:r>
              <a:rPr lang="en-GB" sz="2000" spc="-31" dirty="0">
                <a:solidFill>
                  <a:srgbClr val="080912"/>
                </a:solidFill>
                <a:latin typeface="Arial MT"/>
                <a:cs typeface="Arial MT"/>
              </a:rPr>
              <a:t> </a:t>
            </a:r>
            <a:r>
              <a:rPr lang="en-GB" sz="2000" i="1" spc="-3" dirty="0">
                <a:solidFill>
                  <a:srgbClr val="080912"/>
                </a:solidFill>
                <a:latin typeface="Arial"/>
                <a:cs typeface="Arial"/>
              </a:rPr>
              <a:t>a</a:t>
            </a:r>
            <a:r>
              <a:rPr lang="en-GB" sz="2000" spc="-3" dirty="0">
                <a:solidFill>
                  <a:srgbClr val="080912"/>
                </a:solidFill>
                <a:latin typeface="Arial MT"/>
                <a:cs typeface="Arial MT"/>
              </a:rPr>
              <a:t>.</a:t>
            </a:r>
            <a:r>
              <a:rPr lang="en-GB" sz="2000" spc="89" dirty="0">
                <a:solidFill>
                  <a:srgbClr val="080912"/>
                </a:solidFill>
                <a:latin typeface="Arial MT"/>
                <a:cs typeface="Arial MT"/>
              </a:rPr>
              <a:t> </a:t>
            </a:r>
            <a:r>
              <a:rPr lang="en-GB" sz="2000" spc="-10" dirty="0">
                <a:solidFill>
                  <a:srgbClr val="080912"/>
                </a:solidFill>
                <a:latin typeface="Arial MT"/>
                <a:cs typeface="Arial MT"/>
              </a:rPr>
              <a:t>By </a:t>
            </a:r>
            <a:r>
              <a:rPr lang="en-GB" sz="2000" spc="-245" dirty="0">
                <a:solidFill>
                  <a:srgbClr val="080912"/>
                </a:solidFill>
                <a:latin typeface="Arial MT"/>
                <a:cs typeface="Arial MT"/>
              </a:rPr>
              <a:t> </a:t>
            </a:r>
            <a:r>
              <a:rPr lang="en-GB" sz="2000" spc="-10" dirty="0">
                <a:solidFill>
                  <a:srgbClr val="080912"/>
                </a:solidFill>
                <a:latin typeface="Arial MT"/>
                <a:cs typeface="Arial MT"/>
              </a:rPr>
              <a:t>performing</a:t>
            </a:r>
            <a:r>
              <a:rPr lang="en-GB" sz="2000" spc="-20" dirty="0">
                <a:solidFill>
                  <a:srgbClr val="080912"/>
                </a:solidFill>
                <a:latin typeface="Arial MT"/>
                <a:cs typeface="Arial MT"/>
              </a:rPr>
              <a:t> </a:t>
            </a:r>
            <a:r>
              <a:rPr lang="en-GB" sz="2000" spc="-14" dirty="0">
                <a:solidFill>
                  <a:srgbClr val="080912"/>
                </a:solidFill>
                <a:latin typeface="Arial MT"/>
                <a:cs typeface="Arial MT"/>
              </a:rPr>
              <a:t>backpropagation,</a:t>
            </a:r>
            <a:r>
              <a:rPr lang="en-GB" sz="2000" spc="-24" dirty="0">
                <a:solidFill>
                  <a:srgbClr val="080912"/>
                </a:solidFill>
                <a:latin typeface="Arial MT"/>
                <a:cs typeface="Arial MT"/>
              </a:rPr>
              <a:t> </a:t>
            </a:r>
            <a:r>
              <a:rPr lang="en-GB" sz="2000" spc="-10" dirty="0">
                <a:solidFill>
                  <a:srgbClr val="080912"/>
                </a:solidFill>
                <a:latin typeface="Arial MT"/>
                <a:cs typeface="Arial MT"/>
              </a:rPr>
              <a:t>the</a:t>
            </a:r>
            <a:r>
              <a:rPr lang="en-GB" sz="2000" spc="-20" dirty="0">
                <a:solidFill>
                  <a:srgbClr val="080912"/>
                </a:solidFill>
                <a:latin typeface="Arial MT"/>
                <a:cs typeface="Arial MT"/>
              </a:rPr>
              <a:t> </a:t>
            </a:r>
            <a:r>
              <a:rPr lang="en-GB" sz="2000" spc="-10" dirty="0">
                <a:solidFill>
                  <a:srgbClr val="080912"/>
                </a:solidFill>
                <a:latin typeface="Arial MT"/>
                <a:cs typeface="Arial MT"/>
              </a:rPr>
              <a:t>most</a:t>
            </a:r>
            <a:r>
              <a:rPr lang="en-GB" sz="2000" spc="-31" dirty="0">
                <a:solidFill>
                  <a:srgbClr val="080912"/>
                </a:solidFill>
                <a:latin typeface="Arial MT"/>
                <a:cs typeface="Arial MT"/>
              </a:rPr>
              <a:t> </a:t>
            </a:r>
            <a:r>
              <a:rPr lang="en-GB" sz="2000" spc="-10" dirty="0">
                <a:solidFill>
                  <a:srgbClr val="080912"/>
                </a:solidFill>
                <a:latin typeface="Arial MT"/>
                <a:cs typeface="Arial MT"/>
              </a:rPr>
              <a:t>appropriate</a:t>
            </a:r>
            <a:r>
              <a:rPr lang="en-GB" sz="2000" spc="-24" dirty="0">
                <a:solidFill>
                  <a:srgbClr val="080912"/>
                </a:solidFill>
                <a:latin typeface="Arial MT"/>
                <a:cs typeface="Arial MT"/>
              </a:rPr>
              <a:t> </a:t>
            </a:r>
            <a:r>
              <a:rPr lang="en-GB" sz="2000" spc="-10" dirty="0">
                <a:solidFill>
                  <a:srgbClr val="080912"/>
                </a:solidFill>
                <a:latin typeface="Arial MT"/>
                <a:cs typeface="Arial MT"/>
              </a:rPr>
              <a:t>value</a:t>
            </a:r>
            <a:r>
              <a:rPr lang="en-GB" sz="2000" spc="-27" dirty="0">
                <a:solidFill>
                  <a:srgbClr val="080912"/>
                </a:solidFill>
                <a:latin typeface="Arial MT"/>
                <a:cs typeface="Arial MT"/>
              </a:rPr>
              <a:t> </a:t>
            </a:r>
            <a:r>
              <a:rPr lang="en-GB" sz="2000" spc="-3" dirty="0">
                <a:solidFill>
                  <a:srgbClr val="080912"/>
                </a:solidFill>
                <a:latin typeface="Arial MT"/>
                <a:cs typeface="Arial MT"/>
              </a:rPr>
              <a:t>of</a:t>
            </a:r>
            <a:r>
              <a:rPr lang="en-GB" sz="2000" spc="-34" dirty="0">
                <a:solidFill>
                  <a:srgbClr val="080912"/>
                </a:solidFill>
                <a:latin typeface="Arial MT"/>
                <a:cs typeface="Arial MT"/>
              </a:rPr>
              <a:t> </a:t>
            </a:r>
            <a:r>
              <a:rPr lang="en-GB" sz="2000" i="1" dirty="0">
                <a:solidFill>
                  <a:srgbClr val="080912"/>
                </a:solidFill>
                <a:latin typeface="Arial"/>
                <a:cs typeface="Arial"/>
              </a:rPr>
              <a:t>a</a:t>
            </a:r>
            <a:r>
              <a:rPr lang="en-GB" sz="2000" i="1" spc="-17" dirty="0">
                <a:solidFill>
                  <a:srgbClr val="080912"/>
                </a:solidFill>
                <a:latin typeface="Arial"/>
                <a:cs typeface="Arial"/>
              </a:rPr>
              <a:t> </a:t>
            </a:r>
            <a:r>
              <a:rPr lang="en-GB" sz="2000" spc="-10" dirty="0">
                <a:solidFill>
                  <a:srgbClr val="080912"/>
                </a:solidFill>
                <a:latin typeface="Arial MT"/>
                <a:cs typeface="Arial MT"/>
              </a:rPr>
              <a:t>is</a:t>
            </a:r>
            <a:r>
              <a:rPr lang="en-GB" sz="2000" spc="-17" dirty="0">
                <a:solidFill>
                  <a:srgbClr val="080912"/>
                </a:solidFill>
                <a:latin typeface="Arial MT"/>
                <a:cs typeface="Arial MT"/>
              </a:rPr>
              <a:t> </a:t>
            </a:r>
            <a:r>
              <a:rPr lang="en-GB" sz="2000" spc="-10" dirty="0">
                <a:solidFill>
                  <a:srgbClr val="080912"/>
                </a:solidFill>
                <a:latin typeface="Arial MT"/>
                <a:cs typeface="Arial MT"/>
              </a:rPr>
              <a:t>learnt.</a:t>
            </a:r>
          </a:p>
          <a:p>
            <a:pPr marL="8659" algn="just">
              <a:spcBef>
                <a:spcPts val="72"/>
              </a:spcBef>
            </a:pPr>
            <a:r>
              <a:rPr lang="en-GB" sz="2000" spc="-10" dirty="0">
                <a:solidFill>
                  <a:srgbClr val="080912"/>
                </a:solidFill>
                <a:latin typeface="Arial MT"/>
                <a:cs typeface="Arial MT"/>
              </a:rPr>
              <a:t>Where</a:t>
            </a:r>
            <a:r>
              <a:rPr lang="en-GB" sz="2000" spc="-14" dirty="0">
                <a:solidFill>
                  <a:srgbClr val="080912"/>
                </a:solidFill>
                <a:latin typeface="Arial MT"/>
                <a:cs typeface="Arial MT"/>
              </a:rPr>
              <a:t> </a:t>
            </a:r>
            <a:r>
              <a:rPr lang="en-GB" sz="2000" i="1" spc="-10" dirty="0">
                <a:solidFill>
                  <a:srgbClr val="080912"/>
                </a:solidFill>
                <a:latin typeface="Arial"/>
                <a:cs typeface="Arial"/>
              </a:rPr>
              <a:t>"a"</a:t>
            </a:r>
            <a:r>
              <a:rPr lang="en-GB" sz="2000" i="1" spc="-17" dirty="0">
                <a:solidFill>
                  <a:srgbClr val="080912"/>
                </a:solidFill>
                <a:latin typeface="Arial"/>
                <a:cs typeface="Arial"/>
              </a:rPr>
              <a:t> </a:t>
            </a:r>
            <a:r>
              <a:rPr lang="en-GB" sz="2000" spc="-10" dirty="0">
                <a:solidFill>
                  <a:srgbClr val="080912"/>
                </a:solidFill>
                <a:latin typeface="Arial MT"/>
                <a:cs typeface="Arial MT"/>
              </a:rPr>
              <a:t>is</a:t>
            </a:r>
            <a:r>
              <a:rPr lang="en-GB" sz="2000" spc="-14" dirty="0">
                <a:solidFill>
                  <a:srgbClr val="080912"/>
                </a:solidFill>
                <a:latin typeface="Arial MT"/>
                <a:cs typeface="Arial MT"/>
              </a:rPr>
              <a:t> the</a:t>
            </a:r>
            <a:r>
              <a:rPr lang="en-GB" sz="2000" spc="-20" dirty="0">
                <a:solidFill>
                  <a:srgbClr val="080912"/>
                </a:solidFill>
                <a:latin typeface="Arial MT"/>
                <a:cs typeface="Arial MT"/>
              </a:rPr>
              <a:t> </a:t>
            </a:r>
            <a:r>
              <a:rPr lang="en-GB" sz="2000" spc="-10" dirty="0">
                <a:solidFill>
                  <a:srgbClr val="080912"/>
                </a:solidFill>
                <a:latin typeface="Arial MT"/>
                <a:cs typeface="Arial MT"/>
              </a:rPr>
              <a:t>slope</a:t>
            </a:r>
            <a:r>
              <a:rPr lang="en-GB" sz="2000" spc="-17" dirty="0">
                <a:solidFill>
                  <a:srgbClr val="080912"/>
                </a:solidFill>
                <a:latin typeface="Arial MT"/>
                <a:cs typeface="Arial MT"/>
              </a:rPr>
              <a:t> </a:t>
            </a:r>
            <a:r>
              <a:rPr lang="en-GB" sz="2000" spc="-14" dirty="0">
                <a:solidFill>
                  <a:srgbClr val="080912"/>
                </a:solidFill>
                <a:latin typeface="Arial MT"/>
                <a:cs typeface="Arial MT"/>
              </a:rPr>
              <a:t>parameter for negative</a:t>
            </a:r>
            <a:r>
              <a:rPr lang="en-GB" sz="2000" spc="-20" dirty="0">
                <a:solidFill>
                  <a:srgbClr val="080912"/>
                </a:solidFill>
                <a:latin typeface="Arial MT"/>
                <a:cs typeface="Arial MT"/>
              </a:rPr>
              <a:t> </a:t>
            </a:r>
            <a:r>
              <a:rPr lang="en-GB" sz="2000" spc="-10" dirty="0">
                <a:solidFill>
                  <a:srgbClr val="080912"/>
                </a:solidFill>
                <a:latin typeface="Arial MT"/>
                <a:cs typeface="Arial MT"/>
              </a:rPr>
              <a:t>values.</a:t>
            </a:r>
            <a:endParaRPr lang="en-GB" sz="2000" dirty="0">
              <a:latin typeface="Arial MT"/>
              <a:cs typeface="Arial MT"/>
            </a:endParaRPr>
          </a:p>
          <a:p>
            <a:pPr marL="8659" marR="4329" algn="just">
              <a:lnSpc>
                <a:spcPct val="143700"/>
              </a:lnSpc>
              <a:spcBef>
                <a:spcPts val="409"/>
              </a:spcBef>
            </a:pPr>
            <a:r>
              <a:rPr lang="en-GB" sz="2000" spc="-7" dirty="0">
                <a:solidFill>
                  <a:srgbClr val="080912"/>
                </a:solidFill>
                <a:latin typeface="Arial MT"/>
                <a:cs typeface="Arial MT"/>
              </a:rPr>
              <a:t>The </a:t>
            </a:r>
            <a:r>
              <a:rPr lang="en-GB" sz="2000" spc="-10" dirty="0">
                <a:solidFill>
                  <a:srgbClr val="080912"/>
                </a:solidFill>
                <a:latin typeface="Arial MT"/>
                <a:cs typeface="Arial MT"/>
              </a:rPr>
              <a:t>parameterized </a:t>
            </a:r>
            <a:r>
              <a:rPr lang="en-GB" sz="2000" spc="-10" dirty="0" err="1">
                <a:solidFill>
                  <a:srgbClr val="080912"/>
                </a:solidFill>
                <a:latin typeface="Arial MT"/>
                <a:cs typeface="Arial MT"/>
              </a:rPr>
              <a:t>ReLU</a:t>
            </a:r>
            <a:r>
              <a:rPr lang="en-GB" sz="2000" spc="-10" dirty="0">
                <a:solidFill>
                  <a:srgbClr val="080912"/>
                </a:solidFill>
                <a:latin typeface="Arial MT"/>
                <a:cs typeface="Arial MT"/>
              </a:rPr>
              <a:t> </a:t>
            </a:r>
            <a:r>
              <a:rPr lang="en-GB" sz="2000" spc="-14" dirty="0">
                <a:solidFill>
                  <a:srgbClr val="080912"/>
                </a:solidFill>
                <a:latin typeface="Arial MT"/>
                <a:cs typeface="Arial MT"/>
              </a:rPr>
              <a:t>function </a:t>
            </a:r>
            <a:r>
              <a:rPr lang="en-GB" sz="2000" spc="-10" dirty="0">
                <a:solidFill>
                  <a:srgbClr val="080912"/>
                </a:solidFill>
                <a:latin typeface="Arial MT"/>
                <a:cs typeface="Arial MT"/>
              </a:rPr>
              <a:t>is used when the leaky </a:t>
            </a:r>
            <a:r>
              <a:rPr lang="en-GB" sz="2000" spc="-10" dirty="0" err="1">
                <a:solidFill>
                  <a:srgbClr val="080912"/>
                </a:solidFill>
                <a:latin typeface="Arial MT"/>
                <a:cs typeface="Arial MT"/>
              </a:rPr>
              <a:t>ReLU</a:t>
            </a:r>
            <a:r>
              <a:rPr lang="en-GB" sz="2000" spc="-10" dirty="0">
                <a:solidFill>
                  <a:srgbClr val="080912"/>
                </a:solidFill>
                <a:latin typeface="Arial MT"/>
                <a:cs typeface="Arial MT"/>
              </a:rPr>
              <a:t> </a:t>
            </a:r>
            <a:r>
              <a:rPr lang="en-GB" sz="2000" spc="-14" dirty="0">
                <a:solidFill>
                  <a:srgbClr val="080912"/>
                </a:solidFill>
                <a:latin typeface="Arial MT"/>
                <a:cs typeface="Arial MT"/>
              </a:rPr>
              <a:t>function </a:t>
            </a:r>
            <a:r>
              <a:rPr lang="en-GB" sz="2000" spc="-10" dirty="0">
                <a:solidFill>
                  <a:srgbClr val="080912"/>
                </a:solidFill>
                <a:latin typeface="Arial MT"/>
                <a:cs typeface="Arial MT"/>
              </a:rPr>
              <a:t>still fails </a:t>
            </a:r>
            <a:r>
              <a:rPr lang="en-GB" sz="2000" spc="-3" dirty="0">
                <a:solidFill>
                  <a:srgbClr val="080912"/>
                </a:solidFill>
                <a:latin typeface="Arial MT"/>
                <a:cs typeface="Arial MT"/>
              </a:rPr>
              <a:t>at </a:t>
            </a:r>
            <a:r>
              <a:rPr lang="en-GB" sz="2000" spc="-14" dirty="0">
                <a:solidFill>
                  <a:srgbClr val="080912"/>
                </a:solidFill>
                <a:latin typeface="Arial MT"/>
                <a:cs typeface="Arial MT"/>
              </a:rPr>
              <a:t>solving </a:t>
            </a:r>
            <a:r>
              <a:rPr lang="en-GB" sz="2000" spc="-10" dirty="0">
                <a:solidFill>
                  <a:srgbClr val="080912"/>
                </a:solidFill>
                <a:latin typeface="Arial MT"/>
                <a:cs typeface="Arial MT"/>
              </a:rPr>
              <a:t> </a:t>
            </a:r>
            <a:r>
              <a:rPr lang="en-GB" sz="2000" spc="-7" dirty="0">
                <a:solidFill>
                  <a:srgbClr val="080912"/>
                </a:solidFill>
                <a:latin typeface="Arial MT"/>
                <a:cs typeface="Arial MT"/>
              </a:rPr>
              <a:t>the </a:t>
            </a:r>
            <a:r>
              <a:rPr lang="en-GB" sz="2000" spc="-10" dirty="0">
                <a:solidFill>
                  <a:srgbClr val="080912"/>
                </a:solidFill>
                <a:latin typeface="Arial MT"/>
                <a:cs typeface="Arial MT"/>
              </a:rPr>
              <a:t>problem </a:t>
            </a:r>
            <a:r>
              <a:rPr lang="en-GB" sz="2000" spc="-3" dirty="0">
                <a:solidFill>
                  <a:srgbClr val="080912"/>
                </a:solidFill>
                <a:latin typeface="Arial MT"/>
                <a:cs typeface="Arial MT"/>
              </a:rPr>
              <a:t>of </a:t>
            </a:r>
            <a:r>
              <a:rPr lang="en-GB" sz="2000" spc="-10" dirty="0">
                <a:solidFill>
                  <a:srgbClr val="080912"/>
                </a:solidFill>
                <a:latin typeface="Arial MT"/>
                <a:cs typeface="Arial MT"/>
              </a:rPr>
              <a:t>dead neurons, and the relevant information is </a:t>
            </a:r>
            <a:r>
              <a:rPr lang="en-GB" sz="2000" spc="-3" dirty="0">
                <a:solidFill>
                  <a:srgbClr val="080912"/>
                </a:solidFill>
                <a:latin typeface="Arial MT"/>
                <a:cs typeface="Arial MT"/>
              </a:rPr>
              <a:t>not </a:t>
            </a:r>
            <a:r>
              <a:rPr lang="en-GB" sz="2000" spc="-14" dirty="0">
                <a:solidFill>
                  <a:srgbClr val="080912"/>
                </a:solidFill>
                <a:latin typeface="Arial MT"/>
                <a:cs typeface="Arial MT"/>
              </a:rPr>
              <a:t>successfully </a:t>
            </a:r>
            <a:r>
              <a:rPr lang="en-GB" sz="2000" spc="-10" dirty="0">
                <a:solidFill>
                  <a:srgbClr val="080912"/>
                </a:solidFill>
                <a:latin typeface="Arial MT"/>
                <a:cs typeface="Arial MT"/>
              </a:rPr>
              <a:t>passed to the </a:t>
            </a:r>
            <a:r>
              <a:rPr lang="en-GB" sz="2000" spc="-7" dirty="0">
                <a:solidFill>
                  <a:srgbClr val="080912"/>
                </a:solidFill>
                <a:latin typeface="Arial MT"/>
                <a:cs typeface="Arial MT"/>
              </a:rPr>
              <a:t> next</a:t>
            </a:r>
            <a:r>
              <a:rPr lang="en-GB" sz="2000" spc="-34" dirty="0">
                <a:solidFill>
                  <a:srgbClr val="080912"/>
                </a:solidFill>
                <a:latin typeface="Arial MT"/>
                <a:cs typeface="Arial MT"/>
              </a:rPr>
              <a:t> </a:t>
            </a:r>
            <a:r>
              <a:rPr lang="en-GB" sz="2000" spc="-10" dirty="0">
                <a:solidFill>
                  <a:srgbClr val="080912"/>
                </a:solidFill>
                <a:latin typeface="Arial MT"/>
                <a:cs typeface="Arial MT"/>
              </a:rPr>
              <a:t>layer.</a:t>
            </a:r>
            <a:endParaRPr lang="en-GB" sz="2000" dirty="0">
              <a:latin typeface="Arial MT"/>
              <a:cs typeface="Arial MT"/>
            </a:endParaRPr>
          </a:p>
          <a:p>
            <a:pPr marL="8659" marR="5628" algn="just">
              <a:lnSpc>
                <a:spcPct val="143700"/>
              </a:lnSpc>
              <a:spcBef>
                <a:spcPts val="402"/>
              </a:spcBef>
            </a:pPr>
            <a:r>
              <a:rPr lang="en-GB" sz="2000" spc="-7" dirty="0">
                <a:solidFill>
                  <a:srgbClr val="080912"/>
                </a:solidFill>
                <a:latin typeface="Arial MT"/>
                <a:cs typeface="Arial MT"/>
              </a:rPr>
              <a:t>This </a:t>
            </a:r>
            <a:r>
              <a:rPr lang="en-GB" sz="2000" spc="-14" dirty="0">
                <a:solidFill>
                  <a:srgbClr val="080912"/>
                </a:solidFill>
                <a:latin typeface="Arial MT"/>
                <a:cs typeface="Arial MT"/>
              </a:rPr>
              <a:t>function’s limitation </a:t>
            </a:r>
            <a:r>
              <a:rPr lang="en-GB" sz="2000" spc="-10" dirty="0">
                <a:solidFill>
                  <a:srgbClr val="080912"/>
                </a:solidFill>
                <a:latin typeface="Arial MT"/>
                <a:cs typeface="Arial MT"/>
              </a:rPr>
              <a:t>is that </a:t>
            </a:r>
            <a:r>
              <a:rPr lang="en-GB" sz="2000" spc="-7" dirty="0">
                <a:solidFill>
                  <a:srgbClr val="080912"/>
                </a:solidFill>
                <a:latin typeface="Arial MT"/>
                <a:cs typeface="Arial MT"/>
              </a:rPr>
              <a:t>it may </a:t>
            </a:r>
            <a:r>
              <a:rPr lang="en-GB" sz="2000" spc="-10" dirty="0">
                <a:solidFill>
                  <a:srgbClr val="080912"/>
                </a:solidFill>
                <a:latin typeface="Arial MT"/>
                <a:cs typeface="Arial MT"/>
              </a:rPr>
              <a:t>perform differently for different problems depending </a:t>
            </a:r>
            <a:r>
              <a:rPr lang="en-GB" sz="2000" spc="-7" dirty="0">
                <a:solidFill>
                  <a:srgbClr val="080912"/>
                </a:solidFill>
                <a:latin typeface="Arial MT"/>
                <a:cs typeface="Arial MT"/>
              </a:rPr>
              <a:t> </a:t>
            </a:r>
            <a:r>
              <a:rPr lang="en-GB" sz="2000" spc="-10" dirty="0">
                <a:solidFill>
                  <a:srgbClr val="080912"/>
                </a:solidFill>
                <a:latin typeface="Arial MT"/>
                <a:cs typeface="Arial MT"/>
              </a:rPr>
              <a:t>upon</a:t>
            </a:r>
            <a:r>
              <a:rPr lang="en-GB" sz="2000" spc="-24" dirty="0">
                <a:solidFill>
                  <a:srgbClr val="080912"/>
                </a:solidFill>
                <a:latin typeface="Arial MT"/>
                <a:cs typeface="Arial MT"/>
              </a:rPr>
              <a:t> </a:t>
            </a:r>
            <a:r>
              <a:rPr lang="en-GB" sz="2000" spc="-10" dirty="0">
                <a:solidFill>
                  <a:srgbClr val="080912"/>
                </a:solidFill>
                <a:latin typeface="Arial MT"/>
                <a:cs typeface="Arial MT"/>
              </a:rPr>
              <a:t>the</a:t>
            </a:r>
            <a:r>
              <a:rPr lang="en-GB" sz="2000" spc="-27" dirty="0">
                <a:solidFill>
                  <a:srgbClr val="080912"/>
                </a:solidFill>
                <a:latin typeface="Arial MT"/>
                <a:cs typeface="Arial MT"/>
              </a:rPr>
              <a:t> </a:t>
            </a:r>
            <a:r>
              <a:rPr lang="en-GB" sz="2000" spc="-10" dirty="0">
                <a:solidFill>
                  <a:srgbClr val="080912"/>
                </a:solidFill>
                <a:latin typeface="Arial MT"/>
                <a:cs typeface="Arial MT"/>
              </a:rPr>
              <a:t>value</a:t>
            </a:r>
            <a:r>
              <a:rPr lang="en-GB" sz="2000" spc="-27" dirty="0">
                <a:solidFill>
                  <a:srgbClr val="080912"/>
                </a:solidFill>
                <a:latin typeface="Arial MT"/>
                <a:cs typeface="Arial MT"/>
              </a:rPr>
              <a:t> </a:t>
            </a:r>
            <a:r>
              <a:rPr lang="en-GB" sz="2000" spc="-3" dirty="0">
                <a:solidFill>
                  <a:srgbClr val="080912"/>
                </a:solidFill>
                <a:latin typeface="Arial MT"/>
                <a:cs typeface="Arial MT"/>
              </a:rPr>
              <a:t>of</a:t>
            </a:r>
            <a:r>
              <a:rPr lang="en-GB" sz="2000" spc="-31" dirty="0">
                <a:solidFill>
                  <a:srgbClr val="080912"/>
                </a:solidFill>
                <a:latin typeface="Arial MT"/>
                <a:cs typeface="Arial MT"/>
              </a:rPr>
              <a:t> </a:t>
            </a:r>
            <a:r>
              <a:rPr lang="en-GB" sz="2000" spc="-10" dirty="0">
                <a:solidFill>
                  <a:srgbClr val="080912"/>
                </a:solidFill>
                <a:latin typeface="Arial MT"/>
                <a:cs typeface="Arial MT"/>
              </a:rPr>
              <a:t>slope</a:t>
            </a:r>
            <a:r>
              <a:rPr lang="en-GB" sz="2000" spc="-27" dirty="0">
                <a:solidFill>
                  <a:srgbClr val="080912"/>
                </a:solidFill>
                <a:latin typeface="Arial MT"/>
                <a:cs typeface="Arial MT"/>
              </a:rPr>
              <a:t> </a:t>
            </a:r>
            <a:r>
              <a:rPr lang="en-GB" sz="2000" spc="-10" dirty="0">
                <a:solidFill>
                  <a:srgbClr val="080912"/>
                </a:solidFill>
                <a:latin typeface="Arial MT"/>
                <a:cs typeface="Arial MT"/>
              </a:rPr>
              <a:t>parameter</a:t>
            </a:r>
            <a:r>
              <a:rPr lang="en-GB" sz="2000" spc="-20" dirty="0">
                <a:solidFill>
                  <a:srgbClr val="080912"/>
                </a:solidFill>
                <a:latin typeface="Arial MT"/>
                <a:cs typeface="Arial MT"/>
              </a:rPr>
              <a:t> </a:t>
            </a:r>
            <a:r>
              <a:rPr lang="en-GB" sz="2000" b="1" i="1" spc="-7" dirty="0">
                <a:solidFill>
                  <a:srgbClr val="080912"/>
                </a:solidFill>
                <a:latin typeface="Arial"/>
                <a:cs typeface="Arial"/>
              </a:rPr>
              <a:t>a.</a:t>
            </a:r>
            <a:endParaRPr lang="en-GB" sz="2000" dirty="0">
              <a:latin typeface="Arial"/>
              <a:cs typeface="Arial"/>
            </a:endParaRPr>
          </a:p>
          <a:p>
            <a:endParaRPr lang="en-PK" dirty="0"/>
          </a:p>
        </p:txBody>
      </p:sp>
      <p:pic>
        <p:nvPicPr>
          <p:cNvPr id="8" name="object 3"/>
          <p:cNvPicPr/>
          <p:nvPr/>
        </p:nvPicPr>
        <p:blipFill>
          <a:blip r:embed="rId3" cstate="print"/>
          <a:stretch>
            <a:fillRect/>
          </a:stretch>
        </p:blipFill>
        <p:spPr>
          <a:xfrm>
            <a:off x="8726838" y="5061852"/>
            <a:ext cx="2755669" cy="1237755"/>
          </a:xfrm>
          <a:prstGeom prst="rect">
            <a:avLst/>
          </a:prstGeom>
        </p:spPr>
      </p:pic>
      <p:sp>
        <p:nvSpPr>
          <p:cNvPr id="2" name="Slide Number Placeholder 1">
            <a:extLst>
              <a:ext uri="{FF2B5EF4-FFF2-40B4-BE49-F238E27FC236}">
                <a16:creationId xmlns:a16="http://schemas.microsoft.com/office/drawing/2014/main" id="{136576D2-F596-F7E7-A900-2CBCB10FA23C}"/>
              </a:ext>
            </a:extLst>
          </p:cNvPr>
          <p:cNvSpPr>
            <a:spLocks noGrp="1"/>
          </p:cNvSpPr>
          <p:nvPr>
            <p:ph type="sldNum" sz="quarter" idx="12"/>
          </p:nvPr>
        </p:nvSpPr>
        <p:spPr/>
        <p:txBody>
          <a:bodyPr/>
          <a:lstStyle/>
          <a:p>
            <a:fld id="{9CD9A578-84A4-4247-B01E-A84B9E2DF7BB}" type="slidenum">
              <a:rPr lang="en-PK" smtClean="0"/>
              <a:t>14</a:t>
            </a:fld>
            <a:endParaRPr lang="en-PK"/>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6FD0D3-3C00-A234-1C09-02B221DEC91C}"/>
              </a:ext>
            </a:extLst>
          </p:cNvPr>
          <p:cNvSpPr>
            <a:spLocks noGrp="1"/>
          </p:cNvSpPr>
          <p:nvPr>
            <p:ph type="title"/>
          </p:nvPr>
        </p:nvSpPr>
        <p:spPr>
          <a:xfrm>
            <a:off x="1305963" y="629374"/>
            <a:ext cx="9875520" cy="1356360"/>
          </a:xfrm>
        </p:spPr>
        <p:txBody>
          <a:bodyPr>
            <a:normAutofit fontScale="90000"/>
          </a:bodyPr>
          <a:lstStyle/>
          <a:p>
            <a:r>
              <a:rPr lang="en-GB" sz="4400" b="1" spc="-31" dirty="0">
                <a:solidFill>
                  <a:srgbClr val="272E40"/>
                </a:solidFill>
                <a:latin typeface="Arial"/>
                <a:cs typeface="Arial"/>
              </a:rPr>
              <a:t>E</a:t>
            </a:r>
            <a:r>
              <a:rPr lang="en-GB" sz="4400" b="1" spc="-24" dirty="0">
                <a:solidFill>
                  <a:srgbClr val="272E40"/>
                </a:solidFill>
                <a:latin typeface="Arial"/>
                <a:cs typeface="Arial"/>
              </a:rPr>
              <a:t>x</a:t>
            </a:r>
            <a:r>
              <a:rPr lang="en-GB" sz="4400" b="1" spc="-31" dirty="0">
                <a:solidFill>
                  <a:srgbClr val="272E40"/>
                </a:solidFill>
                <a:latin typeface="Arial"/>
                <a:cs typeface="Arial"/>
              </a:rPr>
              <a:t>pon</a:t>
            </a:r>
            <a:r>
              <a:rPr lang="en-GB" sz="4400" b="1" spc="-24" dirty="0">
                <a:solidFill>
                  <a:srgbClr val="272E40"/>
                </a:solidFill>
                <a:latin typeface="Arial"/>
                <a:cs typeface="Arial"/>
              </a:rPr>
              <a:t>e</a:t>
            </a:r>
            <a:r>
              <a:rPr lang="en-GB" sz="4400" b="1" spc="-37" dirty="0">
                <a:solidFill>
                  <a:srgbClr val="272E40"/>
                </a:solidFill>
                <a:latin typeface="Arial"/>
                <a:cs typeface="Arial"/>
              </a:rPr>
              <a:t>n</a:t>
            </a:r>
            <a:r>
              <a:rPr lang="en-GB" sz="4400" b="1" spc="-31" dirty="0">
                <a:solidFill>
                  <a:srgbClr val="272E40"/>
                </a:solidFill>
                <a:latin typeface="Arial"/>
                <a:cs typeface="Arial"/>
              </a:rPr>
              <a:t>ti</a:t>
            </a:r>
            <a:r>
              <a:rPr lang="en-GB" sz="4400" b="1" spc="-24" dirty="0">
                <a:solidFill>
                  <a:srgbClr val="272E40"/>
                </a:solidFill>
                <a:latin typeface="Arial"/>
                <a:cs typeface="Arial"/>
              </a:rPr>
              <a:t>a</a:t>
            </a:r>
            <a:r>
              <a:rPr lang="en-GB" sz="4400" b="1" dirty="0">
                <a:solidFill>
                  <a:srgbClr val="272E40"/>
                </a:solidFill>
                <a:latin typeface="Arial"/>
                <a:cs typeface="Arial"/>
              </a:rPr>
              <a:t>l</a:t>
            </a:r>
            <a:r>
              <a:rPr lang="en-GB" sz="4400" b="1" spc="-55" dirty="0">
                <a:solidFill>
                  <a:srgbClr val="272E40"/>
                </a:solidFill>
                <a:latin typeface="Arial"/>
                <a:cs typeface="Arial"/>
              </a:rPr>
              <a:t> </a:t>
            </a:r>
            <a:r>
              <a:rPr lang="en-GB" sz="4400" b="1" spc="-31" dirty="0">
                <a:solidFill>
                  <a:srgbClr val="272E40"/>
                </a:solidFill>
                <a:latin typeface="Arial"/>
                <a:cs typeface="Arial"/>
              </a:rPr>
              <a:t>L</a:t>
            </a:r>
            <a:r>
              <a:rPr lang="en-GB" sz="4400" b="1" spc="-24" dirty="0">
                <a:solidFill>
                  <a:srgbClr val="272E40"/>
                </a:solidFill>
                <a:latin typeface="Arial"/>
                <a:cs typeface="Arial"/>
              </a:rPr>
              <a:t>i</a:t>
            </a:r>
            <a:r>
              <a:rPr lang="en-GB" sz="4400" b="1" spc="-37" dirty="0">
                <a:solidFill>
                  <a:srgbClr val="272E40"/>
                </a:solidFill>
                <a:latin typeface="Arial"/>
                <a:cs typeface="Arial"/>
              </a:rPr>
              <a:t>n</a:t>
            </a:r>
            <a:r>
              <a:rPr lang="en-GB" sz="4400" b="1" spc="-34" dirty="0">
                <a:solidFill>
                  <a:srgbClr val="272E40"/>
                </a:solidFill>
                <a:latin typeface="Arial"/>
                <a:cs typeface="Arial"/>
              </a:rPr>
              <a:t>ea</a:t>
            </a:r>
            <a:r>
              <a:rPr lang="en-GB" sz="4400" b="1" spc="-3" dirty="0">
                <a:solidFill>
                  <a:srgbClr val="272E40"/>
                </a:solidFill>
                <a:latin typeface="Arial"/>
                <a:cs typeface="Arial"/>
              </a:rPr>
              <a:t>r</a:t>
            </a:r>
            <a:r>
              <a:rPr lang="en-GB" sz="4400" b="1" spc="-44" dirty="0">
                <a:solidFill>
                  <a:srgbClr val="272E40"/>
                </a:solidFill>
                <a:latin typeface="Arial"/>
                <a:cs typeface="Arial"/>
              </a:rPr>
              <a:t> </a:t>
            </a:r>
            <a:r>
              <a:rPr lang="en-GB" sz="4400" b="1" spc="-31" dirty="0">
                <a:solidFill>
                  <a:srgbClr val="272E40"/>
                </a:solidFill>
                <a:latin typeface="Arial"/>
                <a:cs typeface="Arial"/>
              </a:rPr>
              <a:t>U</a:t>
            </a:r>
            <a:r>
              <a:rPr lang="en-GB" sz="4400" b="1" spc="-37" dirty="0">
                <a:solidFill>
                  <a:srgbClr val="272E40"/>
                </a:solidFill>
                <a:latin typeface="Arial"/>
                <a:cs typeface="Arial"/>
              </a:rPr>
              <a:t>n</a:t>
            </a:r>
            <a:r>
              <a:rPr lang="en-GB" sz="4400" b="1" spc="-31" dirty="0">
                <a:solidFill>
                  <a:srgbClr val="272E40"/>
                </a:solidFill>
                <a:latin typeface="Arial"/>
                <a:cs typeface="Arial"/>
              </a:rPr>
              <a:t>i</a:t>
            </a:r>
            <a:r>
              <a:rPr lang="en-GB" sz="4400" b="1" spc="-24" dirty="0">
                <a:solidFill>
                  <a:srgbClr val="272E40"/>
                </a:solidFill>
                <a:latin typeface="Arial"/>
                <a:cs typeface="Arial"/>
              </a:rPr>
              <a:t>t</a:t>
            </a:r>
            <a:r>
              <a:rPr lang="en-GB" sz="4400" b="1" spc="-3" dirty="0">
                <a:solidFill>
                  <a:srgbClr val="272E40"/>
                </a:solidFill>
                <a:latin typeface="Arial"/>
                <a:cs typeface="Arial"/>
              </a:rPr>
              <a:t>s</a:t>
            </a:r>
            <a:r>
              <a:rPr lang="en-GB" sz="4400" b="1" spc="-61" dirty="0">
                <a:solidFill>
                  <a:srgbClr val="272E40"/>
                </a:solidFill>
                <a:latin typeface="Arial"/>
                <a:cs typeface="Arial"/>
              </a:rPr>
              <a:t> </a:t>
            </a:r>
            <a:r>
              <a:rPr lang="en-GB" sz="4400" b="1" spc="-24" dirty="0">
                <a:solidFill>
                  <a:srgbClr val="272E40"/>
                </a:solidFill>
                <a:latin typeface="Arial"/>
                <a:cs typeface="Arial"/>
              </a:rPr>
              <a:t>(</a:t>
            </a:r>
            <a:r>
              <a:rPr lang="en-GB" sz="4400" b="1" spc="-31" dirty="0">
                <a:solidFill>
                  <a:srgbClr val="272E40"/>
                </a:solidFill>
                <a:latin typeface="Arial"/>
                <a:cs typeface="Arial"/>
              </a:rPr>
              <a:t>EL</a:t>
            </a:r>
            <a:r>
              <a:rPr lang="en-GB" sz="4400" b="1" spc="-41" dirty="0">
                <a:solidFill>
                  <a:srgbClr val="272E40"/>
                </a:solidFill>
                <a:latin typeface="Arial"/>
                <a:cs typeface="Arial"/>
              </a:rPr>
              <a:t>U</a:t>
            </a:r>
            <a:r>
              <a:rPr lang="en-GB" sz="4400" b="1" spc="-24" dirty="0">
                <a:solidFill>
                  <a:srgbClr val="272E40"/>
                </a:solidFill>
                <a:latin typeface="Arial"/>
                <a:cs typeface="Arial"/>
              </a:rPr>
              <a:t>s</a:t>
            </a:r>
            <a:r>
              <a:rPr lang="en-GB" sz="4400" b="1" dirty="0">
                <a:solidFill>
                  <a:srgbClr val="272E40"/>
                </a:solidFill>
                <a:latin typeface="Arial"/>
                <a:cs typeface="Arial"/>
              </a:rPr>
              <a:t>)</a:t>
            </a:r>
            <a:r>
              <a:rPr lang="en-GB" sz="4400" b="1" spc="-55" dirty="0">
                <a:solidFill>
                  <a:srgbClr val="272E40"/>
                </a:solidFill>
                <a:latin typeface="Arial"/>
                <a:cs typeface="Arial"/>
              </a:rPr>
              <a:t> </a:t>
            </a:r>
            <a:r>
              <a:rPr lang="en-GB" sz="4400" b="1" spc="-31" dirty="0">
                <a:solidFill>
                  <a:srgbClr val="272E40"/>
                </a:solidFill>
                <a:latin typeface="Arial"/>
                <a:cs typeface="Arial"/>
              </a:rPr>
              <a:t>F</a:t>
            </a:r>
            <a:r>
              <a:rPr lang="en-GB" sz="4400" b="1" spc="-37" dirty="0">
                <a:solidFill>
                  <a:srgbClr val="272E40"/>
                </a:solidFill>
                <a:latin typeface="Arial"/>
                <a:cs typeface="Arial"/>
              </a:rPr>
              <a:t>u</a:t>
            </a:r>
            <a:r>
              <a:rPr lang="en-GB" sz="4400" b="1" spc="-31" dirty="0">
                <a:solidFill>
                  <a:srgbClr val="272E40"/>
                </a:solidFill>
                <a:latin typeface="Arial"/>
                <a:cs typeface="Arial"/>
              </a:rPr>
              <a:t>n</a:t>
            </a:r>
            <a:r>
              <a:rPr lang="en-GB" sz="4400" b="1" spc="-24" dirty="0">
                <a:solidFill>
                  <a:srgbClr val="272E40"/>
                </a:solidFill>
                <a:latin typeface="Arial"/>
                <a:cs typeface="Arial"/>
              </a:rPr>
              <a:t>c</a:t>
            </a:r>
            <a:r>
              <a:rPr lang="en-GB" sz="4400" b="1" spc="-31" dirty="0">
                <a:solidFill>
                  <a:srgbClr val="272E40"/>
                </a:solidFill>
                <a:latin typeface="Arial"/>
                <a:cs typeface="Arial"/>
              </a:rPr>
              <a:t>t</a:t>
            </a:r>
            <a:r>
              <a:rPr lang="en-GB" sz="4400" b="1" spc="-24" dirty="0">
                <a:solidFill>
                  <a:srgbClr val="272E40"/>
                </a:solidFill>
                <a:latin typeface="Arial"/>
                <a:cs typeface="Arial"/>
              </a:rPr>
              <a:t>i</a:t>
            </a:r>
            <a:r>
              <a:rPr lang="en-GB" sz="4400" b="1" spc="-31" dirty="0">
                <a:solidFill>
                  <a:srgbClr val="272E40"/>
                </a:solidFill>
                <a:latin typeface="Arial"/>
                <a:cs typeface="Arial"/>
              </a:rPr>
              <a:t>o</a:t>
            </a:r>
            <a:r>
              <a:rPr lang="en-GB" sz="4400" b="1" dirty="0">
                <a:solidFill>
                  <a:srgbClr val="272E40"/>
                </a:solidFill>
                <a:latin typeface="Arial"/>
                <a:cs typeface="Arial"/>
              </a:rPr>
              <a:t>n</a:t>
            </a:r>
            <a:br>
              <a:rPr lang="en-GB" sz="4400" dirty="0">
                <a:latin typeface="Arial"/>
                <a:cs typeface="Arial"/>
              </a:rPr>
            </a:br>
            <a:endParaRPr lang="en-PK" dirty="0"/>
          </a:p>
        </p:txBody>
      </p:sp>
      <p:sp>
        <p:nvSpPr>
          <p:cNvPr id="5" name="Content Placeholder 4">
            <a:extLst>
              <a:ext uri="{FF2B5EF4-FFF2-40B4-BE49-F238E27FC236}">
                <a16:creationId xmlns:a16="http://schemas.microsoft.com/office/drawing/2014/main" id="{15782B02-7ABA-6CF5-6466-8CFD9CF2B9AC}"/>
              </a:ext>
            </a:extLst>
          </p:cNvPr>
          <p:cNvSpPr>
            <a:spLocks noGrp="1"/>
          </p:cNvSpPr>
          <p:nvPr>
            <p:ph idx="1"/>
          </p:nvPr>
        </p:nvSpPr>
        <p:spPr>
          <a:xfrm>
            <a:off x="1305964" y="1785796"/>
            <a:ext cx="6661086" cy="4714592"/>
          </a:xfrm>
        </p:spPr>
        <p:txBody>
          <a:bodyPr>
            <a:normAutofit/>
          </a:bodyPr>
          <a:lstStyle/>
          <a:p>
            <a:pPr marL="8659" marR="4762" algn="just">
              <a:lnSpc>
                <a:spcPct val="143700"/>
              </a:lnSpc>
              <a:spcBef>
                <a:spcPts val="406"/>
              </a:spcBef>
            </a:pPr>
            <a:r>
              <a:rPr lang="en-GB" sz="1800" spc="-10" dirty="0">
                <a:solidFill>
                  <a:srgbClr val="080912"/>
                </a:solidFill>
                <a:latin typeface="Arial MT"/>
                <a:cs typeface="Arial MT"/>
              </a:rPr>
              <a:t>Exponential Linear Unit, </a:t>
            </a:r>
            <a:r>
              <a:rPr lang="en-GB" sz="1800" spc="-7" dirty="0">
                <a:solidFill>
                  <a:srgbClr val="080912"/>
                </a:solidFill>
                <a:latin typeface="Arial MT"/>
                <a:cs typeface="Arial MT"/>
              </a:rPr>
              <a:t>or </a:t>
            </a:r>
            <a:r>
              <a:rPr lang="en-GB" sz="1800" spc="-10" dirty="0">
                <a:solidFill>
                  <a:srgbClr val="080912"/>
                </a:solidFill>
                <a:latin typeface="Arial MT"/>
                <a:cs typeface="Arial MT"/>
              </a:rPr>
              <a:t>ELU </a:t>
            </a:r>
            <a:r>
              <a:rPr lang="en-GB" sz="1800" spc="-14" dirty="0">
                <a:solidFill>
                  <a:srgbClr val="080912"/>
                </a:solidFill>
                <a:latin typeface="Arial MT"/>
                <a:cs typeface="Arial MT"/>
              </a:rPr>
              <a:t>for </a:t>
            </a:r>
            <a:r>
              <a:rPr lang="en-GB" sz="1800" spc="-10" dirty="0">
                <a:solidFill>
                  <a:srgbClr val="080912"/>
                </a:solidFill>
                <a:latin typeface="Arial MT"/>
                <a:cs typeface="Arial MT"/>
              </a:rPr>
              <a:t>short, </a:t>
            </a:r>
            <a:r>
              <a:rPr lang="en-GB" sz="1800" spc="-7" dirty="0">
                <a:solidFill>
                  <a:srgbClr val="080912"/>
                </a:solidFill>
                <a:latin typeface="Arial MT"/>
                <a:cs typeface="Arial MT"/>
              </a:rPr>
              <a:t>is </a:t>
            </a:r>
            <a:r>
              <a:rPr lang="en-GB" sz="1800" spc="-10" dirty="0">
                <a:solidFill>
                  <a:srgbClr val="080912"/>
                </a:solidFill>
                <a:latin typeface="Arial MT"/>
                <a:cs typeface="Arial MT"/>
              </a:rPr>
              <a:t>also </a:t>
            </a:r>
            <a:r>
              <a:rPr lang="en-GB" sz="1800" dirty="0">
                <a:solidFill>
                  <a:srgbClr val="080912"/>
                </a:solidFill>
                <a:latin typeface="Arial MT"/>
                <a:cs typeface="Arial MT"/>
              </a:rPr>
              <a:t>a </a:t>
            </a:r>
            <a:r>
              <a:rPr lang="en-GB" sz="1800" spc="-10" dirty="0">
                <a:solidFill>
                  <a:srgbClr val="080912"/>
                </a:solidFill>
                <a:latin typeface="Arial MT"/>
                <a:cs typeface="Arial MT"/>
              </a:rPr>
              <a:t>variant </a:t>
            </a:r>
            <a:r>
              <a:rPr lang="en-GB" sz="1800" spc="-3" dirty="0">
                <a:solidFill>
                  <a:srgbClr val="080912"/>
                </a:solidFill>
                <a:latin typeface="Arial MT"/>
                <a:cs typeface="Arial MT"/>
              </a:rPr>
              <a:t>of </a:t>
            </a:r>
            <a:r>
              <a:rPr lang="en-GB" sz="1800" spc="-10" dirty="0" err="1">
                <a:solidFill>
                  <a:srgbClr val="080912"/>
                </a:solidFill>
                <a:latin typeface="Arial MT"/>
                <a:cs typeface="Arial MT"/>
              </a:rPr>
              <a:t>ReLU</a:t>
            </a:r>
            <a:r>
              <a:rPr lang="en-GB" sz="1800" spc="-10" dirty="0">
                <a:solidFill>
                  <a:srgbClr val="080912"/>
                </a:solidFill>
                <a:latin typeface="Arial MT"/>
                <a:cs typeface="Arial MT"/>
              </a:rPr>
              <a:t> that modifies the slope </a:t>
            </a:r>
            <a:r>
              <a:rPr lang="en-GB" sz="1800" spc="-7" dirty="0">
                <a:solidFill>
                  <a:srgbClr val="080912"/>
                </a:solidFill>
                <a:latin typeface="Arial MT"/>
                <a:cs typeface="Arial MT"/>
              </a:rPr>
              <a:t>of </a:t>
            </a:r>
            <a:r>
              <a:rPr lang="en-GB" sz="1800" spc="-249" dirty="0">
                <a:solidFill>
                  <a:srgbClr val="080912"/>
                </a:solidFill>
                <a:latin typeface="Arial MT"/>
                <a:cs typeface="Arial MT"/>
              </a:rPr>
              <a:t> </a:t>
            </a:r>
            <a:r>
              <a:rPr lang="en-GB" sz="1800" spc="-7" dirty="0">
                <a:solidFill>
                  <a:srgbClr val="080912"/>
                </a:solidFill>
                <a:latin typeface="Arial MT"/>
                <a:cs typeface="Arial MT"/>
              </a:rPr>
              <a:t>the</a:t>
            </a:r>
            <a:r>
              <a:rPr lang="en-GB" sz="1800" spc="-31" dirty="0">
                <a:solidFill>
                  <a:srgbClr val="080912"/>
                </a:solidFill>
                <a:latin typeface="Arial MT"/>
                <a:cs typeface="Arial MT"/>
              </a:rPr>
              <a:t> </a:t>
            </a:r>
            <a:r>
              <a:rPr lang="en-GB" sz="1800" spc="-10" dirty="0">
                <a:solidFill>
                  <a:srgbClr val="080912"/>
                </a:solidFill>
                <a:latin typeface="Arial MT"/>
                <a:cs typeface="Arial MT"/>
              </a:rPr>
              <a:t>negative</a:t>
            </a:r>
            <a:r>
              <a:rPr lang="en-GB" sz="1800" spc="-27" dirty="0">
                <a:solidFill>
                  <a:srgbClr val="080912"/>
                </a:solidFill>
                <a:latin typeface="Arial MT"/>
                <a:cs typeface="Arial MT"/>
              </a:rPr>
              <a:t> </a:t>
            </a:r>
            <a:r>
              <a:rPr lang="en-GB" sz="1800" spc="-7" dirty="0">
                <a:solidFill>
                  <a:srgbClr val="080912"/>
                </a:solidFill>
                <a:latin typeface="Arial MT"/>
                <a:cs typeface="Arial MT"/>
              </a:rPr>
              <a:t>part</a:t>
            </a:r>
            <a:r>
              <a:rPr lang="en-GB" sz="1800" spc="-31" dirty="0">
                <a:solidFill>
                  <a:srgbClr val="080912"/>
                </a:solidFill>
                <a:latin typeface="Arial MT"/>
                <a:cs typeface="Arial MT"/>
              </a:rPr>
              <a:t> </a:t>
            </a:r>
            <a:r>
              <a:rPr lang="en-GB" sz="1800" spc="-3" dirty="0">
                <a:solidFill>
                  <a:srgbClr val="080912"/>
                </a:solidFill>
                <a:latin typeface="Arial MT"/>
                <a:cs typeface="Arial MT"/>
              </a:rPr>
              <a:t>of</a:t>
            </a:r>
            <a:r>
              <a:rPr lang="en-GB" sz="1800" spc="-24" dirty="0">
                <a:solidFill>
                  <a:srgbClr val="080912"/>
                </a:solidFill>
                <a:latin typeface="Arial MT"/>
                <a:cs typeface="Arial MT"/>
              </a:rPr>
              <a:t> </a:t>
            </a:r>
            <a:r>
              <a:rPr lang="en-GB" sz="1800" spc="-10" dirty="0">
                <a:solidFill>
                  <a:srgbClr val="080912"/>
                </a:solidFill>
                <a:latin typeface="Arial MT"/>
                <a:cs typeface="Arial MT"/>
              </a:rPr>
              <a:t>the</a:t>
            </a:r>
            <a:r>
              <a:rPr lang="en-GB" sz="1800" spc="-20" dirty="0">
                <a:solidFill>
                  <a:srgbClr val="080912"/>
                </a:solidFill>
                <a:latin typeface="Arial MT"/>
                <a:cs typeface="Arial MT"/>
              </a:rPr>
              <a:t> </a:t>
            </a:r>
            <a:r>
              <a:rPr lang="en-GB" sz="1800" spc="-10" dirty="0">
                <a:solidFill>
                  <a:srgbClr val="080912"/>
                </a:solidFill>
                <a:latin typeface="Arial MT"/>
                <a:cs typeface="Arial MT"/>
              </a:rPr>
              <a:t>function.</a:t>
            </a:r>
            <a:endParaRPr lang="en-GB" sz="1800" dirty="0">
              <a:latin typeface="Arial MT"/>
              <a:cs typeface="Arial MT"/>
            </a:endParaRPr>
          </a:p>
          <a:p>
            <a:pPr marL="8659" marR="3464" algn="just">
              <a:lnSpc>
                <a:spcPct val="143700"/>
              </a:lnSpc>
              <a:spcBef>
                <a:spcPts val="402"/>
              </a:spcBef>
            </a:pPr>
            <a:r>
              <a:rPr lang="en-GB" sz="1800" spc="-10" dirty="0">
                <a:solidFill>
                  <a:srgbClr val="080912"/>
                </a:solidFill>
                <a:latin typeface="Arial MT"/>
                <a:cs typeface="Arial MT"/>
              </a:rPr>
              <a:t>ELU</a:t>
            </a:r>
            <a:r>
              <a:rPr lang="en-GB" sz="1800" spc="-61" dirty="0">
                <a:solidFill>
                  <a:srgbClr val="080912"/>
                </a:solidFill>
                <a:latin typeface="Arial MT"/>
                <a:cs typeface="Arial MT"/>
              </a:rPr>
              <a:t> </a:t>
            </a:r>
            <a:r>
              <a:rPr lang="en-GB" sz="1800" spc="-10" dirty="0">
                <a:solidFill>
                  <a:srgbClr val="080912"/>
                </a:solidFill>
                <a:latin typeface="Arial MT"/>
                <a:cs typeface="Arial MT"/>
              </a:rPr>
              <a:t>uses</a:t>
            </a:r>
            <a:r>
              <a:rPr lang="en-GB" sz="1800" spc="-65" dirty="0">
                <a:solidFill>
                  <a:srgbClr val="080912"/>
                </a:solidFill>
                <a:latin typeface="Arial MT"/>
                <a:cs typeface="Arial MT"/>
              </a:rPr>
              <a:t> </a:t>
            </a:r>
            <a:r>
              <a:rPr lang="en-GB" sz="1800" dirty="0">
                <a:solidFill>
                  <a:srgbClr val="080912"/>
                </a:solidFill>
                <a:latin typeface="Arial MT"/>
                <a:cs typeface="Arial MT"/>
              </a:rPr>
              <a:t>a</a:t>
            </a:r>
            <a:r>
              <a:rPr lang="en-GB" sz="1800" spc="-65" dirty="0">
                <a:solidFill>
                  <a:srgbClr val="080912"/>
                </a:solidFill>
                <a:latin typeface="Arial MT"/>
                <a:cs typeface="Arial MT"/>
              </a:rPr>
              <a:t> </a:t>
            </a:r>
            <a:r>
              <a:rPr lang="en-GB" sz="1800" spc="-7" dirty="0">
                <a:solidFill>
                  <a:srgbClr val="080912"/>
                </a:solidFill>
                <a:latin typeface="Arial MT"/>
                <a:cs typeface="Arial MT"/>
              </a:rPr>
              <a:t>log</a:t>
            </a:r>
            <a:r>
              <a:rPr lang="en-GB" sz="1800" spc="-68" dirty="0">
                <a:solidFill>
                  <a:srgbClr val="080912"/>
                </a:solidFill>
                <a:latin typeface="Arial MT"/>
                <a:cs typeface="Arial MT"/>
              </a:rPr>
              <a:t> </a:t>
            </a:r>
            <a:r>
              <a:rPr lang="en-GB" sz="1800" spc="-10" dirty="0">
                <a:solidFill>
                  <a:srgbClr val="080912"/>
                </a:solidFill>
                <a:latin typeface="Arial MT"/>
                <a:cs typeface="Arial MT"/>
              </a:rPr>
              <a:t>curve</a:t>
            </a:r>
            <a:r>
              <a:rPr lang="en-GB" sz="1800" spc="-72" dirty="0">
                <a:solidFill>
                  <a:srgbClr val="080912"/>
                </a:solidFill>
                <a:latin typeface="Arial MT"/>
                <a:cs typeface="Arial MT"/>
              </a:rPr>
              <a:t> </a:t>
            </a:r>
            <a:r>
              <a:rPr lang="en-GB" sz="1800" spc="-7" dirty="0">
                <a:solidFill>
                  <a:srgbClr val="080912"/>
                </a:solidFill>
                <a:latin typeface="Arial MT"/>
                <a:cs typeface="Arial MT"/>
              </a:rPr>
              <a:t>to</a:t>
            </a:r>
            <a:r>
              <a:rPr lang="en-GB" sz="1800" spc="-61" dirty="0">
                <a:solidFill>
                  <a:srgbClr val="080912"/>
                </a:solidFill>
                <a:latin typeface="Arial MT"/>
                <a:cs typeface="Arial MT"/>
              </a:rPr>
              <a:t> </a:t>
            </a:r>
            <a:r>
              <a:rPr lang="en-GB" sz="1800" spc="-10" dirty="0">
                <a:solidFill>
                  <a:srgbClr val="080912"/>
                </a:solidFill>
                <a:latin typeface="Arial MT"/>
                <a:cs typeface="Arial MT"/>
              </a:rPr>
              <a:t>define</a:t>
            </a:r>
            <a:r>
              <a:rPr lang="en-GB" sz="1800" spc="-65" dirty="0">
                <a:solidFill>
                  <a:srgbClr val="080912"/>
                </a:solidFill>
                <a:latin typeface="Arial MT"/>
                <a:cs typeface="Arial MT"/>
              </a:rPr>
              <a:t> </a:t>
            </a:r>
            <a:r>
              <a:rPr lang="en-GB" sz="1800" spc="-14" dirty="0">
                <a:solidFill>
                  <a:srgbClr val="080912"/>
                </a:solidFill>
                <a:latin typeface="Arial MT"/>
                <a:cs typeface="Arial MT"/>
              </a:rPr>
              <a:t>the</a:t>
            </a:r>
            <a:r>
              <a:rPr lang="en-GB" sz="1800" spc="-61" dirty="0">
                <a:solidFill>
                  <a:srgbClr val="080912"/>
                </a:solidFill>
                <a:latin typeface="Arial MT"/>
                <a:cs typeface="Arial MT"/>
              </a:rPr>
              <a:t> </a:t>
            </a:r>
            <a:r>
              <a:rPr lang="en-GB" sz="1800" spc="-14" dirty="0">
                <a:solidFill>
                  <a:srgbClr val="080912"/>
                </a:solidFill>
                <a:latin typeface="Arial MT"/>
                <a:cs typeface="Arial MT"/>
              </a:rPr>
              <a:t>negative</a:t>
            </a:r>
            <a:r>
              <a:rPr lang="en-GB" sz="1800" spc="-65" dirty="0">
                <a:solidFill>
                  <a:srgbClr val="080912"/>
                </a:solidFill>
                <a:latin typeface="Arial MT"/>
                <a:cs typeface="Arial MT"/>
              </a:rPr>
              <a:t> </a:t>
            </a:r>
            <a:r>
              <a:rPr lang="en-GB" sz="1800" spc="-10" dirty="0">
                <a:solidFill>
                  <a:srgbClr val="080912"/>
                </a:solidFill>
                <a:latin typeface="Arial MT"/>
                <a:cs typeface="Arial MT"/>
              </a:rPr>
              <a:t>values</a:t>
            </a:r>
            <a:r>
              <a:rPr lang="en-GB" sz="1800" spc="-68" dirty="0">
                <a:solidFill>
                  <a:srgbClr val="080912"/>
                </a:solidFill>
                <a:latin typeface="Arial MT"/>
                <a:cs typeface="Arial MT"/>
              </a:rPr>
              <a:t> </a:t>
            </a:r>
            <a:r>
              <a:rPr lang="en-GB" sz="1800" spc="-10" dirty="0">
                <a:solidFill>
                  <a:srgbClr val="080912"/>
                </a:solidFill>
                <a:latin typeface="Arial MT"/>
                <a:cs typeface="Arial MT"/>
              </a:rPr>
              <a:t>unlike</a:t>
            </a:r>
            <a:r>
              <a:rPr lang="en-GB" sz="1800" spc="-61" dirty="0">
                <a:solidFill>
                  <a:srgbClr val="080912"/>
                </a:solidFill>
                <a:latin typeface="Arial MT"/>
                <a:cs typeface="Arial MT"/>
              </a:rPr>
              <a:t> </a:t>
            </a:r>
            <a:r>
              <a:rPr lang="en-GB" sz="1800" spc="-10" dirty="0">
                <a:solidFill>
                  <a:srgbClr val="080912"/>
                </a:solidFill>
                <a:latin typeface="Arial MT"/>
                <a:cs typeface="Arial MT"/>
              </a:rPr>
              <a:t>the</a:t>
            </a:r>
            <a:r>
              <a:rPr lang="en-GB" sz="1800" spc="-65" dirty="0">
                <a:solidFill>
                  <a:srgbClr val="080912"/>
                </a:solidFill>
                <a:latin typeface="Arial MT"/>
                <a:cs typeface="Arial MT"/>
              </a:rPr>
              <a:t> </a:t>
            </a:r>
            <a:r>
              <a:rPr lang="en-GB" sz="1800" spc="-14" dirty="0">
                <a:solidFill>
                  <a:srgbClr val="080912"/>
                </a:solidFill>
                <a:latin typeface="Arial MT"/>
                <a:cs typeface="Arial MT"/>
              </a:rPr>
              <a:t>leaky</a:t>
            </a:r>
            <a:r>
              <a:rPr lang="en-GB" sz="1800" spc="-65" dirty="0">
                <a:solidFill>
                  <a:srgbClr val="080912"/>
                </a:solidFill>
                <a:latin typeface="Arial MT"/>
                <a:cs typeface="Arial MT"/>
              </a:rPr>
              <a:t> </a:t>
            </a:r>
            <a:r>
              <a:rPr lang="en-GB" sz="1800" spc="-10" dirty="0" err="1">
                <a:solidFill>
                  <a:srgbClr val="080912"/>
                </a:solidFill>
                <a:latin typeface="Arial MT"/>
                <a:cs typeface="Arial MT"/>
              </a:rPr>
              <a:t>ReLU</a:t>
            </a:r>
            <a:r>
              <a:rPr lang="en-GB" sz="1800" spc="-72" dirty="0">
                <a:solidFill>
                  <a:srgbClr val="080912"/>
                </a:solidFill>
                <a:latin typeface="Arial MT"/>
                <a:cs typeface="Arial MT"/>
              </a:rPr>
              <a:t> </a:t>
            </a:r>
            <a:r>
              <a:rPr lang="en-GB" sz="1800" spc="-7" dirty="0">
                <a:solidFill>
                  <a:srgbClr val="080912"/>
                </a:solidFill>
                <a:latin typeface="Arial MT"/>
                <a:cs typeface="Arial MT"/>
              </a:rPr>
              <a:t>and</a:t>
            </a:r>
            <a:r>
              <a:rPr lang="en-GB" sz="1800" spc="-61" dirty="0">
                <a:solidFill>
                  <a:srgbClr val="080912"/>
                </a:solidFill>
                <a:latin typeface="Arial MT"/>
                <a:cs typeface="Arial MT"/>
              </a:rPr>
              <a:t> </a:t>
            </a:r>
            <a:r>
              <a:rPr lang="en-GB" sz="1800" spc="-14" dirty="0">
                <a:solidFill>
                  <a:srgbClr val="080912"/>
                </a:solidFill>
                <a:latin typeface="Arial MT"/>
                <a:cs typeface="Arial MT"/>
              </a:rPr>
              <a:t>Parametric</a:t>
            </a:r>
            <a:r>
              <a:rPr lang="en-GB" sz="1800" spc="-65" dirty="0">
                <a:solidFill>
                  <a:srgbClr val="080912"/>
                </a:solidFill>
                <a:latin typeface="Arial MT"/>
                <a:cs typeface="Arial MT"/>
              </a:rPr>
              <a:t> </a:t>
            </a:r>
            <a:r>
              <a:rPr lang="en-GB" sz="1800" spc="-10" dirty="0" err="1">
                <a:solidFill>
                  <a:srgbClr val="080912"/>
                </a:solidFill>
                <a:latin typeface="Arial MT"/>
                <a:cs typeface="Arial MT"/>
              </a:rPr>
              <a:t>ReLU</a:t>
            </a:r>
            <a:r>
              <a:rPr lang="en-GB" sz="1800" spc="-10" dirty="0">
                <a:solidFill>
                  <a:srgbClr val="080912"/>
                </a:solidFill>
                <a:latin typeface="Arial MT"/>
                <a:cs typeface="Arial MT"/>
              </a:rPr>
              <a:t> </a:t>
            </a:r>
            <a:r>
              <a:rPr lang="en-GB" sz="1800" spc="-249" dirty="0">
                <a:solidFill>
                  <a:srgbClr val="080912"/>
                </a:solidFill>
                <a:latin typeface="Arial MT"/>
                <a:cs typeface="Arial MT"/>
              </a:rPr>
              <a:t> </a:t>
            </a:r>
            <a:r>
              <a:rPr lang="en-GB" sz="1800" spc="-14" dirty="0">
                <a:solidFill>
                  <a:srgbClr val="080912"/>
                </a:solidFill>
                <a:latin typeface="Arial MT"/>
                <a:cs typeface="Arial MT"/>
              </a:rPr>
              <a:t>functions</a:t>
            </a:r>
            <a:r>
              <a:rPr lang="en-GB" sz="1800" spc="-27" dirty="0">
                <a:solidFill>
                  <a:srgbClr val="080912"/>
                </a:solidFill>
                <a:latin typeface="Arial MT"/>
                <a:cs typeface="Arial MT"/>
              </a:rPr>
              <a:t> </a:t>
            </a:r>
            <a:r>
              <a:rPr lang="en-GB" sz="1800" spc="-10" dirty="0">
                <a:solidFill>
                  <a:srgbClr val="080912"/>
                </a:solidFill>
                <a:latin typeface="Arial MT"/>
                <a:cs typeface="Arial MT"/>
              </a:rPr>
              <a:t>with</a:t>
            </a:r>
            <a:r>
              <a:rPr lang="en-GB" sz="1800" spc="-27" dirty="0">
                <a:solidFill>
                  <a:srgbClr val="080912"/>
                </a:solidFill>
                <a:latin typeface="Arial MT"/>
                <a:cs typeface="Arial MT"/>
              </a:rPr>
              <a:t> </a:t>
            </a:r>
            <a:r>
              <a:rPr lang="en-GB" sz="1800" dirty="0">
                <a:solidFill>
                  <a:srgbClr val="080912"/>
                </a:solidFill>
                <a:latin typeface="Arial MT"/>
                <a:cs typeface="Arial MT"/>
              </a:rPr>
              <a:t>a</a:t>
            </a:r>
            <a:r>
              <a:rPr lang="en-GB" sz="1800" spc="-20" dirty="0">
                <a:solidFill>
                  <a:srgbClr val="080912"/>
                </a:solidFill>
                <a:latin typeface="Arial MT"/>
                <a:cs typeface="Arial MT"/>
              </a:rPr>
              <a:t> </a:t>
            </a:r>
            <a:r>
              <a:rPr lang="en-GB" sz="1800" spc="-10" dirty="0">
                <a:solidFill>
                  <a:srgbClr val="080912"/>
                </a:solidFill>
                <a:latin typeface="Arial MT"/>
                <a:cs typeface="Arial MT"/>
              </a:rPr>
              <a:t>straight</a:t>
            </a:r>
            <a:r>
              <a:rPr lang="en-GB" sz="1800" spc="-31" dirty="0">
                <a:solidFill>
                  <a:srgbClr val="080912"/>
                </a:solidFill>
                <a:latin typeface="Arial MT"/>
                <a:cs typeface="Arial MT"/>
              </a:rPr>
              <a:t> </a:t>
            </a:r>
            <a:r>
              <a:rPr lang="en-GB" sz="1800" spc="-7" dirty="0">
                <a:solidFill>
                  <a:srgbClr val="080912"/>
                </a:solidFill>
                <a:latin typeface="Arial MT"/>
                <a:cs typeface="Arial MT"/>
              </a:rPr>
              <a:t>line.</a:t>
            </a:r>
          </a:p>
          <a:p>
            <a:pPr marL="8659">
              <a:spcBef>
                <a:spcPts val="72"/>
              </a:spcBef>
            </a:pPr>
            <a:r>
              <a:rPr lang="en-GB" sz="1800" spc="-10" dirty="0">
                <a:solidFill>
                  <a:srgbClr val="080912"/>
                </a:solidFill>
                <a:latin typeface="Arial MT"/>
                <a:cs typeface="Arial MT"/>
              </a:rPr>
              <a:t>ELU</a:t>
            </a:r>
            <a:r>
              <a:rPr lang="en-GB" sz="1800" spc="-17" dirty="0">
                <a:solidFill>
                  <a:srgbClr val="080912"/>
                </a:solidFill>
                <a:latin typeface="Arial MT"/>
                <a:cs typeface="Arial MT"/>
              </a:rPr>
              <a:t> </a:t>
            </a:r>
            <a:r>
              <a:rPr lang="en-GB" sz="1800" spc="-10" dirty="0">
                <a:solidFill>
                  <a:srgbClr val="080912"/>
                </a:solidFill>
                <a:latin typeface="Arial MT"/>
                <a:cs typeface="Arial MT"/>
              </a:rPr>
              <a:t>is</a:t>
            </a:r>
            <a:r>
              <a:rPr lang="en-GB" sz="1800" spc="-24" dirty="0">
                <a:solidFill>
                  <a:srgbClr val="080912"/>
                </a:solidFill>
                <a:latin typeface="Arial MT"/>
                <a:cs typeface="Arial MT"/>
              </a:rPr>
              <a:t> </a:t>
            </a:r>
            <a:r>
              <a:rPr lang="en-GB" sz="1800" dirty="0">
                <a:solidFill>
                  <a:srgbClr val="080912"/>
                </a:solidFill>
                <a:latin typeface="Arial MT"/>
                <a:cs typeface="Arial MT"/>
              </a:rPr>
              <a:t>a</a:t>
            </a:r>
            <a:r>
              <a:rPr lang="en-GB" sz="1800" spc="-24" dirty="0">
                <a:solidFill>
                  <a:srgbClr val="080912"/>
                </a:solidFill>
                <a:latin typeface="Arial MT"/>
                <a:cs typeface="Arial MT"/>
              </a:rPr>
              <a:t> </a:t>
            </a:r>
            <a:r>
              <a:rPr lang="en-GB" sz="1800" spc="-10" dirty="0">
                <a:solidFill>
                  <a:srgbClr val="080912"/>
                </a:solidFill>
                <a:latin typeface="Arial MT"/>
                <a:cs typeface="Arial MT"/>
              </a:rPr>
              <a:t>strong</a:t>
            </a:r>
            <a:r>
              <a:rPr lang="en-GB" sz="1800" spc="-20" dirty="0">
                <a:solidFill>
                  <a:srgbClr val="080912"/>
                </a:solidFill>
                <a:latin typeface="Arial MT"/>
                <a:cs typeface="Arial MT"/>
              </a:rPr>
              <a:t> </a:t>
            </a:r>
            <a:r>
              <a:rPr lang="en-GB" sz="1800" spc="-10" dirty="0">
                <a:solidFill>
                  <a:srgbClr val="080912"/>
                </a:solidFill>
                <a:latin typeface="Arial MT"/>
                <a:cs typeface="Arial MT"/>
              </a:rPr>
              <a:t>alternative</a:t>
            </a:r>
            <a:r>
              <a:rPr lang="en-GB" sz="1800" spc="-17" dirty="0">
                <a:solidFill>
                  <a:srgbClr val="080912"/>
                </a:solidFill>
                <a:latin typeface="Arial MT"/>
                <a:cs typeface="Arial MT"/>
              </a:rPr>
              <a:t> </a:t>
            </a:r>
            <a:r>
              <a:rPr lang="en-GB" sz="1800" spc="-14" dirty="0">
                <a:solidFill>
                  <a:srgbClr val="080912"/>
                </a:solidFill>
                <a:latin typeface="Arial MT"/>
                <a:cs typeface="Arial MT"/>
              </a:rPr>
              <a:t>for</a:t>
            </a:r>
            <a:r>
              <a:rPr lang="en-GB" sz="1800" spc="-17" dirty="0">
                <a:solidFill>
                  <a:srgbClr val="080912"/>
                </a:solidFill>
                <a:latin typeface="Arial MT"/>
                <a:cs typeface="Arial MT"/>
              </a:rPr>
              <a:t> </a:t>
            </a:r>
            <a:r>
              <a:rPr lang="en-GB" sz="1800" dirty="0">
                <a:solidFill>
                  <a:srgbClr val="080912"/>
                </a:solidFill>
                <a:latin typeface="Arial MT"/>
                <a:cs typeface="Arial MT"/>
              </a:rPr>
              <a:t>f</a:t>
            </a:r>
            <a:r>
              <a:rPr lang="en-GB" sz="1800" spc="-31" dirty="0">
                <a:solidFill>
                  <a:srgbClr val="080912"/>
                </a:solidFill>
                <a:latin typeface="Arial MT"/>
                <a:cs typeface="Arial MT"/>
              </a:rPr>
              <a:t> </a:t>
            </a:r>
            <a:r>
              <a:rPr lang="en-GB" sz="1800" spc="-10" dirty="0" err="1">
                <a:solidFill>
                  <a:srgbClr val="080912"/>
                </a:solidFill>
                <a:latin typeface="Arial MT"/>
                <a:cs typeface="Arial MT"/>
              </a:rPr>
              <a:t>ReLU</a:t>
            </a:r>
            <a:r>
              <a:rPr lang="en-GB" sz="1800" spc="-20" dirty="0">
                <a:solidFill>
                  <a:srgbClr val="080912"/>
                </a:solidFill>
                <a:latin typeface="Arial MT"/>
                <a:cs typeface="Arial MT"/>
              </a:rPr>
              <a:t> </a:t>
            </a:r>
            <a:r>
              <a:rPr lang="en-GB" sz="1800" spc="-10" dirty="0">
                <a:solidFill>
                  <a:srgbClr val="080912"/>
                </a:solidFill>
                <a:latin typeface="Arial MT"/>
                <a:cs typeface="Arial MT"/>
              </a:rPr>
              <a:t>because</a:t>
            </a:r>
            <a:r>
              <a:rPr lang="en-GB" sz="1800" spc="-27" dirty="0">
                <a:solidFill>
                  <a:srgbClr val="080912"/>
                </a:solidFill>
                <a:latin typeface="Arial MT"/>
                <a:cs typeface="Arial MT"/>
              </a:rPr>
              <a:t> </a:t>
            </a:r>
            <a:r>
              <a:rPr lang="en-GB" sz="1800" spc="-3" dirty="0">
                <a:solidFill>
                  <a:srgbClr val="080912"/>
                </a:solidFill>
                <a:latin typeface="Arial MT"/>
                <a:cs typeface="Arial MT"/>
              </a:rPr>
              <a:t>of</a:t>
            </a:r>
            <a:r>
              <a:rPr lang="en-GB" sz="1800" spc="-20" dirty="0">
                <a:solidFill>
                  <a:srgbClr val="080912"/>
                </a:solidFill>
                <a:latin typeface="Arial MT"/>
                <a:cs typeface="Arial MT"/>
              </a:rPr>
              <a:t> </a:t>
            </a:r>
            <a:r>
              <a:rPr lang="en-GB" sz="1800" spc="-10" dirty="0">
                <a:solidFill>
                  <a:srgbClr val="080912"/>
                </a:solidFill>
                <a:latin typeface="Arial MT"/>
                <a:cs typeface="Arial MT"/>
              </a:rPr>
              <a:t>the</a:t>
            </a:r>
            <a:r>
              <a:rPr lang="en-GB" sz="1800" spc="-20" dirty="0">
                <a:solidFill>
                  <a:srgbClr val="080912"/>
                </a:solidFill>
                <a:latin typeface="Arial MT"/>
                <a:cs typeface="Arial MT"/>
              </a:rPr>
              <a:t> </a:t>
            </a:r>
            <a:r>
              <a:rPr lang="en-GB" sz="1800" spc="-14" dirty="0">
                <a:solidFill>
                  <a:srgbClr val="080912"/>
                </a:solidFill>
                <a:latin typeface="Arial MT"/>
                <a:cs typeface="Arial MT"/>
              </a:rPr>
              <a:t>following</a:t>
            </a:r>
            <a:r>
              <a:rPr lang="en-GB" sz="1800" spc="-17" dirty="0">
                <a:solidFill>
                  <a:srgbClr val="080912"/>
                </a:solidFill>
                <a:latin typeface="Arial MT"/>
                <a:cs typeface="Arial MT"/>
              </a:rPr>
              <a:t> </a:t>
            </a:r>
            <a:r>
              <a:rPr lang="en-GB" sz="1800" spc="-10" dirty="0">
                <a:solidFill>
                  <a:srgbClr val="080912"/>
                </a:solidFill>
                <a:latin typeface="Arial MT"/>
                <a:cs typeface="Arial MT"/>
              </a:rPr>
              <a:t>advantages:</a:t>
            </a:r>
            <a:endParaRPr lang="en-GB" sz="1800" dirty="0">
              <a:latin typeface="Arial MT"/>
              <a:cs typeface="Arial MT"/>
            </a:endParaRPr>
          </a:p>
          <a:p>
            <a:pPr marL="320378" marR="184867" indent="-156292">
              <a:lnSpc>
                <a:spcPct val="116300"/>
              </a:lnSpc>
              <a:spcBef>
                <a:spcPts val="508"/>
              </a:spcBef>
              <a:buSzPct val="74074"/>
              <a:buFont typeface="Symbol"/>
              <a:buChar char=""/>
              <a:tabLst>
                <a:tab pos="320378" algn="l"/>
                <a:tab pos="320810" algn="l"/>
              </a:tabLst>
            </a:pPr>
            <a:r>
              <a:rPr lang="en-GB" sz="1800" dirty="0">
                <a:solidFill>
                  <a:srgbClr val="080912"/>
                </a:solidFill>
                <a:latin typeface="Arial MT"/>
                <a:cs typeface="Arial MT"/>
              </a:rPr>
              <a:t>ELU </a:t>
            </a:r>
            <a:r>
              <a:rPr lang="en-GB" sz="1800" spc="-3" dirty="0">
                <a:solidFill>
                  <a:srgbClr val="080912"/>
                </a:solidFill>
                <a:latin typeface="Arial MT"/>
                <a:cs typeface="Arial MT"/>
              </a:rPr>
              <a:t>becomes smooth</a:t>
            </a:r>
            <a:r>
              <a:rPr lang="en-GB" sz="1800" spc="3" dirty="0">
                <a:solidFill>
                  <a:srgbClr val="080912"/>
                </a:solidFill>
                <a:latin typeface="Arial MT"/>
                <a:cs typeface="Arial MT"/>
              </a:rPr>
              <a:t> </a:t>
            </a:r>
            <a:r>
              <a:rPr lang="en-GB" sz="1800" spc="-3" dirty="0">
                <a:solidFill>
                  <a:srgbClr val="080912"/>
                </a:solidFill>
                <a:latin typeface="Arial MT"/>
                <a:cs typeface="Arial MT"/>
              </a:rPr>
              <a:t>slowly</a:t>
            </a:r>
            <a:r>
              <a:rPr lang="en-GB" sz="1800" spc="3" dirty="0">
                <a:solidFill>
                  <a:srgbClr val="080912"/>
                </a:solidFill>
                <a:latin typeface="Arial MT"/>
                <a:cs typeface="Arial MT"/>
              </a:rPr>
              <a:t> </a:t>
            </a:r>
            <a:r>
              <a:rPr lang="en-GB" sz="1800" dirty="0">
                <a:solidFill>
                  <a:srgbClr val="080912"/>
                </a:solidFill>
                <a:latin typeface="Arial MT"/>
                <a:cs typeface="Arial MT"/>
              </a:rPr>
              <a:t>until </a:t>
            </a:r>
            <a:r>
              <a:rPr lang="en-GB" sz="1800" spc="-3" dirty="0">
                <a:solidFill>
                  <a:srgbClr val="080912"/>
                </a:solidFill>
                <a:latin typeface="Arial MT"/>
                <a:cs typeface="Arial MT"/>
              </a:rPr>
              <a:t>its</a:t>
            </a:r>
            <a:r>
              <a:rPr lang="en-GB" sz="1800" spc="3" dirty="0">
                <a:solidFill>
                  <a:srgbClr val="080912"/>
                </a:solidFill>
                <a:latin typeface="Arial MT"/>
                <a:cs typeface="Arial MT"/>
              </a:rPr>
              <a:t> </a:t>
            </a:r>
            <a:r>
              <a:rPr lang="en-GB" sz="1800" spc="-3" dirty="0">
                <a:solidFill>
                  <a:srgbClr val="080912"/>
                </a:solidFill>
                <a:latin typeface="Arial MT"/>
                <a:cs typeface="Arial MT"/>
              </a:rPr>
              <a:t>output </a:t>
            </a:r>
            <a:r>
              <a:rPr lang="en-GB" sz="1800" dirty="0">
                <a:solidFill>
                  <a:srgbClr val="080912"/>
                </a:solidFill>
                <a:latin typeface="Arial MT"/>
                <a:cs typeface="Arial MT"/>
              </a:rPr>
              <a:t>equal </a:t>
            </a:r>
            <a:r>
              <a:rPr lang="en-GB" sz="1800" spc="-3" dirty="0">
                <a:solidFill>
                  <a:srgbClr val="080912"/>
                </a:solidFill>
                <a:latin typeface="Arial MT"/>
                <a:cs typeface="Arial MT"/>
              </a:rPr>
              <a:t>to</a:t>
            </a:r>
            <a:r>
              <a:rPr lang="en-GB" sz="1800" spc="14" dirty="0">
                <a:solidFill>
                  <a:srgbClr val="080912"/>
                </a:solidFill>
                <a:latin typeface="Arial MT"/>
                <a:cs typeface="Arial MT"/>
              </a:rPr>
              <a:t> </a:t>
            </a:r>
            <a:r>
              <a:rPr lang="en-GB" sz="1800" spc="-194" dirty="0">
                <a:solidFill>
                  <a:srgbClr val="080912"/>
                </a:solidFill>
                <a:latin typeface="Arial MT"/>
                <a:cs typeface="Arial MT"/>
              </a:rPr>
              <a:t>-α </a:t>
            </a:r>
            <a:r>
              <a:rPr lang="en-GB" sz="1800" spc="-191" dirty="0">
                <a:solidFill>
                  <a:srgbClr val="080912"/>
                </a:solidFill>
                <a:latin typeface="Arial MT"/>
                <a:cs typeface="Arial MT"/>
              </a:rPr>
              <a:t> </a:t>
            </a:r>
            <a:r>
              <a:rPr lang="en-GB" sz="1800" spc="-3" dirty="0">
                <a:solidFill>
                  <a:srgbClr val="080912"/>
                </a:solidFill>
                <a:latin typeface="Arial MT"/>
                <a:cs typeface="Arial MT"/>
              </a:rPr>
              <a:t>whereas</a:t>
            </a:r>
            <a:r>
              <a:rPr lang="en-GB" sz="1800" dirty="0">
                <a:solidFill>
                  <a:srgbClr val="080912"/>
                </a:solidFill>
                <a:latin typeface="Arial MT"/>
                <a:cs typeface="Arial MT"/>
              </a:rPr>
              <a:t> RELU</a:t>
            </a:r>
            <a:r>
              <a:rPr lang="en-GB" sz="1800" spc="-7" dirty="0">
                <a:solidFill>
                  <a:srgbClr val="080912"/>
                </a:solidFill>
                <a:latin typeface="Arial MT"/>
                <a:cs typeface="Arial MT"/>
              </a:rPr>
              <a:t> </a:t>
            </a:r>
            <a:r>
              <a:rPr lang="en-GB" sz="1800" spc="-3" dirty="0">
                <a:solidFill>
                  <a:srgbClr val="080912"/>
                </a:solidFill>
                <a:latin typeface="Arial MT"/>
                <a:cs typeface="Arial MT"/>
              </a:rPr>
              <a:t>sharply </a:t>
            </a:r>
            <a:r>
              <a:rPr lang="en-GB" sz="1800" spc="-249" dirty="0">
                <a:solidFill>
                  <a:srgbClr val="080912"/>
                </a:solidFill>
                <a:latin typeface="Arial MT"/>
                <a:cs typeface="Arial MT"/>
              </a:rPr>
              <a:t> </a:t>
            </a:r>
            <a:r>
              <a:rPr lang="en-GB" sz="1800" spc="-3" dirty="0" err="1">
                <a:solidFill>
                  <a:srgbClr val="080912"/>
                </a:solidFill>
                <a:latin typeface="Arial MT"/>
                <a:cs typeface="Arial MT"/>
              </a:rPr>
              <a:t>smoothes</a:t>
            </a:r>
            <a:r>
              <a:rPr lang="en-GB" sz="1800" spc="-3" dirty="0">
                <a:solidFill>
                  <a:srgbClr val="080912"/>
                </a:solidFill>
                <a:latin typeface="Arial MT"/>
                <a:cs typeface="Arial MT"/>
              </a:rPr>
              <a:t>.</a:t>
            </a:r>
            <a:endParaRPr lang="en-GB" sz="1800" dirty="0">
              <a:latin typeface="Arial MT"/>
              <a:cs typeface="Arial MT"/>
            </a:endParaRPr>
          </a:p>
          <a:p>
            <a:pPr marL="320378" marR="3464" indent="-156292">
              <a:lnSpc>
                <a:spcPct val="117000"/>
              </a:lnSpc>
              <a:spcBef>
                <a:spcPts val="484"/>
              </a:spcBef>
              <a:buSzPct val="74074"/>
              <a:buFont typeface="Symbol"/>
              <a:buChar char=""/>
              <a:tabLst>
                <a:tab pos="320378" algn="l"/>
                <a:tab pos="320810" algn="l"/>
              </a:tabLst>
            </a:pPr>
            <a:r>
              <a:rPr lang="en-GB" sz="1800" spc="-3" dirty="0">
                <a:solidFill>
                  <a:srgbClr val="080912"/>
                </a:solidFill>
                <a:latin typeface="Arial MT"/>
                <a:cs typeface="Arial MT"/>
              </a:rPr>
              <a:t>Avoids</a:t>
            </a:r>
            <a:r>
              <a:rPr lang="en-GB" sz="1800" spc="3" dirty="0">
                <a:solidFill>
                  <a:srgbClr val="080912"/>
                </a:solidFill>
                <a:latin typeface="Arial MT"/>
                <a:cs typeface="Arial MT"/>
              </a:rPr>
              <a:t> </a:t>
            </a:r>
            <a:r>
              <a:rPr lang="en-GB" sz="1800" spc="-3" dirty="0">
                <a:solidFill>
                  <a:srgbClr val="080912"/>
                </a:solidFill>
                <a:latin typeface="Arial MT"/>
                <a:cs typeface="Arial MT"/>
              </a:rPr>
              <a:t>dead</a:t>
            </a:r>
            <a:r>
              <a:rPr lang="en-GB" sz="1800" spc="3" dirty="0">
                <a:solidFill>
                  <a:srgbClr val="080912"/>
                </a:solidFill>
                <a:latin typeface="Arial MT"/>
                <a:cs typeface="Arial MT"/>
              </a:rPr>
              <a:t> </a:t>
            </a:r>
            <a:r>
              <a:rPr lang="en-GB" sz="1800" spc="-3" dirty="0" err="1">
                <a:solidFill>
                  <a:srgbClr val="080912"/>
                </a:solidFill>
                <a:latin typeface="Arial MT"/>
                <a:cs typeface="Arial MT"/>
              </a:rPr>
              <a:t>ReLU</a:t>
            </a:r>
            <a:r>
              <a:rPr lang="en-GB" sz="1800" spc="-7" dirty="0">
                <a:solidFill>
                  <a:srgbClr val="080912"/>
                </a:solidFill>
                <a:latin typeface="Arial MT"/>
                <a:cs typeface="Arial MT"/>
              </a:rPr>
              <a:t> </a:t>
            </a:r>
            <a:r>
              <a:rPr lang="en-GB" sz="1800" dirty="0">
                <a:solidFill>
                  <a:srgbClr val="080912"/>
                </a:solidFill>
                <a:latin typeface="Arial MT"/>
                <a:cs typeface="Arial MT"/>
              </a:rPr>
              <a:t>problem by</a:t>
            </a:r>
            <a:r>
              <a:rPr lang="en-GB" sz="1800" spc="3" dirty="0">
                <a:solidFill>
                  <a:srgbClr val="080912"/>
                </a:solidFill>
                <a:latin typeface="Arial MT"/>
                <a:cs typeface="Arial MT"/>
              </a:rPr>
              <a:t> </a:t>
            </a:r>
            <a:r>
              <a:rPr lang="en-GB" sz="1800" spc="-3" dirty="0">
                <a:solidFill>
                  <a:srgbClr val="080912"/>
                </a:solidFill>
                <a:latin typeface="Arial MT"/>
                <a:cs typeface="Arial MT"/>
              </a:rPr>
              <a:t>introducing</a:t>
            </a:r>
            <a:r>
              <a:rPr lang="en-GB" sz="1800" spc="3" dirty="0">
                <a:solidFill>
                  <a:srgbClr val="080912"/>
                </a:solidFill>
                <a:latin typeface="Arial MT"/>
                <a:cs typeface="Arial MT"/>
              </a:rPr>
              <a:t> </a:t>
            </a:r>
            <a:r>
              <a:rPr lang="en-GB" sz="1800" dirty="0">
                <a:solidFill>
                  <a:srgbClr val="080912"/>
                </a:solidFill>
                <a:latin typeface="Arial MT"/>
                <a:cs typeface="Arial MT"/>
              </a:rPr>
              <a:t>log</a:t>
            </a:r>
            <a:r>
              <a:rPr lang="en-GB" sz="1800" spc="-7" dirty="0">
                <a:solidFill>
                  <a:srgbClr val="080912"/>
                </a:solidFill>
                <a:latin typeface="Arial MT"/>
                <a:cs typeface="Arial MT"/>
              </a:rPr>
              <a:t> </a:t>
            </a:r>
            <a:r>
              <a:rPr lang="en-GB" sz="1800" spc="-3" dirty="0">
                <a:solidFill>
                  <a:srgbClr val="080912"/>
                </a:solidFill>
                <a:latin typeface="Arial MT"/>
                <a:cs typeface="Arial MT"/>
              </a:rPr>
              <a:t>curve</a:t>
            </a:r>
            <a:r>
              <a:rPr lang="en-GB" sz="1800" spc="3" dirty="0">
                <a:solidFill>
                  <a:srgbClr val="080912"/>
                </a:solidFill>
                <a:latin typeface="Arial MT"/>
                <a:cs typeface="Arial MT"/>
              </a:rPr>
              <a:t> </a:t>
            </a:r>
            <a:r>
              <a:rPr lang="en-GB" sz="1800" spc="-3" dirty="0">
                <a:solidFill>
                  <a:srgbClr val="080912"/>
                </a:solidFill>
                <a:latin typeface="Arial MT"/>
                <a:cs typeface="Arial MT"/>
              </a:rPr>
              <a:t>for</a:t>
            </a:r>
            <a:r>
              <a:rPr lang="en-GB" sz="1800" dirty="0">
                <a:solidFill>
                  <a:srgbClr val="080912"/>
                </a:solidFill>
                <a:latin typeface="Arial MT"/>
                <a:cs typeface="Arial MT"/>
              </a:rPr>
              <a:t> negative</a:t>
            </a:r>
            <a:r>
              <a:rPr lang="en-GB" sz="1800" spc="-7" dirty="0">
                <a:solidFill>
                  <a:srgbClr val="080912"/>
                </a:solidFill>
                <a:latin typeface="Arial MT"/>
                <a:cs typeface="Arial MT"/>
              </a:rPr>
              <a:t> </a:t>
            </a:r>
            <a:r>
              <a:rPr lang="en-GB" sz="1800" spc="-3" dirty="0">
                <a:solidFill>
                  <a:srgbClr val="080912"/>
                </a:solidFill>
                <a:latin typeface="Arial MT"/>
                <a:cs typeface="Arial MT"/>
              </a:rPr>
              <a:t>values</a:t>
            </a:r>
            <a:r>
              <a:rPr lang="en-GB" sz="1800" spc="7" dirty="0">
                <a:solidFill>
                  <a:srgbClr val="080912"/>
                </a:solidFill>
                <a:latin typeface="Arial MT"/>
                <a:cs typeface="Arial MT"/>
              </a:rPr>
              <a:t> </a:t>
            </a:r>
            <a:r>
              <a:rPr lang="en-GB" sz="1800" dirty="0">
                <a:solidFill>
                  <a:srgbClr val="080912"/>
                </a:solidFill>
                <a:latin typeface="Arial MT"/>
                <a:cs typeface="Arial MT"/>
              </a:rPr>
              <a:t>of</a:t>
            </a:r>
            <a:r>
              <a:rPr lang="en-GB" sz="1800" spc="-3" dirty="0">
                <a:solidFill>
                  <a:srgbClr val="080912"/>
                </a:solidFill>
                <a:latin typeface="Arial MT"/>
                <a:cs typeface="Arial MT"/>
              </a:rPr>
              <a:t> input. It </a:t>
            </a:r>
            <a:r>
              <a:rPr lang="en-GB" sz="1800" spc="-245" dirty="0">
                <a:solidFill>
                  <a:srgbClr val="080912"/>
                </a:solidFill>
                <a:latin typeface="Arial MT"/>
                <a:cs typeface="Arial MT"/>
              </a:rPr>
              <a:t> </a:t>
            </a:r>
            <a:r>
              <a:rPr lang="en-GB" sz="1800" spc="-3" dirty="0">
                <a:solidFill>
                  <a:srgbClr val="080912"/>
                </a:solidFill>
                <a:latin typeface="Arial MT"/>
                <a:cs typeface="Arial MT"/>
              </a:rPr>
              <a:t>helps</a:t>
            </a:r>
            <a:r>
              <a:rPr lang="en-GB" sz="1800" dirty="0">
                <a:solidFill>
                  <a:srgbClr val="080912"/>
                </a:solidFill>
                <a:latin typeface="Arial MT"/>
                <a:cs typeface="Arial MT"/>
              </a:rPr>
              <a:t> </a:t>
            </a:r>
            <a:r>
              <a:rPr lang="en-GB" sz="1800" spc="-3" dirty="0">
                <a:solidFill>
                  <a:srgbClr val="080912"/>
                </a:solidFill>
                <a:latin typeface="Arial MT"/>
                <a:cs typeface="Arial MT"/>
              </a:rPr>
              <a:t>the</a:t>
            </a:r>
            <a:r>
              <a:rPr lang="en-GB" sz="1800" spc="-7" dirty="0">
                <a:solidFill>
                  <a:srgbClr val="080912"/>
                </a:solidFill>
                <a:latin typeface="Arial MT"/>
                <a:cs typeface="Arial MT"/>
              </a:rPr>
              <a:t> </a:t>
            </a:r>
            <a:r>
              <a:rPr lang="en-GB" sz="1800" spc="-3" dirty="0">
                <a:solidFill>
                  <a:srgbClr val="080912"/>
                </a:solidFill>
                <a:latin typeface="Arial MT"/>
                <a:cs typeface="Arial MT"/>
              </a:rPr>
              <a:t>network</a:t>
            </a:r>
            <a:r>
              <a:rPr lang="en-GB" sz="1800" dirty="0">
                <a:solidFill>
                  <a:srgbClr val="080912"/>
                </a:solidFill>
                <a:latin typeface="Arial MT"/>
                <a:cs typeface="Arial MT"/>
              </a:rPr>
              <a:t> </a:t>
            </a:r>
            <a:r>
              <a:rPr lang="en-GB" sz="1800" spc="-3" dirty="0">
                <a:solidFill>
                  <a:srgbClr val="080912"/>
                </a:solidFill>
                <a:latin typeface="Arial MT"/>
                <a:cs typeface="Arial MT"/>
              </a:rPr>
              <a:t>nudge</a:t>
            </a:r>
            <a:r>
              <a:rPr lang="en-GB" sz="1800" spc="3" dirty="0">
                <a:solidFill>
                  <a:srgbClr val="080912"/>
                </a:solidFill>
                <a:latin typeface="Arial MT"/>
                <a:cs typeface="Arial MT"/>
              </a:rPr>
              <a:t> </a:t>
            </a:r>
            <a:r>
              <a:rPr lang="en-GB" sz="1800" spc="-3" dirty="0">
                <a:solidFill>
                  <a:srgbClr val="080912"/>
                </a:solidFill>
                <a:latin typeface="Arial MT"/>
                <a:cs typeface="Arial MT"/>
              </a:rPr>
              <a:t>weights</a:t>
            </a:r>
            <a:r>
              <a:rPr lang="en-GB" sz="1800" dirty="0">
                <a:solidFill>
                  <a:srgbClr val="080912"/>
                </a:solidFill>
                <a:latin typeface="Arial MT"/>
                <a:cs typeface="Arial MT"/>
              </a:rPr>
              <a:t> </a:t>
            </a:r>
            <a:r>
              <a:rPr lang="en-GB" sz="1800" spc="-3" dirty="0">
                <a:solidFill>
                  <a:srgbClr val="080912"/>
                </a:solidFill>
                <a:latin typeface="Arial MT"/>
                <a:cs typeface="Arial MT"/>
              </a:rPr>
              <a:t>and</a:t>
            </a:r>
            <a:r>
              <a:rPr lang="en-GB" sz="1800" dirty="0">
                <a:solidFill>
                  <a:srgbClr val="080912"/>
                </a:solidFill>
                <a:latin typeface="Arial MT"/>
                <a:cs typeface="Arial MT"/>
              </a:rPr>
              <a:t> biases </a:t>
            </a:r>
            <a:r>
              <a:rPr lang="en-GB" sz="1800" spc="-7" dirty="0">
                <a:solidFill>
                  <a:srgbClr val="080912"/>
                </a:solidFill>
                <a:latin typeface="Arial MT"/>
                <a:cs typeface="Arial MT"/>
              </a:rPr>
              <a:t>in</a:t>
            </a:r>
            <a:r>
              <a:rPr lang="en-GB" sz="1800" dirty="0">
                <a:solidFill>
                  <a:srgbClr val="080912"/>
                </a:solidFill>
                <a:latin typeface="Arial MT"/>
                <a:cs typeface="Arial MT"/>
              </a:rPr>
              <a:t> </a:t>
            </a:r>
            <a:r>
              <a:rPr lang="en-GB" sz="1800" spc="-3" dirty="0">
                <a:solidFill>
                  <a:srgbClr val="080912"/>
                </a:solidFill>
                <a:latin typeface="Arial MT"/>
                <a:cs typeface="Arial MT"/>
              </a:rPr>
              <a:t>the</a:t>
            </a:r>
            <a:r>
              <a:rPr lang="en-GB" sz="1800" spc="17" dirty="0">
                <a:solidFill>
                  <a:srgbClr val="080912"/>
                </a:solidFill>
                <a:latin typeface="Arial MT"/>
                <a:cs typeface="Arial MT"/>
              </a:rPr>
              <a:t> </a:t>
            </a:r>
            <a:r>
              <a:rPr lang="en-GB" sz="1800" spc="-3" dirty="0">
                <a:solidFill>
                  <a:srgbClr val="080912"/>
                </a:solidFill>
                <a:latin typeface="Arial MT"/>
                <a:cs typeface="Arial MT"/>
              </a:rPr>
              <a:t>right</a:t>
            </a:r>
            <a:r>
              <a:rPr lang="en-GB" sz="1800" spc="-7" dirty="0">
                <a:solidFill>
                  <a:srgbClr val="080912"/>
                </a:solidFill>
                <a:latin typeface="Arial MT"/>
                <a:cs typeface="Arial MT"/>
              </a:rPr>
              <a:t> </a:t>
            </a:r>
            <a:r>
              <a:rPr lang="en-GB" sz="1800" spc="-3" dirty="0">
                <a:solidFill>
                  <a:srgbClr val="080912"/>
                </a:solidFill>
                <a:latin typeface="Arial MT"/>
                <a:cs typeface="Arial MT"/>
              </a:rPr>
              <a:t>direction.</a:t>
            </a:r>
            <a:endParaRPr lang="en-GB" sz="1800" dirty="0">
              <a:latin typeface="Arial MT"/>
              <a:cs typeface="Arial MT"/>
            </a:endParaRPr>
          </a:p>
          <a:p>
            <a:pPr marL="8659" marR="3464" algn="just">
              <a:lnSpc>
                <a:spcPct val="143700"/>
              </a:lnSpc>
              <a:spcBef>
                <a:spcPts val="402"/>
              </a:spcBef>
            </a:pPr>
            <a:endParaRPr lang="en-GB" sz="1800" dirty="0">
              <a:latin typeface="Arial MT"/>
              <a:cs typeface="Arial MT"/>
            </a:endParaRPr>
          </a:p>
          <a:p>
            <a:pPr marL="8659" marR="3464">
              <a:lnSpc>
                <a:spcPct val="143700"/>
              </a:lnSpc>
              <a:spcBef>
                <a:spcPts val="399"/>
              </a:spcBef>
            </a:pPr>
            <a:endParaRPr lang="en-GB" sz="1800" dirty="0">
              <a:latin typeface="Arial MT"/>
              <a:cs typeface="Arial MT"/>
            </a:endParaRPr>
          </a:p>
          <a:p>
            <a:endParaRPr lang="en-PK" dirty="0"/>
          </a:p>
        </p:txBody>
      </p:sp>
      <p:pic>
        <p:nvPicPr>
          <p:cNvPr id="6" name="object 5"/>
          <p:cNvPicPr/>
          <p:nvPr/>
        </p:nvPicPr>
        <p:blipFill>
          <a:blip r:embed="rId2" cstate="print"/>
          <a:stretch>
            <a:fillRect/>
          </a:stretch>
        </p:blipFill>
        <p:spPr>
          <a:xfrm>
            <a:off x="8795081" y="4674615"/>
            <a:ext cx="2845438" cy="1575136"/>
          </a:xfrm>
          <a:prstGeom prst="rect">
            <a:avLst/>
          </a:prstGeom>
        </p:spPr>
      </p:pic>
      <p:pic>
        <p:nvPicPr>
          <p:cNvPr id="7" name="object 4"/>
          <p:cNvPicPr/>
          <p:nvPr/>
        </p:nvPicPr>
        <p:blipFill>
          <a:blip r:embed="rId3" cstate="print"/>
          <a:stretch>
            <a:fillRect/>
          </a:stretch>
        </p:blipFill>
        <p:spPr>
          <a:xfrm>
            <a:off x="8501630" y="1785796"/>
            <a:ext cx="3138889" cy="2497815"/>
          </a:xfrm>
          <a:prstGeom prst="rect">
            <a:avLst/>
          </a:prstGeom>
        </p:spPr>
      </p:pic>
      <p:sp>
        <p:nvSpPr>
          <p:cNvPr id="2" name="Slide Number Placeholder 1">
            <a:extLst>
              <a:ext uri="{FF2B5EF4-FFF2-40B4-BE49-F238E27FC236}">
                <a16:creationId xmlns:a16="http://schemas.microsoft.com/office/drawing/2014/main" id="{DB743265-1C55-D4E2-095F-7F235A0FAF71}"/>
              </a:ext>
            </a:extLst>
          </p:cNvPr>
          <p:cNvSpPr>
            <a:spLocks noGrp="1"/>
          </p:cNvSpPr>
          <p:nvPr>
            <p:ph type="sldNum" sz="quarter" idx="12"/>
          </p:nvPr>
        </p:nvSpPr>
        <p:spPr/>
        <p:txBody>
          <a:bodyPr/>
          <a:lstStyle/>
          <a:p>
            <a:fld id="{9CD9A578-84A4-4247-B01E-A84B9E2DF7BB}" type="slidenum">
              <a:rPr lang="en-PK" smtClean="0"/>
              <a:t>15</a:t>
            </a:fld>
            <a:endParaRPr lang="en-PK"/>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B612D0-6569-443A-6E9A-D843CA2B814E}"/>
              </a:ext>
            </a:extLst>
          </p:cNvPr>
          <p:cNvSpPr>
            <a:spLocks noGrp="1"/>
          </p:cNvSpPr>
          <p:nvPr>
            <p:ph type="title"/>
          </p:nvPr>
        </p:nvSpPr>
        <p:spPr>
          <a:xfrm>
            <a:off x="1158240" y="303500"/>
            <a:ext cx="9875520" cy="1356360"/>
          </a:xfrm>
        </p:spPr>
        <p:txBody>
          <a:bodyPr/>
          <a:lstStyle/>
          <a:p>
            <a:endParaRPr lang="en-PK"/>
          </a:p>
        </p:txBody>
      </p:sp>
      <p:sp>
        <p:nvSpPr>
          <p:cNvPr id="6" name="Content Placeholder 5">
            <a:extLst>
              <a:ext uri="{FF2B5EF4-FFF2-40B4-BE49-F238E27FC236}">
                <a16:creationId xmlns:a16="http://schemas.microsoft.com/office/drawing/2014/main" id="{496EA387-A731-3FFD-A6A6-4331BFB14E5C}"/>
              </a:ext>
            </a:extLst>
          </p:cNvPr>
          <p:cNvSpPr>
            <a:spLocks noGrp="1"/>
          </p:cNvSpPr>
          <p:nvPr>
            <p:ph idx="1"/>
          </p:nvPr>
        </p:nvSpPr>
        <p:spPr>
          <a:xfrm>
            <a:off x="1423657" y="2041851"/>
            <a:ext cx="5619939" cy="3327475"/>
          </a:xfrm>
        </p:spPr>
        <p:txBody>
          <a:bodyPr>
            <a:normAutofit/>
          </a:bodyPr>
          <a:lstStyle/>
          <a:p>
            <a:pPr marL="8659"/>
            <a:r>
              <a:rPr lang="en-GB" sz="2400" spc="-7"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limitations</a:t>
            </a:r>
            <a:r>
              <a:rPr lang="en-GB" sz="2400" spc="-24" dirty="0">
                <a:solidFill>
                  <a:srgbClr val="080912"/>
                </a:solidFill>
                <a:latin typeface="Arial MT"/>
                <a:cs typeface="Arial MT"/>
              </a:rPr>
              <a:t> </a:t>
            </a:r>
            <a:r>
              <a:rPr lang="en-GB" sz="2400" spc="-3" dirty="0">
                <a:solidFill>
                  <a:srgbClr val="080912"/>
                </a:solidFill>
                <a:latin typeface="Arial MT"/>
                <a:cs typeface="Arial MT"/>
              </a:rPr>
              <a:t>of</a:t>
            </a:r>
            <a:r>
              <a:rPr lang="en-GB" sz="2400" spc="-24" dirty="0">
                <a:solidFill>
                  <a:srgbClr val="080912"/>
                </a:solidFill>
                <a:latin typeface="Arial MT"/>
                <a:cs typeface="Arial MT"/>
              </a:rPr>
              <a:t> </a:t>
            </a:r>
            <a:r>
              <a:rPr lang="en-GB" sz="2400" spc="-10"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ELU</a:t>
            </a:r>
            <a:r>
              <a:rPr lang="en-GB" sz="2400" spc="-1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0" dirty="0">
                <a:solidFill>
                  <a:srgbClr val="080912"/>
                </a:solidFill>
                <a:latin typeface="Arial MT"/>
                <a:cs typeface="Arial MT"/>
              </a:rPr>
              <a:t>are</a:t>
            </a:r>
            <a:r>
              <a:rPr lang="en-GB" sz="2400" spc="-27" dirty="0">
                <a:solidFill>
                  <a:srgbClr val="080912"/>
                </a:solidFill>
                <a:latin typeface="Arial MT"/>
                <a:cs typeface="Arial MT"/>
              </a:rPr>
              <a:t> </a:t>
            </a:r>
            <a:r>
              <a:rPr lang="en-GB" sz="2400" spc="-7" dirty="0">
                <a:solidFill>
                  <a:srgbClr val="080912"/>
                </a:solidFill>
                <a:latin typeface="Arial MT"/>
                <a:cs typeface="Arial MT"/>
              </a:rPr>
              <a:t>as</a:t>
            </a:r>
            <a:r>
              <a:rPr lang="en-GB" sz="2400" spc="-24" dirty="0">
                <a:solidFill>
                  <a:srgbClr val="080912"/>
                </a:solidFill>
                <a:latin typeface="Arial MT"/>
                <a:cs typeface="Arial MT"/>
              </a:rPr>
              <a:t> </a:t>
            </a:r>
            <a:r>
              <a:rPr lang="en-GB" sz="2400" spc="-10" dirty="0">
                <a:solidFill>
                  <a:srgbClr val="080912"/>
                </a:solidFill>
                <a:latin typeface="Arial MT"/>
                <a:cs typeface="Arial MT"/>
              </a:rPr>
              <a:t>follow:</a:t>
            </a:r>
            <a:endParaRPr lang="en-GB" sz="2400" dirty="0">
              <a:latin typeface="Arial MT"/>
              <a:cs typeface="Arial MT"/>
            </a:endParaRPr>
          </a:p>
          <a:p>
            <a:pPr marL="320378" indent="-156292">
              <a:spcBef>
                <a:spcPts val="689"/>
              </a:spcBef>
              <a:buSzPct val="74074"/>
              <a:buFont typeface="Symbol"/>
              <a:buChar char=""/>
              <a:tabLst>
                <a:tab pos="320378" algn="l"/>
                <a:tab pos="320810" algn="l"/>
              </a:tabLst>
            </a:pPr>
            <a:r>
              <a:rPr lang="en-GB" sz="2400" spc="-3" dirty="0">
                <a:solidFill>
                  <a:srgbClr val="080912"/>
                </a:solidFill>
                <a:latin typeface="Arial MT"/>
                <a:cs typeface="Arial MT"/>
              </a:rPr>
              <a:t>It</a:t>
            </a:r>
            <a:r>
              <a:rPr lang="en-GB" sz="2400" dirty="0">
                <a:solidFill>
                  <a:srgbClr val="080912"/>
                </a:solidFill>
                <a:latin typeface="Arial MT"/>
                <a:cs typeface="Arial MT"/>
              </a:rPr>
              <a:t> increases</a:t>
            </a:r>
            <a:r>
              <a:rPr lang="en-GB" sz="2400" spc="7" dirty="0">
                <a:solidFill>
                  <a:srgbClr val="080912"/>
                </a:solidFill>
                <a:latin typeface="Arial MT"/>
                <a:cs typeface="Arial MT"/>
              </a:rPr>
              <a:t> </a:t>
            </a:r>
            <a:r>
              <a:rPr lang="en-GB" sz="2400" spc="-3" dirty="0">
                <a:solidFill>
                  <a:srgbClr val="080912"/>
                </a:solidFill>
                <a:latin typeface="Arial MT"/>
                <a:cs typeface="Arial MT"/>
              </a:rPr>
              <a:t>the computational</a:t>
            </a:r>
            <a:r>
              <a:rPr lang="en-GB" sz="2400" spc="3" dirty="0">
                <a:solidFill>
                  <a:srgbClr val="080912"/>
                </a:solidFill>
                <a:latin typeface="Arial MT"/>
                <a:cs typeface="Arial MT"/>
              </a:rPr>
              <a:t> </a:t>
            </a:r>
            <a:r>
              <a:rPr lang="en-GB" sz="2400" dirty="0">
                <a:solidFill>
                  <a:srgbClr val="080912"/>
                </a:solidFill>
                <a:latin typeface="Arial MT"/>
                <a:cs typeface="Arial MT"/>
              </a:rPr>
              <a:t>time</a:t>
            </a:r>
            <a:r>
              <a:rPr lang="en-GB" sz="2400" spc="3" dirty="0">
                <a:solidFill>
                  <a:srgbClr val="080912"/>
                </a:solidFill>
                <a:latin typeface="Arial MT"/>
                <a:cs typeface="Arial MT"/>
              </a:rPr>
              <a:t> </a:t>
            </a:r>
            <a:r>
              <a:rPr lang="en-GB" sz="2400" spc="-3" dirty="0">
                <a:solidFill>
                  <a:srgbClr val="080912"/>
                </a:solidFill>
                <a:latin typeface="Arial MT"/>
                <a:cs typeface="Arial MT"/>
              </a:rPr>
              <a:t>because</a:t>
            </a:r>
            <a:r>
              <a:rPr lang="en-GB" sz="2400" spc="3" dirty="0">
                <a:solidFill>
                  <a:srgbClr val="080912"/>
                </a:solidFill>
                <a:latin typeface="Arial MT"/>
                <a:cs typeface="Arial MT"/>
              </a:rPr>
              <a:t> </a:t>
            </a:r>
            <a:r>
              <a:rPr lang="en-GB" sz="2400" dirty="0">
                <a:solidFill>
                  <a:srgbClr val="080912"/>
                </a:solidFill>
                <a:latin typeface="Arial MT"/>
                <a:cs typeface="Arial MT"/>
              </a:rPr>
              <a:t>of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exponential</a:t>
            </a:r>
            <a:r>
              <a:rPr lang="en-GB" sz="2400" spc="7" dirty="0">
                <a:solidFill>
                  <a:srgbClr val="080912"/>
                </a:solidFill>
                <a:latin typeface="Arial MT"/>
                <a:cs typeface="Arial MT"/>
              </a:rPr>
              <a:t> </a:t>
            </a:r>
            <a:r>
              <a:rPr lang="en-GB" sz="2400" spc="-3" dirty="0">
                <a:solidFill>
                  <a:srgbClr val="080912"/>
                </a:solidFill>
                <a:latin typeface="Arial MT"/>
                <a:cs typeface="Arial MT"/>
              </a:rPr>
              <a:t>operation</a:t>
            </a:r>
            <a:r>
              <a:rPr lang="en-GB" sz="2400" spc="3" dirty="0">
                <a:solidFill>
                  <a:srgbClr val="080912"/>
                </a:solidFill>
                <a:latin typeface="Arial MT"/>
                <a:cs typeface="Arial MT"/>
              </a:rPr>
              <a:t> </a:t>
            </a:r>
            <a:r>
              <a:rPr lang="en-GB" sz="2400" spc="-3" dirty="0">
                <a:solidFill>
                  <a:srgbClr val="080912"/>
                </a:solidFill>
                <a:latin typeface="Arial MT"/>
                <a:cs typeface="Arial MT"/>
              </a:rPr>
              <a:t>included</a:t>
            </a:r>
            <a:endParaRPr lang="en-GB" sz="2400" dirty="0">
              <a:latin typeface="Arial MT"/>
              <a:cs typeface="Arial MT"/>
            </a:endParaRPr>
          </a:p>
          <a:p>
            <a:pPr marL="320378" indent="-156292">
              <a:spcBef>
                <a:spcPts val="689"/>
              </a:spcBef>
              <a:buSzPct val="74074"/>
              <a:buFont typeface="Symbol"/>
              <a:buChar char=""/>
              <a:tabLst>
                <a:tab pos="320378" algn="l"/>
                <a:tab pos="320810" algn="l"/>
              </a:tabLst>
            </a:pPr>
            <a:r>
              <a:rPr lang="en-GB" sz="2400" dirty="0">
                <a:solidFill>
                  <a:srgbClr val="080912"/>
                </a:solidFill>
                <a:latin typeface="Arial MT"/>
                <a:cs typeface="Arial MT"/>
              </a:rPr>
              <a:t>No</a:t>
            </a:r>
            <a:r>
              <a:rPr lang="en-GB" sz="2400" spc="-3" dirty="0">
                <a:solidFill>
                  <a:srgbClr val="080912"/>
                </a:solidFill>
                <a:latin typeface="Arial MT"/>
                <a:cs typeface="Arial MT"/>
              </a:rPr>
              <a:t> learning </a:t>
            </a:r>
            <a:r>
              <a:rPr lang="en-GB" sz="2400" dirty="0">
                <a:solidFill>
                  <a:srgbClr val="080912"/>
                </a:solidFill>
                <a:latin typeface="Arial MT"/>
                <a:cs typeface="Arial MT"/>
              </a:rPr>
              <a:t>of</a:t>
            </a:r>
            <a:r>
              <a:rPr lang="en-GB" sz="2400" spc="-10"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‘a’</a:t>
            </a:r>
            <a:r>
              <a:rPr lang="en-GB" sz="2400" spc="-7" dirty="0">
                <a:solidFill>
                  <a:srgbClr val="080912"/>
                </a:solidFill>
                <a:latin typeface="Arial MT"/>
                <a:cs typeface="Arial MT"/>
              </a:rPr>
              <a:t> </a:t>
            </a:r>
            <a:r>
              <a:rPr lang="en-GB" sz="2400" spc="-3" dirty="0">
                <a:solidFill>
                  <a:srgbClr val="080912"/>
                </a:solidFill>
                <a:latin typeface="Arial MT"/>
                <a:cs typeface="Arial MT"/>
              </a:rPr>
              <a:t>value</a:t>
            </a:r>
            <a:r>
              <a:rPr lang="en-GB" sz="2400" dirty="0">
                <a:solidFill>
                  <a:srgbClr val="080912"/>
                </a:solidFill>
                <a:latin typeface="Arial MT"/>
                <a:cs typeface="Arial MT"/>
              </a:rPr>
              <a:t> </a:t>
            </a:r>
            <a:r>
              <a:rPr lang="en-GB" sz="2400" spc="-3" dirty="0">
                <a:solidFill>
                  <a:srgbClr val="080912"/>
                </a:solidFill>
                <a:latin typeface="Arial MT"/>
                <a:cs typeface="Arial MT"/>
              </a:rPr>
              <a:t>takes place</a:t>
            </a:r>
            <a:endParaRPr lang="en-GB" sz="2400" dirty="0">
              <a:latin typeface="Arial MT"/>
              <a:cs typeface="Arial MT"/>
            </a:endParaRPr>
          </a:p>
          <a:p>
            <a:pPr marL="320378" indent="-156292">
              <a:spcBef>
                <a:spcPts val="689"/>
              </a:spcBef>
              <a:buSzPct val="74074"/>
              <a:buFont typeface="Symbol"/>
              <a:buChar char=""/>
              <a:tabLst>
                <a:tab pos="320378" algn="l"/>
                <a:tab pos="320810" algn="l"/>
              </a:tabLst>
            </a:pPr>
            <a:r>
              <a:rPr lang="en-GB" sz="2400" spc="-3" dirty="0">
                <a:solidFill>
                  <a:schemeClr val="accent2">
                    <a:lumMod val="75000"/>
                  </a:schemeClr>
                </a:solidFill>
                <a:latin typeface="Arial MT"/>
                <a:cs typeface="Arial MT"/>
              </a:rPr>
              <a:t>Exploding</a:t>
            </a:r>
            <a:r>
              <a:rPr lang="en-GB" sz="2400" spc="-7" dirty="0">
                <a:solidFill>
                  <a:schemeClr val="accent2">
                    <a:lumMod val="75000"/>
                  </a:schemeClr>
                </a:solidFill>
                <a:latin typeface="Arial MT"/>
                <a:cs typeface="Arial MT"/>
              </a:rPr>
              <a:t> </a:t>
            </a:r>
            <a:r>
              <a:rPr lang="en-GB" sz="2400" spc="-3" dirty="0">
                <a:solidFill>
                  <a:schemeClr val="accent2">
                    <a:lumMod val="75000"/>
                  </a:schemeClr>
                </a:solidFill>
                <a:latin typeface="Arial MT"/>
                <a:cs typeface="Arial MT"/>
              </a:rPr>
              <a:t>gradient</a:t>
            </a:r>
            <a:r>
              <a:rPr lang="en-GB" sz="2400" spc="-24" dirty="0">
                <a:solidFill>
                  <a:schemeClr val="accent2">
                    <a:lumMod val="75000"/>
                  </a:schemeClr>
                </a:solidFill>
                <a:latin typeface="Arial MT"/>
                <a:cs typeface="Arial MT"/>
              </a:rPr>
              <a:t> </a:t>
            </a:r>
            <a:r>
              <a:rPr lang="en-GB" sz="2400" dirty="0">
                <a:solidFill>
                  <a:schemeClr val="accent2">
                    <a:lumMod val="75000"/>
                  </a:schemeClr>
                </a:solidFill>
                <a:latin typeface="Arial MT"/>
                <a:cs typeface="Arial MT"/>
              </a:rPr>
              <a:t>problem</a:t>
            </a:r>
          </a:p>
          <a:p>
            <a:endParaRPr lang="en-PK" dirty="0"/>
          </a:p>
        </p:txBody>
      </p:sp>
      <p:pic>
        <p:nvPicPr>
          <p:cNvPr id="7" name="object 4"/>
          <p:cNvPicPr/>
          <p:nvPr/>
        </p:nvPicPr>
        <p:blipFill>
          <a:blip r:embed="rId2" cstate="print"/>
          <a:stretch>
            <a:fillRect/>
          </a:stretch>
        </p:blipFill>
        <p:spPr>
          <a:xfrm>
            <a:off x="7578176" y="2041851"/>
            <a:ext cx="3971405" cy="3327475"/>
          </a:xfrm>
          <a:prstGeom prst="rect">
            <a:avLst/>
          </a:prstGeom>
        </p:spPr>
      </p:pic>
      <p:pic>
        <p:nvPicPr>
          <p:cNvPr id="8" name="object 4"/>
          <p:cNvPicPr/>
          <p:nvPr/>
        </p:nvPicPr>
        <p:blipFill>
          <a:blip r:embed="rId3" cstate="print"/>
          <a:stretch>
            <a:fillRect/>
          </a:stretch>
        </p:blipFill>
        <p:spPr>
          <a:xfrm>
            <a:off x="7870341" y="5079282"/>
            <a:ext cx="3097180" cy="1185625"/>
          </a:xfrm>
          <a:prstGeom prst="rect">
            <a:avLst/>
          </a:prstGeom>
        </p:spPr>
      </p:pic>
      <p:sp>
        <p:nvSpPr>
          <p:cNvPr id="2" name="Slide Number Placeholder 1">
            <a:extLst>
              <a:ext uri="{FF2B5EF4-FFF2-40B4-BE49-F238E27FC236}">
                <a16:creationId xmlns:a16="http://schemas.microsoft.com/office/drawing/2014/main" id="{E5A2D6CB-01AC-D69A-2FA7-D337385CD0E9}"/>
              </a:ext>
            </a:extLst>
          </p:cNvPr>
          <p:cNvSpPr>
            <a:spLocks noGrp="1"/>
          </p:cNvSpPr>
          <p:nvPr>
            <p:ph type="sldNum" sz="quarter" idx="12"/>
          </p:nvPr>
        </p:nvSpPr>
        <p:spPr/>
        <p:txBody>
          <a:bodyPr/>
          <a:lstStyle/>
          <a:p>
            <a:fld id="{9CD9A578-84A4-4247-B01E-A84B9E2DF7BB}" type="slidenum">
              <a:rPr lang="en-PK" smtClean="0"/>
              <a:t>16</a:t>
            </a:fld>
            <a:endParaRPr lang="en-PK"/>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03FC57-BF64-6AC7-B0EA-B29B5140D6F3}"/>
              </a:ext>
            </a:extLst>
          </p:cNvPr>
          <p:cNvSpPr>
            <a:spLocks noGrp="1"/>
          </p:cNvSpPr>
          <p:nvPr>
            <p:ph type="title"/>
          </p:nvPr>
        </p:nvSpPr>
        <p:spPr/>
        <p:txBody>
          <a:bodyPr/>
          <a:lstStyle/>
          <a:p>
            <a:r>
              <a:rPr lang="en-GB" sz="4400" b="1" spc="-31" dirty="0" err="1">
                <a:solidFill>
                  <a:srgbClr val="272E40"/>
                </a:solidFill>
                <a:latin typeface="Arial"/>
                <a:cs typeface="Arial"/>
              </a:rPr>
              <a:t>So</a:t>
            </a:r>
            <a:r>
              <a:rPr lang="en-GB" sz="4400" b="1" spc="-24" dirty="0" err="1">
                <a:solidFill>
                  <a:srgbClr val="272E40"/>
                </a:solidFill>
                <a:latin typeface="Arial"/>
                <a:cs typeface="Arial"/>
              </a:rPr>
              <a:t>f</a:t>
            </a:r>
            <a:r>
              <a:rPr lang="en-GB" sz="4400" b="1" spc="-31" dirty="0" err="1">
                <a:solidFill>
                  <a:srgbClr val="272E40"/>
                </a:solidFill>
                <a:latin typeface="Arial"/>
                <a:cs typeface="Arial"/>
              </a:rPr>
              <a:t>tm</a:t>
            </a:r>
            <a:r>
              <a:rPr lang="en-GB" sz="4400" b="1" spc="-34" dirty="0" err="1">
                <a:solidFill>
                  <a:srgbClr val="272E40"/>
                </a:solidFill>
                <a:latin typeface="Arial"/>
                <a:cs typeface="Arial"/>
              </a:rPr>
              <a:t>a</a:t>
            </a:r>
            <a:r>
              <a:rPr lang="en-GB" sz="4400" b="1" spc="-3" dirty="0" err="1">
                <a:solidFill>
                  <a:srgbClr val="272E40"/>
                </a:solidFill>
                <a:latin typeface="Arial"/>
                <a:cs typeface="Arial"/>
              </a:rPr>
              <a:t>x</a:t>
            </a:r>
            <a:r>
              <a:rPr lang="en-GB" sz="4400" b="1" spc="-51" dirty="0">
                <a:solidFill>
                  <a:srgbClr val="272E40"/>
                </a:solidFill>
                <a:latin typeface="Arial"/>
                <a:cs typeface="Arial"/>
              </a:rPr>
              <a:t> </a:t>
            </a:r>
            <a:r>
              <a:rPr lang="en-GB" sz="4400" b="1" spc="-31" dirty="0">
                <a:solidFill>
                  <a:srgbClr val="272E40"/>
                </a:solidFill>
                <a:latin typeface="Arial"/>
                <a:cs typeface="Arial"/>
              </a:rPr>
              <a:t>Fun</a:t>
            </a:r>
            <a:r>
              <a:rPr lang="en-GB" sz="4400" b="1" spc="-34" dirty="0">
                <a:solidFill>
                  <a:srgbClr val="272E40"/>
                </a:solidFill>
                <a:latin typeface="Arial"/>
                <a:cs typeface="Arial"/>
              </a:rPr>
              <a:t>c</a:t>
            </a:r>
            <a:r>
              <a:rPr lang="en-GB" sz="4400" b="1" spc="-31" dirty="0">
                <a:solidFill>
                  <a:srgbClr val="272E40"/>
                </a:solidFill>
                <a:latin typeface="Arial"/>
                <a:cs typeface="Arial"/>
              </a:rPr>
              <a:t>t</a:t>
            </a:r>
            <a:r>
              <a:rPr lang="en-GB" sz="4400" b="1" spc="-24" dirty="0">
                <a:solidFill>
                  <a:srgbClr val="272E40"/>
                </a:solidFill>
                <a:latin typeface="Arial"/>
                <a:cs typeface="Arial"/>
              </a:rPr>
              <a:t>i</a:t>
            </a:r>
            <a:r>
              <a:rPr lang="en-GB" sz="4400" b="1" spc="-31" dirty="0">
                <a:solidFill>
                  <a:srgbClr val="272E40"/>
                </a:solidFill>
                <a:latin typeface="Arial"/>
                <a:cs typeface="Arial"/>
              </a:rPr>
              <a:t>o</a:t>
            </a:r>
            <a:r>
              <a:rPr lang="en-GB" sz="4400" b="1" dirty="0">
                <a:solidFill>
                  <a:srgbClr val="272E40"/>
                </a:solidFill>
                <a:latin typeface="Arial"/>
                <a:cs typeface="Arial"/>
              </a:rPr>
              <a:t>n</a:t>
            </a:r>
            <a:br>
              <a:rPr lang="en-GB" sz="4400" dirty="0">
                <a:latin typeface="Arial"/>
                <a:cs typeface="Arial"/>
              </a:rPr>
            </a:br>
            <a:endParaRPr lang="en-PK" dirty="0"/>
          </a:p>
        </p:txBody>
      </p:sp>
      <p:pic>
        <p:nvPicPr>
          <p:cNvPr id="7" name="object 3"/>
          <p:cNvPicPr>
            <a:picLocks noGrp="1"/>
          </p:cNvPicPr>
          <p:nvPr>
            <p:ph idx="1"/>
          </p:nvPr>
        </p:nvPicPr>
        <p:blipFill>
          <a:blip r:embed="rId2" cstate="print"/>
          <a:stretch>
            <a:fillRect/>
          </a:stretch>
        </p:blipFill>
        <p:spPr>
          <a:xfrm>
            <a:off x="7080231" y="1462923"/>
            <a:ext cx="4643444" cy="4038600"/>
          </a:xfrm>
          <a:prstGeom prst="rect">
            <a:avLst/>
          </a:prstGeom>
        </p:spPr>
      </p:pic>
      <p:sp>
        <p:nvSpPr>
          <p:cNvPr id="9" name="TextBox 8">
            <a:extLst>
              <a:ext uri="{FF2B5EF4-FFF2-40B4-BE49-F238E27FC236}">
                <a16:creationId xmlns:a16="http://schemas.microsoft.com/office/drawing/2014/main" id="{37105AD9-5BDF-78D2-30BC-DEF33000D18D}"/>
              </a:ext>
            </a:extLst>
          </p:cNvPr>
          <p:cNvSpPr txBox="1"/>
          <p:nvPr/>
        </p:nvSpPr>
        <p:spPr>
          <a:xfrm>
            <a:off x="1143001" y="1462923"/>
            <a:ext cx="5937230" cy="4785477"/>
          </a:xfrm>
          <a:prstGeom prst="rect">
            <a:avLst/>
          </a:prstGeom>
          <a:noFill/>
        </p:spPr>
        <p:txBody>
          <a:bodyPr wrap="square">
            <a:spAutoFit/>
          </a:bodyPr>
          <a:lstStyle/>
          <a:p>
            <a:pPr marL="8659">
              <a:spcBef>
                <a:spcPts val="72"/>
              </a:spcBef>
            </a:pPr>
            <a:r>
              <a:rPr lang="en-GB" sz="2800" dirty="0">
                <a:solidFill>
                  <a:srgbClr val="080912"/>
                </a:solidFill>
                <a:latin typeface="Arial MT"/>
                <a:cs typeface="Arial MT"/>
              </a:rPr>
              <a:t>Probability</a:t>
            </a:r>
            <a:endParaRPr lang="en-GB" sz="3200" dirty="0">
              <a:latin typeface="Arial MT"/>
              <a:cs typeface="Arial MT"/>
            </a:endParaRPr>
          </a:p>
          <a:p>
            <a:pPr marL="8659" marR="5195">
              <a:lnSpc>
                <a:spcPct val="143700"/>
              </a:lnSpc>
              <a:spcBef>
                <a:spcPts val="995"/>
              </a:spcBef>
            </a:pPr>
            <a:r>
              <a:rPr lang="en-GB" spc="-7" dirty="0">
                <a:solidFill>
                  <a:srgbClr val="080912"/>
                </a:solidFill>
                <a:latin typeface="Arial MT"/>
                <a:cs typeface="Arial MT"/>
              </a:rPr>
              <a:t>The</a:t>
            </a:r>
            <a:r>
              <a:rPr lang="en-GB" spc="75" dirty="0">
                <a:solidFill>
                  <a:srgbClr val="080912"/>
                </a:solidFill>
                <a:latin typeface="Arial MT"/>
                <a:cs typeface="Arial MT"/>
              </a:rPr>
              <a:t> </a:t>
            </a:r>
            <a:r>
              <a:rPr lang="en-GB" spc="-10" dirty="0">
                <a:solidFill>
                  <a:srgbClr val="080912"/>
                </a:solidFill>
                <a:latin typeface="Arial MT"/>
                <a:cs typeface="Arial MT"/>
              </a:rPr>
              <a:t>output</a:t>
            </a:r>
            <a:r>
              <a:rPr lang="en-GB" spc="68" dirty="0">
                <a:solidFill>
                  <a:srgbClr val="080912"/>
                </a:solidFill>
                <a:latin typeface="Arial MT"/>
                <a:cs typeface="Arial MT"/>
              </a:rPr>
              <a:t> </a:t>
            </a:r>
            <a:r>
              <a:rPr lang="en-GB" spc="-3" dirty="0">
                <a:solidFill>
                  <a:srgbClr val="080912"/>
                </a:solidFill>
                <a:latin typeface="Arial MT"/>
                <a:cs typeface="Arial MT"/>
              </a:rPr>
              <a:t>of</a:t>
            </a:r>
            <a:r>
              <a:rPr lang="en-GB" spc="78" dirty="0">
                <a:solidFill>
                  <a:srgbClr val="080912"/>
                </a:solidFill>
                <a:latin typeface="Arial MT"/>
                <a:cs typeface="Arial MT"/>
              </a:rPr>
              <a:t> </a:t>
            </a:r>
            <a:r>
              <a:rPr lang="en-GB" spc="-14" dirty="0">
                <a:solidFill>
                  <a:srgbClr val="080912"/>
                </a:solidFill>
                <a:latin typeface="Arial MT"/>
                <a:cs typeface="Arial MT"/>
              </a:rPr>
              <a:t>the</a:t>
            </a:r>
            <a:r>
              <a:rPr lang="en-GB" spc="75" dirty="0">
                <a:solidFill>
                  <a:srgbClr val="080912"/>
                </a:solidFill>
                <a:latin typeface="Arial MT"/>
                <a:cs typeface="Arial MT"/>
              </a:rPr>
              <a:t> </a:t>
            </a:r>
            <a:r>
              <a:rPr lang="en-GB" spc="-10" dirty="0">
                <a:solidFill>
                  <a:srgbClr val="080912"/>
                </a:solidFill>
                <a:latin typeface="Arial MT"/>
                <a:cs typeface="Arial MT"/>
              </a:rPr>
              <a:t>sigmoid</a:t>
            </a:r>
            <a:r>
              <a:rPr lang="en-GB" spc="85" dirty="0">
                <a:solidFill>
                  <a:srgbClr val="080912"/>
                </a:solidFill>
                <a:latin typeface="Arial MT"/>
                <a:cs typeface="Arial MT"/>
              </a:rPr>
              <a:t> </a:t>
            </a:r>
            <a:r>
              <a:rPr lang="en-GB" spc="-14" dirty="0">
                <a:solidFill>
                  <a:srgbClr val="080912"/>
                </a:solidFill>
                <a:latin typeface="Arial MT"/>
                <a:cs typeface="Arial MT"/>
              </a:rPr>
              <a:t>function</a:t>
            </a:r>
            <a:r>
              <a:rPr lang="en-GB" spc="75" dirty="0">
                <a:solidFill>
                  <a:srgbClr val="080912"/>
                </a:solidFill>
                <a:latin typeface="Arial MT"/>
                <a:cs typeface="Arial MT"/>
              </a:rPr>
              <a:t> </a:t>
            </a:r>
            <a:r>
              <a:rPr lang="en-GB" spc="-10" dirty="0">
                <a:solidFill>
                  <a:srgbClr val="080912"/>
                </a:solidFill>
                <a:latin typeface="Arial MT"/>
                <a:cs typeface="Arial MT"/>
              </a:rPr>
              <a:t>was</a:t>
            </a:r>
            <a:r>
              <a:rPr lang="en-GB" spc="68" dirty="0">
                <a:solidFill>
                  <a:srgbClr val="080912"/>
                </a:solidFill>
                <a:latin typeface="Arial MT"/>
                <a:cs typeface="Arial MT"/>
              </a:rPr>
              <a:t> </a:t>
            </a:r>
            <a:r>
              <a:rPr lang="en-GB" spc="-7" dirty="0">
                <a:solidFill>
                  <a:srgbClr val="080912"/>
                </a:solidFill>
                <a:latin typeface="Arial MT"/>
                <a:cs typeface="Arial MT"/>
              </a:rPr>
              <a:t>in</a:t>
            </a:r>
            <a:r>
              <a:rPr lang="en-GB" spc="82" dirty="0">
                <a:solidFill>
                  <a:srgbClr val="080912"/>
                </a:solidFill>
                <a:latin typeface="Arial MT"/>
                <a:cs typeface="Arial MT"/>
              </a:rPr>
              <a:t> </a:t>
            </a:r>
            <a:r>
              <a:rPr lang="en-GB" spc="-14" dirty="0">
                <a:solidFill>
                  <a:srgbClr val="080912"/>
                </a:solidFill>
                <a:latin typeface="Arial MT"/>
                <a:cs typeface="Arial MT"/>
              </a:rPr>
              <a:t>the</a:t>
            </a:r>
            <a:r>
              <a:rPr lang="en-GB" spc="75" dirty="0">
                <a:solidFill>
                  <a:srgbClr val="080912"/>
                </a:solidFill>
                <a:latin typeface="Arial MT"/>
                <a:cs typeface="Arial MT"/>
              </a:rPr>
              <a:t> </a:t>
            </a:r>
            <a:r>
              <a:rPr lang="en-GB" spc="-10" dirty="0">
                <a:solidFill>
                  <a:srgbClr val="080912"/>
                </a:solidFill>
                <a:latin typeface="Arial MT"/>
                <a:cs typeface="Arial MT"/>
              </a:rPr>
              <a:t>range</a:t>
            </a:r>
            <a:r>
              <a:rPr lang="en-GB" spc="65" dirty="0">
                <a:solidFill>
                  <a:srgbClr val="080912"/>
                </a:solidFill>
                <a:latin typeface="Arial MT"/>
                <a:cs typeface="Arial MT"/>
              </a:rPr>
              <a:t> </a:t>
            </a:r>
            <a:r>
              <a:rPr lang="en-GB" spc="-3" dirty="0">
                <a:solidFill>
                  <a:srgbClr val="080912"/>
                </a:solidFill>
                <a:latin typeface="Arial MT"/>
                <a:cs typeface="Arial MT"/>
              </a:rPr>
              <a:t>of</a:t>
            </a:r>
            <a:r>
              <a:rPr lang="en-GB" spc="72" dirty="0">
                <a:solidFill>
                  <a:srgbClr val="080912"/>
                </a:solidFill>
                <a:latin typeface="Arial MT"/>
                <a:cs typeface="Arial MT"/>
              </a:rPr>
              <a:t> </a:t>
            </a:r>
            <a:r>
              <a:rPr lang="en-GB" dirty="0">
                <a:solidFill>
                  <a:srgbClr val="080912"/>
                </a:solidFill>
                <a:latin typeface="Arial MT"/>
                <a:cs typeface="Arial MT"/>
              </a:rPr>
              <a:t>0</a:t>
            </a:r>
            <a:r>
              <a:rPr lang="en-GB" spc="82" dirty="0">
                <a:solidFill>
                  <a:srgbClr val="080912"/>
                </a:solidFill>
                <a:latin typeface="Arial MT"/>
                <a:cs typeface="Arial MT"/>
              </a:rPr>
              <a:t> </a:t>
            </a:r>
            <a:r>
              <a:rPr lang="en-GB" spc="-10" dirty="0">
                <a:solidFill>
                  <a:srgbClr val="080912"/>
                </a:solidFill>
                <a:latin typeface="Arial MT"/>
                <a:cs typeface="Arial MT"/>
              </a:rPr>
              <a:t>to</a:t>
            </a:r>
            <a:r>
              <a:rPr lang="en-GB" spc="75" dirty="0">
                <a:solidFill>
                  <a:srgbClr val="080912"/>
                </a:solidFill>
                <a:latin typeface="Arial MT"/>
                <a:cs typeface="Arial MT"/>
              </a:rPr>
              <a:t> </a:t>
            </a:r>
            <a:r>
              <a:rPr lang="en-GB" spc="-3" dirty="0">
                <a:solidFill>
                  <a:srgbClr val="080912"/>
                </a:solidFill>
                <a:latin typeface="Arial MT"/>
                <a:cs typeface="Arial MT"/>
              </a:rPr>
              <a:t>1,</a:t>
            </a:r>
            <a:r>
              <a:rPr lang="en-GB" spc="68" dirty="0">
                <a:solidFill>
                  <a:srgbClr val="080912"/>
                </a:solidFill>
                <a:latin typeface="Arial MT"/>
                <a:cs typeface="Arial MT"/>
              </a:rPr>
              <a:t> </a:t>
            </a:r>
            <a:r>
              <a:rPr lang="en-GB" spc="-10" dirty="0">
                <a:solidFill>
                  <a:srgbClr val="080912"/>
                </a:solidFill>
                <a:latin typeface="Arial MT"/>
                <a:cs typeface="Arial MT"/>
              </a:rPr>
              <a:t>which</a:t>
            </a:r>
            <a:r>
              <a:rPr lang="en-GB" spc="75" dirty="0">
                <a:solidFill>
                  <a:srgbClr val="080912"/>
                </a:solidFill>
                <a:latin typeface="Arial MT"/>
                <a:cs typeface="Arial MT"/>
              </a:rPr>
              <a:t> </a:t>
            </a:r>
            <a:r>
              <a:rPr lang="en-GB" spc="-7" dirty="0">
                <a:solidFill>
                  <a:srgbClr val="080912"/>
                </a:solidFill>
                <a:latin typeface="Arial MT"/>
                <a:cs typeface="Arial MT"/>
              </a:rPr>
              <a:t>can</a:t>
            </a:r>
            <a:r>
              <a:rPr lang="en-GB" spc="78" dirty="0">
                <a:solidFill>
                  <a:srgbClr val="080912"/>
                </a:solidFill>
                <a:latin typeface="Arial MT"/>
                <a:cs typeface="Arial MT"/>
              </a:rPr>
              <a:t> </a:t>
            </a:r>
            <a:r>
              <a:rPr lang="en-GB" spc="-7" dirty="0">
                <a:solidFill>
                  <a:srgbClr val="080912"/>
                </a:solidFill>
                <a:latin typeface="Arial MT"/>
                <a:cs typeface="Arial MT"/>
              </a:rPr>
              <a:t>be</a:t>
            </a:r>
            <a:r>
              <a:rPr lang="en-GB" spc="82" dirty="0">
                <a:solidFill>
                  <a:srgbClr val="080912"/>
                </a:solidFill>
                <a:latin typeface="Arial MT"/>
                <a:cs typeface="Arial MT"/>
              </a:rPr>
              <a:t> </a:t>
            </a:r>
            <a:r>
              <a:rPr lang="en-GB" spc="-14" dirty="0">
                <a:solidFill>
                  <a:srgbClr val="080912"/>
                </a:solidFill>
                <a:latin typeface="Arial MT"/>
                <a:cs typeface="Arial MT"/>
              </a:rPr>
              <a:t>thought</a:t>
            </a:r>
            <a:r>
              <a:rPr lang="en-GB" spc="68" dirty="0">
                <a:solidFill>
                  <a:srgbClr val="080912"/>
                </a:solidFill>
                <a:latin typeface="Arial MT"/>
                <a:cs typeface="Arial MT"/>
              </a:rPr>
              <a:t> </a:t>
            </a:r>
            <a:r>
              <a:rPr lang="en-GB" spc="-3" dirty="0">
                <a:solidFill>
                  <a:srgbClr val="080912"/>
                </a:solidFill>
                <a:latin typeface="Arial MT"/>
                <a:cs typeface="Arial MT"/>
              </a:rPr>
              <a:t>of</a:t>
            </a:r>
            <a:r>
              <a:rPr lang="en-GB" spc="68" dirty="0">
                <a:solidFill>
                  <a:srgbClr val="080912"/>
                </a:solidFill>
                <a:latin typeface="Arial MT"/>
                <a:cs typeface="Arial MT"/>
              </a:rPr>
              <a:t> </a:t>
            </a:r>
            <a:r>
              <a:rPr lang="en-GB" spc="-7" dirty="0">
                <a:solidFill>
                  <a:srgbClr val="080912"/>
                </a:solidFill>
                <a:latin typeface="Arial MT"/>
                <a:cs typeface="Arial MT"/>
              </a:rPr>
              <a:t>as </a:t>
            </a:r>
            <a:r>
              <a:rPr lang="en-GB" spc="-245" dirty="0">
                <a:solidFill>
                  <a:srgbClr val="080912"/>
                </a:solidFill>
                <a:latin typeface="Arial MT"/>
                <a:cs typeface="Arial MT"/>
              </a:rPr>
              <a:t> </a:t>
            </a:r>
            <a:r>
              <a:rPr lang="en-GB" spc="-10" dirty="0">
                <a:solidFill>
                  <a:srgbClr val="080912"/>
                </a:solidFill>
                <a:latin typeface="Arial MT"/>
                <a:cs typeface="Arial MT"/>
              </a:rPr>
              <a:t>probability.</a:t>
            </a:r>
            <a:endParaRPr lang="en-GB" dirty="0">
              <a:latin typeface="Arial MT"/>
              <a:cs typeface="Arial MT"/>
            </a:endParaRPr>
          </a:p>
          <a:p>
            <a:pPr marL="8659">
              <a:spcBef>
                <a:spcPts val="897"/>
              </a:spcBef>
            </a:pPr>
            <a:r>
              <a:rPr lang="en-GB" spc="-7" dirty="0">
                <a:solidFill>
                  <a:srgbClr val="080912"/>
                </a:solidFill>
                <a:latin typeface="Arial MT"/>
                <a:cs typeface="Arial MT"/>
              </a:rPr>
              <a:t>This</a:t>
            </a:r>
            <a:r>
              <a:rPr lang="en-GB" spc="-20" dirty="0">
                <a:solidFill>
                  <a:srgbClr val="080912"/>
                </a:solidFill>
                <a:latin typeface="Arial MT"/>
                <a:cs typeface="Arial MT"/>
              </a:rPr>
              <a:t> </a:t>
            </a:r>
            <a:r>
              <a:rPr lang="en-GB" spc="-14" dirty="0">
                <a:solidFill>
                  <a:srgbClr val="080912"/>
                </a:solidFill>
                <a:latin typeface="Arial MT"/>
                <a:cs typeface="Arial MT"/>
              </a:rPr>
              <a:t>function</a:t>
            </a:r>
            <a:r>
              <a:rPr lang="en-GB" spc="-24" dirty="0">
                <a:solidFill>
                  <a:srgbClr val="080912"/>
                </a:solidFill>
                <a:latin typeface="Arial MT"/>
                <a:cs typeface="Arial MT"/>
              </a:rPr>
              <a:t> </a:t>
            </a:r>
            <a:r>
              <a:rPr lang="en-GB" spc="-14" dirty="0">
                <a:solidFill>
                  <a:srgbClr val="080912"/>
                </a:solidFill>
                <a:latin typeface="Arial MT"/>
                <a:cs typeface="Arial MT"/>
              </a:rPr>
              <a:t>faces</a:t>
            </a:r>
            <a:r>
              <a:rPr lang="en-GB" spc="-24" dirty="0">
                <a:solidFill>
                  <a:srgbClr val="080912"/>
                </a:solidFill>
                <a:latin typeface="Arial MT"/>
                <a:cs typeface="Arial MT"/>
              </a:rPr>
              <a:t> </a:t>
            </a:r>
            <a:r>
              <a:rPr lang="en-GB" spc="-10" dirty="0">
                <a:solidFill>
                  <a:srgbClr val="080912"/>
                </a:solidFill>
                <a:latin typeface="Arial MT"/>
                <a:cs typeface="Arial MT"/>
              </a:rPr>
              <a:t>certain</a:t>
            </a:r>
            <a:r>
              <a:rPr lang="en-GB" spc="-31" dirty="0">
                <a:solidFill>
                  <a:srgbClr val="080912"/>
                </a:solidFill>
                <a:latin typeface="Arial MT"/>
                <a:cs typeface="Arial MT"/>
              </a:rPr>
              <a:t> </a:t>
            </a:r>
            <a:r>
              <a:rPr lang="en-GB" spc="-10" dirty="0">
                <a:solidFill>
                  <a:srgbClr val="080912"/>
                </a:solidFill>
                <a:latin typeface="Arial MT"/>
                <a:cs typeface="Arial MT"/>
              </a:rPr>
              <a:t>problems.</a:t>
            </a:r>
            <a:endParaRPr lang="en-GB" dirty="0">
              <a:latin typeface="Arial MT"/>
              <a:cs typeface="Arial MT"/>
            </a:endParaRPr>
          </a:p>
          <a:p>
            <a:pPr marL="8659" marR="3464">
              <a:lnSpc>
                <a:spcPct val="143700"/>
              </a:lnSpc>
              <a:spcBef>
                <a:spcPts val="409"/>
              </a:spcBef>
            </a:pPr>
            <a:r>
              <a:rPr lang="en-GB" spc="-10" dirty="0">
                <a:solidFill>
                  <a:srgbClr val="080912"/>
                </a:solidFill>
                <a:latin typeface="Arial MT"/>
                <a:cs typeface="Arial MT"/>
              </a:rPr>
              <a:t>Let’s</a:t>
            </a:r>
            <a:r>
              <a:rPr lang="en-GB" spc="-14" dirty="0">
                <a:solidFill>
                  <a:srgbClr val="080912"/>
                </a:solidFill>
                <a:latin typeface="Arial MT"/>
                <a:cs typeface="Arial MT"/>
              </a:rPr>
              <a:t> </a:t>
            </a:r>
            <a:r>
              <a:rPr lang="en-GB" spc="-10" dirty="0">
                <a:solidFill>
                  <a:srgbClr val="080912"/>
                </a:solidFill>
                <a:latin typeface="Arial MT"/>
                <a:cs typeface="Arial MT"/>
              </a:rPr>
              <a:t>suppose</a:t>
            </a:r>
            <a:r>
              <a:rPr lang="en-GB" spc="-27" dirty="0">
                <a:solidFill>
                  <a:srgbClr val="080912"/>
                </a:solidFill>
                <a:latin typeface="Arial MT"/>
                <a:cs typeface="Arial MT"/>
              </a:rPr>
              <a:t> </a:t>
            </a:r>
            <a:r>
              <a:rPr lang="en-GB" spc="-3" dirty="0">
                <a:solidFill>
                  <a:srgbClr val="080912"/>
                </a:solidFill>
                <a:latin typeface="Arial MT"/>
                <a:cs typeface="Arial MT"/>
              </a:rPr>
              <a:t>we</a:t>
            </a:r>
            <a:r>
              <a:rPr lang="en-GB" spc="-24" dirty="0">
                <a:solidFill>
                  <a:srgbClr val="080912"/>
                </a:solidFill>
                <a:latin typeface="Arial MT"/>
                <a:cs typeface="Arial MT"/>
              </a:rPr>
              <a:t> </a:t>
            </a:r>
            <a:r>
              <a:rPr lang="en-GB" spc="-10" dirty="0">
                <a:solidFill>
                  <a:srgbClr val="080912"/>
                </a:solidFill>
                <a:latin typeface="Arial MT"/>
                <a:cs typeface="Arial MT"/>
              </a:rPr>
              <a:t>have</a:t>
            </a:r>
            <a:r>
              <a:rPr lang="en-GB" spc="-17" dirty="0">
                <a:solidFill>
                  <a:srgbClr val="080912"/>
                </a:solidFill>
                <a:latin typeface="Arial MT"/>
                <a:cs typeface="Arial MT"/>
              </a:rPr>
              <a:t> </a:t>
            </a:r>
            <a:r>
              <a:rPr lang="en-GB" spc="-10" dirty="0">
                <a:solidFill>
                  <a:srgbClr val="080912"/>
                </a:solidFill>
                <a:latin typeface="Arial MT"/>
                <a:cs typeface="Arial MT"/>
              </a:rPr>
              <a:t>five</a:t>
            </a:r>
            <a:r>
              <a:rPr lang="en-GB" spc="-24" dirty="0">
                <a:solidFill>
                  <a:srgbClr val="080912"/>
                </a:solidFill>
                <a:latin typeface="Arial MT"/>
                <a:cs typeface="Arial MT"/>
              </a:rPr>
              <a:t> </a:t>
            </a:r>
            <a:r>
              <a:rPr lang="en-GB" spc="-10" dirty="0">
                <a:solidFill>
                  <a:srgbClr val="080912"/>
                </a:solidFill>
                <a:latin typeface="Arial MT"/>
                <a:cs typeface="Arial MT"/>
              </a:rPr>
              <a:t>output</a:t>
            </a:r>
            <a:r>
              <a:rPr lang="en-GB" spc="-27" dirty="0">
                <a:solidFill>
                  <a:srgbClr val="080912"/>
                </a:solidFill>
                <a:latin typeface="Arial MT"/>
                <a:cs typeface="Arial MT"/>
              </a:rPr>
              <a:t> </a:t>
            </a:r>
            <a:r>
              <a:rPr lang="en-GB" spc="-10" dirty="0">
                <a:solidFill>
                  <a:srgbClr val="080912"/>
                </a:solidFill>
                <a:latin typeface="Arial MT"/>
                <a:cs typeface="Arial MT"/>
              </a:rPr>
              <a:t>values</a:t>
            </a:r>
            <a:r>
              <a:rPr lang="en-GB" spc="-20" dirty="0">
                <a:solidFill>
                  <a:srgbClr val="080912"/>
                </a:solidFill>
                <a:latin typeface="Arial MT"/>
                <a:cs typeface="Arial MT"/>
              </a:rPr>
              <a:t> </a:t>
            </a:r>
            <a:r>
              <a:rPr lang="en-GB" spc="-3" dirty="0">
                <a:solidFill>
                  <a:srgbClr val="080912"/>
                </a:solidFill>
                <a:latin typeface="Arial MT"/>
                <a:cs typeface="Arial MT"/>
              </a:rPr>
              <a:t>of</a:t>
            </a:r>
            <a:r>
              <a:rPr lang="en-GB" spc="-20" dirty="0">
                <a:solidFill>
                  <a:srgbClr val="080912"/>
                </a:solidFill>
                <a:latin typeface="Arial MT"/>
                <a:cs typeface="Arial MT"/>
              </a:rPr>
              <a:t> </a:t>
            </a:r>
            <a:r>
              <a:rPr lang="en-GB" spc="-7" dirty="0">
                <a:solidFill>
                  <a:srgbClr val="080912"/>
                </a:solidFill>
                <a:latin typeface="Arial MT"/>
                <a:cs typeface="Arial MT"/>
              </a:rPr>
              <a:t>0.8,</a:t>
            </a:r>
            <a:r>
              <a:rPr lang="en-GB" spc="-20" dirty="0">
                <a:solidFill>
                  <a:srgbClr val="080912"/>
                </a:solidFill>
                <a:latin typeface="Arial MT"/>
                <a:cs typeface="Arial MT"/>
              </a:rPr>
              <a:t> </a:t>
            </a:r>
            <a:r>
              <a:rPr lang="en-GB" spc="-7" dirty="0">
                <a:solidFill>
                  <a:srgbClr val="080912"/>
                </a:solidFill>
                <a:latin typeface="Arial MT"/>
                <a:cs typeface="Arial MT"/>
              </a:rPr>
              <a:t>0.9,</a:t>
            </a:r>
            <a:r>
              <a:rPr lang="en-GB" spc="-20" dirty="0">
                <a:solidFill>
                  <a:srgbClr val="080912"/>
                </a:solidFill>
                <a:latin typeface="Arial MT"/>
                <a:cs typeface="Arial MT"/>
              </a:rPr>
              <a:t> </a:t>
            </a:r>
            <a:r>
              <a:rPr lang="en-GB" spc="-7" dirty="0">
                <a:solidFill>
                  <a:srgbClr val="080912"/>
                </a:solidFill>
                <a:latin typeface="Arial MT"/>
                <a:cs typeface="Arial MT"/>
              </a:rPr>
              <a:t>0.7,</a:t>
            </a:r>
            <a:r>
              <a:rPr lang="en-GB" spc="-27" dirty="0">
                <a:solidFill>
                  <a:srgbClr val="080912"/>
                </a:solidFill>
                <a:latin typeface="Arial MT"/>
                <a:cs typeface="Arial MT"/>
              </a:rPr>
              <a:t> </a:t>
            </a:r>
            <a:r>
              <a:rPr lang="en-GB" spc="-7" dirty="0">
                <a:solidFill>
                  <a:srgbClr val="080912"/>
                </a:solidFill>
                <a:latin typeface="Arial MT"/>
                <a:cs typeface="Arial MT"/>
              </a:rPr>
              <a:t>0.8,</a:t>
            </a:r>
            <a:r>
              <a:rPr lang="en-GB" spc="-27" dirty="0">
                <a:solidFill>
                  <a:srgbClr val="080912"/>
                </a:solidFill>
                <a:latin typeface="Arial MT"/>
                <a:cs typeface="Arial MT"/>
              </a:rPr>
              <a:t> </a:t>
            </a:r>
            <a:r>
              <a:rPr lang="en-GB" spc="-7" dirty="0">
                <a:solidFill>
                  <a:srgbClr val="080912"/>
                </a:solidFill>
                <a:latin typeface="Arial MT"/>
                <a:cs typeface="Arial MT"/>
              </a:rPr>
              <a:t>and</a:t>
            </a:r>
            <a:r>
              <a:rPr lang="en-GB" spc="-24" dirty="0">
                <a:solidFill>
                  <a:srgbClr val="080912"/>
                </a:solidFill>
                <a:latin typeface="Arial MT"/>
                <a:cs typeface="Arial MT"/>
              </a:rPr>
              <a:t> </a:t>
            </a:r>
            <a:r>
              <a:rPr lang="en-GB" spc="-7" dirty="0">
                <a:solidFill>
                  <a:srgbClr val="080912"/>
                </a:solidFill>
                <a:latin typeface="Arial MT"/>
                <a:cs typeface="Arial MT"/>
              </a:rPr>
              <a:t>0.6,</a:t>
            </a:r>
            <a:r>
              <a:rPr lang="en-GB" spc="-27" dirty="0">
                <a:solidFill>
                  <a:srgbClr val="080912"/>
                </a:solidFill>
                <a:latin typeface="Arial MT"/>
                <a:cs typeface="Arial MT"/>
              </a:rPr>
              <a:t> </a:t>
            </a:r>
            <a:r>
              <a:rPr lang="en-GB" spc="-14" dirty="0">
                <a:solidFill>
                  <a:srgbClr val="080912"/>
                </a:solidFill>
                <a:latin typeface="Arial MT"/>
                <a:cs typeface="Arial MT"/>
              </a:rPr>
              <a:t>respectively.</a:t>
            </a:r>
            <a:r>
              <a:rPr lang="en-GB" spc="-20" dirty="0">
                <a:solidFill>
                  <a:srgbClr val="080912"/>
                </a:solidFill>
                <a:latin typeface="Arial MT"/>
                <a:cs typeface="Arial MT"/>
              </a:rPr>
              <a:t> </a:t>
            </a:r>
          </a:p>
          <a:p>
            <a:pPr marL="8659" marR="3464">
              <a:lnSpc>
                <a:spcPct val="143700"/>
              </a:lnSpc>
              <a:spcBef>
                <a:spcPts val="409"/>
              </a:spcBef>
            </a:pPr>
            <a:r>
              <a:rPr lang="en-GB" spc="-10" dirty="0">
                <a:solidFill>
                  <a:srgbClr val="080912"/>
                </a:solidFill>
                <a:latin typeface="Arial MT"/>
                <a:cs typeface="Arial MT"/>
              </a:rPr>
              <a:t>How</a:t>
            </a:r>
            <a:r>
              <a:rPr lang="en-GB" spc="-14" dirty="0">
                <a:solidFill>
                  <a:srgbClr val="080912"/>
                </a:solidFill>
                <a:latin typeface="Arial MT"/>
                <a:cs typeface="Arial MT"/>
              </a:rPr>
              <a:t> </a:t>
            </a:r>
            <a:r>
              <a:rPr lang="en-GB" spc="-10" dirty="0">
                <a:solidFill>
                  <a:srgbClr val="080912"/>
                </a:solidFill>
                <a:latin typeface="Arial MT"/>
                <a:cs typeface="Arial MT"/>
              </a:rPr>
              <a:t>can </a:t>
            </a:r>
            <a:r>
              <a:rPr lang="en-GB" spc="-245" dirty="0">
                <a:solidFill>
                  <a:srgbClr val="080912"/>
                </a:solidFill>
                <a:latin typeface="Arial MT"/>
                <a:cs typeface="Arial MT"/>
              </a:rPr>
              <a:t> </a:t>
            </a:r>
            <a:r>
              <a:rPr lang="en-GB" spc="-7" dirty="0">
                <a:solidFill>
                  <a:srgbClr val="080912"/>
                </a:solidFill>
                <a:latin typeface="Arial MT"/>
                <a:cs typeface="Arial MT"/>
              </a:rPr>
              <a:t>we</a:t>
            </a:r>
            <a:r>
              <a:rPr lang="en-GB" spc="-24" dirty="0">
                <a:solidFill>
                  <a:srgbClr val="080912"/>
                </a:solidFill>
                <a:latin typeface="Arial MT"/>
                <a:cs typeface="Arial MT"/>
              </a:rPr>
              <a:t> </a:t>
            </a:r>
            <a:r>
              <a:rPr lang="en-GB" spc="-14" dirty="0">
                <a:solidFill>
                  <a:srgbClr val="080912"/>
                </a:solidFill>
                <a:latin typeface="Arial MT"/>
                <a:cs typeface="Arial MT"/>
              </a:rPr>
              <a:t>move</a:t>
            </a:r>
            <a:r>
              <a:rPr lang="en-GB" spc="-20" dirty="0">
                <a:solidFill>
                  <a:srgbClr val="080912"/>
                </a:solidFill>
                <a:latin typeface="Arial MT"/>
                <a:cs typeface="Arial MT"/>
              </a:rPr>
              <a:t> </a:t>
            </a:r>
            <a:r>
              <a:rPr lang="en-GB" spc="-10" dirty="0">
                <a:solidFill>
                  <a:srgbClr val="080912"/>
                </a:solidFill>
                <a:latin typeface="Arial MT"/>
                <a:cs typeface="Arial MT"/>
              </a:rPr>
              <a:t>forward</a:t>
            </a:r>
            <a:r>
              <a:rPr lang="en-GB" spc="-27" dirty="0">
                <a:solidFill>
                  <a:srgbClr val="080912"/>
                </a:solidFill>
                <a:latin typeface="Arial MT"/>
                <a:cs typeface="Arial MT"/>
              </a:rPr>
              <a:t> </a:t>
            </a:r>
            <a:r>
              <a:rPr lang="en-GB" spc="-10" dirty="0">
                <a:solidFill>
                  <a:srgbClr val="080912"/>
                </a:solidFill>
                <a:latin typeface="Arial MT"/>
                <a:cs typeface="Arial MT"/>
              </a:rPr>
              <a:t>with</a:t>
            </a:r>
            <a:r>
              <a:rPr lang="en-GB" spc="-20" dirty="0">
                <a:solidFill>
                  <a:srgbClr val="080912"/>
                </a:solidFill>
                <a:latin typeface="Arial MT"/>
                <a:cs typeface="Arial MT"/>
              </a:rPr>
              <a:t> </a:t>
            </a:r>
            <a:r>
              <a:rPr lang="en-GB" spc="-10" dirty="0">
                <a:solidFill>
                  <a:srgbClr val="080912"/>
                </a:solidFill>
                <a:latin typeface="Arial MT"/>
                <a:cs typeface="Arial MT"/>
              </a:rPr>
              <a:t>it?</a:t>
            </a:r>
            <a:endParaRPr lang="en-GB" dirty="0">
              <a:latin typeface="Arial MT"/>
              <a:cs typeface="Arial MT"/>
            </a:endParaRPr>
          </a:p>
          <a:p>
            <a:pPr marL="8659">
              <a:spcBef>
                <a:spcPts val="883"/>
              </a:spcBef>
            </a:pPr>
            <a:r>
              <a:rPr lang="en-GB" spc="-7" dirty="0">
                <a:solidFill>
                  <a:srgbClr val="080912"/>
                </a:solidFill>
                <a:latin typeface="Arial MT"/>
                <a:cs typeface="Arial MT"/>
              </a:rPr>
              <a:t>The</a:t>
            </a:r>
            <a:r>
              <a:rPr lang="en-GB" spc="-41" dirty="0">
                <a:solidFill>
                  <a:srgbClr val="080912"/>
                </a:solidFill>
                <a:latin typeface="Arial MT"/>
                <a:cs typeface="Arial MT"/>
              </a:rPr>
              <a:t> </a:t>
            </a:r>
            <a:r>
              <a:rPr lang="en-GB" spc="-10" dirty="0">
                <a:solidFill>
                  <a:srgbClr val="080912"/>
                </a:solidFill>
                <a:latin typeface="Arial MT"/>
                <a:cs typeface="Arial MT"/>
              </a:rPr>
              <a:t>answer</a:t>
            </a:r>
            <a:r>
              <a:rPr lang="en-GB" spc="-31" dirty="0">
                <a:solidFill>
                  <a:srgbClr val="080912"/>
                </a:solidFill>
                <a:latin typeface="Arial MT"/>
                <a:cs typeface="Arial MT"/>
              </a:rPr>
              <a:t> </a:t>
            </a:r>
            <a:r>
              <a:rPr lang="en-GB" spc="-7" dirty="0">
                <a:solidFill>
                  <a:srgbClr val="080912"/>
                </a:solidFill>
                <a:latin typeface="Arial MT"/>
                <a:cs typeface="Arial MT"/>
              </a:rPr>
              <a:t>is:</a:t>
            </a:r>
            <a:r>
              <a:rPr lang="en-GB" spc="-41" dirty="0">
                <a:solidFill>
                  <a:srgbClr val="080912"/>
                </a:solidFill>
                <a:latin typeface="Arial MT"/>
                <a:cs typeface="Arial MT"/>
              </a:rPr>
              <a:t> </a:t>
            </a:r>
            <a:r>
              <a:rPr lang="en-GB" spc="-7" dirty="0">
                <a:solidFill>
                  <a:srgbClr val="FF0000"/>
                </a:solidFill>
                <a:latin typeface="Arial MT"/>
                <a:cs typeface="Arial MT"/>
              </a:rPr>
              <a:t>We</a:t>
            </a:r>
            <a:r>
              <a:rPr lang="en-GB" spc="-41" dirty="0">
                <a:solidFill>
                  <a:srgbClr val="FF0000"/>
                </a:solidFill>
                <a:latin typeface="Arial MT"/>
                <a:cs typeface="Arial MT"/>
              </a:rPr>
              <a:t> </a:t>
            </a:r>
            <a:r>
              <a:rPr lang="en-GB" spc="-10" dirty="0">
                <a:solidFill>
                  <a:srgbClr val="FF0000"/>
                </a:solidFill>
                <a:latin typeface="Arial MT"/>
                <a:cs typeface="Arial MT"/>
              </a:rPr>
              <a:t>can’t.</a:t>
            </a:r>
            <a:endParaRPr lang="en-GB" dirty="0">
              <a:solidFill>
                <a:srgbClr val="FF0000"/>
              </a:solidFill>
              <a:latin typeface="Arial MT"/>
              <a:cs typeface="Arial MT"/>
            </a:endParaRPr>
          </a:p>
          <a:p>
            <a:pPr marL="8659" marR="3896">
              <a:lnSpc>
                <a:spcPct val="143700"/>
              </a:lnSpc>
              <a:spcBef>
                <a:spcPts val="409"/>
              </a:spcBef>
            </a:pPr>
            <a:r>
              <a:rPr lang="en-GB" spc="-7" dirty="0">
                <a:solidFill>
                  <a:srgbClr val="080912"/>
                </a:solidFill>
                <a:latin typeface="Arial MT"/>
                <a:cs typeface="Arial MT"/>
              </a:rPr>
              <a:t>The</a:t>
            </a:r>
            <a:r>
              <a:rPr lang="en-GB" dirty="0">
                <a:solidFill>
                  <a:srgbClr val="080912"/>
                </a:solidFill>
                <a:latin typeface="Arial MT"/>
                <a:cs typeface="Arial MT"/>
              </a:rPr>
              <a:t> </a:t>
            </a:r>
            <a:r>
              <a:rPr lang="en-GB" spc="-10" dirty="0">
                <a:solidFill>
                  <a:srgbClr val="080912"/>
                </a:solidFill>
                <a:latin typeface="Arial MT"/>
                <a:cs typeface="Arial MT"/>
              </a:rPr>
              <a:t>above</a:t>
            </a:r>
            <a:r>
              <a:rPr lang="en-GB" spc="-7" dirty="0">
                <a:solidFill>
                  <a:srgbClr val="080912"/>
                </a:solidFill>
                <a:latin typeface="Arial MT"/>
                <a:cs typeface="Arial MT"/>
              </a:rPr>
              <a:t> </a:t>
            </a:r>
            <a:r>
              <a:rPr lang="en-GB" spc="-10" dirty="0">
                <a:solidFill>
                  <a:srgbClr val="080912"/>
                </a:solidFill>
                <a:latin typeface="Arial MT"/>
                <a:cs typeface="Arial MT"/>
              </a:rPr>
              <a:t>values</a:t>
            </a:r>
            <a:r>
              <a:rPr lang="en-GB" spc="3" dirty="0">
                <a:solidFill>
                  <a:srgbClr val="080912"/>
                </a:solidFill>
                <a:latin typeface="Arial MT"/>
                <a:cs typeface="Arial MT"/>
              </a:rPr>
              <a:t> </a:t>
            </a:r>
            <a:r>
              <a:rPr lang="en-GB" spc="-10" dirty="0">
                <a:solidFill>
                  <a:srgbClr val="080912"/>
                </a:solidFill>
                <a:latin typeface="Arial MT"/>
                <a:cs typeface="Arial MT"/>
              </a:rPr>
              <a:t>don’t</a:t>
            </a:r>
            <a:r>
              <a:rPr lang="en-GB" spc="-7" dirty="0">
                <a:solidFill>
                  <a:srgbClr val="080912"/>
                </a:solidFill>
                <a:latin typeface="Arial MT"/>
                <a:cs typeface="Arial MT"/>
              </a:rPr>
              <a:t> </a:t>
            </a:r>
            <a:r>
              <a:rPr lang="en-GB" spc="-10" dirty="0">
                <a:solidFill>
                  <a:srgbClr val="080912"/>
                </a:solidFill>
                <a:latin typeface="Arial MT"/>
                <a:cs typeface="Arial MT"/>
              </a:rPr>
              <a:t>make</a:t>
            </a:r>
            <a:r>
              <a:rPr lang="en-GB" spc="-7" dirty="0">
                <a:solidFill>
                  <a:srgbClr val="080912"/>
                </a:solidFill>
                <a:latin typeface="Arial MT"/>
                <a:cs typeface="Arial MT"/>
              </a:rPr>
              <a:t> </a:t>
            </a:r>
            <a:r>
              <a:rPr lang="en-GB" spc="-10" dirty="0">
                <a:solidFill>
                  <a:srgbClr val="080912"/>
                </a:solidFill>
                <a:latin typeface="Arial MT"/>
                <a:cs typeface="Arial MT"/>
              </a:rPr>
              <a:t>sense</a:t>
            </a:r>
            <a:r>
              <a:rPr lang="en-GB" spc="-7" dirty="0">
                <a:solidFill>
                  <a:srgbClr val="080912"/>
                </a:solidFill>
                <a:latin typeface="Arial MT"/>
                <a:cs typeface="Arial MT"/>
              </a:rPr>
              <a:t> as</a:t>
            </a:r>
            <a:r>
              <a:rPr lang="en-GB" spc="3" dirty="0">
                <a:solidFill>
                  <a:srgbClr val="080912"/>
                </a:solidFill>
                <a:latin typeface="Arial MT"/>
                <a:cs typeface="Arial MT"/>
              </a:rPr>
              <a:t> </a:t>
            </a:r>
            <a:r>
              <a:rPr lang="en-GB" spc="-10" dirty="0">
                <a:solidFill>
                  <a:srgbClr val="080912"/>
                </a:solidFill>
                <a:latin typeface="Arial MT"/>
                <a:cs typeface="Arial MT"/>
              </a:rPr>
              <a:t>the</a:t>
            </a:r>
            <a:r>
              <a:rPr lang="en-GB" spc="-7" dirty="0">
                <a:solidFill>
                  <a:srgbClr val="080912"/>
                </a:solidFill>
                <a:latin typeface="Arial MT"/>
                <a:cs typeface="Arial MT"/>
              </a:rPr>
              <a:t> sum</a:t>
            </a:r>
            <a:r>
              <a:rPr lang="en-GB" spc="-10" dirty="0">
                <a:solidFill>
                  <a:srgbClr val="080912"/>
                </a:solidFill>
                <a:latin typeface="Arial MT"/>
                <a:cs typeface="Arial MT"/>
              </a:rPr>
              <a:t> </a:t>
            </a:r>
            <a:r>
              <a:rPr lang="en-GB" spc="-3" dirty="0">
                <a:solidFill>
                  <a:srgbClr val="080912"/>
                </a:solidFill>
                <a:latin typeface="Arial MT"/>
                <a:cs typeface="Arial MT"/>
              </a:rPr>
              <a:t>of</a:t>
            </a:r>
            <a:r>
              <a:rPr lang="en-GB" spc="-14" dirty="0">
                <a:solidFill>
                  <a:srgbClr val="080912"/>
                </a:solidFill>
                <a:latin typeface="Arial MT"/>
                <a:cs typeface="Arial MT"/>
              </a:rPr>
              <a:t> </a:t>
            </a:r>
            <a:r>
              <a:rPr lang="en-GB" spc="-7" dirty="0">
                <a:solidFill>
                  <a:srgbClr val="080912"/>
                </a:solidFill>
                <a:latin typeface="Arial MT"/>
                <a:cs typeface="Arial MT"/>
              </a:rPr>
              <a:t>all</a:t>
            </a:r>
            <a:r>
              <a:rPr lang="en-GB" spc="-3" dirty="0">
                <a:solidFill>
                  <a:srgbClr val="080912"/>
                </a:solidFill>
                <a:latin typeface="Arial MT"/>
                <a:cs typeface="Arial MT"/>
              </a:rPr>
              <a:t> </a:t>
            </a:r>
            <a:r>
              <a:rPr lang="en-GB" spc="-10" dirty="0">
                <a:solidFill>
                  <a:srgbClr val="080912"/>
                </a:solidFill>
                <a:latin typeface="Arial MT"/>
                <a:cs typeface="Arial MT"/>
              </a:rPr>
              <a:t>the</a:t>
            </a:r>
            <a:r>
              <a:rPr lang="en-GB" spc="-7" dirty="0">
                <a:solidFill>
                  <a:srgbClr val="080912"/>
                </a:solidFill>
                <a:latin typeface="Arial MT"/>
                <a:cs typeface="Arial MT"/>
              </a:rPr>
              <a:t> </a:t>
            </a:r>
            <a:r>
              <a:rPr lang="en-GB" spc="-10" dirty="0">
                <a:solidFill>
                  <a:srgbClr val="080912"/>
                </a:solidFill>
                <a:latin typeface="Arial MT"/>
                <a:cs typeface="Arial MT"/>
              </a:rPr>
              <a:t>classes/output</a:t>
            </a:r>
            <a:r>
              <a:rPr lang="en-GB" spc="-14" dirty="0">
                <a:solidFill>
                  <a:srgbClr val="080912"/>
                </a:solidFill>
                <a:latin typeface="Arial MT"/>
                <a:cs typeface="Arial MT"/>
              </a:rPr>
              <a:t> probabilities</a:t>
            </a:r>
            <a:r>
              <a:rPr lang="en-GB" spc="-3" dirty="0">
                <a:solidFill>
                  <a:srgbClr val="080912"/>
                </a:solidFill>
                <a:latin typeface="Arial MT"/>
                <a:cs typeface="Arial MT"/>
              </a:rPr>
              <a:t> </a:t>
            </a:r>
            <a:r>
              <a:rPr lang="en-GB" spc="-10" dirty="0">
                <a:solidFill>
                  <a:srgbClr val="080912"/>
                </a:solidFill>
                <a:latin typeface="Arial MT"/>
                <a:cs typeface="Arial MT"/>
              </a:rPr>
              <a:t>should </a:t>
            </a:r>
            <a:r>
              <a:rPr lang="en-GB" spc="-245" dirty="0">
                <a:solidFill>
                  <a:srgbClr val="080912"/>
                </a:solidFill>
                <a:latin typeface="Arial MT"/>
                <a:cs typeface="Arial MT"/>
              </a:rPr>
              <a:t> </a:t>
            </a:r>
            <a:r>
              <a:rPr lang="en-GB" spc="-3" dirty="0">
                <a:solidFill>
                  <a:srgbClr val="080912"/>
                </a:solidFill>
                <a:latin typeface="Arial MT"/>
                <a:cs typeface="Arial MT"/>
              </a:rPr>
              <a:t>be</a:t>
            </a:r>
            <a:r>
              <a:rPr lang="en-GB" spc="-31" dirty="0">
                <a:solidFill>
                  <a:srgbClr val="080912"/>
                </a:solidFill>
                <a:latin typeface="Arial MT"/>
                <a:cs typeface="Arial MT"/>
              </a:rPr>
              <a:t> </a:t>
            </a:r>
            <a:r>
              <a:rPr lang="en-GB" spc="-10" dirty="0">
                <a:solidFill>
                  <a:srgbClr val="080912"/>
                </a:solidFill>
                <a:latin typeface="Arial MT"/>
                <a:cs typeface="Arial MT"/>
              </a:rPr>
              <a:t>equal</a:t>
            </a:r>
            <a:r>
              <a:rPr lang="en-GB" spc="-20" dirty="0">
                <a:solidFill>
                  <a:srgbClr val="080912"/>
                </a:solidFill>
                <a:latin typeface="Arial MT"/>
                <a:cs typeface="Arial MT"/>
              </a:rPr>
              <a:t> </a:t>
            </a:r>
            <a:r>
              <a:rPr lang="en-GB" spc="-10" dirty="0">
                <a:solidFill>
                  <a:srgbClr val="080912"/>
                </a:solidFill>
                <a:latin typeface="Arial MT"/>
                <a:cs typeface="Arial MT"/>
              </a:rPr>
              <a:t>to</a:t>
            </a:r>
            <a:r>
              <a:rPr lang="en-GB" spc="-27" dirty="0">
                <a:solidFill>
                  <a:srgbClr val="080912"/>
                </a:solidFill>
                <a:latin typeface="Arial MT"/>
                <a:cs typeface="Arial MT"/>
              </a:rPr>
              <a:t> </a:t>
            </a:r>
            <a:r>
              <a:rPr lang="en-GB" spc="-3" dirty="0">
                <a:solidFill>
                  <a:srgbClr val="080912"/>
                </a:solidFill>
                <a:latin typeface="Arial MT"/>
                <a:cs typeface="Arial MT"/>
              </a:rPr>
              <a:t>1.</a:t>
            </a:r>
          </a:p>
          <a:p>
            <a:pPr marL="8659" marR="3464" algn="just">
              <a:lnSpc>
                <a:spcPct val="143700"/>
              </a:lnSpc>
              <a:spcBef>
                <a:spcPts val="406"/>
              </a:spcBef>
            </a:pPr>
            <a:endParaRPr lang="en-GB" sz="1800" dirty="0">
              <a:latin typeface="Arial MT"/>
              <a:cs typeface="Arial MT"/>
            </a:endParaRPr>
          </a:p>
        </p:txBody>
      </p:sp>
      <p:sp>
        <p:nvSpPr>
          <p:cNvPr id="2" name="Slide Number Placeholder 1">
            <a:extLst>
              <a:ext uri="{FF2B5EF4-FFF2-40B4-BE49-F238E27FC236}">
                <a16:creationId xmlns:a16="http://schemas.microsoft.com/office/drawing/2014/main" id="{B4271107-04C2-CF9A-4C47-480DC7CBA78E}"/>
              </a:ext>
            </a:extLst>
          </p:cNvPr>
          <p:cNvSpPr>
            <a:spLocks noGrp="1"/>
          </p:cNvSpPr>
          <p:nvPr>
            <p:ph type="sldNum" sz="quarter" idx="12"/>
          </p:nvPr>
        </p:nvSpPr>
        <p:spPr/>
        <p:txBody>
          <a:bodyPr/>
          <a:lstStyle/>
          <a:p>
            <a:fld id="{9CD9A578-84A4-4247-B01E-A84B9E2DF7BB}" type="slidenum">
              <a:rPr lang="en-PK" smtClean="0"/>
              <a:t>17</a:t>
            </a:fld>
            <a:endParaRPr lang="en-PK"/>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8545168" y="4770252"/>
            <a:ext cx="3241964" cy="1620372"/>
          </a:xfrm>
          <a:prstGeom prst="rect">
            <a:avLst/>
          </a:prstGeom>
        </p:spPr>
      </p:pic>
      <p:sp>
        <p:nvSpPr>
          <p:cNvPr id="6" name="Title 5">
            <a:extLst>
              <a:ext uri="{FF2B5EF4-FFF2-40B4-BE49-F238E27FC236}">
                <a16:creationId xmlns:a16="http://schemas.microsoft.com/office/drawing/2014/main" id="{E6AB6D68-3A47-2992-BE2F-EB6513A0E19A}"/>
              </a:ext>
            </a:extLst>
          </p:cNvPr>
          <p:cNvSpPr>
            <a:spLocks noGrp="1"/>
          </p:cNvSpPr>
          <p:nvPr>
            <p:ph type="title"/>
          </p:nvPr>
        </p:nvSpPr>
        <p:spPr/>
        <p:txBody>
          <a:bodyPr/>
          <a:lstStyle/>
          <a:p>
            <a:r>
              <a:rPr lang="en-GB" sz="4400" b="1" spc="-31">
                <a:solidFill>
                  <a:srgbClr val="272E40"/>
                </a:solidFill>
                <a:latin typeface="Arial"/>
                <a:cs typeface="Arial"/>
              </a:rPr>
              <a:t>So</a:t>
            </a:r>
            <a:r>
              <a:rPr lang="en-GB" sz="4400" b="1" spc="-24">
                <a:solidFill>
                  <a:srgbClr val="272E40"/>
                </a:solidFill>
                <a:latin typeface="Arial"/>
                <a:cs typeface="Arial"/>
              </a:rPr>
              <a:t>f</a:t>
            </a:r>
            <a:r>
              <a:rPr lang="en-GB" sz="4400" b="1" spc="-31">
                <a:solidFill>
                  <a:srgbClr val="272E40"/>
                </a:solidFill>
                <a:latin typeface="Arial"/>
                <a:cs typeface="Arial"/>
              </a:rPr>
              <a:t>tm</a:t>
            </a:r>
            <a:r>
              <a:rPr lang="en-GB" sz="4400" b="1" spc="-34">
                <a:solidFill>
                  <a:srgbClr val="272E40"/>
                </a:solidFill>
                <a:latin typeface="Arial"/>
                <a:cs typeface="Arial"/>
              </a:rPr>
              <a:t>a</a:t>
            </a:r>
            <a:r>
              <a:rPr lang="en-GB" sz="4400" b="1" spc="-3">
                <a:solidFill>
                  <a:srgbClr val="272E40"/>
                </a:solidFill>
                <a:latin typeface="Arial"/>
                <a:cs typeface="Arial"/>
              </a:rPr>
              <a:t>x</a:t>
            </a:r>
            <a:r>
              <a:rPr lang="en-GB" sz="4400" b="1" spc="-51">
                <a:solidFill>
                  <a:srgbClr val="272E40"/>
                </a:solidFill>
                <a:latin typeface="Arial"/>
                <a:cs typeface="Arial"/>
              </a:rPr>
              <a:t> </a:t>
            </a:r>
            <a:r>
              <a:rPr lang="en-GB" sz="4400" b="1" spc="-31">
                <a:solidFill>
                  <a:srgbClr val="272E40"/>
                </a:solidFill>
                <a:latin typeface="Arial"/>
                <a:cs typeface="Arial"/>
              </a:rPr>
              <a:t>Fun</a:t>
            </a:r>
            <a:r>
              <a:rPr lang="en-GB" sz="4400" b="1" spc="-34">
                <a:solidFill>
                  <a:srgbClr val="272E40"/>
                </a:solidFill>
                <a:latin typeface="Arial"/>
                <a:cs typeface="Arial"/>
              </a:rPr>
              <a:t>c</a:t>
            </a:r>
            <a:r>
              <a:rPr lang="en-GB" sz="4400" b="1" spc="-31">
                <a:solidFill>
                  <a:srgbClr val="272E40"/>
                </a:solidFill>
                <a:latin typeface="Arial"/>
                <a:cs typeface="Arial"/>
              </a:rPr>
              <a:t>t</a:t>
            </a:r>
            <a:r>
              <a:rPr lang="en-GB" sz="4400" b="1" spc="-24">
                <a:solidFill>
                  <a:srgbClr val="272E40"/>
                </a:solidFill>
                <a:latin typeface="Arial"/>
                <a:cs typeface="Arial"/>
              </a:rPr>
              <a:t>i</a:t>
            </a:r>
            <a:r>
              <a:rPr lang="en-GB" sz="4400" b="1" spc="-31">
                <a:solidFill>
                  <a:srgbClr val="272E40"/>
                </a:solidFill>
                <a:latin typeface="Arial"/>
                <a:cs typeface="Arial"/>
              </a:rPr>
              <a:t>o</a:t>
            </a:r>
            <a:r>
              <a:rPr lang="en-GB" sz="4400" b="1">
                <a:solidFill>
                  <a:srgbClr val="272E40"/>
                </a:solidFill>
                <a:latin typeface="Arial"/>
                <a:cs typeface="Arial"/>
              </a:rPr>
              <a:t>n</a:t>
            </a:r>
            <a:endParaRPr lang="en-PK" dirty="0"/>
          </a:p>
        </p:txBody>
      </p:sp>
      <p:sp>
        <p:nvSpPr>
          <p:cNvPr id="7" name="Content Placeholder 6">
            <a:extLst>
              <a:ext uri="{FF2B5EF4-FFF2-40B4-BE49-F238E27FC236}">
                <a16:creationId xmlns:a16="http://schemas.microsoft.com/office/drawing/2014/main" id="{656BE407-2F92-CD2E-59B6-2BA642275BC7}"/>
              </a:ext>
            </a:extLst>
          </p:cNvPr>
          <p:cNvSpPr>
            <a:spLocks noGrp="1"/>
          </p:cNvSpPr>
          <p:nvPr>
            <p:ph idx="1"/>
          </p:nvPr>
        </p:nvSpPr>
        <p:spPr>
          <a:xfrm>
            <a:off x="1143000" y="1713367"/>
            <a:ext cx="7402168" cy="4333225"/>
          </a:xfrm>
        </p:spPr>
        <p:txBody>
          <a:bodyPr>
            <a:normAutofit fontScale="55000" lnSpcReduction="20000"/>
          </a:bodyPr>
          <a:lstStyle/>
          <a:p>
            <a:pPr marL="8659">
              <a:spcBef>
                <a:spcPts val="72"/>
              </a:spcBef>
            </a:pPr>
            <a:r>
              <a:rPr lang="en-GB" sz="2400" spc="-14" dirty="0" err="1">
                <a:solidFill>
                  <a:srgbClr val="080912"/>
                </a:solidFill>
                <a:latin typeface="Arial MT"/>
                <a:cs typeface="Arial MT"/>
              </a:rPr>
              <a:t>Softmax</a:t>
            </a:r>
            <a:r>
              <a:rPr lang="en-GB" sz="2400" spc="-10" dirty="0">
                <a:solidFill>
                  <a:srgbClr val="080912"/>
                </a:solidFill>
                <a:latin typeface="Arial MT"/>
                <a:cs typeface="Arial MT"/>
              </a:rPr>
              <a:t> </a:t>
            </a:r>
            <a:r>
              <a:rPr lang="en-GB" sz="2400" spc="-14" dirty="0">
                <a:solidFill>
                  <a:srgbClr val="080912"/>
                </a:solidFill>
                <a:latin typeface="Arial MT"/>
                <a:cs typeface="Arial MT"/>
              </a:rPr>
              <a:t>function</a:t>
            </a:r>
            <a:r>
              <a:rPr lang="en-GB" sz="2400" spc="-17" dirty="0">
                <a:solidFill>
                  <a:srgbClr val="080912"/>
                </a:solidFill>
                <a:latin typeface="Arial MT"/>
                <a:cs typeface="Arial MT"/>
              </a:rPr>
              <a:t> </a:t>
            </a:r>
            <a:r>
              <a:rPr lang="en-GB" sz="2400" spc="-10" dirty="0">
                <a:solidFill>
                  <a:srgbClr val="080912"/>
                </a:solidFill>
                <a:latin typeface="Arial MT"/>
                <a:cs typeface="Arial MT"/>
              </a:rPr>
              <a:t>is</a:t>
            </a:r>
            <a:r>
              <a:rPr lang="en-GB" sz="2400" spc="-20" dirty="0">
                <a:solidFill>
                  <a:srgbClr val="080912"/>
                </a:solidFill>
                <a:latin typeface="Arial MT"/>
                <a:cs typeface="Arial MT"/>
              </a:rPr>
              <a:t> </a:t>
            </a:r>
            <a:r>
              <a:rPr lang="en-GB" sz="2400" spc="-14" dirty="0">
                <a:solidFill>
                  <a:srgbClr val="080912"/>
                </a:solidFill>
                <a:latin typeface="Arial MT"/>
                <a:cs typeface="Arial MT"/>
              </a:rPr>
              <a:t>described </a:t>
            </a:r>
            <a:r>
              <a:rPr lang="en-GB" sz="2400" spc="-7" dirty="0">
                <a:solidFill>
                  <a:srgbClr val="080912"/>
                </a:solidFill>
                <a:latin typeface="Arial MT"/>
                <a:cs typeface="Arial MT"/>
              </a:rPr>
              <a:t>as</a:t>
            </a:r>
            <a:r>
              <a:rPr lang="en-GB" sz="2400" spc="-20" dirty="0">
                <a:solidFill>
                  <a:srgbClr val="080912"/>
                </a:solidFill>
                <a:latin typeface="Arial MT"/>
                <a:cs typeface="Arial MT"/>
              </a:rPr>
              <a:t> </a:t>
            </a:r>
            <a:r>
              <a:rPr lang="en-GB" sz="2400" dirty="0">
                <a:solidFill>
                  <a:srgbClr val="080912"/>
                </a:solidFill>
                <a:latin typeface="Arial MT"/>
                <a:cs typeface="Arial MT"/>
              </a:rPr>
              <a:t>a</a:t>
            </a:r>
            <a:r>
              <a:rPr lang="en-GB" sz="2400" spc="-24" dirty="0">
                <a:solidFill>
                  <a:srgbClr val="080912"/>
                </a:solidFill>
                <a:latin typeface="Arial MT"/>
                <a:cs typeface="Arial MT"/>
              </a:rPr>
              <a:t> </a:t>
            </a:r>
            <a:r>
              <a:rPr lang="en-GB" sz="2400" spc="-10" dirty="0">
                <a:solidFill>
                  <a:srgbClr val="080912"/>
                </a:solidFill>
                <a:latin typeface="Arial MT"/>
                <a:cs typeface="Arial MT"/>
              </a:rPr>
              <a:t>combination</a:t>
            </a:r>
            <a:r>
              <a:rPr lang="en-GB" sz="2400" spc="-24" dirty="0">
                <a:solidFill>
                  <a:srgbClr val="080912"/>
                </a:solidFill>
                <a:latin typeface="Arial MT"/>
                <a:cs typeface="Arial MT"/>
              </a:rPr>
              <a:t> </a:t>
            </a:r>
            <a:r>
              <a:rPr lang="en-GB" sz="2400" spc="-7" dirty="0">
                <a:solidFill>
                  <a:srgbClr val="080912"/>
                </a:solidFill>
                <a:latin typeface="Arial MT"/>
                <a:cs typeface="Arial MT"/>
              </a:rPr>
              <a:t>of</a:t>
            </a:r>
            <a:r>
              <a:rPr lang="en-GB" sz="2400" spc="-17" dirty="0">
                <a:solidFill>
                  <a:srgbClr val="080912"/>
                </a:solidFill>
                <a:latin typeface="Arial MT"/>
                <a:cs typeface="Arial MT"/>
              </a:rPr>
              <a:t> </a:t>
            </a:r>
            <a:r>
              <a:rPr lang="en-GB" sz="2400" spc="-10" dirty="0">
                <a:solidFill>
                  <a:srgbClr val="080912"/>
                </a:solidFill>
                <a:latin typeface="Arial MT"/>
                <a:cs typeface="Arial MT"/>
              </a:rPr>
              <a:t>multiple</a:t>
            </a:r>
            <a:r>
              <a:rPr lang="en-GB" sz="2400" spc="-24" dirty="0">
                <a:solidFill>
                  <a:srgbClr val="080912"/>
                </a:solidFill>
                <a:latin typeface="Arial MT"/>
                <a:cs typeface="Arial MT"/>
              </a:rPr>
              <a:t> </a:t>
            </a:r>
            <a:r>
              <a:rPr lang="en-GB" sz="2400" spc="-10" dirty="0" err="1">
                <a:solidFill>
                  <a:srgbClr val="080912"/>
                </a:solidFill>
                <a:latin typeface="Arial MT"/>
                <a:cs typeface="Arial MT"/>
              </a:rPr>
              <a:t>sigmoids</a:t>
            </a:r>
            <a:r>
              <a:rPr lang="en-GB" sz="2400" spc="-10" dirty="0">
                <a:solidFill>
                  <a:srgbClr val="080912"/>
                </a:solidFill>
                <a:latin typeface="Arial MT"/>
                <a:cs typeface="Arial MT"/>
              </a:rPr>
              <a:t>.</a:t>
            </a:r>
            <a:endParaRPr lang="en-GB" sz="2400" dirty="0">
              <a:latin typeface="Arial MT"/>
              <a:cs typeface="Arial MT"/>
            </a:endParaRPr>
          </a:p>
          <a:p>
            <a:pPr marL="8659" marR="3464">
              <a:lnSpc>
                <a:spcPct val="143700"/>
              </a:lnSpc>
              <a:spcBef>
                <a:spcPts val="409"/>
              </a:spcBef>
            </a:pPr>
            <a:r>
              <a:rPr lang="en-GB" sz="2400" spc="-7" dirty="0">
                <a:solidFill>
                  <a:srgbClr val="080912"/>
                </a:solidFill>
                <a:latin typeface="Arial MT"/>
                <a:cs typeface="Arial MT"/>
              </a:rPr>
              <a:t>It</a:t>
            </a:r>
            <a:r>
              <a:rPr lang="en-GB" sz="2400" spc="95" dirty="0">
                <a:solidFill>
                  <a:srgbClr val="080912"/>
                </a:solidFill>
                <a:latin typeface="Arial MT"/>
                <a:cs typeface="Arial MT"/>
              </a:rPr>
              <a:t> </a:t>
            </a:r>
            <a:r>
              <a:rPr lang="en-GB" sz="2400" spc="-10" dirty="0">
                <a:solidFill>
                  <a:srgbClr val="080912"/>
                </a:solidFill>
                <a:latin typeface="Arial MT"/>
                <a:cs typeface="Arial MT"/>
              </a:rPr>
              <a:t>calculates</a:t>
            </a:r>
            <a:r>
              <a:rPr lang="en-GB" sz="2400" spc="99" dirty="0">
                <a:solidFill>
                  <a:srgbClr val="080912"/>
                </a:solidFill>
                <a:latin typeface="Arial MT"/>
                <a:cs typeface="Arial MT"/>
              </a:rPr>
              <a:t> </a:t>
            </a:r>
            <a:r>
              <a:rPr lang="en-GB" sz="2400" spc="-10" dirty="0">
                <a:solidFill>
                  <a:srgbClr val="080912"/>
                </a:solidFill>
                <a:latin typeface="Arial MT"/>
                <a:cs typeface="Arial MT"/>
              </a:rPr>
              <a:t>the</a:t>
            </a:r>
            <a:r>
              <a:rPr lang="en-GB" sz="2400" spc="99" dirty="0">
                <a:solidFill>
                  <a:srgbClr val="080912"/>
                </a:solidFill>
                <a:latin typeface="Arial MT"/>
                <a:cs typeface="Arial MT"/>
              </a:rPr>
              <a:t> </a:t>
            </a:r>
            <a:r>
              <a:rPr lang="en-GB" sz="2400" spc="-10" dirty="0">
                <a:solidFill>
                  <a:srgbClr val="080912"/>
                </a:solidFill>
                <a:latin typeface="Arial MT"/>
                <a:cs typeface="Arial MT"/>
              </a:rPr>
              <a:t>relative</a:t>
            </a:r>
            <a:r>
              <a:rPr lang="en-GB" sz="2400" spc="99" dirty="0">
                <a:solidFill>
                  <a:srgbClr val="080912"/>
                </a:solidFill>
                <a:latin typeface="Arial MT"/>
                <a:cs typeface="Arial MT"/>
              </a:rPr>
              <a:t> </a:t>
            </a:r>
            <a:r>
              <a:rPr lang="en-GB" sz="2400" spc="-14" dirty="0">
                <a:solidFill>
                  <a:srgbClr val="080912"/>
                </a:solidFill>
                <a:latin typeface="Arial MT"/>
                <a:cs typeface="Arial MT"/>
              </a:rPr>
              <a:t>probabilities.</a:t>
            </a:r>
            <a:r>
              <a:rPr lang="en-GB" sz="2400" spc="95" dirty="0">
                <a:solidFill>
                  <a:srgbClr val="080912"/>
                </a:solidFill>
                <a:latin typeface="Arial MT"/>
                <a:cs typeface="Arial MT"/>
              </a:rPr>
              <a:t> </a:t>
            </a:r>
          </a:p>
          <a:p>
            <a:pPr marL="8659" marR="3464">
              <a:lnSpc>
                <a:spcPct val="143700"/>
              </a:lnSpc>
              <a:spcBef>
                <a:spcPts val="409"/>
              </a:spcBef>
            </a:pPr>
            <a:r>
              <a:rPr lang="en-GB" sz="2400" spc="-10" dirty="0">
                <a:solidFill>
                  <a:srgbClr val="080912"/>
                </a:solidFill>
                <a:latin typeface="Arial MT"/>
                <a:cs typeface="Arial MT"/>
              </a:rPr>
              <a:t>Similar</a:t>
            </a:r>
            <a:r>
              <a:rPr lang="en-GB" sz="2400" spc="99" dirty="0">
                <a:solidFill>
                  <a:srgbClr val="080912"/>
                </a:solidFill>
                <a:latin typeface="Arial MT"/>
                <a:cs typeface="Arial MT"/>
              </a:rPr>
              <a:t> </a:t>
            </a:r>
            <a:r>
              <a:rPr lang="en-GB" sz="2400" spc="-7" dirty="0">
                <a:solidFill>
                  <a:srgbClr val="080912"/>
                </a:solidFill>
                <a:latin typeface="Arial MT"/>
                <a:cs typeface="Arial MT"/>
              </a:rPr>
              <a:t>to</a:t>
            </a:r>
            <a:r>
              <a:rPr lang="en-GB" sz="2400" spc="95" dirty="0">
                <a:solidFill>
                  <a:srgbClr val="080912"/>
                </a:solidFill>
                <a:latin typeface="Arial MT"/>
                <a:cs typeface="Arial MT"/>
              </a:rPr>
              <a:t> </a:t>
            </a:r>
            <a:r>
              <a:rPr lang="en-GB" sz="2400" spc="-10" dirty="0">
                <a:solidFill>
                  <a:srgbClr val="080912"/>
                </a:solidFill>
                <a:latin typeface="Arial MT"/>
                <a:cs typeface="Arial MT"/>
              </a:rPr>
              <a:t>the</a:t>
            </a:r>
            <a:r>
              <a:rPr lang="en-GB" sz="2400" spc="99" dirty="0">
                <a:solidFill>
                  <a:srgbClr val="080912"/>
                </a:solidFill>
                <a:latin typeface="Arial MT"/>
                <a:cs typeface="Arial MT"/>
              </a:rPr>
              <a:t> </a:t>
            </a:r>
            <a:r>
              <a:rPr lang="en-GB" sz="2400" spc="-14" dirty="0">
                <a:solidFill>
                  <a:srgbClr val="080912"/>
                </a:solidFill>
                <a:latin typeface="Arial MT"/>
                <a:cs typeface="Arial MT"/>
              </a:rPr>
              <a:t>sigmoid/logistic</a:t>
            </a:r>
            <a:r>
              <a:rPr lang="en-GB" sz="2400" spc="95" dirty="0">
                <a:solidFill>
                  <a:srgbClr val="080912"/>
                </a:solidFill>
                <a:latin typeface="Arial MT"/>
                <a:cs typeface="Arial MT"/>
              </a:rPr>
              <a:t> </a:t>
            </a:r>
            <a:r>
              <a:rPr lang="en-GB" sz="2400" spc="-14" dirty="0">
                <a:solidFill>
                  <a:srgbClr val="080912"/>
                </a:solidFill>
                <a:latin typeface="Arial MT"/>
                <a:cs typeface="Arial MT"/>
              </a:rPr>
              <a:t>activation</a:t>
            </a:r>
            <a:r>
              <a:rPr lang="en-GB" sz="2400" spc="106" dirty="0">
                <a:solidFill>
                  <a:srgbClr val="080912"/>
                </a:solidFill>
                <a:latin typeface="Arial MT"/>
                <a:cs typeface="Arial MT"/>
              </a:rPr>
              <a:t> </a:t>
            </a:r>
            <a:r>
              <a:rPr lang="en-GB" sz="2400" spc="-10" dirty="0">
                <a:solidFill>
                  <a:srgbClr val="080912"/>
                </a:solidFill>
                <a:latin typeface="Arial MT"/>
                <a:cs typeface="Arial MT"/>
              </a:rPr>
              <a:t>function,</a:t>
            </a:r>
            <a:r>
              <a:rPr lang="en-GB" sz="2400" spc="99" dirty="0">
                <a:solidFill>
                  <a:srgbClr val="080912"/>
                </a:solidFill>
                <a:latin typeface="Arial MT"/>
                <a:cs typeface="Arial MT"/>
              </a:rPr>
              <a:t> </a:t>
            </a:r>
            <a:r>
              <a:rPr lang="en-GB" sz="2400" spc="-14" dirty="0">
                <a:solidFill>
                  <a:srgbClr val="080912"/>
                </a:solidFill>
                <a:latin typeface="Arial MT"/>
                <a:cs typeface="Arial MT"/>
              </a:rPr>
              <a:t>the </a:t>
            </a:r>
            <a:r>
              <a:rPr lang="en-GB" sz="2400" spc="-245" dirty="0">
                <a:solidFill>
                  <a:srgbClr val="080912"/>
                </a:solidFill>
                <a:latin typeface="Arial MT"/>
                <a:cs typeface="Arial MT"/>
              </a:rPr>
              <a:t> </a:t>
            </a:r>
            <a:r>
              <a:rPr lang="en-GB" sz="2400" spc="-10" dirty="0">
                <a:solidFill>
                  <a:srgbClr val="080912"/>
                </a:solidFill>
                <a:latin typeface="Arial MT"/>
                <a:cs typeface="Arial MT"/>
              </a:rPr>
              <a:t>SoftMax</a:t>
            </a:r>
            <a:r>
              <a:rPr lang="en-GB" sz="2400" spc="-1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7" dirty="0">
                <a:solidFill>
                  <a:srgbClr val="080912"/>
                </a:solidFill>
                <a:latin typeface="Arial MT"/>
                <a:cs typeface="Arial MT"/>
              </a:rPr>
              <a:t> </a:t>
            </a:r>
            <a:r>
              <a:rPr lang="en-GB" sz="2400" spc="-10" dirty="0">
                <a:solidFill>
                  <a:srgbClr val="080912"/>
                </a:solidFill>
                <a:latin typeface="Arial MT"/>
                <a:cs typeface="Arial MT"/>
              </a:rPr>
              <a:t>returns</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probability</a:t>
            </a:r>
            <a:r>
              <a:rPr lang="en-GB" sz="2400" spc="-24" dirty="0">
                <a:solidFill>
                  <a:srgbClr val="080912"/>
                </a:solidFill>
                <a:latin typeface="Arial MT"/>
                <a:cs typeface="Arial MT"/>
              </a:rPr>
              <a:t> </a:t>
            </a:r>
            <a:r>
              <a:rPr lang="en-GB" sz="2400" spc="-7" dirty="0">
                <a:solidFill>
                  <a:srgbClr val="080912"/>
                </a:solidFill>
                <a:latin typeface="Arial MT"/>
                <a:cs typeface="Arial MT"/>
              </a:rPr>
              <a:t>of</a:t>
            </a:r>
            <a:r>
              <a:rPr lang="en-GB" sz="2400" spc="-24" dirty="0">
                <a:solidFill>
                  <a:srgbClr val="080912"/>
                </a:solidFill>
                <a:latin typeface="Arial MT"/>
                <a:cs typeface="Arial MT"/>
              </a:rPr>
              <a:t> </a:t>
            </a:r>
            <a:r>
              <a:rPr lang="en-GB" sz="2400" spc="-10" dirty="0">
                <a:solidFill>
                  <a:srgbClr val="080912"/>
                </a:solidFill>
                <a:latin typeface="Arial MT"/>
                <a:cs typeface="Arial MT"/>
              </a:rPr>
              <a:t>each</a:t>
            </a:r>
            <a:r>
              <a:rPr lang="en-GB" sz="2400" spc="-27" dirty="0">
                <a:solidFill>
                  <a:srgbClr val="080912"/>
                </a:solidFill>
                <a:latin typeface="Arial MT"/>
                <a:cs typeface="Arial MT"/>
              </a:rPr>
              <a:t> </a:t>
            </a:r>
            <a:r>
              <a:rPr lang="en-GB" sz="2400" spc="-10" dirty="0">
                <a:solidFill>
                  <a:srgbClr val="080912"/>
                </a:solidFill>
                <a:latin typeface="Arial MT"/>
                <a:cs typeface="Arial MT"/>
              </a:rPr>
              <a:t>class.</a:t>
            </a:r>
            <a:endParaRPr lang="en-GB" sz="2400" dirty="0">
              <a:latin typeface="Arial MT"/>
              <a:cs typeface="Arial MT"/>
            </a:endParaRPr>
          </a:p>
          <a:p>
            <a:pPr marL="8659" marR="3464">
              <a:lnSpc>
                <a:spcPct val="143700"/>
              </a:lnSpc>
              <a:spcBef>
                <a:spcPts val="402"/>
              </a:spcBef>
            </a:pPr>
            <a:r>
              <a:rPr lang="en-GB" sz="2400" spc="-7" dirty="0">
                <a:solidFill>
                  <a:srgbClr val="080912"/>
                </a:solidFill>
                <a:latin typeface="Arial MT"/>
                <a:cs typeface="Arial MT"/>
              </a:rPr>
              <a:t>It</a:t>
            </a:r>
            <a:r>
              <a:rPr lang="en-GB" sz="2400" spc="20" dirty="0">
                <a:solidFill>
                  <a:srgbClr val="080912"/>
                </a:solidFill>
                <a:latin typeface="Arial MT"/>
                <a:cs typeface="Arial MT"/>
              </a:rPr>
              <a:t> </a:t>
            </a:r>
            <a:r>
              <a:rPr lang="en-GB" sz="2400" spc="-10" dirty="0">
                <a:solidFill>
                  <a:srgbClr val="080912"/>
                </a:solidFill>
                <a:latin typeface="Arial MT"/>
                <a:cs typeface="Arial MT"/>
              </a:rPr>
              <a:t>is</a:t>
            </a:r>
            <a:r>
              <a:rPr lang="en-GB" sz="2400" spc="20" dirty="0">
                <a:solidFill>
                  <a:srgbClr val="080912"/>
                </a:solidFill>
                <a:latin typeface="Arial MT"/>
                <a:cs typeface="Arial MT"/>
              </a:rPr>
              <a:t> </a:t>
            </a:r>
            <a:r>
              <a:rPr lang="en-GB" sz="2400" spc="-7" dirty="0">
                <a:solidFill>
                  <a:srgbClr val="080912"/>
                </a:solidFill>
                <a:latin typeface="Arial MT"/>
                <a:cs typeface="Arial MT"/>
              </a:rPr>
              <a:t>most</a:t>
            </a:r>
            <a:r>
              <a:rPr lang="en-GB" sz="2400" spc="3" dirty="0">
                <a:solidFill>
                  <a:srgbClr val="080912"/>
                </a:solidFill>
                <a:latin typeface="Arial MT"/>
                <a:cs typeface="Arial MT"/>
              </a:rPr>
              <a:t> </a:t>
            </a:r>
            <a:r>
              <a:rPr lang="en-GB" sz="2400" spc="-10" dirty="0">
                <a:solidFill>
                  <a:srgbClr val="080912"/>
                </a:solidFill>
                <a:latin typeface="Arial MT"/>
                <a:cs typeface="Arial MT"/>
              </a:rPr>
              <a:t>commonly</a:t>
            </a:r>
            <a:r>
              <a:rPr lang="en-GB" sz="2400" spc="24" dirty="0">
                <a:solidFill>
                  <a:srgbClr val="080912"/>
                </a:solidFill>
                <a:latin typeface="Arial MT"/>
                <a:cs typeface="Arial MT"/>
              </a:rPr>
              <a:t> </a:t>
            </a:r>
            <a:r>
              <a:rPr lang="en-GB" sz="2400" spc="-10" dirty="0">
                <a:solidFill>
                  <a:srgbClr val="080912"/>
                </a:solidFill>
                <a:latin typeface="Arial MT"/>
                <a:cs typeface="Arial MT"/>
              </a:rPr>
              <a:t>used</a:t>
            </a:r>
            <a:r>
              <a:rPr lang="en-GB" sz="2400" spc="17" dirty="0">
                <a:solidFill>
                  <a:srgbClr val="080912"/>
                </a:solidFill>
                <a:latin typeface="Arial MT"/>
                <a:cs typeface="Arial MT"/>
              </a:rPr>
              <a:t> </a:t>
            </a:r>
            <a:r>
              <a:rPr lang="en-GB" sz="2400" spc="-7" dirty="0">
                <a:solidFill>
                  <a:srgbClr val="080912"/>
                </a:solidFill>
                <a:latin typeface="Arial MT"/>
                <a:cs typeface="Arial MT"/>
              </a:rPr>
              <a:t>as</a:t>
            </a:r>
            <a:r>
              <a:rPr lang="en-GB" sz="2400" spc="20" dirty="0">
                <a:solidFill>
                  <a:srgbClr val="080912"/>
                </a:solidFill>
                <a:latin typeface="Arial MT"/>
                <a:cs typeface="Arial MT"/>
              </a:rPr>
              <a:t> </a:t>
            </a:r>
            <a:r>
              <a:rPr lang="en-GB" sz="2400" spc="-7" dirty="0">
                <a:solidFill>
                  <a:srgbClr val="080912"/>
                </a:solidFill>
                <a:latin typeface="Arial MT"/>
                <a:cs typeface="Arial MT"/>
              </a:rPr>
              <a:t>an</a:t>
            </a:r>
            <a:r>
              <a:rPr lang="en-GB" sz="2400" spc="17" dirty="0">
                <a:solidFill>
                  <a:srgbClr val="080912"/>
                </a:solidFill>
                <a:latin typeface="Arial MT"/>
                <a:cs typeface="Arial MT"/>
              </a:rPr>
              <a:t> </a:t>
            </a:r>
            <a:r>
              <a:rPr lang="en-GB" sz="2400" spc="-14" dirty="0">
                <a:solidFill>
                  <a:srgbClr val="080912"/>
                </a:solidFill>
                <a:latin typeface="Arial MT"/>
                <a:cs typeface="Arial MT"/>
              </a:rPr>
              <a:t>activation</a:t>
            </a:r>
            <a:r>
              <a:rPr lang="en-GB" sz="2400" spc="2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4" dirty="0">
                <a:solidFill>
                  <a:srgbClr val="080912"/>
                </a:solidFill>
                <a:latin typeface="Arial MT"/>
                <a:cs typeface="Arial MT"/>
              </a:rPr>
              <a:t>for</a:t>
            </a:r>
            <a:r>
              <a:rPr lang="en-GB" sz="2400" spc="27" dirty="0">
                <a:solidFill>
                  <a:srgbClr val="080912"/>
                </a:solidFill>
                <a:latin typeface="Arial MT"/>
                <a:cs typeface="Arial MT"/>
              </a:rPr>
              <a:t> </a:t>
            </a:r>
            <a:r>
              <a:rPr lang="en-GB" sz="2400" spc="-14" dirty="0">
                <a:solidFill>
                  <a:srgbClr val="080912"/>
                </a:solidFill>
                <a:latin typeface="Arial MT"/>
                <a:cs typeface="Arial MT"/>
              </a:rPr>
              <a:t>the</a:t>
            </a:r>
            <a:r>
              <a:rPr lang="en-GB" sz="2400" spc="27" dirty="0">
                <a:solidFill>
                  <a:srgbClr val="080912"/>
                </a:solidFill>
                <a:latin typeface="Arial MT"/>
                <a:cs typeface="Arial MT"/>
              </a:rPr>
              <a:t> </a:t>
            </a:r>
            <a:r>
              <a:rPr lang="en-GB" sz="2400" spc="-14" dirty="0">
                <a:solidFill>
                  <a:srgbClr val="080912"/>
                </a:solidFill>
                <a:latin typeface="Arial MT"/>
                <a:cs typeface="Arial MT"/>
              </a:rPr>
              <a:t>last</a:t>
            </a:r>
            <a:r>
              <a:rPr lang="en-GB" sz="2400" spc="20" dirty="0">
                <a:solidFill>
                  <a:srgbClr val="080912"/>
                </a:solidFill>
                <a:latin typeface="Arial MT"/>
                <a:cs typeface="Arial MT"/>
              </a:rPr>
              <a:t> </a:t>
            </a:r>
            <a:r>
              <a:rPr lang="en-GB" sz="2400" spc="-10" dirty="0">
                <a:solidFill>
                  <a:srgbClr val="080912"/>
                </a:solidFill>
                <a:latin typeface="Arial MT"/>
                <a:cs typeface="Arial MT"/>
              </a:rPr>
              <a:t>layer</a:t>
            </a:r>
            <a:r>
              <a:rPr lang="en-GB" sz="2400" spc="17" dirty="0">
                <a:solidFill>
                  <a:srgbClr val="080912"/>
                </a:solidFill>
                <a:latin typeface="Arial MT"/>
                <a:cs typeface="Arial MT"/>
              </a:rPr>
              <a:t> </a:t>
            </a:r>
            <a:r>
              <a:rPr lang="en-GB" sz="2400" spc="-3" dirty="0">
                <a:solidFill>
                  <a:srgbClr val="080912"/>
                </a:solidFill>
                <a:latin typeface="Arial MT"/>
                <a:cs typeface="Arial MT"/>
              </a:rPr>
              <a:t>of</a:t>
            </a:r>
            <a:r>
              <a:rPr lang="en-GB" sz="2400" spc="20" dirty="0">
                <a:solidFill>
                  <a:srgbClr val="080912"/>
                </a:solidFill>
                <a:latin typeface="Arial MT"/>
                <a:cs typeface="Arial MT"/>
              </a:rPr>
              <a:t> </a:t>
            </a:r>
            <a:r>
              <a:rPr lang="en-GB" sz="2400" spc="-14"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neural</a:t>
            </a:r>
            <a:r>
              <a:rPr lang="en-GB" sz="2400" spc="14" dirty="0">
                <a:solidFill>
                  <a:srgbClr val="080912"/>
                </a:solidFill>
                <a:latin typeface="Arial MT"/>
                <a:cs typeface="Arial MT"/>
              </a:rPr>
              <a:t> </a:t>
            </a:r>
            <a:r>
              <a:rPr lang="en-GB" sz="2400" spc="-10" dirty="0">
                <a:solidFill>
                  <a:srgbClr val="080912"/>
                </a:solidFill>
                <a:latin typeface="Arial MT"/>
                <a:cs typeface="Arial MT"/>
              </a:rPr>
              <a:t>network</a:t>
            </a:r>
            <a:r>
              <a:rPr lang="en-GB" sz="2400" spc="27" dirty="0">
                <a:solidFill>
                  <a:srgbClr val="080912"/>
                </a:solidFill>
                <a:latin typeface="Arial MT"/>
                <a:cs typeface="Arial MT"/>
              </a:rPr>
              <a:t> </a:t>
            </a:r>
            <a:r>
              <a:rPr lang="en-GB" sz="2400" spc="-14" dirty="0">
                <a:solidFill>
                  <a:srgbClr val="080912"/>
                </a:solidFill>
                <a:latin typeface="Arial MT"/>
                <a:cs typeface="Arial MT"/>
              </a:rPr>
              <a:t>in </a:t>
            </a:r>
            <a:r>
              <a:rPr lang="en-GB" sz="2400" spc="-245" dirty="0">
                <a:solidFill>
                  <a:srgbClr val="080912"/>
                </a:solidFill>
                <a:latin typeface="Arial MT"/>
                <a:cs typeface="Arial MT"/>
              </a:rPr>
              <a:t> </a:t>
            </a:r>
            <a:r>
              <a:rPr lang="en-GB" sz="2400" spc="-7" dirty="0">
                <a:solidFill>
                  <a:srgbClr val="080912"/>
                </a:solidFill>
                <a:latin typeface="Arial MT"/>
                <a:cs typeface="Arial MT"/>
              </a:rPr>
              <a:t>the</a:t>
            </a:r>
            <a:r>
              <a:rPr lang="en-GB" sz="2400" spc="-31" dirty="0">
                <a:solidFill>
                  <a:srgbClr val="080912"/>
                </a:solidFill>
                <a:latin typeface="Arial MT"/>
                <a:cs typeface="Arial MT"/>
              </a:rPr>
              <a:t> </a:t>
            </a:r>
            <a:r>
              <a:rPr lang="en-GB" sz="2400" spc="-10" dirty="0">
                <a:solidFill>
                  <a:srgbClr val="080912"/>
                </a:solidFill>
                <a:latin typeface="Arial MT"/>
                <a:cs typeface="Arial MT"/>
              </a:rPr>
              <a:t>case</a:t>
            </a:r>
            <a:r>
              <a:rPr lang="en-GB" sz="2400" spc="-20" dirty="0">
                <a:solidFill>
                  <a:srgbClr val="080912"/>
                </a:solidFill>
                <a:latin typeface="Arial MT"/>
                <a:cs typeface="Arial MT"/>
              </a:rPr>
              <a:t> </a:t>
            </a:r>
            <a:r>
              <a:rPr lang="en-GB" sz="2400" spc="-3" dirty="0">
                <a:solidFill>
                  <a:srgbClr val="080912"/>
                </a:solidFill>
                <a:latin typeface="Arial MT"/>
                <a:cs typeface="Arial MT"/>
              </a:rPr>
              <a:t>of</a:t>
            </a:r>
            <a:r>
              <a:rPr lang="en-GB" sz="2400" spc="-31" dirty="0">
                <a:solidFill>
                  <a:srgbClr val="080912"/>
                </a:solidFill>
                <a:latin typeface="Arial MT"/>
                <a:cs typeface="Arial MT"/>
              </a:rPr>
              <a:t> </a:t>
            </a:r>
            <a:r>
              <a:rPr lang="en-GB" sz="2400" spc="-14" dirty="0">
                <a:solidFill>
                  <a:srgbClr val="080912"/>
                </a:solidFill>
                <a:latin typeface="Arial MT"/>
                <a:cs typeface="Arial MT"/>
              </a:rPr>
              <a:t>multi-class</a:t>
            </a:r>
            <a:r>
              <a:rPr lang="en-GB" sz="2400" spc="-24" dirty="0">
                <a:solidFill>
                  <a:srgbClr val="080912"/>
                </a:solidFill>
                <a:latin typeface="Arial MT"/>
                <a:cs typeface="Arial MT"/>
              </a:rPr>
              <a:t> </a:t>
            </a:r>
            <a:r>
              <a:rPr lang="en-GB" sz="2400" spc="-10" dirty="0">
                <a:solidFill>
                  <a:srgbClr val="080912"/>
                </a:solidFill>
                <a:latin typeface="Arial MT"/>
                <a:cs typeface="Arial MT"/>
              </a:rPr>
              <a:t>classification.</a:t>
            </a:r>
            <a:endParaRPr lang="en-GB" sz="2400" dirty="0">
              <a:latin typeface="Arial MT"/>
              <a:cs typeface="Arial MT"/>
            </a:endParaRPr>
          </a:p>
          <a:p>
            <a:pPr marL="8659" algn="just">
              <a:spcBef>
                <a:spcPts val="72"/>
              </a:spcBef>
            </a:pPr>
            <a:endParaRPr lang="en-GB" sz="2400" spc="-10" dirty="0">
              <a:solidFill>
                <a:srgbClr val="080912"/>
              </a:solidFill>
              <a:latin typeface="Arial MT"/>
              <a:cs typeface="Arial MT"/>
            </a:endParaRPr>
          </a:p>
          <a:p>
            <a:pPr marL="8659" marR="3464" algn="just">
              <a:lnSpc>
                <a:spcPct val="143900"/>
              </a:lnSpc>
              <a:spcBef>
                <a:spcPts val="399"/>
              </a:spcBef>
            </a:pPr>
            <a:r>
              <a:rPr lang="en-GB" sz="2400" spc="-10" dirty="0">
                <a:solidFill>
                  <a:srgbClr val="080912"/>
                </a:solidFill>
                <a:latin typeface="Arial MT"/>
                <a:cs typeface="Arial MT"/>
              </a:rPr>
              <a:t>Assume</a:t>
            </a:r>
            <a:r>
              <a:rPr lang="en-GB" sz="2400" spc="-48" dirty="0">
                <a:solidFill>
                  <a:srgbClr val="080912"/>
                </a:solidFill>
                <a:latin typeface="Arial MT"/>
                <a:cs typeface="Arial MT"/>
              </a:rPr>
              <a:t> </a:t>
            </a:r>
            <a:r>
              <a:rPr lang="en-GB" sz="2400" spc="-10" dirty="0">
                <a:solidFill>
                  <a:srgbClr val="080912"/>
                </a:solidFill>
                <a:latin typeface="Arial MT"/>
                <a:cs typeface="Arial MT"/>
              </a:rPr>
              <a:t>that</a:t>
            </a:r>
            <a:r>
              <a:rPr lang="en-GB" sz="2400" spc="-51" dirty="0">
                <a:solidFill>
                  <a:srgbClr val="080912"/>
                </a:solidFill>
                <a:latin typeface="Arial MT"/>
                <a:cs typeface="Arial MT"/>
              </a:rPr>
              <a:t> </a:t>
            </a:r>
            <a:r>
              <a:rPr lang="en-GB" sz="2400" spc="-10" dirty="0">
                <a:solidFill>
                  <a:srgbClr val="080912"/>
                </a:solidFill>
                <a:latin typeface="Arial MT"/>
                <a:cs typeface="Arial MT"/>
              </a:rPr>
              <a:t>you</a:t>
            </a:r>
            <a:r>
              <a:rPr lang="en-GB" sz="2400" spc="-44" dirty="0">
                <a:solidFill>
                  <a:srgbClr val="080912"/>
                </a:solidFill>
                <a:latin typeface="Arial MT"/>
                <a:cs typeface="Arial MT"/>
              </a:rPr>
              <a:t> </a:t>
            </a:r>
            <a:r>
              <a:rPr lang="en-GB" sz="2400" spc="-10" dirty="0">
                <a:solidFill>
                  <a:srgbClr val="080912"/>
                </a:solidFill>
                <a:latin typeface="Arial MT"/>
                <a:cs typeface="Arial MT"/>
              </a:rPr>
              <a:t>have</a:t>
            </a:r>
            <a:r>
              <a:rPr lang="en-GB" sz="2400" spc="-37" dirty="0">
                <a:solidFill>
                  <a:srgbClr val="080912"/>
                </a:solidFill>
                <a:latin typeface="Arial MT"/>
                <a:cs typeface="Arial MT"/>
              </a:rPr>
              <a:t> </a:t>
            </a:r>
            <a:r>
              <a:rPr lang="en-GB" sz="2400" spc="-14" dirty="0">
                <a:solidFill>
                  <a:srgbClr val="080912"/>
                </a:solidFill>
                <a:latin typeface="Arial MT"/>
                <a:cs typeface="Arial MT"/>
              </a:rPr>
              <a:t>three</a:t>
            </a:r>
            <a:r>
              <a:rPr lang="en-GB" sz="2400" spc="-44" dirty="0">
                <a:solidFill>
                  <a:srgbClr val="080912"/>
                </a:solidFill>
                <a:latin typeface="Arial MT"/>
                <a:cs typeface="Arial MT"/>
              </a:rPr>
              <a:t> </a:t>
            </a:r>
            <a:r>
              <a:rPr lang="en-GB" sz="2400" spc="-10" dirty="0">
                <a:solidFill>
                  <a:srgbClr val="080912"/>
                </a:solidFill>
                <a:latin typeface="Arial MT"/>
                <a:cs typeface="Arial MT"/>
              </a:rPr>
              <a:t>classes,</a:t>
            </a:r>
            <a:r>
              <a:rPr lang="en-GB" sz="2400" spc="-51" dirty="0">
                <a:solidFill>
                  <a:srgbClr val="080912"/>
                </a:solidFill>
                <a:latin typeface="Arial MT"/>
                <a:cs typeface="Arial MT"/>
              </a:rPr>
              <a:t> </a:t>
            </a:r>
            <a:r>
              <a:rPr lang="en-GB" sz="2400" spc="-10" dirty="0">
                <a:solidFill>
                  <a:srgbClr val="080912"/>
                </a:solidFill>
                <a:latin typeface="Arial MT"/>
                <a:cs typeface="Arial MT"/>
              </a:rPr>
              <a:t>meaning</a:t>
            </a:r>
            <a:r>
              <a:rPr lang="en-GB" sz="2400" spc="-44" dirty="0">
                <a:solidFill>
                  <a:srgbClr val="080912"/>
                </a:solidFill>
                <a:latin typeface="Arial MT"/>
                <a:cs typeface="Arial MT"/>
              </a:rPr>
              <a:t> </a:t>
            </a:r>
            <a:r>
              <a:rPr lang="en-GB" sz="2400" spc="-10" dirty="0">
                <a:solidFill>
                  <a:srgbClr val="080912"/>
                </a:solidFill>
                <a:latin typeface="Arial MT"/>
                <a:cs typeface="Arial MT"/>
              </a:rPr>
              <a:t>that</a:t>
            </a:r>
            <a:r>
              <a:rPr lang="en-GB" sz="2400" spc="-41" dirty="0">
                <a:solidFill>
                  <a:srgbClr val="080912"/>
                </a:solidFill>
                <a:latin typeface="Arial MT"/>
                <a:cs typeface="Arial MT"/>
              </a:rPr>
              <a:t> </a:t>
            </a:r>
            <a:r>
              <a:rPr lang="en-GB" sz="2400" spc="-14" dirty="0">
                <a:solidFill>
                  <a:srgbClr val="080912"/>
                </a:solidFill>
                <a:latin typeface="Arial MT"/>
                <a:cs typeface="Arial MT"/>
              </a:rPr>
              <a:t>there</a:t>
            </a:r>
            <a:r>
              <a:rPr lang="en-GB" sz="2400" spc="-51" dirty="0">
                <a:solidFill>
                  <a:srgbClr val="080912"/>
                </a:solidFill>
                <a:latin typeface="Arial MT"/>
                <a:cs typeface="Arial MT"/>
              </a:rPr>
              <a:t> </a:t>
            </a:r>
            <a:r>
              <a:rPr lang="en-GB" sz="2400" spc="-10" dirty="0">
                <a:solidFill>
                  <a:srgbClr val="080912"/>
                </a:solidFill>
                <a:latin typeface="Arial MT"/>
                <a:cs typeface="Arial MT"/>
              </a:rPr>
              <a:t>would</a:t>
            </a:r>
            <a:r>
              <a:rPr lang="en-GB" sz="2400" spc="-44" dirty="0">
                <a:solidFill>
                  <a:srgbClr val="080912"/>
                </a:solidFill>
                <a:latin typeface="Arial MT"/>
                <a:cs typeface="Arial MT"/>
              </a:rPr>
              <a:t> </a:t>
            </a:r>
            <a:r>
              <a:rPr lang="en-GB" sz="2400" spc="-7" dirty="0">
                <a:solidFill>
                  <a:srgbClr val="080912"/>
                </a:solidFill>
                <a:latin typeface="Arial MT"/>
                <a:cs typeface="Arial MT"/>
              </a:rPr>
              <a:t>be</a:t>
            </a:r>
            <a:r>
              <a:rPr lang="en-GB" sz="2400" spc="-37" dirty="0">
                <a:solidFill>
                  <a:srgbClr val="080912"/>
                </a:solidFill>
                <a:latin typeface="Arial MT"/>
                <a:cs typeface="Arial MT"/>
              </a:rPr>
              <a:t> </a:t>
            </a:r>
            <a:r>
              <a:rPr lang="en-GB" sz="2400" spc="-14" dirty="0">
                <a:solidFill>
                  <a:srgbClr val="080912"/>
                </a:solidFill>
                <a:latin typeface="Arial MT"/>
                <a:cs typeface="Arial MT"/>
              </a:rPr>
              <a:t>three</a:t>
            </a:r>
            <a:r>
              <a:rPr lang="en-GB" sz="2400" spc="-44" dirty="0">
                <a:solidFill>
                  <a:srgbClr val="080912"/>
                </a:solidFill>
                <a:latin typeface="Arial MT"/>
                <a:cs typeface="Arial MT"/>
              </a:rPr>
              <a:t> </a:t>
            </a:r>
            <a:r>
              <a:rPr lang="en-GB" sz="2400" spc="-14" dirty="0">
                <a:solidFill>
                  <a:srgbClr val="080912"/>
                </a:solidFill>
                <a:latin typeface="Arial MT"/>
                <a:cs typeface="Arial MT"/>
              </a:rPr>
              <a:t>neurons</a:t>
            </a:r>
            <a:r>
              <a:rPr lang="en-GB" sz="2400" spc="-34" dirty="0">
                <a:solidFill>
                  <a:srgbClr val="080912"/>
                </a:solidFill>
                <a:latin typeface="Arial MT"/>
                <a:cs typeface="Arial MT"/>
              </a:rPr>
              <a:t> </a:t>
            </a:r>
            <a:r>
              <a:rPr lang="en-GB" sz="2400" spc="-10" dirty="0">
                <a:solidFill>
                  <a:srgbClr val="080912"/>
                </a:solidFill>
                <a:latin typeface="Arial MT"/>
                <a:cs typeface="Arial MT"/>
              </a:rPr>
              <a:t>in</a:t>
            </a:r>
            <a:r>
              <a:rPr lang="en-GB" sz="2400" spc="-37" dirty="0">
                <a:solidFill>
                  <a:srgbClr val="080912"/>
                </a:solidFill>
                <a:latin typeface="Arial MT"/>
                <a:cs typeface="Arial MT"/>
              </a:rPr>
              <a:t> </a:t>
            </a:r>
            <a:r>
              <a:rPr lang="en-GB" sz="2400" spc="-10" dirty="0">
                <a:solidFill>
                  <a:srgbClr val="080912"/>
                </a:solidFill>
                <a:latin typeface="Arial MT"/>
                <a:cs typeface="Arial MT"/>
              </a:rPr>
              <a:t>the</a:t>
            </a:r>
            <a:r>
              <a:rPr lang="en-GB" sz="2400" spc="-44" dirty="0">
                <a:solidFill>
                  <a:srgbClr val="080912"/>
                </a:solidFill>
                <a:latin typeface="Arial MT"/>
                <a:cs typeface="Arial MT"/>
              </a:rPr>
              <a:t> </a:t>
            </a:r>
            <a:r>
              <a:rPr lang="en-GB" sz="2400" spc="-14" dirty="0">
                <a:solidFill>
                  <a:srgbClr val="080912"/>
                </a:solidFill>
                <a:latin typeface="Arial MT"/>
                <a:cs typeface="Arial MT"/>
              </a:rPr>
              <a:t>output </a:t>
            </a:r>
            <a:r>
              <a:rPr lang="en-GB" sz="2400" spc="-245" dirty="0">
                <a:solidFill>
                  <a:srgbClr val="080912"/>
                </a:solidFill>
                <a:latin typeface="Arial MT"/>
                <a:cs typeface="Arial MT"/>
              </a:rPr>
              <a:t> </a:t>
            </a:r>
            <a:r>
              <a:rPr lang="en-GB" sz="2400" spc="-10" dirty="0">
                <a:solidFill>
                  <a:srgbClr val="080912"/>
                </a:solidFill>
                <a:latin typeface="Arial MT"/>
                <a:cs typeface="Arial MT"/>
              </a:rPr>
              <a:t>layer.</a:t>
            </a:r>
            <a:r>
              <a:rPr lang="en-GB" sz="2400" spc="-31" dirty="0">
                <a:solidFill>
                  <a:srgbClr val="080912"/>
                </a:solidFill>
                <a:latin typeface="Arial MT"/>
                <a:cs typeface="Arial MT"/>
              </a:rPr>
              <a:t> </a:t>
            </a:r>
            <a:r>
              <a:rPr lang="en-GB" sz="2400" spc="-10" dirty="0">
                <a:solidFill>
                  <a:srgbClr val="080912"/>
                </a:solidFill>
                <a:latin typeface="Arial MT"/>
                <a:cs typeface="Arial MT"/>
              </a:rPr>
              <a:t>Now,</a:t>
            </a:r>
            <a:r>
              <a:rPr lang="en-GB" sz="2400" spc="-31" dirty="0">
                <a:solidFill>
                  <a:srgbClr val="080912"/>
                </a:solidFill>
                <a:latin typeface="Arial MT"/>
                <a:cs typeface="Arial MT"/>
              </a:rPr>
              <a:t> </a:t>
            </a:r>
            <a:r>
              <a:rPr lang="en-GB" sz="2400" spc="-10" dirty="0">
                <a:solidFill>
                  <a:srgbClr val="080912"/>
                </a:solidFill>
                <a:latin typeface="Arial MT"/>
                <a:cs typeface="Arial MT"/>
              </a:rPr>
              <a:t>suppose</a:t>
            </a:r>
            <a:r>
              <a:rPr lang="en-GB" sz="2400" spc="-27" dirty="0">
                <a:solidFill>
                  <a:srgbClr val="080912"/>
                </a:solidFill>
                <a:latin typeface="Arial MT"/>
                <a:cs typeface="Arial MT"/>
              </a:rPr>
              <a:t> </a:t>
            </a:r>
            <a:r>
              <a:rPr lang="en-GB" sz="2400" spc="-7" dirty="0">
                <a:solidFill>
                  <a:srgbClr val="080912"/>
                </a:solidFill>
                <a:latin typeface="Arial MT"/>
                <a:cs typeface="Arial MT"/>
              </a:rPr>
              <a:t>that</a:t>
            </a:r>
            <a:r>
              <a:rPr lang="en-GB" sz="2400" spc="-27" dirty="0">
                <a:solidFill>
                  <a:srgbClr val="080912"/>
                </a:solidFill>
                <a:latin typeface="Arial MT"/>
                <a:cs typeface="Arial MT"/>
              </a:rPr>
              <a:t> </a:t>
            </a:r>
            <a:r>
              <a:rPr lang="en-GB" sz="2400" spc="-10" dirty="0">
                <a:solidFill>
                  <a:srgbClr val="080912"/>
                </a:solidFill>
                <a:latin typeface="Arial MT"/>
                <a:cs typeface="Arial MT"/>
              </a:rPr>
              <a:t>your</a:t>
            </a:r>
            <a:r>
              <a:rPr lang="en-GB" sz="2400" spc="-24" dirty="0">
                <a:solidFill>
                  <a:srgbClr val="080912"/>
                </a:solidFill>
                <a:latin typeface="Arial MT"/>
                <a:cs typeface="Arial MT"/>
              </a:rPr>
              <a:t> </a:t>
            </a:r>
            <a:r>
              <a:rPr lang="en-GB" sz="2400" spc="-10" dirty="0">
                <a:solidFill>
                  <a:srgbClr val="080912"/>
                </a:solidFill>
                <a:latin typeface="Arial MT"/>
                <a:cs typeface="Arial MT"/>
              </a:rPr>
              <a:t>output</a:t>
            </a:r>
            <a:r>
              <a:rPr lang="en-GB" sz="2400" spc="-24" dirty="0">
                <a:solidFill>
                  <a:srgbClr val="080912"/>
                </a:solidFill>
                <a:latin typeface="Arial MT"/>
                <a:cs typeface="Arial MT"/>
              </a:rPr>
              <a:t> </a:t>
            </a:r>
            <a:r>
              <a:rPr lang="en-GB" sz="2400" spc="-14" dirty="0">
                <a:solidFill>
                  <a:srgbClr val="080912"/>
                </a:solidFill>
                <a:latin typeface="Arial MT"/>
                <a:cs typeface="Arial MT"/>
              </a:rPr>
              <a:t>from</a:t>
            </a:r>
            <a:r>
              <a:rPr lang="en-GB" sz="2400" spc="-20" dirty="0">
                <a:solidFill>
                  <a:srgbClr val="080912"/>
                </a:solidFill>
                <a:latin typeface="Arial MT"/>
                <a:cs typeface="Arial MT"/>
              </a:rPr>
              <a:t> </a:t>
            </a:r>
            <a:r>
              <a:rPr lang="en-GB" sz="2400" spc="-10"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neurons</a:t>
            </a:r>
            <a:r>
              <a:rPr lang="en-GB" sz="2400" spc="-17" dirty="0">
                <a:solidFill>
                  <a:srgbClr val="080912"/>
                </a:solidFill>
                <a:latin typeface="Arial MT"/>
                <a:cs typeface="Arial MT"/>
              </a:rPr>
              <a:t> </a:t>
            </a:r>
            <a:r>
              <a:rPr lang="en-GB" sz="2400" spc="-10" dirty="0">
                <a:solidFill>
                  <a:srgbClr val="080912"/>
                </a:solidFill>
                <a:latin typeface="Arial MT"/>
                <a:cs typeface="Arial MT"/>
              </a:rPr>
              <a:t>is</a:t>
            </a:r>
            <a:r>
              <a:rPr lang="en-GB" sz="2400" spc="-17" dirty="0">
                <a:solidFill>
                  <a:srgbClr val="080912"/>
                </a:solidFill>
                <a:latin typeface="Arial MT"/>
                <a:cs typeface="Arial MT"/>
              </a:rPr>
              <a:t> </a:t>
            </a:r>
            <a:r>
              <a:rPr lang="en-GB" sz="2400" spc="-10" dirty="0">
                <a:solidFill>
                  <a:srgbClr val="080912"/>
                </a:solidFill>
                <a:latin typeface="Arial MT"/>
                <a:cs typeface="Arial MT"/>
              </a:rPr>
              <a:t>[1.8,</a:t>
            </a:r>
            <a:r>
              <a:rPr lang="en-GB" sz="2400" spc="-24" dirty="0">
                <a:solidFill>
                  <a:srgbClr val="080912"/>
                </a:solidFill>
                <a:latin typeface="Arial MT"/>
                <a:cs typeface="Arial MT"/>
              </a:rPr>
              <a:t> </a:t>
            </a:r>
            <a:r>
              <a:rPr lang="en-GB" sz="2400" spc="-7" dirty="0">
                <a:solidFill>
                  <a:srgbClr val="080912"/>
                </a:solidFill>
                <a:latin typeface="Arial MT"/>
                <a:cs typeface="Arial MT"/>
              </a:rPr>
              <a:t>0.9,</a:t>
            </a:r>
            <a:r>
              <a:rPr lang="en-GB" sz="2400" spc="-27" dirty="0">
                <a:solidFill>
                  <a:srgbClr val="080912"/>
                </a:solidFill>
                <a:latin typeface="Arial MT"/>
                <a:cs typeface="Arial MT"/>
              </a:rPr>
              <a:t> </a:t>
            </a:r>
            <a:r>
              <a:rPr lang="en-GB" sz="2400" spc="-10" dirty="0">
                <a:solidFill>
                  <a:srgbClr val="080912"/>
                </a:solidFill>
                <a:latin typeface="Arial MT"/>
                <a:cs typeface="Arial MT"/>
              </a:rPr>
              <a:t>0.68].</a:t>
            </a:r>
            <a:endParaRPr lang="en-GB" sz="2400" dirty="0">
              <a:latin typeface="Arial MT"/>
              <a:cs typeface="Arial MT"/>
            </a:endParaRPr>
          </a:p>
          <a:p>
            <a:pPr marL="8659" marR="6061" algn="just">
              <a:lnSpc>
                <a:spcPct val="143700"/>
              </a:lnSpc>
              <a:spcBef>
                <a:spcPts val="409"/>
              </a:spcBef>
            </a:pPr>
            <a:r>
              <a:rPr lang="en-GB" sz="2400" spc="-10" dirty="0">
                <a:solidFill>
                  <a:srgbClr val="080912"/>
                </a:solidFill>
                <a:latin typeface="Arial MT"/>
                <a:cs typeface="Arial MT"/>
              </a:rPr>
              <a:t>Applying the </a:t>
            </a:r>
            <a:r>
              <a:rPr lang="en-GB" sz="2400" spc="-10" dirty="0" err="1">
                <a:solidFill>
                  <a:srgbClr val="080912"/>
                </a:solidFill>
                <a:latin typeface="Arial MT"/>
                <a:cs typeface="Arial MT"/>
              </a:rPr>
              <a:t>softmax</a:t>
            </a:r>
            <a:r>
              <a:rPr lang="en-GB" sz="2400" spc="-10" dirty="0">
                <a:solidFill>
                  <a:srgbClr val="080912"/>
                </a:solidFill>
                <a:latin typeface="Arial MT"/>
                <a:cs typeface="Arial MT"/>
              </a:rPr>
              <a:t> </a:t>
            </a:r>
            <a:r>
              <a:rPr lang="en-GB" sz="2400" spc="-14" dirty="0">
                <a:solidFill>
                  <a:srgbClr val="080912"/>
                </a:solidFill>
                <a:latin typeface="Arial MT"/>
                <a:cs typeface="Arial MT"/>
              </a:rPr>
              <a:t>function </a:t>
            </a:r>
            <a:r>
              <a:rPr lang="en-GB" sz="2400" spc="-10" dirty="0">
                <a:solidFill>
                  <a:srgbClr val="080912"/>
                </a:solidFill>
                <a:latin typeface="Arial MT"/>
                <a:cs typeface="Arial MT"/>
              </a:rPr>
              <a:t>over </a:t>
            </a:r>
            <a:r>
              <a:rPr lang="en-GB" sz="2400" spc="-14" dirty="0">
                <a:solidFill>
                  <a:srgbClr val="080912"/>
                </a:solidFill>
                <a:latin typeface="Arial MT"/>
                <a:cs typeface="Arial MT"/>
              </a:rPr>
              <a:t>these </a:t>
            </a:r>
            <a:r>
              <a:rPr lang="en-GB" sz="2400" spc="-10" dirty="0">
                <a:solidFill>
                  <a:srgbClr val="080912"/>
                </a:solidFill>
                <a:latin typeface="Arial MT"/>
                <a:cs typeface="Arial MT"/>
              </a:rPr>
              <a:t>values to give </a:t>
            </a:r>
            <a:r>
              <a:rPr lang="en-GB" sz="2400" dirty="0">
                <a:solidFill>
                  <a:srgbClr val="080912"/>
                </a:solidFill>
                <a:latin typeface="Arial MT"/>
                <a:cs typeface="Arial MT"/>
              </a:rPr>
              <a:t>a </a:t>
            </a:r>
            <a:r>
              <a:rPr lang="en-GB" sz="2400" spc="-14" dirty="0">
                <a:solidFill>
                  <a:srgbClr val="080912"/>
                </a:solidFill>
                <a:latin typeface="Arial MT"/>
                <a:cs typeface="Arial MT"/>
              </a:rPr>
              <a:t>probabilistic </a:t>
            </a:r>
            <a:r>
              <a:rPr lang="en-GB" sz="2400" spc="-10" dirty="0">
                <a:solidFill>
                  <a:srgbClr val="080912"/>
                </a:solidFill>
                <a:latin typeface="Arial MT"/>
                <a:cs typeface="Arial MT"/>
              </a:rPr>
              <a:t>view </a:t>
            </a:r>
            <a:r>
              <a:rPr lang="en-GB" sz="2400" spc="-7" dirty="0">
                <a:solidFill>
                  <a:srgbClr val="080912"/>
                </a:solidFill>
                <a:latin typeface="Arial MT"/>
                <a:cs typeface="Arial MT"/>
              </a:rPr>
              <a:t>will </a:t>
            </a:r>
            <a:r>
              <a:rPr lang="en-GB" sz="2400" spc="-10" dirty="0">
                <a:solidFill>
                  <a:srgbClr val="080912"/>
                </a:solidFill>
                <a:latin typeface="Arial MT"/>
                <a:cs typeface="Arial MT"/>
              </a:rPr>
              <a:t>result in </a:t>
            </a:r>
            <a:r>
              <a:rPr lang="en-GB" sz="2400" spc="-14" dirty="0">
                <a:solidFill>
                  <a:srgbClr val="080912"/>
                </a:solidFill>
                <a:latin typeface="Arial MT"/>
                <a:cs typeface="Arial MT"/>
              </a:rPr>
              <a:t>the </a:t>
            </a:r>
            <a:r>
              <a:rPr lang="en-GB" sz="2400" spc="-10" dirty="0">
                <a:solidFill>
                  <a:srgbClr val="080912"/>
                </a:solidFill>
                <a:latin typeface="Arial MT"/>
                <a:cs typeface="Arial MT"/>
              </a:rPr>
              <a:t> following</a:t>
            </a:r>
            <a:r>
              <a:rPr lang="en-GB" sz="2400" spc="-31" dirty="0">
                <a:solidFill>
                  <a:srgbClr val="080912"/>
                </a:solidFill>
                <a:latin typeface="Arial MT"/>
                <a:cs typeface="Arial MT"/>
              </a:rPr>
              <a:t> </a:t>
            </a:r>
            <a:r>
              <a:rPr lang="en-GB" sz="2400" spc="-10" dirty="0">
                <a:solidFill>
                  <a:srgbClr val="080912"/>
                </a:solidFill>
                <a:latin typeface="Arial MT"/>
                <a:cs typeface="Arial MT"/>
              </a:rPr>
              <a:t>outcome:</a:t>
            </a:r>
            <a:r>
              <a:rPr lang="en-GB" sz="2400" spc="-24" dirty="0">
                <a:solidFill>
                  <a:srgbClr val="080912"/>
                </a:solidFill>
                <a:latin typeface="Arial MT"/>
                <a:cs typeface="Arial MT"/>
              </a:rPr>
              <a:t> </a:t>
            </a:r>
            <a:r>
              <a:rPr lang="en-GB" sz="2400" spc="-10" dirty="0">
                <a:solidFill>
                  <a:srgbClr val="080912"/>
                </a:solidFill>
                <a:latin typeface="Arial MT"/>
                <a:cs typeface="Arial MT"/>
              </a:rPr>
              <a:t>[0.58,</a:t>
            </a:r>
            <a:r>
              <a:rPr lang="en-GB" sz="2400" spc="-31" dirty="0">
                <a:solidFill>
                  <a:srgbClr val="080912"/>
                </a:solidFill>
                <a:latin typeface="Arial MT"/>
                <a:cs typeface="Arial MT"/>
              </a:rPr>
              <a:t> </a:t>
            </a:r>
            <a:r>
              <a:rPr lang="en-GB" sz="2400" spc="-10" dirty="0">
                <a:solidFill>
                  <a:srgbClr val="080912"/>
                </a:solidFill>
                <a:latin typeface="Arial MT"/>
                <a:cs typeface="Arial MT"/>
              </a:rPr>
              <a:t>0.23,</a:t>
            </a:r>
            <a:r>
              <a:rPr lang="en-GB" sz="2400" spc="-31" dirty="0">
                <a:solidFill>
                  <a:srgbClr val="080912"/>
                </a:solidFill>
                <a:latin typeface="Arial MT"/>
                <a:cs typeface="Arial MT"/>
              </a:rPr>
              <a:t> </a:t>
            </a:r>
            <a:r>
              <a:rPr lang="en-GB" sz="2400" spc="-10" dirty="0">
                <a:solidFill>
                  <a:srgbClr val="080912"/>
                </a:solidFill>
                <a:latin typeface="Arial MT"/>
                <a:cs typeface="Arial MT"/>
              </a:rPr>
              <a:t>0.19].</a:t>
            </a:r>
            <a:endParaRPr lang="en-GB" sz="2400" dirty="0">
              <a:latin typeface="Arial MT"/>
              <a:cs typeface="Arial MT"/>
            </a:endParaRPr>
          </a:p>
          <a:p>
            <a:pPr marL="8659" marR="3896" algn="just">
              <a:lnSpc>
                <a:spcPct val="143700"/>
              </a:lnSpc>
              <a:spcBef>
                <a:spcPts val="399"/>
              </a:spcBef>
            </a:pPr>
            <a:r>
              <a:rPr lang="en-GB" sz="2400" spc="-7" dirty="0">
                <a:solidFill>
                  <a:srgbClr val="080912"/>
                </a:solidFill>
                <a:latin typeface="Arial MT"/>
                <a:cs typeface="Arial MT"/>
              </a:rPr>
              <a:t>The</a:t>
            </a:r>
            <a:r>
              <a:rPr lang="en-GB" sz="2400" spc="-24"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0" dirty="0">
                <a:solidFill>
                  <a:srgbClr val="080912"/>
                </a:solidFill>
                <a:latin typeface="Arial MT"/>
                <a:cs typeface="Arial MT"/>
              </a:rPr>
              <a:t>returns</a:t>
            </a:r>
            <a:r>
              <a:rPr lang="en-GB" sz="2400" spc="-24" dirty="0">
                <a:solidFill>
                  <a:srgbClr val="080912"/>
                </a:solidFill>
                <a:latin typeface="Arial MT"/>
                <a:cs typeface="Arial MT"/>
              </a:rPr>
              <a:t> </a:t>
            </a:r>
            <a:r>
              <a:rPr lang="en-GB" sz="2400" dirty="0">
                <a:solidFill>
                  <a:srgbClr val="080912"/>
                </a:solidFill>
                <a:latin typeface="Arial MT"/>
                <a:cs typeface="Arial MT"/>
              </a:rPr>
              <a:t>1</a:t>
            </a:r>
            <a:r>
              <a:rPr lang="en-GB" sz="2400" spc="-24" dirty="0">
                <a:solidFill>
                  <a:srgbClr val="080912"/>
                </a:solidFill>
                <a:latin typeface="Arial MT"/>
                <a:cs typeface="Arial MT"/>
              </a:rPr>
              <a:t> </a:t>
            </a:r>
            <a:r>
              <a:rPr lang="en-GB" sz="2400" spc="-10" dirty="0">
                <a:solidFill>
                  <a:srgbClr val="080912"/>
                </a:solidFill>
                <a:latin typeface="Arial MT"/>
                <a:cs typeface="Arial MT"/>
              </a:rPr>
              <a:t>for</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31" dirty="0">
                <a:solidFill>
                  <a:srgbClr val="080912"/>
                </a:solidFill>
                <a:latin typeface="Arial MT"/>
                <a:cs typeface="Arial MT"/>
              </a:rPr>
              <a:t> </a:t>
            </a:r>
            <a:r>
              <a:rPr lang="en-GB" sz="2400" spc="-10" dirty="0">
                <a:solidFill>
                  <a:srgbClr val="080912"/>
                </a:solidFill>
                <a:latin typeface="Arial MT"/>
                <a:cs typeface="Arial MT"/>
              </a:rPr>
              <a:t>largest</a:t>
            </a:r>
            <a:r>
              <a:rPr lang="en-GB" sz="2400" spc="-34" dirty="0">
                <a:solidFill>
                  <a:srgbClr val="080912"/>
                </a:solidFill>
                <a:latin typeface="Arial MT"/>
                <a:cs typeface="Arial MT"/>
              </a:rPr>
              <a:t> </a:t>
            </a:r>
            <a:r>
              <a:rPr lang="en-GB" sz="2400" spc="-14" dirty="0">
                <a:solidFill>
                  <a:srgbClr val="080912"/>
                </a:solidFill>
                <a:latin typeface="Arial MT"/>
                <a:cs typeface="Arial MT"/>
              </a:rPr>
              <a:t>probability</a:t>
            </a:r>
            <a:r>
              <a:rPr lang="en-GB" sz="2400" spc="-20" dirty="0">
                <a:solidFill>
                  <a:srgbClr val="080912"/>
                </a:solidFill>
                <a:latin typeface="Arial MT"/>
                <a:cs typeface="Arial MT"/>
              </a:rPr>
              <a:t> </a:t>
            </a:r>
            <a:r>
              <a:rPr lang="en-GB" sz="2400" spc="-10" dirty="0">
                <a:solidFill>
                  <a:srgbClr val="080912"/>
                </a:solidFill>
                <a:latin typeface="Arial MT"/>
                <a:cs typeface="Arial MT"/>
              </a:rPr>
              <a:t>index</a:t>
            </a:r>
            <a:r>
              <a:rPr lang="en-GB" sz="2400" spc="-27" dirty="0">
                <a:solidFill>
                  <a:srgbClr val="080912"/>
                </a:solidFill>
                <a:latin typeface="Arial MT"/>
                <a:cs typeface="Arial MT"/>
              </a:rPr>
              <a:t> </a:t>
            </a:r>
            <a:r>
              <a:rPr lang="en-GB" sz="2400" spc="-10" dirty="0">
                <a:solidFill>
                  <a:srgbClr val="080912"/>
                </a:solidFill>
                <a:latin typeface="Arial MT"/>
                <a:cs typeface="Arial MT"/>
              </a:rPr>
              <a:t>while</a:t>
            </a:r>
            <a:r>
              <a:rPr lang="en-GB" sz="2400" spc="-20" dirty="0">
                <a:solidFill>
                  <a:srgbClr val="080912"/>
                </a:solidFill>
                <a:latin typeface="Arial MT"/>
                <a:cs typeface="Arial MT"/>
              </a:rPr>
              <a:t> </a:t>
            </a:r>
            <a:r>
              <a:rPr lang="en-GB" sz="2400" spc="-7" dirty="0">
                <a:solidFill>
                  <a:srgbClr val="080912"/>
                </a:solidFill>
                <a:latin typeface="Arial MT"/>
                <a:cs typeface="Arial MT"/>
              </a:rPr>
              <a:t>it</a:t>
            </a:r>
            <a:r>
              <a:rPr lang="en-GB" sz="2400" spc="-37" dirty="0">
                <a:solidFill>
                  <a:srgbClr val="080912"/>
                </a:solidFill>
                <a:latin typeface="Arial MT"/>
                <a:cs typeface="Arial MT"/>
              </a:rPr>
              <a:t> </a:t>
            </a:r>
            <a:r>
              <a:rPr lang="en-GB" sz="2400" spc="-10" dirty="0">
                <a:solidFill>
                  <a:srgbClr val="080912"/>
                </a:solidFill>
                <a:latin typeface="Arial MT"/>
                <a:cs typeface="Arial MT"/>
              </a:rPr>
              <a:t>returns</a:t>
            </a:r>
            <a:r>
              <a:rPr lang="en-GB" sz="2400" spc="-17" dirty="0">
                <a:solidFill>
                  <a:srgbClr val="080912"/>
                </a:solidFill>
                <a:latin typeface="Arial MT"/>
                <a:cs typeface="Arial MT"/>
              </a:rPr>
              <a:t> </a:t>
            </a:r>
            <a:r>
              <a:rPr lang="en-GB" sz="2400" dirty="0">
                <a:solidFill>
                  <a:srgbClr val="080912"/>
                </a:solidFill>
                <a:latin typeface="Arial MT"/>
                <a:cs typeface="Arial MT"/>
              </a:rPr>
              <a:t>0</a:t>
            </a:r>
            <a:r>
              <a:rPr lang="en-GB" sz="2400" spc="-24" dirty="0">
                <a:solidFill>
                  <a:srgbClr val="080912"/>
                </a:solidFill>
                <a:latin typeface="Arial MT"/>
                <a:cs typeface="Arial MT"/>
              </a:rPr>
              <a:t> </a:t>
            </a:r>
            <a:r>
              <a:rPr lang="en-GB" sz="2400" spc="-14" dirty="0">
                <a:solidFill>
                  <a:srgbClr val="080912"/>
                </a:solidFill>
                <a:latin typeface="Arial MT"/>
                <a:cs typeface="Arial MT"/>
              </a:rPr>
              <a:t>for</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31" dirty="0">
                <a:solidFill>
                  <a:srgbClr val="080912"/>
                </a:solidFill>
                <a:latin typeface="Arial MT"/>
                <a:cs typeface="Arial MT"/>
              </a:rPr>
              <a:t> </a:t>
            </a:r>
            <a:r>
              <a:rPr lang="en-GB" sz="2400" spc="-10" dirty="0">
                <a:solidFill>
                  <a:srgbClr val="080912"/>
                </a:solidFill>
                <a:latin typeface="Arial MT"/>
                <a:cs typeface="Arial MT"/>
              </a:rPr>
              <a:t>other</a:t>
            </a:r>
            <a:r>
              <a:rPr lang="en-GB" sz="2400" spc="-27" dirty="0">
                <a:solidFill>
                  <a:srgbClr val="080912"/>
                </a:solidFill>
                <a:latin typeface="Arial MT"/>
                <a:cs typeface="Arial MT"/>
              </a:rPr>
              <a:t> </a:t>
            </a:r>
            <a:r>
              <a:rPr lang="en-GB" sz="2400" spc="-10" dirty="0">
                <a:solidFill>
                  <a:srgbClr val="080912"/>
                </a:solidFill>
                <a:latin typeface="Arial MT"/>
                <a:cs typeface="Arial MT"/>
              </a:rPr>
              <a:t>two</a:t>
            </a:r>
            <a:r>
              <a:rPr lang="en-GB" sz="2400" spc="-24" dirty="0">
                <a:solidFill>
                  <a:srgbClr val="080912"/>
                </a:solidFill>
                <a:latin typeface="Arial MT"/>
                <a:cs typeface="Arial MT"/>
              </a:rPr>
              <a:t> </a:t>
            </a:r>
            <a:r>
              <a:rPr lang="en-GB" sz="2400" spc="-14" dirty="0">
                <a:solidFill>
                  <a:srgbClr val="080912"/>
                </a:solidFill>
                <a:latin typeface="Arial MT"/>
                <a:cs typeface="Arial MT"/>
              </a:rPr>
              <a:t>array </a:t>
            </a:r>
            <a:r>
              <a:rPr lang="en-GB" sz="2400" spc="-249" dirty="0">
                <a:solidFill>
                  <a:srgbClr val="080912"/>
                </a:solidFill>
                <a:latin typeface="Arial MT"/>
                <a:cs typeface="Arial MT"/>
              </a:rPr>
              <a:t> </a:t>
            </a:r>
            <a:r>
              <a:rPr lang="en-GB" sz="2400" spc="-10" dirty="0">
                <a:solidFill>
                  <a:srgbClr val="080912"/>
                </a:solidFill>
                <a:latin typeface="Arial MT"/>
                <a:cs typeface="Arial MT"/>
              </a:rPr>
              <a:t>indexes.</a:t>
            </a:r>
            <a:r>
              <a:rPr lang="en-GB" sz="2400" spc="-65" dirty="0">
                <a:solidFill>
                  <a:srgbClr val="080912"/>
                </a:solidFill>
                <a:latin typeface="Arial MT"/>
                <a:cs typeface="Arial MT"/>
              </a:rPr>
              <a:t> </a:t>
            </a:r>
            <a:r>
              <a:rPr lang="en-GB" sz="2400" spc="-7" dirty="0">
                <a:solidFill>
                  <a:srgbClr val="080912"/>
                </a:solidFill>
                <a:latin typeface="Arial MT"/>
                <a:cs typeface="Arial MT"/>
              </a:rPr>
              <a:t>Here,</a:t>
            </a:r>
            <a:r>
              <a:rPr lang="en-GB" sz="2400" spc="-61" dirty="0">
                <a:solidFill>
                  <a:srgbClr val="080912"/>
                </a:solidFill>
                <a:latin typeface="Arial MT"/>
                <a:cs typeface="Arial MT"/>
              </a:rPr>
              <a:t> </a:t>
            </a:r>
            <a:r>
              <a:rPr lang="en-GB" sz="2400" spc="-10" dirty="0">
                <a:solidFill>
                  <a:srgbClr val="080912"/>
                </a:solidFill>
                <a:latin typeface="Arial MT"/>
                <a:cs typeface="Arial MT"/>
              </a:rPr>
              <a:t>giving</a:t>
            </a:r>
            <a:r>
              <a:rPr lang="en-GB" sz="2400" spc="-55" dirty="0">
                <a:solidFill>
                  <a:srgbClr val="080912"/>
                </a:solidFill>
                <a:latin typeface="Arial MT"/>
                <a:cs typeface="Arial MT"/>
              </a:rPr>
              <a:t> </a:t>
            </a:r>
            <a:r>
              <a:rPr lang="en-GB" sz="2400" spc="-7" dirty="0">
                <a:solidFill>
                  <a:srgbClr val="080912"/>
                </a:solidFill>
                <a:latin typeface="Arial MT"/>
                <a:cs typeface="Arial MT"/>
              </a:rPr>
              <a:t>full</a:t>
            </a:r>
            <a:r>
              <a:rPr lang="en-GB" sz="2400" spc="-58" dirty="0">
                <a:solidFill>
                  <a:srgbClr val="080912"/>
                </a:solidFill>
                <a:latin typeface="Arial MT"/>
                <a:cs typeface="Arial MT"/>
              </a:rPr>
              <a:t> </a:t>
            </a:r>
            <a:r>
              <a:rPr lang="en-GB" sz="2400" spc="-10" dirty="0">
                <a:solidFill>
                  <a:srgbClr val="080912"/>
                </a:solidFill>
                <a:latin typeface="Arial MT"/>
                <a:cs typeface="Arial MT"/>
              </a:rPr>
              <a:t>weight</a:t>
            </a:r>
            <a:r>
              <a:rPr lang="en-GB" sz="2400" spc="-55" dirty="0">
                <a:solidFill>
                  <a:srgbClr val="080912"/>
                </a:solidFill>
                <a:latin typeface="Arial MT"/>
                <a:cs typeface="Arial MT"/>
              </a:rPr>
              <a:t> </a:t>
            </a:r>
            <a:r>
              <a:rPr lang="en-GB" sz="2400" spc="-7" dirty="0">
                <a:solidFill>
                  <a:srgbClr val="080912"/>
                </a:solidFill>
                <a:latin typeface="Arial MT"/>
                <a:cs typeface="Arial MT"/>
              </a:rPr>
              <a:t>to</a:t>
            </a:r>
            <a:r>
              <a:rPr lang="en-GB" sz="2400" spc="-55" dirty="0">
                <a:solidFill>
                  <a:srgbClr val="080912"/>
                </a:solidFill>
                <a:latin typeface="Arial MT"/>
                <a:cs typeface="Arial MT"/>
              </a:rPr>
              <a:t> </a:t>
            </a:r>
            <a:r>
              <a:rPr lang="en-GB" sz="2400" spc="-14" dirty="0">
                <a:solidFill>
                  <a:srgbClr val="080912"/>
                </a:solidFill>
                <a:latin typeface="Arial MT"/>
                <a:cs typeface="Arial MT"/>
              </a:rPr>
              <a:t>index</a:t>
            </a:r>
            <a:r>
              <a:rPr lang="en-GB" sz="2400" spc="-44" dirty="0">
                <a:solidFill>
                  <a:srgbClr val="080912"/>
                </a:solidFill>
                <a:latin typeface="Arial MT"/>
                <a:cs typeface="Arial MT"/>
              </a:rPr>
              <a:t> </a:t>
            </a:r>
            <a:r>
              <a:rPr lang="en-GB" sz="2400" dirty="0">
                <a:solidFill>
                  <a:srgbClr val="080912"/>
                </a:solidFill>
                <a:latin typeface="Arial MT"/>
                <a:cs typeface="Arial MT"/>
              </a:rPr>
              <a:t>0</a:t>
            </a:r>
            <a:r>
              <a:rPr lang="en-GB" sz="2400" spc="-55" dirty="0">
                <a:solidFill>
                  <a:srgbClr val="080912"/>
                </a:solidFill>
                <a:latin typeface="Arial MT"/>
                <a:cs typeface="Arial MT"/>
              </a:rPr>
              <a:t> </a:t>
            </a:r>
            <a:r>
              <a:rPr lang="en-GB" sz="2400" spc="-7" dirty="0">
                <a:solidFill>
                  <a:srgbClr val="080912"/>
                </a:solidFill>
                <a:latin typeface="Arial MT"/>
                <a:cs typeface="Arial MT"/>
              </a:rPr>
              <a:t>and</a:t>
            </a:r>
            <a:r>
              <a:rPr lang="en-GB" sz="2400" spc="-55" dirty="0">
                <a:solidFill>
                  <a:srgbClr val="080912"/>
                </a:solidFill>
                <a:latin typeface="Arial MT"/>
                <a:cs typeface="Arial MT"/>
              </a:rPr>
              <a:t> </a:t>
            </a:r>
            <a:r>
              <a:rPr lang="en-GB" sz="2400" spc="-3" dirty="0">
                <a:solidFill>
                  <a:srgbClr val="080912"/>
                </a:solidFill>
                <a:latin typeface="Arial MT"/>
                <a:cs typeface="Arial MT"/>
              </a:rPr>
              <a:t>no</a:t>
            </a:r>
            <a:r>
              <a:rPr lang="en-GB" sz="2400" spc="-65" dirty="0">
                <a:solidFill>
                  <a:srgbClr val="080912"/>
                </a:solidFill>
                <a:latin typeface="Arial MT"/>
                <a:cs typeface="Arial MT"/>
              </a:rPr>
              <a:t> </a:t>
            </a:r>
            <a:r>
              <a:rPr lang="en-GB" sz="2400" spc="-10" dirty="0">
                <a:solidFill>
                  <a:srgbClr val="080912"/>
                </a:solidFill>
                <a:latin typeface="Arial MT"/>
                <a:cs typeface="Arial MT"/>
              </a:rPr>
              <a:t>weight</a:t>
            </a:r>
            <a:r>
              <a:rPr lang="en-GB" sz="2400" spc="-55" dirty="0">
                <a:solidFill>
                  <a:srgbClr val="080912"/>
                </a:solidFill>
                <a:latin typeface="Arial MT"/>
                <a:cs typeface="Arial MT"/>
              </a:rPr>
              <a:t> </a:t>
            </a:r>
            <a:r>
              <a:rPr lang="en-GB" sz="2400" spc="-7" dirty="0">
                <a:solidFill>
                  <a:srgbClr val="080912"/>
                </a:solidFill>
                <a:latin typeface="Arial MT"/>
                <a:cs typeface="Arial MT"/>
              </a:rPr>
              <a:t>to</a:t>
            </a:r>
            <a:r>
              <a:rPr lang="en-GB" sz="2400" spc="-55" dirty="0">
                <a:solidFill>
                  <a:srgbClr val="080912"/>
                </a:solidFill>
                <a:latin typeface="Arial MT"/>
                <a:cs typeface="Arial MT"/>
              </a:rPr>
              <a:t> </a:t>
            </a:r>
            <a:r>
              <a:rPr lang="en-GB" sz="2400" spc="-14" dirty="0">
                <a:solidFill>
                  <a:srgbClr val="080912"/>
                </a:solidFill>
                <a:latin typeface="Arial MT"/>
                <a:cs typeface="Arial MT"/>
              </a:rPr>
              <a:t>index</a:t>
            </a:r>
            <a:r>
              <a:rPr lang="en-GB" sz="2400" spc="-44" dirty="0">
                <a:solidFill>
                  <a:srgbClr val="080912"/>
                </a:solidFill>
                <a:latin typeface="Arial MT"/>
                <a:cs typeface="Arial MT"/>
              </a:rPr>
              <a:t> </a:t>
            </a:r>
            <a:r>
              <a:rPr lang="en-GB" sz="2400" dirty="0">
                <a:solidFill>
                  <a:srgbClr val="080912"/>
                </a:solidFill>
                <a:latin typeface="Arial MT"/>
                <a:cs typeface="Arial MT"/>
              </a:rPr>
              <a:t>1</a:t>
            </a:r>
            <a:r>
              <a:rPr lang="en-GB" sz="2400" spc="-55" dirty="0">
                <a:solidFill>
                  <a:srgbClr val="080912"/>
                </a:solidFill>
                <a:latin typeface="Arial MT"/>
                <a:cs typeface="Arial MT"/>
              </a:rPr>
              <a:t> </a:t>
            </a:r>
            <a:r>
              <a:rPr lang="en-GB" sz="2400" spc="-7" dirty="0">
                <a:solidFill>
                  <a:srgbClr val="080912"/>
                </a:solidFill>
                <a:latin typeface="Arial MT"/>
                <a:cs typeface="Arial MT"/>
              </a:rPr>
              <a:t>and</a:t>
            </a:r>
            <a:r>
              <a:rPr lang="en-GB" sz="2400" spc="-55" dirty="0">
                <a:solidFill>
                  <a:srgbClr val="080912"/>
                </a:solidFill>
                <a:latin typeface="Arial MT"/>
                <a:cs typeface="Arial MT"/>
              </a:rPr>
              <a:t> </a:t>
            </a:r>
            <a:r>
              <a:rPr lang="en-GB" sz="2400" spc="-14" dirty="0">
                <a:solidFill>
                  <a:srgbClr val="080912"/>
                </a:solidFill>
                <a:latin typeface="Arial MT"/>
                <a:cs typeface="Arial MT"/>
              </a:rPr>
              <a:t>index</a:t>
            </a:r>
            <a:r>
              <a:rPr lang="en-GB" sz="2400" spc="-55" dirty="0">
                <a:solidFill>
                  <a:srgbClr val="080912"/>
                </a:solidFill>
                <a:latin typeface="Arial MT"/>
                <a:cs typeface="Arial MT"/>
              </a:rPr>
              <a:t> </a:t>
            </a:r>
            <a:r>
              <a:rPr lang="en-GB" sz="2400" spc="-3" dirty="0">
                <a:solidFill>
                  <a:srgbClr val="080912"/>
                </a:solidFill>
                <a:latin typeface="Arial MT"/>
                <a:cs typeface="Arial MT"/>
              </a:rPr>
              <a:t>2.</a:t>
            </a:r>
            <a:r>
              <a:rPr lang="en-GB" sz="2400" spc="-55" dirty="0">
                <a:solidFill>
                  <a:srgbClr val="080912"/>
                </a:solidFill>
                <a:latin typeface="Arial MT"/>
                <a:cs typeface="Arial MT"/>
              </a:rPr>
              <a:t> </a:t>
            </a:r>
            <a:r>
              <a:rPr lang="en-GB" sz="2400" spc="-7" dirty="0">
                <a:solidFill>
                  <a:srgbClr val="080912"/>
                </a:solidFill>
                <a:latin typeface="Arial MT"/>
                <a:cs typeface="Arial MT"/>
              </a:rPr>
              <a:t>So</a:t>
            </a:r>
            <a:r>
              <a:rPr lang="en-GB" sz="2400" spc="-55" dirty="0">
                <a:solidFill>
                  <a:srgbClr val="080912"/>
                </a:solidFill>
                <a:latin typeface="Arial MT"/>
                <a:cs typeface="Arial MT"/>
              </a:rPr>
              <a:t> </a:t>
            </a:r>
            <a:r>
              <a:rPr lang="en-GB" sz="2400" spc="-7" dirty="0">
                <a:solidFill>
                  <a:srgbClr val="080912"/>
                </a:solidFill>
                <a:latin typeface="Arial MT"/>
                <a:cs typeface="Arial MT"/>
              </a:rPr>
              <a:t>the</a:t>
            </a:r>
            <a:r>
              <a:rPr lang="en-GB" sz="2400" spc="-55" dirty="0">
                <a:solidFill>
                  <a:srgbClr val="080912"/>
                </a:solidFill>
                <a:latin typeface="Arial MT"/>
                <a:cs typeface="Arial MT"/>
              </a:rPr>
              <a:t> </a:t>
            </a:r>
            <a:r>
              <a:rPr lang="en-GB" sz="2400" spc="-10" dirty="0">
                <a:solidFill>
                  <a:srgbClr val="080912"/>
                </a:solidFill>
                <a:latin typeface="Arial MT"/>
                <a:cs typeface="Arial MT"/>
              </a:rPr>
              <a:t>output </a:t>
            </a:r>
            <a:r>
              <a:rPr lang="en-GB" sz="2400" spc="-249" dirty="0">
                <a:solidFill>
                  <a:srgbClr val="080912"/>
                </a:solidFill>
                <a:latin typeface="Arial MT"/>
                <a:cs typeface="Arial MT"/>
              </a:rPr>
              <a:t> </a:t>
            </a:r>
            <a:r>
              <a:rPr lang="en-GB" sz="2400" spc="-10" dirty="0">
                <a:solidFill>
                  <a:srgbClr val="080912"/>
                </a:solidFill>
                <a:latin typeface="Arial MT"/>
                <a:cs typeface="Arial MT"/>
              </a:rPr>
              <a:t>would</a:t>
            </a:r>
            <a:r>
              <a:rPr lang="en-GB" sz="2400" spc="-27" dirty="0">
                <a:solidFill>
                  <a:srgbClr val="080912"/>
                </a:solidFill>
                <a:latin typeface="Arial MT"/>
                <a:cs typeface="Arial MT"/>
              </a:rPr>
              <a:t> </a:t>
            </a:r>
            <a:r>
              <a:rPr lang="en-GB" sz="2400" spc="-7" dirty="0">
                <a:solidFill>
                  <a:srgbClr val="080912"/>
                </a:solidFill>
                <a:latin typeface="Arial MT"/>
                <a:cs typeface="Arial MT"/>
              </a:rPr>
              <a:t>be</a:t>
            </a:r>
            <a:r>
              <a:rPr lang="en-GB" sz="2400" spc="-20" dirty="0">
                <a:solidFill>
                  <a:srgbClr val="080912"/>
                </a:solidFill>
                <a:latin typeface="Arial MT"/>
                <a:cs typeface="Arial MT"/>
              </a:rPr>
              <a:t> </a:t>
            </a:r>
            <a:r>
              <a:rPr lang="en-GB" sz="2400" spc="-10"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class</a:t>
            </a:r>
            <a:r>
              <a:rPr lang="en-GB" sz="2400" spc="-24" dirty="0">
                <a:solidFill>
                  <a:srgbClr val="080912"/>
                </a:solidFill>
                <a:latin typeface="Arial MT"/>
                <a:cs typeface="Arial MT"/>
              </a:rPr>
              <a:t> </a:t>
            </a:r>
            <a:r>
              <a:rPr lang="en-GB" sz="2400" spc="-10" dirty="0">
                <a:solidFill>
                  <a:srgbClr val="080912"/>
                </a:solidFill>
                <a:latin typeface="Arial MT"/>
                <a:cs typeface="Arial MT"/>
              </a:rPr>
              <a:t>corresponding</a:t>
            </a:r>
            <a:r>
              <a:rPr lang="en-GB" sz="2400" spc="-20" dirty="0">
                <a:solidFill>
                  <a:srgbClr val="080912"/>
                </a:solidFill>
                <a:latin typeface="Arial MT"/>
                <a:cs typeface="Arial MT"/>
              </a:rPr>
              <a:t> </a:t>
            </a:r>
            <a:r>
              <a:rPr lang="en-GB" sz="2400" spc="-10" dirty="0">
                <a:solidFill>
                  <a:srgbClr val="080912"/>
                </a:solidFill>
                <a:latin typeface="Arial MT"/>
                <a:cs typeface="Arial MT"/>
              </a:rPr>
              <a:t>to</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7" dirty="0">
                <a:solidFill>
                  <a:srgbClr val="080912"/>
                </a:solidFill>
                <a:latin typeface="Arial MT"/>
                <a:cs typeface="Arial MT"/>
              </a:rPr>
              <a:t> </a:t>
            </a:r>
            <a:r>
              <a:rPr lang="en-GB" sz="2400" spc="-7" dirty="0">
                <a:solidFill>
                  <a:srgbClr val="080912"/>
                </a:solidFill>
                <a:latin typeface="Arial MT"/>
                <a:cs typeface="Arial MT"/>
              </a:rPr>
              <a:t>1st</a:t>
            </a:r>
            <a:r>
              <a:rPr lang="en-GB" sz="2400" spc="-24" dirty="0">
                <a:solidFill>
                  <a:srgbClr val="080912"/>
                </a:solidFill>
                <a:latin typeface="Arial MT"/>
                <a:cs typeface="Arial MT"/>
              </a:rPr>
              <a:t> </a:t>
            </a:r>
            <a:r>
              <a:rPr lang="en-GB" sz="2400" spc="-14" dirty="0">
                <a:solidFill>
                  <a:srgbClr val="080912"/>
                </a:solidFill>
                <a:latin typeface="Arial MT"/>
                <a:cs typeface="Arial MT"/>
              </a:rPr>
              <a:t>neuron(index</a:t>
            </a:r>
            <a:r>
              <a:rPr lang="en-GB" sz="2400" spc="-24" dirty="0">
                <a:solidFill>
                  <a:srgbClr val="080912"/>
                </a:solidFill>
                <a:latin typeface="Arial MT"/>
                <a:cs typeface="Arial MT"/>
              </a:rPr>
              <a:t> </a:t>
            </a:r>
            <a:r>
              <a:rPr lang="en-GB" sz="2400" spc="-3" dirty="0">
                <a:solidFill>
                  <a:srgbClr val="080912"/>
                </a:solidFill>
                <a:latin typeface="Arial MT"/>
                <a:cs typeface="Arial MT"/>
              </a:rPr>
              <a:t>0)</a:t>
            </a:r>
            <a:r>
              <a:rPr lang="en-GB" sz="2400" spc="-24" dirty="0">
                <a:solidFill>
                  <a:srgbClr val="080912"/>
                </a:solidFill>
                <a:latin typeface="Arial MT"/>
                <a:cs typeface="Arial MT"/>
              </a:rPr>
              <a:t> </a:t>
            </a:r>
            <a:r>
              <a:rPr lang="en-GB" sz="2400" spc="-3" dirty="0">
                <a:solidFill>
                  <a:srgbClr val="080912"/>
                </a:solidFill>
                <a:latin typeface="Arial MT"/>
                <a:cs typeface="Arial MT"/>
              </a:rPr>
              <a:t>out</a:t>
            </a:r>
            <a:r>
              <a:rPr lang="en-GB" sz="2400" spc="-31" dirty="0">
                <a:solidFill>
                  <a:srgbClr val="080912"/>
                </a:solidFill>
                <a:latin typeface="Arial MT"/>
                <a:cs typeface="Arial MT"/>
              </a:rPr>
              <a:t> </a:t>
            </a:r>
            <a:r>
              <a:rPr lang="en-GB" sz="2400" spc="-3" dirty="0">
                <a:solidFill>
                  <a:srgbClr val="080912"/>
                </a:solidFill>
                <a:latin typeface="Arial MT"/>
                <a:cs typeface="Arial MT"/>
              </a:rPr>
              <a:t>of</a:t>
            </a:r>
            <a:r>
              <a:rPr lang="en-GB" sz="2400" spc="-20" dirty="0">
                <a:solidFill>
                  <a:srgbClr val="080912"/>
                </a:solidFill>
                <a:latin typeface="Arial MT"/>
                <a:cs typeface="Arial MT"/>
              </a:rPr>
              <a:t> </a:t>
            </a:r>
            <a:r>
              <a:rPr lang="en-GB" sz="2400" spc="-10" dirty="0">
                <a:solidFill>
                  <a:srgbClr val="080912"/>
                </a:solidFill>
                <a:latin typeface="Arial MT"/>
                <a:cs typeface="Arial MT"/>
              </a:rPr>
              <a:t>three.</a:t>
            </a:r>
          </a:p>
          <a:p>
            <a:pPr marL="8659" marR="3896" algn="just">
              <a:lnSpc>
                <a:spcPct val="143700"/>
              </a:lnSpc>
              <a:spcBef>
                <a:spcPts val="399"/>
              </a:spcBef>
            </a:pPr>
            <a:r>
              <a:rPr lang="en-GB" sz="2400" spc="-10" dirty="0" err="1">
                <a:solidFill>
                  <a:srgbClr val="080912"/>
                </a:solidFill>
                <a:latin typeface="Arial MT"/>
                <a:cs typeface="Arial MT"/>
              </a:rPr>
              <a:t>Softmax</a:t>
            </a:r>
            <a:r>
              <a:rPr lang="en-GB" sz="2400" spc="89"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85" dirty="0">
                <a:solidFill>
                  <a:srgbClr val="080912"/>
                </a:solidFill>
                <a:latin typeface="Arial MT"/>
                <a:cs typeface="Arial MT"/>
              </a:rPr>
              <a:t> </a:t>
            </a:r>
            <a:r>
              <a:rPr lang="en-GB" sz="2400" spc="-14" dirty="0">
                <a:solidFill>
                  <a:srgbClr val="080912"/>
                </a:solidFill>
                <a:latin typeface="Arial MT"/>
                <a:cs typeface="Arial MT"/>
              </a:rPr>
              <a:t>function</a:t>
            </a:r>
            <a:r>
              <a:rPr lang="en-GB" sz="2400" spc="89" dirty="0">
                <a:solidFill>
                  <a:srgbClr val="080912"/>
                </a:solidFill>
                <a:latin typeface="Arial MT"/>
                <a:cs typeface="Arial MT"/>
              </a:rPr>
              <a:t> </a:t>
            </a:r>
            <a:r>
              <a:rPr lang="en-GB" sz="2400" spc="-10" dirty="0">
                <a:solidFill>
                  <a:srgbClr val="080912"/>
                </a:solidFill>
                <a:latin typeface="Arial MT"/>
                <a:cs typeface="Arial MT"/>
              </a:rPr>
              <a:t>make</a:t>
            </a:r>
            <a:r>
              <a:rPr lang="en-GB" sz="2400" spc="95" dirty="0">
                <a:solidFill>
                  <a:srgbClr val="080912"/>
                </a:solidFill>
                <a:latin typeface="Arial MT"/>
                <a:cs typeface="Arial MT"/>
              </a:rPr>
              <a:t> </a:t>
            </a:r>
            <a:r>
              <a:rPr lang="en-GB" sz="2400" spc="-10" dirty="0">
                <a:solidFill>
                  <a:srgbClr val="080912"/>
                </a:solidFill>
                <a:latin typeface="Arial MT"/>
                <a:cs typeface="Arial MT"/>
              </a:rPr>
              <a:t>things</a:t>
            </a:r>
            <a:r>
              <a:rPr lang="en-GB" sz="2400" spc="78" dirty="0">
                <a:solidFill>
                  <a:srgbClr val="080912"/>
                </a:solidFill>
                <a:latin typeface="Arial MT"/>
                <a:cs typeface="Arial MT"/>
              </a:rPr>
              <a:t> </a:t>
            </a:r>
            <a:r>
              <a:rPr lang="en-GB" sz="2400" spc="-10" dirty="0">
                <a:solidFill>
                  <a:srgbClr val="080912"/>
                </a:solidFill>
                <a:latin typeface="Arial MT"/>
                <a:cs typeface="Arial MT"/>
              </a:rPr>
              <a:t>easy</a:t>
            </a:r>
            <a:r>
              <a:rPr lang="en-GB" sz="2400" spc="89" dirty="0">
                <a:solidFill>
                  <a:srgbClr val="080912"/>
                </a:solidFill>
                <a:latin typeface="Arial MT"/>
                <a:cs typeface="Arial MT"/>
              </a:rPr>
              <a:t> </a:t>
            </a:r>
            <a:r>
              <a:rPr lang="en-GB" sz="2400" spc="-10" dirty="0">
                <a:solidFill>
                  <a:srgbClr val="080912"/>
                </a:solidFill>
                <a:latin typeface="Arial MT"/>
                <a:cs typeface="Arial MT"/>
              </a:rPr>
              <a:t>for</a:t>
            </a:r>
            <a:r>
              <a:rPr lang="en-GB" sz="2400" spc="89" dirty="0">
                <a:solidFill>
                  <a:srgbClr val="080912"/>
                </a:solidFill>
                <a:latin typeface="Arial MT"/>
                <a:cs typeface="Arial MT"/>
              </a:rPr>
              <a:t> </a:t>
            </a:r>
            <a:r>
              <a:rPr lang="en-GB" sz="2400" spc="-14" dirty="0">
                <a:solidFill>
                  <a:srgbClr val="080912"/>
                </a:solidFill>
                <a:latin typeface="Arial MT"/>
                <a:cs typeface="Arial MT"/>
              </a:rPr>
              <a:t>multi-class </a:t>
            </a:r>
            <a:r>
              <a:rPr lang="en-GB" sz="2400" spc="-249" dirty="0">
                <a:solidFill>
                  <a:srgbClr val="080912"/>
                </a:solidFill>
                <a:latin typeface="Arial MT"/>
                <a:cs typeface="Arial MT"/>
              </a:rPr>
              <a:t> </a:t>
            </a:r>
            <a:r>
              <a:rPr lang="en-GB" sz="2400" spc="-14" dirty="0">
                <a:solidFill>
                  <a:srgbClr val="080912"/>
                </a:solidFill>
                <a:latin typeface="Arial MT"/>
                <a:cs typeface="Arial MT"/>
              </a:rPr>
              <a:t>classification</a:t>
            </a:r>
            <a:r>
              <a:rPr lang="en-GB" sz="2400" spc="-20" dirty="0">
                <a:solidFill>
                  <a:srgbClr val="080912"/>
                </a:solidFill>
                <a:latin typeface="Arial MT"/>
                <a:cs typeface="Arial MT"/>
              </a:rPr>
              <a:t> </a:t>
            </a:r>
            <a:r>
              <a:rPr lang="en-GB" sz="2400" spc="-14" dirty="0">
                <a:solidFill>
                  <a:srgbClr val="080912"/>
                </a:solidFill>
                <a:latin typeface="Arial MT"/>
                <a:cs typeface="Arial MT"/>
              </a:rPr>
              <a:t>problems.</a:t>
            </a:r>
            <a:endParaRPr lang="en-GB" sz="2400" dirty="0">
              <a:latin typeface="Arial MT"/>
              <a:cs typeface="Arial MT"/>
            </a:endParaRPr>
          </a:p>
          <a:p>
            <a:pPr marL="8659" marR="3896" algn="just">
              <a:lnSpc>
                <a:spcPct val="143700"/>
              </a:lnSpc>
              <a:spcBef>
                <a:spcPts val="399"/>
              </a:spcBef>
            </a:pPr>
            <a:endParaRPr lang="en-GB" sz="2400" dirty="0">
              <a:latin typeface="Arial MT"/>
              <a:cs typeface="Arial MT"/>
            </a:endParaRPr>
          </a:p>
          <a:p>
            <a:pPr marL="8659">
              <a:spcBef>
                <a:spcPts val="893"/>
              </a:spcBef>
            </a:pPr>
            <a:endParaRPr lang="en-GB" sz="2400" dirty="0">
              <a:latin typeface="Arial MT"/>
              <a:cs typeface="Arial MT"/>
            </a:endParaRPr>
          </a:p>
          <a:p>
            <a:endParaRPr lang="en-PK" dirty="0"/>
          </a:p>
        </p:txBody>
      </p:sp>
      <p:sp>
        <p:nvSpPr>
          <p:cNvPr id="2" name="Slide Number Placeholder 1">
            <a:extLst>
              <a:ext uri="{FF2B5EF4-FFF2-40B4-BE49-F238E27FC236}">
                <a16:creationId xmlns:a16="http://schemas.microsoft.com/office/drawing/2014/main" id="{B3300A32-7F3B-A5BB-2318-06654C3819BF}"/>
              </a:ext>
            </a:extLst>
          </p:cNvPr>
          <p:cNvSpPr>
            <a:spLocks noGrp="1"/>
          </p:cNvSpPr>
          <p:nvPr>
            <p:ph type="sldNum" sz="quarter" idx="12"/>
          </p:nvPr>
        </p:nvSpPr>
        <p:spPr/>
        <p:txBody>
          <a:bodyPr/>
          <a:lstStyle/>
          <a:p>
            <a:fld id="{9CD9A578-84A4-4247-B01E-A84B9E2DF7BB}" type="slidenum">
              <a:rPr lang="en-PK" smtClean="0"/>
              <a:t>18</a:t>
            </a:fld>
            <a:endParaRPr lang="en-PK"/>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8718486" y="1815567"/>
            <a:ext cx="2957843" cy="2656846"/>
          </a:xfrm>
          <a:prstGeom prst="rect">
            <a:avLst/>
          </a:prstGeom>
        </p:spPr>
      </p:pic>
      <p:sp>
        <p:nvSpPr>
          <p:cNvPr id="5" name="Title 4">
            <a:extLst>
              <a:ext uri="{FF2B5EF4-FFF2-40B4-BE49-F238E27FC236}">
                <a16:creationId xmlns:a16="http://schemas.microsoft.com/office/drawing/2014/main" id="{5A49D60C-F222-70C3-486F-A666161059F8}"/>
              </a:ext>
            </a:extLst>
          </p:cNvPr>
          <p:cNvSpPr>
            <a:spLocks noGrp="1"/>
          </p:cNvSpPr>
          <p:nvPr>
            <p:ph type="title"/>
          </p:nvPr>
        </p:nvSpPr>
        <p:spPr/>
        <p:txBody>
          <a:bodyPr/>
          <a:lstStyle/>
          <a:p>
            <a:r>
              <a:rPr lang="en-GB" sz="4400" b="1" spc="-20" dirty="0">
                <a:solidFill>
                  <a:srgbClr val="272E40"/>
                </a:solidFill>
                <a:latin typeface="Arial"/>
                <a:cs typeface="Arial"/>
              </a:rPr>
              <a:t>Swish</a:t>
            </a:r>
            <a:endParaRPr lang="en-PK" dirty="0"/>
          </a:p>
        </p:txBody>
      </p:sp>
      <p:sp>
        <p:nvSpPr>
          <p:cNvPr id="6" name="Content Placeholder 5">
            <a:extLst>
              <a:ext uri="{FF2B5EF4-FFF2-40B4-BE49-F238E27FC236}">
                <a16:creationId xmlns:a16="http://schemas.microsoft.com/office/drawing/2014/main" id="{4418DE33-3189-4334-F784-E7813A5BCED2}"/>
              </a:ext>
            </a:extLst>
          </p:cNvPr>
          <p:cNvSpPr>
            <a:spLocks noGrp="1"/>
          </p:cNvSpPr>
          <p:nvPr>
            <p:ph idx="1"/>
          </p:nvPr>
        </p:nvSpPr>
        <p:spPr>
          <a:xfrm>
            <a:off x="1143001" y="2057400"/>
            <a:ext cx="5556564" cy="4038600"/>
          </a:xfrm>
        </p:spPr>
        <p:txBody>
          <a:bodyPr>
            <a:normAutofit fontScale="70000" lnSpcReduction="20000"/>
          </a:bodyPr>
          <a:lstStyle/>
          <a:p>
            <a:pPr marL="8659">
              <a:spcBef>
                <a:spcPts val="886"/>
              </a:spcBef>
            </a:pPr>
            <a:r>
              <a:rPr lang="en-GB" sz="2400" spc="-7" dirty="0">
                <a:solidFill>
                  <a:srgbClr val="080912"/>
                </a:solidFill>
                <a:latin typeface="Arial MT"/>
                <a:cs typeface="Arial MT"/>
              </a:rPr>
              <a:t>It</a:t>
            </a:r>
            <a:r>
              <a:rPr lang="en-GB" sz="2400" spc="-24" dirty="0">
                <a:solidFill>
                  <a:srgbClr val="080912"/>
                </a:solidFill>
                <a:latin typeface="Arial MT"/>
                <a:cs typeface="Arial MT"/>
              </a:rPr>
              <a:t> </a:t>
            </a:r>
            <a:r>
              <a:rPr lang="en-GB" sz="2400" spc="-7" dirty="0">
                <a:solidFill>
                  <a:srgbClr val="080912"/>
                </a:solidFill>
                <a:latin typeface="Arial MT"/>
                <a:cs typeface="Arial MT"/>
              </a:rPr>
              <a:t>is</a:t>
            </a:r>
            <a:r>
              <a:rPr lang="en-GB" sz="2400" spc="-20" dirty="0">
                <a:solidFill>
                  <a:srgbClr val="080912"/>
                </a:solidFill>
                <a:latin typeface="Arial MT"/>
                <a:cs typeface="Arial MT"/>
              </a:rPr>
              <a:t> </a:t>
            </a:r>
            <a:r>
              <a:rPr lang="en-GB" sz="2400" dirty="0">
                <a:solidFill>
                  <a:srgbClr val="080912"/>
                </a:solidFill>
                <a:latin typeface="Arial MT"/>
                <a:cs typeface="Arial MT"/>
              </a:rPr>
              <a:t>a</a:t>
            </a:r>
            <a:r>
              <a:rPr lang="en-GB" sz="2400" spc="-24" dirty="0">
                <a:solidFill>
                  <a:srgbClr val="080912"/>
                </a:solidFill>
                <a:latin typeface="Arial MT"/>
                <a:cs typeface="Arial MT"/>
              </a:rPr>
              <a:t> </a:t>
            </a:r>
            <a:r>
              <a:rPr lang="en-GB" sz="2400" spc="-10" dirty="0">
                <a:solidFill>
                  <a:srgbClr val="080912"/>
                </a:solidFill>
                <a:latin typeface="Arial MT"/>
                <a:cs typeface="Arial MT"/>
              </a:rPr>
              <a:t>self-gated</a:t>
            </a:r>
            <a:r>
              <a:rPr lang="en-GB" sz="2400" spc="-24"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1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0" dirty="0">
                <a:solidFill>
                  <a:srgbClr val="080912"/>
                </a:solidFill>
                <a:latin typeface="Arial MT"/>
                <a:cs typeface="Arial MT"/>
              </a:rPr>
              <a:t>developed</a:t>
            </a:r>
            <a:r>
              <a:rPr lang="en-GB" sz="2400" spc="-17" dirty="0">
                <a:solidFill>
                  <a:srgbClr val="080912"/>
                </a:solidFill>
                <a:latin typeface="Arial MT"/>
                <a:cs typeface="Arial MT"/>
              </a:rPr>
              <a:t> </a:t>
            </a:r>
            <a:r>
              <a:rPr lang="en-GB" sz="2400" spc="-7" dirty="0">
                <a:solidFill>
                  <a:srgbClr val="080912"/>
                </a:solidFill>
                <a:latin typeface="Arial MT"/>
                <a:cs typeface="Arial MT"/>
              </a:rPr>
              <a:t>by</a:t>
            </a:r>
            <a:r>
              <a:rPr lang="en-GB" sz="2400" spc="-20" dirty="0">
                <a:solidFill>
                  <a:srgbClr val="080912"/>
                </a:solidFill>
                <a:latin typeface="Arial MT"/>
                <a:cs typeface="Arial MT"/>
              </a:rPr>
              <a:t> </a:t>
            </a:r>
            <a:r>
              <a:rPr lang="en-GB" sz="2400" spc="-14" dirty="0">
                <a:solidFill>
                  <a:srgbClr val="080912"/>
                </a:solidFill>
                <a:latin typeface="Arial MT"/>
                <a:cs typeface="Arial MT"/>
              </a:rPr>
              <a:t>researchers</a:t>
            </a:r>
            <a:r>
              <a:rPr lang="en-GB" sz="2400" spc="-20" dirty="0">
                <a:solidFill>
                  <a:srgbClr val="080912"/>
                </a:solidFill>
                <a:latin typeface="Arial MT"/>
                <a:cs typeface="Arial MT"/>
              </a:rPr>
              <a:t> </a:t>
            </a:r>
            <a:r>
              <a:rPr lang="en-GB" sz="2400" spc="-3" dirty="0">
                <a:solidFill>
                  <a:srgbClr val="080912"/>
                </a:solidFill>
                <a:latin typeface="Arial MT"/>
                <a:cs typeface="Arial MT"/>
              </a:rPr>
              <a:t>at</a:t>
            </a:r>
            <a:r>
              <a:rPr lang="en-GB" sz="2400" spc="-20" dirty="0">
                <a:solidFill>
                  <a:srgbClr val="080912"/>
                </a:solidFill>
                <a:latin typeface="Arial MT"/>
                <a:cs typeface="Arial MT"/>
              </a:rPr>
              <a:t> </a:t>
            </a:r>
            <a:r>
              <a:rPr lang="en-GB" sz="2400" spc="-10" dirty="0">
                <a:solidFill>
                  <a:srgbClr val="080912"/>
                </a:solidFill>
                <a:latin typeface="Arial MT"/>
                <a:cs typeface="Arial MT"/>
              </a:rPr>
              <a:t>Google.</a:t>
            </a:r>
            <a:endParaRPr lang="en-GB" sz="2400" dirty="0">
              <a:latin typeface="Arial MT"/>
              <a:cs typeface="Arial MT"/>
            </a:endParaRPr>
          </a:p>
          <a:p>
            <a:pPr marL="8659" marR="3896">
              <a:lnSpc>
                <a:spcPct val="143700"/>
              </a:lnSpc>
              <a:spcBef>
                <a:spcPts val="402"/>
              </a:spcBef>
            </a:pPr>
            <a:r>
              <a:rPr lang="en-GB" sz="2400" spc="-10" dirty="0">
                <a:solidFill>
                  <a:srgbClr val="080912"/>
                </a:solidFill>
                <a:latin typeface="Arial MT"/>
                <a:cs typeface="Arial MT"/>
              </a:rPr>
              <a:t>Swish</a:t>
            </a:r>
            <a:r>
              <a:rPr lang="en-GB" sz="2400" spc="211" dirty="0">
                <a:solidFill>
                  <a:srgbClr val="080912"/>
                </a:solidFill>
                <a:latin typeface="Arial MT"/>
                <a:cs typeface="Arial MT"/>
              </a:rPr>
              <a:t> </a:t>
            </a:r>
            <a:r>
              <a:rPr lang="en-GB" sz="2400" spc="-14" dirty="0">
                <a:solidFill>
                  <a:srgbClr val="080912"/>
                </a:solidFill>
                <a:latin typeface="Arial MT"/>
                <a:cs typeface="Arial MT"/>
              </a:rPr>
              <a:t>consistently  </a:t>
            </a:r>
            <a:r>
              <a:rPr lang="en-GB" sz="2400" spc="-10" dirty="0">
                <a:solidFill>
                  <a:srgbClr val="080912"/>
                </a:solidFill>
                <a:latin typeface="Arial MT"/>
                <a:cs typeface="Arial MT"/>
              </a:rPr>
              <a:t>matches</a:t>
            </a:r>
            <a:r>
              <a:rPr lang="en-GB" sz="2400" spc="228" dirty="0">
                <a:solidFill>
                  <a:srgbClr val="080912"/>
                </a:solidFill>
                <a:latin typeface="Arial MT"/>
                <a:cs typeface="Arial MT"/>
              </a:rPr>
              <a:t> </a:t>
            </a:r>
            <a:r>
              <a:rPr lang="en-GB" sz="2400" spc="-3" dirty="0">
                <a:solidFill>
                  <a:srgbClr val="080912"/>
                </a:solidFill>
                <a:latin typeface="Arial MT"/>
                <a:cs typeface="Arial MT"/>
              </a:rPr>
              <a:t>or</a:t>
            </a:r>
            <a:r>
              <a:rPr lang="en-GB" sz="2400" spc="215" dirty="0">
                <a:solidFill>
                  <a:srgbClr val="080912"/>
                </a:solidFill>
                <a:latin typeface="Arial MT"/>
                <a:cs typeface="Arial MT"/>
              </a:rPr>
              <a:t> </a:t>
            </a:r>
            <a:r>
              <a:rPr lang="en-GB" sz="2400" spc="-10" dirty="0">
                <a:solidFill>
                  <a:srgbClr val="080912"/>
                </a:solidFill>
                <a:latin typeface="Arial MT"/>
                <a:cs typeface="Arial MT"/>
              </a:rPr>
              <a:t>outperforms</a:t>
            </a:r>
            <a:r>
              <a:rPr lang="en-GB" sz="2400" spc="228" dirty="0">
                <a:solidFill>
                  <a:srgbClr val="080912"/>
                </a:solidFill>
                <a:latin typeface="Arial MT"/>
                <a:cs typeface="Arial MT"/>
              </a:rPr>
              <a:t> </a:t>
            </a:r>
            <a:r>
              <a:rPr lang="en-GB" sz="2400" spc="-10" dirty="0" err="1">
                <a:solidFill>
                  <a:srgbClr val="080912"/>
                </a:solidFill>
                <a:latin typeface="Arial MT"/>
                <a:cs typeface="Arial MT"/>
              </a:rPr>
              <a:t>ReLU</a:t>
            </a:r>
            <a:r>
              <a:rPr lang="en-GB" sz="2400" spc="225"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222"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25" dirty="0">
                <a:solidFill>
                  <a:srgbClr val="080912"/>
                </a:solidFill>
                <a:latin typeface="Arial MT"/>
                <a:cs typeface="Arial MT"/>
              </a:rPr>
              <a:t> </a:t>
            </a:r>
            <a:r>
              <a:rPr lang="en-GB" sz="2400" spc="-7" dirty="0">
                <a:solidFill>
                  <a:srgbClr val="080912"/>
                </a:solidFill>
                <a:latin typeface="Arial MT"/>
                <a:cs typeface="Arial MT"/>
              </a:rPr>
              <a:t>on</a:t>
            </a:r>
            <a:r>
              <a:rPr lang="en-GB" sz="2400" spc="225" dirty="0">
                <a:solidFill>
                  <a:srgbClr val="080912"/>
                </a:solidFill>
                <a:latin typeface="Arial MT"/>
                <a:cs typeface="Arial MT"/>
              </a:rPr>
              <a:t> </a:t>
            </a:r>
            <a:r>
              <a:rPr lang="en-GB" sz="2400" spc="-10" dirty="0">
                <a:solidFill>
                  <a:srgbClr val="080912"/>
                </a:solidFill>
                <a:latin typeface="Arial MT"/>
                <a:cs typeface="Arial MT"/>
              </a:rPr>
              <a:t>deep</a:t>
            </a:r>
            <a:r>
              <a:rPr lang="en-GB" sz="2400" spc="222" dirty="0">
                <a:solidFill>
                  <a:srgbClr val="080912"/>
                </a:solidFill>
                <a:latin typeface="Arial MT"/>
                <a:cs typeface="Arial MT"/>
              </a:rPr>
              <a:t> </a:t>
            </a:r>
            <a:r>
              <a:rPr lang="en-GB" sz="2400" spc="-14" dirty="0">
                <a:solidFill>
                  <a:srgbClr val="080912"/>
                </a:solidFill>
                <a:latin typeface="Arial MT"/>
                <a:cs typeface="Arial MT"/>
              </a:rPr>
              <a:t>networks </a:t>
            </a:r>
            <a:r>
              <a:rPr lang="en-GB" sz="2400" spc="-245" dirty="0">
                <a:solidFill>
                  <a:srgbClr val="080912"/>
                </a:solidFill>
                <a:latin typeface="Arial MT"/>
                <a:cs typeface="Arial MT"/>
              </a:rPr>
              <a:t> </a:t>
            </a:r>
            <a:r>
              <a:rPr lang="en-GB" sz="2400" spc="-10" dirty="0">
                <a:solidFill>
                  <a:srgbClr val="080912"/>
                </a:solidFill>
                <a:latin typeface="Arial MT"/>
                <a:cs typeface="Arial MT"/>
              </a:rPr>
              <a:t>applied</a:t>
            </a:r>
            <a:r>
              <a:rPr lang="en-GB" sz="2400" spc="-20" dirty="0">
                <a:solidFill>
                  <a:srgbClr val="080912"/>
                </a:solidFill>
                <a:latin typeface="Arial MT"/>
                <a:cs typeface="Arial MT"/>
              </a:rPr>
              <a:t> </a:t>
            </a:r>
            <a:r>
              <a:rPr lang="en-GB" sz="2400" spc="-10" dirty="0">
                <a:solidFill>
                  <a:srgbClr val="080912"/>
                </a:solidFill>
                <a:latin typeface="Arial MT"/>
                <a:cs typeface="Arial MT"/>
              </a:rPr>
              <a:t>to</a:t>
            </a:r>
            <a:r>
              <a:rPr lang="en-GB" sz="2400" spc="-27" dirty="0">
                <a:solidFill>
                  <a:srgbClr val="080912"/>
                </a:solidFill>
                <a:latin typeface="Arial MT"/>
                <a:cs typeface="Arial MT"/>
              </a:rPr>
              <a:t> </a:t>
            </a:r>
            <a:r>
              <a:rPr lang="en-GB" sz="2400" spc="-10" dirty="0">
                <a:solidFill>
                  <a:srgbClr val="080912"/>
                </a:solidFill>
                <a:latin typeface="Arial MT"/>
                <a:cs typeface="Arial MT"/>
              </a:rPr>
              <a:t>various</a:t>
            </a:r>
            <a:r>
              <a:rPr lang="en-GB" sz="2400" spc="-24" dirty="0">
                <a:solidFill>
                  <a:srgbClr val="080912"/>
                </a:solidFill>
                <a:latin typeface="Arial MT"/>
                <a:cs typeface="Arial MT"/>
              </a:rPr>
              <a:t> </a:t>
            </a:r>
            <a:r>
              <a:rPr lang="en-GB" sz="2400" spc="-10" dirty="0">
                <a:solidFill>
                  <a:srgbClr val="080912"/>
                </a:solidFill>
                <a:latin typeface="Arial MT"/>
                <a:cs typeface="Arial MT"/>
              </a:rPr>
              <a:t>challenging</a:t>
            </a:r>
            <a:r>
              <a:rPr lang="en-GB" sz="2400" spc="-20" dirty="0">
                <a:solidFill>
                  <a:srgbClr val="080912"/>
                </a:solidFill>
                <a:latin typeface="Arial MT"/>
                <a:cs typeface="Arial MT"/>
              </a:rPr>
              <a:t> </a:t>
            </a:r>
            <a:r>
              <a:rPr lang="en-GB" sz="2400" spc="-14" dirty="0">
                <a:solidFill>
                  <a:srgbClr val="080912"/>
                </a:solidFill>
                <a:latin typeface="Arial MT"/>
                <a:cs typeface="Arial MT"/>
              </a:rPr>
              <a:t>domains</a:t>
            </a:r>
            <a:r>
              <a:rPr lang="en-GB" sz="2400" spc="-20" dirty="0">
                <a:solidFill>
                  <a:srgbClr val="080912"/>
                </a:solidFill>
                <a:latin typeface="Arial MT"/>
                <a:cs typeface="Arial MT"/>
              </a:rPr>
              <a:t> </a:t>
            </a:r>
            <a:r>
              <a:rPr lang="en-GB" sz="2400" spc="-10" dirty="0">
                <a:solidFill>
                  <a:srgbClr val="080912"/>
                </a:solidFill>
                <a:latin typeface="Arial MT"/>
                <a:cs typeface="Arial MT"/>
              </a:rPr>
              <a:t>such</a:t>
            </a:r>
            <a:r>
              <a:rPr lang="en-GB" sz="2400" spc="-27" dirty="0">
                <a:solidFill>
                  <a:srgbClr val="080912"/>
                </a:solidFill>
                <a:latin typeface="Arial MT"/>
                <a:cs typeface="Arial MT"/>
              </a:rPr>
              <a:t> </a:t>
            </a:r>
            <a:r>
              <a:rPr lang="en-GB" sz="2400" spc="-7" dirty="0">
                <a:solidFill>
                  <a:srgbClr val="080912"/>
                </a:solidFill>
                <a:latin typeface="Arial MT"/>
                <a:cs typeface="Arial MT"/>
              </a:rPr>
              <a:t>as</a:t>
            </a:r>
            <a:r>
              <a:rPr lang="en-GB" sz="2400" spc="-20" dirty="0">
                <a:solidFill>
                  <a:srgbClr val="080912"/>
                </a:solidFill>
                <a:latin typeface="Arial MT"/>
                <a:cs typeface="Arial MT"/>
              </a:rPr>
              <a:t> </a:t>
            </a:r>
            <a:r>
              <a:rPr lang="en-GB" sz="2000" u="sng" spc="-14" dirty="0">
                <a:solidFill>
                  <a:srgbClr val="0F63FD"/>
                </a:solidFill>
                <a:uFill>
                  <a:solidFill>
                    <a:srgbClr val="0F63FD"/>
                  </a:solidFill>
                </a:uFill>
                <a:latin typeface="Arial MT"/>
                <a:cs typeface="Arial MT"/>
              </a:rPr>
              <a:t>image</a:t>
            </a:r>
            <a:r>
              <a:rPr lang="en-GB" sz="2000" u="sng" spc="-20" dirty="0">
                <a:solidFill>
                  <a:srgbClr val="0F63FD"/>
                </a:solidFill>
                <a:uFill>
                  <a:solidFill>
                    <a:srgbClr val="0F63FD"/>
                  </a:solidFill>
                </a:uFill>
                <a:latin typeface="Arial MT"/>
                <a:cs typeface="Arial MT"/>
              </a:rPr>
              <a:t> </a:t>
            </a:r>
            <a:r>
              <a:rPr lang="en-GB" sz="2000" u="sng" spc="-10" dirty="0">
                <a:solidFill>
                  <a:srgbClr val="0F63FD"/>
                </a:solidFill>
                <a:uFill>
                  <a:solidFill>
                    <a:srgbClr val="0F63FD"/>
                  </a:solidFill>
                </a:uFill>
                <a:latin typeface="Arial MT"/>
                <a:cs typeface="Arial MT"/>
              </a:rPr>
              <a:t>classification</a:t>
            </a:r>
            <a:r>
              <a:rPr lang="en-GB" sz="2400" spc="-10" dirty="0">
                <a:solidFill>
                  <a:srgbClr val="080912"/>
                </a:solidFill>
                <a:latin typeface="Arial MT"/>
                <a:cs typeface="Arial MT"/>
              </a:rPr>
              <a:t>,</a:t>
            </a:r>
            <a:r>
              <a:rPr lang="en-GB" sz="2400" spc="-27" dirty="0">
                <a:solidFill>
                  <a:srgbClr val="080912"/>
                </a:solidFill>
                <a:latin typeface="Arial MT"/>
                <a:cs typeface="Arial MT"/>
              </a:rPr>
              <a:t> </a:t>
            </a:r>
            <a:r>
              <a:rPr lang="en-GB" sz="2400" spc="-10" dirty="0">
                <a:solidFill>
                  <a:srgbClr val="080912"/>
                </a:solidFill>
                <a:latin typeface="Arial MT"/>
                <a:cs typeface="Arial MT"/>
              </a:rPr>
              <a:t>machine</a:t>
            </a:r>
            <a:r>
              <a:rPr lang="en-GB" sz="2400" spc="-20" dirty="0">
                <a:solidFill>
                  <a:srgbClr val="080912"/>
                </a:solidFill>
                <a:latin typeface="Arial MT"/>
                <a:cs typeface="Arial MT"/>
              </a:rPr>
              <a:t> </a:t>
            </a:r>
            <a:r>
              <a:rPr lang="en-GB" sz="2400" spc="-10" dirty="0">
                <a:solidFill>
                  <a:srgbClr val="080912"/>
                </a:solidFill>
                <a:latin typeface="Arial MT"/>
                <a:cs typeface="Arial MT"/>
              </a:rPr>
              <a:t>translation</a:t>
            </a:r>
            <a:r>
              <a:rPr lang="en-GB" sz="2400" spc="-27" dirty="0">
                <a:solidFill>
                  <a:srgbClr val="080912"/>
                </a:solidFill>
                <a:latin typeface="Arial MT"/>
                <a:cs typeface="Arial MT"/>
              </a:rPr>
              <a:t> </a:t>
            </a:r>
            <a:r>
              <a:rPr lang="en-GB" sz="2400" spc="-7" dirty="0">
                <a:solidFill>
                  <a:srgbClr val="080912"/>
                </a:solidFill>
                <a:latin typeface="Arial MT"/>
                <a:cs typeface="Arial MT"/>
              </a:rPr>
              <a:t>etc.</a:t>
            </a:r>
          </a:p>
          <a:p>
            <a:pPr marL="8659" marR="3896">
              <a:lnSpc>
                <a:spcPct val="143700"/>
              </a:lnSpc>
              <a:spcBef>
                <a:spcPts val="402"/>
              </a:spcBef>
            </a:pPr>
            <a:endParaRPr lang="en-GB" sz="2400" spc="-7" dirty="0">
              <a:solidFill>
                <a:srgbClr val="080912"/>
              </a:solidFill>
              <a:latin typeface="Arial MT"/>
              <a:cs typeface="Arial MT"/>
            </a:endParaRPr>
          </a:p>
          <a:p>
            <a:pPr marL="8659">
              <a:spcBef>
                <a:spcPts val="72"/>
              </a:spcBef>
            </a:pPr>
            <a:r>
              <a:rPr lang="en-GB" sz="3600" dirty="0">
                <a:solidFill>
                  <a:srgbClr val="080912"/>
                </a:solidFill>
                <a:latin typeface="Arial MT"/>
                <a:cs typeface="Arial MT"/>
              </a:rPr>
              <a:t>Swish</a:t>
            </a:r>
            <a:r>
              <a:rPr lang="en-GB" sz="3600" spc="-10" dirty="0">
                <a:solidFill>
                  <a:srgbClr val="080912"/>
                </a:solidFill>
                <a:latin typeface="Arial MT"/>
                <a:cs typeface="Arial MT"/>
              </a:rPr>
              <a:t> </a:t>
            </a:r>
            <a:r>
              <a:rPr lang="en-GB" sz="3600" spc="-3" dirty="0">
                <a:solidFill>
                  <a:srgbClr val="080912"/>
                </a:solidFill>
                <a:latin typeface="Arial MT"/>
                <a:cs typeface="Arial MT"/>
              </a:rPr>
              <a:t>Activation</a:t>
            </a:r>
            <a:r>
              <a:rPr lang="en-GB" sz="3600" spc="-17" dirty="0">
                <a:solidFill>
                  <a:srgbClr val="080912"/>
                </a:solidFill>
                <a:latin typeface="Arial MT"/>
                <a:cs typeface="Arial MT"/>
              </a:rPr>
              <a:t> </a:t>
            </a:r>
            <a:r>
              <a:rPr lang="en-GB" sz="3600" dirty="0">
                <a:solidFill>
                  <a:srgbClr val="080912"/>
                </a:solidFill>
                <a:latin typeface="Arial MT"/>
                <a:cs typeface="Arial MT"/>
              </a:rPr>
              <a:t>Function</a:t>
            </a:r>
            <a:endParaRPr lang="en-GB" sz="3600" dirty="0">
              <a:latin typeface="Arial MT"/>
              <a:cs typeface="Arial MT"/>
            </a:endParaRPr>
          </a:p>
          <a:p>
            <a:pPr marL="8659" marR="3464">
              <a:lnSpc>
                <a:spcPct val="143700"/>
              </a:lnSpc>
              <a:spcBef>
                <a:spcPts val="985"/>
              </a:spcBef>
            </a:pPr>
            <a:r>
              <a:rPr lang="en-GB" sz="2400" spc="-7" dirty="0">
                <a:solidFill>
                  <a:srgbClr val="080912"/>
                </a:solidFill>
                <a:latin typeface="Arial MT"/>
                <a:cs typeface="Arial MT"/>
              </a:rPr>
              <a:t>This</a:t>
            </a:r>
            <a:r>
              <a:rPr lang="en-GB" sz="2400" spc="2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0" dirty="0">
                <a:solidFill>
                  <a:srgbClr val="080912"/>
                </a:solidFill>
                <a:latin typeface="Arial MT"/>
                <a:cs typeface="Arial MT"/>
              </a:rPr>
              <a:t>is</a:t>
            </a:r>
            <a:r>
              <a:rPr lang="en-GB" sz="2400" spc="20" dirty="0">
                <a:solidFill>
                  <a:srgbClr val="080912"/>
                </a:solidFill>
                <a:latin typeface="Arial MT"/>
                <a:cs typeface="Arial MT"/>
              </a:rPr>
              <a:t> </a:t>
            </a:r>
            <a:r>
              <a:rPr lang="en-GB" sz="2400" spc="-10" dirty="0">
                <a:solidFill>
                  <a:srgbClr val="080912"/>
                </a:solidFill>
                <a:latin typeface="Arial MT"/>
                <a:cs typeface="Arial MT"/>
              </a:rPr>
              <a:t>bounded</a:t>
            </a:r>
            <a:r>
              <a:rPr lang="en-GB" sz="2400" spc="24" dirty="0">
                <a:solidFill>
                  <a:srgbClr val="080912"/>
                </a:solidFill>
                <a:latin typeface="Arial MT"/>
                <a:cs typeface="Arial MT"/>
              </a:rPr>
              <a:t> </a:t>
            </a:r>
            <a:r>
              <a:rPr lang="en-GB" sz="2400" spc="-10" dirty="0">
                <a:solidFill>
                  <a:srgbClr val="080912"/>
                </a:solidFill>
                <a:latin typeface="Arial MT"/>
                <a:cs typeface="Arial MT"/>
              </a:rPr>
              <a:t>below</a:t>
            </a:r>
            <a:r>
              <a:rPr lang="en-GB" sz="2400" spc="27" dirty="0">
                <a:solidFill>
                  <a:srgbClr val="080912"/>
                </a:solidFill>
                <a:latin typeface="Arial MT"/>
                <a:cs typeface="Arial MT"/>
              </a:rPr>
              <a:t> </a:t>
            </a:r>
            <a:r>
              <a:rPr lang="en-GB" sz="2400" spc="-7" dirty="0">
                <a:solidFill>
                  <a:srgbClr val="080912"/>
                </a:solidFill>
                <a:latin typeface="Arial MT"/>
                <a:cs typeface="Arial MT"/>
              </a:rPr>
              <a:t>but</a:t>
            </a:r>
            <a:r>
              <a:rPr lang="en-GB" sz="2400" spc="7" dirty="0">
                <a:solidFill>
                  <a:srgbClr val="080912"/>
                </a:solidFill>
                <a:latin typeface="Arial MT"/>
                <a:cs typeface="Arial MT"/>
              </a:rPr>
              <a:t> </a:t>
            </a:r>
            <a:r>
              <a:rPr lang="en-GB" sz="2400" spc="-10" dirty="0">
                <a:solidFill>
                  <a:srgbClr val="080912"/>
                </a:solidFill>
                <a:latin typeface="Arial MT"/>
                <a:cs typeface="Arial MT"/>
              </a:rPr>
              <a:t>unbounded</a:t>
            </a:r>
            <a:r>
              <a:rPr lang="en-GB" sz="2400" spc="17" dirty="0">
                <a:solidFill>
                  <a:srgbClr val="080912"/>
                </a:solidFill>
                <a:latin typeface="Arial MT"/>
                <a:cs typeface="Arial MT"/>
              </a:rPr>
              <a:t> </a:t>
            </a:r>
            <a:r>
              <a:rPr lang="en-GB" sz="2400" spc="-10" dirty="0">
                <a:solidFill>
                  <a:srgbClr val="080912"/>
                </a:solidFill>
                <a:latin typeface="Arial MT"/>
                <a:cs typeface="Arial MT"/>
              </a:rPr>
              <a:t>above</a:t>
            </a:r>
            <a:r>
              <a:rPr lang="en-GB" sz="2400" spc="24" dirty="0">
                <a:solidFill>
                  <a:srgbClr val="080912"/>
                </a:solidFill>
                <a:latin typeface="Arial MT"/>
                <a:cs typeface="Arial MT"/>
              </a:rPr>
              <a:t> </a:t>
            </a:r>
            <a:r>
              <a:rPr lang="en-GB" sz="2400" spc="-7" dirty="0">
                <a:solidFill>
                  <a:srgbClr val="080912"/>
                </a:solidFill>
                <a:latin typeface="Arial MT"/>
                <a:cs typeface="Arial MT"/>
              </a:rPr>
              <a:t>i.e.</a:t>
            </a:r>
            <a:r>
              <a:rPr lang="en-GB" sz="2400" spc="-27" dirty="0">
                <a:solidFill>
                  <a:srgbClr val="080912"/>
                </a:solidFill>
                <a:latin typeface="Arial MT"/>
                <a:cs typeface="Arial MT"/>
              </a:rPr>
              <a:t> </a:t>
            </a:r>
            <a:r>
              <a:rPr lang="en-GB" sz="2400" i="1" dirty="0">
                <a:solidFill>
                  <a:srgbClr val="080912"/>
                </a:solidFill>
                <a:latin typeface="Arial"/>
                <a:cs typeface="Arial"/>
              </a:rPr>
              <a:t>Y</a:t>
            </a:r>
            <a:r>
              <a:rPr lang="en-GB" sz="2400" i="1" spc="-20" dirty="0">
                <a:solidFill>
                  <a:srgbClr val="080912"/>
                </a:solidFill>
                <a:latin typeface="Arial"/>
                <a:cs typeface="Arial"/>
              </a:rPr>
              <a:t> </a:t>
            </a:r>
            <a:r>
              <a:rPr lang="en-GB" sz="2400" spc="-14" dirty="0">
                <a:solidFill>
                  <a:srgbClr val="080912"/>
                </a:solidFill>
                <a:latin typeface="Arial MT"/>
                <a:cs typeface="Arial MT"/>
              </a:rPr>
              <a:t>approaches</a:t>
            </a:r>
            <a:r>
              <a:rPr lang="en-GB" sz="2400" spc="27" dirty="0">
                <a:solidFill>
                  <a:srgbClr val="080912"/>
                </a:solidFill>
                <a:latin typeface="Arial MT"/>
                <a:cs typeface="Arial MT"/>
              </a:rPr>
              <a:t> </a:t>
            </a:r>
            <a:r>
              <a:rPr lang="en-GB" sz="2400" spc="-7" dirty="0">
                <a:solidFill>
                  <a:srgbClr val="080912"/>
                </a:solidFill>
                <a:latin typeface="Arial MT"/>
                <a:cs typeface="Arial MT"/>
              </a:rPr>
              <a:t>to</a:t>
            </a:r>
            <a:r>
              <a:rPr lang="en-GB" sz="2400" spc="17" dirty="0">
                <a:solidFill>
                  <a:srgbClr val="080912"/>
                </a:solidFill>
                <a:latin typeface="Arial MT"/>
                <a:cs typeface="Arial MT"/>
              </a:rPr>
              <a:t> </a:t>
            </a:r>
            <a:r>
              <a:rPr lang="en-GB" sz="2400" dirty="0">
                <a:solidFill>
                  <a:srgbClr val="080912"/>
                </a:solidFill>
                <a:latin typeface="Arial MT"/>
                <a:cs typeface="Arial MT"/>
              </a:rPr>
              <a:t>a</a:t>
            </a:r>
            <a:r>
              <a:rPr lang="en-GB" sz="2400" spc="24" dirty="0">
                <a:solidFill>
                  <a:srgbClr val="080912"/>
                </a:solidFill>
                <a:latin typeface="Arial MT"/>
                <a:cs typeface="Arial MT"/>
              </a:rPr>
              <a:t> </a:t>
            </a:r>
            <a:r>
              <a:rPr lang="en-GB" sz="2400" spc="-10" dirty="0">
                <a:solidFill>
                  <a:srgbClr val="080912"/>
                </a:solidFill>
                <a:latin typeface="Arial MT"/>
                <a:cs typeface="Arial MT"/>
              </a:rPr>
              <a:t>constant</a:t>
            </a:r>
            <a:r>
              <a:rPr lang="en-GB" sz="2400" spc="10" dirty="0">
                <a:solidFill>
                  <a:srgbClr val="080912"/>
                </a:solidFill>
                <a:latin typeface="Arial MT"/>
                <a:cs typeface="Arial MT"/>
              </a:rPr>
              <a:t> </a:t>
            </a:r>
            <a:r>
              <a:rPr lang="en-GB" sz="2400" spc="-10" dirty="0">
                <a:solidFill>
                  <a:srgbClr val="080912"/>
                </a:solidFill>
                <a:latin typeface="Arial MT"/>
                <a:cs typeface="Arial MT"/>
              </a:rPr>
              <a:t>value </a:t>
            </a:r>
            <a:r>
              <a:rPr lang="en-GB" sz="2400" spc="-245" dirty="0">
                <a:solidFill>
                  <a:srgbClr val="080912"/>
                </a:solidFill>
                <a:latin typeface="Arial MT"/>
                <a:cs typeface="Arial MT"/>
              </a:rPr>
              <a:t> </a:t>
            </a:r>
            <a:r>
              <a:rPr lang="en-GB" sz="2400" spc="-7" dirty="0">
                <a:solidFill>
                  <a:srgbClr val="080912"/>
                </a:solidFill>
                <a:latin typeface="Arial MT"/>
                <a:cs typeface="Arial MT"/>
              </a:rPr>
              <a:t>as</a:t>
            </a:r>
            <a:r>
              <a:rPr lang="en-GB" sz="2400" spc="-17" dirty="0">
                <a:solidFill>
                  <a:srgbClr val="080912"/>
                </a:solidFill>
                <a:latin typeface="Arial MT"/>
                <a:cs typeface="Arial MT"/>
              </a:rPr>
              <a:t> </a:t>
            </a:r>
            <a:r>
              <a:rPr lang="en-GB" sz="2400" i="1" dirty="0">
                <a:solidFill>
                  <a:srgbClr val="080912"/>
                </a:solidFill>
                <a:latin typeface="Arial"/>
                <a:cs typeface="Arial"/>
              </a:rPr>
              <a:t>X</a:t>
            </a:r>
            <a:r>
              <a:rPr lang="en-GB" sz="2400" i="1" spc="-31" dirty="0">
                <a:solidFill>
                  <a:srgbClr val="080912"/>
                </a:solidFill>
                <a:latin typeface="Arial"/>
                <a:cs typeface="Arial"/>
              </a:rPr>
              <a:t> </a:t>
            </a:r>
            <a:r>
              <a:rPr lang="en-GB" sz="2400" spc="-10" dirty="0">
                <a:solidFill>
                  <a:srgbClr val="080912"/>
                </a:solidFill>
                <a:latin typeface="Arial MT"/>
                <a:cs typeface="Arial MT"/>
              </a:rPr>
              <a:t>approaches</a:t>
            </a:r>
            <a:r>
              <a:rPr lang="en-GB" sz="2400" spc="-24" dirty="0">
                <a:solidFill>
                  <a:srgbClr val="080912"/>
                </a:solidFill>
                <a:latin typeface="Arial MT"/>
                <a:cs typeface="Arial MT"/>
              </a:rPr>
              <a:t> </a:t>
            </a:r>
            <a:r>
              <a:rPr lang="en-GB" sz="2400" spc="-10" dirty="0">
                <a:solidFill>
                  <a:srgbClr val="080912"/>
                </a:solidFill>
                <a:latin typeface="Arial MT"/>
                <a:cs typeface="Arial MT"/>
              </a:rPr>
              <a:t>negative</a:t>
            </a:r>
            <a:r>
              <a:rPr lang="en-GB" sz="2400" spc="-24" dirty="0">
                <a:solidFill>
                  <a:srgbClr val="080912"/>
                </a:solidFill>
                <a:latin typeface="Arial MT"/>
                <a:cs typeface="Arial MT"/>
              </a:rPr>
              <a:t> </a:t>
            </a:r>
            <a:r>
              <a:rPr lang="en-GB" sz="2400" spc="-10" dirty="0">
                <a:solidFill>
                  <a:srgbClr val="080912"/>
                </a:solidFill>
                <a:latin typeface="Arial MT"/>
                <a:cs typeface="Arial MT"/>
              </a:rPr>
              <a:t>infinity</a:t>
            </a:r>
            <a:r>
              <a:rPr lang="en-GB" sz="2400" spc="-24" dirty="0">
                <a:solidFill>
                  <a:srgbClr val="080912"/>
                </a:solidFill>
                <a:latin typeface="Arial MT"/>
                <a:cs typeface="Arial MT"/>
              </a:rPr>
              <a:t> </a:t>
            </a:r>
            <a:r>
              <a:rPr lang="en-GB" sz="2400" spc="-7" dirty="0">
                <a:solidFill>
                  <a:srgbClr val="080912"/>
                </a:solidFill>
                <a:latin typeface="Arial MT"/>
                <a:cs typeface="Arial MT"/>
              </a:rPr>
              <a:t>but</a:t>
            </a:r>
            <a:r>
              <a:rPr lang="en-GB" sz="2400" spc="-27" dirty="0">
                <a:solidFill>
                  <a:srgbClr val="080912"/>
                </a:solidFill>
                <a:latin typeface="Arial MT"/>
                <a:cs typeface="Arial MT"/>
              </a:rPr>
              <a:t> </a:t>
            </a:r>
            <a:r>
              <a:rPr lang="en-GB" sz="2400" i="1" dirty="0">
                <a:solidFill>
                  <a:srgbClr val="080912"/>
                </a:solidFill>
                <a:latin typeface="Arial"/>
                <a:cs typeface="Arial"/>
              </a:rPr>
              <a:t>Y</a:t>
            </a:r>
            <a:r>
              <a:rPr lang="en-GB" sz="2400" i="1" spc="-27" dirty="0">
                <a:solidFill>
                  <a:srgbClr val="080912"/>
                </a:solidFill>
                <a:latin typeface="Arial"/>
                <a:cs typeface="Arial"/>
              </a:rPr>
              <a:t> </a:t>
            </a:r>
            <a:r>
              <a:rPr lang="en-GB" sz="2400" spc="-14" dirty="0">
                <a:solidFill>
                  <a:srgbClr val="080912"/>
                </a:solidFill>
                <a:latin typeface="Arial MT"/>
                <a:cs typeface="Arial MT"/>
              </a:rPr>
              <a:t>approaches</a:t>
            </a:r>
            <a:r>
              <a:rPr lang="en-GB" sz="2400" spc="-17" dirty="0">
                <a:solidFill>
                  <a:srgbClr val="080912"/>
                </a:solidFill>
                <a:latin typeface="Arial MT"/>
                <a:cs typeface="Arial MT"/>
              </a:rPr>
              <a:t> </a:t>
            </a:r>
            <a:r>
              <a:rPr lang="en-GB" sz="2400" spc="-7" dirty="0">
                <a:solidFill>
                  <a:srgbClr val="080912"/>
                </a:solidFill>
                <a:latin typeface="Arial MT"/>
                <a:cs typeface="Arial MT"/>
              </a:rPr>
              <a:t>to</a:t>
            </a:r>
            <a:r>
              <a:rPr lang="en-GB" sz="2400" spc="-27" dirty="0">
                <a:solidFill>
                  <a:srgbClr val="080912"/>
                </a:solidFill>
                <a:latin typeface="Arial MT"/>
                <a:cs typeface="Arial MT"/>
              </a:rPr>
              <a:t> </a:t>
            </a:r>
            <a:r>
              <a:rPr lang="en-GB" sz="2400" spc="-14" dirty="0">
                <a:solidFill>
                  <a:srgbClr val="080912"/>
                </a:solidFill>
                <a:latin typeface="Arial MT"/>
                <a:cs typeface="Arial MT"/>
              </a:rPr>
              <a:t>infinity</a:t>
            </a:r>
            <a:r>
              <a:rPr lang="en-GB" sz="2400" spc="-20" dirty="0">
                <a:solidFill>
                  <a:srgbClr val="080912"/>
                </a:solidFill>
                <a:latin typeface="Arial MT"/>
                <a:cs typeface="Arial MT"/>
              </a:rPr>
              <a:t> </a:t>
            </a:r>
            <a:r>
              <a:rPr lang="en-GB" sz="2400" spc="-7" dirty="0">
                <a:solidFill>
                  <a:srgbClr val="080912"/>
                </a:solidFill>
                <a:latin typeface="Arial MT"/>
                <a:cs typeface="Arial MT"/>
              </a:rPr>
              <a:t>as</a:t>
            </a:r>
            <a:r>
              <a:rPr lang="en-GB" sz="2400" spc="-17" dirty="0">
                <a:solidFill>
                  <a:srgbClr val="080912"/>
                </a:solidFill>
                <a:latin typeface="Arial MT"/>
                <a:cs typeface="Arial MT"/>
              </a:rPr>
              <a:t> </a:t>
            </a:r>
            <a:r>
              <a:rPr lang="en-GB" sz="2400" i="1" dirty="0">
                <a:solidFill>
                  <a:srgbClr val="080912"/>
                </a:solidFill>
                <a:latin typeface="Arial"/>
                <a:cs typeface="Arial"/>
              </a:rPr>
              <a:t>X</a:t>
            </a:r>
            <a:r>
              <a:rPr lang="en-GB" sz="2400" i="1" spc="-31" dirty="0">
                <a:solidFill>
                  <a:srgbClr val="080912"/>
                </a:solidFill>
                <a:latin typeface="Arial"/>
                <a:cs typeface="Arial"/>
              </a:rPr>
              <a:t> </a:t>
            </a:r>
            <a:r>
              <a:rPr lang="en-GB" sz="2400" spc="-10" dirty="0">
                <a:solidFill>
                  <a:srgbClr val="080912"/>
                </a:solidFill>
                <a:latin typeface="Arial MT"/>
                <a:cs typeface="Arial MT"/>
              </a:rPr>
              <a:t>approaches</a:t>
            </a:r>
            <a:r>
              <a:rPr lang="en-GB" sz="2400" spc="-20" dirty="0">
                <a:solidFill>
                  <a:srgbClr val="080912"/>
                </a:solidFill>
                <a:latin typeface="Arial MT"/>
                <a:cs typeface="Arial MT"/>
              </a:rPr>
              <a:t> </a:t>
            </a:r>
            <a:r>
              <a:rPr lang="en-GB" sz="2400" spc="-10" dirty="0">
                <a:solidFill>
                  <a:srgbClr val="080912"/>
                </a:solidFill>
                <a:latin typeface="Arial MT"/>
                <a:cs typeface="Arial MT"/>
              </a:rPr>
              <a:t>infinity.</a:t>
            </a:r>
            <a:endParaRPr lang="en-GB" sz="2400" dirty="0">
              <a:latin typeface="Arial MT"/>
              <a:cs typeface="Arial MT"/>
            </a:endParaRPr>
          </a:p>
          <a:p>
            <a:pPr marL="8659" marR="3896">
              <a:lnSpc>
                <a:spcPct val="143700"/>
              </a:lnSpc>
              <a:spcBef>
                <a:spcPts val="402"/>
              </a:spcBef>
            </a:pPr>
            <a:endParaRPr lang="en-GB" sz="2400" dirty="0">
              <a:latin typeface="Arial MT"/>
              <a:cs typeface="Arial MT"/>
            </a:endParaRPr>
          </a:p>
          <a:p>
            <a:endParaRPr lang="en-PK" dirty="0"/>
          </a:p>
        </p:txBody>
      </p:sp>
      <p:pic>
        <p:nvPicPr>
          <p:cNvPr id="7" name="object 3"/>
          <p:cNvPicPr/>
          <p:nvPr/>
        </p:nvPicPr>
        <p:blipFill>
          <a:blip r:embed="rId3" cstate="print"/>
          <a:stretch>
            <a:fillRect/>
          </a:stretch>
        </p:blipFill>
        <p:spPr>
          <a:xfrm>
            <a:off x="8502255" y="4772483"/>
            <a:ext cx="2886947" cy="1121550"/>
          </a:xfrm>
          <a:prstGeom prst="rect">
            <a:avLst/>
          </a:prstGeom>
        </p:spPr>
      </p:pic>
      <p:sp>
        <p:nvSpPr>
          <p:cNvPr id="2" name="Slide Number Placeholder 1">
            <a:extLst>
              <a:ext uri="{FF2B5EF4-FFF2-40B4-BE49-F238E27FC236}">
                <a16:creationId xmlns:a16="http://schemas.microsoft.com/office/drawing/2014/main" id="{C8AC23DC-804F-0CFE-538A-70138A8A6A25}"/>
              </a:ext>
            </a:extLst>
          </p:cNvPr>
          <p:cNvSpPr>
            <a:spLocks noGrp="1"/>
          </p:cNvSpPr>
          <p:nvPr>
            <p:ph type="sldNum" sz="quarter" idx="12"/>
          </p:nvPr>
        </p:nvSpPr>
        <p:spPr/>
        <p:txBody>
          <a:bodyPr/>
          <a:lstStyle/>
          <a:p>
            <a:fld id="{9CD9A578-84A4-4247-B01E-A84B9E2DF7BB}" type="slidenum">
              <a:rPr lang="en-PK" smtClean="0"/>
              <a:t>19</a:t>
            </a:fld>
            <a:endParaRPr lang="en-PK"/>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883300"/>
            <a:ext cx="9875520" cy="808963"/>
          </a:xfrm>
          <a:prstGeom prst="rect">
            <a:avLst/>
          </a:prstGeom>
        </p:spPr>
        <p:txBody>
          <a:bodyPr vert="horz" wrap="square" lIns="0" tIns="8659" rIns="0" bIns="0" rtlCol="0" anchor="ctr">
            <a:spAutoFit/>
          </a:bodyPr>
          <a:lstStyle/>
          <a:p>
            <a:pPr marL="8659">
              <a:lnSpc>
                <a:spcPct val="100000"/>
              </a:lnSpc>
              <a:spcBef>
                <a:spcPts val="68"/>
              </a:spcBef>
            </a:pPr>
            <a:r>
              <a:rPr lang="en-GB" sz="2800" b="1" spc="-17" dirty="0">
                <a:solidFill>
                  <a:schemeClr val="accent1">
                    <a:lumMod val="60000"/>
                    <a:lumOff val="40000"/>
                  </a:schemeClr>
                </a:solidFill>
                <a:latin typeface="Arial MT"/>
                <a:cs typeface="Arial MT"/>
              </a:rPr>
              <a:t>Why</a:t>
            </a:r>
            <a:r>
              <a:rPr lang="en-GB" sz="2800" b="1" spc="-58" dirty="0">
                <a:solidFill>
                  <a:schemeClr val="accent1">
                    <a:lumMod val="60000"/>
                    <a:lumOff val="40000"/>
                  </a:schemeClr>
                </a:solidFill>
                <a:latin typeface="Arial MT"/>
                <a:cs typeface="Arial MT"/>
              </a:rPr>
              <a:t> </a:t>
            </a:r>
            <a:r>
              <a:rPr lang="en-GB" sz="2800" b="1" spc="-24" dirty="0">
                <a:solidFill>
                  <a:schemeClr val="accent1">
                    <a:lumMod val="60000"/>
                    <a:lumOff val="40000"/>
                  </a:schemeClr>
                </a:solidFill>
                <a:latin typeface="Arial MT"/>
                <a:cs typeface="Arial MT"/>
              </a:rPr>
              <a:t>are</a:t>
            </a:r>
            <a:r>
              <a:rPr lang="en-GB" sz="2800" b="1" spc="-48" dirty="0">
                <a:solidFill>
                  <a:schemeClr val="accent1">
                    <a:lumMod val="60000"/>
                    <a:lumOff val="40000"/>
                  </a:schemeClr>
                </a:solidFill>
                <a:latin typeface="Arial MT"/>
                <a:cs typeface="Arial MT"/>
              </a:rPr>
              <a:t> </a:t>
            </a:r>
            <a:r>
              <a:rPr lang="en-GB" sz="2800" b="1" spc="-27" dirty="0">
                <a:solidFill>
                  <a:schemeClr val="accent1">
                    <a:lumMod val="60000"/>
                    <a:lumOff val="40000"/>
                  </a:schemeClr>
                </a:solidFill>
                <a:latin typeface="Arial MT"/>
                <a:cs typeface="Arial MT"/>
              </a:rPr>
              <a:t>deep</a:t>
            </a:r>
            <a:r>
              <a:rPr lang="en-GB" sz="2800" b="1" spc="-48" dirty="0">
                <a:solidFill>
                  <a:schemeClr val="accent1">
                    <a:lumMod val="60000"/>
                    <a:lumOff val="40000"/>
                  </a:schemeClr>
                </a:solidFill>
                <a:latin typeface="Arial MT"/>
                <a:cs typeface="Arial MT"/>
              </a:rPr>
              <a:t> </a:t>
            </a:r>
            <a:r>
              <a:rPr lang="en-GB" sz="2800" b="1" spc="-27" dirty="0">
                <a:solidFill>
                  <a:schemeClr val="accent1">
                    <a:lumMod val="60000"/>
                    <a:lumOff val="40000"/>
                  </a:schemeClr>
                </a:solidFill>
                <a:latin typeface="Arial MT"/>
                <a:cs typeface="Arial MT"/>
              </a:rPr>
              <a:t>neural</a:t>
            </a:r>
            <a:r>
              <a:rPr lang="en-GB" sz="2800" b="1" spc="-58" dirty="0">
                <a:solidFill>
                  <a:schemeClr val="accent1">
                    <a:lumMod val="60000"/>
                    <a:lumOff val="40000"/>
                  </a:schemeClr>
                </a:solidFill>
                <a:latin typeface="Arial MT"/>
                <a:cs typeface="Arial MT"/>
              </a:rPr>
              <a:t> </a:t>
            </a:r>
            <a:r>
              <a:rPr lang="en-GB" sz="2800" b="1" spc="-27" dirty="0">
                <a:solidFill>
                  <a:schemeClr val="accent1">
                    <a:lumMod val="60000"/>
                    <a:lumOff val="40000"/>
                  </a:schemeClr>
                </a:solidFill>
                <a:latin typeface="Arial MT"/>
                <a:cs typeface="Arial MT"/>
              </a:rPr>
              <a:t>networks</a:t>
            </a:r>
            <a:r>
              <a:rPr lang="en-GB" sz="2800" b="1" spc="-55" dirty="0">
                <a:solidFill>
                  <a:schemeClr val="accent1">
                    <a:lumMod val="60000"/>
                    <a:lumOff val="40000"/>
                  </a:schemeClr>
                </a:solidFill>
                <a:latin typeface="Arial MT"/>
                <a:cs typeface="Arial MT"/>
              </a:rPr>
              <a:t> </a:t>
            </a:r>
            <a:r>
              <a:rPr lang="en-GB" sz="2800" b="1" spc="-27" dirty="0">
                <a:solidFill>
                  <a:schemeClr val="accent1">
                    <a:lumMod val="60000"/>
                    <a:lumOff val="40000"/>
                  </a:schemeClr>
                </a:solidFill>
                <a:latin typeface="Arial MT"/>
                <a:cs typeface="Arial MT"/>
              </a:rPr>
              <a:t>hard</a:t>
            </a:r>
            <a:r>
              <a:rPr lang="en-GB" sz="2800" b="1" spc="-61" dirty="0">
                <a:solidFill>
                  <a:schemeClr val="accent1">
                    <a:lumMod val="60000"/>
                    <a:lumOff val="40000"/>
                  </a:schemeClr>
                </a:solidFill>
                <a:latin typeface="Arial MT"/>
                <a:cs typeface="Arial MT"/>
              </a:rPr>
              <a:t> </a:t>
            </a:r>
            <a:r>
              <a:rPr lang="en-GB" sz="2800" b="1" spc="-14" dirty="0">
                <a:solidFill>
                  <a:schemeClr val="accent1">
                    <a:lumMod val="60000"/>
                    <a:lumOff val="40000"/>
                  </a:schemeClr>
                </a:solidFill>
                <a:latin typeface="Arial MT"/>
                <a:cs typeface="Arial MT"/>
              </a:rPr>
              <a:t>to</a:t>
            </a:r>
            <a:r>
              <a:rPr lang="en-GB" sz="2800" b="1" spc="-58" dirty="0">
                <a:solidFill>
                  <a:schemeClr val="accent1">
                    <a:lumMod val="60000"/>
                    <a:lumOff val="40000"/>
                  </a:schemeClr>
                </a:solidFill>
                <a:latin typeface="Arial MT"/>
                <a:cs typeface="Arial MT"/>
              </a:rPr>
              <a:t> </a:t>
            </a:r>
            <a:r>
              <a:rPr lang="en-GB" sz="2800" b="1" spc="-24" dirty="0">
                <a:solidFill>
                  <a:schemeClr val="accent1">
                    <a:lumMod val="60000"/>
                    <a:lumOff val="40000"/>
                  </a:schemeClr>
                </a:solidFill>
                <a:latin typeface="Arial MT"/>
                <a:cs typeface="Arial MT"/>
              </a:rPr>
              <a:t>train?</a:t>
            </a:r>
            <a:br>
              <a:rPr lang="en-GB" sz="2800" b="1" dirty="0">
                <a:solidFill>
                  <a:schemeClr val="accent1">
                    <a:lumMod val="60000"/>
                    <a:lumOff val="40000"/>
                  </a:schemeClr>
                </a:solidFill>
                <a:latin typeface="Arial MT"/>
                <a:cs typeface="Arial MT"/>
              </a:rPr>
            </a:br>
            <a:endParaRPr sz="2400" b="1" dirty="0">
              <a:solidFill>
                <a:schemeClr val="accent1">
                  <a:lumMod val="60000"/>
                  <a:lumOff val="40000"/>
                </a:schemeClr>
              </a:solidFill>
            </a:endParaRPr>
          </a:p>
        </p:txBody>
      </p:sp>
      <p:sp>
        <p:nvSpPr>
          <p:cNvPr id="4" name="Content Placeholder 3">
            <a:extLst>
              <a:ext uri="{FF2B5EF4-FFF2-40B4-BE49-F238E27FC236}">
                <a16:creationId xmlns:a16="http://schemas.microsoft.com/office/drawing/2014/main" id="{BB1D4B09-7809-A930-FFBC-6BE5DC9932CD}"/>
              </a:ext>
            </a:extLst>
          </p:cNvPr>
          <p:cNvSpPr>
            <a:spLocks noGrp="1"/>
          </p:cNvSpPr>
          <p:nvPr>
            <p:ph idx="1"/>
          </p:nvPr>
        </p:nvSpPr>
        <p:spPr>
          <a:xfrm>
            <a:off x="1145649" y="1550406"/>
            <a:ext cx="9872871" cy="4038600"/>
          </a:xfrm>
        </p:spPr>
        <p:txBody>
          <a:bodyPr>
            <a:normAutofit fontScale="62500" lnSpcReduction="20000"/>
          </a:bodyPr>
          <a:lstStyle/>
          <a:p>
            <a:pPr marL="8659">
              <a:spcBef>
                <a:spcPts val="607"/>
              </a:spcBef>
            </a:pPr>
            <a:r>
              <a:rPr lang="en-GB" sz="2800" b="1" spc="-31" dirty="0">
                <a:solidFill>
                  <a:srgbClr val="272E40"/>
                </a:solidFill>
                <a:latin typeface="Arial"/>
                <a:cs typeface="Arial"/>
              </a:rPr>
              <a:t>V</a:t>
            </a:r>
            <a:r>
              <a:rPr lang="en-GB" sz="2800" b="1" spc="-24" dirty="0">
                <a:solidFill>
                  <a:srgbClr val="272E40"/>
                </a:solidFill>
                <a:latin typeface="Arial"/>
                <a:cs typeface="Arial"/>
              </a:rPr>
              <a:t>a</a:t>
            </a:r>
            <a:r>
              <a:rPr lang="en-GB" sz="2800" b="1" spc="-31" dirty="0">
                <a:solidFill>
                  <a:srgbClr val="272E40"/>
                </a:solidFill>
                <a:latin typeface="Arial"/>
                <a:cs typeface="Arial"/>
              </a:rPr>
              <a:t>ni</a:t>
            </a:r>
            <a:r>
              <a:rPr lang="en-GB" sz="2800" b="1" spc="-24" dirty="0">
                <a:solidFill>
                  <a:srgbClr val="272E40"/>
                </a:solidFill>
                <a:latin typeface="Arial"/>
                <a:cs typeface="Arial"/>
              </a:rPr>
              <a:t>s</a:t>
            </a:r>
            <a:r>
              <a:rPr lang="en-GB" sz="2800" b="1" spc="-37" dirty="0">
                <a:solidFill>
                  <a:srgbClr val="272E40"/>
                </a:solidFill>
                <a:latin typeface="Arial"/>
                <a:cs typeface="Arial"/>
              </a:rPr>
              <a:t>h</a:t>
            </a:r>
            <a:r>
              <a:rPr lang="en-GB" sz="2800" b="1" spc="-24" dirty="0">
                <a:solidFill>
                  <a:srgbClr val="272E40"/>
                </a:solidFill>
                <a:latin typeface="Arial"/>
                <a:cs typeface="Arial"/>
              </a:rPr>
              <a:t>i</a:t>
            </a:r>
            <a:r>
              <a:rPr lang="en-GB" sz="2800" b="1" spc="-31" dirty="0">
                <a:solidFill>
                  <a:srgbClr val="272E40"/>
                </a:solidFill>
                <a:latin typeface="Arial"/>
                <a:cs typeface="Arial"/>
              </a:rPr>
              <a:t>n</a:t>
            </a:r>
            <a:r>
              <a:rPr lang="en-GB" sz="2800" b="1" dirty="0">
                <a:solidFill>
                  <a:srgbClr val="272E40"/>
                </a:solidFill>
                <a:latin typeface="Arial"/>
                <a:cs typeface="Arial"/>
              </a:rPr>
              <a:t>g</a:t>
            </a:r>
            <a:r>
              <a:rPr lang="en-GB" sz="2800" b="1" spc="-51" dirty="0">
                <a:solidFill>
                  <a:srgbClr val="272E40"/>
                </a:solidFill>
                <a:latin typeface="Arial"/>
                <a:cs typeface="Arial"/>
              </a:rPr>
              <a:t> </a:t>
            </a:r>
            <a:r>
              <a:rPr lang="en-GB" sz="2800" b="1" spc="-37" dirty="0">
                <a:solidFill>
                  <a:srgbClr val="272E40"/>
                </a:solidFill>
                <a:latin typeface="Arial"/>
                <a:cs typeface="Arial"/>
              </a:rPr>
              <a:t>G</a:t>
            </a:r>
            <a:r>
              <a:rPr lang="en-GB" sz="2800" b="1" spc="-34" dirty="0">
                <a:solidFill>
                  <a:srgbClr val="272E40"/>
                </a:solidFill>
                <a:latin typeface="Arial"/>
                <a:cs typeface="Arial"/>
              </a:rPr>
              <a:t>r</a:t>
            </a:r>
            <a:r>
              <a:rPr lang="en-GB" sz="2800" b="1" spc="-24" dirty="0">
                <a:solidFill>
                  <a:srgbClr val="272E40"/>
                </a:solidFill>
                <a:latin typeface="Arial"/>
                <a:cs typeface="Arial"/>
              </a:rPr>
              <a:t>a</a:t>
            </a:r>
            <a:r>
              <a:rPr lang="en-GB" sz="2800" b="1" spc="-31" dirty="0">
                <a:solidFill>
                  <a:srgbClr val="272E40"/>
                </a:solidFill>
                <a:latin typeface="Arial"/>
                <a:cs typeface="Arial"/>
              </a:rPr>
              <a:t>di</a:t>
            </a:r>
            <a:r>
              <a:rPr lang="en-GB" sz="2800" b="1" spc="-34" dirty="0">
                <a:solidFill>
                  <a:srgbClr val="272E40"/>
                </a:solidFill>
                <a:latin typeface="Arial"/>
                <a:cs typeface="Arial"/>
              </a:rPr>
              <a:t>e</a:t>
            </a:r>
            <a:r>
              <a:rPr lang="en-GB" sz="2800" b="1" spc="-31" dirty="0">
                <a:solidFill>
                  <a:srgbClr val="272E40"/>
                </a:solidFill>
                <a:latin typeface="Arial"/>
                <a:cs typeface="Arial"/>
              </a:rPr>
              <a:t>n</a:t>
            </a:r>
            <a:r>
              <a:rPr lang="en-GB" sz="2800" b="1" spc="-24" dirty="0">
                <a:solidFill>
                  <a:srgbClr val="272E40"/>
                </a:solidFill>
                <a:latin typeface="Arial"/>
                <a:cs typeface="Arial"/>
              </a:rPr>
              <a:t>t</a:t>
            </a:r>
            <a:r>
              <a:rPr lang="en-GB" sz="2800" b="1" spc="-3" dirty="0">
                <a:solidFill>
                  <a:srgbClr val="272E40"/>
                </a:solidFill>
                <a:latin typeface="Arial"/>
                <a:cs typeface="Arial"/>
              </a:rPr>
              <a:t>s</a:t>
            </a:r>
            <a:endParaRPr lang="en-GB" sz="2800" dirty="0">
              <a:latin typeface="Arial"/>
              <a:cs typeface="Arial"/>
            </a:endParaRPr>
          </a:p>
          <a:p>
            <a:pPr marL="8659" marR="4762" algn="just">
              <a:lnSpc>
                <a:spcPct val="143700"/>
              </a:lnSpc>
              <a:spcBef>
                <a:spcPts val="406"/>
              </a:spcBef>
            </a:pPr>
            <a:r>
              <a:rPr lang="en-GB" sz="2400" spc="-10" dirty="0">
                <a:solidFill>
                  <a:srgbClr val="080912"/>
                </a:solidFill>
                <a:latin typeface="Arial MT"/>
                <a:cs typeface="Arial MT"/>
              </a:rPr>
              <a:t>Like</a:t>
            </a:r>
            <a:r>
              <a:rPr lang="en-GB" sz="2400" spc="-55" dirty="0">
                <a:solidFill>
                  <a:srgbClr val="080912"/>
                </a:solidFill>
                <a:latin typeface="Arial MT"/>
                <a:cs typeface="Arial MT"/>
              </a:rPr>
              <a:t> </a:t>
            </a:r>
            <a:r>
              <a:rPr lang="en-GB" sz="2400" spc="-10" dirty="0">
                <a:solidFill>
                  <a:srgbClr val="080912"/>
                </a:solidFill>
                <a:latin typeface="Arial MT"/>
                <a:cs typeface="Arial MT"/>
              </a:rPr>
              <a:t>the</a:t>
            </a:r>
            <a:r>
              <a:rPr lang="en-GB" sz="2400" spc="-51" dirty="0">
                <a:solidFill>
                  <a:srgbClr val="080912"/>
                </a:solidFill>
                <a:latin typeface="Arial MT"/>
                <a:cs typeface="Arial MT"/>
              </a:rPr>
              <a:t> </a:t>
            </a:r>
            <a:r>
              <a:rPr lang="en-GB" sz="2400" spc="-10" dirty="0">
                <a:solidFill>
                  <a:srgbClr val="080912"/>
                </a:solidFill>
                <a:latin typeface="Arial MT"/>
                <a:cs typeface="Arial MT"/>
              </a:rPr>
              <a:t>sigmoid</a:t>
            </a:r>
            <a:r>
              <a:rPr lang="en-GB" sz="2400" spc="-51" dirty="0">
                <a:solidFill>
                  <a:srgbClr val="080912"/>
                </a:solidFill>
                <a:latin typeface="Arial MT"/>
                <a:cs typeface="Arial MT"/>
              </a:rPr>
              <a:t> </a:t>
            </a:r>
            <a:r>
              <a:rPr lang="en-GB" sz="2400" spc="-14" dirty="0">
                <a:solidFill>
                  <a:srgbClr val="080912"/>
                </a:solidFill>
                <a:latin typeface="Arial MT"/>
                <a:cs typeface="Arial MT"/>
              </a:rPr>
              <a:t>function,</a:t>
            </a:r>
            <a:r>
              <a:rPr lang="en-GB" sz="2400" spc="-58" dirty="0">
                <a:solidFill>
                  <a:srgbClr val="080912"/>
                </a:solidFill>
                <a:latin typeface="Arial MT"/>
                <a:cs typeface="Arial MT"/>
              </a:rPr>
              <a:t> </a:t>
            </a:r>
            <a:r>
              <a:rPr lang="en-GB" sz="2400" spc="-10" dirty="0">
                <a:solidFill>
                  <a:srgbClr val="080912"/>
                </a:solidFill>
                <a:latin typeface="Arial MT"/>
                <a:cs typeface="Arial MT"/>
              </a:rPr>
              <a:t>certain</a:t>
            </a:r>
            <a:r>
              <a:rPr lang="en-GB" sz="2400" spc="-51" dirty="0">
                <a:solidFill>
                  <a:srgbClr val="080912"/>
                </a:solidFill>
                <a:latin typeface="Arial MT"/>
                <a:cs typeface="Arial MT"/>
              </a:rPr>
              <a:t> </a:t>
            </a:r>
            <a:r>
              <a:rPr lang="en-GB" sz="2400" spc="-14" dirty="0">
                <a:solidFill>
                  <a:srgbClr val="080912"/>
                </a:solidFill>
                <a:latin typeface="Arial MT"/>
                <a:cs typeface="Arial MT"/>
              </a:rPr>
              <a:t>activation</a:t>
            </a:r>
            <a:r>
              <a:rPr lang="en-GB" sz="2400" spc="-55" dirty="0">
                <a:solidFill>
                  <a:srgbClr val="080912"/>
                </a:solidFill>
                <a:latin typeface="Arial MT"/>
                <a:cs typeface="Arial MT"/>
              </a:rPr>
              <a:t> </a:t>
            </a:r>
            <a:r>
              <a:rPr lang="en-GB" sz="2400" spc="-14" dirty="0">
                <a:solidFill>
                  <a:srgbClr val="080912"/>
                </a:solidFill>
                <a:latin typeface="Arial MT"/>
                <a:cs typeface="Arial MT"/>
              </a:rPr>
              <a:t>functions</a:t>
            </a:r>
            <a:r>
              <a:rPr lang="en-GB" sz="2400" spc="-58" dirty="0">
                <a:solidFill>
                  <a:srgbClr val="080912"/>
                </a:solidFill>
                <a:latin typeface="Arial MT"/>
                <a:cs typeface="Arial MT"/>
              </a:rPr>
              <a:t> </a:t>
            </a:r>
            <a:r>
              <a:rPr lang="en-GB" sz="2400" spc="-10" dirty="0">
                <a:solidFill>
                  <a:srgbClr val="080912"/>
                </a:solidFill>
                <a:latin typeface="Arial MT"/>
                <a:cs typeface="Arial MT"/>
              </a:rPr>
              <a:t>squish</a:t>
            </a:r>
            <a:r>
              <a:rPr lang="en-GB" sz="2400" spc="-51" dirty="0">
                <a:solidFill>
                  <a:srgbClr val="080912"/>
                </a:solidFill>
                <a:latin typeface="Arial MT"/>
                <a:cs typeface="Arial MT"/>
              </a:rPr>
              <a:t> </a:t>
            </a:r>
            <a:r>
              <a:rPr lang="en-GB" sz="2400" spc="-7" dirty="0">
                <a:solidFill>
                  <a:srgbClr val="080912"/>
                </a:solidFill>
                <a:latin typeface="Arial MT"/>
                <a:cs typeface="Arial MT"/>
              </a:rPr>
              <a:t>an</a:t>
            </a:r>
            <a:r>
              <a:rPr lang="en-GB" sz="2400" spc="-61" dirty="0">
                <a:solidFill>
                  <a:srgbClr val="080912"/>
                </a:solidFill>
                <a:latin typeface="Arial MT"/>
                <a:cs typeface="Arial MT"/>
              </a:rPr>
              <a:t> </a:t>
            </a:r>
            <a:r>
              <a:rPr lang="en-GB" sz="2400" spc="-7" dirty="0">
                <a:solidFill>
                  <a:srgbClr val="080912"/>
                </a:solidFill>
                <a:latin typeface="Arial MT"/>
                <a:cs typeface="Arial MT"/>
              </a:rPr>
              <a:t>ample</a:t>
            </a:r>
            <a:r>
              <a:rPr lang="en-GB" sz="2400" spc="-51" dirty="0">
                <a:solidFill>
                  <a:srgbClr val="080912"/>
                </a:solidFill>
                <a:latin typeface="Arial MT"/>
                <a:cs typeface="Arial MT"/>
              </a:rPr>
              <a:t> </a:t>
            </a:r>
            <a:r>
              <a:rPr lang="en-GB" sz="2400" spc="-10" dirty="0">
                <a:solidFill>
                  <a:srgbClr val="080912"/>
                </a:solidFill>
                <a:latin typeface="Arial MT"/>
                <a:cs typeface="Arial MT"/>
              </a:rPr>
              <a:t>input</a:t>
            </a:r>
            <a:r>
              <a:rPr lang="en-GB" sz="2400" spc="-72" dirty="0">
                <a:solidFill>
                  <a:srgbClr val="080912"/>
                </a:solidFill>
                <a:latin typeface="Arial MT"/>
                <a:cs typeface="Arial MT"/>
              </a:rPr>
              <a:t> </a:t>
            </a:r>
            <a:r>
              <a:rPr lang="en-GB" sz="2400" spc="-10" dirty="0">
                <a:solidFill>
                  <a:srgbClr val="080912"/>
                </a:solidFill>
                <a:latin typeface="Arial MT"/>
                <a:cs typeface="Arial MT"/>
              </a:rPr>
              <a:t>space</a:t>
            </a:r>
            <a:r>
              <a:rPr lang="en-GB" sz="2400" spc="-51" dirty="0">
                <a:solidFill>
                  <a:srgbClr val="080912"/>
                </a:solidFill>
                <a:latin typeface="Arial MT"/>
                <a:cs typeface="Arial MT"/>
              </a:rPr>
              <a:t> </a:t>
            </a:r>
            <a:r>
              <a:rPr lang="en-GB" sz="2400" spc="-10" dirty="0">
                <a:solidFill>
                  <a:srgbClr val="080912"/>
                </a:solidFill>
                <a:latin typeface="Arial MT"/>
                <a:cs typeface="Arial MT"/>
              </a:rPr>
              <a:t>into</a:t>
            </a:r>
            <a:r>
              <a:rPr lang="en-GB" sz="2400" spc="-51" dirty="0">
                <a:solidFill>
                  <a:srgbClr val="080912"/>
                </a:solidFill>
                <a:latin typeface="Arial MT"/>
                <a:cs typeface="Arial MT"/>
              </a:rPr>
              <a:t> </a:t>
            </a:r>
            <a:r>
              <a:rPr lang="en-GB" sz="2400" dirty="0">
                <a:solidFill>
                  <a:srgbClr val="080912"/>
                </a:solidFill>
                <a:latin typeface="Arial MT"/>
                <a:cs typeface="Arial MT"/>
              </a:rPr>
              <a:t>a</a:t>
            </a:r>
            <a:r>
              <a:rPr lang="en-GB" sz="2400" spc="-51" dirty="0">
                <a:solidFill>
                  <a:srgbClr val="080912"/>
                </a:solidFill>
                <a:latin typeface="Arial MT"/>
                <a:cs typeface="Arial MT"/>
              </a:rPr>
              <a:t> </a:t>
            </a:r>
            <a:r>
              <a:rPr lang="en-GB" sz="2400" spc="-10" dirty="0">
                <a:solidFill>
                  <a:srgbClr val="080912"/>
                </a:solidFill>
                <a:latin typeface="Arial MT"/>
                <a:cs typeface="Arial MT"/>
              </a:rPr>
              <a:t>small </a:t>
            </a:r>
            <a:r>
              <a:rPr lang="en-GB" sz="2400" spc="-249" dirty="0">
                <a:solidFill>
                  <a:srgbClr val="080912"/>
                </a:solidFill>
                <a:latin typeface="Arial MT"/>
                <a:cs typeface="Arial MT"/>
              </a:rPr>
              <a:t> </a:t>
            </a:r>
            <a:r>
              <a:rPr lang="en-GB" sz="2400" spc="-10" dirty="0">
                <a:solidFill>
                  <a:srgbClr val="080912"/>
                </a:solidFill>
                <a:latin typeface="Arial MT"/>
                <a:cs typeface="Arial MT"/>
              </a:rPr>
              <a:t>output</a:t>
            </a:r>
            <a:r>
              <a:rPr lang="en-GB" sz="2400" spc="-34" dirty="0">
                <a:solidFill>
                  <a:srgbClr val="080912"/>
                </a:solidFill>
                <a:latin typeface="Arial MT"/>
                <a:cs typeface="Arial MT"/>
              </a:rPr>
              <a:t> </a:t>
            </a:r>
            <a:r>
              <a:rPr lang="en-GB" sz="2400" spc="-10" dirty="0">
                <a:solidFill>
                  <a:srgbClr val="080912"/>
                </a:solidFill>
                <a:latin typeface="Arial MT"/>
                <a:cs typeface="Arial MT"/>
              </a:rPr>
              <a:t>space</a:t>
            </a:r>
            <a:r>
              <a:rPr lang="en-GB" sz="2400" spc="-20" dirty="0">
                <a:solidFill>
                  <a:srgbClr val="080912"/>
                </a:solidFill>
                <a:latin typeface="Arial MT"/>
                <a:cs typeface="Arial MT"/>
              </a:rPr>
              <a:t> </a:t>
            </a:r>
            <a:r>
              <a:rPr lang="en-GB" sz="2400" spc="-10" dirty="0">
                <a:solidFill>
                  <a:srgbClr val="080912"/>
                </a:solidFill>
                <a:latin typeface="Arial MT"/>
                <a:cs typeface="Arial MT"/>
              </a:rPr>
              <a:t>between</a:t>
            </a:r>
            <a:r>
              <a:rPr lang="en-GB" sz="2400" spc="-20" dirty="0">
                <a:solidFill>
                  <a:srgbClr val="080912"/>
                </a:solidFill>
                <a:latin typeface="Arial MT"/>
                <a:cs typeface="Arial MT"/>
              </a:rPr>
              <a:t> </a:t>
            </a:r>
            <a:r>
              <a:rPr lang="en-GB" sz="2400" dirty="0">
                <a:solidFill>
                  <a:srgbClr val="080912"/>
                </a:solidFill>
                <a:latin typeface="Arial MT"/>
                <a:cs typeface="Arial MT"/>
              </a:rPr>
              <a:t>0</a:t>
            </a:r>
            <a:r>
              <a:rPr lang="en-GB" sz="2400" spc="-27" dirty="0">
                <a:solidFill>
                  <a:srgbClr val="080912"/>
                </a:solidFill>
                <a:latin typeface="Arial MT"/>
                <a:cs typeface="Arial MT"/>
              </a:rPr>
              <a:t> </a:t>
            </a:r>
            <a:r>
              <a:rPr lang="en-GB" sz="2400" spc="-7" dirty="0">
                <a:solidFill>
                  <a:srgbClr val="080912"/>
                </a:solidFill>
                <a:latin typeface="Arial MT"/>
                <a:cs typeface="Arial MT"/>
              </a:rPr>
              <a:t>and</a:t>
            </a:r>
            <a:r>
              <a:rPr lang="en-GB" sz="2400" spc="-27" dirty="0">
                <a:solidFill>
                  <a:srgbClr val="080912"/>
                </a:solidFill>
                <a:latin typeface="Arial MT"/>
                <a:cs typeface="Arial MT"/>
              </a:rPr>
              <a:t> </a:t>
            </a:r>
            <a:r>
              <a:rPr lang="en-GB" sz="2400" spc="-3" dirty="0">
                <a:solidFill>
                  <a:srgbClr val="080912"/>
                </a:solidFill>
                <a:latin typeface="Arial MT"/>
                <a:cs typeface="Arial MT"/>
              </a:rPr>
              <a:t>1.</a:t>
            </a:r>
            <a:endParaRPr lang="en-GB" sz="2400" dirty="0">
              <a:latin typeface="Arial MT"/>
              <a:cs typeface="Arial MT"/>
            </a:endParaRPr>
          </a:p>
          <a:p>
            <a:pPr marL="8659" marR="3464" algn="just">
              <a:lnSpc>
                <a:spcPct val="143300"/>
              </a:lnSpc>
              <a:spcBef>
                <a:spcPts val="416"/>
              </a:spcBef>
            </a:pPr>
            <a:r>
              <a:rPr lang="en-GB" sz="2400" spc="-10" dirty="0">
                <a:solidFill>
                  <a:srgbClr val="080912"/>
                </a:solidFill>
                <a:latin typeface="Arial MT"/>
                <a:cs typeface="Arial MT"/>
              </a:rPr>
              <a:t>Therefore,</a:t>
            </a:r>
            <a:r>
              <a:rPr lang="en-GB" sz="2400" spc="-44" dirty="0">
                <a:solidFill>
                  <a:srgbClr val="080912"/>
                </a:solidFill>
                <a:latin typeface="Arial MT"/>
                <a:cs typeface="Arial MT"/>
              </a:rPr>
              <a:t> </a:t>
            </a:r>
            <a:r>
              <a:rPr lang="en-GB" sz="2400" dirty="0">
                <a:solidFill>
                  <a:srgbClr val="080912"/>
                </a:solidFill>
                <a:latin typeface="Arial MT"/>
                <a:cs typeface="Arial MT"/>
              </a:rPr>
              <a:t>a</a:t>
            </a:r>
            <a:r>
              <a:rPr lang="en-GB" sz="2400" spc="-31" dirty="0">
                <a:solidFill>
                  <a:srgbClr val="080912"/>
                </a:solidFill>
                <a:latin typeface="Arial MT"/>
                <a:cs typeface="Arial MT"/>
              </a:rPr>
              <a:t> </a:t>
            </a:r>
            <a:r>
              <a:rPr lang="en-GB" sz="2400" spc="-10" dirty="0">
                <a:solidFill>
                  <a:srgbClr val="080912"/>
                </a:solidFill>
                <a:latin typeface="Arial MT"/>
                <a:cs typeface="Arial MT"/>
              </a:rPr>
              <a:t>large</a:t>
            </a:r>
            <a:r>
              <a:rPr lang="en-GB" sz="2400" spc="-37" dirty="0">
                <a:solidFill>
                  <a:srgbClr val="080912"/>
                </a:solidFill>
                <a:latin typeface="Arial MT"/>
                <a:cs typeface="Arial MT"/>
              </a:rPr>
              <a:t> </a:t>
            </a:r>
            <a:r>
              <a:rPr lang="en-GB" sz="2400" spc="-10" dirty="0">
                <a:solidFill>
                  <a:srgbClr val="080912"/>
                </a:solidFill>
                <a:latin typeface="Arial MT"/>
                <a:cs typeface="Arial MT"/>
              </a:rPr>
              <a:t>change</a:t>
            </a:r>
            <a:r>
              <a:rPr lang="en-GB" sz="2400" spc="-31" dirty="0">
                <a:solidFill>
                  <a:srgbClr val="080912"/>
                </a:solidFill>
                <a:latin typeface="Arial MT"/>
                <a:cs typeface="Arial MT"/>
              </a:rPr>
              <a:t> </a:t>
            </a:r>
            <a:r>
              <a:rPr lang="en-GB" sz="2400" spc="-7" dirty="0">
                <a:solidFill>
                  <a:srgbClr val="080912"/>
                </a:solidFill>
                <a:latin typeface="Arial MT"/>
                <a:cs typeface="Arial MT"/>
              </a:rPr>
              <a:t>in</a:t>
            </a:r>
            <a:r>
              <a:rPr lang="en-GB" sz="2400" spc="-27" dirty="0">
                <a:solidFill>
                  <a:srgbClr val="080912"/>
                </a:solidFill>
                <a:latin typeface="Arial MT"/>
                <a:cs typeface="Arial MT"/>
              </a:rPr>
              <a:t> </a:t>
            </a:r>
            <a:r>
              <a:rPr lang="en-GB" sz="2400" spc="-10" dirty="0">
                <a:solidFill>
                  <a:srgbClr val="080912"/>
                </a:solidFill>
                <a:latin typeface="Arial MT"/>
                <a:cs typeface="Arial MT"/>
              </a:rPr>
              <a:t>the</a:t>
            </a:r>
            <a:r>
              <a:rPr lang="en-GB" sz="2400" spc="-31" dirty="0">
                <a:solidFill>
                  <a:srgbClr val="080912"/>
                </a:solidFill>
                <a:latin typeface="Arial MT"/>
                <a:cs typeface="Arial MT"/>
              </a:rPr>
              <a:t> </a:t>
            </a:r>
            <a:r>
              <a:rPr lang="en-GB" sz="2400" spc="-10" dirty="0">
                <a:solidFill>
                  <a:srgbClr val="080912"/>
                </a:solidFill>
                <a:latin typeface="Arial MT"/>
                <a:cs typeface="Arial MT"/>
              </a:rPr>
              <a:t>input</a:t>
            </a:r>
            <a:r>
              <a:rPr lang="en-GB" sz="2400" spc="-37" dirty="0">
                <a:solidFill>
                  <a:srgbClr val="080912"/>
                </a:solidFill>
                <a:latin typeface="Arial MT"/>
                <a:cs typeface="Arial MT"/>
              </a:rPr>
              <a:t> </a:t>
            </a:r>
            <a:r>
              <a:rPr lang="en-GB" sz="2400" spc="-3" dirty="0">
                <a:solidFill>
                  <a:srgbClr val="080912"/>
                </a:solidFill>
                <a:latin typeface="Arial MT"/>
                <a:cs typeface="Arial MT"/>
              </a:rPr>
              <a:t>of</a:t>
            </a:r>
            <a:r>
              <a:rPr lang="en-GB" sz="2400" spc="-34" dirty="0">
                <a:solidFill>
                  <a:srgbClr val="080912"/>
                </a:solidFill>
                <a:latin typeface="Arial MT"/>
                <a:cs typeface="Arial MT"/>
              </a:rPr>
              <a:t> </a:t>
            </a:r>
            <a:r>
              <a:rPr lang="en-GB" sz="2400" spc="-10" dirty="0">
                <a:solidFill>
                  <a:srgbClr val="080912"/>
                </a:solidFill>
                <a:latin typeface="Arial MT"/>
                <a:cs typeface="Arial MT"/>
              </a:rPr>
              <a:t>the</a:t>
            </a:r>
            <a:r>
              <a:rPr lang="en-GB" sz="2400" spc="-41" dirty="0">
                <a:solidFill>
                  <a:srgbClr val="080912"/>
                </a:solidFill>
                <a:latin typeface="Arial MT"/>
                <a:cs typeface="Arial MT"/>
              </a:rPr>
              <a:t> </a:t>
            </a:r>
            <a:r>
              <a:rPr lang="en-GB" sz="2400" spc="-10" dirty="0">
                <a:solidFill>
                  <a:srgbClr val="080912"/>
                </a:solidFill>
                <a:latin typeface="Arial MT"/>
                <a:cs typeface="Arial MT"/>
              </a:rPr>
              <a:t>sigmoid</a:t>
            </a:r>
            <a:r>
              <a:rPr lang="en-GB" sz="2400" spc="-2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31" dirty="0">
                <a:solidFill>
                  <a:srgbClr val="080912"/>
                </a:solidFill>
                <a:latin typeface="Arial MT"/>
                <a:cs typeface="Arial MT"/>
              </a:rPr>
              <a:t> </a:t>
            </a:r>
            <a:r>
              <a:rPr lang="en-GB" sz="2400" spc="-10" dirty="0">
                <a:solidFill>
                  <a:srgbClr val="080912"/>
                </a:solidFill>
                <a:latin typeface="Arial MT"/>
                <a:cs typeface="Arial MT"/>
              </a:rPr>
              <a:t>will</a:t>
            </a:r>
            <a:r>
              <a:rPr lang="en-GB" sz="2400" spc="-31" dirty="0">
                <a:solidFill>
                  <a:srgbClr val="080912"/>
                </a:solidFill>
                <a:latin typeface="Arial MT"/>
                <a:cs typeface="Arial MT"/>
              </a:rPr>
              <a:t> </a:t>
            </a:r>
            <a:r>
              <a:rPr lang="en-GB" sz="2400" spc="-10" dirty="0">
                <a:solidFill>
                  <a:srgbClr val="080912"/>
                </a:solidFill>
                <a:latin typeface="Arial MT"/>
                <a:cs typeface="Arial MT"/>
              </a:rPr>
              <a:t>cause</a:t>
            </a:r>
            <a:r>
              <a:rPr lang="en-GB" sz="2400" spc="-41" dirty="0">
                <a:solidFill>
                  <a:srgbClr val="080912"/>
                </a:solidFill>
                <a:latin typeface="Arial MT"/>
                <a:cs typeface="Arial MT"/>
              </a:rPr>
              <a:t> </a:t>
            </a:r>
            <a:r>
              <a:rPr lang="en-GB" sz="2400" dirty="0">
                <a:solidFill>
                  <a:srgbClr val="080912"/>
                </a:solidFill>
                <a:latin typeface="Arial MT"/>
                <a:cs typeface="Arial MT"/>
              </a:rPr>
              <a:t>a</a:t>
            </a:r>
            <a:r>
              <a:rPr lang="en-GB" sz="2400" spc="-31" dirty="0">
                <a:solidFill>
                  <a:srgbClr val="080912"/>
                </a:solidFill>
                <a:latin typeface="Arial MT"/>
                <a:cs typeface="Arial MT"/>
              </a:rPr>
              <a:t> </a:t>
            </a:r>
            <a:r>
              <a:rPr lang="en-GB" sz="2400" spc="-10" dirty="0">
                <a:solidFill>
                  <a:srgbClr val="080912"/>
                </a:solidFill>
                <a:latin typeface="Arial MT"/>
                <a:cs typeface="Arial MT"/>
              </a:rPr>
              <a:t>small</a:t>
            </a:r>
            <a:r>
              <a:rPr lang="en-GB" sz="2400" spc="-37" dirty="0">
                <a:solidFill>
                  <a:srgbClr val="080912"/>
                </a:solidFill>
                <a:latin typeface="Arial MT"/>
                <a:cs typeface="Arial MT"/>
              </a:rPr>
              <a:t> </a:t>
            </a:r>
            <a:r>
              <a:rPr lang="en-GB" sz="2400" spc="-10" dirty="0">
                <a:solidFill>
                  <a:srgbClr val="080912"/>
                </a:solidFill>
                <a:latin typeface="Arial MT"/>
                <a:cs typeface="Arial MT"/>
              </a:rPr>
              <a:t>change</a:t>
            </a:r>
            <a:r>
              <a:rPr lang="en-GB" sz="2400" spc="-31" dirty="0">
                <a:solidFill>
                  <a:srgbClr val="080912"/>
                </a:solidFill>
                <a:latin typeface="Arial MT"/>
                <a:cs typeface="Arial MT"/>
              </a:rPr>
              <a:t> </a:t>
            </a:r>
            <a:r>
              <a:rPr lang="en-GB" sz="2400" spc="-7" dirty="0">
                <a:solidFill>
                  <a:srgbClr val="080912"/>
                </a:solidFill>
                <a:latin typeface="Arial MT"/>
                <a:cs typeface="Arial MT"/>
              </a:rPr>
              <a:t>in</a:t>
            </a:r>
            <a:r>
              <a:rPr lang="en-GB" sz="2400" spc="-27" dirty="0">
                <a:solidFill>
                  <a:srgbClr val="080912"/>
                </a:solidFill>
                <a:latin typeface="Arial MT"/>
                <a:cs typeface="Arial MT"/>
              </a:rPr>
              <a:t> </a:t>
            </a:r>
            <a:r>
              <a:rPr lang="en-GB" sz="2400" spc="-14" dirty="0">
                <a:solidFill>
                  <a:srgbClr val="080912"/>
                </a:solidFill>
                <a:latin typeface="Arial MT"/>
                <a:cs typeface="Arial MT"/>
              </a:rPr>
              <a:t>the </a:t>
            </a:r>
            <a:r>
              <a:rPr lang="en-GB" sz="2400" spc="-249" dirty="0">
                <a:solidFill>
                  <a:srgbClr val="080912"/>
                </a:solidFill>
                <a:latin typeface="Arial MT"/>
                <a:cs typeface="Arial MT"/>
              </a:rPr>
              <a:t> </a:t>
            </a:r>
            <a:r>
              <a:rPr lang="en-GB" sz="2400" spc="-10" dirty="0">
                <a:solidFill>
                  <a:srgbClr val="080912"/>
                </a:solidFill>
                <a:latin typeface="Arial MT"/>
                <a:cs typeface="Arial MT"/>
              </a:rPr>
              <a:t>output.</a:t>
            </a:r>
            <a:r>
              <a:rPr lang="en-GB" sz="2400" spc="-44" dirty="0">
                <a:solidFill>
                  <a:srgbClr val="080912"/>
                </a:solidFill>
                <a:latin typeface="Arial MT"/>
                <a:cs typeface="Arial MT"/>
              </a:rPr>
              <a:t> </a:t>
            </a:r>
            <a:r>
              <a:rPr lang="en-GB" sz="2400" spc="-10" dirty="0">
                <a:solidFill>
                  <a:srgbClr val="080912"/>
                </a:solidFill>
                <a:latin typeface="Arial MT"/>
                <a:cs typeface="Arial MT"/>
              </a:rPr>
              <a:t>Hence,</a:t>
            </a:r>
            <a:r>
              <a:rPr lang="en-GB" sz="2400" spc="-44" dirty="0">
                <a:solidFill>
                  <a:srgbClr val="080912"/>
                </a:solidFill>
                <a:latin typeface="Arial MT"/>
                <a:cs typeface="Arial MT"/>
              </a:rPr>
              <a:t> </a:t>
            </a:r>
            <a:r>
              <a:rPr lang="en-GB" sz="2400" spc="-10" dirty="0">
                <a:solidFill>
                  <a:srgbClr val="080912"/>
                </a:solidFill>
                <a:latin typeface="Arial MT"/>
                <a:cs typeface="Arial MT"/>
              </a:rPr>
              <a:t>the</a:t>
            </a:r>
            <a:r>
              <a:rPr lang="en-GB" sz="2400" spc="-41" dirty="0">
                <a:solidFill>
                  <a:srgbClr val="080912"/>
                </a:solidFill>
                <a:latin typeface="Arial MT"/>
                <a:cs typeface="Arial MT"/>
              </a:rPr>
              <a:t> </a:t>
            </a:r>
            <a:r>
              <a:rPr lang="en-GB" sz="2400" spc="-10" dirty="0">
                <a:solidFill>
                  <a:srgbClr val="080912"/>
                </a:solidFill>
                <a:latin typeface="Arial MT"/>
                <a:cs typeface="Arial MT"/>
              </a:rPr>
              <a:t>derivative</a:t>
            </a:r>
            <a:r>
              <a:rPr lang="en-GB" sz="2400" spc="-44" dirty="0">
                <a:solidFill>
                  <a:srgbClr val="080912"/>
                </a:solidFill>
                <a:latin typeface="Arial MT"/>
                <a:cs typeface="Arial MT"/>
              </a:rPr>
              <a:t> </a:t>
            </a:r>
            <a:r>
              <a:rPr lang="en-GB" sz="2400" spc="-10" dirty="0">
                <a:solidFill>
                  <a:srgbClr val="080912"/>
                </a:solidFill>
                <a:latin typeface="Arial MT"/>
                <a:cs typeface="Arial MT"/>
              </a:rPr>
              <a:t>becomes</a:t>
            </a:r>
            <a:r>
              <a:rPr lang="en-GB" sz="2400" spc="-44" dirty="0">
                <a:solidFill>
                  <a:srgbClr val="080912"/>
                </a:solidFill>
                <a:latin typeface="Arial MT"/>
                <a:cs typeface="Arial MT"/>
              </a:rPr>
              <a:t> </a:t>
            </a:r>
            <a:r>
              <a:rPr lang="en-GB" sz="2400" spc="-10" dirty="0">
                <a:solidFill>
                  <a:srgbClr val="080912"/>
                </a:solidFill>
                <a:latin typeface="Arial MT"/>
                <a:cs typeface="Arial MT"/>
              </a:rPr>
              <a:t>small.</a:t>
            </a:r>
            <a:r>
              <a:rPr lang="en-GB" sz="2400" spc="-44" dirty="0">
                <a:solidFill>
                  <a:srgbClr val="080912"/>
                </a:solidFill>
                <a:latin typeface="Arial MT"/>
                <a:cs typeface="Arial MT"/>
              </a:rPr>
              <a:t> </a:t>
            </a:r>
            <a:r>
              <a:rPr lang="en-GB" sz="2400" spc="-10" dirty="0">
                <a:solidFill>
                  <a:srgbClr val="080912"/>
                </a:solidFill>
                <a:latin typeface="Arial MT"/>
                <a:cs typeface="Arial MT"/>
              </a:rPr>
              <a:t>For</a:t>
            </a:r>
            <a:r>
              <a:rPr lang="en-GB" sz="2400" spc="-48" dirty="0">
                <a:solidFill>
                  <a:srgbClr val="080912"/>
                </a:solidFill>
                <a:latin typeface="Arial MT"/>
                <a:cs typeface="Arial MT"/>
              </a:rPr>
              <a:t> </a:t>
            </a:r>
            <a:r>
              <a:rPr lang="en-GB" sz="2400" spc="-10" dirty="0">
                <a:solidFill>
                  <a:srgbClr val="080912"/>
                </a:solidFill>
                <a:latin typeface="Arial MT"/>
                <a:cs typeface="Arial MT"/>
              </a:rPr>
              <a:t>shallow</a:t>
            </a:r>
            <a:r>
              <a:rPr lang="en-GB" sz="2400" spc="-41" dirty="0">
                <a:solidFill>
                  <a:srgbClr val="080912"/>
                </a:solidFill>
                <a:latin typeface="Arial MT"/>
                <a:cs typeface="Arial MT"/>
              </a:rPr>
              <a:t> </a:t>
            </a:r>
            <a:r>
              <a:rPr lang="en-GB" sz="2400" spc="-10" dirty="0">
                <a:solidFill>
                  <a:srgbClr val="080912"/>
                </a:solidFill>
                <a:latin typeface="Arial MT"/>
                <a:cs typeface="Arial MT"/>
              </a:rPr>
              <a:t>networks</a:t>
            </a:r>
            <a:r>
              <a:rPr lang="en-GB" sz="2400" spc="-44" dirty="0">
                <a:solidFill>
                  <a:srgbClr val="080912"/>
                </a:solidFill>
                <a:latin typeface="Arial MT"/>
                <a:cs typeface="Arial MT"/>
              </a:rPr>
              <a:t> </a:t>
            </a:r>
            <a:r>
              <a:rPr lang="en-GB" sz="2400" spc="-10" dirty="0">
                <a:solidFill>
                  <a:srgbClr val="080912"/>
                </a:solidFill>
                <a:latin typeface="Arial MT"/>
                <a:cs typeface="Arial MT"/>
              </a:rPr>
              <a:t>with</a:t>
            </a:r>
            <a:r>
              <a:rPr lang="en-GB" sz="2400" spc="-41" dirty="0">
                <a:solidFill>
                  <a:srgbClr val="080912"/>
                </a:solidFill>
                <a:latin typeface="Arial MT"/>
                <a:cs typeface="Arial MT"/>
              </a:rPr>
              <a:t> </a:t>
            </a:r>
            <a:r>
              <a:rPr lang="en-GB" sz="2400" spc="-10" dirty="0">
                <a:solidFill>
                  <a:srgbClr val="080912"/>
                </a:solidFill>
                <a:latin typeface="Arial MT"/>
                <a:cs typeface="Arial MT"/>
              </a:rPr>
              <a:t>only</a:t>
            </a:r>
            <a:r>
              <a:rPr lang="en-GB" sz="2400" spc="-37" dirty="0">
                <a:solidFill>
                  <a:srgbClr val="080912"/>
                </a:solidFill>
                <a:latin typeface="Arial MT"/>
                <a:cs typeface="Arial MT"/>
              </a:rPr>
              <a:t> </a:t>
            </a:r>
            <a:r>
              <a:rPr lang="en-GB" sz="2400" dirty="0">
                <a:solidFill>
                  <a:srgbClr val="080912"/>
                </a:solidFill>
                <a:latin typeface="Arial MT"/>
                <a:cs typeface="Arial MT"/>
              </a:rPr>
              <a:t>a</a:t>
            </a:r>
            <a:r>
              <a:rPr lang="en-GB" sz="2400" spc="-37" dirty="0">
                <a:solidFill>
                  <a:srgbClr val="080912"/>
                </a:solidFill>
                <a:latin typeface="Arial MT"/>
                <a:cs typeface="Arial MT"/>
              </a:rPr>
              <a:t> </a:t>
            </a:r>
            <a:r>
              <a:rPr lang="en-GB" sz="2400" spc="-14" dirty="0">
                <a:solidFill>
                  <a:srgbClr val="080912"/>
                </a:solidFill>
                <a:latin typeface="Arial MT"/>
                <a:cs typeface="Arial MT"/>
              </a:rPr>
              <a:t>few</a:t>
            </a:r>
            <a:r>
              <a:rPr lang="en-GB" sz="2400" spc="-37" dirty="0">
                <a:solidFill>
                  <a:srgbClr val="080912"/>
                </a:solidFill>
                <a:latin typeface="Arial MT"/>
                <a:cs typeface="Arial MT"/>
              </a:rPr>
              <a:t> </a:t>
            </a:r>
            <a:r>
              <a:rPr lang="en-GB" sz="2400" spc="-10" dirty="0">
                <a:solidFill>
                  <a:srgbClr val="080912"/>
                </a:solidFill>
                <a:latin typeface="Arial MT"/>
                <a:cs typeface="Arial MT"/>
              </a:rPr>
              <a:t>layers</a:t>
            </a:r>
            <a:r>
              <a:rPr lang="en-GB" sz="2400" spc="-37" dirty="0">
                <a:solidFill>
                  <a:srgbClr val="080912"/>
                </a:solidFill>
                <a:latin typeface="Arial MT"/>
                <a:cs typeface="Arial MT"/>
              </a:rPr>
              <a:t> </a:t>
            </a:r>
            <a:r>
              <a:rPr lang="en-GB" sz="2400" spc="-10" dirty="0">
                <a:solidFill>
                  <a:srgbClr val="080912"/>
                </a:solidFill>
                <a:latin typeface="Arial MT"/>
                <a:cs typeface="Arial MT"/>
              </a:rPr>
              <a:t>that </a:t>
            </a:r>
            <a:r>
              <a:rPr lang="en-GB" sz="2400" spc="-245" dirty="0">
                <a:solidFill>
                  <a:srgbClr val="080912"/>
                </a:solidFill>
                <a:latin typeface="Arial MT"/>
                <a:cs typeface="Arial MT"/>
              </a:rPr>
              <a:t> </a:t>
            </a:r>
            <a:r>
              <a:rPr lang="en-GB" sz="2400" spc="-7" dirty="0">
                <a:solidFill>
                  <a:srgbClr val="080912"/>
                </a:solidFill>
                <a:latin typeface="Arial MT"/>
                <a:cs typeface="Arial MT"/>
              </a:rPr>
              <a:t>use</a:t>
            </a:r>
            <a:r>
              <a:rPr lang="en-GB" sz="2400" spc="-20" dirty="0">
                <a:solidFill>
                  <a:srgbClr val="080912"/>
                </a:solidFill>
                <a:latin typeface="Arial MT"/>
                <a:cs typeface="Arial MT"/>
              </a:rPr>
              <a:t> </a:t>
            </a:r>
            <a:r>
              <a:rPr lang="en-GB" sz="2400" spc="-14" dirty="0">
                <a:solidFill>
                  <a:srgbClr val="080912"/>
                </a:solidFill>
                <a:latin typeface="Arial MT"/>
                <a:cs typeface="Arial MT"/>
              </a:rPr>
              <a:t>these</a:t>
            </a:r>
            <a:r>
              <a:rPr lang="en-GB" sz="2400" spc="-27" dirty="0">
                <a:solidFill>
                  <a:srgbClr val="080912"/>
                </a:solidFill>
                <a:latin typeface="Arial MT"/>
                <a:cs typeface="Arial MT"/>
              </a:rPr>
              <a:t> </a:t>
            </a:r>
            <a:r>
              <a:rPr lang="en-GB" sz="2400" spc="-14" dirty="0">
                <a:solidFill>
                  <a:srgbClr val="080912"/>
                </a:solidFill>
                <a:latin typeface="Arial MT"/>
                <a:cs typeface="Arial MT"/>
              </a:rPr>
              <a:t>activations,</a:t>
            </a:r>
            <a:r>
              <a:rPr lang="en-GB" sz="2400" spc="-24" dirty="0">
                <a:solidFill>
                  <a:srgbClr val="080912"/>
                </a:solidFill>
                <a:latin typeface="Arial MT"/>
                <a:cs typeface="Arial MT"/>
              </a:rPr>
              <a:t> </a:t>
            </a:r>
            <a:r>
              <a:rPr lang="en-GB" sz="2400" spc="-10" dirty="0">
                <a:solidFill>
                  <a:srgbClr val="080912"/>
                </a:solidFill>
                <a:latin typeface="Arial MT"/>
                <a:cs typeface="Arial MT"/>
              </a:rPr>
              <a:t>this</a:t>
            </a:r>
            <a:r>
              <a:rPr lang="en-GB" sz="2400" spc="-17" dirty="0">
                <a:solidFill>
                  <a:srgbClr val="080912"/>
                </a:solidFill>
                <a:latin typeface="Arial MT"/>
                <a:cs typeface="Arial MT"/>
              </a:rPr>
              <a:t> </a:t>
            </a:r>
            <a:r>
              <a:rPr lang="en-GB" sz="2400" spc="-10" dirty="0">
                <a:solidFill>
                  <a:srgbClr val="080912"/>
                </a:solidFill>
                <a:latin typeface="Arial MT"/>
                <a:cs typeface="Arial MT"/>
              </a:rPr>
              <a:t>isn’t</a:t>
            </a:r>
            <a:r>
              <a:rPr lang="en-GB" sz="2400" spc="-31" dirty="0">
                <a:solidFill>
                  <a:srgbClr val="080912"/>
                </a:solidFill>
                <a:latin typeface="Arial MT"/>
                <a:cs typeface="Arial MT"/>
              </a:rPr>
              <a:t> </a:t>
            </a:r>
            <a:r>
              <a:rPr lang="en-GB" sz="2400" dirty="0">
                <a:solidFill>
                  <a:srgbClr val="080912"/>
                </a:solidFill>
                <a:latin typeface="Arial MT"/>
                <a:cs typeface="Arial MT"/>
              </a:rPr>
              <a:t>a</a:t>
            </a:r>
            <a:r>
              <a:rPr lang="en-GB" sz="2400" spc="-20" dirty="0">
                <a:solidFill>
                  <a:srgbClr val="080912"/>
                </a:solidFill>
                <a:latin typeface="Arial MT"/>
                <a:cs typeface="Arial MT"/>
              </a:rPr>
              <a:t> </a:t>
            </a:r>
            <a:r>
              <a:rPr lang="en-GB" sz="2400" spc="-10" dirty="0">
                <a:solidFill>
                  <a:srgbClr val="080912"/>
                </a:solidFill>
                <a:latin typeface="Arial MT"/>
                <a:cs typeface="Arial MT"/>
              </a:rPr>
              <a:t>big</a:t>
            </a:r>
            <a:r>
              <a:rPr lang="en-GB" sz="2400" spc="-27" dirty="0">
                <a:solidFill>
                  <a:srgbClr val="080912"/>
                </a:solidFill>
                <a:latin typeface="Arial MT"/>
                <a:cs typeface="Arial MT"/>
              </a:rPr>
              <a:t> </a:t>
            </a:r>
            <a:r>
              <a:rPr lang="en-GB" sz="2400" spc="-10" dirty="0">
                <a:solidFill>
                  <a:srgbClr val="080912"/>
                </a:solidFill>
                <a:latin typeface="Arial MT"/>
                <a:cs typeface="Arial MT"/>
              </a:rPr>
              <a:t>problem.</a:t>
            </a:r>
            <a:endParaRPr lang="en-GB" sz="2400" dirty="0">
              <a:latin typeface="Arial MT"/>
              <a:cs typeface="Arial MT"/>
            </a:endParaRPr>
          </a:p>
          <a:p>
            <a:pPr marL="8659" marR="5195" algn="just">
              <a:lnSpc>
                <a:spcPct val="143700"/>
              </a:lnSpc>
              <a:spcBef>
                <a:spcPts val="409"/>
              </a:spcBef>
            </a:pPr>
            <a:r>
              <a:rPr lang="en-GB" sz="2400" spc="-10" dirty="0">
                <a:solidFill>
                  <a:srgbClr val="080912"/>
                </a:solidFill>
                <a:latin typeface="Arial MT"/>
                <a:cs typeface="Arial MT"/>
              </a:rPr>
              <a:t>However, when more layers are used, </a:t>
            </a:r>
            <a:r>
              <a:rPr lang="en-GB" sz="2400" spc="-7" dirty="0">
                <a:solidFill>
                  <a:srgbClr val="080912"/>
                </a:solidFill>
                <a:latin typeface="Arial MT"/>
                <a:cs typeface="Arial MT"/>
              </a:rPr>
              <a:t>it can </a:t>
            </a:r>
            <a:r>
              <a:rPr lang="en-GB" sz="2400" spc="-10" dirty="0">
                <a:solidFill>
                  <a:srgbClr val="080912"/>
                </a:solidFill>
                <a:latin typeface="Arial MT"/>
                <a:cs typeface="Arial MT"/>
              </a:rPr>
              <a:t>cause the gradient to </a:t>
            </a:r>
            <a:r>
              <a:rPr lang="en-GB" sz="2400" spc="-7" dirty="0">
                <a:solidFill>
                  <a:srgbClr val="080912"/>
                </a:solidFill>
                <a:latin typeface="Arial MT"/>
                <a:cs typeface="Arial MT"/>
              </a:rPr>
              <a:t>be </a:t>
            </a:r>
            <a:r>
              <a:rPr lang="en-GB" sz="2400" spc="-14" dirty="0">
                <a:solidFill>
                  <a:srgbClr val="080912"/>
                </a:solidFill>
                <a:latin typeface="Arial MT"/>
                <a:cs typeface="Arial MT"/>
              </a:rPr>
              <a:t>too </a:t>
            </a:r>
            <a:r>
              <a:rPr lang="en-GB" sz="2400" spc="-10" dirty="0">
                <a:solidFill>
                  <a:srgbClr val="080912"/>
                </a:solidFill>
                <a:latin typeface="Arial MT"/>
                <a:cs typeface="Arial MT"/>
              </a:rPr>
              <a:t>small for training </a:t>
            </a:r>
            <a:r>
              <a:rPr lang="en-GB" sz="2400" spc="-14" dirty="0">
                <a:solidFill>
                  <a:srgbClr val="080912"/>
                </a:solidFill>
                <a:latin typeface="Arial MT"/>
                <a:cs typeface="Arial MT"/>
              </a:rPr>
              <a:t>to </a:t>
            </a:r>
            <a:r>
              <a:rPr lang="en-GB" sz="2400" spc="-249" dirty="0">
                <a:solidFill>
                  <a:srgbClr val="080912"/>
                </a:solidFill>
                <a:latin typeface="Arial MT"/>
                <a:cs typeface="Arial MT"/>
              </a:rPr>
              <a:t> </a:t>
            </a:r>
            <a:r>
              <a:rPr lang="en-GB" sz="2400" spc="-7" dirty="0">
                <a:solidFill>
                  <a:srgbClr val="080912"/>
                </a:solidFill>
                <a:latin typeface="Arial MT"/>
                <a:cs typeface="Arial MT"/>
              </a:rPr>
              <a:t>work</a:t>
            </a:r>
            <a:r>
              <a:rPr lang="en-GB" sz="2400" spc="-27" dirty="0">
                <a:solidFill>
                  <a:srgbClr val="080912"/>
                </a:solidFill>
                <a:latin typeface="Arial MT"/>
                <a:cs typeface="Arial MT"/>
              </a:rPr>
              <a:t> </a:t>
            </a:r>
            <a:r>
              <a:rPr lang="en-GB" sz="2400" spc="-10" dirty="0">
                <a:solidFill>
                  <a:srgbClr val="080912"/>
                </a:solidFill>
                <a:latin typeface="Arial MT"/>
                <a:cs typeface="Arial MT"/>
              </a:rPr>
              <a:t>effectively.</a:t>
            </a:r>
          </a:p>
          <a:p>
            <a:pPr marL="8659" marR="5195" algn="just">
              <a:lnSpc>
                <a:spcPct val="143700"/>
              </a:lnSpc>
              <a:spcBef>
                <a:spcPts val="409"/>
              </a:spcBef>
            </a:pPr>
            <a:endParaRPr lang="en-GB" sz="2400" dirty="0">
              <a:latin typeface="Arial MT"/>
              <a:cs typeface="Arial MT"/>
            </a:endParaRPr>
          </a:p>
          <a:p>
            <a:pPr marL="8659" algn="just">
              <a:spcBef>
                <a:spcPts val="617"/>
              </a:spcBef>
            </a:pPr>
            <a:r>
              <a:rPr lang="en-GB" sz="2800" b="1" spc="-31" dirty="0">
                <a:solidFill>
                  <a:srgbClr val="272E40"/>
                </a:solidFill>
                <a:latin typeface="Arial"/>
                <a:cs typeface="Arial"/>
              </a:rPr>
              <a:t>E</a:t>
            </a:r>
            <a:r>
              <a:rPr lang="en-GB" sz="2800" b="1" spc="-24" dirty="0">
                <a:solidFill>
                  <a:srgbClr val="272E40"/>
                </a:solidFill>
                <a:latin typeface="Arial"/>
                <a:cs typeface="Arial"/>
              </a:rPr>
              <a:t>x</a:t>
            </a:r>
            <a:r>
              <a:rPr lang="en-GB" sz="2800" b="1" spc="-31" dirty="0">
                <a:solidFill>
                  <a:srgbClr val="272E40"/>
                </a:solidFill>
                <a:latin typeface="Arial"/>
                <a:cs typeface="Arial"/>
              </a:rPr>
              <a:t>p</a:t>
            </a:r>
            <a:r>
              <a:rPr lang="en-GB" sz="2800" b="1" spc="-24" dirty="0">
                <a:solidFill>
                  <a:srgbClr val="272E40"/>
                </a:solidFill>
                <a:latin typeface="Arial"/>
                <a:cs typeface="Arial"/>
              </a:rPr>
              <a:t>l</a:t>
            </a:r>
            <a:r>
              <a:rPr lang="en-GB" sz="2800" b="1" spc="-31" dirty="0">
                <a:solidFill>
                  <a:srgbClr val="272E40"/>
                </a:solidFill>
                <a:latin typeface="Arial"/>
                <a:cs typeface="Arial"/>
              </a:rPr>
              <a:t>o</a:t>
            </a:r>
            <a:r>
              <a:rPr lang="en-GB" sz="2800" b="1" spc="-37" dirty="0">
                <a:solidFill>
                  <a:srgbClr val="272E40"/>
                </a:solidFill>
                <a:latin typeface="Arial"/>
                <a:cs typeface="Arial"/>
              </a:rPr>
              <a:t>d</a:t>
            </a:r>
            <a:r>
              <a:rPr lang="en-GB" sz="2800" b="1" spc="-24" dirty="0">
                <a:solidFill>
                  <a:srgbClr val="272E40"/>
                </a:solidFill>
                <a:latin typeface="Arial"/>
                <a:cs typeface="Arial"/>
              </a:rPr>
              <a:t>i</a:t>
            </a:r>
            <a:r>
              <a:rPr lang="en-GB" sz="2800" b="1" spc="-31" dirty="0">
                <a:solidFill>
                  <a:srgbClr val="272E40"/>
                </a:solidFill>
                <a:latin typeface="Arial"/>
                <a:cs typeface="Arial"/>
              </a:rPr>
              <a:t>n</a:t>
            </a:r>
            <a:r>
              <a:rPr lang="en-GB" sz="2800" b="1" dirty="0">
                <a:solidFill>
                  <a:srgbClr val="272E40"/>
                </a:solidFill>
                <a:latin typeface="Arial"/>
                <a:cs typeface="Arial"/>
              </a:rPr>
              <a:t>g</a:t>
            </a:r>
            <a:r>
              <a:rPr lang="en-GB" sz="2800" b="1" spc="-61" dirty="0">
                <a:solidFill>
                  <a:srgbClr val="272E40"/>
                </a:solidFill>
                <a:latin typeface="Arial"/>
                <a:cs typeface="Arial"/>
              </a:rPr>
              <a:t> </a:t>
            </a:r>
            <a:r>
              <a:rPr lang="en-GB" sz="2800" b="1" spc="-27" dirty="0">
                <a:solidFill>
                  <a:srgbClr val="272E40"/>
                </a:solidFill>
                <a:latin typeface="Arial"/>
                <a:cs typeface="Arial"/>
              </a:rPr>
              <a:t>G</a:t>
            </a:r>
            <a:r>
              <a:rPr lang="en-GB" sz="2800" b="1" spc="-34" dirty="0">
                <a:solidFill>
                  <a:srgbClr val="272E40"/>
                </a:solidFill>
                <a:latin typeface="Arial"/>
                <a:cs typeface="Arial"/>
              </a:rPr>
              <a:t>r</a:t>
            </a:r>
            <a:r>
              <a:rPr lang="en-GB" sz="2800" b="1" spc="-24" dirty="0">
                <a:solidFill>
                  <a:srgbClr val="272E40"/>
                </a:solidFill>
                <a:latin typeface="Arial"/>
                <a:cs typeface="Arial"/>
              </a:rPr>
              <a:t>a</a:t>
            </a:r>
            <a:r>
              <a:rPr lang="en-GB" sz="2800" b="1" spc="-37" dirty="0">
                <a:solidFill>
                  <a:srgbClr val="272E40"/>
                </a:solidFill>
                <a:latin typeface="Arial"/>
                <a:cs typeface="Arial"/>
              </a:rPr>
              <a:t>d</a:t>
            </a:r>
            <a:r>
              <a:rPr lang="en-GB" sz="2800" b="1" spc="-24" dirty="0">
                <a:solidFill>
                  <a:srgbClr val="272E40"/>
                </a:solidFill>
                <a:latin typeface="Arial"/>
                <a:cs typeface="Arial"/>
              </a:rPr>
              <a:t>i</a:t>
            </a:r>
            <a:r>
              <a:rPr lang="en-GB" sz="2800" b="1" spc="-34" dirty="0">
                <a:solidFill>
                  <a:srgbClr val="272E40"/>
                </a:solidFill>
                <a:latin typeface="Arial"/>
                <a:cs typeface="Arial"/>
              </a:rPr>
              <a:t>e</a:t>
            </a:r>
            <a:r>
              <a:rPr lang="en-GB" sz="2800" b="1" spc="-31" dirty="0">
                <a:solidFill>
                  <a:srgbClr val="272E40"/>
                </a:solidFill>
                <a:latin typeface="Arial"/>
                <a:cs typeface="Arial"/>
              </a:rPr>
              <a:t>n</a:t>
            </a:r>
            <a:r>
              <a:rPr lang="en-GB" sz="2800" b="1" spc="-24" dirty="0">
                <a:solidFill>
                  <a:srgbClr val="272E40"/>
                </a:solidFill>
                <a:latin typeface="Arial"/>
                <a:cs typeface="Arial"/>
              </a:rPr>
              <a:t>t</a:t>
            </a:r>
            <a:r>
              <a:rPr lang="en-GB" sz="2800" b="1" spc="-3" dirty="0">
                <a:solidFill>
                  <a:srgbClr val="272E40"/>
                </a:solidFill>
                <a:latin typeface="Arial"/>
                <a:cs typeface="Arial"/>
              </a:rPr>
              <a:t>s</a:t>
            </a:r>
            <a:endParaRPr lang="en-GB" sz="2800" dirty="0">
              <a:latin typeface="Arial"/>
              <a:cs typeface="Arial"/>
            </a:endParaRPr>
          </a:p>
          <a:p>
            <a:pPr marL="8659" marR="5195">
              <a:lnSpc>
                <a:spcPct val="143900"/>
              </a:lnSpc>
              <a:spcBef>
                <a:spcPts val="395"/>
              </a:spcBef>
            </a:pPr>
            <a:r>
              <a:rPr lang="en-GB" sz="2400" spc="-10" dirty="0">
                <a:solidFill>
                  <a:srgbClr val="080912"/>
                </a:solidFill>
                <a:latin typeface="Arial MT"/>
                <a:cs typeface="Arial MT"/>
              </a:rPr>
              <a:t>Exploding</a:t>
            </a:r>
            <a:r>
              <a:rPr lang="en-GB" sz="2400" spc="14" dirty="0">
                <a:solidFill>
                  <a:srgbClr val="080912"/>
                </a:solidFill>
                <a:latin typeface="Arial MT"/>
                <a:cs typeface="Arial MT"/>
              </a:rPr>
              <a:t> </a:t>
            </a:r>
            <a:r>
              <a:rPr lang="en-GB" sz="2400" spc="-10" dirty="0">
                <a:solidFill>
                  <a:srgbClr val="080912"/>
                </a:solidFill>
                <a:latin typeface="Arial MT"/>
                <a:cs typeface="Arial MT"/>
              </a:rPr>
              <a:t>gradients</a:t>
            </a:r>
            <a:r>
              <a:rPr lang="en-GB" sz="2400" spc="20" dirty="0">
                <a:solidFill>
                  <a:srgbClr val="080912"/>
                </a:solidFill>
                <a:latin typeface="Arial MT"/>
                <a:cs typeface="Arial MT"/>
              </a:rPr>
              <a:t> </a:t>
            </a:r>
            <a:r>
              <a:rPr lang="en-GB" sz="2400" spc="-7" dirty="0">
                <a:solidFill>
                  <a:srgbClr val="080912"/>
                </a:solidFill>
                <a:latin typeface="Arial MT"/>
                <a:cs typeface="Arial MT"/>
              </a:rPr>
              <a:t>are</a:t>
            </a:r>
            <a:r>
              <a:rPr lang="en-GB" sz="2400" spc="14" dirty="0">
                <a:solidFill>
                  <a:srgbClr val="080912"/>
                </a:solidFill>
                <a:latin typeface="Arial MT"/>
                <a:cs typeface="Arial MT"/>
              </a:rPr>
              <a:t> </a:t>
            </a:r>
            <a:r>
              <a:rPr lang="en-GB" sz="2400" spc="-10" dirty="0">
                <a:solidFill>
                  <a:srgbClr val="080912"/>
                </a:solidFill>
                <a:latin typeface="Arial MT"/>
                <a:cs typeface="Arial MT"/>
              </a:rPr>
              <a:t>problems</a:t>
            </a:r>
            <a:r>
              <a:rPr lang="en-GB" sz="2400" spc="20" dirty="0">
                <a:solidFill>
                  <a:srgbClr val="080912"/>
                </a:solidFill>
                <a:latin typeface="Arial MT"/>
                <a:cs typeface="Arial MT"/>
              </a:rPr>
              <a:t> </a:t>
            </a:r>
            <a:r>
              <a:rPr lang="en-GB" sz="2400" spc="-10" dirty="0">
                <a:solidFill>
                  <a:srgbClr val="080912"/>
                </a:solidFill>
                <a:latin typeface="Arial MT"/>
                <a:cs typeface="Arial MT"/>
              </a:rPr>
              <a:t>where</a:t>
            </a:r>
            <a:r>
              <a:rPr lang="en-GB" sz="2400" spc="17" dirty="0">
                <a:solidFill>
                  <a:srgbClr val="080912"/>
                </a:solidFill>
                <a:latin typeface="Arial MT"/>
                <a:cs typeface="Arial MT"/>
              </a:rPr>
              <a:t> </a:t>
            </a:r>
            <a:r>
              <a:rPr lang="en-GB" sz="2400" spc="-10" dirty="0">
                <a:solidFill>
                  <a:srgbClr val="080912"/>
                </a:solidFill>
                <a:latin typeface="Arial MT"/>
                <a:cs typeface="Arial MT"/>
              </a:rPr>
              <a:t>significant</a:t>
            </a:r>
            <a:r>
              <a:rPr lang="en-GB" sz="2400" spc="7" dirty="0">
                <a:solidFill>
                  <a:srgbClr val="080912"/>
                </a:solidFill>
                <a:latin typeface="Arial MT"/>
                <a:cs typeface="Arial MT"/>
              </a:rPr>
              <a:t> </a:t>
            </a:r>
            <a:r>
              <a:rPr lang="en-GB" sz="2400" spc="-10" dirty="0">
                <a:solidFill>
                  <a:srgbClr val="080912"/>
                </a:solidFill>
                <a:latin typeface="Arial MT"/>
                <a:cs typeface="Arial MT"/>
              </a:rPr>
              <a:t>error</a:t>
            </a:r>
            <a:r>
              <a:rPr lang="en-GB" sz="2400" spc="17" dirty="0">
                <a:solidFill>
                  <a:srgbClr val="080912"/>
                </a:solidFill>
                <a:latin typeface="Arial MT"/>
                <a:cs typeface="Arial MT"/>
              </a:rPr>
              <a:t> </a:t>
            </a:r>
            <a:r>
              <a:rPr lang="en-GB" sz="2400" spc="-14" dirty="0">
                <a:solidFill>
                  <a:srgbClr val="080912"/>
                </a:solidFill>
                <a:latin typeface="Arial MT"/>
                <a:cs typeface="Arial MT"/>
              </a:rPr>
              <a:t>gradients</a:t>
            </a:r>
            <a:r>
              <a:rPr lang="en-GB" sz="2400" spc="24" dirty="0">
                <a:solidFill>
                  <a:srgbClr val="080912"/>
                </a:solidFill>
                <a:latin typeface="Arial MT"/>
                <a:cs typeface="Arial MT"/>
              </a:rPr>
              <a:t> </a:t>
            </a:r>
            <a:r>
              <a:rPr lang="en-GB" sz="2400" spc="-10" dirty="0">
                <a:solidFill>
                  <a:srgbClr val="080912"/>
                </a:solidFill>
                <a:latin typeface="Arial MT"/>
                <a:cs typeface="Arial MT"/>
              </a:rPr>
              <a:t>accumulate</a:t>
            </a:r>
            <a:r>
              <a:rPr lang="en-GB" sz="2400" spc="24" dirty="0">
                <a:solidFill>
                  <a:srgbClr val="080912"/>
                </a:solidFill>
                <a:latin typeface="Arial MT"/>
                <a:cs typeface="Arial MT"/>
              </a:rPr>
              <a:t> </a:t>
            </a:r>
            <a:r>
              <a:rPr lang="en-GB" sz="2400" spc="-10" dirty="0">
                <a:solidFill>
                  <a:srgbClr val="080912"/>
                </a:solidFill>
                <a:latin typeface="Arial MT"/>
                <a:cs typeface="Arial MT"/>
              </a:rPr>
              <a:t>and</a:t>
            </a:r>
            <a:r>
              <a:rPr lang="en-GB" sz="2400" spc="24" dirty="0">
                <a:solidFill>
                  <a:srgbClr val="080912"/>
                </a:solidFill>
                <a:latin typeface="Arial MT"/>
                <a:cs typeface="Arial MT"/>
              </a:rPr>
              <a:t> </a:t>
            </a:r>
            <a:r>
              <a:rPr lang="en-GB" sz="2400" spc="-10" dirty="0">
                <a:solidFill>
                  <a:srgbClr val="080912"/>
                </a:solidFill>
                <a:latin typeface="Arial MT"/>
                <a:cs typeface="Arial MT"/>
              </a:rPr>
              <a:t>result</a:t>
            </a:r>
            <a:r>
              <a:rPr lang="en-GB" sz="2400" spc="17" dirty="0">
                <a:solidFill>
                  <a:srgbClr val="080912"/>
                </a:solidFill>
                <a:latin typeface="Arial MT"/>
                <a:cs typeface="Arial MT"/>
              </a:rPr>
              <a:t> </a:t>
            </a:r>
            <a:r>
              <a:rPr lang="en-GB" sz="2400" spc="-14" dirty="0">
                <a:solidFill>
                  <a:srgbClr val="080912"/>
                </a:solidFill>
                <a:latin typeface="Arial MT"/>
                <a:cs typeface="Arial MT"/>
              </a:rPr>
              <a:t>in </a:t>
            </a:r>
            <a:r>
              <a:rPr lang="en-GB" sz="2400" spc="-245" dirty="0">
                <a:solidFill>
                  <a:srgbClr val="080912"/>
                </a:solidFill>
                <a:latin typeface="Arial MT"/>
                <a:cs typeface="Arial MT"/>
              </a:rPr>
              <a:t> </a:t>
            </a:r>
            <a:r>
              <a:rPr lang="en-GB" sz="2400" spc="-7" dirty="0">
                <a:solidFill>
                  <a:srgbClr val="080912"/>
                </a:solidFill>
                <a:latin typeface="Arial MT"/>
                <a:cs typeface="Arial MT"/>
              </a:rPr>
              <a:t>very</a:t>
            </a:r>
            <a:r>
              <a:rPr lang="en-GB" sz="2400" spc="-27" dirty="0">
                <a:solidFill>
                  <a:srgbClr val="080912"/>
                </a:solidFill>
                <a:latin typeface="Arial MT"/>
                <a:cs typeface="Arial MT"/>
              </a:rPr>
              <a:t> </a:t>
            </a:r>
            <a:r>
              <a:rPr lang="en-GB" sz="2400" spc="-10" dirty="0">
                <a:solidFill>
                  <a:srgbClr val="080912"/>
                </a:solidFill>
                <a:latin typeface="Arial MT"/>
                <a:cs typeface="Arial MT"/>
              </a:rPr>
              <a:t>large</a:t>
            </a:r>
            <a:r>
              <a:rPr lang="en-GB" sz="2400" spc="-20" dirty="0">
                <a:solidFill>
                  <a:srgbClr val="080912"/>
                </a:solidFill>
                <a:latin typeface="Arial MT"/>
                <a:cs typeface="Arial MT"/>
              </a:rPr>
              <a:t> </a:t>
            </a:r>
            <a:r>
              <a:rPr lang="en-GB" sz="2400" spc="-10" dirty="0">
                <a:solidFill>
                  <a:srgbClr val="080912"/>
                </a:solidFill>
                <a:latin typeface="Arial MT"/>
                <a:cs typeface="Arial MT"/>
              </a:rPr>
              <a:t>updates</a:t>
            </a:r>
            <a:r>
              <a:rPr lang="en-GB" sz="2400" spc="-17" dirty="0">
                <a:solidFill>
                  <a:srgbClr val="080912"/>
                </a:solidFill>
                <a:latin typeface="Arial MT"/>
                <a:cs typeface="Arial MT"/>
              </a:rPr>
              <a:t> </a:t>
            </a:r>
            <a:r>
              <a:rPr lang="en-GB" sz="2400" spc="-10" dirty="0">
                <a:solidFill>
                  <a:srgbClr val="080912"/>
                </a:solidFill>
                <a:latin typeface="Arial MT"/>
                <a:cs typeface="Arial MT"/>
              </a:rPr>
              <a:t>to</a:t>
            </a:r>
            <a:r>
              <a:rPr lang="en-GB" sz="2400" spc="-20" dirty="0">
                <a:solidFill>
                  <a:srgbClr val="080912"/>
                </a:solidFill>
                <a:latin typeface="Arial MT"/>
                <a:cs typeface="Arial MT"/>
              </a:rPr>
              <a:t> </a:t>
            </a:r>
            <a:r>
              <a:rPr lang="en-GB" sz="2400" spc="-10" dirty="0">
                <a:solidFill>
                  <a:srgbClr val="080912"/>
                </a:solidFill>
                <a:latin typeface="Arial MT"/>
                <a:cs typeface="Arial MT"/>
              </a:rPr>
              <a:t>neural</a:t>
            </a:r>
            <a:r>
              <a:rPr lang="en-GB" sz="2400" spc="-31" dirty="0">
                <a:solidFill>
                  <a:srgbClr val="080912"/>
                </a:solidFill>
                <a:latin typeface="Arial MT"/>
                <a:cs typeface="Arial MT"/>
              </a:rPr>
              <a:t> </a:t>
            </a:r>
            <a:r>
              <a:rPr lang="en-GB" sz="2400" spc="-10" dirty="0">
                <a:solidFill>
                  <a:srgbClr val="080912"/>
                </a:solidFill>
                <a:latin typeface="Arial MT"/>
                <a:cs typeface="Arial MT"/>
              </a:rPr>
              <a:t>network</a:t>
            </a:r>
            <a:r>
              <a:rPr lang="en-GB" sz="2400" spc="-24" dirty="0">
                <a:solidFill>
                  <a:srgbClr val="080912"/>
                </a:solidFill>
                <a:latin typeface="Arial MT"/>
                <a:cs typeface="Arial MT"/>
              </a:rPr>
              <a:t> </a:t>
            </a:r>
            <a:r>
              <a:rPr lang="en-GB" sz="2400" spc="-10" dirty="0">
                <a:solidFill>
                  <a:srgbClr val="080912"/>
                </a:solidFill>
                <a:latin typeface="Arial MT"/>
                <a:cs typeface="Arial MT"/>
              </a:rPr>
              <a:t>model</a:t>
            </a:r>
            <a:r>
              <a:rPr lang="en-GB" sz="2400" spc="-31" dirty="0">
                <a:solidFill>
                  <a:srgbClr val="080912"/>
                </a:solidFill>
                <a:latin typeface="Arial MT"/>
                <a:cs typeface="Arial MT"/>
              </a:rPr>
              <a:t> </a:t>
            </a:r>
            <a:r>
              <a:rPr lang="en-GB" sz="2400" spc="-10" dirty="0">
                <a:solidFill>
                  <a:srgbClr val="080912"/>
                </a:solidFill>
                <a:latin typeface="Arial MT"/>
                <a:cs typeface="Arial MT"/>
              </a:rPr>
              <a:t>weights</a:t>
            </a:r>
            <a:r>
              <a:rPr lang="en-GB" sz="2400" spc="-24" dirty="0">
                <a:solidFill>
                  <a:srgbClr val="080912"/>
                </a:solidFill>
                <a:latin typeface="Arial MT"/>
                <a:cs typeface="Arial MT"/>
              </a:rPr>
              <a:t> </a:t>
            </a:r>
            <a:r>
              <a:rPr lang="en-GB" sz="2400" spc="-10" dirty="0">
                <a:solidFill>
                  <a:srgbClr val="080912"/>
                </a:solidFill>
                <a:latin typeface="Arial MT"/>
                <a:cs typeface="Arial MT"/>
              </a:rPr>
              <a:t>during</a:t>
            </a:r>
            <a:r>
              <a:rPr lang="en-GB" sz="2400" spc="-20" dirty="0">
                <a:solidFill>
                  <a:srgbClr val="080912"/>
                </a:solidFill>
                <a:latin typeface="Arial MT"/>
                <a:cs typeface="Arial MT"/>
              </a:rPr>
              <a:t> </a:t>
            </a:r>
            <a:r>
              <a:rPr lang="en-GB" sz="2400" spc="-10" dirty="0">
                <a:solidFill>
                  <a:srgbClr val="080912"/>
                </a:solidFill>
                <a:latin typeface="Arial MT"/>
                <a:cs typeface="Arial MT"/>
              </a:rPr>
              <a:t>training.</a:t>
            </a:r>
            <a:endParaRPr lang="en-GB" sz="2400" dirty="0">
              <a:latin typeface="Arial MT"/>
              <a:cs typeface="Arial MT"/>
            </a:endParaRPr>
          </a:p>
          <a:p>
            <a:pPr marL="8659" marR="4762">
              <a:lnSpc>
                <a:spcPct val="143700"/>
              </a:lnSpc>
              <a:spcBef>
                <a:spcPts val="409"/>
              </a:spcBef>
            </a:pPr>
            <a:r>
              <a:rPr lang="en-GB" sz="2400" spc="-7" dirty="0">
                <a:solidFill>
                  <a:srgbClr val="080912"/>
                </a:solidFill>
                <a:latin typeface="Arial MT"/>
                <a:cs typeface="Arial MT"/>
              </a:rPr>
              <a:t>An</a:t>
            </a:r>
            <a:r>
              <a:rPr lang="en-GB" sz="2400" spc="10" dirty="0">
                <a:solidFill>
                  <a:srgbClr val="080912"/>
                </a:solidFill>
                <a:latin typeface="Arial MT"/>
                <a:cs typeface="Arial MT"/>
              </a:rPr>
              <a:t> </a:t>
            </a:r>
            <a:r>
              <a:rPr lang="en-GB" sz="2400" spc="-10" dirty="0">
                <a:solidFill>
                  <a:srgbClr val="080912"/>
                </a:solidFill>
                <a:latin typeface="Arial MT"/>
                <a:cs typeface="Arial MT"/>
              </a:rPr>
              <a:t>unstable</a:t>
            </a:r>
            <a:r>
              <a:rPr lang="en-GB" sz="2400" spc="10" dirty="0">
                <a:solidFill>
                  <a:srgbClr val="080912"/>
                </a:solidFill>
                <a:latin typeface="Arial MT"/>
                <a:cs typeface="Arial MT"/>
              </a:rPr>
              <a:t> </a:t>
            </a:r>
            <a:r>
              <a:rPr lang="en-GB" sz="2400" spc="-10" dirty="0">
                <a:solidFill>
                  <a:srgbClr val="080912"/>
                </a:solidFill>
                <a:latin typeface="Arial MT"/>
                <a:cs typeface="Arial MT"/>
              </a:rPr>
              <a:t>network</a:t>
            </a:r>
            <a:r>
              <a:rPr lang="en-GB" sz="2400" spc="14" dirty="0">
                <a:solidFill>
                  <a:srgbClr val="080912"/>
                </a:solidFill>
                <a:latin typeface="Arial MT"/>
                <a:cs typeface="Arial MT"/>
              </a:rPr>
              <a:t> </a:t>
            </a:r>
            <a:r>
              <a:rPr lang="en-GB" sz="2400" spc="-10" dirty="0">
                <a:solidFill>
                  <a:srgbClr val="080912"/>
                </a:solidFill>
                <a:latin typeface="Arial MT"/>
                <a:cs typeface="Arial MT"/>
              </a:rPr>
              <a:t>can</a:t>
            </a:r>
            <a:r>
              <a:rPr lang="en-GB" sz="2400" spc="10" dirty="0">
                <a:solidFill>
                  <a:srgbClr val="080912"/>
                </a:solidFill>
                <a:latin typeface="Arial MT"/>
                <a:cs typeface="Arial MT"/>
              </a:rPr>
              <a:t> </a:t>
            </a:r>
            <a:r>
              <a:rPr lang="en-GB" sz="2400" spc="-10" dirty="0">
                <a:solidFill>
                  <a:srgbClr val="080912"/>
                </a:solidFill>
                <a:latin typeface="Arial MT"/>
                <a:cs typeface="Arial MT"/>
              </a:rPr>
              <a:t>result</a:t>
            </a:r>
            <a:r>
              <a:rPr lang="en-GB" sz="2400" spc="-3" dirty="0">
                <a:solidFill>
                  <a:srgbClr val="080912"/>
                </a:solidFill>
                <a:latin typeface="Arial MT"/>
                <a:cs typeface="Arial MT"/>
              </a:rPr>
              <a:t> </a:t>
            </a:r>
            <a:r>
              <a:rPr lang="en-GB" sz="2400" spc="-10" dirty="0">
                <a:solidFill>
                  <a:srgbClr val="080912"/>
                </a:solidFill>
                <a:latin typeface="Arial MT"/>
                <a:cs typeface="Arial MT"/>
              </a:rPr>
              <a:t>when</a:t>
            </a:r>
            <a:r>
              <a:rPr lang="en-GB" sz="2400" spc="20" dirty="0">
                <a:solidFill>
                  <a:srgbClr val="080912"/>
                </a:solidFill>
                <a:latin typeface="Arial MT"/>
                <a:cs typeface="Arial MT"/>
              </a:rPr>
              <a:t> </a:t>
            </a:r>
            <a:r>
              <a:rPr lang="en-GB" sz="2400" spc="-14" dirty="0">
                <a:solidFill>
                  <a:srgbClr val="080912"/>
                </a:solidFill>
                <a:latin typeface="Arial MT"/>
                <a:cs typeface="Arial MT"/>
              </a:rPr>
              <a:t>there</a:t>
            </a:r>
            <a:r>
              <a:rPr lang="en-GB" sz="2400" dirty="0">
                <a:solidFill>
                  <a:srgbClr val="080912"/>
                </a:solidFill>
                <a:latin typeface="Arial MT"/>
                <a:cs typeface="Arial MT"/>
              </a:rPr>
              <a:t> </a:t>
            </a:r>
            <a:r>
              <a:rPr lang="en-GB" sz="2400" spc="-7" dirty="0">
                <a:solidFill>
                  <a:srgbClr val="080912"/>
                </a:solidFill>
                <a:latin typeface="Arial MT"/>
                <a:cs typeface="Arial MT"/>
              </a:rPr>
              <a:t>are</a:t>
            </a:r>
            <a:r>
              <a:rPr lang="en-GB" sz="2400" spc="10" dirty="0">
                <a:solidFill>
                  <a:srgbClr val="080912"/>
                </a:solidFill>
                <a:latin typeface="Arial MT"/>
                <a:cs typeface="Arial MT"/>
              </a:rPr>
              <a:t> </a:t>
            </a:r>
            <a:r>
              <a:rPr lang="en-GB" sz="2400" spc="-10" dirty="0">
                <a:solidFill>
                  <a:srgbClr val="080912"/>
                </a:solidFill>
                <a:latin typeface="Arial MT"/>
                <a:cs typeface="Arial MT"/>
              </a:rPr>
              <a:t>exploding</a:t>
            </a:r>
            <a:r>
              <a:rPr lang="en-GB" sz="2400" spc="14" dirty="0">
                <a:solidFill>
                  <a:srgbClr val="080912"/>
                </a:solidFill>
                <a:latin typeface="Arial MT"/>
                <a:cs typeface="Arial MT"/>
              </a:rPr>
              <a:t> </a:t>
            </a:r>
            <a:r>
              <a:rPr lang="en-GB" sz="2400" spc="-10" dirty="0">
                <a:solidFill>
                  <a:srgbClr val="080912"/>
                </a:solidFill>
                <a:latin typeface="Arial MT"/>
                <a:cs typeface="Arial MT"/>
              </a:rPr>
              <a:t>gradients,</a:t>
            </a:r>
            <a:r>
              <a:rPr lang="en-GB" sz="2400" spc="3" dirty="0">
                <a:solidFill>
                  <a:srgbClr val="080912"/>
                </a:solidFill>
                <a:latin typeface="Arial MT"/>
                <a:cs typeface="Arial MT"/>
              </a:rPr>
              <a:t> </a:t>
            </a:r>
            <a:r>
              <a:rPr lang="en-GB" sz="2400" spc="-10" dirty="0">
                <a:solidFill>
                  <a:srgbClr val="080912"/>
                </a:solidFill>
                <a:latin typeface="Arial MT"/>
                <a:cs typeface="Arial MT"/>
              </a:rPr>
              <a:t>and</a:t>
            </a:r>
            <a:r>
              <a:rPr lang="en-GB" sz="2400" spc="20" dirty="0">
                <a:solidFill>
                  <a:srgbClr val="080912"/>
                </a:solidFill>
                <a:latin typeface="Arial MT"/>
                <a:cs typeface="Arial MT"/>
              </a:rPr>
              <a:t> </a:t>
            </a:r>
            <a:r>
              <a:rPr lang="en-GB" sz="2400" spc="-10" dirty="0">
                <a:solidFill>
                  <a:srgbClr val="080912"/>
                </a:solidFill>
                <a:latin typeface="Arial MT"/>
                <a:cs typeface="Arial MT"/>
              </a:rPr>
              <a:t>the</a:t>
            </a:r>
            <a:r>
              <a:rPr lang="en-GB" sz="2400" spc="10" dirty="0">
                <a:solidFill>
                  <a:srgbClr val="080912"/>
                </a:solidFill>
                <a:latin typeface="Arial MT"/>
                <a:cs typeface="Arial MT"/>
              </a:rPr>
              <a:t> </a:t>
            </a:r>
            <a:r>
              <a:rPr lang="en-GB" sz="2400" spc="-14" dirty="0">
                <a:solidFill>
                  <a:srgbClr val="080912"/>
                </a:solidFill>
                <a:latin typeface="Arial MT"/>
                <a:cs typeface="Arial MT"/>
              </a:rPr>
              <a:t>learning</a:t>
            </a:r>
            <a:r>
              <a:rPr lang="en-GB" sz="2400" spc="10" dirty="0">
                <a:solidFill>
                  <a:srgbClr val="080912"/>
                </a:solidFill>
                <a:latin typeface="Arial MT"/>
                <a:cs typeface="Arial MT"/>
              </a:rPr>
              <a:t> </a:t>
            </a:r>
            <a:r>
              <a:rPr lang="en-GB" sz="2400" spc="-10" dirty="0">
                <a:solidFill>
                  <a:srgbClr val="080912"/>
                </a:solidFill>
                <a:latin typeface="Arial MT"/>
                <a:cs typeface="Arial MT"/>
              </a:rPr>
              <a:t>cannot </a:t>
            </a:r>
            <a:r>
              <a:rPr lang="en-GB" sz="2400" spc="-245" dirty="0">
                <a:solidFill>
                  <a:srgbClr val="080912"/>
                </a:solidFill>
                <a:latin typeface="Arial MT"/>
                <a:cs typeface="Arial MT"/>
              </a:rPr>
              <a:t> </a:t>
            </a:r>
            <a:r>
              <a:rPr lang="en-GB" sz="2400" spc="-3" dirty="0">
                <a:solidFill>
                  <a:srgbClr val="080912"/>
                </a:solidFill>
                <a:latin typeface="Arial MT"/>
                <a:cs typeface="Arial MT"/>
              </a:rPr>
              <a:t>be</a:t>
            </a:r>
            <a:r>
              <a:rPr lang="en-GB" sz="2400" spc="-31" dirty="0">
                <a:solidFill>
                  <a:srgbClr val="080912"/>
                </a:solidFill>
                <a:latin typeface="Arial MT"/>
                <a:cs typeface="Arial MT"/>
              </a:rPr>
              <a:t> </a:t>
            </a:r>
            <a:r>
              <a:rPr lang="en-GB" sz="2400" spc="-10" dirty="0">
                <a:solidFill>
                  <a:srgbClr val="080912"/>
                </a:solidFill>
                <a:latin typeface="Arial MT"/>
                <a:cs typeface="Arial MT"/>
              </a:rPr>
              <a:t>completed.</a:t>
            </a:r>
            <a:endParaRPr lang="en-GB" sz="2400" dirty="0">
              <a:latin typeface="Arial MT"/>
              <a:cs typeface="Arial MT"/>
            </a:endParaRPr>
          </a:p>
          <a:p>
            <a:pPr marL="8659" marR="5195">
              <a:lnSpc>
                <a:spcPct val="143700"/>
              </a:lnSpc>
              <a:spcBef>
                <a:spcPts val="402"/>
              </a:spcBef>
            </a:pPr>
            <a:r>
              <a:rPr lang="en-GB" sz="2400" spc="-7" dirty="0">
                <a:solidFill>
                  <a:srgbClr val="080912"/>
                </a:solidFill>
                <a:latin typeface="Arial MT"/>
                <a:cs typeface="Arial MT"/>
              </a:rPr>
              <a:t>The</a:t>
            </a:r>
            <a:r>
              <a:rPr lang="en-GB" sz="2400" spc="31" dirty="0">
                <a:solidFill>
                  <a:srgbClr val="080912"/>
                </a:solidFill>
                <a:latin typeface="Arial MT"/>
                <a:cs typeface="Arial MT"/>
              </a:rPr>
              <a:t> </a:t>
            </a:r>
            <a:r>
              <a:rPr lang="en-GB" sz="2400" spc="-10" dirty="0">
                <a:solidFill>
                  <a:srgbClr val="080912"/>
                </a:solidFill>
                <a:latin typeface="Arial MT"/>
                <a:cs typeface="Arial MT"/>
              </a:rPr>
              <a:t>values</a:t>
            </a:r>
            <a:r>
              <a:rPr lang="en-GB" sz="2400" spc="34" dirty="0">
                <a:solidFill>
                  <a:srgbClr val="080912"/>
                </a:solidFill>
                <a:latin typeface="Arial MT"/>
                <a:cs typeface="Arial MT"/>
              </a:rPr>
              <a:t> </a:t>
            </a:r>
            <a:r>
              <a:rPr lang="en-GB" sz="2400" spc="-3" dirty="0">
                <a:solidFill>
                  <a:srgbClr val="080912"/>
                </a:solidFill>
                <a:latin typeface="Arial MT"/>
                <a:cs typeface="Arial MT"/>
              </a:rPr>
              <a:t>of</a:t>
            </a:r>
            <a:r>
              <a:rPr lang="en-GB" sz="2400" spc="27" dirty="0">
                <a:solidFill>
                  <a:srgbClr val="080912"/>
                </a:solidFill>
                <a:latin typeface="Arial MT"/>
                <a:cs typeface="Arial MT"/>
              </a:rPr>
              <a:t> </a:t>
            </a:r>
            <a:r>
              <a:rPr lang="en-GB" sz="2400" spc="-10"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weights</a:t>
            </a:r>
            <a:r>
              <a:rPr lang="en-GB" sz="2400" spc="24" dirty="0">
                <a:solidFill>
                  <a:srgbClr val="080912"/>
                </a:solidFill>
                <a:latin typeface="Arial MT"/>
                <a:cs typeface="Arial MT"/>
              </a:rPr>
              <a:t> </a:t>
            </a:r>
            <a:r>
              <a:rPr lang="en-GB" sz="2400" spc="-7" dirty="0">
                <a:solidFill>
                  <a:srgbClr val="080912"/>
                </a:solidFill>
                <a:latin typeface="Arial MT"/>
                <a:cs typeface="Arial MT"/>
              </a:rPr>
              <a:t>can</a:t>
            </a:r>
            <a:r>
              <a:rPr lang="en-GB" sz="2400" spc="34" dirty="0">
                <a:solidFill>
                  <a:srgbClr val="080912"/>
                </a:solidFill>
                <a:latin typeface="Arial MT"/>
                <a:cs typeface="Arial MT"/>
              </a:rPr>
              <a:t> </a:t>
            </a:r>
            <a:r>
              <a:rPr lang="en-GB" sz="2400" spc="-10" dirty="0">
                <a:solidFill>
                  <a:srgbClr val="080912"/>
                </a:solidFill>
                <a:latin typeface="Arial MT"/>
                <a:cs typeface="Arial MT"/>
              </a:rPr>
              <a:t>also</a:t>
            </a:r>
            <a:r>
              <a:rPr lang="en-GB" sz="2400" spc="20" dirty="0">
                <a:solidFill>
                  <a:srgbClr val="080912"/>
                </a:solidFill>
                <a:latin typeface="Arial MT"/>
                <a:cs typeface="Arial MT"/>
              </a:rPr>
              <a:t> </a:t>
            </a:r>
            <a:r>
              <a:rPr lang="en-GB" sz="2400" spc="-10" dirty="0">
                <a:solidFill>
                  <a:srgbClr val="080912"/>
                </a:solidFill>
                <a:latin typeface="Arial MT"/>
                <a:cs typeface="Arial MT"/>
              </a:rPr>
              <a:t>become</a:t>
            </a:r>
            <a:r>
              <a:rPr lang="en-GB" sz="2400" spc="20" dirty="0">
                <a:solidFill>
                  <a:srgbClr val="080912"/>
                </a:solidFill>
                <a:latin typeface="Arial MT"/>
                <a:cs typeface="Arial MT"/>
              </a:rPr>
              <a:t> </a:t>
            </a:r>
            <a:r>
              <a:rPr lang="en-GB" sz="2400" spc="-3" dirty="0">
                <a:solidFill>
                  <a:srgbClr val="080912"/>
                </a:solidFill>
                <a:latin typeface="Arial MT"/>
                <a:cs typeface="Arial MT"/>
              </a:rPr>
              <a:t>so</a:t>
            </a:r>
            <a:r>
              <a:rPr lang="en-GB" sz="2400" spc="34" dirty="0">
                <a:solidFill>
                  <a:srgbClr val="080912"/>
                </a:solidFill>
                <a:latin typeface="Arial MT"/>
                <a:cs typeface="Arial MT"/>
              </a:rPr>
              <a:t> </a:t>
            </a:r>
            <a:r>
              <a:rPr lang="en-GB" sz="2400" spc="-10" dirty="0">
                <a:solidFill>
                  <a:srgbClr val="080912"/>
                </a:solidFill>
                <a:latin typeface="Arial MT"/>
                <a:cs typeface="Arial MT"/>
              </a:rPr>
              <a:t>large</a:t>
            </a:r>
            <a:r>
              <a:rPr lang="en-GB" sz="2400" spc="31" dirty="0">
                <a:solidFill>
                  <a:srgbClr val="080912"/>
                </a:solidFill>
                <a:latin typeface="Arial MT"/>
                <a:cs typeface="Arial MT"/>
              </a:rPr>
              <a:t> </a:t>
            </a:r>
            <a:r>
              <a:rPr lang="en-GB" sz="2400" spc="-7" dirty="0">
                <a:solidFill>
                  <a:srgbClr val="080912"/>
                </a:solidFill>
                <a:latin typeface="Arial MT"/>
                <a:cs typeface="Arial MT"/>
              </a:rPr>
              <a:t>as</a:t>
            </a:r>
            <a:r>
              <a:rPr lang="en-GB" sz="2400" spc="37" dirty="0">
                <a:solidFill>
                  <a:srgbClr val="080912"/>
                </a:solidFill>
                <a:latin typeface="Arial MT"/>
                <a:cs typeface="Arial MT"/>
              </a:rPr>
              <a:t> </a:t>
            </a:r>
            <a:r>
              <a:rPr lang="en-GB" sz="2400" spc="-10" dirty="0">
                <a:solidFill>
                  <a:srgbClr val="080912"/>
                </a:solidFill>
                <a:latin typeface="Arial MT"/>
                <a:cs typeface="Arial MT"/>
              </a:rPr>
              <a:t>to</a:t>
            </a:r>
            <a:r>
              <a:rPr lang="en-GB" sz="2400" spc="31" dirty="0">
                <a:solidFill>
                  <a:srgbClr val="080912"/>
                </a:solidFill>
                <a:latin typeface="Arial MT"/>
                <a:cs typeface="Arial MT"/>
              </a:rPr>
              <a:t> </a:t>
            </a:r>
            <a:r>
              <a:rPr lang="en-GB" sz="2400" spc="-10" dirty="0">
                <a:solidFill>
                  <a:srgbClr val="080912"/>
                </a:solidFill>
                <a:latin typeface="Arial MT"/>
                <a:cs typeface="Arial MT"/>
              </a:rPr>
              <a:t>overflow</a:t>
            </a:r>
            <a:r>
              <a:rPr lang="en-GB" sz="2400" spc="24" dirty="0">
                <a:solidFill>
                  <a:srgbClr val="080912"/>
                </a:solidFill>
                <a:latin typeface="Arial MT"/>
                <a:cs typeface="Arial MT"/>
              </a:rPr>
              <a:t> </a:t>
            </a:r>
            <a:r>
              <a:rPr lang="en-GB" sz="2400" spc="-7" dirty="0">
                <a:solidFill>
                  <a:srgbClr val="080912"/>
                </a:solidFill>
                <a:latin typeface="Arial MT"/>
                <a:cs typeface="Arial MT"/>
              </a:rPr>
              <a:t>and</a:t>
            </a:r>
            <a:r>
              <a:rPr lang="en-GB" sz="2400" spc="34" dirty="0">
                <a:solidFill>
                  <a:srgbClr val="080912"/>
                </a:solidFill>
                <a:latin typeface="Arial MT"/>
                <a:cs typeface="Arial MT"/>
              </a:rPr>
              <a:t> </a:t>
            </a:r>
            <a:r>
              <a:rPr lang="en-GB" sz="2400" spc="-10" dirty="0">
                <a:solidFill>
                  <a:srgbClr val="080912"/>
                </a:solidFill>
                <a:latin typeface="Arial MT"/>
                <a:cs typeface="Arial MT"/>
              </a:rPr>
              <a:t>result</a:t>
            </a:r>
            <a:r>
              <a:rPr lang="en-GB" sz="2400" spc="24" dirty="0">
                <a:solidFill>
                  <a:srgbClr val="080912"/>
                </a:solidFill>
                <a:latin typeface="Arial MT"/>
                <a:cs typeface="Arial MT"/>
              </a:rPr>
              <a:t> </a:t>
            </a:r>
            <a:r>
              <a:rPr lang="en-GB" sz="2400" spc="-7" dirty="0">
                <a:solidFill>
                  <a:srgbClr val="080912"/>
                </a:solidFill>
                <a:latin typeface="Arial MT"/>
                <a:cs typeface="Arial MT"/>
              </a:rPr>
              <a:t>in</a:t>
            </a:r>
            <a:r>
              <a:rPr lang="en-GB" sz="2400" spc="20" dirty="0">
                <a:solidFill>
                  <a:srgbClr val="080912"/>
                </a:solidFill>
                <a:latin typeface="Arial MT"/>
                <a:cs typeface="Arial MT"/>
              </a:rPr>
              <a:t> </a:t>
            </a:r>
            <a:r>
              <a:rPr lang="en-GB" sz="2400" spc="-10" dirty="0">
                <a:solidFill>
                  <a:srgbClr val="080912"/>
                </a:solidFill>
                <a:latin typeface="Arial MT"/>
                <a:cs typeface="Arial MT"/>
              </a:rPr>
              <a:t>something </a:t>
            </a:r>
            <a:r>
              <a:rPr lang="en-GB" sz="2400" spc="-245" dirty="0">
                <a:solidFill>
                  <a:srgbClr val="080912"/>
                </a:solidFill>
                <a:latin typeface="Arial MT"/>
                <a:cs typeface="Arial MT"/>
              </a:rPr>
              <a:t> </a:t>
            </a:r>
            <a:r>
              <a:rPr lang="en-GB" sz="2400" spc="-10" dirty="0">
                <a:solidFill>
                  <a:srgbClr val="080912"/>
                </a:solidFill>
                <a:latin typeface="Arial MT"/>
                <a:cs typeface="Arial MT"/>
              </a:rPr>
              <a:t>called</a:t>
            </a:r>
            <a:r>
              <a:rPr lang="en-GB" sz="2400" spc="-31" dirty="0">
                <a:solidFill>
                  <a:srgbClr val="080912"/>
                </a:solidFill>
                <a:latin typeface="Arial MT"/>
                <a:cs typeface="Arial MT"/>
              </a:rPr>
              <a:t> </a:t>
            </a:r>
            <a:r>
              <a:rPr lang="en-GB" sz="2400" spc="-7" dirty="0" err="1">
                <a:solidFill>
                  <a:srgbClr val="080912"/>
                </a:solidFill>
                <a:latin typeface="Arial MT"/>
                <a:cs typeface="Arial MT"/>
              </a:rPr>
              <a:t>NaN</a:t>
            </a:r>
            <a:r>
              <a:rPr lang="en-GB" sz="2400" spc="-24" dirty="0">
                <a:solidFill>
                  <a:srgbClr val="080912"/>
                </a:solidFill>
                <a:latin typeface="Arial MT"/>
                <a:cs typeface="Arial MT"/>
              </a:rPr>
              <a:t> </a:t>
            </a:r>
            <a:r>
              <a:rPr lang="en-GB" sz="2400" spc="-10" dirty="0">
                <a:solidFill>
                  <a:srgbClr val="080912"/>
                </a:solidFill>
                <a:latin typeface="Arial MT"/>
                <a:cs typeface="Arial MT"/>
              </a:rPr>
              <a:t>values.</a:t>
            </a:r>
            <a:endParaRPr lang="en-GB" sz="2400" dirty="0">
              <a:latin typeface="Arial MT"/>
              <a:cs typeface="Arial MT"/>
            </a:endParaRPr>
          </a:p>
          <a:p>
            <a:endParaRPr lang="en-PK" dirty="0"/>
          </a:p>
        </p:txBody>
      </p:sp>
      <p:sp>
        <p:nvSpPr>
          <p:cNvPr id="3" name="Slide Number Placeholder 2">
            <a:extLst>
              <a:ext uri="{FF2B5EF4-FFF2-40B4-BE49-F238E27FC236}">
                <a16:creationId xmlns:a16="http://schemas.microsoft.com/office/drawing/2014/main" id="{AEAE9BAB-9FE5-324B-D176-96A776001EBD}"/>
              </a:ext>
            </a:extLst>
          </p:cNvPr>
          <p:cNvSpPr>
            <a:spLocks noGrp="1"/>
          </p:cNvSpPr>
          <p:nvPr>
            <p:ph type="sldNum" sz="quarter" idx="12"/>
          </p:nvPr>
        </p:nvSpPr>
        <p:spPr/>
        <p:txBody>
          <a:bodyPr/>
          <a:lstStyle/>
          <a:p>
            <a:fld id="{9CD9A578-84A4-4247-B01E-A84B9E2DF7BB}" type="slidenum">
              <a:rPr lang="en-PK" smtClean="0"/>
              <a:t>20</a:t>
            </a:fld>
            <a:endParaRPr lang="en-PK"/>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18E0E-0EF5-752B-D0E4-09D7034E19D2}"/>
              </a:ext>
            </a:extLst>
          </p:cNvPr>
          <p:cNvSpPr>
            <a:spLocks noGrp="1"/>
          </p:cNvSpPr>
          <p:nvPr>
            <p:ph type="title"/>
          </p:nvPr>
        </p:nvSpPr>
        <p:spPr/>
        <p:txBody>
          <a:bodyPr/>
          <a:lstStyle/>
          <a:p>
            <a:r>
              <a:rPr lang="en-GB" sz="4400" spc="-20" dirty="0"/>
              <a:t>How</a:t>
            </a:r>
            <a:r>
              <a:rPr lang="en-GB" sz="4400" spc="-51" dirty="0"/>
              <a:t> </a:t>
            </a:r>
            <a:r>
              <a:rPr lang="en-GB" sz="4400" spc="-14" dirty="0"/>
              <a:t>to</a:t>
            </a:r>
            <a:r>
              <a:rPr lang="en-GB" sz="4400" spc="-65" dirty="0"/>
              <a:t> </a:t>
            </a:r>
            <a:r>
              <a:rPr lang="en-GB" sz="4400" spc="-27" dirty="0"/>
              <a:t>choose</a:t>
            </a:r>
            <a:r>
              <a:rPr lang="en-GB" sz="4400" spc="-58" dirty="0"/>
              <a:t> </a:t>
            </a:r>
            <a:r>
              <a:rPr lang="en-GB" sz="4400" spc="-20" dirty="0"/>
              <a:t>the</a:t>
            </a:r>
            <a:r>
              <a:rPr lang="en-GB" sz="4400" spc="-65" dirty="0"/>
              <a:t> </a:t>
            </a:r>
            <a:r>
              <a:rPr lang="en-GB" sz="4400" spc="-27" dirty="0"/>
              <a:t>right</a:t>
            </a:r>
            <a:r>
              <a:rPr lang="en-GB" sz="4400" spc="-51" dirty="0"/>
              <a:t> </a:t>
            </a:r>
            <a:r>
              <a:rPr lang="en-GB" sz="4400" spc="-27" dirty="0"/>
              <a:t>Activation</a:t>
            </a:r>
            <a:r>
              <a:rPr lang="en-GB" sz="4400" spc="-58" dirty="0"/>
              <a:t> </a:t>
            </a:r>
            <a:r>
              <a:rPr lang="en-GB" sz="4400" spc="-27" dirty="0"/>
              <a:t>Function?</a:t>
            </a:r>
            <a:endParaRPr lang="en-PK" dirty="0"/>
          </a:p>
        </p:txBody>
      </p:sp>
      <p:sp>
        <p:nvSpPr>
          <p:cNvPr id="3" name="Content Placeholder 2">
            <a:extLst>
              <a:ext uri="{FF2B5EF4-FFF2-40B4-BE49-F238E27FC236}">
                <a16:creationId xmlns:a16="http://schemas.microsoft.com/office/drawing/2014/main" id="{78899BBF-1410-DBA4-2373-716B86C469B0}"/>
              </a:ext>
            </a:extLst>
          </p:cNvPr>
          <p:cNvSpPr>
            <a:spLocks noGrp="1"/>
          </p:cNvSpPr>
          <p:nvPr>
            <p:ph idx="1"/>
          </p:nvPr>
        </p:nvSpPr>
        <p:spPr/>
        <p:txBody>
          <a:bodyPr>
            <a:normAutofit fontScale="25000" lnSpcReduction="20000"/>
          </a:bodyPr>
          <a:lstStyle/>
          <a:p>
            <a:pPr marL="320378" indent="-156292">
              <a:spcBef>
                <a:spcPts val="689"/>
              </a:spcBef>
              <a:buAutoNum type="arabicPeriod"/>
              <a:tabLst>
                <a:tab pos="320810" algn="l"/>
              </a:tabLst>
            </a:pPr>
            <a:r>
              <a:rPr lang="en-GB" sz="6400" dirty="0" err="1">
                <a:solidFill>
                  <a:srgbClr val="080912"/>
                </a:solidFill>
                <a:latin typeface="Arial MT"/>
                <a:cs typeface="Arial MT"/>
              </a:rPr>
              <a:t>ReLU</a:t>
            </a:r>
            <a:r>
              <a:rPr lang="en-GB" sz="6400" spc="-7" dirty="0">
                <a:solidFill>
                  <a:srgbClr val="080912"/>
                </a:solidFill>
                <a:latin typeface="Arial MT"/>
                <a:cs typeface="Arial MT"/>
              </a:rPr>
              <a:t> </a:t>
            </a:r>
            <a:r>
              <a:rPr lang="en-GB" sz="6400" spc="-3" dirty="0">
                <a:solidFill>
                  <a:srgbClr val="080912"/>
                </a:solidFill>
                <a:latin typeface="Arial MT"/>
                <a:cs typeface="Arial MT"/>
              </a:rPr>
              <a:t>activation</a:t>
            </a:r>
            <a:r>
              <a:rPr lang="en-GB" sz="6400" spc="7" dirty="0">
                <a:solidFill>
                  <a:srgbClr val="080912"/>
                </a:solidFill>
                <a:latin typeface="Arial MT"/>
                <a:cs typeface="Arial MT"/>
              </a:rPr>
              <a:t> </a:t>
            </a:r>
            <a:r>
              <a:rPr lang="en-GB" sz="6400" spc="-3" dirty="0">
                <a:solidFill>
                  <a:srgbClr val="080912"/>
                </a:solidFill>
                <a:latin typeface="Arial MT"/>
                <a:cs typeface="Arial MT"/>
              </a:rPr>
              <a:t>function</a:t>
            </a:r>
            <a:r>
              <a:rPr lang="en-GB" sz="6400" spc="-7" dirty="0">
                <a:solidFill>
                  <a:srgbClr val="080912"/>
                </a:solidFill>
                <a:latin typeface="Arial MT"/>
                <a:cs typeface="Arial MT"/>
              </a:rPr>
              <a:t> </a:t>
            </a:r>
            <a:r>
              <a:rPr lang="en-GB" sz="6400" spc="-3" dirty="0">
                <a:solidFill>
                  <a:srgbClr val="080912"/>
                </a:solidFill>
                <a:latin typeface="Arial MT"/>
                <a:cs typeface="Arial MT"/>
              </a:rPr>
              <a:t>should</a:t>
            </a:r>
            <a:r>
              <a:rPr lang="en-GB" sz="6400" spc="7" dirty="0">
                <a:solidFill>
                  <a:srgbClr val="080912"/>
                </a:solidFill>
                <a:latin typeface="Arial MT"/>
                <a:cs typeface="Arial MT"/>
              </a:rPr>
              <a:t> </a:t>
            </a:r>
            <a:r>
              <a:rPr lang="en-GB" sz="6400" spc="-3" dirty="0">
                <a:solidFill>
                  <a:srgbClr val="080912"/>
                </a:solidFill>
                <a:latin typeface="Arial MT"/>
                <a:cs typeface="Arial MT"/>
              </a:rPr>
              <a:t>only</a:t>
            </a:r>
            <a:r>
              <a:rPr lang="en-GB" sz="6400" spc="7" dirty="0">
                <a:solidFill>
                  <a:srgbClr val="080912"/>
                </a:solidFill>
                <a:latin typeface="Arial MT"/>
                <a:cs typeface="Arial MT"/>
              </a:rPr>
              <a:t> </a:t>
            </a:r>
            <a:r>
              <a:rPr lang="en-GB" sz="6400" dirty="0">
                <a:solidFill>
                  <a:srgbClr val="080912"/>
                </a:solidFill>
                <a:latin typeface="Arial MT"/>
                <a:cs typeface="Arial MT"/>
              </a:rPr>
              <a:t>be</a:t>
            </a:r>
            <a:r>
              <a:rPr lang="en-GB" sz="6400" spc="7" dirty="0">
                <a:solidFill>
                  <a:srgbClr val="080912"/>
                </a:solidFill>
                <a:latin typeface="Arial MT"/>
                <a:cs typeface="Arial MT"/>
              </a:rPr>
              <a:t> </a:t>
            </a:r>
            <a:r>
              <a:rPr lang="en-GB" sz="6400" dirty="0">
                <a:solidFill>
                  <a:srgbClr val="080912"/>
                </a:solidFill>
                <a:latin typeface="Arial MT"/>
                <a:cs typeface="Arial MT"/>
              </a:rPr>
              <a:t>used</a:t>
            </a:r>
            <a:r>
              <a:rPr lang="en-GB" sz="6400" spc="7" dirty="0">
                <a:solidFill>
                  <a:srgbClr val="080912"/>
                </a:solidFill>
                <a:latin typeface="Arial MT"/>
                <a:cs typeface="Arial MT"/>
              </a:rPr>
              <a:t> </a:t>
            </a:r>
            <a:r>
              <a:rPr lang="en-GB" sz="6400" dirty="0">
                <a:solidFill>
                  <a:srgbClr val="080912"/>
                </a:solidFill>
                <a:latin typeface="Arial MT"/>
                <a:cs typeface="Arial MT"/>
              </a:rPr>
              <a:t>in</a:t>
            </a:r>
            <a:r>
              <a:rPr lang="en-GB" sz="6400" spc="3" dirty="0">
                <a:solidFill>
                  <a:srgbClr val="080912"/>
                </a:solidFill>
                <a:latin typeface="Arial MT"/>
                <a:cs typeface="Arial MT"/>
              </a:rPr>
              <a:t> </a:t>
            </a:r>
            <a:r>
              <a:rPr lang="en-GB" sz="6400" spc="-3" dirty="0">
                <a:solidFill>
                  <a:srgbClr val="080912"/>
                </a:solidFill>
                <a:latin typeface="Arial MT"/>
                <a:cs typeface="Arial MT"/>
              </a:rPr>
              <a:t>the</a:t>
            </a:r>
            <a:r>
              <a:rPr lang="en-GB" sz="6400" dirty="0">
                <a:solidFill>
                  <a:srgbClr val="080912"/>
                </a:solidFill>
                <a:latin typeface="Arial MT"/>
                <a:cs typeface="Arial MT"/>
              </a:rPr>
              <a:t> </a:t>
            </a:r>
            <a:r>
              <a:rPr lang="en-GB" sz="6400" spc="-3" dirty="0">
                <a:solidFill>
                  <a:srgbClr val="080912"/>
                </a:solidFill>
                <a:latin typeface="Arial MT"/>
                <a:cs typeface="Arial MT"/>
              </a:rPr>
              <a:t>hidden</a:t>
            </a:r>
            <a:r>
              <a:rPr lang="en-GB" sz="6400" spc="3" dirty="0">
                <a:solidFill>
                  <a:srgbClr val="080912"/>
                </a:solidFill>
                <a:latin typeface="Arial MT"/>
                <a:cs typeface="Arial MT"/>
              </a:rPr>
              <a:t> </a:t>
            </a:r>
            <a:r>
              <a:rPr lang="en-GB" sz="6400" spc="-3" dirty="0">
                <a:solidFill>
                  <a:srgbClr val="080912"/>
                </a:solidFill>
                <a:latin typeface="Arial MT"/>
                <a:cs typeface="Arial MT"/>
              </a:rPr>
              <a:t>layers.</a:t>
            </a:r>
            <a:endParaRPr lang="en-GB" sz="6400" dirty="0">
              <a:latin typeface="Arial MT"/>
              <a:cs typeface="Arial MT"/>
            </a:endParaRPr>
          </a:p>
          <a:p>
            <a:pPr marL="320378" marR="213441" indent="-156292">
              <a:lnSpc>
                <a:spcPct val="116300"/>
              </a:lnSpc>
              <a:spcBef>
                <a:spcPts val="501"/>
              </a:spcBef>
              <a:buAutoNum type="arabicPeriod"/>
              <a:tabLst>
                <a:tab pos="320810" algn="l"/>
              </a:tabLst>
            </a:pPr>
            <a:r>
              <a:rPr lang="en-GB" sz="6400" spc="-3" dirty="0">
                <a:solidFill>
                  <a:srgbClr val="080912"/>
                </a:solidFill>
                <a:latin typeface="Arial MT"/>
                <a:cs typeface="Arial MT"/>
              </a:rPr>
              <a:t>Sigmoid/Logistic</a:t>
            </a:r>
            <a:r>
              <a:rPr lang="en-GB" sz="6400" spc="3" dirty="0">
                <a:solidFill>
                  <a:srgbClr val="080912"/>
                </a:solidFill>
                <a:latin typeface="Arial MT"/>
                <a:cs typeface="Arial MT"/>
              </a:rPr>
              <a:t> </a:t>
            </a:r>
            <a:r>
              <a:rPr lang="en-GB" sz="6400" spc="-3" dirty="0">
                <a:solidFill>
                  <a:srgbClr val="080912"/>
                </a:solidFill>
                <a:latin typeface="Arial MT"/>
                <a:cs typeface="Arial MT"/>
              </a:rPr>
              <a:t>and</a:t>
            </a:r>
            <a:r>
              <a:rPr lang="en-GB" sz="6400" spc="7" dirty="0">
                <a:solidFill>
                  <a:srgbClr val="080912"/>
                </a:solidFill>
                <a:latin typeface="Arial MT"/>
                <a:cs typeface="Arial MT"/>
              </a:rPr>
              <a:t> </a:t>
            </a:r>
            <a:r>
              <a:rPr lang="en-GB" sz="6400" spc="-3" dirty="0">
                <a:solidFill>
                  <a:srgbClr val="080912"/>
                </a:solidFill>
                <a:latin typeface="Arial MT"/>
                <a:cs typeface="Arial MT"/>
              </a:rPr>
              <a:t>Tanh</a:t>
            </a:r>
            <a:r>
              <a:rPr lang="en-GB" sz="6400" spc="3" dirty="0">
                <a:solidFill>
                  <a:srgbClr val="080912"/>
                </a:solidFill>
                <a:latin typeface="Arial MT"/>
                <a:cs typeface="Arial MT"/>
              </a:rPr>
              <a:t> </a:t>
            </a:r>
            <a:r>
              <a:rPr lang="en-GB" sz="6400" spc="-3" dirty="0">
                <a:solidFill>
                  <a:srgbClr val="080912"/>
                </a:solidFill>
                <a:latin typeface="Arial MT"/>
                <a:cs typeface="Arial MT"/>
              </a:rPr>
              <a:t>functions </a:t>
            </a:r>
            <a:r>
              <a:rPr lang="en-GB" sz="6400" dirty="0">
                <a:solidFill>
                  <a:srgbClr val="080912"/>
                </a:solidFill>
                <a:latin typeface="Arial MT"/>
                <a:cs typeface="Arial MT"/>
              </a:rPr>
              <a:t>should</a:t>
            </a:r>
            <a:r>
              <a:rPr lang="en-GB" sz="6400" spc="7" dirty="0">
                <a:solidFill>
                  <a:srgbClr val="080912"/>
                </a:solidFill>
                <a:latin typeface="Arial MT"/>
                <a:cs typeface="Arial MT"/>
              </a:rPr>
              <a:t> </a:t>
            </a:r>
            <a:r>
              <a:rPr lang="en-GB" sz="6400" spc="-3" dirty="0">
                <a:solidFill>
                  <a:srgbClr val="080912"/>
                </a:solidFill>
                <a:latin typeface="Arial MT"/>
                <a:cs typeface="Arial MT"/>
              </a:rPr>
              <a:t>not </a:t>
            </a:r>
            <a:r>
              <a:rPr lang="en-GB" sz="6400" dirty="0">
                <a:solidFill>
                  <a:srgbClr val="080912"/>
                </a:solidFill>
                <a:latin typeface="Arial MT"/>
                <a:cs typeface="Arial MT"/>
              </a:rPr>
              <a:t>be</a:t>
            </a:r>
            <a:r>
              <a:rPr lang="en-GB" sz="6400" spc="3" dirty="0">
                <a:solidFill>
                  <a:srgbClr val="080912"/>
                </a:solidFill>
                <a:latin typeface="Arial MT"/>
                <a:cs typeface="Arial MT"/>
              </a:rPr>
              <a:t> </a:t>
            </a:r>
            <a:r>
              <a:rPr lang="en-GB" sz="6400" spc="-3" dirty="0">
                <a:solidFill>
                  <a:srgbClr val="080912"/>
                </a:solidFill>
                <a:latin typeface="Arial MT"/>
                <a:cs typeface="Arial MT"/>
              </a:rPr>
              <a:t>used</a:t>
            </a:r>
            <a:r>
              <a:rPr lang="en-GB" sz="6400" spc="3" dirty="0">
                <a:solidFill>
                  <a:srgbClr val="080912"/>
                </a:solidFill>
                <a:latin typeface="Arial MT"/>
                <a:cs typeface="Arial MT"/>
              </a:rPr>
              <a:t> </a:t>
            </a:r>
            <a:r>
              <a:rPr lang="en-GB" sz="6400" dirty="0">
                <a:solidFill>
                  <a:srgbClr val="080912"/>
                </a:solidFill>
                <a:latin typeface="Arial MT"/>
                <a:cs typeface="Arial MT"/>
              </a:rPr>
              <a:t>in</a:t>
            </a:r>
            <a:r>
              <a:rPr lang="en-GB" sz="6400" spc="-7" dirty="0">
                <a:solidFill>
                  <a:srgbClr val="080912"/>
                </a:solidFill>
                <a:latin typeface="Arial MT"/>
                <a:cs typeface="Arial MT"/>
              </a:rPr>
              <a:t> </a:t>
            </a:r>
            <a:r>
              <a:rPr lang="en-GB" sz="6400" dirty="0">
                <a:solidFill>
                  <a:srgbClr val="080912"/>
                </a:solidFill>
                <a:latin typeface="Arial MT"/>
                <a:cs typeface="Arial MT"/>
              </a:rPr>
              <a:t>hidden</a:t>
            </a:r>
            <a:r>
              <a:rPr lang="en-GB" sz="6400" spc="3" dirty="0">
                <a:solidFill>
                  <a:srgbClr val="080912"/>
                </a:solidFill>
                <a:latin typeface="Arial MT"/>
                <a:cs typeface="Arial MT"/>
              </a:rPr>
              <a:t> </a:t>
            </a:r>
            <a:r>
              <a:rPr lang="en-GB" sz="6400" spc="-3" dirty="0">
                <a:solidFill>
                  <a:srgbClr val="080912"/>
                </a:solidFill>
                <a:latin typeface="Arial MT"/>
                <a:cs typeface="Arial MT"/>
              </a:rPr>
              <a:t>layers</a:t>
            </a:r>
            <a:r>
              <a:rPr lang="en-GB" sz="6400" spc="3" dirty="0">
                <a:solidFill>
                  <a:srgbClr val="080912"/>
                </a:solidFill>
                <a:latin typeface="Arial MT"/>
                <a:cs typeface="Arial MT"/>
              </a:rPr>
              <a:t> </a:t>
            </a:r>
            <a:r>
              <a:rPr lang="en-GB" sz="6400" spc="-3" dirty="0">
                <a:solidFill>
                  <a:srgbClr val="080912"/>
                </a:solidFill>
                <a:latin typeface="Arial MT"/>
                <a:cs typeface="Arial MT"/>
              </a:rPr>
              <a:t>as</a:t>
            </a:r>
            <a:r>
              <a:rPr lang="en-GB" sz="6400" spc="7" dirty="0">
                <a:solidFill>
                  <a:srgbClr val="080912"/>
                </a:solidFill>
                <a:latin typeface="Arial MT"/>
                <a:cs typeface="Arial MT"/>
              </a:rPr>
              <a:t> </a:t>
            </a:r>
            <a:r>
              <a:rPr lang="en-GB" sz="6400" spc="-3" dirty="0">
                <a:solidFill>
                  <a:srgbClr val="080912"/>
                </a:solidFill>
                <a:latin typeface="Arial MT"/>
                <a:cs typeface="Arial MT"/>
              </a:rPr>
              <a:t>they </a:t>
            </a:r>
            <a:r>
              <a:rPr lang="en-GB" sz="6400" spc="-245" dirty="0">
                <a:solidFill>
                  <a:srgbClr val="080912"/>
                </a:solidFill>
                <a:latin typeface="Arial MT"/>
                <a:cs typeface="Arial MT"/>
              </a:rPr>
              <a:t> </a:t>
            </a:r>
            <a:r>
              <a:rPr lang="en-GB" sz="6400" dirty="0">
                <a:solidFill>
                  <a:srgbClr val="080912"/>
                </a:solidFill>
                <a:latin typeface="Arial MT"/>
                <a:cs typeface="Arial MT"/>
              </a:rPr>
              <a:t>make</a:t>
            </a:r>
            <a:r>
              <a:rPr lang="en-GB" sz="6400" spc="3" dirty="0">
                <a:solidFill>
                  <a:srgbClr val="080912"/>
                </a:solidFill>
                <a:latin typeface="Arial MT"/>
                <a:cs typeface="Arial MT"/>
              </a:rPr>
              <a:t> </a:t>
            </a:r>
            <a:r>
              <a:rPr lang="en-GB" sz="6400" spc="-3" dirty="0">
                <a:solidFill>
                  <a:srgbClr val="080912"/>
                </a:solidFill>
                <a:latin typeface="Arial MT"/>
                <a:cs typeface="Arial MT"/>
              </a:rPr>
              <a:t>the</a:t>
            </a:r>
            <a:r>
              <a:rPr lang="en-GB" sz="6400" dirty="0">
                <a:solidFill>
                  <a:srgbClr val="080912"/>
                </a:solidFill>
                <a:latin typeface="Arial MT"/>
                <a:cs typeface="Arial MT"/>
              </a:rPr>
              <a:t> </a:t>
            </a:r>
            <a:r>
              <a:rPr lang="en-GB" sz="6400" spc="-3" dirty="0">
                <a:solidFill>
                  <a:srgbClr val="080912"/>
                </a:solidFill>
                <a:latin typeface="Arial MT"/>
                <a:cs typeface="Arial MT"/>
              </a:rPr>
              <a:t>model</a:t>
            </a:r>
            <a:r>
              <a:rPr lang="en-GB" sz="6400" spc="3" dirty="0">
                <a:solidFill>
                  <a:srgbClr val="080912"/>
                </a:solidFill>
                <a:latin typeface="Arial MT"/>
                <a:cs typeface="Arial MT"/>
              </a:rPr>
              <a:t> </a:t>
            </a:r>
            <a:r>
              <a:rPr lang="en-GB" sz="6400" spc="-3" dirty="0">
                <a:solidFill>
                  <a:srgbClr val="080912"/>
                </a:solidFill>
                <a:latin typeface="Arial MT"/>
                <a:cs typeface="Arial MT"/>
              </a:rPr>
              <a:t>more</a:t>
            </a:r>
            <a:r>
              <a:rPr lang="en-GB" sz="6400" spc="7" dirty="0">
                <a:solidFill>
                  <a:srgbClr val="080912"/>
                </a:solidFill>
                <a:latin typeface="Arial MT"/>
                <a:cs typeface="Arial MT"/>
              </a:rPr>
              <a:t> </a:t>
            </a:r>
            <a:r>
              <a:rPr lang="en-GB" sz="6400" spc="-3" dirty="0">
                <a:solidFill>
                  <a:srgbClr val="080912"/>
                </a:solidFill>
                <a:latin typeface="Arial MT"/>
                <a:cs typeface="Arial MT"/>
              </a:rPr>
              <a:t>susceptible</a:t>
            </a:r>
            <a:r>
              <a:rPr lang="en-GB" sz="6400" spc="3" dirty="0">
                <a:solidFill>
                  <a:srgbClr val="080912"/>
                </a:solidFill>
                <a:latin typeface="Arial MT"/>
                <a:cs typeface="Arial MT"/>
              </a:rPr>
              <a:t> </a:t>
            </a:r>
            <a:r>
              <a:rPr lang="en-GB" sz="6400" spc="-3" dirty="0">
                <a:solidFill>
                  <a:srgbClr val="080912"/>
                </a:solidFill>
                <a:latin typeface="Arial MT"/>
                <a:cs typeface="Arial MT"/>
              </a:rPr>
              <a:t>to</a:t>
            </a:r>
            <a:r>
              <a:rPr lang="en-GB" sz="6400" spc="3" dirty="0">
                <a:solidFill>
                  <a:srgbClr val="080912"/>
                </a:solidFill>
                <a:latin typeface="Arial MT"/>
                <a:cs typeface="Arial MT"/>
              </a:rPr>
              <a:t> </a:t>
            </a:r>
            <a:r>
              <a:rPr lang="en-GB" sz="6400" spc="-3" dirty="0">
                <a:solidFill>
                  <a:srgbClr val="080912"/>
                </a:solidFill>
                <a:latin typeface="Arial MT"/>
                <a:cs typeface="Arial MT"/>
              </a:rPr>
              <a:t>problems</a:t>
            </a:r>
            <a:r>
              <a:rPr lang="en-GB" sz="6400" spc="7" dirty="0">
                <a:solidFill>
                  <a:srgbClr val="080912"/>
                </a:solidFill>
                <a:latin typeface="Arial MT"/>
                <a:cs typeface="Arial MT"/>
              </a:rPr>
              <a:t> </a:t>
            </a:r>
            <a:r>
              <a:rPr lang="en-GB" sz="6400" spc="-3" dirty="0">
                <a:solidFill>
                  <a:srgbClr val="080912"/>
                </a:solidFill>
                <a:latin typeface="Arial MT"/>
                <a:cs typeface="Arial MT"/>
              </a:rPr>
              <a:t>during</a:t>
            </a:r>
            <a:r>
              <a:rPr lang="en-GB" sz="6400" spc="3" dirty="0">
                <a:solidFill>
                  <a:srgbClr val="080912"/>
                </a:solidFill>
                <a:latin typeface="Arial MT"/>
                <a:cs typeface="Arial MT"/>
              </a:rPr>
              <a:t> </a:t>
            </a:r>
            <a:r>
              <a:rPr lang="en-GB" sz="6400" spc="-3" dirty="0">
                <a:solidFill>
                  <a:srgbClr val="080912"/>
                </a:solidFill>
                <a:latin typeface="Arial MT"/>
                <a:cs typeface="Arial MT"/>
              </a:rPr>
              <a:t>training</a:t>
            </a:r>
            <a:r>
              <a:rPr lang="en-GB" sz="6400" spc="3" dirty="0">
                <a:solidFill>
                  <a:srgbClr val="080912"/>
                </a:solidFill>
                <a:latin typeface="Arial MT"/>
                <a:cs typeface="Arial MT"/>
              </a:rPr>
              <a:t> </a:t>
            </a:r>
            <a:r>
              <a:rPr lang="en-GB" sz="6400" dirty="0">
                <a:solidFill>
                  <a:srgbClr val="080912"/>
                </a:solidFill>
                <a:latin typeface="Arial MT"/>
                <a:cs typeface="Arial MT"/>
              </a:rPr>
              <a:t>(due</a:t>
            </a:r>
            <a:r>
              <a:rPr lang="en-GB" sz="6400" spc="3" dirty="0">
                <a:solidFill>
                  <a:srgbClr val="080912"/>
                </a:solidFill>
                <a:latin typeface="Arial MT"/>
                <a:cs typeface="Arial MT"/>
              </a:rPr>
              <a:t> </a:t>
            </a:r>
            <a:r>
              <a:rPr lang="en-GB" sz="6400" spc="-3" dirty="0">
                <a:solidFill>
                  <a:srgbClr val="080912"/>
                </a:solidFill>
                <a:latin typeface="Arial MT"/>
                <a:cs typeface="Arial MT"/>
              </a:rPr>
              <a:t>to</a:t>
            </a:r>
            <a:r>
              <a:rPr lang="en-GB" sz="6400" spc="3" dirty="0">
                <a:solidFill>
                  <a:srgbClr val="080912"/>
                </a:solidFill>
                <a:latin typeface="Arial MT"/>
                <a:cs typeface="Arial MT"/>
              </a:rPr>
              <a:t> </a:t>
            </a:r>
            <a:r>
              <a:rPr lang="en-GB" sz="6400" spc="-3" dirty="0">
                <a:solidFill>
                  <a:srgbClr val="080912"/>
                </a:solidFill>
                <a:latin typeface="Arial MT"/>
                <a:cs typeface="Arial MT"/>
              </a:rPr>
              <a:t>vanishing </a:t>
            </a:r>
            <a:r>
              <a:rPr lang="en-GB" sz="6400" dirty="0">
                <a:solidFill>
                  <a:srgbClr val="080912"/>
                </a:solidFill>
                <a:latin typeface="Arial MT"/>
                <a:cs typeface="Arial MT"/>
              </a:rPr>
              <a:t> gradients).</a:t>
            </a:r>
            <a:endParaRPr lang="en-GB" sz="6400" dirty="0">
              <a:latin typeface="Arial MT"/>
              <a:cs typeface="Arial MT"/>
            </a:endParaRPr>
          </a:p>
          <a:p>
            <a:pPr marL="320378" indent="-156292">
              <a:spcBef>
                <a:spcPts val="685"/>
              </a:spcBef>
              <a:buAutoNum type="arabicPeriod"/>
              <a:tabLst>
                <a:tab pos="320810" algn="l"/>
              </a:tabLst>
            </a:pPr>
            <a:r>
              <a:rPr lang="en-GB" sz="6400" dirty="0">
                <a:solidFill>
                  <a:srgbClr val="080912"/>
                </a:solidFill>
                <a:latin typeface="Arial MT"/>
                <a:cs typeface="Arial MT"/>
              </a:rPr>
              <a:t>Swish </a:t>
            </a:r>
            <a:r>
              <a:rPr lang="en-GB" sz="6400" spc="-3" dirty="0">
                <a:solidFill>
                  <a:srgbClr val="080912"/>
                </a:solidFill>
                <a:latin typeface="Arial MT"/>
                <a:cs typeface="Arial MT"/>
              </a:rPr>
              <a:t>function</a:t>
            </a:r>
            <a:r>
              <a:rPr lang="en-GB" sz="6400" spc="3" dirty="0">
                <a:solidFill>
                  <a:srgbClr val="080912"/>
                </a:solidFill>
                <a:latin typeface="Arial MT"/>
                <a:cs typeface="Arial MT"/>
              </a:rPr>
              <a:t> </a:t>
            </a:r>
            <a:r>
              <a:rPr lang="en-GB" sz="6400" dirty="0">
                <a:solidFill>
                  <a:srgbClr val="080912"/>
                </a:solidFill>
                <a:latin typeface="Arial MT"/>
                <a:cs typeface="Arial MT"/>
              </a:rPr>
              <a:t>is</a:t>
            </a:r>
            <a:r>
              <a:rPr lang="en-GB" sz="6400" spc="3" dirty="0">
                <a:solidFill>
                  <a:srgbClr val="080912"/>
                </a:solidFill>
                <a:latin typeface="Arial MT"/>
                <a:cs typeface="Arial MT"/>
              </a:rPr>
              <a:t> </a:t>
            </a:r>
            <a:r>
              <a:rPr lang="en-GB" sz="6400" spc="-3" dirty="0">
                <a:solidFill>
                  <a:srgbClr val="080912"/>
                </a:solidFill>
                <a:latin typeface="Arial MT"/>
                <a:cs typeface="Arial MT"/>
              </a:rPr>
              <a:t>used</a:t>
            </a:r>
            <a:r>
              <a:rPr lang="en-GB" sz="6400" dirty="0">
                <a:solidFill>
                  <a:srgbClr val="080912"/>
                </a:solidFill>
                <a:latin typeface="Arial MT"/>
                <a:cs typeface="Arial MT"/>
              </a:rPr>
              <a:t> in</a:t>
            </a:r>
            <a:r>
              <a:rPr lang="en-GB" sz="6400" spc="3" dirty="0">
                <a:solidFill>
                  <a:srgbClr val="080912"/>
                </a:solidFill>
                <a:latin typeface="Arial MT"/>
                <a:cs typeface="Arial MT"/>
              </a:rPr>
              <a:t> </a:t>
            </a:r>
            <a:r>
              <a:rPr lang="en-GB" sz="6400" spc="-3" dirty="0">
                <a:solidFill>
                  <a:srgbClr val="080912"/>
                </a:solidFill>
                <a:latin typeface="Arial MT"/>
                <a:cs typeface="Arial MT"/>
              </a:rPr>
              <a:t>neural</a:t>
            </a:r>
            <a:r>
              <a:rPr lang="en-GB" sz="6400" dirty="0">
                <a:solidFill>
                  <a:srgbClr val="080912"/>
                </a:solidFill>
                <a:latin typeface="Arial MT"/>
                <a:cs typeface="Arial MT"/>
              </a:rPr>
              <a:t> </a:t>
            </a:r>
            <a:r>
              <a:rPr lang="en-GB" sz="6400" spc="-3" dirty="0">
                <a:solidFill>
                  <a:srgbClr val="080912"/>
                </a:solidFill>
                <a:latin typeface="Arial MT"/>
                <a:cs typeface="Arial MT"/>
              </a:rPr>
              <a:t>networks</a:t>
            </a:r>
            <a:r>
              <a:rPr lang="en-GB" sz="6400" spc="3" dirty="0">
                <a:solidFill>
                  <a:srgbClr val="080912"/>
                </a:solidFill>
                <a:latin typeface="Arial MT"/>
                <a:cs typeface="Arial MT"/>
              </a:rPr>
              <a:t> </a:t>
            </a:r>
            <a:r>
              <a:rPr lang="en-GB" sz="6400" spc="-3" dirty="0">
                <a:solidFill>
                  <a:srgbClr val="080912"/>
                </a:solidFill>
                <a:latin typeface="Arial MT"/>
                <a:cs typeface="Arial MT"/>
              </a:rPr>
              <a:t>having</a:t>
            </a:r>
            <a:r>
              <a:rPr lang="en-GB" sz="6400" dirty="0">
                <a:solidFill>
                  <a:srgbClr val="080912"/>
                </a:solidFill>
                <a:latin typeface="Arial MT"/>
                <a:cs typeface="Arial MT"/>
              </a:rPr>
              <a:t> a</a:t>
            </a:r>
            <a:r>
              <a:rPr lang="en-GB" sz="6400" spc="3" dirty="0">
                <a:solidFill>
                  <a:srgbClr val="080912"/>
                </a:solidFill>
                <a:latin typeface="Arial MT"/>
                <a:cs typeface="Arial MT"/>
              </a:rPr>
              <a:t> </a:t>
            </a:r>
            <a:r>
              <a:rPr lang="en-GB" sz="6400" spc="-3" dirty="0">
                <a:solidFill>
                  <a:srgbClr val="080912"/>
                </a:solidFill>
                <a:latin typeface="Arial MT"/>
                <a:cs typeface="Arial MT"/>
              </a:rPr>
              <a:t>depth</a:t>
            </a:r>
            <a:r>
              <a:rPr lang="en-GB" sz="6400" spc="3" dirty="0">
                <a:solidFill>
                  <a:srgbClr val="080912"/>
                </a:solidFill>
                <a:latin typeface="Arial MT"/>
                <a:cs typeface="Arial MT"/>
              </a:rPr>
              <a:t> </a:t>
            </a:r>
            <a:r>
              <a:rPr lang="en-GB" sz="6400" dirty="0">
                <a:solidFill>
                  <a:srgbClr val="080912"/>
                </a:solidFill>
                <a:latin typeface="Arial MT"/>
                <a:cs typeface="Arial MT"/>
              </a:rPr>
              <a:t>greater </a:t>
            </a:r>
            <a:r>
              <a:rPr lang="en-GB" sz="6400" spc="-3" dirty="0">
                <a:solidFill>
                  <a:srgbClr val="080912"/>
                </a:solidFill>
                <a:latin typeface="Arial MT"/>
                <a:cs typeface="Arial MT"/>
              </a:rPr>
              <a:t>than</a:t>
            </a:r>
            <a:r>
              <a:rPr lang="en-GB" sz="6400" spc="3" dirty="0">
                <a:solidFill>
                  <a:srgbClr val="080912"/>
                </a:solidFill>
                <a:latin typeface="Arial MT"/>
                <a:cs typeface="Arial MT"/>
              </a:rPr>
              <a:t> </a:t>
            </a:r>
            <a:r>
              <a:rPr lang="en-GB" sz="6400" dirty="0">
                <a:solidFill>
                  <a:srgbClr val="080912"/>
                </a:solidFill>
                <a:latin typeface="Arial MT"/>
                <a:cs typeface="Arial MT"/>
              </a:rPr>
              <a:t>40</a:t>
            </a:r>
            <a:r>
              <a:rPr lang="en-GB" sz="6400" spc="3" dirty="0">
                <a:solidFill>
                  <a:srgbClr val="080912"/>
                </a:solidFill>
                <a:latin typeface="Arial MT"/>
                <a:cs typeface="Arial MT"/>
              </a:rPr>
              <a:t> </a:t>
            </a:r>
            <a:r>
              <a:rPr lang="en-GB" sz="6400" spc="-3" dirty="0">
                <a:solidFill>
                  <a:srgbClr val="080912"/>
                </a:solidFill>
                <a:latin typeface="Arial MT"/>
                <a:cs typeface="Arial MT"/>
              </a:rPr>
              <a:t>layers.</a:t>
            </a:r>
            <a:endParaRPr lang="en-GB" sz="6400" dirty="0">
              <a:latin typeface="Arial MT"/>
              <a:cs typeface="Arial MT"/>
            </a:endParaRPr>
          </a:p>
          <a:p>
            <a:pPr marL="8659" marR="3896">
              <a:lnSpc>
                <a:spcPct val="143700"/>
              </a:lnSpc>
              <a:spcBef>
                <a:spcPts val="501"/>
              </a:spcBef>
            </a:pPr>
            <a:r>
              <a:rPr lang="en-GB" sz="6400" spc="-10" dirty="0">
                <a:solidFill>
                  <a:srgbClr val="080912"/>
                </a:solidFill>
                <a:latin typeface="Arial MT"/>
                <a:cs typeface="Arial MT"/>
              </a:rPr>
              <a:t>Finally,</a:t>
            </a:r>
            <a:r>
              <a:rPr lang="en-GB" sz="6400" spc="-37" dirty="0">
                <a:solidFill>
                  <a:srgbClr val="080912"/>
                </a:solidFill>
                <a:latin typeface="Arial MT"/>
                <a:cs typeface="Arial MT"/>
              </a:rPr>
              <a:t> </a:t>
            </a:r>
            <a:r>
              <a:rPr lang="en-GB" sz="6400" dirty="0">
                <a:solidFill>
                  <a:srgbClr val="080912"/>
                </a:solidFill>
                <a:latin typeface="Arial MT"/>
                <a:cs typeface="Arial MT"/>
              </a:rPr>
              <a:t>a</a:t>
            </a:r>
            <a:r>
              <a:rPr lang="en-GB" sz="6400" spc="-31" dirty="0">
                <a:solidFill>
                  <a:srgbClr val="080912"/>
                </a:solidFill>
                <a:latin typeface="Arial MT"/>
                <a:cs typeface="Arial MT"/>
              </a:rPr>
              <a:t> </a:t>
            </a:r>
            <a:r>
              <a:rPr lang="en-GB" sz="6400" spc="-14" dirty="0">
                <a:solidFill>
                  <a:srgbClr val="080912"/>
                </a:solidFill>
                <a:latin typeface="Arial MT"/>
                <a:cs typeface="Arial MT"/>
              </a:rPr>
              <a:t>few</a:t>
            </a:r>
            <a:r>
              <a:rPr lang="en-GB" sz="6400" spc="-34" dirty="0">
                <a:solidFill>
                  <a:srgbClr val="080912"/>
                </a:solidFill>
                <a:latin typeface="Arial MT"/>
                <a:cs typeface="Arial MT"/>
              </a:rPr>
              <a:t> </a:t>
            </a:r>
            <a:r>
              <a:rPr lang="en-GB" sz="6400" spc="-10" dirty="0">
                <a:solidFill>
                  <a:srgbClr val="080912"/>
                </a:solidFill>
                <a:latin typeface="Arial MT"/>
                <a:cs typeface="Arial MT"/>
              </a:rPr>
              <a:t>rules</a:t>
            </a:r>
            <a:r>
              <a:rPr lang="en-GB" sz="6400" spc="-27" dirty="0">
                <a:solidFill>
                  <a:srgbClr val="080912"/>
                </a:solidFill>
                <a:latin typeface="Arial MT"/>
                <a:cs typeface="Arial MT"/>
              </a:rPr>
              <a:t> </a:t>
            </a:r>
            <a:r>
              <a:rPr lang="en-GB" sz="6400" spc="-14" dirty="0">
                <a:solidFill>
                  <a:srgbClr val="080912"/>
                </a:solidFill>
                <a:latin typeface="Arial MT"/>
                <a:cs typeface="Arial MT"/>
              </a:rPr>
              <a:t>for</a:t>
            </a:r>
            <a:r>
              <a:rPr lang="en-GB" sz="6400" spc="-37" dirty="0">
                <a:solidFill>
                  <a:srgbClr val="080912"/>
                </a:solidFill>
                <a:latin typeface="Arial MT"/>
                <a:cs typeface="Arial MT"/>
              </a:rPr>
              <a:t> </a:t>
            </a:r>
            <a:r>
              <a:rPr lang="en-GB" sz="6400" spc="-10" dirty="0">
                <a:solidFill>
                  <a:srgbClr val="080912"/>
                </a:solidFill>
                <a:latin typeface="Arial MT"/>
                <a:cs typeface="Arial MT"/>
              </a:rPr>
              <a:t>choosing</a:t>
            </a:r>
            <a:r>
              <a:rPr lang="en-GB" sz="6400" spc="-27" dirty="0">
                <a:solidFill>
                  <a:srgbClr val="080912"/>
                </a:solidFill>
                <a:latin typeface="Arial MT"/>
                <a:cs typeface="Arial MT"/>
              </a:rPr>
              <a:t> </a:t>
            </a:r>
            <a:r>
              <a:rPr lang="en-GB" sz="6400" spc="-14" dirty="0">
                <a:solidFill>
                  <a:srgbClr val="080912"/>
                </a:solidFill>
                <a:latin typeface="Arial MT"/>
                <a:cs typeface="Arial MT"/>
              </a:rPr>
              <a:t>the</a:t>
            </a:r>
            <a:r>
              <a:rPr lang="en-GB" sz="6400" spc="-31" dirty="0">
                <a:solidFill>
                  <a:srgbClr val="080912"/>
                </a:solidFill>
                <a:latin typeface="Arial MT"/>
                <a:cs typeface="Arial MT"/>
              </a:rPr>
              <a:t> </a:t>
            </a:r>
            <a:r>
              <a:rPr lang="en-GB" sz="6400" spc="-14" dirty="0">
                <a:solidFill>
                  <a:srgbClr val="080912"/>
                </a:solidFill>
                <a:latin typeface="Arial MT"/>
                <a:cs typeface="Arial MT"/>
              </a:rPr>
              <a:t>activation</a:t>
            </a:r>
            <a:r>
              <a:rPr lang="en-GB" sz="6400" spc="-27" dirty="0">
                <a:solidFill>
                  <a:srgbClr val="080912"/>
                </a:solidFill>
                <a:latin typeface="Arial MT"/>
                <a:cs typeface="Arial MT"/>
              </a:rPr>
              <a:t> </a:t>
            </a:r>
            <a:r>
              <a:rPr lang="en-GB" sz="6400" spc="-10" dirty="0">
                <a:solidFill>
                  <a:srgbClr val="080912"/>
                </a:solidFill>
                <a:latin typeface="Arial MT"/>
                <a:cs typeface="Arial MT"/>
              </a:rPr>
              <a:t>function</a:t>
            </a:r>
            <a:r>
              <a:rPr lang="en-GB" sz="6400" spc="-31" dirty="0">
                <a:solidFill>
                  <a:srgbClr val="080912"/>
                </a:solidFill>
                <a:latin typeface="Arial MT"/>
                <a:cs typeface="Arial MT"/>
              </a:rPr>
              <a:t> </a:t>
            </a:r>
            <a:r>
              <a:rPr lang="en-GB" sz="6400" spc="-14" dirty="0">
                <a:solidFill>
                  <a:srgbClr val="080912"/>
                </a:solidFill>
                <a:latin typeface="Arial MT"/>
                <a:cs typeface="Arial MT"/>
              </a:rPr>
              <a:t>for</a:t>
            </a:r>
            <a:r>
              <a:rPr lang="en-GB" sz="6400" spc="-37" dirty="0">
                <a:solidFill>
                  <a:srgbClr val="080912"/>
                </a:solidFill>
                <a:latin typeface="Arial MT"/>
                <a:cs typeface="Arial MT"/>
              </a:rPr>
              <a:t> </a:t>
            </a:r>
            <a:r>
              <a:rPr lang="en-GB" sz="6400" spc="-10" dirty="0">
                <a:solidFill>
                  <a:srgbClr val="080912"/>
                </a:solidFill>
                <a:latin typeface="Arial MT"/>
                <a:cs typeface="Arial MT"/>
              </a:rPr>
              <a:t>your</a:t>
            </a:r>
            <a:r>
              <a:rPr lang="en-GB" sz="6400" spc="-34" dirty="0">
                <a:solidFill>
                  <a:srgbClr val="080912"/>
                </a:solidFill>
                <a:latin typeface="Arial MT"/>
                <a:cs typeface="Arial MT"/>
              </a:rPr>
              <a:t> </a:t>
            </a:r>
            <a:r>
              <a:rPr lang="en-GB" sz="6400" spc="-10" dirty="0">
                <a:solidFill>
                  <a:srgbClr val="080912"/>
                </a:solidFill>
                <a:latin typeface="Arial MT"/>
                <a:cs typeface="Arial MT"/>
              </a:rPr>
              <a:t>output</a:t>
            </a:r>
            <a:r>
              <a:rPr lang="en-GB" sz="6400" spc="-37" dirty="0">
                <a:solidFill>
                  <a:srgbClr val="080912"/>
                </a:solidFill>
                <a:latin typeface="Arial MT"/>
                <a:cs typeface="Arial MT"/>
              </a:rPr>
              <a:t> </a:t>
            </a:r>
            <a:r>
              <a:rPr lang="en-GB" sz="6400" spc="-10" dirty="0">
                <a:solidFill>
                  <a:srgbClr val="080912"/>
                </a:solidFill>
                <a:latin typeface="Arial MT"/>
                <a:cs typeface="Arial MT"/>
              </a:rPr>
              <a:t>layer</a:t>
            </a:r>
            <a:r>
              <a:rPr lang="en-GB" sz="6400" spc="-37" dirty="0">
                <a:solidFill>
                  <a:srgbClr val="080912"/>
                </a:solidFill>
                <a:latin typeface="Arial MT"/>
                <a:cs typeface="Arial MT"/>
              </a:rPr>
              <a:t> </a:t>
            </a:r>
            <a:r>
              <a:rPr lang="en-GB" sz="6400" spc="-10" dirty="0">
                <a:solidFill>
                  <a:srgbClr val="080912"/>
                </a:solidFill>
                <a:latin typeface="Arial MT"/>
                <a:cs typeface="Arial MT"/>
              </a:rPr>
              <a:t>based</a:t>
            </a:r>
            <a:r>
              <a:rPr lang="en-GB" sz="6400" spc="-27" dirty="0">
                <a:solidFill>
                  <a:srgbClr val="080912"/>
                </a:solidFill>
                <a:latin typeface="Arial MT"/>
                <a:cs typeface="Arial MT"/>
              </a:rPr>
              <a:t> </a:t>
            </a:r>
            <a:r>
              <a:rPr lang="en-GB" sz="6400" spc="-7" dirty="0">
                <a:solidFill>
                  <a:srgbClr val="080912"/>
                </a:solidFill>
                <a:latin typeface="Arial MT"/>
                <a:cs typeface="Arial MT"/>
              </a:rPr>
              <a:t>on</a:t>
            </a:r>
            <a:r>
              <a:rPr lang="en-GB" sz="6400" spc="-31" dirty="0">
                <a:solidFill>
                  <a:srgbClr val="080912"/>
                </a:solidFill>
                <a:latin typeface="Arial MT"/>
                <a:cs typeface="Arial MT"/>
              </a:rPr>
              <a:t> </a:t>
            </a:r>
            <a:r>
              <a:rPr lang="en-GB" sz="6400" spc="-10" dirty="0">
                <a:solidFill>
                  <a:srgbClr val="080912"/>
                </a:solidFill>
                <a:latin typeface="Arial MT"/>
                <a:cs typeface="Arial MT"/>
              </a:rPr>
              <a:t>the</a:t>
            </a:r>
            <a:r>
              <a:rPr lang="en-GB" sz="6400" spc="-31" dirty="0">
                <a:solidFill>
                  <a:srgbClr val="080912"/>
                </a:solidFill>
                <a:latin typeface="Arial MT"/>
                <a:cs typeface="Arial MT"/>
              </a:rPr>
              <a:t> </a:t>
            </a:r>
            <a:r>
              <a:rPr lang="en-GB" sz="6400" spc="-14" dirty="0">
                <a:solidFill>
                  <a:srgbClr val="080912"/>
                </a:solidFill>
                <a:latin typeface="Arial MT"/>
                <a:cs typeface="Arial MT"/>
              </a:rPr>
              <a:t>type </a:t>
            </a:r>
            <a:r>
              <a:rPr lang="en-GB" sz="6400" spc="-245" dirty="0">
                <a:solidFill>
                  <a:srgbClr val="080912"/>
                </a:solidFill>
                <a:latin typeface="Arial MT"/>
                <a:cs typeface="Arial MT"/>
              </a:rPr>
              <a:t> </a:t>
            </a:r>
            <a:r>
              <a:rPr lang="en-GB" sz="6400" spc="-3" dirty="0">
                <a:solidFill>
                  <a:srgbClr val="080912"/>
                </a:solidFill>
                <a:latin typeface="Arial MT"/>
                <a:cs typeface="Arial MT"/>
              </a:rPr>
              <a:t>of</a:t>
            </a:r>
            <a:r>
              <a:rPr lang="en-GB" sz="6400" spc="-27" dirty="0">
                <a:solidFill>
                  <a:srgbClr val="080912"/>
                </a:solidFill>
                <a:latin typeface="Arial MT"/>
                <a:cs typeface="Arial MT"/>
              </a:rPr>
              <a:t> </a:t>
            </a:r>
            <a:r>
              <a:rPr lang="en-GB" sz="6400" spc="-10" dirty="0">
                <a:solidFill>
                  <a:srgbClr val="080912"/>
                </a:solidFill>
                <a:latin typeface="Arial MT"/>
                <a:cs typeface="Arial MT"/>
              </a:rPr>
              <a:t>prediction</a:t>
            </a:r>
            <a:r>
              <a:rPr lang="en-GB" sz="6400" spc="-27" dirty="0">
                <a:solidFill>
                  <a:srgbClr val="080912"/>
                </a:solidFill>
                <a:latin typeface="Arial MT"/>
                <a:cs typeface="Arial MT"/>
              </a:rPr>
              <a:t> </a:t>
            </a:r>
            <a:r>
              <a:rPr lang="en-GB" sz="6400" spc="-10" dirty="0">
                <a:solidFill>
                  <a:srgbClr val="080912"/>
                </a:solidFill>
                <a:latin typeface="Arial MT"/>
                <a:cs typeface="Arial MT"/>
              </a:rPr>
              <a:t>problem</a:t>
            </a:r>
            <a:r>
              <a:rPr lang="en-GB" sz="6400" spc="-20" dirty="0">
                <a:solidFill>
                  <a:srgbClr val="080912"/>
                </a:solidFill>
                <a:latin typeface="Arial MT"/>
                <a:cs typeface="Arial MT"/>
              </a:rPr>
              <a:t> </a:t>
            </a:r>
            <a:r>
              <a:rPr lang="en-GB" sz="6400" spc="-10" dirty="0">
                <a:solidFill>
                  <a:srgbClr val="080912"/>
                </a:solidFill>
                <a:latin typeface="Arial MT"/>
                <a:cs typeface="Arial MT"/>
              </a:rPr>
              <a:t>that</a:t>
            </a:r>
            <a:r>
              <a:rPr lang="en-GB" sz="6400" spc="-31" dirty="0">
                <a:solidFill>
                  <a:srgbClr val="080912"/>
                </a:solidFill>
                <a:latin typeface="Arial MT"/>
                <a:cs typeface="Arial MT"/>
              </a:rPr>
              <a:t> </a:t>
            </a:r>
            <a:r>
              <a:rPr lang="en-GB" sz="6400" spc="-7" dirty="0">
                <a:solidFill>
                  <a:srgbClr val="080912"/>
                </a:solidFill>
                <a:latin typeface="Arial MT"/>
                <a:cs typeface="Arial MT"/>
              </a:rPr>
              <a:t>you</a:t>
            </a:r>
            <a:r>
              <a:rPr lang="en-GB" sz="6400" spc="-27" dirty="0">
                <a:solidFill>
                  <a:srgbClr val="080912"/>
                </a:solidFill>
                <a:latin typeface="Arial MT"/>
                <a:cs typeface="Arial MT"/>
              </a:rPr>
              <a:t> </a:t>
            </a:r>
            <a:r>
              <a:rPr lang="en-GB" sz="6400" spc="-7" dirty="0">
                <a:solidFill>
                  <a:srgbClr val="080912"/>
                </a:solidFill>
                <a:latin typeface="Arial MT"/>
                <a:cs typeface="Arial MT"/>
              </a:rPr>
              <a:t>are</a:t>
            </a:r>
            <a:r>
              <a:rPr lang="en-GB" sz="6400" spc="-27" dirty="0">
                <a:solidFill>
                  <a:srgbClr val="080912"/>
                </a:solidFill>
                <a:latin typeface="Arial MT"/>
                <a:cs typeface="Arial MT"/>
              </a:rPr>
              <a:t> </a:t>
            </a:r>
            <a:r>
              <a:rPr lang="en-GB" sz="6400" spc="-10" dirty="0">
                <a:solidFill>
                  <a:srgbClr val="080912"/>
                </a:solidFill>
                <a:latin typeface="Arial MT"/>
                <a:cs typeface="Arial MT"/>
              </a:rPr>
              <a:t>solving:</a:t>
            </a:r>
          </a:p>
          <a:p>
            <a:pPr marL="320378" indent="-156292">
              <a:spcBef>
                <a:spcPts val="685"/>
              </a:spcBef>
              <a:buFont typeface="Arial MT"/>
              <a:buAutoNum type="arabicPeriod"/>
              <a:tabLst>
                <a:tab pos="320810" algn="l"/>
              </a:tabLst>
            </a:pPr>
            <a:r>
              <a:rPr lang="en-GB" sz="6400" b="1" spc="-3" dirty="0">
                <a:solidFill>
                  <a:srgbClr val="080912"/>
                </a:solidFill>
                <a:latin typeface="Arial"/>
                <a:cs typeface="Arial"/>
              </a:rPr>
              <a:t>Regression</a:t>
            </a:r>
            <a:r>
              <a:rPr lang="en-GB" sz="6400" b="1" spc="-10" dirty="0">
                <a:solidFill>
                  <a:srgbClr val="080912"/>
                </a:solidFill>
                <a:latin typeface="Arial"/>
                <a:cs typeface="Arial"/>
              </a:rPr>
              <a:t> </a:t>
            </a:r>
            <a:r>
              <a:rPr lang="en-GB" sz="6400" dirty="0">
                <a:solidFill>
                  <a:srgbClr val="080912"/>
                </a:solidFill>
                <a:latin typeface="Arial MT"/>
                <a:cs typeface="Arial MT"/>
              </a:rPr>
              <a:t>- </a:t>
            </a:r>
            <a:r>
              <a:rPr lang="en-GB" sz="6400" spc="-3" dirty="0">
                <a:solidFill>
                  <a:srgbClr val="080912"/>
                </a:solidFill>
                <a:latin typeface="Arial MT"/>
                <a:cs typeface="Arial MT"/>
              </a:rPr>
              <a:t>Linear </a:t>
            </a:r>
            <a:r>
              <a:rPr lang="en-GB" sz="6400" dirty="0">
                <a:solidFill>
                  <a:srgbClr val="080912"/>
                </a:solidFill>
                <a:latin typeface="Arial MT"/>
                <a:cs typeface="Arial MT"/>
              </a:rPr>
              <a:t>Activation</a:t>
            </a:r>
            <a:r>
              <a:rPr lang="en-GB" sz="6400" spc="-10" dirty="0">
                <a:solidFill>
                  <a:srgbClr val="080912"/>
                </a:solidFill>
                <a:latin typeface="Arial MT"/>
                <a:cs typeface="Arial MT"/>
              </a:rPr>
              <a:t> </a:t>
            </a:r>
            <a:r>
              <a:rPr lang="en-GB" sz="6400" spc="-3" dirty="0">
                <a:solidFill>
                  <a:srgbClr val="080912"/>
                </a:solidFill>
                <a:latin typeface="Arial MT"/>
                <a:cs typeface="Arial MT"/>
              </a:rPr>
              <a:t>Function</a:t>
            </a:r>
            <a:endParaRPr lang="en-GB" sz="6400" dirty="0">
              <a:latin typeface="Arial MT"/>
              <a:cs typeface="Arial MT"/>
            </a:endParaRPr>
          </a:p>
          <a:p>
            <a:pPr marL="320378" indent="-156292">
              <a:spcBef>
                <a:spcPts val="689"/>
              </a:spcBef>
              <a:buFont typeface="Arial MT"/>
              <a:buAutoNum type="arabicPeriod"/>
              <a:tabLst>
                <a:tab pos="320810" algn="l"/>
              </a:tabLst>
            </a:pPr>
            <a:r>
              <a:rPr lang="en-GB" sz="6400" b="1" spc="-3" dirty="0">
                <a:solidFill>
                  <a:srgbClr val="080912"/>
                </a:solidFill>
                <a:latin typeface="Arial"/>
                <a:cs typeface="Arial"/>
              </a:rPr>
              <a:t>Binary</a:t>
            </a:r>
            <a:r>
              <a:rPr lang="en-GB" sz="6400" b="1" spc="7" dirty="0">
                <a:solidFill>
                  <a:srgbClr val="080912"/>
                </a:solidFill>
                <a:latin typeface="Arial"/>
                <a:cs typeface="Arial"/>
              </a:rPr>
              <a:t> </a:t>
            </a:r>
            <a:r>
              <a:rPr lang="en-GB" sz="6400" b="1" spc="-3" dirty="0">
                <a:solidFill>
                  <a:srgbClr val="080912"/>
                </a:solidFill>
                <a:latin typeface="Arial"/>
                <a:cs typeface="Arial"/>
              </a:rPr>
              <a:t>Classification</a:t>
            </a:r>
            <a:r>
              <a:rPr lang="en-GB" sz="6400" b="1" spc="10" dirty="0">
                <a:solidFill>
                  <a:srgbClr val="080912"/>
                </a:solidFill>
                <a:latin typeface="Arial"/>
                <a:cs typeface="Arial"/>
              </a:rPr>
              <a:t> </a:t>
            </a:r>
            <a:r>
              <a:rPr lang="en-GB" sz="6400" dirty="0">
                <a:solidFill>
                  <a:srgbClr val="080912"/>
                </a:solidFill>
                <a:latin typeface="Arial MT"/>
                <a:cs typeface="Arial MT"/>
              </a:rPr>
              <a:t>-</a:t>
            </a:r>
            <a:r>
              <a:rPr lang="en-GB" sz="6400" spc="7" dirty="0">
                <a:solidFill>
                  <a:srgbClr val="080912"/>
                </a:solidFill>
                <a:latin typeface="Arial MT"/>
                <a:cs typeface="Arial MT"/>
              </a:rPr>
              <a:t> </a:t>
            </a:r>
            <a:r>
              <a:rPr lang="en-GB" sz="6400" spc="-3" dirty="0">
                <a:solidFill>
                  <a:srgbClr val="080912"/>
                </a:solidFill>
                <a:latin typeface="Arial MT"/>
                <a:cs typeface="Arial MT"/>
              </a:rPr>
              <a:t>Sigmoid/Logistic</a:t>
            </a:r>
            <a:r>
              <a:rPr lang="en-GB" sz="6400" spc="7" dirty="0">
                <a:solidFill>
                  <a:srgbClr val="080912"/>
                </a:solidFill>
                <a:latin typeface="Arial MT"/>
                <a:cs typeface="Arial MT"/>
              </a:rPr>
              <a:t> </a:t>
            </a:r>
            <a:r>
              <a:rPr lang="en-GB" sz="6400" spc="-3" dirty="0">
                <a:solidFill>
                  <a:srgbClr val="080912"/>
                </a:solidFill>
                <a:latin typeface="Arial MT"/>
                <a:cs typeface="Arial MT"/>
              </a:rPr>
              <a:t>Activation</a:t>
            </a:r>
            <a:r>
              <a:rPr lang="en-GB" sz="6400" spc="10" dirty="0">
                <a:solidFill>
                  <a:srgbClr val="080912"/>
                </a:solidFill>
                <a:latin typeface="Arial MT"/>
                <a:cs typeface="Arial MT"/>
              </a:rPr>
              <a:t> </a:t>
            </a:r>
            <a:r>
              <a:rPr lang="en-GB" sz="6400" spc="-3" dirty="0">
                <a:solidFill>
                  <a:srgbClr val="080912"/>
                </a:solidFill>
                <a:latin typeface="Arial MT"/>
                <a:cs typeface="Arial MT"/>
              </a:rPr>
              <a:t>Function</a:t>
            </a:r>
            <a:endParaRPr lang="en-GB" sz="6400" dirty="0">
              <a:latin typeface="Arial MT"/>
              <a:cs typeface="Arial MT"/>
            </a:endParaRPr>
          </a:p>
          <a:p>
            <a:pPr marL="320378" indent="-156292">
              <a:spcBef>
                <a:spcPts val="689"/>
              </a:spcBef>
              <a:buFont typeface="Arial MT"/>
              <a:buAutoNum type="arabicPeriod"/>
              <a:tabLst>
                <a:tab pos="320810" algn="l"/>
              </a:tabLst>
            </a:pPr>
            <a:r>
              <a:rPr lang="en-GB" sz="6400" b="1" spc="-3" dirty="0">
                <a:solidFill>
                  <a:srgbClr val="080912"/>
                </a:solidFill>
                <a:latin typeface="Arial"/>
                <a:cs typeface="Arial"/>
              </a:rPr>
              <a:t>Multiclass</a:t>
            </a:r>
            <a:r>
              <a:rPr lang="en-GB" sz="6400" b="1" spc="-7" dirty="0">
                <a:solidFill>
                  <a:srgbClr val="080912"/>
                </a:solidFill>
                <a:latin typeface="Arial"/>
                <a:cs typeface="Arial"/>
              </a:rPr>
              <a:t> </a:t>
            </a:r>
            <a:r>
              <a:rPr lang="en-GB" sz="6400" b="1" spc="-3" dirty="0">
                <a:solidFill>
                  <a:srgbClr val="080912"/>
                </a:solidFill>
                <a:latin typeface="Arial"/>
                <a:cs typeface="Arial"/>
              </a:rPr>
              <a:t>Classification</a:t>
            </a:r>
            <a:r>
              <a:rPr lang="en-GB" sz="6400" b="1" spc="7" dirty="0">
                <a:solidFill>
                  <a:srgbClr val="080912"/>
                </a:solidFill>
                <a:latin typeface="Arial"/>
                <a:cs typeface="Arial"/>
              </a:rPr>
              <a:t> </a:t>
            </a:r>
            <a:r>
              <a:rPr lang="en-GB" sz="6400" dirty="0">
                <a:solidFill>
                  <a:srgbClr val="080912"/>
                </a:solidFill>
                <a:latin typeface="Arial MT"/>
                <a:cs typeface="Arial MT"/>
              </a:rPr>
              <a:t>-</a:t>
            </a:r>
            <a:r>
              <a:rPr lang="en-GB" sz="6400" spc="3" dirty="0">
                <a:solidFill>
                  <a:srgbClr val="080912"/>
                </a:solidFill>
                <a:latin typeface="Arial MT"/>
                <a:cs typeface="Arial MT"/>
              </a:rPr>
              <a:t> </a:t>
            </a:r>
            <a:r>
              <a:rPr lang="en-GB" sz="6400" spc="-3" dirty="0" err="1">
                <a:solidFill>
                  <a:srgbClr val="080912"/>
                </a:solidFill>
                <a:latin typeface="Arial MT"/>
                <a:cs typeface="Arial MT"/>
              </a:rPr>
              <a:t>Softmax</a:t>
            </a:r>
            <a:endParaRPr lang="en-GB" sz="6400" dirty="0">
              <a:latin typeface="Arial MT"/>
              <a:cs typeface="Arial MT"/>
            </a:endParaRPr>
          </a:p>
          <a:p>
            <a:pPr marL="8659" marR="4762">
              <a:lnSpc>
                <a:spcPct val="143700"/>
              </a:lnSpc>
              <a:spcBef>
                <a:spcPts val="498"/>
              </a:spcBef>
            </a:pPr>
            <a:r>
              <a:rPr lang="en-GB" sz="6400" spc="-7" dirty="0">
                <a:solidFill>
                  <a:srgbClr val="080912"/>
                </a:solidFill>
                <a:latin typeface="Arial MT"/>
                <a:cs typeface="Arial MT"/>
              </a:rPr>
              <a:t>The</a:t>
            </a:r>
            <a:r>
              <a:rPr lang="en-GB" sz="6400" spc="14" dirty="0">
                <a:solidFill>
                  <a:srgbClr val="080912"/>
                </a:solidFill>
                <a:latin typeface="Arial MT"/>
                <a:cs typeface="Arial MT"/>
              </a:rPr>
              <a:t> </a:t>
            </a:r>
            <a:r>
              <a:rPr lang="en-GB" sz="6400" spc="-14" dirty="0">
                <a:solidFill>
                  <a:srgbClr val="080912"/>
                </a:solidFill>
                <a:latin typeface="Arial MT"/>
                <a:cs typeface="Arial MT"/>
              </a:rPr>
              <a:t>activation</a:t>
            </a:r>
            <a:r>
              <a:rPr lang="en-GB" sz="6400" spc="17" dirty="0">
                <a:solidFill>
                  <a:srgbClr val="080912"/>
                </a:solidFill>
                <a:latin typeface="Arial MT"/>
                <a:cs typeface="Arial MT"/>
              </a:rPr>
              <a:t> </a:t>
            </a:r>
            <a:r>
              <a:rPr lang="en-GB" sz="6400" spc="-10" dirty="0">
                <a:solidFill>
                  <a:srgbClr val="080912"/>
                </a:solidFill>
                <a:latin typeface="Arial MT"/>
                <a:cs typeface="Arial MT"/>
              </a:rPr>
              <a:t>function</a:t>
            </a:r>
            <a:r>
              <a:rPr lang="en-GB" sz="6400" spc="7" dirty="0">
                <a:solidFill>
                  <a:srgbClr val="080912"/>
                </a:solidFill>
                <a:latin typeface="Arial MT"/>
                <a:cs typeface="Arial MT"/>
              </a:rPr>
              <a:t> </a:t>
            </a:r>
            <a:r>
              <a:rPr lang="en-GB" sz="6400" spc="-10" dirty="0">
                <a:solidFill>
                  <a:srgbClr val="080912"/>
                </a:solidFill>
                <a:latin typeface="Arial MT"/>
                <a:cs typeface="Arial MT"/>
              </a:rPr>
              <a:t>used</a:t>
            </a:r>
            <a:r>
              <a:rPr lang="en-GB" sz="6400" spc="17" dirty="0">
                <a:solidFill>
                  <a:srgbClr val="080912"/>
                </a:solidFill>
                <a:latin typeface="Arial MT"/>
                <a:cs typeface="Arial MT"/>
              </a:rPr>
              <a:t> </a:t>
            </a:r>
            <a:r>
              <a:rPr lang="en-GB" sz="6400" spc="-10" dirty="0">
                <a:solidFill>
                  <a:srgbClr val="080912"/>
                </a:solidFill>
                <a:latin typeface="Arial MT"/>
                <a:cs typeface="Arial MT"/>
              </a:rPr>
              <a:t>in</a:t>
            </a:r>
            <a:r>
              <a:rPr lang="en-GB" sz="6400" spc="17" dirty="0">
                <a:solidFill>
                  <a:srgbClr val="080912"/>
                </a:solidFill>
                <a:latin typeface="Arial MT"/>
                <a:cs typeface="Arial MT"/>
              </a:rPr>
              <a:t> </a:t>
            </a:r>
            <a:r>
              <a:rPr lang="en-GB" sz="6400" spc="-10" dirty="0">
                <a:solidFill>
                  <a:srgbClr val="080912"/>
                </a:solidFill>
                <a:latin typeface="Arial MT"/>
                <a:cs typeface="Arial MT"/>
              </a:rPr>
              <a:t>hidden</a:t>
            </a:r>
            <a:r>
              <a:rPr lang="en-GB" sz="6400" spc="14" dirty="0">
                <a:solidFill>
                  <a:srgbClr val="080912"/>
                </a:solidFill>
                <a:latin typeface="Arial MT"/>
                <a:cs typeface="Arial MT"/>
              </a:rPr>
              <a:t> </a:t>
            </a:r>
            <a:r>
              <a:rPr lang="en-GB" sz="6400" spc="-10" dirty="0">
                <a:solidFill>
                  <a:srgbClr val="080912"/>
                </a:solidFill>
                <a:latin typeface="Arial MT"/>
                <a:cs typeface="Arial MT"/>
              </a:rPr>
              <a:t>layers</a:t>
            </a:r>
            <a:r>
              <a:rPr lang="en-GB" sz="6400" spc="20" dirty="0">
                <a:solidFill>
                  <a:srgbClr val="080912"/>
                </a:solidFill>
                <a:latin typeface="Arial MT"/>
                <a:cs typeface="Arial MT"/>
              </a:rPr>
              <a:t> </a:t>
            </a:r>
            <a:r>
              <a:rPr lang="en-GB" sz="6400" spc="-10" dirty="0">
                <a:solidFill>
                  <a:srgbClr val="080912"/>
                </a:solidFill>
                <a:latin typeface="Arial MT"/>
                <a:cs typeface="Arial MT"/>
              </a:rPr>
              <a:t>is</a:t>
            </a:r>
            <a:r>
              <a:rPr lang="en-GB" sz="6400" spc="20" dirty="0">
                <a:solidFill>
                  <a:srgbClr val="080912"/>
                </a:solidFill>
                <a:latin typeface="Arial MT"/>
                <a:cs typeface="Arial MT"/>
              </a:rPr>
              <a:t> </a:t>
            </a:r>
            <a:r>
              <a:rPr lang="en-GB" sz="6400" spc="-10" dirty="0">
                <a:solidFill>
                  <a:srgbClr val="080912"/>
                </a:solidFill>
                <a:latin typeface="Arial MT"/>
                <a:cs typeface="Arial MT"/>
              </a:rPr>
              <a:t>typically</a:t>
            </a:r>
            <a:r>
              <a:rPr lang="en-GB" sz="6400" spc="7" dirty="0">
                <a:solidFill>
                  <a:srgbClr val="080912"/>
                </a:solidFill>
                <a:latin typeface="Arial MT"/>
                <a:cs typeface="Arial MT"/>
              </a:rPr>
              <a:t> </a:t>
            </a:r>
            <a:r>
              <a:rPr lang="en-GB" sz="6400" spc="-10" dirty="0">
                <a:solidFill>
                  <a:srgbClr val="080912"/>
                </a:solidFill>
                <a:latin typeface="Arial MT"/>
                <a:cs typeface="Arial MT"/>
              </a:rPr>
              <a:t>chosen</a:t>
            </a:r>
            <a:r>
              <a:rPr lang="en-GB" sz="6400" spc="10" dirty="0">
                <a:solidFill>
                  <a:srgbClr val="080912"/>
                </a:solidFill>
                <a:latin typeface="Arial MT"/>
                <a:cs typeface="Arial MT"/>
              </a:rPr>
              <a:t> </a:t>
            </a:r>
            <a:r>
              <a:rPr lang="en-GB" sz="6400" spc="-10" dirty="0">
                <a:solidFill>
                  <a:srgbClr val="080912"/>
                </a:solidFill>
                <a:latin typeface="Arial MT"/>
                <a:cs typeface="Arial MT"/>
              </a:rPr>
              <a:t>based</a:t>
            </a:r>
            <a:r>
              <a:rPr lang="en-GB" sz="6400" spc="14" dirty="0">
                <a:solidFill>
                  <a:srgbClr val="080912"/>
                </a:solidFill>
                <a:latin typeface="Arial MT"/>
                <a:cs typeface="Arial MT"/>
              </a:rPr>
              <a:t> </a:t>
            </a:r>
            <a:r>
              <a:rPr lang="en-GB" sz="6400" spc="-7" dirty="0">
                <a:solidFill>
                  <a:srgbClr val="080912"/>
                </a:solidFill>
                <a:latin typeface="Arial MT"/>
                <a:cs typeface="Arial MT"/>
              </a:rPr>
              <a:t>on</a:t>
            </a:r>
            <a:r>
              <a:rPr lang="en-GB" sz="6400" spc="17" dirty="0">
                <a:solidFill>
                  <a:srgbClr val="080912"/>
                </a:solidFill>
                <a:latin typeface="Arial MT"/>
                <a:cs typeface="Arial MT"/>
              </a:rPr>
              <a:t> </a:t>
            </a:r>
            <a:r>
              <a:rPr lang="en-GB" sz="6400" spc="-10" dirty="0">
                <a:solidFill>
                  <a:srgbClr val="080912"/>
                </a:solidFill>
                <a:latin typeface="Arial MT"/>
                <a:cs typeface="Arial MT"/>
              </a:rPr>
              <a:t>the</a:t>
            </a:r>
            <a:r>
              <a:rPr lang="en-GB" sz="6400" spc="17" dirty="0">
                <a:solidFill>
                  <a:srgbClr val="080912"/>
                </a:solidFill>
                <a:latin typeface="Arial MT"/>
                <a:cs typeface="Arial MT"/>
              </a:rPr>
              <a:t> </a:t>
            </a:r>
            <a:r>
              <a:rPr lang="en-GB" sz="6400" spc="-10" dirty="0">
                <a:solidFill>
                  <a:srgbClr val="080912"/>
                </a:solidFill>
                <a:latin typeface="Arial MT"/>
                <a:cs typeface="Arial MT"/>
              </a:rPr>
              <a:t>type</a:t>
            </a:r>
            <a:r>
              <a:rPr lang="en-GB" sz="6400" spc="14" dirty="0">
                <a:solidFill>
                  <a:srgbClr val="080912"/>
                </a:solidFill>
                <a:latin typeface="Arial MT"/>
                <a:cs typeface="Arial MT"/>
              </a:rPr>
              <a:t> </a:t>
            </a:r>
            <a:r>
              <a:rPr lang="en-GB" sz="6400" spc="-3" dirty="0">
                <a:solidFill>
                  <a:srgbClr val="080912"/>
                </a:solidFill>
                <a:latin typeface="Arial MT"/>
                <a:cs typeface="Arial MT"/>
              </a:rPr>
              <a:t>of</a:t>
            </a:r>
            <a:r>
              <a:rPr lang="en-GB" sz="6400" spc="3" dirty="0">
                <a:solidFill>
                  <a:srgbClr val="080912"/>
                </a:solidFill>
                <a:latin typeface="Arial MT"/>
                <a:cs typeface="Arial MT"/>
              </a:rPr>
              <a:t> </a:t>
            </a:r>
            <a:r>
              <a:rPr lang="en-GB" sz="6400" spc="-10" dirty="0">
                <a:solidFill>
                  <a:srgbClr val="080912"/>
                </a:solidFill>
                <a:latin typeface="Arial MT"/>
                <a:cs typeface="Arial MT"/>
              </a:rPr>
              <a:t>neural </a:t>
            </a:r>
            <a:r>
              <a:rPr lang="en-GB" sz="6400" spc="-245" dirty="0">
                <a:solidFill>
                  <a:srgbClr val="080912"/>
                </a:solidFill>
                <a:latin typeface="Arial MT"/>
                <a:cs typeface="Arial MT"/>
              </a:rPr>
              <a:t> </a:t>
            </a:r>
            <a:r>
              <a:rPr lang="en-GB" sz="6400" spc="-10" dirty="0">
                <a:solidFill>
                  <a:srgbClr val="080912"/>
                </a:solidFill>
                <a:latin typeface="Arial MT"/>
                <a:cs typeface="Arial MT"/>
              </a:rPr>
              <a:t>network</a:t>
            </a:r>
            <a:r>
              <a:rPr lang="en-GB" sz="6400" spc="-20" dirty="0">
                <a:solidFill>
                  <a:srgbClr val="080912"/>
                </a:solidFill>
                <a:latin typeface="Arial MT"/>
                <a:cs typeface="Arial MT"/>
              </a:rPr>
              <a:t> </a:t>
            </a:r>
            <a:r>
              <a:rPr lang="en-GB" sz="6400" spc="-10" dirty="0">
                <a:solidFill>
                  <a:srgbClr val="080912"/>
                </a:solidFill>
                <a:latin typeface="Arial MT"/>
                <a:cs typeface="Arial MT"/>
              </a:rPr>
              <a:t>architecture.</a:t>
            </a:r>
            <a:endParaRPr lang="en-GB" sz="6400" dirty="0">
              <a:latin typeface="Arial MT"/>
              <a:cs typeface="Arial MT"/>
            </a:endParaRPr>
          </a:p>
          <a:p>
            <a:pPr marL="320378" indent="-156292">
              <a:spcBef>
                <a:spcPts val="689"/>
              </a:spcBef>
              <a:buFont typeface="Arial MT"/>
              <a:buAutoNum type="arabicPeriod" startAt="5"/>
              <a:tabLst>
                <a:tab pos="320810" algn="l"/>
              </a:tabLst>
            </a:pPr>
            <a:r>
              <a:rPr lang="en-GB" sz="6400" b="1" spc="-3" dirty="0">
                <a:solidFill>
                  <a:srgbClr val="080912"/>
                </a:solidFill>
                <a:latin typeface="Arial"/>
                <a:cs typeface="Arial"/>
              </a:rPr>
              <a:t>Convolutional</a:t>
            </a:r>
            <a:r>
              <a:rPr lang="en-GB" sz="6400" b="1" spc="-7" dirty="0">
                <a:solidFill>
                  <a:srgbClr val="080912"/>
                </a:solidFill>
                <a:latin typeface="Arial"/>
                <a:cs typeface="Arial"/>
              </a:rPr>
              <a:t> </a:t>
            </a:r>
            <a:r>
              <a:rPr lang="en-GB" sz="6400" b="1" dirty="0">
                <a:solidFill>
                  <a:srgbClr val="080912"/>
                </a:solidFill>
                <a:latin typeface="Arial"/>
                <a:cs typeface="Arial"/>
              </a:rPr>
              <a:t>Neural</a:t>
            </a:r>
            <a:r>
              <a:rPr lang="en-GB" sz="6400" b="1" spc="3" dirty="0">
                <a:solidFill>
                  <a:srgbClr val="080912"/>
                </a:solidFill>
                <a:latin typeface="Arial"/>
                <a:cs typeface="Arial"/>
              </a:rPr>
              <a:t> </a:t>
            </a:r>
            <a:r>
              <a:rPr lang="en-GB" sz="6400" b="1" spc="-3" dirty="0">
                <a:solidFill>
                  <a:srgbClr val="080912"/>
                </a:solidFill>
                <a:latin typeface="Arial"/>
                <a:cs typeface="Arial"/>
              </a:rPr>
              <a:t>Network </a:t>
            </a:r>
            <a:r>
              <a:rPr lang="en-GB" sz="6400" b="1" dirty="0">
                <a:solidFill>
                  <a:srgbClr val="080912"/>
                </a:solidFill>
                <a:latin typeface="Arial"/>
                <a:cs typeface="Arial"/>
              </a:rPr>
              <a:t>(CNN)</a:t>
            </a:r>
            <a:r>
              <a:rPr lang="en-GB" sz="6400" dirty="0">
                <a:solidFill>
                  <a:srgbClr val="080912"/>
                </a:solidFill>
                <a:latin typeface="Arial MT"/>
                <a:cs typeface="Arial MT"/>
              </a:rPr>
              <a:t>:</a:t>
            </a:r>
            <a:r>
              <a:rPr lang="en-GB" sz="6400" spc="-10" dirty="0">
                <a:solidFill>
                  <a:srgbClr val="080912"/>
                </a:solidFill>
                <a:latin typeface="Arial MT"/>
                <a:cs typeface="Arial MT"/>
              </a:rPr>
              <a:t> </a:t>
            </a:r>
            <a:r>
              <a:rPr lang="en-GB" sz="6400" dirty="0" err="1">
                <a:solidFill>
                  <a:srgbClr val="080912"/>
                </a:solidFill>
                <a:latin typeface="Arial MT"/>
                <a:cs typeface="Arial MT"/>
              </a:rPr>
              <a:t>ReLU</a:t>
            </a:r>
            <a:r>
              <a:rPr lang="en-GB" sz="6400" spc="7" dirty="0">
                <a:solidFill>
                  <a:srgbClr val="080912"/>
                </a:solidFill>
                <a:latin typeface="Arial MT"/>
                <a:cs typeface="Arial MT"/>
              </a:rPr>
              <a:t> </a:t>
            </a:r>
            <a:r>
              <a:rPr lang="en-GB" sz="6400" spc="-3" dirty="0">
                <a:solidFill>
                  <a:srgbClr val="080912"/>
                </a:solidFill>
                <a:latin typeface="Arial MT"/>
                <a:cs typeface="Arial MT"/>
              </a:rPr>
              <a:t>activation</a:t>
            </a:r>
            <a:r>
              <a:rPr lang="en-GB" sz="6400" spc="7" dirty="0">
                <a:solidFill>
                  <a:srgbClr val="080912"/>
                </a:solidFill>
                <a:latin typeface="Arial MT"/>
                <a:cs typeface="Arial MT"/>
              </a:rPr>
              <a:t> </a:t>
            </a:r>
            <a:r>
              <a:rPr lang="en-GB" sz="6400" spc="-3" dirty="0">
                <a:solidFill>
                  <a:srgbClr val="080912"/>
                </a:solidFill>
                <a:latin typeface="Arial MT"/>
                <a:cs typeface="Arial MT"/>
              </a:rPr>
              <a:t>function.</a:t>
            </a:r>
            <a:endParaRPr lang="en-GB" sz="6400" dirty="0">
              <a:latin typeface="Arial MT"/>
              <a:cs typeface="Arial MT"/>
            </a:endParaRPr>
          </a:p>
          <a:p>
            <a:pPr marL="320378" indent="-156292">
              <a:spcBef>
                <a:spcPts val="689"/>
              </a:spcBef>
              <a:buFont typeface="Arial MT"/>
              <a:buAutoNum type="arabicPeriod" startAt="5"/>
              <a:tabLst>
                <a:tab pos="320810" algn="l"/>
              </a:tabLst>
            </a:pPr>
            <a:r>
              <a:rPr lang="en-GB" sz="6400" b="1" spc="-3" dirty="0">
                <a:solidFill>
                  <a:srgbClr val="080912"/>
                </a:solidFill>
                <a:latin typeface="Arial"/>
                <a:cs typeface="Arial"/>
              </a:rPr>
              <a:t>Recurrent</a:t>
            </a:r>
            <a:r>
              <a:rPr lang="en-GB" sz="6400" b="1" dirty="0">
                <a:solidFill>
                  <a:srgbClr val="080912"/>
                </a:solidFill>
                <a:latin typeface="Arial"/>
                <a:cs typeface="Arial"/>
              </a:rPr>
              <a:t> Neural</a:t>
            </a:r>
            <a:r>
              <a:rPr lang="en-GB" sz="6400" b="1" spc="-10" dirty="0">
                <a:solidFill>
                  <a:srgbClr val="080912"/>
                </a:solidFill>
                <a:latin typeface="Arial"/>
                <a:cs typeface="Arial"/>
              </a:rPr>
              <a:t> </a:t>
            </a:r>
            <a:r>
              <a:rPr lang="en-GB" sz="6400" b="1" dirty="0">
                <a:solidFill>
                  <a:srgbClr val="080912"/>
                </a:solidFill>
                <a:latin typeface="Arial"/>
                <a:cs typeface="Arial"/>
              </a:rPr>
              <a:t>Network</a:t>
            </a:r>
            <a:r>
              <a:rPr lang="en-GB" sz="6400" dirty="0">
                <a:solidFill>
                  <a:srgbClr val="080912"/>
                </a:solidFill>
                <a:latin typeface="Arial MT"/>
                <a:cs typeface="Arial MT"/>
              </a:rPr>
              <a:t>:</a:t>
            </a:r>
            <a:r>
              <a:rPr lang="en-GB" sz="6400" spc="-3" dirty="0">
                <a:solidFill>
                  <a:srgbClr val="080912"/>
                </a:solidFill>
                <a:latin typeface="Arial MT"/>
                <a:cs typeface="Arial MT"/>
              </a:rPr>
              <a:t> Tanh</a:t>
            </a:r>
            <a:r>
              <a:rPr lang="en-GB" sz="6400" dirty="0">
                <a:solidFill>
                  <a:srgbClr val="080912"/>
                </a:solidFill>
                <a:latin typeface="Arial MT"/>
                <a:cs typeface="Arial MT"/>
              </a:rPr>
              <a:t> </a:t>
            </a:r>
            <a:r>
              <a:rPr lang="en-GB" sz="6400" spc="-3" dirty="0">
                <a:solidFill>
                  <a:srgbClr val="080912"/>
                </a:solidFill>
                <a:latin typeface="Arial MT"/>
                <a:cs typeface="Arial MT"/>
              </a:rPr>
              <a:t>and/or</a:t>
            </a:r>
            <a:r>
              <a:rPr lang="en-GB" sz="6400" spc="3" dirty="0">
                <a:solidFill>
                  <a:srgbClr val="080912"/>
                </a:solidFill>
                <a:latin typeface="Arial MT"/>
                <a:cs typeface="Arial MT"/>
              </a:rPr>
              <a:t> </a:t>
            </a:r>
            <a:r>
              <a:rPr lang="en-GB" sz="6400" dirty="0">
                <a:solidFill>
                  <a:srgbClr val="080912"/>
                </a:solidFill>
                <a:latin typeface="Arial MT"/>
                <a:cs typeface="Arial MT"/>
              </a:rPr>
              <a:t>Sigmoid</a:t>
            </a:r>
            <a:r>
              <a:rPr lang="en-GB" sz="6400" spc="3" dirty="0">
                <a:solidFill>
                  <a:srgbClr val="080912"/>
                </a:solidFill>
                <a:latin typeface="Arial MT"/>
                <a:cs typeface="Arial MT"/>
              </a:rPr>
              <a:t> </a:t>
            </a:r>
            <a:r>
              <a:rPr lang="en-GB" sz="6400" spc="-3" dirty="0">
                <a:solidFill>
                  <a:srgbClr val="080912"/>
                </a:solidFill>
                <a:latin typeface="Arial MT"/>
                <a:cs typeface="Arial MT"/>
              </a:rPr>
              <a:t>activation</a:t>
            </a:r>
            <a:r>
              <a:rPr lang="en-GB" sz="6400" spc="7" dirty="0">
                <a:solidFill>
                  <a:srgbClr val="080912"/>
                </a:solidFill>
                <a:latin typeface="Arial MT"/>
                <a:cs typeface="Arial MT"/>
              </a:rPr>
              <a:t> </a:t>
            </a:r>
            <a:r>
              <a:rPr lang="en-GB" sz="6400" spc="-3" dirty="0">
                <a:solidFill>
                  <a:srgbClr val="080912"/>
                </a:solidFill>
                <a:latin typeface="Arial MT"/>
                <a:cs typeface="Arial MT"/>
              </a:rPr>
              <a:t>function.</a:t>
            </a:r>
            <a:endParaRPr lang="en-GB" sz="6400" dirty="0">
              <a:latin typeface="Arial MT"/>
              <a:cs typeface="Arial MT"/>
            </a:endParaRPr>
          </a:p>
          <a:p>
            <a:endParaRPr lang="en-PK" dirty="0"/>
          </a:p>
        </p:txBody>
      </p:sp>
      <p:sp>
        <p:nvSpPr>
          <p:cNvPr id="4" name="Slide Number Placeholder 3">
            <a:extLst>
              <a:ext uri="{FF2B5EF4-FFF2-40B4-BE49-F238E27FC236}">
                <a16:creationId xmlns:a16="http://schemas.microsoft.com/office/drawing/2014/main" id="{D48CDCF5-80B2-ECA2-2733-56DCBFEDCA76}"/>
              </a:ext>
            </a:extLst>
          </p:cNvPr>
          <p:cNvSpPr>
            <a:spLocks noGrp="1"/>
          </p:cNvSpPr>
          <p:nvPr>
            <p:ph type="sldNum" sz="quarter" idx="12"/>
          </p:nvPr>
        </p:nvSpPr>
        <p:spPr/>
        <p:txBody>
          <a:bodyPr/>
          <a:lstStyle/>
          <a:p>
            <a:fld id="{9CD9A578-84A4-4247-B01E-A84B9E2DF7BB}" type="slidenum">
              <a:rPr lang="en-PK" smtClean="0"/>
              <a:t>21</a:t>
            </a:fld>
            <a:endParaRPr lang="en-PK"/>
          </a:p>
        </p:txBody>
      </p:sp>
    </p:spTree>
    <p:extLst>
      <p:ext uri="{BB962C8B-B14F-4D97-AF65-F5344CB8AC3E}">
        <p14:creationId xmlns:p14="http://schemas.microsoft.com/office/powerpoint/2010/main" val="721305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06986" y="208230"/>
            <a:ext cx="6301212" cy="6391746"/>
          </a:xfrm>
          <a:prstGeom prst="rect">
            <a:avLst/>
          </a:prstGeom>
        </p:spPr>
      </p:pic>
      <p:sp>
        <p:nvSpPr>
          <p:cNvPr id="3" name="Slide Number Placeholder 2">
            <a:extLst>
              <a:ext uri="{FF2B5EF4-FFF2-40B4-BE49-F238E27FC236}">
                <a16:creationId xmlns:a16="http://schemas.microsoft.com/office/drawing/2014/main" id="{7CF691AC-7573-CF00-8357-B0A0696DEA81}"/>
              </a:ext>
            </a:extLst>
          </p:cNvPr>
          <p:cNvSpPr>
            <a:spLocks noGrp="1"/>
          </p:cNvSpPr>
          <p:nvPr>
            <p:ph type="sldNum" sz="quarter" idx="12"/>
          </p:nvPr>
        </p:nvSpPr>
        <p:spPr/>
        <p:txBody>
          <a:bodyPr/>
          <a:lstStyle/>
          <a:p>
            <a:fld id="{9CD9A578-84A4-4247-B01E-A84B9E2DF7BB}" type="slidenum">
              <a:rPr lang="en-PK" smtClean="0"/>
              <a:t>22</a:t>
            </a:fld>
            <a:endParaRPr lang="en-PK"/>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1067965"/>
            <a:ext cx="9875520" cy="439631"/>
          </a:xfrm>
          <a:prstGeom prst="rect">
            <a:avLst/>
          </a:prstGeom>
        </p:spPr>
        <p:txBody>
          <a:bodyPr vert="horz" wrap="square" lIns="0" tIns="8659" rIns="0" bIns="0" rtlCol="0" anchor="ctr">
            <a:spAutoFit/>
          </a:bodyPr>
          <a:lstStyle/>
          <a:p>
            <a:pPr marL="8659">
              <a:lnSpc>
                <a:spcPct val="100000"/>
              </a:lnSpc>
              <a:spcBef>
                <a:spcPts val="68"/>
              </a:spcBef>
            </a:pPr>
            <a:r>
              <a:rPr sz="2800" spc="-24" dirty="0"/>
              <a:t>Neural</a:t>
            </a:r>
            <a:r>
              <a:rPr sz="2800" spc="-61" dirty="0"/>
              <a:t> </a:t>
            </a:r>
            <a:r>
              <a:rPr sz="2800" spc="-27" dirty="0"/>
              <a:t>Networks</a:t>
            </a:r>
            <a:r>
              <a:rPr sz="2800" spc="-55" dirty="0"/>
              <a:t> </a:t>
            </a:r>
            <a:r>
              <a:rPr sz="2800" spc="-27" dirty="0"/>
              <a:t>Activation</a:t>
            </a:r>
            <a:r>
              <a:rPr sz="2800" spc="-58" dirty="0"/>
              <a:t> </a:t>
            </a:r>
            <a:r>
              <a:rPr sz="2800" spc="-27" dirty="0"/>
              <a:t>Functions</a:t>
            </a:r>
            <a:r>
              <a:rPr sz="2800" spc="-48" dirty="0"/>
              <a:t> </a:t>
            </a:r>
            <a:r>
              <a:rPr sz="2800" spc="-17" dirty="0"/>
              <a:t>in</a:t>
            </a:r>
            <a:r>
              <a:rPr sz="2800" spc="-58" dirty="0"/>
              <a:t> </a:t>
            </a:r>
            <a:r>
              <a:rPr sz="2800" spc="-3" dirty="0"/>
              <a:t>a</a:t>
            </a:r>
            <a:r>
              <a:rPr sz="2800" spc="-58" dirty="0"/>
              <a:t> </a:t>
            </a:r>
            <a:r>
              <a:rPr sz="2800" spc="-27" dirty="0"/>
              <a:t>Nutshell</a:t>
            </a:r>
            <a:endParaRPr sz="2800" dirty="0"/>
          </a:p>
        </p:txBody>
      </p:sp>
      <p:sp>
        <p:nvSpPr>
          <p:cNvPr id="4" name="Content Placeholder 3">
            <a:extLst>
              <a:ext uri="{FF2B5EF4-FFF2-40B4-BE49-F238E27FC236}">
                <a16:creationId xmlns:a16="http://schemas.microsoft.com/office/drawing/2014/main" id="{DC1D5ED8-C9A4-DD94-6971-5FB034DF5B78}"/>
              </a:ext>
            </a:extLst>
          </p:cNvPr>
          <p:cNvSpPr>
            <a:spLocks noGrp="1"/>
          </p:cNvSpPr>
          <p:nvPr>
            <p:ph idx="1"/>
          </p:nvPr>
        </p:nvSpPr>
        <p:spPr>
          <a:xfrm>
            <a:off x="1143000" y="1631887"/>
            <a:ext cx="9872871" cy="4038600"/>
          </a:xfrm>
        </p:spPr>
        <p:txBody>
          <a:bodyPr>
            <a:normAutofit fontScale="92500" lnSpcReduction="20000"/>
          </a:bodyPr>
          <a:lstStyle/>
          <a:p>
            <a:pPr marL="320378" indent="-156292">
              <a:spcBef>
                <a:spcPts val="685"/>
              </a:spcBef>
              <a:buSzPct val="74074"/>
              <a:buFont typeface="Symbol"/>
              <a:buChar char=""/>
              <a:tabLst>
                <a:tab pos="320378" algn="l"/>
                <a:tab pos="320810" algn="l"/>
              </a:tabLst>
            </a:pPr>
            <a:r>
              <a:rPr lang="en-GB" sz="2400" dirty="0">
                <a:solidFill>
                  <a:srgbClr val="080912"/>
                </a:solidFill>
                <a:latin typeface="Arial MT"/>
                <a:cs typeface="Arial MT"/>
              </a:rPr>
              <a:t>Activation </a:t>
            </a:r>
            <a:r>
              <a:rPr lang="en-GB" sz="2400" spc="-3" dirty="0">
                <a:solidFill>
                  <a:srgbClr val="080912"/>
                </a:solidFill>
                <a:latin typeface="Arial MT"/>
                <a:cs typeface="Arial MT"/>
              </a:rPr>
              <a:t>Functions </a:t>
            </a:r>
            <a:r>
              <a:rPr lang="en-GB" sz="2400" dirty="0">
                <a:solidFill>
                  <a:srgbClr val="080912"/>
                </a:solidFill>
                <a:latin typeface="Arial MT"/>
                <a:cs typeface="Arial MT"/>
              </a:rPr>
              <a:t>are</a:t>
            </a:r>
            <a:r>
              <a:rPr lang="en-GB" sz="2400" spc="7" dirty="0">
                <a:solidFill>
                  <a:srgbClr val="080912"/>
                </a:solidFill>
                <a:latin typeface="Arial MT"/>
                <a:cs typeface="Arial MT"/>
              </a:rPr>
              <a:t> </a:t>
            </a:r>
            <a:r>
              <a:rPr lang="en-GB" sz="2400" spc="-3" dirty="0">
                <a:solidFill>
                  <a:srgbClr val="080912"/>
                </a:solidFill>
                <a:latin typeface="Arial MT"/>
                <a:cs typeface="Arial MT"/>
              </a:rPr>
              <a:t>used</a:t>
            </a:r>
            <a:r>
              <a:rPr lang="en-GB" sz="2400" spc="3" dirty="0">
                <a:solidFill>
                  <a:srgbClr val="080912"/>
                </a:solidFill>
                <a:latin typeface="Arial MT"/>
                <a:cs typeface="Arial MT"/>
              </a:rPr>
              <a:t> </a:t>
            </a:r>
            <a:r>
              <a:rPr lang="en-GB" sz="2400" spc="-3" dirty="0">
                <a:solidFill>
                  <a:srgbClr val="080912"/>
                </a:solidFill>
                <a:latin typeface="Arial MT"/>
                <a:cs typeface="Arial MT"/>
              </a:rPr>
              <a:t>to</a:t>
            </a:r>
            <a:r>
              <a:rPr lang="en-GB" sz="2400" spc="3" dirty="0">
                <a:solidFill>
                  <a:srgbClr val="080912"/>
                </a:solidFill>
                <a:latin typeface="Arial MT"/>
                <a:cs typeface="Arial MT"/>
              </a:rPr>
              <a:t> </a:t>
            </a:r>
            <a:r>
              <a:rPr lang="en-GB" sz="2400" spc="-3" dirty="0">
                <a:solidFill>
                  <a:srgbClr val="080912"/>
                </a:solidFill>
                <a:latin typeface="Arial MT"/>
                <a:cs typeface="Arial MT"/>
              </a:rPr>
              <a:t>introduce</a:t>
            </a:r>
            <a:r>
              <a:rPr lang="en-GB" sz="2400" spc="7" dirty="0">
                <a:solidFill>
                  <a:srgbClr val="080912"/>
                </a:solidFill>
                <a:latin typeface="Arial MT"/>
                <a:cs typeface="Arial MT"/>
              </a:rPr>
              <a:t> </a:t>
            </a:r>
            <a:r>
              <a:rPr lang="en-GB" sz="2400" spc="-3" dirty="0">
                <a:solidFill>
                  <a:srgbClr val="080912"/>
                </a:solidFill>
                <a:latin typeface="Arial MT"/>
                <a:cs typeface="Arial MT"/>
              </a:rPr>
              <a:t>non-linearity</a:t>
            </a:r>
            <a:r>
              <a:rPr lang="en-GB" sz="2400" spc="3" dirty="0">
                <a:solidFill>
                  <a:srgbClr val="080912"/>
                </a:solidFill>
                <a:latin typeface="Arial MT"/>
                <a:cs typeface="Arial MT"/>
              </a:rPr>
              <a:t> </a:t>
            </a:r>
            <a:r>
              <a:rPr lang="en-GB" sz="2400" dirty="0">
                <a:solidFill>
                  <a:srgbClr val="080912"/>
                </a:solidFill>
                <a:latin typeface="Arial MT"/>
                <a:cs typeface="Arial MT"/>
              </a:rPr>
              <a:t>in</a:t>
            </a:r>
            <a:r>
              <a:rPr lang="en-GB" sz="2400" spc="7"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network.</a:t>
            </a:r>
            <a:endParaRPr lang="en-GB" sz="2400" dirty="0">
              <a:latin typeface="Arial MT"/>
              <a:cs typeface="Arial MT"/>
            </a:endParaRPr>
          </a:p>
          <a:p>
            <a:pPr marL="320378" marR="35934" indent="-156292">
              <a:lnSpc>
                <a:spcPct val="116300"/>
              </a:lnSpc>
              <a:spcBef>
                <a:spcPts val="501"/>
              </a:spcBef>
              <a:buSzPct val="74074"/>
              <a:buFont typeface="Symbol"/>
              <a:buChar char=""/>
              <a:tabLst>
                <a:tab pos="320378" algn="l"/>
                <a:tab pos="320810" algn="l"/>
              </a:tabLst>
            </a:pPr>
            <a:r>
              <a:rPr lang="en-GB" sz="2400" dirty="0">
                <a:solidFill>
                  <a:srgbClr val="080912"/>
                </a:solidFill>
                <a:latin typeface="Arial MT"/>
                <a:cs typeface="Arial MT"/>
              </a:rPr>
              <a:t>A</a:t>
            </a:r>
            <a:r>
              <a:rPr lang="en-GB" sz="2400" spc="-7" dirty="0">
                <a:solidFill>
                  <a:srgbClr val="080912"/>
                </a:solidFill>
                <a:latin typeface="Arial MT"/>
                <a:cs typeface="Arial MT"/>
              </a:rPr>
              <a:t> </a:t>
            </a:r>
            <a:r>
              <a:rPr lang="en-GB" sz="2400" dirty="0">
                <a:solidFill>
                  <a:srgbClr val="080912"/>
                </a:solidFill>
                <a:latin typeface="Arial MT"/>
                <a:cs typeface="Arial MT"/>
              </a:rPr>
              <a:t>neural</a:t>
            </a:r>
            <a:r>
              <a:rPr lang="en-GB" sz="2400" spc="3" dirty="0">
                <a:solidFill>
                  <a:srgbClr val="080912"/>
                </a:solidFill>
                <a:latin typeface="Arial MT"/>
                <a:cs typeface="Arial MT"/>
              </a:rPr>
              <a:t> </a:t>
            </a:r>
            <a:r>
              <a:rPr lang="en-GB" sz="2400" spc="-3" dirty="0">
                <a:solidFill>
                  <a:srgbClr val="080912"/>
                </a:solidFill>
                <a:latin typeface="Arial MT"/>
                <a:cs typeface="Arial MT"/>
              </a:rPr>
              <a:t>network</a:t>
            </a:r>
            <a:r>
              <a:rPr lang="en-GB" sz="2400" spc="3" dirty="0">
                <a:solidFill>
                  <a:srgbClr val="080912"/>
                </a:solidFill>
                <a:latin typeface="Arial MT"/>
                <a:cs typeface="Arial MT"/>
              </a:rPr>
              <a:t> </a:t>
            </a:r>
            <a:r>
              <a:rPr lang="en-GB" sz="2400" spc="-3" dirty="0">
                <a:solidFill>
                  <a:srgbClr val="080912"/>
                </a:solidFill>
                <a:latin typeface="Arial MT"/>
                <a:cs typeface="Arial MT"/>
              </a:rPr>
              <a:t>will</a:t>
            </a:r>
            <a:r>
              <a:rPr lang="en-GB" sz="2400" dirty="0">
                <a:solidFill>
                  <a:srgbClr val="080912"/>
                </a:solidFill>
                <a:latin typeface="Arial MT"/>
                <a:cs typeface="Arial MT"/>
              </a:rPr>
              <a:t> almost</a:t>
            </a:r>
            <a:r>
              <a:rPr lang="en-GB" sz="2400" spc="-3" dirty="0">
                <a:solidFill>
                  <a:srgbClr val="080912"/>
                </a:solidFill>
                <a:latin typeface="Arial MT"/>
                <a:cs typeface="Arial MT"/>
              </a:rPr>
              <a:t> </a:t>
            </a:r>
            <a:r>
              <a:rPr lang="en-GB" sz="2400" dirty="0">
                <a:solidFill>
                  <a:srgbClr val="080912"/>
                </a:solidFill>
                <a:latin typeface="Arial MT"/>
                <a:cs typeface="Arial MT"/>
              </a:rPr>
              <a:t>always</a:t>
            </a:r>
            <a:r>
              <a:rPr lang="en-GB" sz="2400" spc="3" dirty="0">
                <a:solidFill>
                  <a:srgbClr val="080912"/>
                </a:solidFill>
                <a:latin typeface="Arial MT"/>
                <a:cs typeface="Arial MT"/>
              </a:rPr>
              <a:t> </a:t>
            </a:r>
            <a:r>
              <a:rPr lang="en-GB" sz="2400" spc="-7" dirty="0">
                <a:solidFill>
                  <a:srgbClr val="080912"/>
                </a:solidFill>
                <a:latin typeface="Arial MT"/>
                <a:cs typeface="Arial MT"/>
              </a:rPr>
              <a:t>have</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same</a:t>
            </a:r>
            <a:r>
              <a:rPr lang="en-GB" sz="2400" spc="-7" dirty="0">
                <a:solidFill>
                  <a:srgbClr val="080912"/>
                </a:solidFill>
                <a:latin typeface="Arial MT"/>
                <a:cs typeface="Arial MT"/>
              </a:rPr>
              <a:t> </a:t>
            </a:r>
            <a:r>
              <a:rPr lang="en-GB" sz="2400" spc="-3" dirty="0">
                <a:solidFill>
                  <a:srgbClr val="080912"/>
                </a:solidFill>
                <a:latin typeface="Arial MT"/>
                <a:cs typeface="Arial MT"/>
              </a:rPr>
              <a:t>activation</a:t>
            </a:r>
            <a:r>
              <a:rPr lang="en-GB" sz="2400" spc="3" dirty="0">
                <a:solidFill>
                  <a:srgbClr val="080912"/>
                </a:solidFill>
                <a:latin typeface="Arial MT"/>
                <a:cs typeface="Arial MT"/>
              </a:rPr>
              <a:t> </a:t>
            </a:r>
            <a:r>
              <a:rPr lang="en-GB" sz="2400" spc="-3" dirty="0">
                <a:solidFill>
                  <a:srgbClr val="080912"/>
                </a:solidFill>
                <a:latin typeface="Arial MT"/>
                <a:cs typeface="Arial MT"/>
              </a:rPr>
              <a:t>function</a:t>
            </a:r>
            <a:r>
              <a:rPr lang="en-GB" sz="2400" spc="3" dirty="0">
                <a:solidFill>
                  <a:srgbClr val="080912"/>
                </a:solidFill>
                <a:latin typeface="Arial MT"/>
                <a:cs typeface="Arial MT"/>
              </a:rPr>
              <a:t> </a:t>
            </a:r>
            <a:r>
              <a:rPr lang="en-GB" sz="2400" dirty="0">
                <a:solidFill>
                  <a:srgbClr val="080912"/>
                </a:solidFill>
                <a:latin typeface="Arial MT"/>
                <a:cs typeface="Arial MT"/>
              </a:rPr>
              <a:t>in all</a:t>
            </a:r>
            <a:r>
              <a:rPr lang="en-GB" sz="2400" spc="-10" dirty="0">
                <a:solidFill>
                  <a:srgbClr val="080912"/>
                </a:solidFill>
                <a:latin typeface="Arial MT"/>
                <a:cs typeface="Arial MT"/>
              </a:rPr>
              <a:t> </a:t>
            </a:r>
            <a:r>
              <a:rPr lang="en-GB" sz="2400" dirty="0">
                <a:solidFill>
                  <a:srgbClr val="080912"/>
                </a:solidFill>
                <a:latin typeface="Arial MT"/>
                <a:cs typeface="Arial MT"/>
              </a:rPr>
              <a:t>hidden </a:t>
            </a:r>
            <a:r>
              <a:rPr lang="en-GB" sz="2400" spc="3" dirty="0">
                <a:solidFill>
                  <a:srgbClr val="080912"/>
                </a:solidFill>
                <a:latin typeface="Arial MT"/>
                <a:cs typeface="Arial MT"/>
              </a:rPr>
              <a:t> </a:t>
            </a:r>
            <a:r>
              <a:rPr lang="en-GB" sz="2400" spc="-3" dirty="0">
                <a:solidFill>
                  <a:srgbClr val="080912"/>
                </a:solidFill>
                <a:latin typeface="Arial MT"/>
                <a:cs typeface="Arial MT"/>
              </a:rPr>
              <a:t>layers.</a:t>
            </a:r>
            <a:r>
              <a:rPr lang="en-GB" sz="2400" dirty="0">
                <a:solidFill>
                  <a:srgbClr val="080912"/>
                </a:solidFill>
                <a:latin typeface="Arial MT"/>
                <a:cs typeface="Arial MT"/>
              </a:rPr>
              <a:t> </a:t>
            </a:r>
            <a:r>
              <a:rPr lang="en-GB" sz="2400" spc="-3" dirty="0">
                <a:solidFill>
                  <a:srgbClr val="080912"/>
                </a:solidFill>
                <a:latin typeface="Arial MT"/>
                <a:cs typeface="Arial MT"/>
              </a:rPr>
              <a:t>This</a:t>
            </a:r>
            <a:r>
              <a:rPr lang="en-GB" sz="2400" spc="10" dirty="0">
                <a:solidFill>
                  <a:srgbClr val="080912"/>
                </a:solidFill>
                <a:latin typeface="Arial MT"/>
                <a:cs typeface="Arial MT"/>
              </a:rPr>
              <a:t> </a:t>
            </a:r>
            <a:r>
              <a:rPr lang="en-GB" sz="2400" spc="-3" dirty="0">
                <a:solidFill>
                  <a:srgbClr val="080912"/>
                </a:solidFill>
                <a:latin typeface="Arial MT"/>
                <a:cs typeface="Arial MT"/>
              </a:rPr>
              <a:t>activation</a:t>
            </a:r>
            <a:r>
              <a:rPr lang="en-GB" sz="2400" spc="7" dirty="0">
                <a:solidFill>
                  <a:srgbClr val="080912"/>
                </a:solidFill>
                <a:latin typeface="Arial MT"/>
                <a:cs typeface="Arial MT"/>
              </a:rPr>
              <a:t> </a:t>
            </a:r>
            <a:r>
              <a:rPr lang="en-GB" sz="2400" spc="-3" dirty="0">
                <a:solidFill>
                  <a:srgbClr val="080912"/>
                </a:solidFill>
                <a:latin typeface="Arial MT"/>
                <a:cs typeface="Arial MT"/>
              </a:rPr>
              <a:t>function</a:t>
            </a:r>
            <a:r>
              <a:rPr lang="en-GB" sz="2400" dirty="0">
                <a:solidFill>
                  <a:srgbClr val="080912"/>
                </a:solidFill>
                <a:latin typeface="Arial MT"/>
                <a:cs typeface="Arial MT"/>
              </a:rPr>
              <a:t> should</a:t>
            </a:r>
            <a:r>
              <a:rPr lang="en-GB" sz="2400" spc="7" dirty="0">
                <a:solidFill>
                  <a:srgbClr val="080912"/>
                </a:solidFill>
                <a:latin typeface="Arial MT"/>
                <a:cs typeface="Arial MT"/>
              </a:rPr>
              <a:t> </a:t>
            </a:r>
            <a:r>
              <a:rPr lang="en-GB" sz="2400" spc="-3" dirty="0">
                <a:solidFill>
                  <a:srgbClr val="080912"/>
                </a:solidFill>
                <a:latin typeface="Arial MT"/>
                <a:cs typeface="Arial MT"/>
              </a:rPr>
              <a:t>be</a:t>
            </a:r>
            <a:r>
              <a:rPr lang="en-GB" sz="2400" dirty="0">
                <a:solidFill>
                  <a:srgbClr val="080912"/>
                </a:solidFill>
                <a:latin typeface="Arial MT"/>
                <a:cs typeface="Arial MT"/>
              </a:rPr>
              <a:t> </a:t>
            </a:r>
            <a:r>
              <a:rPr lang="en-GB" sz="2400" spc="-3" dirty="0">
                <a:solidFill>
                  <a:srgbClr val="080912"/>
                </a:solidFill>
                <a:latin typeface="Arial MT"/>
                <a:cs typeface="Arial MT"/>
              </a:rPr>
              <a:t>differentiable</a:t>
            </a:r>
            <a:r>
              <a:rPr lang="en-GB" sz="2400" spc="7" dirty="0">
                <a:solidFill>
                  <a:srgbClr val="080912"/>
                </a:solidFill>
                <a:latin typeface="Arial MT"/>
                <a:cs typeface="Arial MT"/>
              </a:rPr>
              <a:t> </a:t>
            </a:r>
            <a:r>
              <a:rPr lang="en-GB" sz="2400" dirty="0">
                <a:solidFill>
                  <a:srgbClr val="080912"/>
                </a:solidFill>
                <a:latin typeface="Arial MT"/>
                <a:cs typeface="Arial MT"/>
              </a:rPr>
              <a:t>so</a:t>
            </a:r>
            <a:r>
              <a:rPr lang="en-GB" sz="2400" spc="10" dirty="0">
                <a:solidFill>
                  <a:srgbClr val="080912"/>
                </a:solidFill>
                <a:latin typeface="Arial MT"/>
                <a:cs typeface="Arial MT"/>
              </a:rPr>
              <a:t> </a:t>
            </a:r>
            <a:r>
              <a:rPr lang="en-GB" sz="2400" spc="-3" dirty="0">
                <a:solidFill>
                  <a:srgbClr val="080912"/>
                </a:solidFill>
                <a:latin typeface="Arial MT"/>
                <a:cs typeface="Arial MT"/>
              </a:rPr>
              <a:t>that</a:t>
            </a:r>
            <a:r>
              <a:rPr lang="en-GB" sz="2400"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parameters</a:t>
            </a:r>
            <a:r>
              <a:rPr lang="en-GB" sz="2400" spc="7" dirty="0">
                <a:solidFill>
                  <a:srgbClr val="080912"/>
                </a:solidFill>
                <a:latin typeface="Arial MT"/>
                <a:cs typeface="Arial MT"/>
              </a:rPr>
              <a:t> </a:t>
            </a:r>
            <a:r>
              <a:rPr lang="en-GB" sz="2400" dirty="0">
                <a:solidFill>
                  <a:srgbClr val="080912"/>
                </a:solidFill>
                <a:latin typeface="Arial MT"/>
                <a:cs typeface="Arial MT"/>
              </a:rPr>
              <a:t>of</a:t>
            </a:r>
            <a:r>
              <a:rPr lang="en-GB" sz="2400" spc="3" dirty="0">
                <a:solidFill>
                  <a:srgbClr val="080912"/>
                </a:solidFill>
                <a:latin typeface="Arial MT"/>
                <a:cs typeface="Arial MT"/>
              </a:rPr>
              <a:t> </a:t>
            </a:r>
            <a:r>
              <a:rPr lang="en-GB" sz="2400" spc="-3" dirty="0">
                <a:solidFill>
                  <a:srgbClr val="080912"/>
                </a:solidFill>
                <a:latin typeface="Arial MT"/>
                <a:cs typeface="Arial MT"/>
              </a:rPr>
              <a:t>the </a:t>
            </a:r>
            <a:r>
              <a:rPr lang="en-GB" sz="2400" spc="-245" dirty="0">
                <a:solidFill>
                  <a:srgbClr val="080912"/>
                </a:solidFill>
                <a:latin typeface="Arial MT"/>
                <a:cs typeface="Arial MT"/>
              </a:rPr>
              <a:t> </a:t>
            </a:r>
            <a:r>
              <a:rPr lang="en-GB" sz="2400" spc="-3" dirty="0">
                <a:solidFill>
                  <a:srgbClr val="080912"/>
                </a:solidFill>
                <a:latin typeface="Arial MT"/>
                <a:cs typeface="Arial MT"/>
              </a:rPr>
              <a:t>network</a:t>
            </a:r>
            <a:r>
              <a:rPr lang="en-GB" sz="2400" dirty="0">
                <a:solidFill>
                  <a:srgbClr val="080912"/>
                </a:solidFill>
                <a:latin typeface="Arial MT"/>
                <a:cs typeface="Arial MT"/>
              </a:rPr>
              <a:t> </a:t>
            </a:r>
            <a:r>
              <a:rPr lang="en-GB" sz="2400" spc="-3" dirty="0">
                <a:solidFill>
                  <a:srgbClr val="080912"/>
                </a:solidFill>
                <a:latin typeface="Arial MT"/>
                <a:cs typeface="Arial MT"/>
              </a:rPr>
              <a:t>are</a:t>
            </a:r>
            <a:r>
              <a:rPr lang="en-GB" sz="2400" dirty="0">
                <a:solidFill>
                  <a:srgbClr val="080912"/>
                </a:solidFill>
                <a:latin typeface="Arial MT"/>
                <a:cs typeface="Arial MT"/>
              </a:rPr>
              <a:t> </a:t>
            </a:r>
            <a:r>
              <a:rPr lang="en-GB" sz="2400" spc="-3" dirty="0">
                <a:solidFill>
                  <a:srgbClr val="080912"/>
                </a:solidFill>
                <a:latin typeface="Arial MT"/>
                <a:cs typeface="Arial MT"/>
              </a:rPr>
              <a:t>learned</a:t>
            </a:r>
            <a:r>
              <a:rPr lang="en-GB" sz="2400" spc="-10" dirty="0">
                <a:solidFill>
                  <a:srgbClr val="080912"/>
                </a:solidFill>
                <a:latin typeface="Arial MT"/>
                <a:cs typeface="Arial MT"/>
              </a:rPr>
              <a:t> </a:t>
            </a:r>
            <a:r>
              <a:rPr lang="en-GB" sz="2400" dirty="0">
                <a:solidFill>
                  <a:srgbClr val="080912"/>
                </a:solidFill>
                <a:latin typeface="Arial MT"/>
                <a:cs typeface="Arial MT"/>
              </a:rPr>
              <a:t>in </a:t>
            </a:r>
            <a:r>
              <a:rPr lang="en-GB" sz="2400" spc="-3" dirty="0">
                <a:solidFill>
                  <a:srgbClr val="080912"/>
                </a:solidFill>
                <a:latin typeface="Arial MT"/>
                <a:cs typeface="Arial MT"/>
              </a:rPr>
              <a:t>backpropagation.</a:t>
            </a:r>
            <a:endParaRPr lang="en-GB" sz="2400" dirty="0">
              <a:latin typeface="Arial MT"/>
              <a:cs typeface="Arial MT"/>
            </a:endParaRPr>
          </a:p>
          <a:p>
            <a:pPr marL="320378" indent="-156292">
              <a:spcBef>
                <a:spcPts val="678"/>
              </a:spcBef>
              <a:buSzPct val="74074"/>
              <a:buFont typeface="Symbol"/>
              <a:buChar char=""/>
              <a:tabLst>
                <a:tab pos="320378" algn="l"/>
                <a:tab pos="320810" algn="l"/>
              </a:tabLst>
            </a:pPr>
            <a:r>
              <a:rPr lang="en-GB" sz="2400" dirty="0" err="1">
                <a:solidFill>
                  <a:srgbClr val="080912"/>
                </a:solidFill>
                <a:latin typeface="Arial MT"/>
                <a:cs typeface="Arial MT"/>
              </a:rPr>
              <a:t>ReLU</a:t>
            </a:r>
            <a:r>
              <a:rPr lang="en-GB" sz="2400" dirty="0">
                <a:solidFill>
                  <a:srgbClr val="080912"/>
                </a:solidFill>
                <a:latin typeface="Arial MT"/>
                <a:cs typeface="Arial MT"/>
              </a:rPr>
              <a:t> </a:t>
            </a:r>
            <a:r>
              <a:rPr lang="en-GB" sz="2400" spc="-7" dirty="0">
                <a:solidFill>
                  <a:srgbClr val="080912"/>
                </a:solidFill>
                <a:latin typeface="Arial MT"/>
                <a:cs typeface="Arial MT"/>
              </a:rPr>
              <a:t>is</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most</a:t>
            </a:r>
            <a:r>
              <a:rPr lang="en-GB" sz="2400" spc="-14" dirty="0">
                <a:solidFill>
                  <a:srgbClr val="080912"/>
                </a:solidFill>
                <a:latin typeface="Arial MT"/>
                <a:cs typeface="Arial MT"/>
              </a:rPr>
              <a:t> </a:t>
            </a:r>
            <a:r>
              <a:rPr lang="en-GB" sz="2400" dirty="0">
                <a:solidFill>
                  <a:srgbClr val="080912"/>
                </a:solidFill>
                <a:latin typeface="Arial MT"/>
                <a:cs typeface="Arial MT"/>
              </a:rPr>
              <a:t>commonly</a:t>
            </a:r>
            <a:r>
              <a:rPr lang="en-GB" sz="2400" spc="3" dirty="0">
                <a:solidFill>
                  <a:srgbClr val="080912"/>
                </a:solidFill>
                <a:latin typeface="Arial MT"/>
                <a:cs typeface="Arial MT"/>
              </a:rPr>
              <a:t> </a:t>
            </a:r>
            <a:r>
              <a:rPr lang="en-GB" sz="2400" spc="-3" dirty="0">
                <a:solidFill>
                  <a:srgbClr val="080912"/>
                </a:solidFill>
                <a:latin typeface="Arial MT"/>
                <a:cs typeface="Arial MT"/>
              </a:rPr>
              <a:t>used</a:t>
            </a:r>
            <a:r>
              <a:rPr lang="en-GB" sz="2400" dirty="0">
                <a:solidFill>
                  <a:srgbClr val="080912"/>
                </a:solidFill>
                <a:latin typeface="Arial MT"/>
                <a:cs typeface="Arial MT"/>
              </a:rPr>
              <a:t> </a:t>
            </a:r>
            <a:r>
              <a:rPr lang="en-GB" sz="2400" spc="-3" dirty="0">
                <a:solidFill>
                  <a:srgbClr val="080912"/>
                </a:solidFill>
                <a:latin typeface="Arial MT"/>
                <a:cs typeface="Arial MT"/>
              </a:rPr>
              <a:t>activation</a:t>
            </a:r>
            <a:r>
              <a:rPr lang="en-GB" sz="2400" spc="3" dirty="0">
                <a:solidFill>
                  <a:srgbClr val="080912"/>
                </a:solidFill>
                <a:latin typeface="Arial MT"/>
                <a:cs typeface="Arial MT"/>
              </a:rPr>
              <a:t> </a:t>
            </a:r>
            <a:r>
              <a:rPr lang="en-GB" sz="2400" spc="-3" dirty="0">
                <a:solidFill>
                  <a:srgbClr val="080912"/>
                </a:solidFill>
                <a:latin typeface="Arial MT"/>
                <a:cs typeface="Arial MT"/>
              </a:rPr>
              <a:t>function</a:t>
            </a:r>
            <a:r>
              <a:rPr lang="en-GB" sz="2400" spc="3" dirty="0">
                <a:solidFill>
                  <a:srgbClr val="080912"/>
                </a:solidFill>
                <a:latin typeface="Arial MT"/>
                <a:cs typeface="Arial MT"/>
              </a:rPr>
              <a:t> </a:t>
            </a:r>
            <a:r>
              <a:rPr lang="en-GB" sz="2400" spc="-3" dirty="0">
                <a:solidFill>
                  <a:srgbClr val="080912"/>
                </a:solidFill>
                <a:latin typeface="Arial MT"/>
                <a:cs typeface="Arial MT"/>
              </a:rPr>
              <a:t>for</a:t>
            </a:r>
            <a:r>
              <a:rPr lang="en-GB" sz="2400" dirty="0">
                <a:solidFill>
                  <a:srgbClr val="080912"/>
                </a:solidFill>
                <a:latin typeface="Arial MT"/>
                <a:cs typeface="Arial MT"/>
              </a:rPr>
              <a:t> </a:t>
            </a:r>
            <a:r>
              <a:rPr lang="en-GB" sz="2400" spc="-3" dirty="0">
                <a:solidFill>
                  <a:srgbClr val="080912"/>
                </a:solidFill>
                <a:latin typeface="Arial MT"/>
                <a:cs typeface="Arial MT"/>
              </a:rPr>
              <a:t>hidden</a:t>
            </a:r>
            <a:r>
              <a:rPr lang="en-GB" sz="2400" dirty="0">
                <a:solidFill>
                  <a:srgbClr val="080912"/>
                </a:solidFill>
                <a:latin typeface="Arial MT"/>
                <a:cs typeface="Arial MT"/>
              </a:rPr>
              <a:t> </a:t>
            </a:r>
            <a:r>
              <a:rPr lang="en-GB" sz="2400" spc="-3" dirty="0">
                <a:solidFill>
                  <a:srgbClr val="080912"/>
                </a:solidFill>
                <a:latin typeface="Arial MT"/>
                <a:cs typeface="Arial MT"/>
              </a:rPr>
              <a:t>layers.</a:t>
            </a:r>
            <a:endParaRPr lang="en-GB" sz="2400" dirty="0">
              <a:latin typeface="Arial MT"/>
              <a:cs typeface="Arial MT"/>
            </a:endParaRPr>
          </a:p>
          <a:p>
            <a:pPr marL="320378" marR="35068" indent="-156292">
              <a:lnSpc>
                <a:spcPct val="116300"/>
              </a:lnSpc>
              <a:spcBef>
                <a:spcPts val="501"/>
              </a:spcBef>
              <a:buSzPct val="74074"/>
              <a:buFont typeface="Symbol"/>
              <a:buChar char=""/>
              <a:tabLst>
                <a:tab pos="320378" algn="l"/>
                <a:tab pos="320810" algn="l"/>
              </a:tabLst>
            </a:pPr>
            <a:r>
              <a:rPr lang="en-GB" sz="2400" spc="-3" dirty="0">
                <a:solidFill>
                  <a:srgbClr val="080912"/>
                </a:solidFill>
                <a:latin typeface="Arial MT"/>
                <a:cs typeface="Arial MT"/>
              </a:rPr>
              <a:t>While</a:t>
            </a:r>
            <a:r>
              <a:rPr lang="en-GB" sz="2400" spc="7" dirty="0">
                <a:solidFill>
                  <a:srgbClr val="080912"/>
                </a:solidFill>
                <a:latin typeface="Arial MT"/>
                <a:cs typeface="Arial MT"/>
              </a:rPr>
              <a:t> </a:t>
            </a:r>
            <a:r>
              <a:rPr lang="en-GB" sz="2400" spc="-3" dirty="0">
                <a:solidFill>
                  <a:srgbClr val="080912"/>
                </a:solidFill>
                <a:latin typeface="Arial MT"/>
                <a:cs typeface="Arial MT"/>
              </a:rPr>
              <a:t>selecting </a:t>
            </a:r>
            <a:r>
              <a:rPr lang="en-GB" sz="2400" dirty="0">
                <a:solidFill>
                  <a:srgbClr val="080912"/>
                </a:solidFill>
                <a:latin typeface="Arial MT"/>
                <a:cs typeface="Arial MT"/>
              </a:rPr>
              <a:t>an</a:t>
            </a:r>
            <a:r>
              <a:rPr lang="en-GB" sz="2400" spc="7" dirty="0">
                <a:solidFill>
                  <a:srgbClr val="080912"/>
                </a:solidFill>
                <a:latin typeface="Arial MT"/>
                <a:cs typeface="Arial MT"/>
              </a:rPr>
              <a:t> </a:t>
            </a:r>
            <a:r>
              <a:rPr lang="en-GB" sz="2400" spc="-3" dirty="0">
                <a:solidFill>
                  <a:srgbClr val="080912"/>
                </a:solidFill>
                <a:latin typeface="Arial MT"/>
                <a:cs typeface="Arial MT"/>
              </a:rPr>
              <a:t>activation</a:t>
            </a:r>
            <a:r>
              <a:rPr lang="en-GB" sz="2400" spc="3" dirty="0">
                <a:solidFill>
                  <a:srgbClr val="080912"/>
                </a:solidFill>
                <a:latin typeface="Arial MT"/>
                <a:cs typeface="Arial MT"/>
              </a:rPr>
              <a:t> </a:t>
            </a:r>
            <a:r>
              <a:rPr lang="en-GB" sz="2400" spc="-3" dirty="0">
                <a:solidFill>
                  <a:srgbClr val="080912"/>
                </a:solidFill>
                <a:latin typeface="Arial MT"/>
                <a:cs typeface="Arial MT"/>
              </a:rPr>
              <a:t>function,</a:t>
            </a:r>
            <a:r>
              <a:rPr lang="en-GB" sz="2400" spc="3" dirty="0">
                <a:solidFill>
                  <a:srgbClr val="080912"/>
                </a:solidFill>
                <a:latin typeface="Arial MT"/>
                <a:cs typeface="Arial MT"/>
              </a:rPr>
              <a:t> </a:t>
            </a:r>
            <a:r>
              <a:rPr lang="en-GB" sz="2400" spc="-3" dirty="0">
                <a:solidFill>
                  <a:srgbClr val="080912"/>
                </a:solidFill>
                <a:latin typeface="Arial MT"/>
                <a:cs typeface="Arial MT"/>
              </a:rPr>
              <a:t>you</a:t>
            </a:r>
            <a:r>
              <a:rPr lang="en-GB" sz="2400" spc="7" dirty="0">
                <a:solidFill>
                  <a:srgbClr val="080912"/>
                </a:solidFill>
                <a:latin typeface="Arial MT"/>
                <a:cs typeface="Arial MT"/>
              </a:rPr>
              <a:t> </a:t>
            </a:r>
            <a:r>
              <a:rPr lang="en-GB" sz="2400" spc="-3" dirty="0">
                <a:solidFill>
                  <a:srgbClr val="080912"/>
                </a:solidFill>
                <a:latin typeface="Arial MT"/>
                <a:cs typeface="Arial MT"/>
              </a:rPr>
              <a:t>must</a:t>
            </a:r>
            <a:r>
              <a:rPr lang="en-GB" sz="2400" spc="3" dirty="0">
                <a:solidFill>
                  <a:srgbClr val="080912"/>
                </a:solidFill>
                <a:latin typeface="Arial MT"/>
                <a:cs typeface="Arial MT"/>
              </a:rPr>
              <a:t> </a:t>
            </a:r>
            <a:r>
              <a:rPr lang="en-GB" sz="2400" spc="-3" dirty="0">
                <a:solidFill>
                  <a:srgbClr val="080912"/>
                </a:solidFill>
                <a:latin typeface="Arial MT"/>
                <a:cs typeface="Arial MT"/>
              </a:rPr>
              <a:t>consider</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problems</a:t>
            </a:r>
            <a:r>
              <a:rPr lang="en-GB" sz="2400" spc="3" dirty="0">
                <a:solidFill>
                  <a:srgbClr val="080912"/>
                </a:solidFill>
                <a:latin typeface="Arial MT"/>
                <a:cs typeface="Arial MT"/>
              </a:rPr>
              <a:t> </a:t>
            </a:r>
            <a:r>
              <a:rPr lang="en-GB" sz="2400" dirty="0">
                <a:solidFill>
                  <a:srgbClr val="080912"/>
                </a:solidFill>
                <a:latin typeface="Arial MT"/>
                <a:cs typeface="Arial MT"/>
              </a:rPr>
              <a:t>it </a:t>
            </a:r>
            <a:r>
              <a:rPr lang="en-GB" sz="2400" spc="-3" dirty="0">
                <a:solidFill>
                  <a:srgbClr val="080912"/>
                </a:solidFill>
                <a:latin typeface="Arial MT"/>
                <a:cs typeface="Arial MT"/>
              </a:rPr>
              <a:t>might</a:t>
            </a:r>
            <a:r>
              <a:rPr lang="en-GB" sz="2400" spc="3" dirty="0">
                <a:solidFill>
                  <a:srgbClr val="080912"/>
                </a:solidFill>
                <a:latin typeface="Arial MT"/>
                <a:cs typeface="Arial MT"/>
              </a:rPr>
              <a:t> </a:t>
            </a:r>
            <a:r>
              <a:rPr lang="en-GB" sz="2400" dirty="0">
                <a:solidFill>
                  <a:srgbClr val="080912"/>
                </a:solidFill>
                <a:latin typeface="Arial MT"/>
                <a:cs typeface="Arial MT"/>
              </a:rPr>
              <a:t>face: </a:t>
            </a:r>
            <a:r>
              <a:rPr lang="en-GB" sz="2400" spc="-245" dirty="0">
                <a:solidFill>
                  <a:srgbClr val="080912"/>
                </a:solidFill>
                <a:latin typeface="Arial MT"/>
                <a:cs typeface="Arial MT"/>
              </a:rPr>
              <a:t> </a:t>
            </a:r>
            <a:r>
              <a:rPr lang="en-GB" sz="2400" spc="-3" dirty="0">
                <a:solidFill>
                  <a:srgbClr val="080912"/>
                </a:solidFill>
                <a:latin typeface="Arial MT"/>
                <a:cs typeface="Arial MT"/>
              </a:rPr>
              <a:t>vanishing</a:t>
            </a:r>
            <a:r>
              <a:rPr lang="en-GB" sz="2400" dirty="0">
                <a:solidFill>
                  <a:srgbClr val="080912"/>
                </a:solidFill>
                <a:latin typeface="Arial MT"/>
                <a:cs typeface="Arial MT"/>
              </a:rPr>
              <a:t> </a:t>
            </a:r>
            <a:r>
              <a:rPr lang="en-GB" sz="2400" spc="-3" dirty="0">
                <a:solidFill>
                  <a:srgbClr val="080912"/>
                </a:solidFill>
                <a:latin typeface="Arial MT"/>
                <a:cs typeface="Arial MT"/>
              </a:rPr>
              <a:t>and</a:t>
            </a:r>
            <a:r>
              <a:rPr lang="en-GB" sz="2400" dirty="0">
                <a:solidFill>
                  <a:srgbClr val="080912"/>
                </a:solidFill>
                <a:latin typeface="Arial MT"/>
                <a:cs typeface="Arial MT"/>
              </a:rPr>
              <a:t> </a:t>
            </a:r>
            <a:r>
              <a:rPr lang="en-GB" sz="2400" spc="-3" dirty="0">
                <a:solidFill>
                  <a:srgbClr val="080912"/>
                </a:solidFill>
                <a:latin typeface="Arial MT"/>
                <a:cs typeface="Arial MT"/>
              </a:rPr>
              <a:t>exploding</a:t>
            </a:r>
            <a:r>
              <a:rPr lang="en-GB" sz="2400" dirty="0">
                <a:solidFill>
                  <a:srgbClr val="080912"/>
                </a:solidFill>
                <a:latin typeface="Arial MT"/>
                <a:cs typeface="Arial MT"/>
              </a:rPr>
              <a:t> </a:t>
            </a:r>
            <a:r>
              <a:rPr lang="en-GB" sz="2400" spc="-3" dirty="0">
                <a:solidFill>
                  <a:srgbClr val="080912"/>
                </a:solidFill>
                <a:latin typeface="Arial MT"/>
                <a:cs typeface="Arial MT"/>
              </a:rPr>
              <a:t>gradients.</a:t>
            </a:r>
            <a:endParaRPr lang="en-GB" sz="2400" dirty="0">
              <a:latin typeface="Arial MT"/>
              <a:cs typeface="Arial MT"/>
            </a:endParaRPr>
          </a:p>
          <a:p>
            <a:pPr marL="320378" marR="26410" indent="-156292">
              <a:lnSpc>
                <a:spcPct val="116300"/>
              </a:lnSpc>
              <a:spcBef>
                <a:spcPts val="498"/>
              </a:spcBef>
              <a:buSzPct val="74074"/>
              <a:buFont typeface="Symbol"/>
              <a:buChar char=""/>
              <a:tabLst>
                <a:tab pos="320378" algn="l"/>
                <a:tab pos="320810" algn="l"/>
              </a:tabLst>
            </a:pPr>
            <a:r>
              <a:rPr lang="en-GB" sz="2400" spc="-3" dirty="0">
                <a:solidFill>
                  <a:srgbClr val="080912"/>
                </a:solidFill>
                <a:latin typeface="Arial MT"/>
                <a:cs typeface="Arial MT"/>
              </a:rPr>
              <a:t>Regarding</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output </a:t>
            </a:r>
            <a:r>
              <a:rPr lang="en-GB" sz="2400" dirty="0">
                <a:solidFill>
                  <a:srgbClr val="080912"/>
                </a:solidFill>
                <a:latin typeface="Arial MT"/>
                <a:cs typeface="Arial MT"/>
              </a:rPr>
              <a:t>layer, we</a:t>
            </a:r>
            <a:r>
              <a:rPr lang="en-GB" sz="2400" spc="3" dirty="0">
                <a:solidFill>
                  <a:srgbClr val="080912"/>
                </a:solidFill>
                <a:latin typeface="Arial MT"/>
                <a:cs typeface="Arial MT"/>
              </a:rPr>
              <a:t> </a:t>
            </a:r>
            <a:r>
              <a:rPr lang="en-GB" sz="2400" spc="-3" dirty="0">
                <a:solidFill>
                  <a:srgbClr val="080912"/>
                </a:solidFill>
                <a:latin typeface="Arial MT"/>
                <a:cs typeface="Arial MT"/>
              </a:rPr>
              <a:t>must</a:t>
            </a:r>
            <a:r>
              <a:rPr lang="en-GB" sz="2400" dirty="0">
                <a:solidFill>
                  <a:srgbClr val="080912"/>
                </a:solidFill>
                <a:latin typeface="Arial MT"/>
                <a:cs typeface="Arial MT"/>
              </a:rPr>
              <a:t> </a:t>
            </a:r>
            <a:r>
              <a:rPr lang="en-GB" sz="2400" spc="-3" dirty="0">
                <a:solidFill>
                  <a:srgbClr val="080912"/>
                </a:solidFill>
                <a:latin typeface="Arial MT"/>
                <a:cs typeface="Arial MT"/>
              </a:rPr>
              <a:t>always</a:t>
            </a:r>
            <a:r>
              <a:rPr lang="en-GB" sz="2400" spc="7" dirty="0">
                <a:solidFill>
                  <a:srgbClr val="080912"/>
                </a:solidFill>
                <a:latin typeface="Arial MT"/>
                <a:cs typeface="Arial MT"/>
              </a:rPr>
              <a:t> </a:t>
            </a:r>
            <a:r>
              <a:rPr lang="en-GB" sz="2400" spc="-3" dirty="0">
                <a:solidFill>
                  <a:srgbClr val="080912"/>
                </a:solidFill>
                <a:latin typeface="Arial MT"/>
                <a:cs typeface="Arial MT"/>
              </a:rPr>
              <a:t>consider</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expected</a:t>
            </a:r>
            <a:r>
              <a:rPr lang="en-GB" sz="2400" spc="-7" dirty="0">
                <a:solidFill>
                  <a:srgbClr val="080912"/>
                </a:solidFill>
                <a:latin typeface="Arial MT"/>
                <a:cs typeface="Arial MT"/>
              </a:rPr>
              <a:t> </a:t>
            </a:r>
            <a:r>
              <a:rPr lang="en-GB" sz="2400" spc="-3" dirty="0">
                <a:solidFill>
                  <a:srgbClr val="080912"/>
                </a:solidFill>
                <a:latin typeface="Arial MT"/>
                <a:cs typeface="Arial MT"/>
              </a:rPr>
              <a:t>value</a:t>
            </a:r>
            <a:r>
              <a:rPr lang="en-GB" sz="2400" spc="3" dirty="0">
                <a:solidFill>
                  <a:srgbClr val="080912"/>
                </a:solidFill>
                <a:latin typeface="Arial MT"/>
                <a:cs typeface="Arial MT"/>
              </a:rPr>
              <a:t> </a:t>
            </a:r>
            <a:r>
              <a:rPr lang="en-GB" sz="2400" spc="-3" dirty="0">
                <a:solidFill>
                  <a:srgbClr val="080912"/>
                </a:solidFill>
                <a:latin typeface="Arial MT"/>
                <a:cs typeface="Arial MT"/>
              </a:rPr>
              <a:t>range</a:t>
            </a:r>
            <a:r>
              <a:rPr lang="en-GB" sz="2400" spc="-7" dirty="0">
                <a:solidFill>
                  <a:srgbClr val="080912"/>
                </a:solidFill>
                <a:latin typeface="Arial MT"/>
                <a:cs typeface="Arial MT"/>
              </a:rPr>
              <a:t> </a:t>
            </a:r>
            <a:r>
              <a:rPr lang="en-GB" sz="2400" dirty="0">
                <a:solidFill>
                  <a:srgbClr val="080912"/>
                </a:solidFill>
                <a:latin typeface="Arial MT"/>
                <a:cs typeface="Arial MT"/>
              </a:rPr>
              <a:t>of </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predictions.</a:t>
            </a:r>
            <a:r>
              <a:rPr lang="en-GB" sz="2400" dirty="0">
                <a:solidFill>
                  <a:srgbClr val="080912"/>
                </a:solidFill>
                <a:latin typeface="Arial MT"/>
                <a:cs typeface="Arial MT"/>
              </a:rPr>
              <a:t> </a:t>
            </a:r>
            <a:r>
              <a:rPr lang="en-GB" sz="2400" spc="-3" dirty="0">
                <a:solidFill>
                  <a:srgbClr val="080912"/>
                </a:solidFill>
                <a:latin typeface="Arial MT"/>
                <a:cs typeface="Arial MT"/>
              </a:rPr>
              <a:t>If</a:t>
            </a:r>
            <a:r>
              <a:rPr lang="en-GB" sz="2400" dirty="0">
                <a:solidFill>
                  <a:srgbClr val="080912"/>
                </a:solidFill>
                <a:latin typeface="Arial MT"/>
                <a:cs typeface="Arial MT"/>
              </a:rPr>
              <a:t> it</a:t>
            </a:r>
            <a:r>
              <a:rPr lang="en-GB" sz="2400" spc="7" dirty="0">
                <a:solidFill>
                  <a:srgbClr val="080912"/>
                </a:solidFill>
                <a:latin typeface="Arial MT"/>
                <a:cs typeface="Arial MT"/>
              </a:rPr>
              <a:t> </a:t>
            </a:r>
            <a:r>
              <a:rPr lang="en-GB" sz="2400" spc="-3" dirty="0">
                <a:solidFill>
                  <a:srgbClr val="080912"/>
                </a:solidFill>
                <a:latin typeface="Arial MT"/>
                <a:cs typeface="Arial MT"/>
              </a:rPr>
              <a:t>can</a:t>
            </a:r>
            <a:r>
              <a:rPr lang="en-GB" sz="2400" spc="7" dirty="0">
                <a:solidFill>
                  <a:srgbClr val="080912"/>
                </a:solidFill>
                <a:latin typeface="Arial MT"/>
                <a:cs typeface="Arial MT"/>
              </a:rPr>
              <a:t> </a:t>
            </a:r>
            <a:r>
              <a:rPr lang="en-GB" sz="2400" dirty="0">
                <a:solidFill>
                  <a:srgbClr val="080912"/>
                </a:solidFill>
                <a:latin typeface="Arial MT"/>
                <a:cs typeface="Arial MT"/>
              </a:rPr>
              <a:t>be</a:t>
            </a:r>
            <a:r>
              <a:rPr lang="en-GB" sz="2400" spc="7" dirty="0">
                <a:solidFill>
                  <a:srgbClr val="080912"/>
                </a:solidFill>
                <a:latin typeface="Arial MT"/>
                <a:cs typeface="Arial MT"/>
              </a:rPr>
              <a:t> </a:t>
            </a:r>
            <a:r>
              <a:rPr lang="en-GB" sz="2400" spc="-7" dirty="0">
                <a:solidFill>
                  <a:srgbClr val="080912"/>
                </a:solidFill>
                <a:latin typeface="Arial MT"/>
                <a:cs typeface="Arial MT"/>
              </a:rPr>
              <a:t>any</a:t>
            </a:r>
            <a:r>
              <a:rPr lang="en-GB" sz="2400" spc="10" dirty="0">
                <a:solidFill>
                  <a:srgbClr val="080912"/>
                </a:solidFill>
                <a:latin typeface="Arial MT"/>
                <a:cs typeface="Arial MT"/>
              </a:rPr>
              <a:t> </a:t>
            </a:r>
            <a:r>
              <a:rPr lang="en-GB" sz="2400" spc="-3" dirty="0">
                <a:solidFill>
                  <a:srgbClr val="080912"/>
                </a:solidFill>
                <a:latin typeface="Arial MT"/>
                <a:cs typeface="Arial MT"/>
              </a:rPr>
              <a:t>numeric value</a:t>
            </a:r>
            <a:r>
              <a:rPr lang="en-GB" sz="2400" spc="3" dirty="0">
                <a:solidFill>
                  <a:srgbClr val="080912"/>
                </a:solidFill>
                <a:latin typeface="Arial MT"/>
                <a:cs typeface="Arial MT"/>
              </a:rPr>
              <a:t> </a:t>
            </a:r>
            <a:r>
              <a:rPr lang="en-GB" sz="2400" spc="-3" dirty="0">
                <a:solidFill>
                  <a:srgbClr val="080912"/>
                </a:solidFill>
                <a:latin typeface="Arial MT"/>
                <a:cs typeface="Arial MT"/>
              </a:rPr>
              <a:t>(as</a:t>
            </a:r>
            <a:r>
              <a:rPr lang="en-GB" sz="2400" spc="7" dirty="0">
                <a:solidFill>
                  <a:srgbClr val="080912"/>
                </a:solidFill>
                <a:latin typeface="Arial MT"/>
                <a:cs typeface="Arial MT"/>
              </a:rPr>
              <a:t> </a:t>
            </a:r>
            <a:r>
              <a:rPr lang="en-GB" sz="2400" spc="3" dirty="0">
                <a:solidFill>
                  <a:srgbClr val="080912"/>
                </a:solidFill>
                <a:latin typeface="Arial MT"/>
                <a:cs typeface="Arial MT"/>
              </a:rPr>
              <a:t>in</a:t>
            </a:r>
            <a:r>
              <a:rPr lang="en-GB" sz="2400" spc="7" dirty="0">
                <a:solidFill>
                  <a:srgbClr val="080912"/>
                </a:solidFill>
                <a:latin typeface="Arial MT"/>
                <a:cs typeface="Arial MT"/>
              </a:rPr>
              <a:t> </a:t>
            </a:r>
            <a:r>
              <a:rPr lang="en-GB" sz="2400" dirty="0">
                <a:solidFill>
                  <a:srgbClr val="080912"/>
                </a:solidFill>
                <a:latin typeface="Arial MT"/>
                <a:cs typeface="Arial MT"/>
              </a:rPr>
              <a:t>case</a:t>
            </a:r>
            <a:r>
              <a:rPr lang="en-GB" sz="2400" spc="3" dirty="0">
                <a:solidFill>
                  <a:srgbClr val="080912"/>
                </a:solidFill>
                <a:latin typeface="Arial MT"/>
                <a:cs typeface="Arial MT"/>
              </a:rPr>
              <a:t> </a:t>
            </a:r>
            <a:r>
              <a:rPr lang="en-GB" sz="2400" dirty="0">
                <a:solidFill>
                  <a:srgbClr val="080912"/>
                </a:solidFill>
                <a:latin typeface="Arial MT"/>
                <a:cs typeface="Arial MT"/>
              </a:rPr>
              <a:t>of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regression</a:t>
            </a:r>
            <a:r>
              <a:rPr lang="en-GB" sz="2400" spc="3" dirty="0">
                <a:solidFill>
                  <a:srgbClr val="080912"/>
                </a:solidFill>
                <a:latin typeface="Arial MT"/>
                <a:cs typeface="Arial MT"/>
              </a:rPr>
              <a:t> </a:t>
            </a:r>
            <a:r>
              <a:rPr lang="en-GB" sz="2400" spc="-3" dirty="0">
                <a:solidFill>
                  <a:srgbClr val="080912"/>
                </a:solidFill>
                <a:latin typeface="Arial MT"/>
                <a:cs typeface="Arial MT"/>
              </a:rPr>
              <a:t>problem) </a:t>
            </a:r>
            <a:r>
              <a:rPr lang="en-GB" sz="2400" spc="-245" dirty="0">
                <a:solidFill>
                  <a:srgbClr val="080912"/>
                </a:solidFill>
                <a:latin typeface="Arial MT"/>
                <a:cs typeface="Arial MT"/>
              </a:rPr>
              <a:t> </a:t>
            </a:r>
            <a:r>
              <a:rPr lang="en-GB" sz="2400" spc="-3" dirty="0">
                <a:solidFill>
                  <a:srgbClr val="080912"/>
                </a:solidFill>
                <a:latin typeface="Arial MT"/>
                <a:cs typeface="Arial MT"/>
              </a:rPr>
              <a:t>you</a:t>
            </a:r>
            <a:r>
              <a:rPr lang="en-GB" sz="2400" dirty="0">
                <a:solidFill>
                  <a:srgbClr val="080912"/>
                </a:solidFill>
                <a:latin typeface="Arial MT"/>
                <a:cs typeface="Arial MT"/>
              </a:rPr>
              <a:t> </a:t>
            </a:r>
            <a:r>
              <a:rPr lang="en-GB" sz="2400" spc="-3" dirty="0">
                <a:solidFill>
                  <a:srgbClr val="080912"/>
                </a:solidFill>
                <a:latin typeface="Arial MT"/>
                <a:cs typeface="Arial MT"/>
              </a:rPr>
              <a:t>can use</a:t>
            </a:r>
            <a:r>
              <a:rPr lang="en-GB" sz="2400"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a:t>
            </a:r>
            <a:r>
              <a:rPr lang="en-GB" sz="2400" spc="-3" dirty="0">
                <a:solidFill>
                  <a:srgbClr val="080912"/>
                </a:solidFill>
                <a:latin typeface="Arial MT"/>
                <a:cs typeface="Arial MT"/>
              </a:rPr>
              <a:t>linear</a:t>
            </a:r>
            <a:r>
              <a:rPr lang="en-GB" sz="2400" dirty="0">
                <a:solidFill>
                  <a:srgbClr val="080912"/>
                </a:solidFill>
                <a:latin typeface="Arial MT"/>
                <a:cs typeface="Arial MT"/>
              </a:rPr>
              <a:t> </a:t>
            </a:r>
            <a:r>
              <a:rPr lang="en-GB" sz="2400" spc="-3" dirty="0">
                <a:solidFill>
                  <a:srgbClr val="080912"/>
                </a:solidFill>
                <a:latin typeface="Arial MT"/>
                <a:cs typeface="Arial MT"/>
              </a:rPr>
              <a:t>activation function</a:t>
            </a:r>
            <a:r>
              <a:rPr lang="en-GB" sz="2400" dirty="0">
                <a:solidFill>
                  <a:srgbClr val="080912"/>
                </a:solidFill>
                <a:latin typeface="Arial MT"/>
                <a:cs typeface="Arial MT"/>
              </a:rPr>
              <a:t> or</a:t>
            </a:r>
            <a:r>
              <a:rPr lang="en-GB" sz="2400" spc="-10" dirty="0">
                <a:solidFill>
                  <a:srgbClr val="080912"/>
                </a:solidFill>
                <a:latin typeface="Arial MT"/>
                <a:cs typeface="Arial MT"/>
              </a:rPr>
              <a:t> </a:t>
            </a:r>
            <a:r>
              <a:rPr lang="en-GB" sz="2400" dirty="0" err="1">
                <a:solidFill>
                  <a:srgbClr val="080912"/>
                </a:solidFill>
                <a:latin typeface="Arial MT"/>
                <a:cs typeface="Arial MT"/>
              </a:rPr>
              <a:t>ReLU</a:t>
            </a:r>
            <a:r>
              <a:rPr lang="en-GB" sz="2400" dirty="0">
                <a:solidFill>
                  <a:srgbClr val="080912"/>
                </a:solidFill>
                <a:latin typeface="Arial MT"/>
                <a:cs typeface="Arial MT"/>
              </a:rPr>
              <a:t>.</a:t>
            </a:r>
            <a:endParaRPr lang="en-GB" sz="2400" dirty="0">
              <a:latin typeface="Arial MT"/>
              <a:cs typeface="Arial MT"/>
            </a:endParaRPr>
          </a:p>
          <a:p>
            <a:pPr marL="320378" indent="-156292">
              <a:spcBef>
                <a:spcPts val="678"/>
              </a:spcBef>
              <a:buSzPct val="74074"/>
              <a:buFont typeface="Symbol"/>
              <a:buChar char=""/>
              <a:tabLst>
                <a:tab pos="320378" algn="l"/>
                <a:tab pos="320810" algn="l"/>
              </a:tabLst>
            </a:pPr>
            <a:r>
              <a:rPr lang="en-GB" sz="2400" dirty="0">
                <a:solidFill>
                  <a:srgbClr val="080912"/>
                </a:solidFill>
                <a:latin typeface="Arial MT"/>
                <a:cs typeface="Arial MT"/>
              </a:rPr>
              <a:t>Use </a:t>
            </a:r>
            <a:r>
              <a:rPr lang="en-GB" sz="2400" spc="-3" dirty="0" err="1">
                <a:solidFill>
                  <a:srgbClr val="080912"/>
                </a:solidFill>
                <a:latin typeface="Arial MT"/>
                <a:cs typeface="Arial MT"/>
              </a:rPr>
              <a:t>Softmax</a:t>
            </a:r>
            <a:r>
              <a:rPr lang="en-GB" sz="2400" spc="3" dirty="0">
                <a:solidFill>
                  <a:srgbClr val="080912"/>
                </a:solidFill>
                <a:latin typeface="Arial MT"/>
                <a:cs typeface="Arial MT"/>
              </a:rPr>
              <a:t> </a:t>
            </a:r>
            <a:r>
              <a:rPr lang="en-GB" sz="2400" spc="-3" dirty="0">
                <a:solidFill>
                  <a:srgbClr val="080912"/>
                </a:solidFill>
                <a:latin typeface="Arial MT"/>
                <a:cs typeface="Arial MT"/>
              </a:rPr>
              <a:t>or</a:t>
            </a:r>
            <a:r>
              <a:rPr lang="en-GB" sz="2400" dirty="0">
                <a:solidFill>
                  <a:srgbClr val="080912"/>
                </a:solidFill>
                <a:latin typeface="Arial MT"/>
                <a:cs typeface="Arial MT"/>
              </a:rPr>
              <a:t> Sigmoid</a:t>
            </a:r>
            <a:r>
              <a:rPr lang="en-GB" sz="2400" spc="3" dirty="0">
                <a:solidFill>
                  <a:srgbClr val="080912"/>
                </a:solidFill>
                <a:latin typeface="Arial MT"/>
                <a:cs typeface="Arial MT"/>
              </a:rPr>
              <a:t> </a:t>
            </a:r>
            <a:r>
              <a:rPr lang="en-GB" sz="2400" spc="-3" dirty="0">
                <a:solidFill>
                  <a:srgbClr val="080912"/>
                </a:solidFill>
                <a:latin typeface="Arial MT"/>
                <a:cs typeface="Arial MT"/>
              </a:rPr>
              <a:t>function</a:t>
            </a:r>
            <a:r>
              <a:rPr lang="en-GB" sz="2400" spc="3" dirty="0">
                <a:solidFill>
                  <a:srgbClr val="080912"/>
                </a:solidFill>
                <a:latin typeface="Arial MT"/>
                <a:cs typeface="Arial MT"/>
              </a:rPr>
              <a:t> </a:t>
            </a:r>
            <a:r>
              <a:rPr lang="en-GB" sz="2400" spc="-3" dirty="0">
                <a:solidFill>
                  <a:srgbClr val="080912"/>
                </a:solidFill>
                <a:latin typeface="Arial MT"/>
                <a:cs typeface="Arial MT"/>
              </a:rPr>
              <a:t>for</a:t>
            </a:r>
            <a:r>
              <a:rPr lang="en-GB" sz="2400"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classification</a:t>
            </a:r>
            <a:r>
              <a:rPr lang="en-GB" sz="2400" dirty="0">
                <a:solidFill>
                  <a:srgbClr val="080912"/>
                </a:solidFill>
                <a:latin typeface="Arial MT"/>
                <a:cs typeface="Arial MT"/>
              </a:rPr>
              <a:t> </a:t>
            </a:r>
            <a:r>
              <a:rPr lang="en-GB" sz="2400" spc="-3" dirty="0">
                <a:solidFill>
                  <a:srgbClr val="080912"/>
                </a:solidFill>
                <a:latin typeface="Arial MT"/>
                <a:cs typeface="Arial MT"/>
              </a:rPr>
              <a:t>problems.</a:t>
            </a:r>
            <a:endParaRPr lang="en-PK" dirty="0"/>
          </a:p>
        </p:txBody>
      </p:sp>
      <p:sp>
        <p:nvSpPr>
          <p:cNvPr id="3" name="Slide Number Placeholder 2">
            <a:extLst>
              <a:ext uri="{FF2B5EF4-FFF2-40B4-BE49-F238E27FC236}">
                <a16:creationId xmlns:a16="http://schemas.microsoft.com/office/drawing/2014/main" id="{119A3946-A53C-73E9-2DBC-C49176026973}"/>
              </a:ext>
            </a:extLst>
          </p:cNvPr>
          <p:cNvSpPr>
            <a:spLocks noGrp="1"/>
          </p:cNvSpPr>
          <p:nvPr>
            <p:ph type="sldNum" sz="quarter" idx="12"/>
          </p:nvPr>
        </p:nvSpPr>
        <p:spPr/>
        <p:txBody>
          <a:bodyPr/>
          <a:lstStyle/>
          <a:p>
            <a:fld id="{9CD9A578-84A4-4247-B01E-A84B9E2DF7BB}" type="slidenum">
              <a:rPr lang="en-PK" smtClean="0"/>
              <a:t>23</a:t>
            </a:fld>
            <a:endParaRPr lang="en-PK"/>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DB990-D160-BDCC-C5C4-793CAB1A2324}"/>
              </a:ext>
            </a:extLst>
          </p:cNvPr>
          <p:cNvSpPr>
            <a:spLocks noGrp="1"/>
          </p:cNvSpPr>
          <p:nvPr>
            <p:ph type="title"/>
          </p:nvPr>
        </p:nvSpPr>
        <p:spPr/>
        <p:txBody>
          <a:bodyPr/>
          <a:lstStyle/>
          <a:p>
            <a:r>
              <a:rPr lang="en-US" dirty="0"/>
              <a:t>Loss Function </a:t>
            </a:r>
          </a:p>
        </p:txBody>
      </p:sp>
      <p:sp>
        <p:nvSpPr>
          <p:cNvPr id="3" name="Content Placeholder 2">
            <a:extLst>
              <a:ext uri="{FF2B5EF4-FFF2-40B4-BE49-F238E27FC236}">
                <a16:creationId xmlns:a16="http://schemas.microsoft.com/office/drawing/2014/main" id="{A1D0CFAC-1E87-1606-904B-F805FED491DA}"/>
              </a:ext>
            </a:extLst>
          </p:cNvPr>
          <p:cNvSpPr>
            <a:spLocks noGrp="1"/>
          </p:cNvSpPr>
          <p:nvPr>
            <p:ph idx="1"/>
          </p:nvPr>
        </p:nvSpPr>
        <p:spPr/>
        <p:txBody>
          <a:bodyPr>
            <a:normAutofit fontScale="92500" lnSpcReduction="10000"/>
          </a:bodyPr>
          <a:lstStyle/>
          <a:p>
            <a:r>
              <a:rPr lang="en-GB" dirty="0">
                <a:solidFill>
                  <a:schemeClr val="tx1"/>
                </a:solidFill>
              </a:rPr>
              <a:t>The loss function, also referred to as the error function, is a crucial component in machine learning that quantifies the difference between the predicted outputs of a machine learning algorithm and the actual target values.</a:t>
            </a:r>
          </a:p>
          <a:p>
            <a:r>
              <a:rPr lang="en-GB" dirty="0">
                <a:solidFill>
                  <a:schemeClr val="tx1"/>
                </a:solidFill>
              </a:rPr>
              <a:t>For example, within a regression problem to predict car prices based on historical data, a loss function evaluates a neural network prediction based on a training sample from the training dataset. The loss function quantifies the gap or the error margin of the car price predicted by the network to the actual price.</a:t>
            </a:r>
          </a:p>
          <a:p>
            <a:r>
              <a:rPr lang="en-GB" dirty="0">
                <a:solidFill>
                  <a:schemeClr val="tx1"/>
                </a:solidFill>
              </a:rPr>
              <a:t>The resulting value, the loss, reflects the accuracy of the model's predictions. During training, a learning algorithm such as the backpropagation algorithm uses the gradients of the loss function with respect to the model's parameters to adjust these parameters and minimize the loss, effectively improving the model's performance on the dataset.</a:t>
            </a:r>
          </a:p>
          <a:p>
            <a:r>
              <a:rPr lang="en-GB" dirty="0">
                <a:solidFill>
                  <a:schemeClr val="tx1"/>
                </a:solidFill>
              </a:rPr>
              <a:t>The cost function, sometimes called the objective function, is an </a:t>
            </a:r>
            <a:r>
              <a:rPr lang="en-GB" b="1" dirty="0">
                <a:solidFill>
                  <a:schemeClr val="tx1"/>
                </a:solidFill>
              </a:rPr>
              <a:t>average of the loss function of an entire training set</a:t>
            </a:r>
            <a:r>
              <a:rPr lang="en-GB" dirty="0">
                <a:solidFill>
                  <a:schemeClr val="tx1"/>
                </a:solidFill>
              </a:rPr>
              <a:t> containing several training examples. The cost function quantifies the model's performance on the whole training dataset.</a:t>
            </a:r>
          </a:p>
          <a:p>
            <a:endParaRPr lang="en-US" dirty="0">
              <a:solidFill>
                <a:schemeClr val="tx1"/>
              </a:solidFill>
            </a:endParaRPr>
          </a:p>
        </p:txBody>
      </p:sp>
      <p:sp>
        <p:nvSpPr>
          <p:cNvPr id="4" name="Slide Number Placeholder 3">
            <a:extLst>
              <a:ext uri="{FF2B5EF4-FFF2-40B4-BE49-F238E27FC236}">
                <a16:creationId xmlns:a16="http://schemas.microsoft.com/office/drawing/2014/main" id="{53104FFB-2EF8-AE10-9ACA-5A98E0DD3852}"/>
              </a:ext>
            </a:extLst>
          </p:cNvPr>
          <p:cNvSpPr>
            <a:spLocks noGrp="1"/>
          </p:cNvSpPr>
          <p:nvPr>
            <p:ph type="sldNum" sz="quarter" idx="12"/>
          </p:nvPr>
        </p:nvSpPr>
        <p:spPr/>
        <p:txBody>
          <a:bodyPr/>
          <a:lstStyle/>
          <a:p>
            <a:fld id="{9CD9A578-84A4-4247-B01E-A84B9E2DF7BB}" type="slidenum">
              <a:rPr lang="en-PK" smtClean="0"/>
              <a:t>24</a:t>
            </a:fld>
            <a:endParaRPr lang="en-PK"/>
          </a:p>
        </p:txBody>
      </p:sp>
    </p:spTree>
    <p:extLst>
      <p:ext uri="{BB962C8B-B14F-4D97-AF65-F5344CB8AC3E}">
        <p14:creationId xmlns:p14="http://schemas.microsoft.com/office/powerpoint/2010/main" val="337176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FF1B3-8E17-333C-8C8B-8E2E555B3EAD}"/>
              </a:ext>
            </a:extLst>
          </p:cNvPr>
          <p:cNvSpPr>
            <a:spLocks noGrp="1"/>
          </p:cNvSpPr>
          <p:nvPr>
            <p:ph type="title"/>
          </p:nvPr>
        </p:nvSpPr>
        <p:spPr/>
        <p:txBody>
          <a:bodyPr>
            <a:normAutofit fontScale="90000"/>
          </a:bodyPr>
          <a:lstStyle/>
          <a:p>
            <a:pPr algn="ctr"/>
            <a:r>
              <a:rPr lang="en-GB" b="1" dirty="0"/>
              <a:t>Loss Functions for Regression</a:t>
            </a:r>
            <a:br>
              <a:rPr lang="en-GB" b="1" dirty="0"/>
            </a:br>
            <a:r>
              <a:rPr lang="en-GB" b="1" dirty="0"/>
              <a:t>Mean Square Error (MSE) / L2 Loss</a:t>
            </a:r>
            <a:br>
              <a:rPr lang="en-GB" b="1" dirty="0"/>
            </a:br>
            <a:endParaRPr lang="en-US" dirty="0"/>
          </a:p>
        </p:txBody>
      </p:sp>
      <p:sp>
        <p:nvSpPr>
          <p:cNvPr id="3" name="Content Placeholder 2">
            <a:extLst>
              <a:ext uri="{FF2B5EF4-FFF2-40B4-BE49-F238E27FC236}">
                <a16:creationId xmlns:a16="http://schemas.microsoft.com/office/drawing/2014/main" id="{07FDFA9B-9A16-EDC9-72BF-86D83DAC4D75}"/>
              </a:ext>
            </a:extLst>
          </p:cNvPr>
          <p:cNvSpPr>
            <a:spLocks noGrp="1"/>
          </p:cNvSpPr>
          <p:nvPr>
            <p:ph idx="1"/>
          </p:nvPr>
        </p:nvSpPr>
        <p:spPr>
          <a:xfrm>
            <a:off x="1143000" y="1625600"/>
            <a:ext cx="9872871" cy="4470400"/>
          </a:xfrm>
        </p:spPr>
        <p:txBody>
          <a:bodyPr>
            <a:normAutofit fontScale="92500" lnSpcReduction="10000"/>
          </a:bodyPr>
          <a:lstStyle/>
          <a:p>
            <a:r>
              <a:rPr lang="en-GB" dirty="0">
                <a:solidFill>
                  <a:schemeClr val="tx1"/>
                </a:solidFill>
              </a:rPr>
              <a:t>The Mean Square Error(MSE) or L2 loss is a loss function that quantifies the magnitude of the error between a machine learning algorithm prediction and an actual output by taking the average of the squared difference between the predictions and the target values. Squaring the difference between the predictions and actual target values results in a higher penalty assigned to more significant deviations from the target value. A mean of the errors normalizes the total errors against the number of samples in a dataset or observation.</a:t>
            </a:r>
          </a:p>
          <a:p>
            <a:r>
              <a:rPr lang="en-GB" dirty="0">
                <a:solidFill>
                  <a:schemeClr val="tx1"/>
                </a:solidFill>
              </a:rPr>
              <a:t>The mathematical equation for Mean Square Error (MSE) or L2 Loss is:</a:t>
            </a:r>
          </a:p>
          <a:p>
            <a:pPr marL="45720" indent="0" algn="ctr">
              <a:buNone/>
            </a:pPr>
            <a:r>
              <a:rPr lang="pt-BR" dirty="0">
                <a:solidFill>
                  <a:schemeClr val="tx1"/>
                </a:solidFill>
              </a:rPr>
              <a:t>MSE = (1/n) * Σ(yᵢ - ȳ)²</a:t>
            </a:r>
          </a:p>
          <a:p>
            <a:pPr marL="45720" indent="0">
              <a:buNone/>
            </a:pPr>
            <a:r>
              <a:rPr lang="en-GB" dirty="0">
                <a:solidFill>
                  <a:schemeClr val="tx1"/>
                </a:solidFill>
              </a:rPr>
              <a:t>Where:</a:t>
            </a:r>
          </a:p>
          <a:p>
            <a:r>
              <a:rPr lang="en-GB" dirty="0">
                <a:solidFill>
                  <a:schemeClr val="tx1"/>
                </a:solidFill>
              </a:rPr>
              <a:t>n is the number of samples in the dataset</a:t>
            </a:r>
          </a:p>
          <a:p>
            <a:r>
              <a:rPr lang="en-GB" dirty="0">
                <a:solidFill>
                  <a:schemeClr val="tx1"/>
                </a:solidFill>
              </a:rPr>
              <a:t>yᵢ is the predicted value for the </a:t>
            </a:r>
            <a:r>
              <a:rPr lang="en-GB" dirty="0" err="1">
                <a:solidFill>
                  <a:schemeClr val="tx1"/>
                </a:solidFill>
              </a:rPr>
              <a:t>i-th</a:t>
            </a:r>
            <a:r>
              <a:rPr lang="en-GB" dirty="0">
                <a:solidFill>
                  <a:schemeClr val="tx1"/>
                </a:solidFill>
              </a:rPr>
              <a:t> sample</a:t>
            </a:r>
          </a:p>
          <a:p>
            <a:r>
              <a:rPr lang="en-GB" dirty="0">
                <a:solidFill>
                  <a:schemeClr val="tx1"/>
                </a:solidFill>
              </a:rPr>
              <a:t>ȳ is the target value for the </a:t>
            </a:r>
            <a:r>
              <a:rPr lang="en-GB" dirty="0" err="1">
                <a:solidFill>
                  <a:schemeClr val="tx1"/>
                </a:solidFill>
              </a:rPr>
              <a:t>i-th</a:t>
            </a:r>
            <a:r>
              <a:rPr lang="en-GB" dirty="0">
                <a:solidFill>
                  <a:schemeClr val="tx1"/>
                </a:solidFill>
              </a:rPr>
              <a:t> sample</a:t>
            </a:r>
          </a:p>
          <a:p>
            <a:pPr marL="45720" indent="0" algn="ctr">
              <a:buNone/>
            </a:pPr>
            <a:endParaRPr lang="en-US" dirty="0">
              <a:solidFill>
                <a:schemeClr val="tx1"/>
              </a:solidFill>
            </a:endParaRPr>
          </a:p>
        </p:txBody>
      </p:sp>
      <p:sp>
        <p:nvSpPr>
          <p:cNvPr id="4" name="Slide Number Placeholder 3">
            <a:extLst>
              <a:ext uri="{FF2B5EF4-FFF2-40B4-BE49-F238E27FC236}">
                <a16:creationId xmlns:a16="http://schemas.microsoft.com/office/drawing/2014/main" id="{252FBDD4-6384-CB14-695E-71045CDF5161}"/>
              </a:ext>
            </a:extLst>
          </p:cNvPr>
          <p:cNvSpPr>
            <a:spLocks noGrp="1"/>
          </p:cNvSpPr>
          <p:nvPr>
            <p:ph type="sldNum" sz="quarter" idx="12"/>
          </p:nvPr>
        </p:nvSpPr>
        <p:spPr/>
        <p:txBody>
          <a:bodyPr/>
          <a:lstStyle/>
          <a:p>
            <a:fld id="{9CD9A578-84A4-4247-B01E-A84B9E2DF7BB}" type="slidenum">
              <a:rPr lang="en-PK" smtClean="0"/>
              <a:t>25</a:t>
            </a:fld>
            <a:endParaRPr lang="en-PK"/>
          </a:p>
        </p:txBody>
      </p:sp>
    </p:spTree>
    <p:extLst>
      <p:ext uri="{BB962C8B-B14F-4D97-AF65-F5344CB8AC3E}">
        <p14:creationId xmlns:p14="http://schemas.microsoft.com/office/powerpoint/2010/main" val="887013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5AD34-B20E-A842-4FB6-615AAF950A6D}"/>
              </a:ext>
            </a:extLst>
          </p:cNvPr>
          <p:cNvSpPr>
            <a:spLocks noGrp="1"/>
          </p:cNvSpPr>
          <p:nvPr>
            <p:ph type="title"/>
          </p:nvPr>
        </p:nvSpPr>
        <p:spPr/>
        <p:txBody>
          <a:bodyPr/>
          <a:lstStyle/>
          <a:p>
            <a:r>
              <a:rPr lang="en-GB" b="1" dirty="0"/>
              <a:t>Mean Absolute Error (MAE) / L1 Loss</a:t>
            </a:r>
            <a:br>
              <a:rPr lang="en-GB" b="1" dirty="0"/>
            </a:br>
            <a:endParaRPr lang="en-US" dirty="0"/>
          </a:p>
        </p:txBody>
      </p:sp>
      <p:sp>
        <p:nvSpPr>
          <p:cNvPr id="3" name="Content Placeholder 2">
            <a:extLst>
              <a:ext uri="{FF2B5EF4-FFF2-40B4-BE49-F238E27FC236}">
                <a16:creationId xmlns:a16="http://schemas.microsoft.com/office/drawing/2014/main" id="{E506AD72-1CFC-2A0F-40C4-B2E4D32F3ECE}"/>
              </a:ext>
            </a:extLst>
          </p:cNvPr>
          <p:cNvSpPr>
            <a:spLocks noGrp="1"/>
          </p:cNvSpPr>
          <p:nvPr>
            <p:ph idx="1"/>
          </p:nvPr>
        </p:nvSpPr>
        <p:spPr/>
        <p:txBody>
          <a:bodyPr>
            <a:normAutofit fontScale="92500" lnSpcReduction="10000"/>
          </a:bodyPr>
          <a:lstStyle/>
          <a:p>
            <a:r>
              <a:rPr lang="en-GB" dirty="0">
                <a:solidFill>
                  <a:schemeClr val="tx1"/>
                </a:solidFill>
              </a:rPr>
              <a:t>Mean Absolute Error (MAE), also known as L1 Loss, is a loss function used in regression tasks that calculates the average absolute differences between predicted values from a machine learning model and the actual target values. Unlike Mean Squared Error (MSE), MAE does not square the differences, treating all errors with equal weight regardless of their magnitude.</a:t>
            </a:r>
          </a:p>
          <a:p>
            <a:r>
              <a:rPr lang="en-GB" dirty="0">
                <a:solidFill>
                  <a:schemeClr val="tx1"/>
                </a:solidFill>
              </a:rPr>
              <a:t>The mathematical equation for Mean Absolute Error (MAE) or L1 Loss is:</a:t>
            </a:r>
          </a:p>
          <a:p>
            <a:pPr marL="45720" indent="0" algn="ctr">
              <a:buNone/>
            </a:pPr>
            <a:r>
              <a:rPr lang="pt-BR" dirty="0">
                <a:solidFill>
                  <a:schemeClr val="tx1"/>
                </a:solidFill>
              </a:rPr>
              <a:t>MAE = (1/n) * Σ|yᵢ - ȳ|</a:t>
            </a:r>
            <a:endParaRPr lang="en-GB" dirty="0">
              <a:solidFill>
                <a:schemeClr val="tx1"/>
              </a:solidFill>
            </a:endParaRPr>
          </a:p>
          <a:p>
            <a:pPr marL="45720" indent="0">
              <a:buNone/>
            </a:pPr>
            <a:r>
              <a:rPr lang="en-GB" dirty="0">
                <a:solidFill>
                  <a:schemeClr val="tx1"/>
                </a:solidFill>
              </a:rPr>
              <a:t>Where:</a:t>
            </a:r>
          </a:p>
          <a:p>
            <a:r>
              <a:rPr lang="en-GB" dirty="0">
                <a:solidFill>
                  <a:schemeClr val="tx1"/>
                </a:solidFill>
              </a:rPr>
              <a:t>n is the number of samples in the dataset</a:t>
            </a:r>
          </a:p>
          <a:p>
            <a:r>
              <a:rPr lang="en-GB" dirty="0">
                <a:solidFill>
                  <a:schemeClr val="tx1"/>
                </a:solidFill>
              </a:rPr>
              <a:t>yᵢ is the predicted value for the </a:t>
            </a:r>
            <a:r>
              <a:rPr lang="en-GB" dirty="0" err="1">
                <a:solidFill>
                  <a:schemeClr val="tx1"/>
                </a:solidFill>
              </a:rPr>
              <a:t>i-th</a:t>
            </a:r>
            <a:r>
              <a:rPr lang="en-GB" dirty="0">
                <a:solidFill>
                  <a:schemeClr val="tx1"/>
                </a:solidFill>
              </a:rPr>
              <a:t> sample</a:t>
            </a:r>
          </a:p>
          <a:p>
            <a:r>
              <a:rPr lang="en-GB" dirty="0">
                <a:solidFill>
                  <a:schemeClr val="tx1"/>
                </a:solidFill>
              </a:rPr>
              <a:t>ȳ is the target value for the </a:t>
            </a:r>
            <a:r>
              <a:rPr lang="en-GB" dirty="0" err="1">
                <a:solidFill>
                  <a:schemeClr val="tx1"/>
                </a:solidFill>
              </a:rPr>
              <a:t>i-th</a:t>
            </a:r>
            <a:r>
              <a:rPr lang="en-GB" dirty="0">
                <a:solidFill>
                  <a:schemeClr val="tx1"/>
                </a:solidFill>
              </a:rPr>
              <a:t> sample</a:t>
            </a:r>
          </a:p>
          <a:p>
            <a:endParaRPr lang="en-US" dirty="0">
              <a:solidFill>
                <a:schemeClr val="tx1"/>
              </a:solidFill>
            </a:endParaRPr>
          </a:p>
        </p:txBody>
      </p:sp>
      <p:sp>
        <p:nvSpPr>
          <p:cNvPr id="4" name="Slide Number Placeholder 3">
            <a:extLst>
              <a:ext uri="{FF2B5EF4-FFF2-40B4-BE49-F238E27FC236}">
                <a16:creationId xmlns:a16="http://schemas.microsoft.com/office/drawing/2014/main" id="{CC7A3C49-FA7B-D489-5C9C-22BFD18FD94E}"/>
              </a:ext>
            </a:extLst>
          </p:cNvPr>
          <p:cNvSpPr>
            <a:spLocks noGrp="1"/>
          </p:cNvSpPr>
          <p:nvPr>
            <p:ph type="sldNum" sz="quarter" idx="12"/>
          </p:nvPr>
        </p:nvSpPr>
        <p:spPr/>
        <p:txBody>
          <a:bodyPr/>
          <a:lstStyle/>
          <a:p>
            <a:fld id="{9CD9A578-84A4-4247-B01E-A84B9E2DF7BB}" type="slidenum">
              <a:rPr lang="en-PK" smtClean="0"/>
              <a:t>26</a:t>
            </a:fld>
            <a:endParaRPr lang="en-PK"/>
          </a:p>
        </p:txBody>
      </p:sp>
    </p:spTree>
    <p:extLst>
      <p:ext uri="{BB962C8B-B14F-4D97-AF65-F5344CB8AC3E}">
        <p14:creationId xmlns:p14="http://schemas.microsoft.com/office/powerpoint/2010/main" val="3083436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5FF25-5F78-5257-511E-6F011B6164A6}"/>
              </a:ext>
            </a:extLst>
          </p:cNvPr>
          <p:cNvSpPr>
            <a:spLocks noGrp="1"/>
          </p:cNvSpPr>
          <p:nvPr>
            <p:ph type="title"/>
          </p:nvPr>
        </p:nvSpPr>
        <p:spPr/>
        <p:txBody>
          <a:bodyPr/>
          <a:lstStyle/>
          <a:p>
            <a:r>
              <a:rPr lang="en-US" dirty="0"/>
              <a:t>Huber loss</a:t>
            </a:r>
          </a:p>
        </p:txBody>
      </p:sp>
      <p:sp>
        <p:nvSpPr>
          <p:cNvPr id="3" name="Content Placeholder 2">
            <a:extLst>
              <a:ext uri="{FF2B5EF4-FFF2-40B4-BE49-F238E27FC236}">
                <a16:creationId xmlns:a16="http://schemas.microsoft.com/office/drawing/2014/main" id="{EF3B1DBC-1EAB-D6BF-E3DD-DFB8A62B59BE}"/>
              </a:ext>
            </a:extLst>
          </p:cNvPr>
          <p:cNvSpPr>
            <a:spLocks noGrp="1"/>
          </p:cNvSpPr>
          <p:nvPr>
            <p:ph idx="1"/>
          </p:nvPr>
        </p:nvSpPr>
        <p:spPr/>
        <p:txBody>
          <a:bodyPr/>
          <a:lstStyle/>
          <a:p>
            <a:r>
              <a:rPr lang="en-GB" dirty="0"/>
              <a:t>By definition, Huber loss is a robust lost function that combines the best properties of Mean Squared Error (MSE) and Mean Absolute </a:t>
            </a:r>
            <a:r>
              <a:rPr lang="en-GB" dirty="0" err="1"/>
              <a:t>Errror</a:t>
            </a:r>
            <a:r>
              <a:rPr lang="en-GB" dirty="0"/>
              <a:t> (MAE), using in evaluating regression tasks.</a:t>
            </a:r>
          </a:p>
          <a:p>
            <a:r>
              <a:rPr lang="en-GB" dirty="0" err="1"/>
              <a:t>Mathmatically</a:t>
            </a:r>
            <a:r>
              <a:rPr lang="en-GB" dirty="0"/>
              <a:t>, we can observe for residual with an absolute value less than or equal to the threshold parameter δ, the Huber loss is </a:t>
            </a:r>
            <a:r>
              <a:rPr lang="en-GB" b="1" dirty="0"/>
              <a:t>quadratic</a:t>
            </a:r>
            <a:r>
              <a:rPr lang="en-GB" dirty="0"/>
              <a:t>. For residuals with an absolute value greater than the threshold parameter δ, the Huber loss is </a:t>
            </a:r>
            <a:r>
              <a:rPr lang="en-GB" b="1" dirty="0"/>
              <a:t>linear</a:t>
            </a:r>
            <a:r>
              <a:rPr lang="en-GB" dirty="0"/>
              <a:t>.</a:t>
            </a:r>
          </a:p>
          <a:p>
            <a:r>
              <a:rPr lang="en-GB" dirty="0"/>
              <a:t>The hybrid nature of Huber loss makes it less sensitive to outliers, similar to MAE, but also penalizes small errors within the data points, similar to MSE. The following chart displays the visualization of the two loss functions.</a:t>
            </a:r>
            <a:endParaRPr lang="en-US" dirty="0"/>
          </a:p>
        </p:txBody>
      </p:sp>
      <p:pic>
        <p:nvPicPr>
          <p:cNvPr id="5" name="Picture 4">
            <a:extLst>
              <a:ext uri="{FF2B5EF4-FFF2-40B4-BE49-F238E27FC236}">
                <a16:creationId xmlns:a16="http://schemas.microsoft.com/office/drawing/2014/main" id="{E581B30F-D04B-E930-3519-EE5B3073860D}"/>
              </a:ext>
            </a:extLst>
          </p:cNvPr>
          <p:cNvPicPr>
            <a:picLocks noChangeAspect="1"/>
          </p:cNvPicPr>
          <p:nvPr/>
        </p:nvPicPr>
        <p:blipFill>
          <a:blip r:embed="rId2"/>
          <a:stretch>
            <a:fillRect/>
          </a:stretch>
        </p:blipFill>
        <p:spPr>
          <a:xfrm>
            <a:off x="2678931" y="5358681"/>
            <a:ext cx="6468378" cy="1200318"/>
          </a:xfrm>
          <a:prstGeom prst="rect">
            <a:avLst/>
          </a:prstGeom>
        </p:spPr>
      </p:pic>
      <p:sp>
        <p:nvSpPr>
          <p:cNvPr id="4" name="Slide Number Placeholder 3">
            <a:extLst>
              <a:ext uri="{FF2B5EF4-FFF2-40B4-BE49-F238E27FC236}">
                <a16:creationId xmlns:a16="http://schemas.microsoft.com/office/drawing/2014/main" id="{BEC9A98B-1CC7-C71F-9170-2C8A6B8FD83A}"/>
              </a:ext>
            </a:extLst>
          </p:cNvPr>
          <p:cNvSpPr>
            <a:spLocks noGrp="1"/>
          </p:cNvSpPr>
          <p:nvPr>
            <p:ph type="sldNum" sz="quarter" idx="12"/>
          </p:nvPr>
        </p:nvSpPr>
        <p:spPr/>
        <p:txBody>
          <a:bodyPr/>
          <a:lstStyle/>
          <a:p>
            <a:fld id="{9CD9A578-84A4-4247-B01E-A84B9E2DF7BB}" type="slidenum">
              <a:rPr lang="en-PK" smtClean="0"/>
              <a:t>27</a:t>
            </a:fld>
            <a:endParaRPr lang="en-PK"/>
          </a:p>
        </p:txBody>
      </p:sp>
    </p:spTree>
    <p:extLst>
      <p:ext uri="{BB962C8B-B14F-4D97-AF65-F5344CB8AC3E}">
        <p14:creationId xmlns:p14="http://schemas.microsoft.com/office/powerpoint/2010/main" val="3728961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6E337-2881-240E-DC1C-2338EF2D6FB6}"/>
              </a:ext>
            </a:extLst>
          </p:cNvPr>
          <p:cNvSpPr>
            <a:spLocks noGrp="1"/>
          </p:cNvSpPr>
          <p:nvPr>
            <p:ph type="title"/>
          </p:nvPr>
        </p:nvSpPr>
        <p:spPr/>
        <p:txBody>
          <a:bodyPr/>
          <a:lstStyle/>
          <a:p>
            <a:r>
              <a:rPr lang="en-GB" b="1" dirty="0"/>
              <a:t>Binary Cross-Entropy Loss / Log Loss</a:t>
            </a:r>
            <a:br>
              <a:rPr lang="en-GB" b="1" dirty="0"/>
            </a:br>
            <a:endParaRPr lang="en-US" dirty="0"/>
          </a:p>
        </p:txBody>
      </p:sp>
      <p:sp>
        <p:nvSpPr>
          <p:cNvPr id="3" name="Content Placeholder 2">
            <a:extLst>
              <a:ext uri="{FF2B5EF4-FFF2-40B4-BE49-F238E27FC236}">
                <a16:creationId xmlns:a16="http://schemas.microsoft.com/office/drawing/2014/main" id="{7AE76BED-5A08-60F9-245B-63DD107664F8}"/>
              </a:ext>
            </a:extLst>
          </p:cNvPr>
          <p:cNvSpPr>
            <a:spLocks noGrp="1"/>
          </p:cNvSpPr>
          <p:nvPr>
            <p:ph idx="1"/>
          </p:nvPr>
        </p:nvSpPr>
        <p:spPr>
          <a:xfrm>
            <a:off x="1143000" y="1351280"/>
            <a:ext cx="9872871" cy="4744720"/>
          </a:xfrm>
        </p:spPr>
        <p:txBody>
          <a:bodyPr>
            <a:normAutofit fontScale="62500" lnSpcReduction="20000"/>
          </a:bodyPr>
          <a:lstStyle/>
          <a:p>
            <a:r>
              <a:rPr lang="en-GB" dirty="0">
                <a:solidFill>
                  <a:schemeClr val="tx1"/>
                </a:solidFill>
              </a:rPr>
              <a:t>Binary Cross-Entropy Loss(BCE) is a performance measure for classification models that outputs a prediction with a probability value typically between 0 and 1, and this prediction value corresponds to the likelihood of a data sample belonging to a class or </a:t>
            </a:r>
            <a:r>
              <a:rPr lang="en-GB" sz="2100" dirty="0">
                <a:solidFill>
                  <a:schemeClr val="tx1"/>
                </a:solidFill>
              </a:rPr>
              <a:t>category. In the case of Binary Cross-Entropy Loss, there are two distinct classes. But notably, a variant of cross-entropy loss, </a:t>
            </a:r>
            <a:r>
              <a:rPr lang="en-GB" sz="2100" dirty="0">
                <a:solidFill>
                  <a:schemeClr val="tx1"/>
                </a:solidFill>
                <a:hlinkClick r:id="rId2">
                  <a:extLst>
                    <a:ext uri="{A12FA001-AC4F-418D-AE19-62706E023703}">
                      <ahyp:hlinkClr xmlns:ahyp="http://schemas.microsoft.com/office/drawing/2018/hyperlinkcolor" val="tx"/>
                    </a:ext>
                  </a:extLst>
                </a:hlinkClick>
              </a:rPr>
              <a:t>Categorical Cross-Entropy</a:t>
            </a:r>
            <a:r>
              <a:rPr lang="en-GB" sz="2100" dirty="0">
                <a:solidFill>
                  <a:schemeClr val="tx1"/>
                </a:solidFill>
              </a:rPr>
              <a:t> applies to multiclass classification scenarios.</a:t>
            </a:r>
          </a:p>
          <a:p>
            <a:r>
              <a:rPr lang="en-GB" sz="2100" dirty="0">
                <a:solidFill>
                  <a:schemeClr val="tx1"/>
                </a:solidFill>
              </a:rPr>
              <a:t>To understand Binary Cross-Entropy Loss, sometimes called Log Loss, it is helpful to discuss the components of the terms.</a:t>
            </a:r>
          </a:p>
          <a:p>
            <a:r>
              <a:rPr lang="en-GB" sz="2100" dirty="0">
                <a:solidFill>
                  <a:schemeClr val="tx1"/>
                </a:solidFill>
              </a:rPr>
              <a:t>Loss: This is a mathematical quantification of the margin/difference between the prediction of </a:t>
            </a:r>
            <a:r>
              <a:rPr lang="en-GB" dirty="0">
                <a:solidFill>
                  <a:schemeClr val="tx1"/>
                </a:solidFill>
              </a:rPr>
              <a:t>a machine learning algorithm and the actual target value.</a:t>
            </a:r>
          </a:p>
          <a:p>
            <a:r>
              <a:rPr lang="en-GB" b="1" dirty="0">
                <a:solidFill>
                  <a:schemeClr val="tx1"/>
                </a:solidFill>
              </a:rPr>
              <a:t>Entropy</a:t>
            </a:r>
            <a:r>
              <a:rPr lang="en-GB" dirty="0">
                <a:solidFill>
                  <a:schemeClr val="tx1"/>
                </a:solidFill>
              </a:rPr>
              <a:t>: A simple definition of entropy is that it is a calculation of the degree of randomness or disorder within a system</a:t>
            </a:r>
          </a:p>
          <a:p>
            <a:r>
              <a:rPr lang="en-GB" b="1" dirty="0">
                <a:solidFill>
                  <a:schemeClr val="tx1"/>
                </a:solidFill>
              </a:rPr>
              <a:t>Cross Entropy</a:t>
            </a:r>
            <a:r>
              <a:rPr lang="en-GB" dirty="0">
                <a:solidFill>
                  <a:schemeClr val="tx1"/>
                </a:solidFill>
              </a:rPr>
              <a:t>: This is a term commonly utilised in information theory, and it measures the differences between two probability distributions that can be used to identify an observation.</a:t>
            </a:r>
          </a:p>
          <a:p>
            <a:r>
              <a:rPr lang="en-GB" b="1" dirty="0">
                <a:solidFill>
                  <a:schemeClr val="tx1"/>
                </a:solidFill>
              </a:rPr>
              <a:t>Binary</a:t>
            </a:r>
            <a:r>
              <a:rPr lang="en-GB" dirty="0">
                <a:solidFill>
                  <a:schemeClr val="tx1"/>
                </a:solidFill>
              </a:rPr>
              <a:t>: This is an expression of numerical digits using either of two states, 0 or 1. This is extended to the definition of Binary Classification where we </a:t>
            </a:r>
            <a:r>
              <a:rPr lang="en-GB" dirty="0" err="1">
                <a:solidFill>
                  <a:schemeClr val="tx1"/>
                </a:solidFill>
              </a:rPr>
              <a:t>ditingusish</a:t>
            </a:r>
            <a:r>
              <a:rPr lang="en-GB" dirty="0">
                <a:solidFill>
                  <a:schemeClr val="tx1"/>
                </a:solidFill>
              </a:rPr>
              <a:t> two classes(A and B) using binary representation, where class A is assigned the numerical representation of 0 and class B is assigned 1.</a:t>
            </a:r>
          </a:p>
          <a:p>
            <a:pPr marL="45720" indent="0" algn="ctr">
              <a:buNone/>
            </a:pPr>
            <a:r>
              <a:rPr lang="es-ES" dirty="0">
                <a:solidFill>
                  <a:schemeClr val="tx1"/>
                </a:solidFill>
              </a:rPr>
              <a:t>L(y, f(x)) = -[y * log(f(x)) + (1 - y) * log(1 - f(x))]</a:t>
            </a:r>
          </a:p>
          <a:p>
            <a:pPr marL="45720" indent="0">
              <a:buNone/>
            </a:pPr>
            <a:r>
              <a:rPr lang="en-GB" dirty="0">
                <a:solidFill>
                  <a:schemeClr val="tx1"/>
                </a:solidFill>
              </a:rPr>
              <a:t>Where:</a:t>
            </a:r>
          </a:p>
          <a:p>
            <a:r>
              <a:rPr lang="en-GB" dirty="0">
                <a:solidFill>
                  <a:schemeClr val="tx1"/>
                </a:solidFill>
              </a:rPr>
              <a:t>L represents the Binary Cross-Entropy Loss function</a:t>
            </a:r>
          </a:p>
          <a:p>
            <a:r>
              <a:rPr lang="en-GB" dirty="0">
                <a:solidFill>
                  <a:schemeClr val="tx1"/>
                </a:solidFill>
              </a:rPr>
              <a:t>y is the true binary label (0 or 1)</a:t>
            </a:r>
          </a:p>
          <a:p>
            <a:r>
              <a:rPr lang="en-GB" dirty="0">
                <a:solidFill>
                  <a:schemeClr val="tx1"/>
                </a:solidFill>
              </a:rPr>
              <a:t>f(x) is the predicted probability of the positive class (between 0 and 1)</a:t>
            </a:r>
          </a:p>
          <a:p>
            <a:endParaRPr lang="en-GB" dirty="0">
              <a:solidFill>
                <a:schemeClr val="tx1"/>
              </a:solidFill>
            </a:endParaRPr>
          </a:p>
          <a:p>
            <a:pPr marL="45720" indent="0" algn="ctr">
              <a:buNone/>
            </a:pPr>
            <a:endParaRPr lang="en-US" dirty="0">
              <a:solidFill>
                <a:schemeClr val="tx1"/>
              </a:solidFill>
            </a:endParaRPr>
          </a:p>
        </p:txBody>
      </p:sp>
      <p:sp>
        <p:nvSpPr>
          <p:cNvPr id="4" name="Title 1">
            <a:extLst>
              <a:ext uri="{FF2B5EF4-FFF2-40B4-BE49-F238E27FC236}">
                <a16:creationId xmlns:a16="http://schemas.microsoft.com/office/drawing/2014/main" id="{BFA6EB4B-FD46-C697-48CC-D9CEE478622E}"/>
              </a:ext>
            </a:extLst>
          </p:cNvPr>
          <p:cNvSpPr txBox="1">
            <a:spLocks/>
          </p:cNvSpPr>
          <p:nvPr/>
        </p:nvSpPr>
        <p:spPr>
          <a:xfrm>
            <a:off x="939800" y="355600"/>
            <a:ext cx="9875520" cy="508000"/>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pPr algn="ctr"/>
            <a:r>
              <a:rPr lang="en-GB" b="1" dirty="0"/>
              <a:t>Loss Functions for Classification</a:t>
            </a:r>
            <a:endParaRPr lang="en-US" dirty="0"/>
          </a:p>
        </p:txBody>
      </p:sp>
      <p:sp>
        <p:nvSpPr>
          <p:cNvPr id="5" name="Slide Number Placeholder 4">
            <a:extLst>
              <a:ext uri="{FF2B5EF4-FFF2-40B4-BE49-F238E27FC236}">
                <a16:creationId xmlns:a16="http://schemas.microsoft.com/office/drawing/2014/main" id="{C2DDF7BA-4DB6-9F53-175A-9C598FD8B907}"/>
              </a:ext>
            </a:extLst>
          </p:cNvPr>
          <p:cNvSpPr>
            <a:spLocks noGrp="1"/>
          </p:cNvSpPr>
          <p:nvPr>
            <p:ph type="sldNum" sz="quarter" idx="12"/>
          </p:nvPr>
        </p:nvSpPr>
        <p:spPr/>
        <p:txBody>
          <a:bodyPr/>
          <a:lstStyle/>
          <a:p>
            <a:fld id="{9CD9A578-84A4-4247-B01E-A84B9E2DF7BB}" type="slidenum">
              <a:rPr lang="en-PK" smtClean="0"/>
              <a:t>28</a:t>
            </a:fld>
            <a:endParaRPr lang="en-PK"/>
          </a:p>
        </p:txBody>
      </p:sp>
    </p:spTree>
    <p:extLst>
      <p:ext uri="{BB962C8B-B14F-4D97-AF65-F5344CB8AC3E}">
        <p14:creationId xmlns:p14="http://schemas.microsoft.com/office/powerpoint/2010/main" val="20578977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6570A-994F-4693-C9B3-0F33396CA32F}"/>
              </a:ext>
            </a:extLst>
          </p:cNvPr>
          <p:cNvSpPr>
            <a:spLocks noGrp="1"/>
          </p:cNvSpPr>
          <p:nvPr>
            <p:ph type="title"/>
          </p:nvPr>
        </p:nvSpPr>
        <p:spPr/>
        <p:txBody>
          <a:bodyPr/>
          <a:lstStyle/>
          <a:p>
            <a:r>
              <a:rPr lang="en-GB" dirty="0"/>
              <a:t>Categorical cross-entropy</a:t>
            </a:r>
            <a:endParaRPr lang="en-US" dirty="0"/>
          </a:p>
        </p:txBody>
      </p:sp>
      <p:sp>
        <p:nvSpPr>
          <p:cNvPr id="3" name="Content Placeholder 2">
            <a:extLst>
              <a:ext uri="{FF2B5EF4-FFF2-40B4-BE49-F238E27FC236}">
                <a16:creationId xmlns:a16="http://schemas.microsoft.com/office/drawing/2014/main" id="{BCB63104-2AAA-B154-4CB0-72AF50F2E5B5}"/>
              </a:ext>
            </a:extLst>
          </p:cNvPr>
          <p:cNvSpPr>
            <a:spLocks noGrp="1"/>
          </p:cNvSpPr>
          <p:nvPr>
            <p:ph idx="1"/>
          </p:nvPr>
        </p:nvSpPr>
        <p:spPr/>
        <p:txBody>
          <a:bodyPr/>
          <a:lstStyle/>
          <a:p>
            <a:pPr fontAlgn="base"/>
            <a:r>
              <a:rPr lang="en-GB" dirty="0">
                <a:solidFill>
                  <a:schemeClr val="tx1"/>
                </a:solidFill>
              </a:rPr>
              <a:t>Categorical cross-entropy is used when you have more than two classes in your classification problem (</a:t>
            </a:r>
            <a:r>
              <a:rPr lang="en-GB" u="sng" dirty="0">
                <a:solidFill>
                  <a:schemeClr val="tx1"/>
                </a:solidFill>
                <a:hlinkClick r:id="rId2">
                  <a:extLst>
                    <a:ext uri="{A12FA001-AC4F-418D-AE19-62706E023703}">
                      <ahyp:hlinkClr xmlns:ahyp="http://schemas.microsoft.com/office/drawing/2018/hyperlinkcolor" val="tx"/>
                    </a:ext>
                  </a:extLst>
                </a:hlinkClick>
              </a:rPr>
              <a:t>multi-class classification</a:t>
            </a:r>
            <a:r>
              <a:rPr lang="en-GB" dirty="0">
                <a:solidFill>
                  <a:schemeClr val="tx1"/>
                </a:solidFill>
              </a:rPr>
              <a:t>). It measures the difference between two probability distributions: the predicted probability distribution and the true distribution, which is represented by a one-hot encoded vector.</a:t>
            </a:r>
          </a:p>
          <a:p>
            <a:pPr fontAlgn="base"/>
            <a:r>
              <a:rPr lang="en-GB" dirty="0">
                <a:solidFill>
                  <a:schemeClr val="tx1"/>
                </a:solidFill>
              </a:rPr>
              <a:t>In a one-hot encoded vector, the correct class is represented as "1" and all other classes as "0." Categorical cross-entropy penalizes predictions based on how confident the model is about the correct class.</a:t>
            </a:r>
          </a:p>
          <a:p>
            <a:pPr fontAlgn="base"/>
            <a:r>
              <a:rPr lang="en-GB" dirty="0">
                <a:solidFill>
                  <a:schemeClr val="tx1"/>
                </a:solidFill>
              </a:rPr>
              <a:t>If the model assigns a high probability to the true class, the cross-entropy will be low. Conversely, if the model assigns low probability to the correct class, the cross-entropy will be high.</a:t>
            </a:r>
          </a:p>
          <a:p>
            <a:endParaRPr lang="en-US" dirty="0">
              <a:solidFill>
                <a:schemeClr val="tx1"/>
              </a:solidFill>
            </a:endParaRPr>
          </a:p>
        </p:txBody>
      </p:sp>
      <p:sp>
        <p:nvSpPr>
          <p:cNvPr id="4" name="Slide Number Placeholder 3">
            <a:extLst>
              <a:ext uri="{FF2B5EF4-FFF2-40B4-BE49-F238E27FC236}">
                <a16:creationId xmlns:a16="http://schemas.microsoft.com/office/drawing/2014/main" id="{55FF98B2-E8CE-A504-24D5-A0DE7C265558}"/>
              </a:ext>
            </a:extLst>
          </p:cNvPr>
          <p:cNvSpPr>
            <a:spLocks noGrp="1"/>
          </p:cNvSpPr>
          <p:nvPr>
            <p:ph type="sldNum" sz="quarter" idx="12"/>
          </p:nvPr>
        </p:nvSpPr>
        <p:spPr/>
        <p:txBody>
          <a:bodyPr/>
          <a:lstStyle/>
          <a:p>
            <a:fld id="{9CD9A578-84A4-4247-B01E-A84B9E2DF7BB}" type="slidenum">
              <a:rPr lang="en-PK" smtClean="0"/>
              <a:t>29</a:t>
            </a:fld>
            <a:endParaRPr lang="en-PK"/>
          </a:p>
        </p:txBody>
      </p:sp>
    </p:spTree>
    <p:extLst>
      <p:ext uri="{BB962C8B-B14F-4D97-AF65-F5344CB8AC3E}">
        <p14:creationId xmlns:p14="http://schemas.microsoft.com/office/powerpoint/2010/main" val="3899449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C06DF-0E21-42E3-F118-742BEC542CBB}"/>
              </a:ext>
            </a:extLst>
          </p:cNvPr>
          <p:cNvSpPr>
            <a:spLocks noGrp="1"/>
          </p:cNvSpPr>
          <p:nvPr>
            <p:ph type="title"/>
          </p:nvPr>
        </p:nvSpPr>
        <p:spPr/>
        <p:txBody>
          <a:bodyPr/>
          <a:lstStyle/>
          <a:p>
            <a:r>
              <a:rPr lang="en-GB" dirty="0"/>
              <a:t>Hinge Loss</a:t>
            </a:r>
            <a:endParaRPr lang="en-US" dirty="0"/>
          </a:p>
        </p:txBody>
      </p:sp>
      <p:sp>
        <p:nvSpPr>
          <p:cNvPr id="3" name="Content Placeholder 2">
            <a:extLst>
              <a:ext uri="{FF2B5EF4-FFF2-40B4-BE49-F238E27FC236}">
                <a16:creationId xmlns:a16="http://schemas.microsoft.com/office/drawing/2014/main" id="{DD694D53-45FC-8D5B-4366-18437E243ABE}"/>
              </a:ext>
            </a:extLst>
          </p:cNvPr>
          <p:cNvSpPr>
            <a:spLocks noGrp="1"/>
          </p:cNvSpPr>
          <p:nvPr>
            <p:ph idx="1"/>
          </p:nvPr>
        </p:nvSpPr>
        <p:spPr/>
        <p:txBody>
          <a:bodyPr>
            <a:normAutofit fontScale="92500" lnSpcReduction="20000"/>
          </a:bodyPr>
          <a:lstStyle/>
          <a:p>
            <a:r>
              <a:rPr lang="en-GB" dirty="0">
                <a:solidFill>
                  <a:schemeClr val="tx1"/>
                </a:solidFill>
              </a:rPr>
              <a:t>Hinge Loss is a loss function utilized within machine learning to train classifiers that optimize to increase the margin between data points and the </a:t>
            </a:r>
            <a:r>
              <a:rPr lang="en-GB" b="1" dirty="0">
                <a:solidFill>
                  <a:schemeClr val="tx1"/>
                </a:solidFill>
              </a:rPr>
              <a:t>decision boundary</a:t>
            </a:r>
            <a:r>
              <a:rPr lang="en-GB" dirty="0">
                <a:solidFill>
                  <a:schemeClr val="tx1"/>
                </a:solidFill>
              </a:rPr>
              <a:t>. Hence, it is mainly used for </a:t>
            </a:r>
            <a:r>
              <a:rPr lang="en-GB" b="1" dirty="0">
                <a:solidFill>
                  <a:schemeClr val="tx1"/>
                </a:solidFill>
              </a:rPr>
              <a:t>maximum margin</a:t>
            </a:r>
            <a:r>
              <a:rPr lang="en-GB" dirty="0">
                <a:solidFill>
                  <a:schemeClr val="tx1"/>
                </a:solidFill>
              </a:rPr>
              <a:t> classifications. To ensure the maximum margin between the data points and boundaries, hinge loss penalizes predictions from the machine learning model that are wrongly classified, which are predictions that fall on the wrong side of the </a:t>
            </a:r>
            <a:r>
              <a:rPr lang="en-GB" b="1" dirty="0">
                <a:solidFill>
                  <a:schemeClr val="tx1"/>
                </a:solidFill>
              </a:rPr>
              <a:t>margin boundary</a:t>
            </a:r>
            <a:r>
              <a:rPr lang="en-GB" dirty="0">
                <a:solidFill>
                  <a:schemeClr val="tx1"/>
                </a:solidFill>
              </a:rPr>
              <a:t> and also predictions that are correctly classified but are within close proximity to the decision boundary.</a:t>
            </a:r>
          </a:p>
          <a:p>
            <a:r>
              <a:rPr lang="en-GB" dirty="0">
                <a:solidFill>
                  <a:schemeClr val="tx1"/>
                </a:solidFill>
              </a:rPr>
              <a:t>This characteristic of the Hinge Loss function ensures machine learning models are able to predict the accurate classification of data points to their target value with confidence that exceeds the threshold of the decision boundary. This approach to machine algorithm learning enhances the model's generalization capabilities, making it effective for accurately classifying data points with a high degree of certainty.</a:t>
            </a:r>
          </a:p>
          <a:p>
            <a:r>
              <a:rPr lang="en-GB" b="1" dirty="0">
                <a:solidFill>
                  <a:schemeClr val="tx1"/>
                </a:solidFill>
              </a:rPr>
              <a:t>The mathematical equation for Hinge Loss </a:t>
            </a:r>
            <a:r>
              <a:rPr lang="en-GB" b="1">
                <a:solidFill>
                  <a:schemeClr val="tx1"/>
                </a:solidFill>
              </a:rPr>
              <a:t>is:</a:t>
            </a:r>
          </a:p>
          <a:p>
            <a:pPr marL="45720" indent="0">
              <a:buNone/>
            </a:pPr>
            <a:br>
              <a:rPr lang="en-GB" b="1" dirty="0">
                <a:solidFill>
                  <a:schemeClr val="tx1"/>
                </a:solidFill>
              </a:rPr>
            </a:br>
            <a:r>
              <a:rPr lang="en-GB" b="1" dirty="0">
                <a:solidFill>
                  <a:schemeClr val="tx1"/>
                </a:solidFill>
              </a:rPr>
              <a:t>                                                                       </a:t>
            </a:r>
            <a:r>
              <a:rPr lang="es-ES" b="1" dirty="0">
                <a:solidFill>
                  <a:schemeClr val="tx1"/>
                </a:solidFill>
              </a:rPr>
              <a:t>L(y, f(x)) = </a:t>
            </a:r>
            <a:r>
              <a:rPr lang="es-ES" b="1" dirty="0" err="1">
                <a:solidFill>
                  <a:schemeClr val="tx1"/>
                </a:solidFill>
              </a:rPr>
              <a:t>max</a:t>
            </a:r>
            <a:r>
              <a:rPr lang="es-ES" b="1" dirty="0">
                <a:solidFill>
                  <a:schemeClr val="tx1"/>
                </a:solidFill>
              </a:rPr>
              <a:t>(0, 1 - y * f(x))</a:t>
            </a:r>
            <a:endParaRPr lang="en-GB" dirty="0">
              <a:solidFill>
                <a:schemeClr val="tx1"/>
              </a:solidFill>
            </a:endParaRPr>
          </a:p>
          <a:p>
            <a:endParaRPr lang="en-US" dirty="0">
              <a:solidFill>
                <a:schemeClr val="tx1"/>
              </a:solidFill>
            </a:endParaRPr>
          </a:p>
        </p:txBody>
      </p:sp>
      <p:sp>
        <p:nvSpPr>
          <p:cNvPr id="4" name="Slide Number Placeholder 3">
            <a:extLst>
              <a:ext uri="{FF2B5EF4-FFF2-40B4-BE49-F238E27FC236}">
                <a16:creationId xmlns:a16="http://schemas.microsoft.com/office/drawing/2014/main" id="{09412E3D-F585-3781-B659-CEA4E135B6B9}"/>
              </a:ext>
            </a:extLst>
          </p:cNvPr>
          <p:cNvSpPr>
            <a:spLocks noGrp="1"/>
          </p:cNvSpPr>
          <p:nvPr>
            <p:ph type="sldNum" sz="quarter" idx="12"/>
          </p:nvPr>
        </p:nvSpPr>
        <p:spPr/>
        <p:txBody>
          <a:bodyPr/>
          <a:lstStyle/>
          <a:p>
            <a:fld id="{9CD9A578-84A4-4247-B01E-A84B9E2DF7BB}" type="slidenum">
              <a:rPr lang="en-PK" smtClean="0"/>
              <a:t>30</a:t>
            </a:fld>
            <a:endParaRPr lang="en-PK"/>
          </a:p>
        </p:txBody>
      </p:sp>
    </p:spTree>
    <p:extLst>
      <p:ext uri="{BB962C8B-B14F-4D97-AF65-F5344CB8AC3E}">
        <p14:creationId xmlns:p14="http://schemas.microsoft.com/office/powerpoint/2010/main" val="10599614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ED6172-AFD1-34A0-69B9-7B5EB9AE35F2}"/>
              </a:ext>
            </a:extLst>
          </p:cNvPr>
          <p:cNvSpPr>
            <a:spLocks noGrp="1"/>
          </p:cNvSpPr>
          <p:nvPr>
            <p:ph idx="1"/>
          </p:nvPr>
        </p:nvSpPr>
        <p:spPr/>
        <p:txBody>
          <a:bodyPr/>
          <a:lstStyle/>
          <a:p>
            <a:r>
              <a:rPr lang="en-US" dirty="0">
                <a:solidFill>
                  <a:schemeClr val="tx1"/>
                </a:solidFill>
              </a:rPr>
              <a:t>https://neptune.ai/blog/keras-loss-functions</a:t>
            </a:r>
          </a:p>
          <a:p>
            <a:r>
              <a:rPr lang="en-US" dirty="0">
                <a:solidFill>
                  <a:schemeClr val="tx1"/>
                </a:solidFill>
              </a:rPr>
              <a:t>https://colab.research.google.com/github/goodboychan/chans_jupyter/blob/main/_notebooks/2020-07-05-02-Loss-functions.ipynb</a:t>
            </a:r>
          </a:p>
        </p:txBody>
      </p:sp>
      <p:sp>
        <p:nvSpPr>
          <p:cNvPr id="5" name="Slide Number Placeholder 4">
            <a:extLst>
              <a:ext uri="{FF2B5EF4-FFF2-40B4-BE49-F238E27FC236}">
                <a16:creationId xmlns:a16="http://schemas.microsoft.com/office/drawing/2014/main" id="{7850AD9B-55F0-8F5D-ABA5-91886BEDB6CB}"/>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6" name="Title 5">
            <a:extLst>
              <a:ext uri="{FF2B5EF4-FFF2-40B4-BE49-F238E27FC236}">
                <a16:creationId xmlns:a16="http://schemas.microsoft.com/office/drawing/2014/main" id="{46121DAF-56BF-81C3-676C-05896F1410B6}"/>
              </a:ext>
            </a:extLst>
          </p:cNvPr>
          <p:cNvSpPr>
            <a:spLocks noGrp="1"/>
          </p:cNvSpPr>
          <p:nvPr>
            <p:ph type="title"/>
          </p:nvPr>
        </p:nvSpPr>
        <p:spPr/>
        <p:txBody>
          <a:bodyPr/>
          <a:lstStyle/>
          <a:p>
            <a:r>
              <a:rPr lang="en-US" dirty="0"/>
              <a:t>Code </a:t>
            </a:r>
          </a:p>
        </p:txBody>
      </p:sp>
    </p:spTree>
    <p:extLst>
      <p:ext uri="{BB962C8B-B14F-4D97-AF65-F5344CB8AC3E}">
        <p14:creationId xmlns:p14="http://schemas.microsoft.com/office/powerpoint/2010/main" val="3309163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1152" y="2866672"/>
            <a:ext cx="7886700" cy="606423"/>
          </a:xfrm>
        </p:spPr>
        <p:txBody>
          <a:bodyPr>
            <a:noAutofit/>
          </a:bodyPr>
          <a:lstStyle/>
          <a:p>
            <a:pPr algn="ctr"/>
            <a:r>
              <a:rPr lang="en-US" sz="7200" dirty="0"/>
              <a:t>Thank You </a:t>
            </a:r>
            <a:r>
              <a:rPr lang="en-US" sz="7200" dirty="0">
                <a:sym typeface="Wingdings" panose="05000000000000000000" pitchFamily="2" charset="2"/>
              </a:rPr>
              <a:t> </a:t>
            </a:r>
            <a:endParaRPr lang="en-US" sz="7200" dirty="0"/>
          </a:p>
        </p:txBody>
      </p:sp>
      <p:sp>
        <p:nvSpPr>
          <p:cNvPr id="4" name="Rectangle 3"/>
          <p:cNvSpPr/>
          <p:nvPr/>
        </p:nvSpPr>
        <p:spPr>
          <a:xfrm>
            <a:off x="1726676" y="762000"/>
            <a:ext cx="8484124" cy="14045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DDD12F37-302F-42F2-9029-E364DD370268}" type="slidenum">
              <a:rPr lang="en-US" smtClean="0"/>
              <a:t>32</a:t>
            </a:fld>
            <a:endParaRPr lang="en-US"/>
          </a:p>
        </p:txBody>
      </p:sp>
    </p:spTree>
    <p:extLst>
      <p:ext uri="{BB962C8B-B14F-4D97-AF65-F5344CB8AC3E}">
        <p14:creationId xmlns:p14="http://schemas.microsoft.com/office/powerpoint/2010/main" val="1020331401"/>
      </p:ext>
    </p:extLst>
  </p:cSld>
  <p:clrMapOvr>
    <a:masterClrMapping/>
  </p:clrMapOvr>
</p:sld>
</file>

<file path=ppt/theme/theme1.xml><?xml version="1.0" encoding="utf-8"?>
<a:theme xmlns:a="http://schemas.openxmlformats.org/drawingml/2006/main" name="Basis">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5793</TotalTime>
  <Words>3849</Words>
  <Application>Microsoft Macintosh PowerPoint</Application>
  <PresentationFormat>Widescreen</PresentationFormat>
  <Paragraphs>228</Paragraphs>
  <Slides>32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Arial</vt:lpstr>
      <vt:lpstr>Arial MT</vt:lpstr>
      <vt:lpstr>Calibri</vt:lpstr>
      <vt:lpstr>Corbel</vt:lpstr>
      <vt:lpstr>Google Sans</vt:lpstr>
      <vt:lpstr>Symbol</vt:lpstr>
      <vt:lpstr>Wingdings</vt:lpstr>
      <vt:lpstr>Basis</vt:lpstr>
      <vt:lpstr>PowerPoint Presentation</vt:lpstr>
      <vt:lpstr>PowerPoint Presentation</vt:lpstr>
      <vt:lpstr>Types of Neural Networks Activation Functions </vt:lpstr>
      <vt:lpstr>Linear Activation Function </vt:lpstr>
      <vt:lpstr>Non-Linear Activation Functions </vt:lpstr>
      <vt:lpstr> Non-Linear Neural Networks Activation Functions Sigmoid / Logistic Activation Function  </vt:lpstr>
      <vt:lpstr>Why sigmoid?</vt:lpstr>
      <vt:lpstr>Limitations of Sigmoid- Vanishing gradient problem </vt:lpstr>
      <vt:lpstr>Tanh Function (Hyperbolic Tangent)</vt:lpstr>
      <vt:lpstr>Gradient of the Tanh Activation Function </vt:lpstr>
      <vt:lpstr>ReLU Function-(Rectified Linear Unit Function)</vt:lpstr>
      <vt:lpstr>The Dying ReLU problem</vt:lpstr>
      <vt:lpstr>Leaky ReLU Function </vt:lpstr>
      <vt:lpstr>Parametric ReLU Function</vt:lpstr>
      <vt:lpstr>Exponential Linear Units (ELUs) Function </vt:lpstr>
      <vt:lpstr>PowerPoint Presentation</vt:lpstr>
      <vt:lpstr>Softmax Function </vt:lpstr>
      <vt:lpstr>Softmax Function</vt:lpstr>
      <vt:lpstr>Swish</vt:lpstr>
      <vt:lpstr>Why are deep neural networks hard to train? </vt:lpstr>
      <vt:lpstr>How to choose the right Activation Function?</vt:lpstr>
      <vt:lpstr>PowerPoint Presentation</vt:lpstr>
      <vt:lpstr>Neural Networks Activation Functions in a Nutshell</vt:lpstr>
      <vt:lpstr>Loss Function </vt:lpstr>
      <vt:lpstr>Loss Functions for Regression Mean Square Error (MSE) / L2 Loss </vt:lpstr>
      <vt:lpstr>Mean Absolute Error (MAE) / L1 Loss </vt:lpstr>
      <vt:lpstr>Huber loss</vt:lpstr>
      <vt:lpstr>Binary Cross-Entropy Loss / Log Loss </vt:lpstr>
      <vt:lpstr>Categorical cross-entropy</vt:lpstr>
      <vt:lpstr>Hinge Loss</vt:lpstr>
      <vt:lpstr>Code </vt:lpstr>
      <vt:lpstr>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Zohair Ahmed</cp:lastModifiedBy>
  <cp:revision>75</cp:revision>
  <dcterms:created xsi:type="dcterms:W3CDTF">2024-10-23T18:42:02Z</dcterms:created>
  <dcterms:modified xsi:type="dcterms:W3CDTF">2026-02-18T08:24:50Z</dcterms:modified>
</cp:coreProperties>
</file>