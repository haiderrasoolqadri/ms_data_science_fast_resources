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20"/>
    <p:restoredTop sz="94236"/>
  </p:normalViewPr>
  <p:slideViewPr>
    <p:cSldViewPr snapToGrid="0">
      <p:cViewPr varScale="1">
        <p:scale>
          <a:sx n="113" d="100"/>
          <a:sy n="113" d="100"/>
        </p:scale>
        <p:origin x="6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10/13/25</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6DD1-07CA-A29C-338F-579794530EF3}"/>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4B22030A-7095-CCB4-95CD-0E54FCF22C3C}"/>
              </a:ext>
            </a:extLst>
          </p:cNvPr>
          <p:cNvSpPr>
            <a:spLocks noGrp="1"/>
          </p:cNvSpPr>
          <p:nvPr>
            <p:ph idx="1"/>
          </p:nvPr>
        </p:nvSpPr>
        <p:spPr/>
        <p:txBody>
          <a:bodyPr/>
          <a:lstStyle/>
          <a:p>
            <a:r>
              <a:rPr lang="en-US" dirty="0"/>
              <a:t>When we train a machine learning model on a dataset, it captures the patterns in the data and uses them for predicting results for new data points or test data. The predictions by the machine learning model might </a:t>
            </a:r>
            <a:r>
              <a:rPr lang="en-US" dirty="0">
                <a:solidFill>
                  <a:srgbClr val="00D4D3"/>
                </a:solidFill>
              </a:rPr>
              <a:t>not be equal to the expected or actual target values for the test data</a:t>
            </a:r>
            <a:r>
              <a:rPr lang="en-US" dirty="0"/>
              <a:t>. The difference between the actual and predicted target values is an error and is termed an error due to bias.</a:t>
            </a:r>
          </a:p>
          <a:p>
            <a:endParaRPr lang="en-US" dirty="0"/>
          </a:p>
          <a:p>
            <a:r>
              <a:rPr lang="en-US" dirty="0"/>
              <a:t>We can define bias as </a:t>
            </a:r>
            <a:r>
              <a:rPr lang="en-US" dirty="0">
                <a:solidFill>
                  <a:srgbClr val="00D4D3"/>
                </a:solidFill>
              </a:rPr>
              <a:t>“the inability of a machine learning model to capture the true relationship between the data points and the target values.”</a:t>
            </a:r>
          </a:p>
        </p:txBody>
      </p:sp>
    </p:spTree>
    <p:extLst>
      <p:ext uri="{BB962C8B-B14F-4D97-AF65-F5344CB8AC3E}">
        <p14:creationId xmlns:p14="http://schemas.microsoft.com/office/powerpoint/2010/main" val="3522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7A49-4773-C6E1-8606-21D6C3D74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79696-CFDF-F984-8DA6-AC6D2429A2ED}"/>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99F1BF26-DCAC-0C0E-34A4-283DBB81F430}"/>
              </a:ext>
            </a:extLst>
          </p:cNvPr>
          <p:cNvSpPr>
            <a:spLocks noGrp="1"/>
          </p:cNvSpPr>
          <p:nvPr>
            <p:ph idx="1"/>
          </p:nvPr>
        </p:nvSpPr>
        <p:spPr/>
        <p:txBody>
          <a:bodyPr/>
          <a:lstStyle/>
          <a:p>
            <a:r>
              <a:rPr lang="en-US" dirty="0"/>
              <a:t>Each ML algorithm works on some assumptions. Hence, each machine learning model has an inherent bias due to the assumptions. </a:t>
            </a:r>
          </a:p>
          <a:p>
            <a:r>
              <a:rPr lang="en-US" dirty="0"/>
              <a:t>For example, a </a:t>
            </a:r>
            <a:r>
              <a:rPr lang="en-US" dirty="0">
                <a:solidFill>
                  <a:srgbClr val="00D4D3"/>
                </a:solidFill>
              </a:rPr>
              <a:t>linear regression model </a:t>
            </a:r>
            <a:r>
              <a:rPr lang="en-US" dirty="0"/>
              <a:t>expects the data points and target values to be linearly independent. </a:t>
            </a:r>
          </a:p>
          <a:p>
            <a:r>
              <a:rPr lang="en-US" dirty="0">
                <a:solidFill>
                  <a:srgbClr val="00D4D3"/>
                </a:solidFill>
              </a:rPr>
              <a:t>K-Means clustering algorithm </a:t>
            </a:r>
            <a:r>
              <a:rPr lang="en-US" dirty="0"/>
              <a:t>assumes that the clusters in the input data are elliptical/circular in shape. </a:t>
            </a:r>
          </a:p>
          <a:p>
            <a:r>
              <a:rPr lang="en-US" dirty="0">
                <a:solidFill>
                  <a:srgbClr val="00D4D3"/>
                </a:solidFill>
              </a:rPr>
              <a:t>Naive Bayes classification </a:t>
            </a:r>
            <a:r>
              <a:rPr lang="en-US" dirty="0"/>
              <a:t>algorithm assumes that the features in the input data are independent of each other.</a:t>
            </a:r>
            <a:endParaRPr lang="en-US" dirty="0">
              <a:solidFill>
                <a:srgbClr val="00D4D3"/>
              </a:solidFill>
            </a:endParaRPr>
          </a:p>
        </p:txBody>
      </p:sp>
    </p:spTree>
    <p:extLst>
      <p:ext uri="{BB962C8B-B14F-4D97-AF65-F5344CB8AC3E}">
        <p14:creationId xmlns:p14="http://schemas.microsoft.com/office/powerpoint/2010/main" val="3941703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F8F4-CD5B-611B-69F2-A4BCD7558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5FE25-32D4-747E-264D-EDAD9B936C1C}"/>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38079C2F-8708-A6D4-A322-D5920AB09596}"/>
              </a:ext>
            </a:extLst>
          </p:cNvPr>
          <p:cNvSpPr>
            <a:spLocks noGrp="1"/>
          </p:cNvSpPr>
          <p:nvPr>
            <p:ph idx="1"/>
          </p:nvPr>
        </p:nvSpPr>
        <p:spPr/>
        <p:txBody>
          <a:bodyPr/>
          <a:lstStyle/>
          <a:p>
            <a:r>
              <a:rPr lang="en-US" dirty="0"/>
              <a:t>Each ML algorithm works on some assumptions. Hence, each machine learning model has an inherent bias due to the assumptions. </a:t>
            </a:r>
          </a:p>
          <a:p>
            <a:r>
              <a:rPr lang="en-US" dirty="0"/>
              <a:t>For example, a </a:t>
            </a:r>
            <a:r>
              <a:rPr lang="en-US" dirty="0">
                <a:solidFill>
                  <a:srgbClr val="00D4D3"/>
                </a:solidFill>
              </a:rPr>
              <a:t>linear regression model </a:t>
            </a:r>
            <a:r>
              <a:rPr lang="en-US" dirty="0"/>
              <a:t>expects the data points and target values to be linearly independent. </a:t>
            </a:r>
          </a:p>
          <a:p>
            <a:r>
              <a:rPr lang="en-US" dirty="0">
                <a:solidFill>
                  <a:srgbClr val="00D4D3"/>
                </a:solidFill>
              </a:rPr>
              <a:t>K-Means clustering algorithm </a:t>
            </a:r>
            <a:r>
              <a:rPr lang="en-US" dirty="0"/>
              <a:t>assumes that the clusters in the input data are elliptical/circular in shape. </a:t>
            </a:r>
          </a:p>
          <a:p>
            <a:r>
              <a:rPr lang="en-US" dirty="0">
                <a:solidFill>
                  <a:srgbClr val="00D4D3"/>
                </a:solidFill>
              </a:rPr>
              <a:t>Naive Bayes classification </a:t>
            </a:r>
            <a:r>
              <a:rPr lang="en-US" dirty="0"/>
              <a:t>algorithm assumes that the features in the input data are independent of each other.</a:t>
            </a:r>
            <a:endParaRPr lang="en-US" dirty="0">
              <a:solidFill>
                <a:srgbClr val="00D4D3"/>
              </a:solidFill>
            </a:endParaRPr>
          </a:p>
        </p:txBody>
      </p:sp>
    </p:spTree>
    <p:extLst>
      <p:ext uri="{BB962C8B-B14F-4D97-AF65-F5344CB8AC3E}">
        <p14:creationId xmlns:p14="http://schemas.microsoft.com/office/powerpoint/2010/main" val="582042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E7C7-79BE-266D-9FDB-145B6D37C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79528-BB63-71AD-F0EC-78046A79B919}"/>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8096F36F-D03A-51F7-61BD-A2967A8E6301}"/>
              </a:ext>
            </a:extLst>
          </p:cNvPr>
          <p:cNvSpPr>
            <a:spLocks noGrp="1"/>
          </p:cNvSpPr>
          <p:nvPr>
            <p:ph idx="1"/>
          </p:nvPr>
        </p:nvSpPr>
        <p:spPr/>
        <p:txBody>
          <a:bodyPr>
            <a:normAutofit fontScale="92500"/>
          </a:bodyPr>
          <a:lstStyle/>
          <a:p>
            <a:r>
              <a:rPr lang="en-US" dirty="0">
                <a:solidFill>
                  <a:srgbClr val="00D4D3"/>
                </a:solidFill>
              </a:rPr>
              <a:t>Low Bias: </a:t>
            </a:r>
            <a:r>
              <a:rPr lang="en-US" dirty="0"/>
              <a:t>A low-bias model makes </a:t>
            </a:r>
            <a:r>
              <a:rPr lang="en-US" dirty="0">
                <a:solidFill>
                  <a:srgbClr val="00D4D3"/>
                </a:solidFill>
              </a:rPr>
              <a:t>fewer assumptions </a:t>
            </a:r>
            <a:r>
              <a:rPr lang="en-US" dirty="0"/>
              <a:t>about the data or the target function on which we train the model. Examples of low-bias models include decision trees and the K-Nearest Neighbors algorithm. </a:t>
            </a:r>
          </a:p>
          <a:p>
            <a:r>
              <a:rPr lang="en-US" dirty="0">
                <a:solidFill>
                  <a:srgbClr val="00D4D3"/>
                </a:solidFill>
              </a:rPr>
              <a:t>High Bias: </a:t>
            </a:r>
            <a:r>
              <a:rPr lang="en-US" dirty="0"/>
              <a:t>High bias comes in a machine learning model if it makes </a:t>
            </a:r>
            <a:r>
              <a:rPr lang="en-US" dirty="0">
                <a:solidFill>
                  <a:srgbClr val="00D4D3"/>
                </a:solidFill>
              </a:rPr>
              <a:t>many assumptions</a:t>
            </a:r>
            <a:r>
              <a:rPr lang="en-US" dirty="0"/>
              <a:t> and doesn’t actually capture the features of the training data. Due to this, the predictions of a high-bias model are often inaccurate. </a:t>
            </a:r>
          </a:p>
          <a:p>
            <a:r>
              <a:rPr lang="en-US" dirty="0"/>
              <a:t>Examples of machine learning algorithms with high bias are linear regression, </a:t>
            </a:r>
            <a:r>
              <a:rPr lang="en-US" dirty="0">
                <a:solidFill>
                  <a:srgbClr val="00D4D3"/>
                </a:solidFill>
              </a:rPr>
              <a:t>Naive Bayes algorithm, logistic regression</a:t>
            </a:r>
            <a:r>
              <a:rPr lang="en-US" dirty="0"/>
              <a:t>, etc. These models are easy to train due to bias but they perform well on only those datasets that conform to the assumptions.</a:t>
            </a:r>
            <a:endParaRPr lang="en-US" dirty="0">
              <a:solidFill>
                <a:srgbClr val="00D4D3"/>
              </a:solidFill>
            </a:endParaRPr>
          </a:p>
        </p:txBody>
      </p:sp>
    </p:spTree>
    <p:extLst>
      <p:ext uri="{BB962C8B-B14F-4D97-AF65-F5344CB8AC3E}">
        <p14:creationId xmlns:p14="http://schemas.microsoft.com/office/powerpoint/2010/main" val="420792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BE27-1174-B563-C9EE-A6D40EB41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C8344-772D-173A-BADD-DB1892A1A34F}"/>
              </a:ext>
            </a:extLst>
          </p:cNvPr>
          <p:cNvSpPr>
            <a:spLocks noGrp="1"/>
          </p:cNvSpPr>
          <p:nvPr>
            <p:ph type="title"/>
          </p:nvPr>
        </p:nvSpPr>
        <p:spPr/>
        <p:txBody>
          <a:bodyPr/>
          <a:lstStyle/>
          <a:p>
            <a:r>
              <a:rPr lang="en-US" dirty="0">
                <a:solidFill>
                  <a:srgbClr val="00D4D3"/>
                </a:solidFill>
              </a:rPr>
              <a:t>What is Variance in Machine Learning?</a:t>
            </a:r>
          </a:p>
        </p:txBody>
      </p:sp>
      <p:sp>
        <p:nvSpPr>
          <p:cNvPr id="3" name="Content Placeholder 2">
            <a:extLst>
              <a:ext uri="{FF2B5EF4-FFF2-40B4-BE49-F238E27FC236}">
                <a16:creationId xmlns:a16="http://schemas.microsoft.com/office/drawing/2014/main" id="{E31C5FDD-546F-9183-86CE-F7300A0BACC9}"/>
              </a:ext>
            </a:extLst>
          </p:cNvPr>
          <p:cNvSpPr>
            <a:spLocks noGrp="1"/>
          </p:cNvSpPr>
          <p:nvPr>
            <p:ph idx="1"/>
          </p:nvPr>
        </p:nvSpPr>
        <p:spPr/>
        <p:txBody>
          <a:bodyPr>
            <a:normAutofit/>
          </a:bodyPr>
          <a:lstStyle/>
          <a:p>
            <a:r>
              <a:rPr lang="en-US" dirty="0"/>
              <a:t>As the name suggests, </a:t>
            </a:r>
            <a:r>
              <a:rPr lang="en-US" dirty="0">
                <a:solidFill>
                  <a:srgbClr val="00D4D3"/>
                </a:solidFill>
              </a:rPr>
              <a:t>variance</a:t>
            </a:r>
            <a:r>
              <a:rPr lang="en-US" dirty="0"/>
              <a:t> measures the amount of variation in the predictions of a machine-learning model. It specifies the extent to which a model can adjust depending on the given data set. </a:t>
            </a:r>
          </a:p>
          <a:p>
            <a:r>
              <a:rPr lang="en-US" dirty="0"/>
              <a:t>Mathematically, variance is the measure of </a:t>
            </a:r>
            <a:r>
              <a:rPr lang="en-US" dirty="0">
                <a:solidFill>
                  <a:srgbClr val="00D4D3"/>
                </a:solidFill>
              </a:rPr>
              <a:t>how much a predicted variable differs from its expected value</a:t>
            </a:r>
            <a:r>
              <a:rPr lang="en-US" dirty="0"/>
              <a:t>. Again, variance can be of two types i.e. low variance and high variance.</a:t>
            </a:r>
          </a:p>
        </p:txBody>
      </p:sp>
    </p:spTree>
    <p:extLst>
      <p:ext uri="{BB962C8B-B14F-4D97-AF65-F5344CB8AC3E}">
        <p14:creationId xmlns:p14="http://schemas.microsoft.com/office/powerpoint/2010/main" val="159657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57C4-6AF9-62FD-1678-2C54356A4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EC4C9-D522-E70C-C9FF-2DFEAE041ABC}"/>
              </a:ext>
            </a:extLst>
          </p:cNvPr>
          <p:cNvSpPr>
            <a:spLocks noGrp="1"/>
          </p:cNvSpPr>
          <p:nvPr>
            <p:ph type="title"/>
          </p:nvPr>
        </p:nvSpPr>
        <p:spPr/>
        <p:txBody>
          <a:bodyPr/>
          <a:lstStyle/>
          <a:p>
            <a:r>
              <a:rPr lang="en-US" dirty="0">
                <a:solidFill>
                  <a:srgbClr val="00D4D3"/>
                </a:solidFill>
              </a:rPr>
              <a:t>What is Variance in Machine Learning?</a:t>
            </a:r>
          </a:p>
        </p:txBody>
      </p:sp>
      <p:sp>
        <p:nvSpPr>
          <p:cNvPr id="3" name="Content Placeholder 2">
            <a:extLst>
              <a:ext uri="{FF2B5EF4-FFF2-40B4-BE49-F238E27FC236}">
                <a16:creationId xmlns:a16="http://schemas.microsoft.com/office/drawing/2014/main" id="{42AE890C-25D6-43C7-D231-42DC446BE6F7}"/>
              </a:ext>
            </a:extLst>
          </p:cNvPr>
          <p:cNvSpPr>
            <a:spLocks noGrp="1"/>
          </p:cNvSpPr>
          <p:nvPr>
            <p:ph idx="1"/>
          </p:nvPr>
        </p:nvSpPr>
        <p:spPr/>
        <p:txBody>
          <a:bodyPr>
            <a:normAutofit lnSpcReduction="10000"/>
          </a:bodyPr>
          <a:lstStyle/>
          <a:p>
            <a:r>
              <a:rPr lang="en-US" dirty="0">
                <a:solidFill>
                  <a:srgbClr val="00D4D3"/>
                </a:solidFill>
              </a:rPr>
              <a:t>Low variance: </a:t>
            </a:r>
            <a:r>
              <a:rPr lang="en-US" dirty="0"/>
              <a:t>Low variance for a machine learning algorithm specifies that there is a </a:t>
            </a:r>
            <a:r>
              <a:rPr lang="en-US" dirty="0">
                <a:solidFill>
                  <a:srgbClr val="00D4D3"/>
                </a:solidFill>
              </a:rPr>
              <a:t>very small change in predictions when we change the input dataset</a:t>
            </a:r>
            <a:r>
              <a:rPr lang="en-US" dirty="0"/>
              <a:t>. Ideally, a machine learning model should not vary the results much when the input data is changed. In such a situation, it is considered that the model has a good understanding of the relationships between different attributes in the dataset.</a:t>
            </a:r>
          </a:p>
          <a:p>
            <a:r>
              <a:rPr lang="en-US" dirty="0">
                <a:solidFill>
                  <a:srgbClr val="00D4D3"/>
                </a:solidFill>
              </a:rPr>
              <a:t>High variance: </a:t>
            </a:r>
            <a:r>
              <a:rPr lang="en-US" dirty="0"/>
              <a:t>A model with </a:t>
            </a:r>
            <a:r>
              <a:rPr lang="en-US" dirty="0">
                <a:solidFill>
                  <a:srgbClr val="00D4D3"/>
                </a:solidFill>
              </a:rPr>
              <a:t>high variance shows a large variation in the predictions when we change the input data</a:t>
            </a:r>
            <a:r>
              <a:rPr lang="en-US" dirty="0"/>
              <a:t>. When we train a machine learning algorithm that has a high variance, the model learns a lot and performs well with the training data. However, when we pass an unseen dataset as input, it shows large variations in the output predictions. This isn’t a desired situation.</a:t>
            </a:r>
          </a:p>
        </p:txBody>
      </p:sp>
    </p:spTree>
    <p:extLst>
      <p:ext uri="{BB962C8B-B14F-4D97-AF65-F5344CB8AC3E}">
        <p14:creationId xmlns:p14="http://schemas.microsoft.com/office/powerpoint/2010/main" val="58825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0EEE-3188-8A7D-ED1F-450404643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75EEB-92DC-CA50-D930-DD2B0E213627}"/>
              </a:ext>
            </a:extLst>
          </p:cNvPr>
          <p:cNvSpPr>
            <a:spLocks noGrp="1"/>
          </p:cNvSpPr>
          <p:nvPr>
            <p:ph type="title"/>
          </p:nvPr>
        </p:nvSpPr>
        <p:spPr/>
        <p:txBody>
          <a:bodyPr/>
          <a:lstStyle/>
          <a:p>
            <a:r>
              <a:rPr lang="en-US" dirty="0">
                <a:solidFill>
                  <a:srgbClr val="00D4D3"/>
                </a:solidFill>
              </a:rPr>
              <a:t>How to Identify Bias and Variance Errors?</a:t>
            </a:r>
          </a:p>
        </p:txBody>
      </p:sp>
      <p:sp>
        <p:nvSpPr>
          <p:cNvPr id="3" name="Content Placeholder 2">
            <a:extLst>
              <a:ext uri="{FF2B5EF4-FFF2-40B4-BE49-F238E27FC236}">
                <a16:creationId xmlns:a16="http://schemas.microsoft.com/office/drawing/2014/main" id="{D369540C-7483-1AF6-12FB-147439A61632}"/>
              </a:ext>
            </a:extLst>
          </p:cNvPr>
          <p:cNvSpPr>
            <a:spLocks noGrp="1"/>
          </p:cNvSpPr>
          <p:nvPr>
            <p:ph idx="1"/>
          </p:nvPr>
        </p:nvSpPr>
        <p:spPr/>
        <p:txBody>
          <a:bodyPr>
            <a:normAutofit/>
          </a:bodyPr>
          <a:lstStyle/>
          <a:p>
            <a:pPr marL="0" indent="0">
              <a:buNone/>
            </a:pPr>
            <a:r>
              <a:rPr lang="en-US" dirty="0"/>
              <a:t>To identify the bias and variance errors, you can use the following tricks.</a:t>
            </a:r>
          </a:p>
          <a:p>
            <a:r>
              <a:rPr lang="en-US" dirty="0"/>
              <a:t>If a machine learning model </a:t>
            </a:r>
            <a:r>
              <a:rPr lang="en-US" dirty="0">
                <a:solidFill>
                  <a:srgbClr val="00D4D3"/>
                </a:solidFill>
              </a:rPr>
              <a:t>performs well on training data </a:t>
            </a:r>
            <a:r>
              <a:rPr lang="en-US" dirty="0"/>
              <a:t>but has a </a:t>
            </a:r>
            <a:r>
              <a:rPr lang="en-US" dirty="0">
                <a:solidFill>
                  <a:srgbClr val="00D4D3"/>
                </a:solidFill>
              </a:rPr>
              <a:t>high error rate for test data or any unseen data</a:t>
            </a:r>
            <a:r>
              <a:rPr lang="en-US" dirty="0"/>
              <a:t>, it will have high variance.</a:t>
            </a:r>
          </a:p>
          <a:p>
            <a:r>
              <a:rPr lang="en-US" dirty="0"/>
              <a:t>If a model </a:t>
            </a:r>
            <a:r>
              <a:rPr lang="en-US" dirty="0">
                <a:solidFill>
                  <a:srgbClr val="00D4D3"/>
                </a:solidFill>
              </a:rPr>
              <a:t>shows large errors in seen as well as unseen data</a:t>
            </a:r>
            <a:r>
              <a:rPr lang="en-US" dirty="0"/>
              <a:t>, it will have a high bias.</a:t>
            </a:r>
          </a:p>
          <a:p>
            <a:r>
              <a:rPr lang="en-US" dirty="0"/>
              <a:t>Thus, </a:t>
            </a:r>
            <a:r>
              <a:rPr lang="en-US" dirty="0">
                <a:solidFill>
                  <a:srgbClr val="00D4D3"/>
                </a:solidFill>
              </a:rPr>
              <a:t>small training and large test errors denote high variance</a:t>
            </a:r>
            <a:r>
              <a:rPr lang="en-US" dirty="0"/>
              <a:t>. </a:t>
            </a:r>
            <a:r>
              <a:rPr lang="en-US" dirty="0">
                <a:solidFill>
                  <a:srgbClr val="00D4D3"/>
                </a:solidFill>
              </a:rPr>
              <a:t>Large training and large test errors show high bias </a:t>
            </a:r>
            <a:r>
              <a:rPr lang="en-US" dirty="0"/>
              <a:t>for a given machine learning algorithm.</a:t>
            </a:r>
          </a:p>
        </p:txBody>
      </p:sp>
    </p:spTree>
    <p:extLst>
      <p:ext uri="{BB962C8B-B14F-4D97-AF65-F5344CB8AC3E}">
        <p14:creationId xmlns:p14="http://schemas.microsoft.com/office/powerpoint/2010/main" val="1222105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7B81-CFA8-16B8-1C35-B32F40AB3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6DA86-86DD-9B7B-B64E-9B0222E97270}"/>
              </a:ext>
            </a:extLst>
          </p:cNvPr>
          <p:cNvSpPr>
            <a:spLocks noGrp="1"/>
          </p:cNvSpPr>
          <p:nvPr>
            <p:ph type="title"/>
          </p:nvPr>
        </p:nvSpPr>
        <p:spPr/>
        <p:txBody>
          <a:bodyPr/>
          <a:lstStyle/>
          <a:p>
            <a:r>
              <a:rPr lang="en-US" dirty="0">
                <a:solidFill>
                  <a:srgbClr val="00D4D3"/>
                </a:solidFill>
              </a:rPr>
              <a:t>Bias-Variance Tradeoff:</a:t>
            </a:r>
          </a:p>
        </p:txBody>
      </p:sp>
      <p:sp>
        <p:nvSpPr>
          <p:cNvPr id="3" name="Content Placeholder 2">
            <a:extLst>
              <a:ext uri="{FF2B5EF4-FFF2-40B4-BE49-F238E27FC236}">
                <a16:creationId xmlns:a16="http://schemas.microsoft.com/office/drawing/2014/main" id="{7E0C2940-E58A-22F7-04DD-6B45CFCDFE7C}"/>
              </a:ext>
            </a:extLst>
          </p:cNvPr>
          <p:cNvSpPr>
            <a:spLocks noGrp="1"/>
          </p:cNvSpPr>
          <p:nvPr>
            <p:ph idx="1"/>
          </p:nvPr>
        </p:nvSpPr>
        <p:spPr/>
        <p:txBody>
          <a:bodyPr>
            <a:normAutofit/>
          </a:bodyPr>
          <a:lstStyle/>
          <a:p>
            <a:r>
              <a:rPr lang="en-US" dirty="0">
                <a:solidFill>
                  <a:srgbClr val="00D4D3"/>
                </a:solidFill>
              </a:rPr>
              <a:t>Low variance- low bias: </a:t>
            </a:r>
            <a:r>
              <a:rPr lang="en-US" dirty="0"/>
              <a:t>If a machine learning model has low variance and low bias, it will perform best and is an ideal situation for us. However, it is not possible to achieve low variance and low bias for a model in practical situations as real-world data doesn’t conform to any theoretical assumption. Hence, no algorithm is perfect for a given dataset.</a:t>
            </a:r>
          </a:p>
          <a:p>
            <a:r>
              <a:rPr lang="en-US" dirty="0">
                <a:solidFill>
                  <a:srgbClr val="00D4D3"/>
                </a:solidFill>
              </a:rPr>
              <a:t>Low variance- high bias: </a:t>
            </a:r>
            <a:r>
              <a:rPr lang="en-US" dirty="0"/>
              <a:t>When a model has low variance and high bias, the predictions are consistent. However, they are inaccurate. In this situation, the machine learning algorithm is trained with very few parameters and the model doesn’t learn well from the training data.</a:t>
            </a:r>
          </a:p>
        </p:txBody>
      </p:sp>
    </p:spTree>
    <p:extLst>
      <p:ext uri="{BB962C8B-B14F-4D97-AF65-F5344CB8AC3E}">
        <p14:creationId xmlns:p14="http://schemas.microsoft.com/office/powerpoint/2010/main" val="2536766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BEB2-EBCE-80C0-87D1-B959D2F3F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9F335-F5CF-A076-4511-354611421BD1}"/>
              </a:ext>
            </a:extLst>
          </p:cNvPr>
          <p:cNvSpPr>
            <a:spLocks noGrp="1"/>
          </p:cNvSpPr>
          <p:nvPr>
            <p:ph type="title"/>
          </p:nvPr>
        </p:nvSpPr>
        <p:spPr/>
        <p:txBody>
          <a:bodyPr/>
          <a:lstStyle/>
          <a:p>
            <a:r>
              <a:rPr lang="en-US" dirty="0">
                <a:solidFill>
                  <a:srgbClr val="00D4D3"/>
                </a:solidFill>
              </a:rPr>
              <a:t>Bias-Variance Tradeoff:</a:t>
            </a:r>
          </a:p>
        </p:txBody>
      </p:sp>
      <p:sp>
        <p:nvSpPr>
          <p:cNvPr id="3" name="Content Placeholder 2">
            <a:extLst>
              <a:ext uri="{FF2B5EF4-FFF2-40B4-BE49-F238E27FC236}">
                <a16:creationId xmlns:a16="http://schemas.microsoft.com/office/drawing/2014/main" id="{12AA13B8-9C03-9246-D93B-EF8FB152492A}"/>
              </a:ext>
            </a:extLst>
          </p:cNvPr>
          <p:cNvSpPr>
            <a:spLocks noGrp="1"/>
          </p:cNvSpPr>
          <p:nvPr>
            <p:ph idx="1"/>
          </p:nvPr>
        </p:nvSpPr>
        <p:spPr/>
        <p:txBody>
          <a:bodyPr>
            <a:normAutofit/>
          </a:bodyPr>
          <a:lstStyle/>
          <a:p>
            <a:r>
              <a:rPr lang="en-US" dirty="0">
                <a:solidFill>
                  <a:srgbClr val="00D4D3"/>
                </a:solidFill>
              </a:rPr>
              <a:t>High variance- low bias: </a:t>
            </a:r>
            <a:r>
              <a:rPr lang="en-US" dirty="0"/>
              <a:t>When a machine learning model has high variance and low bias, the predictions will be inconsistent. However, they are accurate. In this situation, the machine learning model leads to overfitting and doesn’t generalize well. This is due to the reason that the machine learning algorithm is trained on a large number of parameters.</a:t>
            </a:r>
          </a:p>
          <a:p>
            <a:r>
              <a:rPr lang="en-US" dirty="0">
                <a:solidFill>
                  <a:srgbClr val="00D4D3"/>
                </a:solidFill>
              </a:rPr>
              <a:t>High variance- high bias: </a:t>
            </a:r>
            <a:r>
              <a:rPr lang="en-US" dirty="0"/>
              <a:t>In case of high variance and high bias, the predictions of a machine learning model are inconsistent as well as inaccurate. This is not a desired situation at all.</a:t>
            </a:r>
          </a:p>
        </p:txBody>
      </p:sp>
    </p:spTree>
    <p:extLst>
      <p:ext uri="{BB962C8B-B14F-4D97-AF65-F5344CB8AC3E}">
        <p14:creationId xmlns:p14="http://schemas.microsoft.com/office/powerpoint/2010/main" val="100127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TotalTime>
  <Words>978</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What is Bias in Machine Learning?</vt:lpstr>
      <vt:lpstr>What is Bias in Machine Learning?</vt:lpstr>
      <vt:lpstr>What is Bias in Machine Learning?</vt:lpstr>
      <vt:lpstr>What is Bias in Machine Learning?</vt:lpstr>
      <vt:lpstr>What is Variance in Machine Learning?</vt:lpstr>
      <vt:lpstr>What is Variance in Machine Learning?</vt:lpstr>
      <vt:lpstr>How to Identify Bias and Variance Errors?</vt:lpstr>
      <vt:lpstr>Bias-Variance Tradeoff:</vt:lpstr>
      <vt:lpstr>Bias-Variance Tradeoff: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8</cp:revision>
  <dcterms:created xsi:type="dcterms:W3CDTF">2025-09-16T08:21:32Z</dcterms:created>
  <dcterms:modified xsi:type="dcterms:W3CDTF">2025-10-14T03:19:45Z</dcterms:modified>
</cp:coreProperties>
</file>