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1" r:id="rId3"/>
    <p:sldId id="272" r:id="rId4"/>
    <p:sldId id="273" r:id="rId5"/>
    <p:sldId id="274" r:id="rId6"/>
    <p:sldId id="275" r:id="rId7"/>
    <p:sldId id="276" r:id="rId8"/>
    <p:sldId id="277" r:id="rId9"/>
    <p:sldId id="278" r:id="rId10"/>
    <p:sldId id="279" r:id="rId11"/>
    <p:sldId id="280" r:id="rId12"/>
    <p:sldId id="281" r:id="rId13"/>
    <p:sldId id="282" r:id="rId14"/>
    <p:sldId id="283" r:id="rId15"/>
    <p:sldId id="284" r:id="rId16"/>
    <p:sldId id="285" r:id="rId17"/>
    <p:sldId id="286" r:id="rId18"/>
    <p:sldId id="287" r:id="rId19"/>
    <p:sldId id="288" r:id="rId20"/>
    <p:sldId id="289" r:id="rId21"/>
    <p:sldId id="290" r:id="rId22"/>
    <p:sldId id="291" r:id="rId23"/>
    <p:sldId id="292" r:id="rId24"/>
    <p:sldId id="29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D4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p:restoredTop sz="94669"/>
  </p:normalViewPr>
  <p:slideViewPr>
    <p:cSldViewPr snapToGrid="0">
      <p:cViewPr varScale="1">
        <p:scale>
          <a:sx n="114" d="100"/>
          <a:sy n="114" d="100"/>
        </p:scale>
        <p:origin x="60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780CB-89B7-FFB9-6A9E-D5F7072D25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4684131-D9EB-8B35-7700-D09FEC7E4A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152866-51F3-C02D-7B3C-D2C52309D9D3}"/>
              </a:ext>
            </a:extLst>
          </p:cNvPr>
          <p:cNvSpPr>
            <a:spLocks noGrp="1"/>
          </p:cNvSpPr>
          <p:nvPr>
            <p:ph type="dt" sz="half" idx="10"/>
          </p:nvPr>
        </p:nvSpPr>
        <p:spPr/>
        <p:txBody>
          <a:bodyPr/>
          <a:lstStyle/>
          <a:p>
            <a:fld id="{80550C69-14D2-2846-94E9-915A6919AB41}" type="datetimeFigureOut">
              <a:rPr lang="en-US" smtClean="0"/>
              <a:t>2/2/26</a:t>
            </a:fld>
            <a:endParaRPr lang="en-US"/>
          </a:p>
        </p:txBody>
      </p:sp>
      <p:sp>
        <p:nvSpPr>
          <p:cNvPr id="5" name="Footer Placeholder 4">
            <a:extLst>
              <a:ext uri="{FF2B5EF4-FFF2-40B4-BE49-F238E27FC236}">
                <a16:creationId xmlns:a16="http://schemas.microsoft.com/office/drawing/2014/main" id="{2C02D25E-02D6-3D31-7F4B-EE01572634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389D5E-F2CF-D931-AE1D-B48BD961996A}"/>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710186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2AB22-7E12-841A-9EB1-A94D447A6D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0ABD4F-E8C9-B30E-38A4-242CE2B50E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7284BE-483E-6C34-94CB-43F55EC1C364}"/>
              </a:ext>
            </a:extLst>
          </p:cNvPr>
          <p:cNvSpPr>
            <a:spLocks noGrp="1"/>
          </p:cNvSpPr>
          <p:nvPr>
            <p:ph type="dt" sz="half" idx="10"/>
          </p:nvPr>
        </p:nvSpPr>
        <p:spPr/>
        <p:txBody>
          <a:bodyPr/>
          <a:lstStyle/>
          <a:p>
            <a:fld id="{80550C69-14D2-2846-94E9-915A6919AB41}" type="datetimeFigureOut">
              <a:rPr lang="en-US" smtClean="0"/>
              <a:t>2/2/26</a:t>
            </a:fld>
            <a:endParaRPr lang="en-US"/>
          </a:p>
        </p:txBody>
      </p:sp>
      <p:sp>
        <p:nvSpPr>
          <p:cNvPr id="5" name="Footer Placeholder 4">
            <a:extLst>
              <a:ext uri="{FF2B5EF4-FFF2-40B4-BE49-F238E27FC236}">
                <a16:creationId xmlns:a16="http://schemas.microsoft.com/office/drawing/2014/main" id="{3F863459-1045-CB0C-02BC-AE5CF5038B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6C211B-D400-BB06-7A51-4EACAD94D258}"/>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2452783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75E00-7113-CC3E-1AD6-4C2E50CC4A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C85FC7-025E-2AA2-45BB-D0CFDED5AE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C9D077-BBB1-0893-D077-4F47E18AA217}"/>
              </a:ext>
            </a:extLst>
          </p:cNvPr>
          <p:cNvSpPr>
            <a:spLocks noGrp="1"/>
          </p:cNvSpPr>
          <p:nvPr>
            <p:ph type="dt" sz="half" idx="10"/>
          </p:nvPr>
        </p:nvSpPr>
        <p:spPr/>
        <p:txBody>
          <a:bodyPr/>
          <a:lstStyle/>
          <a:p>
            <a:fld id="{80550C69-14D2-2846-94E9-915A6919AB41}" type="datetimeFigureOut">
              <a:rPr lang="en-US" smtClean="0"/>
              <a:t>2/2/26</a:t>
            </a:fld>
            <a:endParaRPr lang="en-US"/>
          </a:p>
        </p:txBody>
      </p:sp>
      <p:sp>
        <p:nvSpPr>
          <p:cNvPr id="5" name="Footer Placeholder 4">
            <a:extLst>
              <a:ext uri="{FF2B5EF4-FFF2-40B4-BE49-F238E27FC236}">
                <a16:creationId xmlns:a16="http://schemas.microsoft.com/office/drawing/2014/main" id="{112D0E1D-152F-DAD9-D916-EADD1E4936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43BE5B-10E9-F719-A303-4EDE54AF48BB}"/>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641444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0C707-0159-420D-396E-ACCD1B1A8F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71320F-8868-19E6-3320-91C84B4DEE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4FA021-DC2F-9847-7907-D82F8D6C4A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11A38E-8975-F272-F5D4-7C4A10E2D661}"/>
              </a:ext>
            </a:extLst>
          </p:cNvPr>
          <p:cNvSpPr>
            <a:spLocks noGrp="1"/>
          </p:cNvSpPr>
          <p:nvPr>
            <p:ph type="dt" sz="half" idx="10"/>
          </p:nvPr>
        </p:nvSpPr>
        <p:spPr/>
        <p:txBody>
          <a:bodyPr/>
          <a:lstStyle/>
          <a:p>
            <a:fld id="{80550C69-14D2-2846-94E9-915A6919AB41}" type="datetimeFigureOut">
              <a:rPr lang="en-US" smtClean="0"/>
              <a:t>2/2/26</a:t>
            </a:fld>
            <a:endParaRPr lang="en-US"/>
          </a:p>
        </p:txBody>
      </p:sp>
      <p:sp>
        <p:nvSpPr>
          <p:cNvPr id="6" name="Footer Placeholder 5">
            <a:extLst>
              <a:ext uri="{FF2B5EF4-FFF2-40B4-BE49-F238E27FC236}">
                <a16:creationId xmlns:a16="http://schemas.microsoft.com/office/drawing/2014/main" id="{05B28722-AC7F-9CE3-9F35-A314E0821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B72E1-C7EE-7608-8093-9FA535E7B8F1}"/>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823819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7C2C8-A95C-93CF-C94F-75603FF5EC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A4EE83-B580-440D-4EB3-B29BC1C726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28028C-0DCF-7C10-CE75-657A021A11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E8F2E1-45BB-520A-0966-2354D3DDD3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D0134E-B8AA-7670-5BB3-1815D0AFF6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55151D0-A91B-EB65-6870-8A5B7FF289CB}"/>
              </a:ext>
            </a:extLst>
          </p:cNvPr>
          <p:cNvSpPr>
            <a:spLocks noGrp="1"/>
          </p:cNvSpPr>
          <p:nvPr>
            <p:ph type="dt" sz="half" idx="10"/>
          </p:nvPr>
        </p:nvSpPr>
        <p:spPr/>
        <p:txBody>
          <a:bodyPr/>
          <a:lstStyle/>
          <a:p>
            <a:fld id="{80550C69-14D2-2846-94E9-915A6919AB41}" type="datetimeFigureOut">
              <a:rPr lang="en-US" smtClean="0"/>
              <a:t>2/2/26</a:t>
            </a:fld>
            <a:endParaRPr lang="en-US"/>
          </a:p>
        </p:txBody>
      </p:sp>
      <p:sp>
        <p:nvSpPr>
          <p:cNvPr id="8" name="Footer Placeholder 7">
            <a:extLst>
              <a:ext uri="{FF2B5EF4-FFF2-40B4-BE49-F238E27FC236}">
                <a16:creationId xmlns:a16="http://schemas.microsoft.com/office/drawing/2014/main" id="{6BD4093C-A005-2E42-2FC7-96661EF927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35DDA8-D9E3-8A69-1B99-D2513049176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934132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9F219-AE2E-5FC7-5974-DBE9A1ABE5D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2B48B3C-1D49-4553-AE0D-962D52C5DD62}"/>
              </a:ext>
            </a:extLst>
          </p:cNvPr>
          <p:cNvSpPr>
            <a:spLocks noGrp="1"/>
          </p:cNvSpPr>
          <p:nvPr>
            <p:ph type="dt" sz="half" idx="10"/>
          </p:nvPr>
        </p:nvSpPr>
        <p:spPr/>
        <p:txBody>
          <a:bodyPr/>
          <a:lstStyle/>
          <a:p>
            <a:fld id="{80550C69-14D2-2846-94E9-915A6919AB41}" type="datetimeFigureOut">
              <a:rPr lang="en-US" smtClean="0"/>
              <a:t>2/2/26</a:t>
            </a:fld>
            <a:endParaRPr lang="en-US"/>
          </a:p>
        </p:txBody>
      </p:sp>
      <p:sp>
        <p:nvSpPr>
          <p:cNvPr id="4" name="Footer Placeholder 3">
            <a:extLst>
              <a:ext uri="{FF2B5EF4-FFF2-40B4-BE49-F238E27FC236}">
                <a16:creationId xmlns:a16="http://schemas.microsoft.com/office/drawing/2014/main" id="{9FA0514A-C851-A741-3A0A-876F053FC04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713EBA-489F-0258-2EE0-EFC1B7E6CCF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396104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600181-D881-1F1B-CAE6-C749104B8173}"/>
              </a:ext>
            </a:extLst>
          </p:cNvPr>
          <p:cNvSpPr>
            <a:spLocks noGrp="1"/>
          </p:cNvSpPr>
          <p:nvPr>
            <p:ph type="dt" sz="half" idx="10"/>
          </p:nvPr>
        </p:nvSpPr>
        <p:spPr/>
        <p:txBody>
          <a:bodyPr/>
          <a:lstStyle/>
          <a:p>
            <a:fld id="{80550C69-14D2-2846-94E9-915A6919AB41}" type="datetimeFigureOut">
              <a:rPr lang="en-US" smtClean="0"/>
              <a:t>2/2/26</a:t>
            </a:fld>
            <a:endParaRPr lang="en-US"/>
          </a:p>
        </p:txBody>
      </p:sp>
      <p:sp>
        <p:nvSpPr>
          <p:cNvPr id="3" name="Footer Placeholder 2">
            <a:extLst>
              <a:ext uri="{FF2B5EF4-FFF2-40B4-BE49-F238E27FC236}">
                <a16:creationId xmlns:a16="http://schemas.microsoft.com/office/drawing/2014/main" id="{B0ABF13A-05CA-D93A-8C20-65A4D9FE94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CFC02E-7F24-1696-FCED-7784C99CFFB8}"/>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833110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1DDC9-B01A-E58E-5297-CF3A048369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9C47ED-8039-E286-8C42-3378E9C51F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7414EE-FC09-75B7-9A04-96294ACDC6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FAE040-18CC-3773-2A33-AE7734C545F9}"/>
              </a:ext>
            </a:extLst>
          </p:cNvPr>
          <p:cNvSpPr>
            <a:spLocks noGrp="1"/>
          </p:cNvSpPr>
          <p:nvPr>
            <p:ph type="dt" sz="half" idx="10"/>
          </p:nvPr>
        </p:nvSpPr>
        <p:spPr/>
        <p:txBody>
          <a:bodyPr/>
          <a:lstStyle/>
          <a:p>
            <a:fld id="{80550C69-14D2-2846-94E9-915A6919AB41}" type="datetimeFigureOut">
              <a:rPr lang="en-US" smtClean="0"/>
              <a:t>2/2/26</a:t>
            </a:fld>
            <a:endParaRPr lang="en-US"/>
          </a:p>
        </p:txBody>
      </p:sp>
      <p:sp>
        <p:nvSpPr>
          <p:cNvPr id="6" name="Footer Placeholder 5">
            <a:extLst>
              <a:ext uri="{FF2B5EF4-FFF2-40B4-BE49-F238E27FC236}">
                <a16:creationId xmlns:a16="http://schemas.microsoft.com/office/drawing/2014/main" id="{30577619-D277-6F67-BDDB-E0ABA5D5B5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7F8823-D223-0050-388B-C2125402C6B0}"/>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664512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8E4C8-CC4C-38C3-814B-9C94AB6F3A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376015-62D0-D2B5-DE3A-52CA7D2097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57B94A-8E77-1556-9C64-FC72D4416B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030C46-7D60-2432-1DA5-9FD3AB6522CB}"/>
              </a:ext>
            </a:extLst>
          </p:cNvPr>
          <p:cNvSpPr>
            <a:spLocks noGrp="1"/>
          </p:cNvSpPr>
          <p:nvPr>
            <p:ph type="dt" sz="half" idx="10"/>
          </p:nvPr>
        </p:nvSpPr>
        <p:spPr/>
        <p:txBody>
          <a:bodyPr/>
          <a:lstStyle/>
          <a:p>
            <a:fld id="{80550C69-14D2-2846-94E9-915A6919AB41}" type="datetimeFigureOut">
              <a:rPr lang="en-US" smtClean="0"/>
              <a:t>2/2/26</a:t>
            </a:fld>
            <a:endParaRPr lang="en-US"/>
          </a:p>
        </p:txBody>
      </p:sp>
      <p:sp>
        <p:nvSpPr>
          <p:cNvPr id="6" name="Footer Placeholder 5">
            <a:extLst>
              <a:ext uri="{FF2B5EF4-FFF2-40B4-BE49-F238E27FC236}">
                <a16:creationId xmlns:a16="http://schemas.microsoft.com/office/drawing/2014/main" id="{9514F618-18F2-1B27-78E9-FD5DC85C72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0FB3DA-9440-F953-49FF-0BCB3B0BF17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339486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1BD4C-4BD1-F4B7-8BE3-AEFDC69553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E3CC2AD-8F94-12E2-BEA7-A8655DF814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0172DA-3E15-1B63-D204-70ACDB8908B7}"/>
              </a:ext>
            </a:extLst>
          </p:cNvPr>
          <p:cNvSpPr>
            <a:spLocks noGrp="1"/>
          </p:cNvSpPr>
          <p:nvPr>
            <p:ph type="dt" sz="half" idx="10"/>
          </p:nvPr>
        </p:nvSpPr>
        <p:spPr/>
        <p:txBody>
          <a:bodyPr/>
          <a:lstStyle/>
          <a:p>
            <a:fld id="{80550C69-14D2-2846-94E9-915A6919AB41}" type="datetimeFigureOut">
              <a:rPr lang="en-US" smtClean="0"/>
              <a:t>2/2/26</a:t>
            </a:fld>
            <a:endParaRPr lang="en-US"/>
          </a:p>
        </p:txBody>
      </p:sp>
      <p:sp>
        <p:nvSpPr>
          <p:cNvPr id="5" name="Footer Placeholder 4">
            <a:extLst>
              <a:ext uri="{FF2B5EF4-FFF2-40B4-BE49-F238E27FC236}">
                <a16:creationId xmlns:a16="http://schemas.microsoft.com/office/drawing/2014/main" id="{2858BB3E-83D8-7790-2292-B545BE7825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567C2-18C0-D165-B387-3DF23F15852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2122798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85BD31-A0F8-F850-0CCB-2110EDBB64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D720AFE-D26B-4FEB-7769-9A8E7A2D34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C9B23E-3614-A962-91CA-E51DC1C311EA}"/>
              </a:ext>
            </a:extLst>
          </p:cNvPr>
          <p:cNvSpPr>
            <a:spLocks noGrp="1"/>
          </p:cNvSpPr>
          <p:nvPr>
            <p:ph type="dt" sz="half" idx="10"/>
          </p:nvPr>
        </p:nvSpPr>
        <p:spPr/>
        <p:txBody>
          <a:bodyPr/>
          <a:lstStyle/>
          <a:p>
            <a:fld id="{80550C69-14D2-2846-94E9-915A6919AB41}" type="datetimeFigureOut">
              <a:rPr lang="en-US" smtClean="0"/>
              <a:t>2/2/26</a:t>
            </a:fld>
            <a:endParaRPr lang="en-US"/>
          </a:p>
        </p:txBody>
      </p:sp>
      <p:sp>
        <p:nvSpPr>
          <p:cNvPr id="5" name="Footer Placeholder 4">
            <a:extLst>
              <a:ext uri="{FF2B5EF4-FFF2-40B4-BE49-F238E27FC236}">
                <a16:creationId xmlns:a16="http://schemas.microsoft.com/office/drawing/2014/main" id="{64FA361C-573E-A771-A2C0-817526A8E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3739FA-174B-941A-3909-9B4A68547774}"/>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387042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4E3F75-7C31-338F-1EF9-ED3F44146D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225010-F8EA-EE89-71AE-7775C2E2C9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09FA02-5CA3-3197-346C-AC9B1F8282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550C69-14D2-2846-94E9-915A6919AB41}" type="datetimeFigureOut">
              <a:rPr lang="en-US" smtClean="0"/>
              <a:t>2/2/26</a:t>
            </a:fld>
            <a:endParaRPr lang="en-US"/>
          </a:p>
        </p:txBody>
      </p:sp>
      <p:sp>
        <p:nvSpPr>
          <p:cNvPr id="5" name="Footer Placeholder 4">
            <a:extLst>
              <a:ext uri="{FF2B5EF4-FFF2-40B4-BE49-F238E27FC236}">
                <a16:creationId xmlns:a16="http://schemas.microsoft.com/office/drawing/2014/main" id="{D70C1696-2AB9-1EC0-6784-4A45D11792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5A4D83-5566-E0B0-4F4C-F5062D8F01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7250AC-D1DC-F242-8646-2EAA28AC5EB9}" type="slidenum">
              <a:rPr lang="en-US" smtClean="0"/>
              <a:t>‹#›</a:t>
            </a:fld>
            <a:endParaRPr lang="en-US"/>
          </a:p>
        </p:txBody>
      </p:sp>
    </p:spTree>
    <p:extLst>
      <p:ext uri="{BB962C8B-B14F-4D97-AF65-F5344CB8AC3E}">
        <p14:creationId xmlns:p14="http://schemas.microsoft.com/office/powerpoint/2010/main" val="154306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E3ED8-F229-15AF-5C7A-42A0BC473B8C}"/>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9DD3A20-A900-6084-113D-CCA05113E0CC}"/>
              </a:ext>
            </a:extLst>
          </p:cNvPr>
          <p:cNvSpPr>
            <a:spLocks noGrp="1"/>
          </p:cNvSpPr>
          <p:nvPr>
            <p:ph type="subTitle" idx="1"/>
          </p:nvPr>
        </p:nvSpPr>
        <p:spPr/>
        <p:txBody>
          <a:bodyPr/>
          <a:lstStyle/>
          <a:p>
            <a:endParaRPr lang="en-US"/>
          </a:p>
        </p:txBody>
      </p:sp>
      <p:pic>
        <p:nvPicPr>
          <p:cNvPr id="1026" name="Picture 2" descr="Machine Learning Wallpapers - 4k, HD Machine Learning Backgrounds on  WallpaperBat">
            <a:extLst>
              <a:ext uri="{FF2B5EF4-FFF2-40B4-BE49-F238E27FC236}">
                <a16:creationId xmlns:a16="http://schemas.microsoft.com/office/drawing/2014/main" id="{80658FC8-7575-B726-71F0-46D05C1223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EBC1755-1CF1-E3D4-8CB4-675E52014B3D}"/>
              </a:ext>
            </a:extLst>
          </p:cNvPr>
          <p:cNvSpPr txBox="1"/>
          <p:nvPr/>
        </p:nvSpPr>
        <p:spPr>
          <a:xfrm>
            <a:off x="3332629" y="6211540"/>
            <a:ext cx="5526741" cy="461665"/>
          </a:xfrm>
          <a:prstGeom prst="rect">
            <a:avLst/>
          </a:prstGeom>
          <a:noFill/>
        </p:spPr>
        <p:txBody>
          <a:bodyPr wrap="square" rtlCol="0">
            <a:spAutoFit/>
          </a:bodyPr>
          <a:lstStyle/>
          <a:p>
            <a:pPr algn="ctr"/>
            <a:r>
              <a:rPr lang="en-US" sz="2400" dirty="0">
                <a:solidFill>
                  <a:srgbClr val="00D4D3"/>
                </a:solidFill>
              </a:rPr>
              <a:t>Muhammad Atif Saeed (Lecturer DS &amp; AI)</a:t>
            </a:r>
          </a:p>
        </p:txBody>
      </p:sp>
    </p:spTree>
    <p:extLst>
      <p:ext uri="{BB962C8B-B14F-4D97-AF65-F5344CB8AC3E}">
        <p14:creationId xmlns:p14="http://schemas.microsoft.com/office/powerpoint/2010/main" val="189558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70178-F979-60AE-DFC5-F97ED5F979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A0B531-52AA-6F95-88B5-E467D1DD8D38}"/>
              </a:ext>
            </a:extLst>
          </p:cNvPr>
          <p:cNvSpPr>
            <a:spLocks noGrp="1"/>
          </p:cNvSpPr>
          <p:nvPr>
            <p:ph type="title"/>
          </p:nvPr>
        </p:nvSpPr>
        <p:spPr/>
        <p:txBody>
          <a:bodyPr/>
          <a:lstStyle/>
          <a:p>
            <a:r>
              <a:rPr lang="en-US" dirty="0">
                <a:solidFill>
                  <a:srgbClr val="00D4D3"/>
                </a:solidFill>
              </a:rPr>
              <a:t>DBSCAN Clustering</a:t>
            </a:r>
          </a:p>
        </p:txBody>
      </p:sp>
      <p:sp>
        <p:nvSpPr>
          <p:cNvPr id="3" name="Content Placeholder 2">
            <a:extLst>
              <a:ext uri="{FF2B5EF4-FFF2-40B4-BE49-F238E27FC236}">
                <a16:creationId xmlns:a16="http://schemas.microsoft.com/office/drawing/2014/main" id="{FB82DFEF-3C5D-0AA1-5EF5-5D5E71146762}"/>
              </a:ext>
            </a:extLst>
          </p:cNvPr>
          <p:cNvSpPr>
            <a:spLocks noGrp="1"/>
          </p:cNvSpPr>
          <p:nvPr>
            <p:ph idx="1"/>
          </p:nvPr>
        </p:nvSpPr>
        <p:spPr/>
        <p:txBody>
          <a:bodyPr>
            <a:normAutofit fontScale="92500" lnSpcReduction="10000"/>
          </a:bodyPr>
          <a:lstStyle/>
          <a:p>
            <a:r>
              <a:rPr lang="en-US" dirty="0"/>
              <a:t>Clustering is an unsupervised learning technique where we try to group the data points based on specific characteristics. There are various clustering algorithms with K-Means and Hierarchical being the most used ones. Some of the use cases of clustering algorithms include:</a:t>
            </a:r>
          </a:p>
          <a:p>
            <a:r>
              <a:rPr lang="en-US" dirty="0">
                <a:solidFill>
                  <a:srgbClr val="00D4D3"/>
                </a:solidFill>
              </a:rPr>
              <a:t>Document Clustering</a:t>
            </a:r>
          </a:p>
          <a:p>
            <a:r>
              <a:rPr lang="en-US" dirty="0">
                <a:solidFill>
                  <a:srgbClr val="00D4D3"/>
                </a:solidFill>
              </a:rPr>
              <a:t>Recommendation Engine</a:t>
            </a:r>
          </a:p>
          <a:p>
            <a:r>
              <a:rPr lang="en-US" dirty="0">
                <a:solidFill>
                  <a:srgbClr val="00D4D3"/>
                </a:solidFill>
              </a:rPr>
              <a:t>Image Segmentation</a:t>
            </a:r>
          </a:p>
          <a:p>
            <a:r>
              <a:rPr lang="en-US" dirty="0">
                <a:solidFill>
                  <a:srgbClr val="00D4D3"/>
                </a:solidFill>
              </a:rPr>
              <a:t>Market Segmentation</a:t>
            </a:r>
          </a:p>
          <a:p>
            <a:r>
              <a:rPr lang="en-US" dirty="0">
                <a:solidFill>
                  <a:srgbClr val="00D4D3"/>
                </a:solidFill>
              </a:rPr>
              <a:t>Search Result Grouping</a:t>
            </a:r>
          </a:p>
          <a:p>
            <a:r>
              <a:rPr lang="en-US" dirty="0">
                <a:solidFill>
                  <a:srgbClr val="00D4D3"/>
                </a:solidFill>
              </a:rPr>
              <a:t>and Anomaly Detection.</a:t>
            </a:r>
          </a:p>
        </p:txBody>
      </p:sp>
    </p:spTree>
    <p:extLst>
      <p:ext uri="{BB962C8B-B14F-4D97-AF65-F5344CB8AC3E}">
        <p14:creationId xmlns:p14="http://schemas.microsoft.com/office/powerpoint/2010/main" val="2452362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6F94E-5D2A-B908-C726-8F04D2A55C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5A8011-94D1-C59C-37CA-6D1B985F4940}"/>
              </a:ext>
            </a:extLst>
          </p:cNvPr>
          <p:cNvSpPr>
            <a:spLocks noGrp="1"/>
          </p:cNvSpPr>
          <p:nvPr>
            <p:ph type="title"/>
          </p:nvPr>
        </p:nvSpPr>
        <p:spPr/>
        <p:txBody>
          <a:bodyPr/>
          <a:lstStyle/>
          <a:p>
            <a:r>
              <a:rPr lang="en-US" dirty="0">
                <a:solidFill>
                  <a:srgbClr val="00D4D3"/>
                </a:solidFill>
              </a:rPr>
              <a:t>Why do we need DBSCAN Clustering?</a:t>
            </a:r>
          </a:p>
        </p:txBody>
      </p:sp>
      <p:sp>
        <p:nvSpPr>
          <p:cNvPr id="3" name="Content Placeholder 2">
            <a:extLst>
              <a:ext uri="{FF2B5EF4-FFF2-40B4-BE49-F238E27FC236}">
                <a16:creationId xmlns:a16="http://schemas.microsoft.com/office/drawing/2014/main" id="{3BF18428-CDF0-9072-250D-FCF9692CB90A}"/>
              </a:ext>
            </a:extLst>
          </p:cNvPr>
          <p:cNvSpPr>
            <a:spLocks noGrp="1"/>
          </p:cNvSpPr>
          <p:nvPr>
            <p:ph idx="1"/>
          </p:nvPr>
        </p:nvSpPr>
        <p:spPr>
          <a:xfrm>
            <a:off x="838200" y="1825625"/>
            <a:ext cx="5741020" cy="4351338"/>
          </a:xfrm>
        </p:spPr>
        <p:txBody>
          <a:bodyPr>
            <a:normAutofit/>
          </a:bodyPr>
          <a:lstStyle/>
          <a:p>
            <a:r>
              <a:rPr lang="en-US" dirty="0"/>
              <a:t>K-Means and Hierarchical Clustering both fail to create clusters of arbitrary shapes. They are not able to form clusters based on varying densities. That’s why we need DBSCAN clustering.</a:t>
            </a:r>
          </a:p>
          <a:p>
            <a:r>
              <a:rPr lang="en-US" dirty="0">
                <a:solidFill>
                  <a:srgbClr val="00D4D3"/>
                </a:solidFill>
              </a:rPr>
              <a:t>Here we have data points densely present in the form of concentric circles:</a:t>
            </a:r>
          </a:p>
        </p:txBody>
      </p:sp>
      <p:pic>
        <p:nvPicPr>
          <p:cNvPr id="1026" name="Picture 2" descr="dbscan clustering dataset">
            <a:extLst>
              <a:ext uri="{FF2B5EF4-FFF2-40B4-BE49-F238E27FC236}">
                <a16:creationId xmlns:a16="http://schemas.microsoft.com/office/drawing/2014/main" id="{BF008033-CA2B-CB92-F549-F63F73247A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2807" y="1825624"/>
            <a:ext cx="4580993" cy="4351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6074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5DF85-FE7F-F7F2-DCA2-A26844306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717934-B73E-FAD3-1D65-99DF99E3A6D4}"/>
              </a:ext>
            </a:extLst>
          </p:cNvPr>
          <p:cNvSpPr>
            <a:spLocks noGrp="1"/>
          </p:cNvSpPr>
          <p:nvPr>
            <p:ph type="title"/>
          </p:nvPr>
        </p:nvSpPr>
        <p:spPr/>
        <p:txBody>
          <a:bodyPr/>
          <a:lstStyle/>
          <a:p>
            <a:r>
              <a:rPr lang="en-US" dirty="0">
                <a:solidFill>
                  <a:srgbClr val="00D4D3"/>
                </a:solidFill>
              </a:rPr>
              <a:t>Why do we need DBSCAN Clustering?</a:t>
            </a:r>
          </a:p>
        </p:txBody>
      </p:sp>
      <p:sp>
        <p:nvSpPr>
          <p:cNvPr id="3" name="Content Placeholder 2">
            <a:extLst>
              <a:ext uri="{FF2B5EF4-FFF2-40B4-BE49-F238E27FC236}">
                <a16:creationId xmlns:a16="http://schemas.microsoft.com/office/drawing/2014/main" id="{3C814491-C3AD-39BD-21DC-294B16D56900}"/>
              </a:ext>
            </a:extLst>
          </p:cNvPr>
          <p:cNvSpPr>
            <a:spLocks noGrp="1"/>
          </p:cNvSpPr>
          <p:nvPr>
            <p:ph idx="1"/>
          </p:nvPr>
        </p:nvSpPr>
        <p:spPr>
          <a:xfrm>
            <a:off x="838199" y="1825625"/>
            <a:ext cx="10515599" cy="4351338"/>
          </a:xfrm>
        </p:spPr>
        <p:txBody>
          <a:bodyPr>
            <a:normAutofit/>
          </a:bodyPr>
          <a:lstStyle/>
          <a:p>
            <a:r>
              <a:rPr lang="en-US" dirty="0"/>
              <a:t>Now, let’s run K-Means and Hierarchical clustering algorithms and see how they cluster these data points.</a:t>
            </a:r>
            <a:endParaRPr lang="en-US" dirty="0">
              <a:solidFill>
                <a:srgbClr val="00D4D3"/>
              </a:solidFill>
            </a:endParaRPr>
          </a:p>
        </p:txBody>
      </p:sp>
      <p:pic>
        <p:nvPicPr>
          <p:cNvPr id="2050" name="Picture 2" descr="kmeans and hierarchical clustering">
            <a:extLst>
              <a:ext uri="{FF2B5EF4-FFF2-40B4-BE49-F238E27FC236}">
                <a16:creationId xmlns:a16="http://schemas.microsoft.com/office/drawing/2014/main" id="{8D133099-462F-A7EF-701A-4B540A9BF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1056" y="2864741"/>
            <a:ext cx="6849883" cy="33122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442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B17CE-1C8A-D2B1-4445-17ECF64797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A6D2EB-EA2B-1CB5-DF47-E9A84D34142C}"/>
              </a:ext>
            </a:extLst>
          </p:cNvPr>
          <p:cNvSpPr>
            <a:spLocks noGrp="1"/>
          </p:cNvSpPr>
          <p:nvPr>
            <p:ph type="title"/>
          </p:nvPr>
        </p:nvSpPr>
        <p:spPr/>
        <p:txBody>
          <a:bodyPr/>
          <a:lstStyle/>
          <a:p>
            <a:r>
              <a:rPr lang="en-US" dirty="0">
                <a:solidFill>
                  <a:srgbClr val="00D4D3"/>
                </a:solidFill>
              </a:rPr>
              <a:t>Why do we need DBSCAN Clustering?</a:t>
            </a:r>
          </a:p>
        </p:txBody>
      </p:sp>
      <p:sp>
        <p:nvSpPr>
          <p:cNvPr id="3" name="Content Placeholder 2">
            <a:extLst>
              <a:ext uri="{FF2B5EF4-FFF2-40B4-BE49-F238E27FC236}">
                <a16:creationId xmlns:a16="http://schemas.microsoft.com/office/drawing/2014/main" id="{7B886D8E-CEAB-F28E-3881-63BBD4C6AC6B}"/>
              </a:ext>
            </a:extLst>
          </p:cNvPr>
          <p:cNvSpPr>
            <a:spLocks noGrp="1"/>
          </p:cNvSpPr>
          <p:nvPr>
            <p:ph idx="1"/>
          </p:nvPr>
        </p:nvSpPr>
        <p:spPr>
          <a:xfrm>
            <a:off x="838200" y="1825625"/>
            <a:ext cx="5741020" cy="4351338"/>
          </a:xfrm>
        </p:spPr>
        <p:txBody>
          <a:bodyPr>
            <a:normAutofit/>
          </a:bodyPr>
          <a:lstStyle/>
          <a:p>
            <a:r>
              <a:rPr lang="en-US" dirty="0"/>
              <a:t>Both of them failed to cluster the data points. Also, they were not able to detect the noise present in the dataset properly. Now, let’s take a look at the results from DBSCAN clustering.</a:t>
            </a:r>
            <a:endParaRPr lang="en-US" dirty="0">
              <a:solidFill>
                <a:srgbClr val="00D4D3"/>
              </a:solidFill>
            </a:endParaRPr>
          </a:p>
        </p:txBody>
      </p:sp>
      <p:pic>
        <p:nvPicPr>
          <p:cNvPr id="3074" name="Picture 2" descr="dbscan clustering">
            <a:extLst>
              <a:ext uri="{FF2B5EF4-FFF2-40B4-BE49-F238E27FC236}">
                <a16:creationId xmlns:a16="http://schemas.microsoft.com/office/drawing/2014/main" id="{86849676-343F-AC2A-0A43-DD0DAD28FE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7634" y="1825624"/>
            <a:ext cx="4466166" cy="4351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1610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9404B-6C7B-5AFC-DE61-E971981B94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064FEA-A77A-35F6-52FC-D6BE5753DBE2}"/>
              </a:ext>
            </a:extLst>
          </p:cNvPr>
          <p:cNvSpPr>
            <a:spLocks noGrp="1"/>
          </p:cNvSpPr>
          <p:nvPr>
            <p:ph type="title"/>
          </p:nvPr>
        </p:nvSpPr>
        <p:spPr/>
        <p:txBody>
          <a:bodyPr/>
          <a:lstStyle/>
          <a:p>
            <a:r>
              <a:rPr lang="en-US" dirty="0">
                <a:solidFill>
                  <a:srgbClr val="00D4D3"/>
                </a:solidFill>
              </a:rPr>
              <a:t>What Parameters Required DBSCAN?</a:t>
            </a:r>
          </a:p>
        </p:txBody>
      </p:sp>
      <p:sp>
        <p:nvSpPr>
          <p:cNvPr id="3" name="Content Placeholder 2">
            <a:extLst>
              <a:ext uri="{FF2B5EF4-FFF2-40B4-BE49-F238E27FC236}">
                <a16:creationId xmlns:a16="http://schemas.microsoft.com/office/drawing/2014/main" id="{90208DF3-257C-D1BA-12FA-70454D430904}"/>
              </a:ext>
            </a:extLst>
          </p:cNvPr>
          <p:cNvSpPr>
            <a:spLocks noGrp="1"/>
          </p:cNvSpPr>
          <p:nvPr>
            <p:ph idx="1"/>
          </p:nvPr>
        </p:nvSpPr>
        <p:spPr/>
        <p:txBody>
          <a:bodyPr>
            <a:normAutofit/>
          </a:bodyPr>
          <a:lstStyle/>
          <a:p>
            <a:r>
              <a:rPr lang="en-US" dirty="0"/>
              <a:t>The DBSCAN algorithm relies on two main parameters to identify clusters in your data:</a:t>
            </a:r>
          </a:p>
          <a:p>
            <a:pPr lvl="1"/>
            <a:r>
              <a:rPr lang="en-US" dirty="0"/>
              <a:t>eps (</a:t>
            </a:r>
            <a:r>
              <a:rPr lang="el-GR" dirty="0"/>
              <a:t>ε): </a:t>
            </a:r>
            <a:r>
              <a:rPr lang="en-US" dirty="0"/>
              <a:t>This parameter defines the radius of a neighborhood around a data point. Points within this distance are considered neighbors of the central point.</a:t>
            </a:r>
          </a:p>
          <a:p>
            <a:pPr lvl="1"/>
            <a:r>
              <a:rPr lang="en-US" dirty="0" err="1"/>
              <a:t>minPts</a:t>
            </a:r>
            <a:r>
              <a:rPr lang="en-US" dirty="0"/>
              <a:t>: This parameter represents the minimum number of points required within the </a:t>
            </a:r>
            <a:r>
              <a:rPr lang="el-GR" dirty="0"/>
              <a:t>ε-</a:t>
            </a:r>
            <a:r>
              <a:rPr lang="en-US" dirty="0"/>
              <a:t>neighborhood of a point to classify it as a core point. A core point is considered to be dense enough to be part of a cluster.</a:t>
            </a:r>
            <a:endParaRPr lang="en-US" dirty="0">
              <a:solidFill>
                <a:srgbClr val="00D4D3"/>
              </a:solidFill>
            </a:endParaRPr>
          </a:p>
        </p:txBody>
      </p:sp>
    </p:spTree>
    <p:extLst>
      <p:ext uri="{BB962C8B-B14F-4D97-AF65-F5344CB8AC3E}">
        <p14:creationId xmlns:p14="http://schemas.microsoft.com/office/powerpoint/2010/main" val="2104948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3A84E-D3C6-E1B6-B7F4-A6F1A1CC48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509DBD-C747-B77B-A562-7D7A2593D93A}"/>
              </a:ext>
            </a:extLst>
          </p:cNvPr>
          <p:cNvSpPr>
            <a:spLocks noGrp="1"/>
          </p:cNvSpPr>
          <p:nvPr>
            <p:ph type="title"/>
          </p:nvPr>
        </p:nvSpPr>
        <p:spPr/>
        <p:txBody>
          <a:bodyPr/>
          <a:lstStyle/>
          <a:p>
            <a:r>
              <a:rPr lang="en-US" dirty="0">
                <a:solidFill>
                  <a:srgbClr val="00D4D3"/>
                </a:solidFill>
              </a:rPr>
              <a:t>What Exactly is DBSCAN Clustering?</a:t>
            </a:r>
          </a:p>
        </p:txBody>
      </p:sp>
      <p:sp>
        <p:nvSpPr>
          <p:cNvPr id="3" name="Content Placeholder 2">
            <a:extLst>
              <a:ext uri="{FF2B5EF4-FFF2-40B4-BE49-F238E27FC236}">
                <a16:creationId xmlns:a16="http://schemas.microsoft.com/office/drawing/2014/main" id="{EF64368D-87DE-5B55-A369-0ACC8E2C030F}"/>
              </a:ext>
            </a:extLst>
          </p:cNvPr>
          <p:cNvSpPr>
            <a:spLocks noGrp="1"/>
          </p:cNvSpPr>
          <p:nvPr>
            <p:ph idx="1"/>
          </p:nvPr>
        </p:nvSpPr>
        <p:spPr/>
        <p:txBody>
          <a:bodyPr>
            <a:normAutofit/>
          </a:bodyPr>
          <a:lstStyle/>
          <a:p>
            <a:r>
              <a:rPr lang="en-US" dirty="0"/>
              <a:t>It groups ‘densely grouped’ data points into a single cluster. It can identify clusters in large spatial datasets by looking at the local density of the data points.</a:t>
            </a:r>
          </a:p>
          <a:p>
            <a:r>
              <a:rPr lang="en-US" dirty="0"/>
              <a:t>The most exciting feature of DBSCAN clustering is that it is robust to outliers. Unlike K-Means, where we have to specify the number of centroids, it also does not require the number of clusters to be told beforehand.</a:t>
            </a:r>
            <a:endParaRPr lang="en-US" dirty="0">
              <a:solidFill>
                <a:srgbClr val="00D4D3"/>
              </a:solidFill>
            </a:endParaRPr>
          </a:p>
        </p:txBody>
      </p:sp>
    </p:spTree>
    <p:extLst>
      <p:ext uri="{BB962C8B-B14F-4D97-AF65-F5344CB8AC3E}">
        <p14:creationId xmlns:p14="http://schemas.microsoft.com/office/powerpoint/2010/main" val="2732604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3D896-4CE7-9757-C5B4-BA324E4E0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189CF3-2767-80B6-D757-26C4A7F0776F}"/>
              </a:ext>
            </a:extLst>
          </p:cNvPr>
          <p:cNvSpPr>
            <a:spLocks noGrp="1"/>
          </p:cNvSpPr>
          <p:nvPr>
            <p:ph type="title"/>
          </p:nvPr>
        </p:nvSpPr>
        <p:spPr/>
        <p:txBody>
          <a:bodyPr/>
          <a:lstStyle/>
          <a:p>
            <a:r>
              <a:rPr lang="en-US" dirty="0">
                <a:solidFill>
                  <a:srgbClr val="00D4D3"/>
                </a:solidFill>
              </a:rPr>
              <a:t>What Exactly is DBSCAN Clustering?</a:t>
            </a:r>
          </a:p>
        </p:txBody>
      </p:sp>
      <p:sp>
        <p:nvSpPr>
          <p:cNvPr id="3" name="Content Placeholder 2">
            <a:extLst>
              <a:ext uri="{FF2B5EF4-FFF2-40B4-BE49-F238E27FC236}">
                <a16:creationId xmlns:a16="http://schemas.microsoft.com/office/drawing/2014/main" id="{EDDAF54B-CA28-CA5A-75ED-6987F68A2311}"/>
              </a:ext>
            </a:extLst>
          </p:cNvPr>
          <p:cNvSpPr>
            <a:spLocks noGrp="1"/>
          </p:cNvSpPr>
          <p:nvPr>
            <p:ph idx="1"/>
          </p:nvPr>
        </p:nvSpPr>
        <p:spPr/>
        <p:txBody>
          <a:bodyPr>
            <a:normAutofit/>
          </a:bodyPr>
          <a:lstStyle/>
          <a:p>
            <a:r>
              <a:rPr lang="en-US" dirty="0"/>
              <a:t>It groups ‘densely grouped’ data points into a single cluster. It can identify clusters in large spatial datasets by looking at the local density of the data points.</a:t>
            </a:r>
          </a:p>
          <a:p>
            <a:r>
              <a:rPr lang="en-US" dirty="0"/>
              <a:t>The most exciting feature of DBSCAN clustering is that it is robust to outliers. Unlike K-Means, where we have to specify the number of centroids, it also does not require the number of clusters to be told beforehand.</a:t>
            </a:r>
            <a:endParaRPr lang="en-US" dirty="0">
              <a:solidFill>
                <a:srgbClr val="00D4D3"/>
              </a:solidFill>
            </a:endParaRPr>
          </a:p>
        </p:txBody>
      </p:sp>
    </p:spTree>
    <p:extLst>
      <p:ext uri="{BB962C8B-B14F-4D97-AF65-F5344CB8AC3E}">
        <p14:creationId xmlns:p14="http://schemas.microsoft.com/office/powerpoint/2010/main" val="3157871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59450-47D3-826C-F088-C7302BE23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FC5901-08DB-CE86-458F-B651F9A457E1}"/>
              </a:ext>
            </a:extLst>
          </p:cNvPr>
          <p:cNvSpPr>
            <a:spLocks noGrp="1"/>
          </p:cNvSpPr>
          <p:nvPr>
            <p:ph type="title"/>
          </p:nvPr>
        </p:nvSpPr>
        <p:spPr/>
        <p:txBody>
          <a:bodyPr/>
          <a:lstStyle/>
          <a:p>
            <a:r>
              <a:rPr lang="en-US" dirty="0">
                <a:solidFill>
                  <a:srgbClr val="00D4D3"/>
                </a:solidFill>
              </a:rPr>
              <a:t>Example</a:t>
            </a:r>
          </a:p>
        </p:txBody>
      </p:sp>
      <p:sp>
        <p:nvSpPr>
          <p:cNvPr id="3" name="Content Placeholder 2">
            <a:extLst>
              <a:ext uri="{FF2B5EF4-FFF2-40B4-BE49-F238E27FC236}">
                <a16:creationId xmlns:a16="http://schemas.microsoft.com/office/drawing/2014/main" id="{461B714E-6CC6-0F97-0325-993FA604D7C9}"/>
              </a:ext>
            </a:extLst>
          </p:cNvPr>
          <p:cNvSpPr>
            <a:spLocks noGrp="1"/>
          </p:cNvSpPr>
          <p:nvPr>
            <p:ph idx="1"/>
          </p:nvPr>
        </p:nvSpPr>
        <p:spPr>
          <a:xfrm>
            <a:off x="838200" y="1825625"/>
            <a:ext cx="6744629" cy="4351338"/>
          </a:xfrm>
        </p:spPr>
        <p:txBody>
          <a:bodyPr>
            <a:normAutofit fontScale="92500"/>
          </a:bodyPr>
          <a:lstStyle/>
          <a:p>
            <a:r>
              <a:rPr lang="en-US" dirty="0"/>
              <a:t>DBSCAN algorithm creates a circle of epsilon radius around every data point and classifies them into </a:t>
            </a:r>
            <a:r>
              <a:rPr lang="en-US" dirty="0">
                <a:solidFill>
                  <a:srgbClr val="00D4D3"/>
                </a:solidFill>
              </a:rPr>
              <a:t>Core point, Border point, and Noise</a:t>
            </a:r>
            <a:r>
              <a:rPr lang="en-US" dirty="0"/>
              <a:t>.</a:t>
            </a:r>
          </a:p>
          <a:p>
            <a:r>
              <a:rPr lang="en-US" dirty="0"/>
              <a:t>A data point is a Core point if the circle around it contains at least ‘</a:t>
            </a:r>
            <a:r>
              <a:rPr lang="en-US" dirty="0" err="1">
                <a:solidFill>
                  <a:srgbClr val="00D4D3"/>
                </a:solidFill>
              </a:rPr>
              <a:t>minPoints</a:t>
            </a:r>
            <a:r>
              <a:rPr lang="en-US" dirty="0"/>
              <a:t>’ number of points.</a:t>
            </a:r>
          </a:p>
          <a:p>
            <a:r>
              <a:rPr lang="en-US" dirty="0"/>
              <a:t>If the number of points is less than </a:t>
            </a:r>
            <a:r>
              <a:rPr lang="en-US" dirty="0" err="1">
                <a:solidFill>
                  <a:srgbClr val="00D4D3"/>
                </a:solidFill>
              </a:rPr>
              <a:t>minPoints</a:t>
            </a:r>
            <a:r>
              <a:rPr lang="en-US" dirty="0"/>
              <a:t>, then it is classified as </a:t>
            </a:r>
            <a:r>
              <a:rPr lang="en-US" dirty="0">
                <a:solidFill>
                  <a:srgbClr val="00D4D3"/>
                </a:solidFill>
              </a:rPr>
              <a:t>Border Point</a:t>
            </a:r>
            <a:r>
              <a:rPr lang="en-US" dirty="0"/>
              <a:t>, and if there are no other data points around any data point within epsilon radius, then it treated as Noise.</a:t>
            </a:r>
            <a:endParaRPr lang="en-US" dirty="0">
              <a:solidFill>
                <a:srgbClr val="00D4D3"/>
              </a:solidFill>
            </a:endParaRPr>
          </a:p>
        </p:txBody>
      </p:sp>
      <p:pic>
        <p:nvPicPr>
          <p:cNvPr id="4098" name="Picture 2" descr="dbscan clusters">
            <a:extLst>
              <a:ext uri="{FF2B5EF4-FFF2-40B4-BE49-F238E27FC236}">
                <a16:creationId xmlns:a16="http://schemas.microsoft.com/office/drawing/2014/main" id="{59E0FF80-C6C8-1D90-4CC3-954B4055D8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0257" y="1825625"/>
            <a:ext cx="3623543" cy="2976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808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ED84C-B6CC-9C35-86FA-3E0800A0C3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E14DE1-8E26-EAD2-8832-282AC4A5C33C}"/>
              </a:ext>
            </a:extLst>
          </p:cNvPr>
          <p:cNvSpPr>
            <a:spLocks noGrp="1"/>
          </p:cNvSpPr>
          <p:nvPr>
            <p:ph type="title"/>
          </p:nvPr>
        </p:nvSpPr>
        <p:spPr/>
        <p:txBody>
          <a:bodyPr/>
          <a:lstStyle/>
          <a:p>
            <a:r>
              <a:rPr lang="en-US" dirty="0">
                <a:solidFill>
                  <a:srgbClr val="00D4D3"/>
                </a:solidFill>
              </a:rPr>
              <a:t>What Exactly is DBSCAN Clustering?</a:t>
            </a:r>
          </a:p>
        </p:txBody>
      </p:sp>
      <p:sp>
        <p:nvSpPr>
          <p:cNvPr id="3" name="Content Placeholder 2">
            <a:extLst>
              <a:ext uri="{FF2B5EF4-FFF2-40B4-BE49-F238E27FC236}">
                <a16:creationId xmlns:a16="http://schemas.microsoft.com/office/drawing/2014/main" id="{6F3A6023-6F4D-37DE-4E1C-71D09833CF4F}"/>
              </a:ext>
            </a:extLst>
          </p:cNvPr>
          <p:cNvSpPr>
            <a:spLocks noGrp="1"/>
          </p:cNvSpPr>
          <p:nvPr>
            <p:ph idx="1"/>
          </p:nvPr>
        </p:nvSpPr>
        <p:spPr/>
        <p:txBody>
          <a:bodyPr>
            <a:normAutofit/>
          </a:bodyPr>
          <a:lstStyle/>
          <a:p>
            <a:r>
              <a:rPr lang="en-US" dirty="0"/>
              <a:t>The above figure shows a cluster created by DBCAN with </a:t>
            </a:r>
            <a:r>
              <a:rPr lang="en-US" dirty="0" err="1"/>
              <a:t>minPoints</a:t>
            </a:r>
            <a:r>
              <a:rPr lang="en-US" dirty="0"/>
              <a:t> = 3. Here, we draw a circle of equal radius epsilon around every data point. These two parameters help create spatial clusters.</a:t>
            </a:r>
          </a:p>
          <a:p>
            <a:r>
              <a:rPr lang="en-US" dirty="0"/>
              <a:t>All the data points with at least 3 points in the circle, including itself, are considered as Core points represented by red color. All the data points with less than 3 but greater than 1 point in the circle, including itself, are considered as Border points.</a:t>
            </a:r>
          </a:p>
          <a:p>
            <a:r>
              <a:rPr lang="en-US" dirty="0"/>
              <a:t>They are represented by yellow color. Finally, data points with no point other than itself present inside the circle are considered Noise, represented by the purple </a:t>
            </a:r>
            <a:r>
              <a:rPr lang="en-US" dirty="0" err="1"/>
              <a:t>colour</a:t>
            </a:r>
            <a:r>
              <a:rPr lang="en-US" dirty="0"/>
              <a:t>.</a:t>
            </a:r>
            <a:endParaRPr lang="en-US" dirty="0">
              <a:solidFill>
                <a:srgbClr val="00D4D3"/>
              </a:solidFill>
            </a:endParaRPr>
          </a:p>
        </p:txBody>
      </p:sp>
    </p:spTree>
    <p:extLst>
      <p:ext uri="{BB962C8B-B14F-4D97-AF65-F5344CB8AC3E}">
        <p14:creationId xmlns:p14="http://schemas.microsoft.com/office/powerpoint/2010/main" val="3268359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0A2F7-5534-DC0B-7E91-2546542D6E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EE70A-0668-86E8-6E5E-42EF70EEC9D5}"/>
              </a:ext>
            </a:extLst>
          </p:cNvPr>
          <p:cNvSpPr>
            <a:spLocks noGrp="1"/>
          </p:cNvSpPr>
          <p:nvPr>
            <p:ph type="title"/>
          </p:nvPr>
        </p:nvSpPr>
        <p:spPr/>
        <p:txBody>
          <a:bodyPr/>
          <a:lstStyle/>
          <a:p>
            <a:r>
              <a:rPr lang="en-US" dirty="0">
                <a:solidFill>
                  <a:srgbClr val="00D4D3"/>
                </a:solidFill>
              </a:rPr>
              <a:t>Reachability and Connectivity</a:t>
            </a:r>
          </a:p>
        </p:txBody>
      </p:sp>
      <p:sp>
        <p:nvSpPr>
          <p:cNvPr id="3" name="Content Placeholder 2">
            <a:extLst>
              <a:ext uri="{FF2B5EF4-FFF2-40B4-BE49-F238E27FC236}">
                <a16:creationId xmlns:a16="http://schemas.microsoft.com/office/drawing/2014/main" id="{EE06526C-C695-5D91-E56C-972A8C407758}"/>
              </a:ext>
            </a:extLst>
          </p:cNvPr>
          <p:cNvSpPr>
            <a:spLocks noGrp="1"/>
          </p:cNvSpPr>
          <p:nvPr>
            <p:ph idx="1"/>
          </p:nvPr>
        </p:nvSpPr>
        <p:spPr/>
        <p:txBody>
          <a:bodyPr>
            <a:normAutofit/>
          </a:bodyPr>
          <a:lstStyle/>
          <a:p>
            <a:r>
              <a:rPr lang="en-US" dirty="0"/>
              <a:t>Reachability states if a data point can be accessed from another data point directly or indirectly, whereas Connectivity states whether two data points belong to the same cluster or not. In terms of reachability and connectivity, two points in DBSCAN can be referred to as:</a:t>
            </a:r>
          </a:p>
          <a:p>
            <a:r>
              <a:rPr lang="en-US" dirty="0">
                <a:solidFill>
                  <a:srgbClr val="00D4D3"/>
                </a:solidFill>
              </a:rPr>
              <a:t>Directly Density-Reachable</a:t>
            </a:r>
          </a:p>
          <a:p>
            <a:r>
              <a:rPr lang="en-US" dirty="0">
                <a:solidFill>
                  <a:srgbClr val="00D4D3"/>
                </a:solidFill>
              </a:rPr>
              <a:t>Density-Reachable</a:t>
            </a:r>
          </a:p>
          <a:p>
            <a:r>
              <a:rPr lang="en-US" dirty="0">
                <a:solidFill>
                  <a:srgbClr val="00D4D3"/>
                </a:solidFill>
              </a:rPr>
              <a:t>Density-Connected</a:t>
            </a:r>
          </a:p>
        </p:txBody>
      </p:sp>
    </p:spTree>
    <p:extLst>
      <p:ext uri="{BB962C8B-B14F-4D97-AF65-F5344CB8AC3E}">
        <p14:creationId xmlns:p14="http://schemas.microsoft.com/office/powerpoint/2010/main" val="2953139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04408-7554-9B73-7FA9-4D5962024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FC990A-D36C-9820-4F91-240B16216DC8}"/>
              </a:ext>
            </a:extLst>
          </p:cNvPr>
          <p:cNvSpPr>
            <a:spLocks noGrp="1"/>
          </p:cNvSpPr>
          <p:nvPr>
            <p:ph type="title"/>
          </p:nvPr>
        </p:nvSpPr>
        <p:spPr/>
        <p:txBody>
          <a:bodyPr/>
          <a:lstStyle/>
          <a:p>
            <a:r>
              <a:rPr lang="en-US" dirty="0">
                <a:solidFill>
                  <a:srgbClr val="00D4D3"/>
                </a:solidFill>
              </a:rPr>
              <a:t>Directly density-reachable</a:t>
            </a:r>
          </a:p>
        </p:txBody>
      </p:sp>
      <p:sp>
        <p:nvSpPr>
          <p:cNvPr id="3" name="Content Placeholder 2">
            <a:extLst>
              <a:ext uri="{FF2B5EF4-FFF2-40B4-BE49-F238E27FC236}">
                <a16:creationId xmlns:a16="http://schemas.microsoft.com/office/drawing/2014/main" id="{57176B2B-10DF-417D-9E3D-1BF9B487F408}"/>
              </a:ext>
            </a:extLst>
          </p:cNvPr>
          <p:cNvSpPr>
            <a:spLocks noGrp="1"/>
          </p:cNvSpPr>
          <p:nvPr>
            <p:ph idx="1"/>
          </p:nvPr>
        </p:nvSpPr>
        <p:spPr>
          <a:xfrm>
            <a:off x="838200" y="1825625"/>
            <a:ext cx="5897137" cy="4351338"/>
          </a:xfrm>
        </p:spPr>
        <p:txBody>
          <a:bodyPr>
            <a:normAutofit/>
          </a:bodyPr>
          <a:lstStyle/>
          <a:p>
            <a:r>
              <a:rPr lang="en-US" dirty="0"/>
              <a:t>A point X is directly density-reachable from point Y </a:t>
            </a:r>
            <a:r>
              <a:rPr lang="en-US" dirty="0" err="1"/>
              <a:t>w.r.t</a:t>
            </a:r>
            <a:r>
              <a:rPr lang="en-US" dirty="0"/>
              <a:t> epsilon, </a:t>
            </a:r>
            <a:r>
              <a:rPr lang="en-US" dirty="0" err="1"/>
              <a:t>minPoints</a:t>
            </a:r>
            <a:r>
              <a:rPr lang="en-US" dirty="0"/>
              <a:t> if,</a:t>
            </a:r>
          </a:p>
          <a:p>
            <a:r>
              <a:rPr lang="en-US" dirty="0"/>
              <a:t>X belongs to the neighborhood of Y, </a:t>
            </a:r>
            <a:r>
              <a:rPr lang="en-US" dirty="0" err="1"/>
              <a:t>i.e</a:t>
            </a:r>
            <a:r>
              <a:rPr lang="en-US" dirty="0"/>
              <a:t>, </a:t>
            </a:r>
            <a:r>
              <a:rPr lang="en-US" dirty="0" err="1"/>
              <a:t>dist</a:t>
            </a:r>
            <a:r>
              <a:rPr lang="en-US" dirty="0"/>
              <a:t>(X, Y) &lt;= epsilon</a:t>
            </a:r>
          </a:p>
          <a:p>
            <a:r>
              <a:rPr lang="en-US" dirty="0"/>
              <a:t>Y is a core point</a:t>
            </a:r>
          </a:p>
          <a:p>
            <a:r>
              <a:rPr lang="en-US" dirty="0">
                <a:solidFill>
                  <a:srgbClr val="00D4D3"/>
                </a:solidFill>
              </a:rPr>
              <a:t>Here, X is directly density-reachable from Y, but vice versa is not valid.</a:t>
            </a:r>
          </a:p>
        </p:txBody>
      </p:sp>
      <p:pic>
        <p:nvPicPr>
          <p:cNvPr id="5122" name="Picture 2" descr="directly density reachable">
            <a:extLst>
              <a:ext uri="{FF2B5EF4-FFF2-40B4-BE49-F238E27FC236}">
                <a16:creationId xmlns:a16="http://schemas.microsoft.com/office/drawing/2014/main" id="{0C97DB4E-9C40-311B-A45E-FD6911807C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8533" y="1825625"/>
            <a:ext cx="3535267" cy="3393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1554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063DB-9B00-8A47-E683-C271044AD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4CA0C3-6D62-5154-E1C5-261BA9805E09}"/>
              </a:ext>
            </a:extLst>
          </p:cNvPr>
          <p:cNvSpPr>
            <a:spLocks noGrp="1"/>
          </p:cNvSpPr>
          <p:nvPr>
            <p:ph type="title"/>
          </p:nvPr>
        </p:nvSpPr>
        <p:spPr/>
        <p:txBody>
          <a:bodyPr/>
          <a:lstStyle/>
          <a:p>
            <a:r>
              <a:rPr lang="en-US" dirty="0">
                <a:solidFill>
                  <a:srgbClr val="00D4D3"/>
                </a:solidFill>
              </a:rPr>
              <a:t>Density-reachable</a:t>
            </a:r>
          </a:p>
        </p:txBody>
      </p:sp>
      <p:sp>
        <p:nvSpPr>
          <p:cNvPr id="3" name="Content Placeholder 2">
            <a:extLst>
              <a:ext uri="{FF2B5EF4-FFF2-40B4-BE49-F238E27FC236}">
                <a16:creationId xmlns:a16="http://schemas.microsoft.com/office/drawing/2014/main" id="{1DF11571-EDCA-2CC3-5DBF-3F6C55B6D32A}"/>
              </a:ext>
            </a:extLst>
          </p:cNvPr>
          <p:cNvSpPr>
            <a:spLocks noGrp="1"/>
          </p:cNvSpPr>
          <p:nvPr>
            <p:ph idx="1"/>
          </p:nvPr>
        </p:nvSpPr>
        <p:spPr>
          <a:xfrm>
            <a:off x="838200" y="1825625"/>
            <a:ext cx="5897137" cy="4351338"/>
          </a:xfrm>
        </p:spPr>
        <p:txBody>
          <a:bodyPr>
            <a:normAutofit lnSpcReduction="10000"/>
          </a:bodyPr>
          <a:lstStyle/>
          <a:p>
            <a:r>
              <a:rPr lang="en-US" dirty="0"/>
              <a:t>A point X is density-reachable from point Y </a:t>
            </a:r>
            <a:r>
              <a:rPr lang="en-US" dirty="0" err="1"/>
              <a:t>w.r.t</a:t>
            </a:r>
            <a:r>
              <a:rPr lang="en-US" dirty="0"/>
              <a:t> epsilon, </a:t>
            </a:r>
            <a:r>
              <a:rPr lang="en-US" dirty="0" err="1"/>
              <a:t>minPoints</a:t>
            </a:r>
            <a:r>
              <a:rPr lang="en-US" dirty="0"/>
              <a:t> if there is a chain of points p1, p2, p3, …, </a:t>
            </a:r>
            <a:r>
              <a:rPr lang="en-US" dirty="0" err="1"/>
              <a:t>pn</a:t>
            </a:r>
            <a:r>
              <a:rPr lang="en-US" dirty="0"/>
              <a:t> and p1=X and </a:t>
            </a:r>
            <a:r>
              <a:rPr lang="en-US" dirty="0" err="1"/>
              <a:t>pn</a:t>
            </a:r>
            <a:r>
              <a:rPr lang="en-US" dirty="0"/>
              <a:t>=Y such that pi+1 is directly density-reachable from pi.</a:t>
            </a:r>
          </a:p>
          <a:p>
            <a:r>
              <a:rPr lang="en-US" dirty="0">
                <a:solidFill>
                  <a:srgbClr val="00D4D3"/>
                </a:solidFill>
              </a:rPr>
              <a:t>Here, X is density-reachable from Y with X being directly density-reachable from P2, P2 from P3, and P3 from Y. But, the inverse of this is not valid.</a:t>
            </a:r>
          </a:p>
        </p:txBody>
      </p:sp>
      <p:pic>
        <p:nvPicPr>
          <p:cNvPr id="6146" name="Picture 2" descr="density reachable">
            <a:extLst>
              <a:ext uri="{FF2B5EF4-FFF2-40B4-BE49-F238E27FC236}">
                <a16:creationId xmlns:a16="http://schemas.microsoft.com/office/drawing/2014/main" id="{B2F1C157-0D17-6DC6-1EB6-B856056CCA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7100" y="1825625"/>
            <a:ext cx="4076700" cy="3086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751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2EEC2-793F-B9D4-9D3F-9F58345E7D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ADFE36-3C49-4EBA-CDCF-3955B835B77C}"/>
              </a:ext>
            </a:extLst>
          </p:cNvPr>
          <p:cNvSpPr>
            <a:spLocks noGrp="1"/>
          </p:cNvSpPr>
          <p:nvPr>
            <p:ph type="title"/>
          </p:nvPr>
        </p:nvSpPr>
        <p:spPr/>
        <p:txBody>
          <a:bodyPr/>
          <a:lstStyle/>
          <a:p>
            <a:r>
              <a:rPr lang="en-US" dirty="0">
                <a:solidFill>
                  <a:srgbClr val="00D4D3"/>
                </a:solidFill>
              </a:rPr>
              <a:t>Density-connected</a:t>
            </a:r>
          </a:p>
        </p:txBody>
      </p:sp>
      <p:sp>
        <p:nvSpPr>
          <p:cNvPr id="3" name="Content Placeholder 2">
            <a:extLst>
              <a:ext uri="{FF2B5EF4-FFF2-40B4-BE49-F238E27FC236}">
                <a16:creationId xmlns:a16="http://schemas.microsoft.com/office/drawing/2014/main" id="{E96843BB-1A3A-C27F-A9FB-EB27A96B220E}"/>
              </a:ext>
            </a:extLst>
          </p:cNvPr>
          <p:cNvSpPr>
            <a:spLocks noGrp="1"/>
          </p:cNvSpPr>
          <p:nvPr>
            <p:ph idx="1"/>
          </p:nvPr>
        </p:nvSpPr>
        <p:spPr>
          <a:xfrm>
            <a:off x="838200" y="1825625"/>
            <a:ext cx="5897137" cy="4351338"/>
          </a:xfrm>
        </p:spPr>
        <p:txBody>
          <a:bodyPr>
            <a:normAutofit/>
          </a:bodyPr>
          <a:lstStyle/>
          <a:p>
            <a:r>
              <a:rPr lang="en-US" dirty="0"/>
              <a:t>A point X is density-connected from point Y </a:t>
            </a:r>
            <a:r>
              <a:rPr lang="en-US" dirty="0" err="1"/>
              <a:t>w.r.t</a:t>
            </a:r>
            <a:r>
              <a:rPr lang="en-US" dirty="0"/>
              <a:t> epsilon and </a:t>
            </a:r>
            <a:r>
              <a:rPr lang="en-US" dirty="0" err="1"/>
              <a:t>minPoints</a:t>
            </a:r>
            <a:r>
              <a:rPr lang="en-US" dirty="0"/>
              <a:t> if a point O exists such that both X and Y are density-reachable from O </a:t>
            </a:r>
            <a:r>
              <a:rPr lang="en-US" dirty="0" err="1"/>
              <a:t>w.r.t</a:t>
            </a:r>
            <a:r>
              <a:rPr lang="en-US" dirty="0"/>
              <a:t> to epsilon and </a:t>
            </a:r>
            <a:r>
              <a:rPr lang="en-US" dirty="0" err="1"/>
              <a:t>minPoints</a:t>
            </a:r>
            <a:r>
              <a:rPr lang="en-US" dirty="0"/>
              <a:t>.</a:t>
            </a:r>
          </a:p>
          <a:p>
            <a:r>
              <a:rPr lang="en-US" dirty="0">
                <a:solidFill>
                  <a:srgbClr val="00D4D3"/>
                </a:solidFill>
              </a:rPr>
              <a:t>Here, both X and Y are density-reachable from O, therefore, we can say that X is density-connected from Y.</a:t>
            </a:r>
          </a:p>
        </p:txBody>
      </p:sp>
      <p:pic>
        <p:nvPicPr>
          <p:cNvPr id="7170" name="Picture 2" descr="density connected">
            <a:extLst>
              <a:ext uri="{FF2B5EF4-FFF2-40B4-BE49-F238E27FC236}">
                <a16:creationId xmlns:a16="http://schemas.microsoft.com/office/drawing/2014/main" id="{72EEE20B-0138-8798-0CE0-A13A398C31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4206" y="1690688"/>
            <a:ext cx="4439594" cy="3360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9419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C44FA-3B9F-DD58-5FED-2C16D3B848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DD4863-FD4B-5264-1391-26106F5C9072}"/>
              </a:ext>
            </a:extLst>
          </p:cNvPr>
          <p:cNvSpPr>
            <a:spLocks noGrp="1"/>
          </p:cNvSpPr>
          <p:nvPr>
            <p:ph type="title"/>
          </p:nvPr>
        </p:nvSpPr>
        <p:spPr/>
        <p:txBody>
          <a:bodyPr/>
          <a:lstStyle/>
          <a:p>
            <a:r>
              <a:rPr lang="en-US" dirty="0">
                <a:solidFill>
                  <a:srgbClr val="00D4D3"/>
                </a:solidFill>
              </a:rPr>
              <a:t>DBSCAN – Math Example</a:t>
            </a:r>
          </a:p>
        </p:txBody>
      </p:sp>
      <p:sp>
        <p:nvSpPr>
          <p:cNvPr id="3" name="Content Placeholder 2">
            <a:extLst>
              <a:ext uri="{FF2B5EF4-FFF2-40B4-BE49-F238E27FC236}">
                <a16:creationId xmlns:a16="http://schemas.microsoft.com/office/drawing/2014/main" id="{780A41C9-54B7-69E4-6D13-2D7B9D7975BA}"/>
              </a:ext>
            </a:extLst>
          </p:cNvPr>
          <p:cNvSpPr>
            <a:spLocks noGrp="1"/>
          </p:cNvSpPr>
          <p:nvPr>
            <p:ph idx="1"/>
          </p:nvPr>
        </p:nvSpPr>
        <p:spPr/>
        <p:txBody>
          <a:bodyPr>
            <a:normAutofit/>
          </a:bodyPr>
          <a:lstStyle/>
          <a:p>
            <a:r>
              <a:rPr lang="en-US" dirty="0"/>
              <a:t>Cluster-Aish: A(1,2), B(1,3), C(2,2.5), H(2.5,2.2)</a:t>
            </a:r>
          </a:p>
          <a:p>
            <a:r>
              <a:rPr lang="en-US" dirty="0"/>
              <a:t>Cluster-Dish: D(8,8), E(8.5,8), F(9,8.5), I(9.5,9)</a:t>
            </a:r>
          </a:p>
          <a:p>
            <a:r>
              <a:rPr lang="en-US" dirty="0"/>
              <a:t>Suspected noise: G(0,8)</a:t>
            </a:r>
          </a:p>
          <a:p>
            <a:r>
              <a:rPr lang="en-US" dirty="0">
                <a:solidFill>
                  <a:srgbClr val="00D4D3"/>
                </a:solidFill>
              </a:rPr>
              <a:t>We’ll use Euclidean distance, </a:t>
            </a:r>
            <a:r>
              <a:rPr lang="el-GR" dirty="0">
                <a:solidFill>
                  <a:srgbClr val="00D4D3"/>
                </a:solidFill>
              </a:rPr>
              <a:t>ε = 1.2, </a:t>
            </a:r>
            <a:r>
              <a:rPr lang="en-US" dirty="0" err="1">
                <a:solidFill>
                  <a:srgbClr val="00D4D3"/>
                </a:solidFill>
              </a:rPr>
              <a:t>MinPts</a:t>
            </a:r>
            <a:r>
              <a:rPr lang="en-US" dirty="0">
                <a:solidFill>
                  <a:srgbClr val="00D4D3"/>
                </a:solidFill>
              </a:rPr>
              <a:t> = 3</a:t>
            </a:r>
          </a:p>
        </p:txBody>
      </p:sp>
      <p:pic>
        <p:nvPicPr>
          <p:cNvPr id="8194" name="Picture 2" descr="Optimising pairwise Euclidean distance calculations using Python | Towards  Data Science">
            <a:extLst>
              <a:ext uri="{FF2B5EF4-FFF2-40B4-BE49-F238E27FC236}">
                <a16:creationId xmlns:a16="http://schemas.microsoft.com/office/drawing/2014/main" id="{C016F99D-F7B7-08F7-528F-3C967D02E5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088781"/>
            <a:ext cx="3333968" cy="11522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76184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0DB6F-BB28-7A9E-0B10-6FC9D6CD14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4E33C1-1606-8024-B12E-46AC9A7F4E50}"/>
              </a:ext>
            </a:extLst>
          </p:cNvPr>
          <p:cNvSpPr>
            <a:spLocks noGrp="1"/>
          </p:cNvSpPr>
          <p:nvPr>
            <p:ph type="title"/>
          </p:nvPr>
        </p:nvSpPr>
        <p:spPr/>
        <p:txBody>
          <a:bodyPr/>
          <a:lstStyle/>
          <a:p>
            <a:r>
              <a:rPr lang="en-US" dirty="0">
                <a:solidFill>
                  <a:srgbClr val="00D4D3"/>
                </a:solidFill>
              </a:rPr>
              <a:t>DBSCAN – Math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A7896B-01A1-4856-874E-4C2653F91A90}"/>
                  </a:ext>
                </a:extLst>
              </p:cNvPr>
              <p:cNvSpPr>
                <a:spLocks noGrp="1"/>
              </p:cNvSpPr>
              <p:nvPr>
                <p:ph idx="1"/>
              </p:nvPr>
            </p:nvSpPr>
            <p:spPr>
              <a:xfrm>
                <a:off x="838200" y="1690688"/>
                <a:ext cx="10515600" cy="4351338"/>
              </a:xfrm>
            </p:spPr>
            <p:txBody>
              <a:bodyPr>
                <a:normAutofit fontScale="70000" lnSpcReduction="20000"/>
              </a:bodyPr>
              <a:lstStyle/>
              <a:p>
                <a14:m>
                  <m:oMath xmlns:m="http://schemas.openxmlformats.org/officeDocument/2006/math">
                    <m:r>
                      <a:rPr lang="en-US" i="1" smtClean="0">
                        <a:latin typeface="Cambria Math" panose="02040503050406030204" pitchFamily="18" charset="0"/>
                      </a:rPr>
                      <m:t>𝑑</m:t>
                    </m:r>
                    <m:d>
                      <m:dPr>
                        <m:sepChr m:val=","/>
                        <m:ctrlPr>
                          <a:rPr lang="en-US" i="1">
                            <a:latin typeface="Cambria Math" panose="02040503050406030204" pitchFamily="18" charset="0"/>
                          </a:rPr>
                        </m:ctrlPr>
                      </m:dPr>
                      <m:e>
                        <m:r>
                          <a:rPr lang="en-US" i="1">
                            <a:latin typeface="Cambria Math" panose="02040503050406030204" pitchFamily="18" charset="0"/>
                          </a:rPr>
                          <m:t>𝐴</m:t>
                        </m:r>
                      </m:e>
                      <m:e>
                        <m:r>
                          <a:rPr lang="en-US" i="1">
                            <a:latin typeface="Cambria Math" panose="02040503050406030204" pitchFamily="18" charset="0"/>
                          </a:rPr>
                          <m:t>𝐵</m:t>
                        </m:r>
                      </m:e>
                    </m:d>
                    <m:r>
                      <a:rPr lang="en-US">
                        <a:latin typeface="Cambria Math" panose="02040503050406030204" pitchFamily="18" charset="0"/>
                      </a:rPr>
                      <m:t>=</m:t>
                    </m:r>
                    <m:rad>
                      <m:radPr>
                        <m:degHide m:val="on"/>
                        <m:ctrlPr>
                          <a:rPr lang="en-US" i="1">
                            <a:latin typeface="Cambria Math" panose="02040503050406030204" pitchFamily="18" charset="0"/>
                          </a:rPr>
                        </m:ctrlPr>
                      </m:radPr>
                      <m:deg/>
                      <m:e>
                        <m:d>
                          <m:dPr>
                            <m:endChr m:val=""/>
                            <m:ctrlPr>
                              <a:rPr lang="en-US" i="1">
                                <a:latin typeface="Cambria Math" panose="02040503050406030204" pitchFamily="18" charset="0"/>
                              </a:rPr>
                            </m:ctrlPr>
                          </m:dPr>
                          <m:e>
                            <m:r>
                              <a:rPr lang="en-US">
                                <a:latin typeface="Cambria Math" panose="02040503050406030204" pitchFamily="18" charset="0"/>
                              </a:rPr>
                              <m:t>1−1</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r>
                                      <a:rPr lang="en-US">
                                        <a:latin typeface="Cambria Math" panose="02040503050406030204" pitchFamily="18" charset="0"/>
                                      </a:rPr>
                                      <m:t>)</m:t>
                                    </m:r>
                                  </m:e>
                                </m:d>
                              </m:e>
                              <m:sup>
                                <m:r>
                                  <a:rPr lang="en-US">
                                    <a:latin typeface="Cambria Math" panose="02040503050406030204" pitchFamily="18" charset="0"/>
                                  </a:rPr>
                                  <m:t>2</m:t>
                                </m:r>
                              </m:sup>
                            </m:sSup>
                            <m:r>
                              <a:rPr lang="en-US">
                                <a:latin typeface="Cambria Math" panose="02040503050406030204" pitchFamily="18" charset="0"/>
                              </a:rPr>
                              <m:t>+</m:t>
                            </m:r>
                            <m:d>
                              <m:dPr>
                                <m:endChr m:val=""/>
                                <m:ctrlPr>
                                  <a:rPr lang="en-US" i="1">
                                    <a:latin typeface="Cambria Math" panose="02040503050406030204" pitchFamily="18" charset="0"/>
                                  </a:rPr>
                                </m:ctrlPr>
                              </m:dPr>
                              <m:e>
                                <m:r>
                                  <a:rPr lang="en-US">
                                    <a:latin typeface="Cambria Math" panose="02040503050406030204" pitchFamily="18" charset="0"/>
                                  </a:rPr>
                                  <m:t>2−3</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r>
                                          <a:rPr lang="en-US">
                                            <a:latin typeface="Cambria Math" panose="02040503050406030204" pitchFamily="18" charset="0"/>
                                          </a:rPr>
                                          <m:t>)</m:t>
                                        </m:r>
                                      </m:e>
                                    </m:d>
                                  </m:e>
                                  <m:sup>
                                    <m:r>
                                      <a:rPr lang="en-US">
                                        <a:latin typeface="Cambria Math" panose="02040503050406030204" pitchFamily="18" charset="0"/>
                                      </a:rPr>
                                      <m:t>2</m:t>
                                    </m:r>
                                  </m:sup>
                                </m:sSup>
                              </m:e>
                            </m:d>
                          </m:e>
                        </m:d>
                      </m:e>
                    </m:rad>
                    <m:r>
                      <a:rPr lang="en-US">
                        <a:latin typeface="Cambria Math" panose="02040503050406030204" pitchFamily="18" charset="0"/>
                      </a:rPr>
                      <m:t>=1.000</m:t>
                    </m:r>
                  </m:oMath>
                </a14:m>
                <a:endParaRPr lang="en-US" dirty="0"/>
              </a:p>
              <a:p>
                <a14:m>
                  <m:oMath xmlns:m="http://schemas.openxmlformats.org/officeDocument/2006/math">
                    <m:r>
                      <a:rPr lang="en-US" i="1">
                        <a:latin typeface="Cambria Math" panose="02040503050406030204" pitchFamily="18" charset="0"/>
                      </a:rPr>
                      <m:t>𝑑</m:t>
                    </m:r>
                    <m:d>
                      <m:dPr>
                        <m:sepChr m:val=","/>
                        <m:ctrlPr>
                          <a:rPr lang="ur-PK" i="1">
                            <a:latin typeface="Cambria Math" panose="02040503050406030204" pitchFamily="18" charset="0"/>
                          </a:rPr>
                        </m:ctrlPr>
                      </m:dPr>
                      <m:e>
                        <m:r>
                          <a:rPr lang="ur-PK" i="1">
                            <a:latin typeface="Cambria Math" panose="02040503050406030204" pitchFamily="18" charset="0"/>
                          </a:rPr>
                          <m:t>𝐴</m:t>
                        </m:r>
                      </m:e>
                      <m:e>
                        <m:r>
                          <a:rPr lang="ur-PK" i="1">
                            <a:latin typeface="Cambria Math" panose="02040503050406030204" pitchFamily="18" charset="0"/>
                          </a:rPr>
                          <m:t>𝐶</m:t>
                        </m:r>
                      </m:e>
                    </m:d>
                    <m:r>
                      <a:rPr lang="ur-PK">
                        <a:latin typeface="Cambria Math" panose="02040503050406030204" pitchFamily="18" charset="0"/>
                      </a:rPr>
                      <m:t>=</m:t>
                    </m:r>
                    <m:rad>
                      <m:radPr>
                        <m:degHide m:val="on"/>
                        <m:ctrlPr>
                          <a:rPr lang="ur-PK" i="1">
                            <a:latin typeface="Cambria Math" panose="02040503050406030204" pitchFamily="18" charset="0"/>
                          </a:rPr>
                        </m:ctrlPr>
                      </m:radPr>
                      <m:deg/>
                      <m:e>
                        <m:d>
                          <m:dPr>
                            <m:endChr m:val=""/>
                            <m:ctrlPr>
                              <a:rPr lang="ur-PK" i="1">
                                <a:latin typeface="Cambria Math" panose="02040503050406030204" pitchFamily="18" charset="0"/>
                              </a:rPr>
                            </m:ctrlPr>
                          </m:dPr>
                          <m:e>
                            <m:r>
                              <a:rPr lang="ur-PK">
                                <a:latin typeface="Cambria Math" panose="02040503050406030204" pitchFamily="18" charset="0"/>
                              </a:rPr>
                              <m:t>1−2</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r>
                              <a:rPr lang="ur-PK">
                                <a:latin typeface="Cambria Math" panose="02040503050406030204" pitchFamily="18" charset="0"/>
                              </a:rPr>
                              <m:t>+</m:t>
                            </m:r>
                            <m:d>
                              <m:dPr>
                                <m:endChr m:val=""/>
                                <m:ctrlPr>
                                  <a:rPr lang="ur-PK" i="1">
                                    <a:latin typeface="Cambria Math" panose="02040503050406030204" pitchFamily="18" charset="0"/>
                                  </a:rPr>
                                </m:ctrlPr>
                              </m:dPr>
                              <m:e>
                                <m:r>
                                  <a:rPr lang="ur-PK">
                                    <a:latin typeface="Cambria Math" panose="02040503050406030204" pitchFamily="18" charset="0"/>
                                  </a:rPr>
                                  <m:t>2−2.5</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e>
                            </m:d>
                          </m:e>
                        </m:d>
                      </m:e>
                    </m:rad>
                    <m:r>
                      <a:rPr lang="ur-PK">
                        <a:latin typeface="Cambria Math" panose="02040503050406030204" pitchFamily="18" charset="0"/>
                      </a:rPr>
                      <m:t>=</m:t>
                    </m:r>
                    <m:rad>
                      <m:radPr>
                        <m:degHide m:val="on"/>
                        <m:ctrlPr>
                          <a:rPr lang="ur-PK" i="1">
                            <a:latin typeface="Cambria Math" panose="02040503050406030204" pitchFamily="18" charset="0"/>
                          </a:rPr>
                        </m:ctrlPr>
                      </m:radPr>
                      <m:deg/>
                      <m:e>
                        <m:r>
                          <a:rPr lang="ur-PK">
                            <a:latin typeface="Cambria Math" panose="02040503050406030204" pitchFamily="18" charset="0"/>
                          </a:rPr>
                          <m:t>1+0.25</m:t>
                        </m:r>
                      </m:e>
                    </m:rad>
                    <m:r>
                      <a:rPr lang="ur-PK">
                        <a:latin typeface="Cambria Math" panose="02040503050406030204" pitchFamily="18" charset="0"/>
                      </a:rPr>
                      <m:t>=1.118</m:t>
                    </m:r>
                  </m:oMath>
                </a14:m>
                <a:endParaRPr lang="ur-PK" dirty="0"/>
              </a:p>
              <a:p>
                <a14:m>
                  <m:oMath xmlns:m="http://schemas.openxmlformats.org/officeDocument/2006/math">
                    <m:r>
                      <a:rPr lang="ur-PK" i="1">
                        <a:latin typeface="Cambria Math" panose="02040503050406030204" pitchFamily="18" charset="0"/>
                      </a:rPr>
                      <m:t>𝑑</m:t>
                    </m:r>
                    <m:d>
                      <m:dPr>
                        <m:sepChr m:val=","/>
                        <m:ctrlPr>
                          <a:rPr lang="ur-PK" i="1">
                            <a:latin typeface="Cambria Math" panose="02040503050406030204" pitchFamily="18" charset="0"/>
                          </a:rPr>
                        </m:ctrlPr>
                      </m:dPr>
                      <m:e>
                        <m:r>
                          <a:rPr lang="ur-PK" i="1">
                            <a:latin typeface="Cambria Math" panose="02040503050406030204" pitchFamily="18" charset="0"/>
                          </a:rPr>
                          <m:t>𝐴</m:t>
                        </m:r>
                      </m:e>
                      <m:e>
                        <m:r>
                          <a:rPr lang="ur-PK" i="1">
                            <a:latin typeface="Cambria Math" panose="02040503050406030204" pitchFamily="18" charset="0"/>
                          </a:rPr>
                          <m:t>𝐻</m:t>
                        </m:r>
                      </m:e>
                    </m:d>
                    <m:r>
                      <a:rPr lang="ur-PK">
                        <a:latin typeface="Cambria Math" panose="02040503050406030204" pitchFamily="18" charset="0"/>
                      </a:rPr>
                      <m:t>=</m:t>
                    </m:r>
                    <m:rad>
                      <m:radPr>
                        <m:degHide m:val="on"/>
                        <m:ctrlPr>
                          <a:rPr lang="ur-PK" i="1">
                            <a:latin typeface="Cambria Math" panose="02040503050406030204" pitchFamily="18" charset="0"/>
                          </a:rPr>
                        </m:ctrlPr>
                      </m:radPr>
                      <m:deg/>
                      <m:e>
                        <m:d>
                          <m:dPr>
                            <m:endChr m:val=""/>
                            <m:ctrlPr>
                              <a:rPr lang="ur-PK" i="1">
                                <a:latin typeface="Cambria Math" panose="02040503050406030204" pitchFamily="18" charset="0"/>
                              </a:rPr>
                            </m:ctrlPr>
                          </m:dPr>
                          <m:e>
                            <m:r>
                              <a:rPr lang="ur-PK">
                                <a:latin typeface="Cambria Math" panose="02040503050406030204" pitchFamily="18" charset="0"/>
                              </a:rPr>
                              <m:t>1−2.5</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r>
                              <a:rPr lang="ur-PK">
                                <a:latin typeface="Cambria Math" panose="02040503050406030204" pitchFamily="18" charset="0"/>
                              </a:rPr>
                              <m:t>+</m:t>
                            </m:r>
                            <m:d>
                              <m:dPr>
                                <m:endChr m:val=""/>
                                <m:ctrlPr>
                                  <a:rPr lang="ur-PK" i="1">
                                    <a:latin typeface="Cambria Math" panose="02040503050406030204" pitchFamily="18" charset="0"/>
                                  </a:rPr>
                                </m:ctrlPr>
                              </m:dPr>
                              <m:e>
                                <m:r>
                                  <a:rPr lang="ur-PK">
                                    <a:latin typeface="Cambria Math" panose="02040503050406030204" pitchFamily="18" charset="0"/>
                                  </a:rPr>
                                  <m:t>2−2.2</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e>
                            </m:d>
                          </m:e>
                        </m:d>
                      </m:e>
                    </m:rad>
                    <m:r>
                      <a:rPr lang="ur-PK">
                        <a:latin typeface="Cambria Math" panose="02040503050406030204" pitchFamily="18" charset="0"/>
                      </a:rPr>
                      <m:t>=</m:t>
                    </m:r>
                    <m:rad>
                      <m:radPr>
                        <m:degHide m:val="on"/>
                        <m:ctrlPr>
                          <a:rPr lang="ur-PK" i="1">
                            <a:latin typeface="Cambria Math" panose="02040503050406030204" pitchFamily="18" charset="0"/>
                          </a:rPr>
                        </m:ctrlPr>
                      </m:radPr>
                      <m:deg/>
                      <m:e>
                        <m:r>
                          <a:rPr lang="ur-PK">
                            <a:latin typeface="Cambria Math" panose="02040503050406030204" pitchFamily="18" charset="0"/>
                          </a:rPr>
                          <m:t>2.25+0.04</m:t>
                        </m:r>
                      </m:e>
                    </m:rad>
                    <m:r>
                      <a:rPr lang="ur-PK">
                        <a:latin typeface="Cambria Math" panose="02040503050406030204" pitchFamily="18" charset="0"/>
                      </a:rPr>
                      <m:t>=1.513</m:t>
                    </m:r>
                  </m:oMath>
                </a14:m>
                <a:endParaRPr lang="ur-PK" dirty="0"/>
              </a:p>
              <a:p>
                <a14:m>
                  <m:oMath xmlns:m="http://schemas.openxmlformats.org/officeDocument/2006/math">
                    <m:r>
                      <a:rPr lang="ur-PK" i="1">
                        <a:latin typeface="Cambria Math" panose="02040503050406030204" pitchFamily="18" charset="0"/>
                      </a:rPr>
                      <m:t>𝑑</m:t>
                    </m:r>
                    <m:d>
                      <m:dPr>
                        <m:sepChr m:val=","/>
                        <m:ctrlPr>
                          <a:rPr lang="ur-PK" i="1">
                            <a:latin typeface="Cambria Math" panose="02040503050406030204" pitchFamily="18" charset="0"/>
                          </a:rPr>
                        </m:ctrlPr>
                      </m:dPr>
                      <m:e>
                        <m:r>
                          <a:rPr lang="ur-PK" i="1">
                            <a:latin typeface="Cambria Math" panose="02040503050406030204" pitchFamily="18" charset="0"/>
                          </a:rPr>
                          <m:t>𝐵</m:t>
                        </m:r>
                      </m:e>
                      <m:e>
                        <m:r>
                          <a:rPr lang="ur-PK" i="1">
                            <a:latin typeface="Cambria Math" panose="02040503050406030204" pitchFamily="18" charset="0"/>
                          </a:rPr>
                          <m:t>𝐶</m:t>
                        </m:r>
                      </m:e>
                    </m:d>
                    <m:r>
                      <a:rPr lang="ur-PK">
                        <a:latin typeface="Cambria Math" panose="02040503050406030204" pitchFamily="18" charset="0"/>
                      </a:rPr>
                      <m:t>=</m:t>
                    </m:r>
                    <m:rad>
                      <m:radPr>
                        <m:degHide m:val="on"/>
                        <m:ctrlPr>
                          <a:rPr lang="ur-PK" i="1">
                            <a:latin typeface="Cambria Math" panose="02040503050406030204" pitchFamily="18" charset="0"/>
                          </a:rPr>
                        </m:ctrlPr>
                      </m:radPr>
                      <m:deg/>
                      <m:e>
                        <m:d>
                          <m:dPr>
                            <m:endChr m:val=""/>
                            <m:ctrlPr>
                              <a:rPr lang="ur-PK" i="1">
                                <a:latin typeface="Cambria Math" panose="02040503050406030204" pitchFamily="18" charset="0"/>
                              </a:rPr>
                            </m:ctrlPr>
                          </m:dPr>
                          <m:e>
                            <m:r>
                              <a:rPr lang="ur-PK">
                                <a:latin typeface="Cambria Math" panose="02040503050406030204" pitchFamily="18" charset="0"/>
                              </a:rPr>
                              <m:t>1−2</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r>
                              <a:rPr lang="ur-PK">
                                <a:latin typeface="Cambria Math" panose="02040503050406030204" pitchFamily="18" charset="0"/>
                              </a:rPr>
                              <m:t>+</m:t>
                            </m:r>
                            <m:d>
                              <m:dPr>
                                <m:endChr m:val=""/>
                                <m:ctrlPr>
                                  <a:rPr lang="ur-PK" i="1">
                                    <a:latin typeface="Cambria Math" panose="02040503050406030204" pitchFamily="18" charset="0"/>
                                  </a:rPr>
                                </m:ctrlPr>
                              </m:dPr>
                              <m:e>
                                <m:r>
                                  <a:rPr lang="ur-PK">
                                    <a:latin typeface="Cambria Math" panose="02040503050406030204" pitchFamily="18" charset="0"/>
                                  </a:rPr>
                                  <m:t>3−2.5</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e>
                            </m:d>
                          </m:e>
                        </m:d>
                      </m:e>
                    </m:rad>
                    <m:r>
                      <a:rPr lang="ur-PK">
                        <a:latin typeface="Cambria Math" panose="02040503050406030204" pitchFamily="18" charset="0"/>
                      </a:rPr>
                      <m:t>=</m:t>
                    </m:r>
                    <m:rad>
                      <m:radPr>
                        <m:degHide m:val="on"/>
                        <m:ctrlPr>
                          <a:rPr lang="ur-PK" i="1">
                            <a:latin typeface="Cambria Math" panose="02040503050406030204" pitchFamily="18" charset="0"/>
                          </a:rPr>
                        </m:ctrlPr>
                      </m:radPr>
                      <m:deg/>
                      <m:e>
                        <m:r>
                          <a:rPr lang="ur-PK">
                            <a:latin typeface="Cambria Math" panose="02040503050406030204" pitchFamily="18" charset="0"/>
                          </a:rPr>
                          <m:t>1+0.25</m:t>
                        </m:r>
                      </m:e>
                    </m:rad>
                    <m:r>
                      <a:rPr lang="ur-PK">
                        <a:latin typeface="Cambria Math" panose="02040503050406030204" pitchFamily="18" charset="0"/>
                      </a:rPr>
                      <m:t>=1.118</m:t>
                    </m:r>
                  </m:oMath>
                </a14:m>
                <a:endParaRPr lang="ur-PK" dirty="0"/>
              </a:p>
              <a:p>
                <a14:m>
                  <m:oMath xmlns:m="http://schemas.openxmlformats.org/officeDocument/2006/math">
                    <m:r>
                      <a:rPr lang="ur-PK" i="1">
                        <a:latin typeface="Cambria Math" panose="02040503050406030204" pitchFamily="18" charset="0"/>
                      </a:rPr>
                      <m:t>𝑑</m:t>
                    </m:r>
                    <m:d>
                      <m:dPr>
                        <m:sepChr m:val=","/>
                        <m:ctrlPr>
                          <a:rPr lang="ur-PK" i="1">
                            <a:latin typeface="Cambria Math" panose="02040503050406030204" pitchFamily="18" charset="0"/>
                          </a:rPr>
                        </m:ctrlPr>
                      </m:dPr>
                      <m:e>
                        <m:r>
                          <a:rPr lang="ur-PK" i="1">
                            <a:latin typeface="Cambria Math" panose="02040503050406030204" pitchFamily="18" charset="0"/>
                          </a:rPr>
                          <m:t>𝐵</m:t>
                        </m:r>
                      </m:e>
                      <m:e>
                        <m:r>
                          <a:rPr lang="ur-PK" i="1">
                            <a:latin typeface="Cambria Math" panose="02040503050406030204" pitchFamily="18" charset="0"/>
                          </a:rPr>
                          <m:t>𝐻</m:t>
                        </m:r>
                      </m:e>
                    </m:d>
                    <m:r>
                      <a:rPr lang="ur-PK">
                        <a:latin typeface="Cambria Math" panose="02040503050406030204" pitchFamily="18" charset="0"/>
                      </a:rPr>
                      <m:t>=</m:t>
                    </m:r>
                    <m:rad>
                      <m:radPr>
                        <m:degHide m:val="on"/>
                        <m:ctrlPr>
                          <a:rPr lang="ur-PK" i="1">
                            <a:latin typeface="Cambria Math" panose="02040503050406030204" pitchFamily="18" charset="0"/>
                          </a:rPr>
                        </m:ctrlPr>
                      </m:radPr>
                      <m:deg/>
                      <m:e>
                        <m:d>
                          <m:dPr>
                            <m:endChr m:val=""/>
                            <m:ctrlPr>
                              <a:rPr lang="ur-PK" i="1">
                                <a:latin typeface="Cambria Math" panose="02040503050406030204" pitchFamily="18" charset="0"/>
                              </a:rPr>
                            </m:ctrlPr>
                          </m:dPr>
                          <m:e>
                            <m:r>
                              <a:rPr lang="ur-PK">
                                <a:latin typeface="Cambria Math" panose="02040503050406030204" pitchFamily="18" charset="0"/>
                              </a:rPr>
                              <m:t>1−2.5</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r>
                              <a:rPr lang="ur-PK">
                                <a:latin typeface="Cambria Math" panose="02040503050406030204" pitchFamily="18" charset="0"/>
                              </a:rPr>
                              <m:t>+</m:t>
                            </m:r>
                            <m:d>
                              <m:dPr>
                                <m:endChr m:val=""/>
                                <m:ctrlPr>
                                  <a:rPr lang="ur-PK" i="1">
                                    <a:latin typeface="Cambria Math" panose="02040503050406030204" pitchFamily="18" charset="0"/>
                                  </a:rPr>
                                </m:ctrlPr>
                              </m:dPr>
                              <m:e>
                                <m:r>
                                  <a:rPr lang="ur-PK">
                                    <a:latin typeface="Cambria Math" panose="02040503050406030204" pitchFamily="18" charset="0"/>
                                  </a:rPr>
                                  <m:t>3−2.2</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e>
                            </m:d>
                          </m:e>
                        </m:d>
                      </m:e>
                    </m:rad>
                    <m:r>
                      <a:rPr lang="ur-PK">
                        <a:latin typeface="Cambria Math" panose="02040503050406030204" pitchFamily="18" charset="0"/>
                      </a:rPr>
                      <m:t>=</m:t>
                    </m:r>
                    <m:rad>
                      <m:radPr>
                        <m:degHide m:val="on"/>
                        <m:ctrlPr>
                          <a:rPr lang="ur-PK" i="1">
                            <a:latin typeface="Cambria Math" panose="02040503050406030204" pitchFamily="18" charset="0"/>
                          </a:rPr>
                        </m:ctrlPr>
                      </m:radPr>
                      <m:deg/>
                      <m:e>
                        <m:r>
                          <a:rPr lang="ur-PK">
                            <a:latin typeface="Cambria Math" panose="02040503050406030204" pitchFamily="18" charset="0"/>
                          </a:rPr>
                          <m:t>2.25+0.64</m:t>
                        </m:r>
                      </m:e>
                    </m:rad>
                    <m:r>
                      <a:rPr lang="ur-PK">
                        <a:latin typeface="Cambria Math" panose="02040503050406030204" pitchFamily="18" charset="0"/>
                      </a:rPr>
                      <m:t>=1.700</m:t>
                    </m:r>
                  </m:oMath>
                </a14:m>
                <a:endParaRPr lang="ur-PK" dirty="0"/>
              </a:p>
              <a:p>
                <a14:m>
                  <m:oMath xmlns:m="http://schemas.openxmlformats.org/officeDocument/2006/math">
                    <m:r>
                      <a:rPr lang="ur-PK" i="1">
                        <a:latin typeface="Cambria Math" panose="02040503050406030204" pitchFamily="18" charset="0"/>
                      </a:rPr>
                      <m:t>𝑑</m:t>
                    </m:r>
                    <m:d>
                      <m:dPr>
                        <m:sepChr m:val=","/>
                        <m:ctrlPr>
                          <a:rPr lang="ur-PK" i="1">
                            <a:latin typeface="Cambria Math" panose="02040503050406030204" pitchFamily="18" charset="0"/>
                          </a:rPr>
                        </m:ctrlPr>
                      </m:dPr>
                      <m:e>
                        <m:r>
                          <a:rPr lang="ur-PK" i="1">
                            <a:latin typeface="Cambria Math" panose="02040503050406030204" pitchFamily="18" charset="0"/>
                          </a:rPr>
                          <m:t>𝐶</m:t>
                        </m:r>
                      </m:e>
                      <m:e>
                        <m:r>
                          <a:rPr lang="ur-PK" i="1">
                            <a:latin typeface="Cambria Math" panose="02040503050406030204" pitchFamily="18" charset="0"/>
                          </a:rPr>
                          <m:t>𝐻</m:t>
                        </m:r>
                      </m:e>
                    </m:d>
                    <m:r>
                      <a:rPr lang="ur-PK">
                        <a:latin typeface="Cambria Math" panose="02040503050406030204" pitchFamily="18" charset="0"/>
                      </a:rPr>
                      <m:t>=</m:t>
                    </m:r>
                    <m:rad>
                      <m:radPr>
                        <m:degHide m:val="on"/>
                        <m:ctrlPr>
                          <a:rPr lang="ur-PK" i="1">
                            <a:latin typeface="Cambria Math" panose="02040503050406030204" pitchFamily="18" charset="0"/>
                          </a:rPr>
                        </m:ctrlPr>
                      </m:radPr>
                      <m:deg/>
                      <m:e>
                        <m:d>
                          <m:dPr>
                            <m:endChr m:val=""/>
                            <m:ctrlPr>
                              <a:rPr lang="ur-PK" i="1">
                                <a:latin typeface="Cambria Math" panose="02040503050406030204" pitchFamily="18" charset="0"/>
                              </a:rPr>
                            </m:ctrlPr>
                          </m:dPr>
                          <m:e>
                            <m:r>
                              <a:rPr lang="ur-PK">
                                <a:latin typeface="Cambria Math" panose="02040503050406030204" pitchFamily="18" charset="0"/>
                              </a:rPr>
                              <m:t>2−2.5</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r>
                              <a:rPr lang="ur-PK">
                                <a:latin typeface="Cambria Math" panose="02040503050406030204" pitchFamily="18" charset="0"/>
                              </a:rPr>
                              <m:t>+</m:t>
                            </m:r>
                            <m:d>
                              <m:dPr>
                                <m:endChr m:val=""/>
                                <m:ctrlPr>
                                  <a:rPr lang="ur-PK" i="1">
                                    <a:latin typeface="Cambria Math" panose="02040503050406030204" pitchFamily="18" charset="0"/>
                                  </a:rPr>
                                </m:ctrlPr>
                              </m:dPr>
                              <m:e>
                                <m:r>
                                  <a:rPr lang="ur-PK">
                                    <a:latin typeface="Cambria Math" panose="02040503050406030204" pitchFamily="18" charset="0"/>
                                  </a:rPr>
                                  <m:t>2.5−2.2</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e>
                            </m:d>
                          </m:e>
                        </m:d>
                      </m:e>
                    </m:rad>
                    <m:r>
                      <a:rPr lang="ur-PK">
                        <a:latin typeface="Cambria Math" panose="02040503050406030204" pitchFamily="18" charset="0"/>
                      </a:rPr>
                      <m:t>=</m:t>
                    </m:r>
                    <m:rad>
                      <m:radPr>
                        <m:degHide m:val="on"/>
                        <m:ctrlPr>
                          <a:rPr lang="ur-PK" i="1">
                            <a:latin typeface="Cambria Math" panose="02040503050406030204" pitchFamily="18" charset="0"/>
                          </a:rPr>
                        </m:ctrlPr>
                      </m:radPr>
                      <m:deg/>
                      <m:e>
                        <m:r>
                          <a:rPr lang="ur-PK">
                            <a:latin typeface="Cambria Math" panose="02040503050406030204" pitchFamily="18" charset="0"/>
                          </a:rPr>
                          <m:t>0.25+0.09</m:t>
                        </m:r>
                      </m:e>
                    </m:rad>
                    <m:r>
                      <a:rPr lang="ur-PK">
                        <a:latin typeface="Cambria Math" panose="02040503050406030204" pitchFamily="18" charset="0"/>
                      </a:rPr>
                      <m:t>=0.583</m:t>
                    </m:r>
                  </m:oMath>
                </a14:m>
                <a:endParaRPr lang="ur-PK" dirty="0"/>
              </a:p>
            </p:txBody>
          </p:sp>
        </mc:Choice>
        <mc:Fallback xmlns="">
          <p:sp>
            <p:nvSpPr>
              <p:cNvPr id="3" name="Content Placeholder 2">
                <a:extLst>
                  <a:ext uri="{FF2B5EF4-FFF2-40B4-BE49-F238E27FC236}">
                    <a16:creationId xmlns:a16="http://schemas.microsoft.com/office/drawing/2014/main" id="{A6A7896B-01A1-4856-874E-4C2653F91A90}"/>
                  </a:ext>
                </a:extLst>
              </p:cNvPr>
              <p:cNvSpPr>
                <a:spLocks noGrp="1" noRot="1" noChangeAspect="1" noMove="1" noResize="1" noEditPoints="1" noAdjustHandles="1" noChangeArrowheads="1" noChangeShapeType="1" noTextEdit="1"/>
              </p:cNvSpPr>
              <p:nvPr>
                <p:ph idx="1"/>
              </p:nvPr>
            </p:nvSpPr>
            <p:spPr>
              <a:xfrm>
                <a:off x="838200" y="1690688"/>
                <a:ext cx="10515600" cy="4351338"/>
              </a:xfrm>
              <a:blipFill>
                <a:blip r:embed="rId2"/>
                <a:stretch>
                  <a:fillRect l="-603" t="-26453" b="-33721"/>
                </a:stretch>
              </a:blipFill>
            </p:spPr>
            <p:txBody>
              <a:bodyPr/>
              <a:lstStyle/>
              <a:p>
                <a:r>
                  <a:rPr lang="en-US">
                    <a:noFill/>
                  </a:rPr>
                  <a:t> </a:t>
                </a:r>
              </a:p>
            </p:txBody>
          </p:sp>
        </mc:Fallback>
      </mc:AlternateContent>
    </p:spTree>
    <p:extLst>
      <p:ext uri="{BB962C8B-B14F-4D97-AF65-F5344CB8AC3E}">
        <p14:creationId xmlns:p14="http://schemas.microsoft.com/office/powerpoint/2010/main" val="41175282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4328D-410F-F8C0-B009-8F1B09FFA6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94BEE1-67FC-83C3-F5F8-DC5D3E257E6B}"/>
              </a:ext>
            </a:extLst>
          </p:cNvPr>
          <p:cNvSpPr>
            <a:spLocks noGrp="1"/>
          </p:cNvSpPr>
          <p:nvPr>
            <p:ph type="title"/>
          </p:nvPr>
        </p:nvSpPr>
        <p:spPr/>
        <p:txBody>
          <a:bodyPr/>
          <a:lstStyle/>
          <a:p>
            <a:r>
              <a:rPr lang="en-US" dirty="0">
                <a:solidFill>
                  <a:srgbClr val="00D4D3"/>
                </a:solidFill>
              </a:rPr>
              <a:t>DBSCAN – Math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AA4381-D667-3D30-8F5D-30CE5574435F}"/>
                  </a:ext>
                </a:extLst>
              </p:cNvPr>
              <p:cNvSpPr>
                <a:spLocks noGrp="1"/>
              </p:cNvSpPr>
              <p:nvPr>
                <p:ph idx="1"/>
              </p:nvPr>
            </p:nvSpPr>
            <p:spPr>
              <a:xfrm>
                <a:off x="838200" y="1690688"/>
                <a:ext cx="10515600" cy="4351338"/>
              </a:xfrm>
            </p:spPr>
            <p:txBody>
              <a:bodyPr>
                <a:normAutofit fontScale="70000" lnSpcReduction="20000"/>
              </a:bodyPr>
              <a:lstStyle/>
              <a:p>
                <a14:m>
                  <m:oMath xmlns:m="http://schemas.openxmlformats.org/officeDocument/2006/math">
                    <m:r>
                      <a:rPr lang="ur-PK" i="1">
                        <a:latin typeface="Cambria Math" panose="02040503050406030204" pitchFamily="18" charset="0"/>
                      </a:rPr>
                      <m:t>𝑑</m:t>
                    </m:r>
                    <m:d>
                      <m:dPr>
                        <m:sepChr m:val=","/>
                        <m:ctrlPr>
                          <a:rPr lang="ur-PK" i="1">
                            <a:latin typeface="Cambria Math" panose="02040503050406030204" pitchFamily="18" charset="0"/>
                          </a:rPr>
                        </m:ctrlPr>
                      </m:dPr>
                      <m:e>
                        <m:r>
                          <a:rPr lang="ur-PK" i="1">
                            <a:latin typeface="Cambria Math" panose="02040503050406030204" pitchFamily="18" charset="0"/>
                          </a:rPr>
                          <m:t>𝐷</m:t>
                        </m:r>
                      </m:e>
                      <m:e>
                        <m:r>
                          <a:rPr lang="ur-PK" i="1">
                            <a:latin typeface="Cambria Math" panose="02040503050406030204" pitchFamily="18" charset="0"/>
                          </a:rPr>
                          <m:t>𝐸</m:t>
                        </m:r>
                      </m:e>
                    </m:d>
                    <m:r>
                      <a:rPr lang="ur-PK">
                        <a:latin typeface="Cambria Math" panose="02040503050406030204" pitchFamily="18" charset="0"/>
                      </a:rPr>
                      <m:t>=</m:t>
                    </m:r>
                    <m:rad>
                      <m:radPr>
                        <m:degHide m:val="on"/>
                        <m:ctrlPr>
                          <a:rPr lang="ur-PK" i="1">
                            <a:latin typeface="Cambria Math" panose="02040503050406030204" pitchFamily="18" charset="0"/>
                          </a:rPr>
                        </m:ctrlPr>
                      </m:radPr>
                      <m:deg/>
                      <m:e>
                        <m:d>
                          <m:dPr>
                            <m:endChr m:val=""/>
                            <m:ctrlPr>
                              <a:rPr lang="ur-PK" i="1">
                                <a:latin typeface="Cambria Math" panose="02040503050406030204" pitchFamily="18" charset="0"/>
                              </a:rPr>
                            </m:ctrlPr>
                          </m:dPr>
                          <m:e>
                            <m:r>
                              <a:rPr lang="ur-PK">
                                <a:latin typeface="Cambria Math" panose="02040503050406030204" pitchFamily="18" charset="0"/>
                              </a:rPr>
                              <m:t>8−8.5</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r>
                              <a:rPr lang="ur-PK">
                                <a:latin typeface="Cambria Math" panose="02040503050406030204" pitchFamily="18" charset="0"/>
                              </a:rPr>
                              <m:t>+</m:t>
                            </m:r>
                            <m:d>
                              <m:dPr>
                                <m:endChr m:val=""/>
                                <m:ctrlPr>
                                  <a:rPr lang="ur-PK" i="1">
                                    <a:latin typeface="Cambria Math" panose="02040503050406030204" pitchFamily="18" charset="0"/>
                                  </a:rPr>
                                </m:ctrlPr>
                              </m:dPr>
                              <m:e>
                                <m:r>
                                  <a:rPr lang="ur-PK">
                                    <a:latin typeface="Cambria Math" panose="02040503050406030204" pitchFamily="18" charset="0"/>
                                  </a:rPr>
                                  <m:t>8−8</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e>
                            </m:d>
                          </m:e>
                        </m:d>
                      </m:e>
                    </m:rad>
                    <m:r>
                      <a:rPr lang="ur-PK">
                        <a:latin typeface="Cambria Math" panose="02040503050406030204" pitchFamily="18" charset="0"/>
                      </a:rPr>
                      <m:t>=0.5</m:t>
                    </m:r>
                  </m:oMath>
                </a14:m>
                <a:endParaRPr lang="ur-PK" dirty="0"/>
              </a:p>
              <a:p>
                <a14:m>
                  <m:oMath xmlns:m="http://schemas.openxmlformats.org/officeDocument/2006/math">
                    <m:r>
                      <a:rPr lang="en-US" i="1">
                        <a:latin typeface="Cambria Math" panose="02040503050406030204" pitchFamily="18" charset="0"/>
                      </a:rPr>
                      <m:t>𝑑</m:t>
                    </m:r>
                    <m:d>
                      <m:dPr>
                        <m:sepChr m:val=","/>
                        <m:ctrlPr>
                          <a:rPr lang="ur-PK" i="1">
                            <a:latin typeface="Cambria Math" panose="02040503050406030204" pitchFamily="18" charset="0"/>
                          </a:rPr>
                        </m:ctrlPr>
                      </m:dPr>
                      <m:e>
                        <m:r>
                          <a:rPr lang="ur-PK" i="1">
                            <a:latin typeface="Cambria Math" panose="02040503050406030204" pitchFamily="18" charset="0"/>
                          </a:rPr>
                          <m:t>𝐷</m:t>
                        </m:r>
                      </m:e>
                      <m:e>
                        <m:r>
                          <a:rPr lang="ur-PK" i="1">
                            <a:latin typeface="Cambria Math" panose="02040503050406030204" pitchFamily="18" charset="0"/>
                          </a:rPr>
                          <m:t>𝐹</m:t>
                        </m:r>
                      </m:e>
                    </m:d>
                    <m:r>
                      <a:rPr lang="ur-PK">
                        <a:latin typeface="Cambria Math" panose="02040503050406030204" pitchFamily="18" charset="0"/>
                      </a:rPr>
                      <m:t>=</m:t>
                    </m:r>
                    <m:rad>
                      <m:radPr>
                        <m:degHide m:val="on"/>
                        <m:ctrlPr>
                          <a:rPr lang="ur-PK" i="1">
                            <a:latin typeface="Cambria Math" panose="02040503050406030204" pitchFamily="18" charset="0"/>
                          </a:rPr>
                        </m:ctrlPr>
                      </m:radPr>
                      <m:deg/>
                      <m:e>
                        <m:d>
                          <m:dPr>
                            <m:endChr m:val=""/>
                            <m:ctrlPr>
                              <a:rPr lang="ur-PK" i="1">
                                <a:latin typeface="Cambria Math" panose="02040503050406030204" pitchFamily="18" charset="0"/>
                              </a:rPr>
                            </m:ctrlPr>
                          </m:dPr>
                          <m:e>
                            <m:r>
                              <a:rPr lang="ur-PK">
                                <a:latin typeface="Cambria Math" panose="02040503050406030204" pitchFamily="18" charset="0"/>
                              </a:rPr>
                              <m:t>8−9</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r>
                              <a:rPr lang="ur-PK">
                                <a:latin typeface="Cambria Math" panose="02040503050406030204" pitchFamily="18" charset="0"/>
                              </a:rPr>
                              <m:t>+</m:t>
                            </m:r>
                            <m:d>
                              <m:dPr>
                                <m:endChr m:val=""/>
                                <m:ctrlPr>
                                  <a:rPr lang="ur-PK" i="1">
                                    <a:latin typeface="Cambria Math" panose="02040503050406030204" pitchFamily="18" charset="0"/>
                                  </a:rPr>
                                </m:ctrlPr>
                              </m:dPr>
                              <m:e>
                                <m:r>
                                  <a:rPr lang="ur-PK">
                                    <a:latin typeface="Cambria Math" panose="02040503050406030204" pitchFamily="18" charset="0"/>
                                  </a:rPr>
                                  <m:t>8−8.5</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e>
                            </m:d>
                          </m:e>
                        </m:d>
                      </m:e>
                    </m:rad>
                    <m:r>
                      <a:rPr lang="ur-PK">
                        <a:latin typeface="Cambria Math" panose="02040503050406030204" pitchFamily="18" charset="0"/>
                      </a:rPr>
                      <m:t>=</m:t>
                    </m:r>
                    <m:rad>
                      <m:radPr>
                        <m:degHide m:val="on"/>
                        <m:ctrlPr>
                          <a:rPr lang="ur-PK" i="1">
                            <a:latin typeface="Cambria Math" panose="02040503050406030204" pitchFamily="18" charset="0"/>
                          </a:rPr>
                        </m:ctrlPr>
                      </m:radPr>
                      <m:deg/>
                      <m:e>
                        <m:r>
                          <a:rPr lang="ur-PK">
                            <a:latin typeface="Cambria Math" panose="02040503050406030204" pitchFamily="18" charset="0"/>
                          </a:rPr>
                          <m:t>1+0.25</m:t>
                        </m:r>
                      </m:e>
                    </m:rad>
                    <m:r>
                      <a:rPr lang="ur-PK">
                        <a:latin typeface="Cambria Math" panose="02040503050406030204" pitchFamily="18" charset="0"/>
                      </a:rPr>
                      <m:t>=1.118</m:t>
                    </m:r>
                  </m:oMath>
                </a14:m>
                <a:endParaRPr lang="ur-PK" dirty="0"/>
              </a:p>
              <a:p>
                <a14:m>
                  <m:oMath xmlns:m="http://schemas.openxmlformats.org/officeDocument/2006/math">
                    <m:r>
                      <a:rPr lang="ur-PK" i="1">
                        <a:latin typeface="Cambria Math" panose="02040503050406030204" pitchFamily="18" charset="0"/>
                      </a:rPr>
                      <m:t>𝑑</m:t>
                    </m:r>
                    <m:d>
                      <m:dPr>
                        <m:sepChr m:val=","/>
                        <m:ctrlPr>
                          <a:rPr lang="ur-PK" i="1">
                            <a:latin typeface="Cambria Math" panose="02040503050406030204" pitchFamily="18" charset="0"/>
                          </a:rPr>
                        </m:ctrlPr>
                      </m:dPr>
                      <m:e>
                        <m:r>
                          <a:rPr lang="ur-PK" i="1">
                            <a:latin typeface="Cambria Math" panose="02040503050406030204" pitchFamily="18" charset="0"/>
                          </a:rPr>
                          <m:t>𝐸</m:t>
                        </m:r>
                      </m:e>
                      <m:e>
                        <m:r>
                          <a:rPr lang="ur-PK" i="1">
                            <a:latin typeface="Cambria Math" panose="02040503050406030204" pitchFamily="18" charset="0"/>
                          </a:rPr>
                          <m:t>𝐹</m:t>
                        </m:r>
                      </m:e>
                    </m:d>
                    <m:r>
                      <a:rPr lang="ur-PK">
                        <a:latin typeface="Cambria Math" panose="02040503050406030204" pitchFamily="18" charset="0"/>
                      </a:rPr>
                      <m:t>=</m:t>
                    </m:r>
                    <m:rad>
                      <m:radPr>
                        <m:degHide m:val="on"/>
                        <m:ctrlPr>
                          <a:rPr lang="ur-PK" i="1">
                            <a:latin typeface="Cambria Math" panose="02040503050406030204" pitchFamily="18" charset="0"/>
                          </a:rPr>
                        </m:ctrlPr>
                      </m:radPr>
                      <m:deg/>
                      <m:e>
                        <m:d>
                          <m:dPr>
                            <m:endChr m:val=""/>
                            <m:ctrlPr>
                              <a:rPr lang="ur-PK" i="1">
                                <a:latin typeface="Cambria Math" panose="02040503050406030204" pitchFamily="18" charset="0"/>
                              </a:rPr>
                            </m:ctrlPr>
                          </m:dPr>
                          <m:e>
                            <m:r>
                              <a:rPr lang="ur-PK">
                                <a:latin typeface="Cambria Math" panose="02040503050406030204" pitchFamily="18" charset="0"/>
                              </a:rPr>
                              <m:t>8.5−9</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r>
                              <a:rPr lang="ur-PK">
                                <a:latin typeface="Cambria Math" panose="02040503050406030204" pitchFamily="18" charset="0"/>
                              </a:rPr>
                              <m:t>+</m:t>
                            </m:r>
                            <m:d>
                              <m:dPr>
                                <m:endChr m:val=""/>
                                <m:ctrlPr>
                                  <a:rPr lang="ur-PK" i="1">
                                    <a:latin typeface="Cambria Math" panose="02040503050406030204" pitchFamily="18" charset="0"/>
                                  </a:rPr>
                                </m:ctrlPr>
                              </m:dPr>
                              <m:e>
                                <m:r>
                                  <a:rPr lang="ur-PK">
                                    <a:latin typeface="Cambria Math" panose="02040503050406030204" pitchFamily="18" charset="0"/>
                                  </a:rPr>
                                  <m:t>8−8.5</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e>
                            </m:d>
                          </m:e>
                        </m:d>
                      </m:e>
                    </m:rad>
                    <m:r>
                      <a:rPr lang="ur-PK">
                        <a:latin typeface="Cambria Math" panose="02040503050406030204" pitchFamily="18" charset="0"/>
                      </a:rPr>
                      <m:t>=</m:t>
                    </m:r>
                    <m:rad>
                      <m:radPr>
                        <m:degHide m:val="on"/>
                        <m:ctrlPr>
                          <a:rPr lang="ur-PK" i="1">
                            <a:latin typeface="Cambria Math" panose="02040503050406030204" pitchFamily="18" charset="0"/>
                          </a:rPr>
                        </m:ctrlPr>
                      </m:radPr>
                      <m:deg/>
                      <m:e>
                        <m:r>
                          <a:rPr lang="ur-PK">
                            <a:latin typeface="Cambria Math" panose="02040503050406030204" pitchFamily="18" charset="0"/>
                          </a:rPr>
                          <m:t>0.25+0.25</m:t>
                        </m:r>
                      </m:e>
                    </m:rad>
                    <m:r>
                      <a:rPr lang="ur-PK">
                        <a:latin typeface="Cambria Math" panose="02040503050406030204" pitchFamily="18" charset="0"/>
                      </a:rPr>
                      <m:t>=0.707</m:t>
                    </m:r>
                  </m:oMath>
                </a14:m>
                <a:endParaRPr lang="ur-PK" dirty="0"/>
              </a:p>
              <a:p>
                <a14:m>
                  <m:oMath xmlns:m="http://schemas.openxmlformats.org/officeDocument/2006/math">
                    <m:r>
                      <a:rPr lang="ur-PK" i="1">
                        <a:latin typeface="Cambria Math" panose="02040503050406030204" pitchFamily="18" charset="0"/>
                      </a:rPr>
                      <m:t>𝑑</m:t>
                    </m:r>
                    <m:d>
                      <m:dPr>
                        <m:sepChr m:val=","/>
                        <m:ctrlPr>
                          <a:rPr lang="ur-PK" i="1">
                            <a:latin typeface="Cambria Math" panose="02040503050406030204" pitchFamily="18" charset="0"/>
                          </a:rPr>
                        </m:ctrlPr>
                      </m:dPr>
                      <m:e>
                        <m:r>
                          <a:rPr lang="ur-PK" i="1">
                            <a:latin typeface="Cambria Math" panose="02040503050406030204" pitchFamily="18" charset="0"/>
                          </a:rPr>
                          <m:t>𝐹</m:t>
                        </m:r>
                      </m:e>
                      <m:e>
                        <m:r>
                          <a:rPr lang="ur-PK" i="1">
                            <a:latin typeface="Cambria Math" panose="02040503050406030204" pitchFamily="18" charset="0"/>
                          </a:rPr>
                          <m:t>𝐼</m:t>
                        </m:r>
                      </m:e>
                    </m:d>
                    <m:r>
                      <a:rPr lang="ur-PK">
                        <a:latin typeface="Cambria Math" panose="02040503050406030204" pitchFamily="18" charset="0"/>
                      </a:rPr>
                      <m:t>=</m:t>
                    </m:r>
                    <m:rad>
                      <m:radPr>
                        <m:degHide m:val="on"/>
                        <m:ctrlPr>
                          <a:rPr lang="ur-PK" i="1">
                            <a:latin typeface="Cambria Math" panose="02040503050406030204" pitchFamily="18" charset="0"/>
                          </a:rPr>
                        </m:ctrlPr>
                      </m:radPr>
                      <m:deg/>
                      <m:e>
                        <m:d>
                          <m:dPr>
                            <m:endChr m:val=""/>
                            <m:ctrlPr>
                              <a:rPr lang="ur-PK" i="1">
                                <a:latin typeface="Cambria Math" panose="02040503050406030204" pitchFamily="18" charset="0"/>
                              </a:rPr>
                            </m:ctrlPr>
                          </m:dPr>
                          <m:e>
                            <m:r>
                              <a:rPr lang="ur-PK">
                                <a:latin typeface="Cambria Math" panose="02040503050406030204" pitchFamily="18" charset="0"/>
                              </a:rPr>
                              <m:t>9−9.5</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r>
                              <a:rPr lang="ur-PK">
                                <a:latin typeface="Cambria Math" panose="02040503050406030204" pitchFamily="18" charset="0"/>
                              </a:rPr>
                              <m:t>+</m:t>
                            </m:r>
                            <m:d>
                              <m:dPr>
                                <m:endChr m:val=""/>
                                <m:ctrlPr>
                                  <a:rPr lang="ur-PK" i="1">
                                    <a:latin typeface="Cambria Math" panose="02040503050406030204" pitchFamily="18" charset="0"/>
                                  </a:rPr>
                                </m:ctrlPr>
                              </m:dPr>
                              <m:e>
                                <m:r>
                                  <a:rPr lang="ur-PK">
                                    <a:latin typeface="Cambria Math" panose="02040503050406030204" pitchFamily="18" charset="0"/>
                                  </a:rPr>
                                  <m:t>8.5−9</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e>
                            </m:d>
                          </m:e>
                        </m:d>
                      </m:e>
                    </m:rad>
                    <m:r>
                      <a:rPr lang="ur-PK">
                        <a:latin typeface="Cambria Math" panose="02040503050406030204" pitchFamily="18" charset="0"/>
                      </a:rPr>
                      <m:t>=</m:t>
                    </m:r>
                    <m:rad>
                      <m:radPr>
                        <m:degHide m:val="on"/>
                        <m:ctrlPr>
                          <a:rPr lang="ur-PK" i="1">
                            <a:latin typeface="Cambria Math" panose="02040503050406030204" pitchFamily="18" charset="0"/>
                          </a:rPr>
                        </m:ctrlPr>
                      </m:radPr>
                      <m:deg/>
                      <m:e>
                        <m:r>
                          <a:rPr lang="ur-PK">
                            <a:latin typeface="Cambria Math" panose="02040503050406030204" pitchFamily="18" charset="0"/>
                          </a:rPr>
                          <m:t>0.25+0.25</m:t>
                        </m:r>
                      </m:e>
                    </m:rad>
                    <m:r>
                      <a:rPr lang="ur-PK">
                        <a:latin typeface="Cambria Math" panose="02040503050406030204" pitchFamily="18" charset="0"/>
                      </a:rPr>
                      <m:t>=0.707</m:t>
                    </m:r>
                  </m:oMath>
                </a14:m>
                <a:endParaRPr lang="ur-PK" dirty="0"/>
              </a:p>
              <a:p>
                <a14:m>
                  <m:oMath xmlns:m="http://schemas.openxmlformats.org/officeDocument/2006/math">
                    <m:r>
                      <a:rPr lang="ur-PK" i="1">
                        <a:latin typeface="Cambria Math" panose="02040503050406030204" pitchFamily="18" charset="0"/>
                      </a:rPr>
                      <m:t>𝑑</m:t>
                    </m:r>
                    <m:d>
                      <m:dPr>
                        <m:sepChr m:val=","/>
                        <m:ctrlPr>
                          <a:rPr lang="ur-PK" i="1">
                            <a:latin typeface="Cambria Math" panose="02040503050406030204" pitchFamily="18" charset="0"/>
                          </a:rPr>
                        </m:ctrlPr>
                      </m:dPr>
                      <m:e>
                        <m:r>
                          <a:rPr lang="ur-PK" i="1">
                            <a:latin typeface="Cambria Math" panose="02040503050406030204" pitchFamily="18" charset="0"/>
                          </a:rPr>
                          <m:t>𝐸</m:t>
                        </m:r>
                      </m:e>
                      <m:e>
                        <m:r>
                          <a:rPr lang="ur-PK" i="1">
                            <a:latin typeface="Cambria Math" panose="02040503050406030204" pitchFamily="18" charset="0"/>
                          </a:rPr>
                          <m:t>𝐼</m:t>
                        </m:r>
                      </m:e>
                    </m:d>
                    <m:r>
                      <a:rPr lang="ur-PK">
                        <a:latin typeface="Cambria Math" panose="02040503050406030204" pitchFamily="18" charset="0"/>
                      </a:rPr>
                      <m:t>=</m:t>
                    </m:r>
                    <m:rad>
                      <m:radPr>
                        <m:degHide m:val="on"/>
                        <m:ctrlPr>
                          <a:rPr lang="ur-PK" i="1">
                            <a:latin typeface="Cambria Math" panose="02040503050406030204" pitchFamily="18" charset="0"/>
                          </a:rPr>
                        </m:ctrlPr>
                      </m:radPr>
                      <m:deg/>
                      <m:e>
                        <m:d>
                          <m:dPr>
                            <m:endChr m:val=""/>
                            <m:ctrlPr>
                              <a:rPr lang="ur-PK" i="1">
                                <a:latin typeface="Cambria Math" panose="02040503050406030204" pitchFamily="18" charset="0"/>
                              </a:rPr>
                            </m:ctrlPr>
                          </m:dPr>
                          <m:e>
                            <m:r>
                              <a:rPr lang="ur-PK">
                                <a:latin typeface="Cambria Math" panose="02040503050406030204" pitchFamily="18" charset="0"/>
                              </a:rPr>
                              <m:t>8.5−9.5</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r>
                              <a:rPr lang="ur-PK">
                                <a:latin typeface="Cambria Math" panose="02040503050406030204" pitchFamily="18" charset="0"/>
                              </a:rPr>
                              <m:t>+</m:t>
                            </m:r>
                            <m:d>
                              <m:dPr>
                                <m:endChr m:val=""/>
                                <m:ctrlPr>
                                  <a:rPr lang="ur-PK" i="1">
                                    <a:latin typeface="Cambria Math" panose="02040503050406030204" pitchFamily="18" charset="0"/>
                                  </a:rPr>
                                </m:ctrlPr>
                              </m:dPr>
                              <m:e>
                                <m:r>
                                  <a:rPr lang="ur-PK">
                                    <a:latin typeface="Cambria Math" panose="02040503050406030204" pitchFamily="18" charset="0"/>
                                  </a:rPr>
                                  <m:t>8−9</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e>
                            </m:d>
                          </m:e>
                        </m:d>
                      </m:e>
                    </m:rad>
                    <m:r>
                      <a:rPr lang="ur-PK">
                        <a:latin typeface="Cambria Math" panose="02040503050406030204" pitchFamily="18" charset="0"/>
                      </a:rPr>
                      <m:t>=</m:t>
                    </m:r>
                    <m:rad>
                      <m:radPr>
                        <m:degHide m:val="on"/>
                        <m:ctrlPr>
                          <a:rPr lang="ur-PK" i="1">
                            <a:latin typeface="Cambria Math" panose="02040503050406030204" pitchFamily="18" charset="0"/>
                          </a:rPr>
                        </m:ctrlPr>
                      </m:radPr>
                      <m:deg/>
                      <m:e>
                        <m:r>
                          <a:rPr lang="ur-PK">
                            <a:latin typeface="Cambria Math" panose="02040503050406030204" pitchFamily="18" charset="0"/>
                          </a:rPr>
                          <m:t>1+1</m:t>
                        </m:r>
                      </m:e>
                    </m:rad>
                    <m:r>
                      <a:rPr lang="ur-PK">
                        <a:latin typeface="Cambria Math" panose="02040503050406030204" pitchFamily="18" charset="0"/>
                      </a:rPr>
                      <m:t>=1.414</m:t>
                    </m:r>
                  </m:oMath>
                </a14:m>
                <a:endParaRPr lang="ur-PK" dirty="0"/>
              </a:p>
              <a:p>
                <a14:m>
                  <m:oMath xmlns:m="http://schemas.openxmlformats.org/officeDocument/2006/math">
                    <m:r>
                      <a:rPr lang="ur-PK" i="1">
                        <a:latin typeface="Cambria Math" panose="02040503050406030204" pitchFamily="18" charset="0"/>
                      </a:rPr>
                      <m:t>𝑑</m:t>
                    </m:r>
                    <m:d>
                      <m:dPr>
                        <m:sepChr m:val=","/>
                        <m:ctrlPr>
                          <a:rPr lang="ur-PK" i="1">
                            <a:latin typeface="Cambria Math" panose="02040503050406030204" pitchFamily="18" charset="0"/>
                          </a:rPr>
                        </m:ctrlPr>
                      </m:dPr>
                      <m:e>
                        <m:r>
                          <a:rPr lang="ur-PK" i="1">
                            <a:latin typeface="Cambria Math" panose="02040503050406030204" pitchFamily="18" charset="0"/>
                          </a:rPr>
                          <m:t>𝐷</m:t>
                        </m:r>
                      </m:e>
                      <m:e>
                        <m:r>
                          <a:rPr lang="ur-PK" i="1">
                            <a:latin typeface="Cambria Math" panose="02040503050406030204" pitchFamily="18" charset="0"/>
                          </a:rPr>
                          <m:t>𝐼</m:t>
                        </m:r>
                      </m:e>
                    </m:d>
                    <m:r>
                      <a:rPr lang="ur-PK">
                        <a:latin typeface="Cambria Math" panose="02040503050406030204" pitchFamily="18" charset="0"/>
                      </a:rPr>
                      <m:t>=</m:t>
                    </m:r>
                    <m:rad>
                      <m:radPr>
                        <m:degHide m:val="on"/>
                        <m:ctrlPr>
                          <a:rPr lang="ur-PK" i="1">
                            <a:latin typeface="Cambria Math" panose="02040503050406030204" pitchFamily="18" charset="0"/>
                          </a:rPr>
                        </m:ctrlPr>
                      </m:radPr>
                      <m:deg/>
                      <m:e>
                        <m:d>
                          <m:dPr>
                            <m:endChr m:val=""/>
                            <m:ctrlPr>
                              <a:rPr lang="ur-PK" i="1">
                                <a:latin typeface="Cambria Math" panose="02040503050406030204" pitchFamily="18" charset="0"/>
                              </a:rPr>
                            </m:ctrlPr>
                          </m:dPr>
                          <m:e>
                            <m:r>
                              <a:rPr lang="ur-PK">
                                <a:latin typeface="Cambria Math" panose="02040503050406030204" pitchFamily="18" charset="0"/>
                              </a:rPr>
                              <m:t>8−9.5</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r>
                              <a:rPr lang="ur-PK">
                                <a:latin typeface="Cambria Math" panose="02040503050406030204" pitchFamily="18" charset="0"/>
                              </a:rPr>
                              <m:t>+</m:t>
                            </m:r>
                            <m:d>
                              <m:dPr>
                                <m:endChr m:val=""/>
                                <m:ctrlPr>
                                  <a:rPr lang="ur-PK" i="1">
                                    <a:latin typeface="Cambria Math" panose="02040503050406030204" pitchFamily="18" charset="0"/>
                                  </a:rPr>
                                </m:ctrlPr>
                              </m:dPr>
                              <m:e>
                                <m:r>
                                  <a:rPr lang="ur-PK">
                                    <a:latin typeface="Cambria Math" panose="02040503050406030204" pitchFamily="18" charset="0"/>
                                  </a:rPr>
                                  <m:t>8−9</m:t>
                                </m:r>
                                <m:sSup>
                                  <m:sSupPr>
                                    <m:ctrlPr>
                                      <a:rPr lang="ur-PK" i="1">
                                        <a:latin typeface="Cambria Math" panose="02040503050406030204" pitchFamily="18" charset="0"/>
                                      </a:rPr>
                                    </m:ctrlPr>
                                  </m:sSupPr>
                                  <m:e>
                                    <m:d>
                                      <m:dPr>
                                        <m:begChr m:val=""/>
                                        <m:endChr m:val=""/>
                                        <m:ctrlPr>
                                          <a:rPr lang="ur-PK" i="1">
                                            <a:latin typeface="Cambria Math" panose="02040503050406030204" pitchFamily="18" charset="0"/>
                                          </a:rPr>
                                        </m:ctrlPr>
                                      </m:dPr>
                                      <m:e>
                                        <m:r>
                                          <a:rPr lang="ur-PK">
                                            <a:latin typeface="Cambria Math" panose="02040503050406030204" pitchFamily="18" charset="0"/>
                                          </a:rPr>
                                          <m:t>)</m:t>
                                        </m:r>
                                      </m:e>
                                    </m:d>
                                  </m:e>
                                  <m:sup>
                                    <m:r>
                                      <a:rPr lang="ur-PK">
                                        <a:latin typeface="Cambria Math" panose="02040503050406030204" pitchFamily="18" charset="0"/>
                                      </a:rPr>
                                      <m:t>2</m:t>
                                    </m:r>
                                  </m:sup>
                                </m:sSup>
                              </m:e>
                            </m:d>
                          </m:e>
                        </m:d>
                      </m:e>
                    </m:rad>
                    <m:r>
                      <a:rPr lang="ur-PK">
                        <a:latin typeface="Cambria Math" panose="02040503050406030204" pitchFamily="18" charset="0"/>
                      </a:rPr>
                      <m:t>=</m:t>
                    </m:r>
                    <m:rad>
                      <m:radPr>
                        <m:degHide m:val="on"/>
                        <m:ctrlPr>
                          <a:rPr lang="ur-PK" i="1">
                            <a:latin typeface="Cambria Math" panose="02040503050406030204" pitchFamily="18" charset="0"/>
                          </a:rPr>
                        </m:ctrlPr>
                      </m:radPr>
                      <m:deg/>
                      <m:e>
                        <m:r>
                          <a:rPr lang="ur-PK">
                            <a:latin typeface="Cambria Math" panose="02040503050406030204" pitchFamily="18" charset="0"/>
                          </a:rPr>
                          <m:t>2.25+1</m:t>
                        </m:r>
                      </m:e>
                    </m:rad>
                    <m:r>
                      <a:rPr lang="ur-PK">
                        <a:latin typeface="Cambria Math" panose="02040503050406030204" pitchFamily="18" charset="0"/>
                      </a:rPr>
                      <m:t>=1.803</m:t>
                    </m:r>
                  </m:oMath>
                </a14:m>
                <a:endParaRPr lang="ur-PK" dirty="0"/>
              </a:p>
            </p:txBody>
          </p:sp>
        </mc:Choice>
        <mc:Fallback xmlns="">
          <p:sp>
            <p:nvSpPr>
              <p:cNvPr id="3" name="Content Placeholder 2">
                <a:extLst>
                  <a:ext uri="{FF2B5EF4-FFF2-40B4-BE49-F238E27FC236}">
                    <a16:creationId xmlns:a16="http://schemas.microsoft.com/office/drawing/2014/main" id="{8BAA4381-D667-3D30-8F5D-30CE5574435F}"/>
                  </a:ext>
                </a:extLst>
              </p:cNvPr>
              <p:cNvSpPr>
                <a:spLocks noGrp="1" noRot="1" noChangeAspect="1" noMove="1" noResize="1" noEditPoints="1" noAdjustHandles="1" noChangeArrowheads="1" noChangeShapeType="1" noTextEdit="1"/>
              </p:cNvSpPr>
              <p:nvPr>
                <p:ph idx="1"/>
              </p:nvPr>
            </p:nvSpPr>
            <p:spPr>
              <a:xfrm>
                <a:off x="838200" y="1690688"/>
                <a:ext cx="10515600" cy="4351338"/>
              </a:xfrm>
              <a:blipFill>
                <a:blip r:embed="rId2"/>
                <a:stretch>
                  <a:fillRect l="-603" t="-26453" b="-33721"/>
                </a:stretch>
              </a:blipFill>
            </p:spPr>
            <p:txBody>
              <a:bodyPr/>
              <a:lstStyle/>
              <a:p>
                <a:r>
                  <a:rPr lang="en-US">
                    <a:noFill/>
                  </a:rPr>
                  <a:t> </a:t>
                </a:r>
              </a:p>
            </p:txBody>
          </p:sp>
        </mc:Fallback>
      </mc:AlternateContent>
    </p:spTree>
    <p:extLst>
      <p:ext uri="{BB962C8B-B14F-4D97-AF65-F5344CB8AC3E}">
        <p14:creationId xmlns:p14="http://schemas.microsoft.com/office/powerpoint/2010/main" val="1079844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21FCA-5307-C03F-62B4-162F1DACAB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0FD6EF-E830-8D52-1B12-6E8B88269C7B}"/>
              </a:ext>
            </a:extLst>
          </p:cNvPr>
          <p:cNvSpPr>
            <a:spLocks noGrp="1"/>
          </p:cNvSpPr>
          <p:nvPr>
            <p:ph type="title"/>
          </p:nvPr>
        </p:nvSpPr>
        <p:spPr/>
        <p:txBody>
          <a:bodyPr/>
          <a:lstStyle/>
          <a:p>
            <a:r>
              <a:rPr lang="en-US" dirty="0">
                <a:solidFill>
                  <a:srgbClr val="00D4D3"/>
                </a:solidFill>
              </a:rPr>
              <a:t>DBSCAN – Math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4F7288-FB6F-7B0E-B58B-C67D97F36C9A}"/>
                  </a:ext>
                </a:extLst>
              </p:cNvPr>
              <p:cNvSpPr>
                <a:spLocks noGrp="1"/>
              </p:cNvSpPr>
              <p:nvPr>
                <p:ph idx="1"/>
              </p:nvPr>
            </p:nvSpPr>
            <p:spPr/>
            <p:txBody>
              <a:bodyPr>
                <a:normAutofit fontScale="85000" lnSpcReduction="20000"/>
              </a:bodyPr>
              <a:lstStyle/>
              <a:p>
                <a:r>
                  <a:rPr lang="el-GR" dirty="0"/>
                  <a:t>ε-</a:t>
                </a:r>
                <a:r>
                  <a:rPr lang="en-US" dirty="0"/>
                  <a:t>neighborhoods (</a:t>
                </a:r>
                <a:r>
                  <a:rPr lang="el-GR" dirty="0"/>
                  <a:t>ε = 1.2)</a:t>
                </a:r>
                <a:endParaRPr lang="en-US" dirty="0"/>
              </a:p>
              <a:p>
                <a:r>
                  <a:rPr lang="en-US" dirty="0"/>
                  <a:t>An </a:t>
                </a:r>
                <a:r>
                  <a:rPr lang="el-GR" dirty="0"/>
                  <a:t>ε-</a:t>
                </a:r>
                <a:r>
                  <a:rPr lang="en-US" dirty="0"/>
                  <a:t>neighborhood of a point p is all points q with </a:t>
                </a:r>
                <a14:m>
                  <m:oMath xmlns:m="http://schemas.openxmlformats.org/officeDocument/2006/math">
                    <m:r>
                      <a:rPr lang="en-US" i="1">
                        <a:latin typeface="Cambria Math" panose="02040503050406030204" pitchFamily="18" charset="0"/>
                      </a:rPr>
                      <m:t>𝑑</m:t>
                    </m:r>
                    <m:d>
                      <m:dPr>
                        <m:sepChr m:val=","/>
                        <m:ctrlPr>
                          <a:rPr lang="ur-PK" i="1">
                            <a:latin typeface="Cambria Math" panose="02040503050406030204" pitchFamily="18" charset="0"/>
                          </a:rPr>
                        </m:ctrlPr>
                      </m:dPr>
                      <m:e>
                        <m:r>
                          <a:rPr lang="ur-PK" i="1">
                            <a:latin typeface="Cambria Math" panose="02040503050406030204" pitchFamily="18" charset="0"/>
                          </a:rPr>
                          <m:t>𝑝</m:t>
                        </m:r>
                      </m:e>
                      <m:e>
                        <m:r>
                          <a:rPr lang="ur-PK" i="1">
                            <a:latin typeface="Cambria Math" panose="02040503050406030204" pitchFamily="18" charset="0"/>
                          </a:rPr>
                          <m:t>𝑞</m:t>
                        </m:r>
                      </m:e>
                    </m:d>
                    <m:r>
                      <a:rPr lang="ur-PK">
                        <a:latin typeface="Cambria Math" panose="02040503050406030204" pitchFamily="18" charset="0"/>
                      </a:rPr>
                      <m:t>≤</m:t>
                    </m:r>
                    <m:r>
                      <a:rPr lang="ur-PK" i="1">
                        <a:latin typeface="Cambria Math" panose="02040503050406030204" pitchFamily="18" charset="0"/>
                      </a:rPr>
                      <m:t>𝜀</m:t>
                    </m:r>
                  </m:oMath>
                </a14:m>
                <a:r>
                  <a:rPr lang="ur-PK" dirty="0"/>
                  <a:t>(</a:t>
                </a:r>
                <a:r>
                  <a:rPr lang="en-US" dirty="0"/>
                  <a:t>including p).</a:t>
                </a:r>
              </a:p>
              <a:p>
                <a:r>
                  <a:rPr lang="en-US" b="1" dirty="0"/>
                  <a:t>A:</a:t>
                </a:r>
                <a:r>
                  <a:rPr lang="en-US" dirty="0"/>
                  <a:t> neighbors {A,B(1.0),C(1.118)} ⇒ |N</a:t>
                </a:r>
                <a:r>
                  <a:rPr lang="el-GR" dirty="0"/>
                  <a:t>ε(</a:t>
                </a:r>
                <a:r>
                  <a:rPr lang="en-US" dirty="0"/>
                  <a:t>A)| = 3</a:t>
                </a:r>
              </a:p>
              <a:p>
                <a:r>
                  <a:rPr lang="en-US" b="1" dirty="0"/>
                  <a:t>B:</a:t>
                </a:r>
                <a:r>
                  <a:rPr lang="en-US" dirty="0"/>
                  <a:t> neighbors {B,A(1.0),C(1.118)} ⇒ |N</a:t>
                </a:r>
                <a:r>
                  <a:rPr lang="el-GR" dirty="0"/>
                  <a:t>ε(</a:t>
                </a:r>
                <a:r>
                  <a:rPr lang="en-US" dirty="0"/>
                  <a:t>B)| = 3</a:t>
                </a:r>
              </a:p>
              <a:p>
                <a:r>
                  <a:rPr lang="en-US" b="1" dirty="0"/>
                  <a:t>C:</a:t>
                </a:r>
                <a:r>
                  <a:rPr lang="en-US" dirty="0"/>
                  <a:t> neighbors {C,A(1.118),B(1.118),H(0.583)} ⇒ |N</a:t>
                </a:r>
                <a:r>
                  <a:rPr lang="el-GR" dirty="0"/>
                  <a:t>ε(</a:t>
                </a:r>
                <a:r>
                  <a:rPr lang="en-US" dirty="0"/>
                  <a:t>C)| = 4</a:t>
                </a:r>
              </a:p>
              <a:p>
                <a:r>
                  <a:rPr lang="en-US" b="1" dirty="0"/>
                  <a:t>H:</a:t>
                </a:r>
                <a:r>
                  <a:rPr lang="en-US" dirty="0"/>
                  <a:t> neighbors {H,C(0.583)} ⇒ |N</a:t>
                </a:r>
                <a:r>
                  <a:rPr lang="el-GR" dirty="0"/>
                  <a:t>ε(</a:t>
                </a:r>
                <a:r>
                  <a:rPr lang="en-US" dirty="0"/>
                  <a:t>H)| = 2</a:t>
                </a:r>
              </a:p>
              <a:p>
                <a:r>
                  <a:rPr lang="en-US" b="1" dirty="0"/>
                  <a:t>D:</a:t>
                </a:r>
                <a:r>
                  <a:rPr lang="en-US" dirty="0"/>
                  <a:t> neighbors {D,E(0.5),F(1.118)} ⇒ |N</a:t>
                </a:r>
                <a:r>
                  <a:rPr lang="el-GR" dirty="0"/>
                  <a:t>ε(</a:t>
                </a:r>
                <a:r>
                  <a:rPr lang="en-US" dirty="0"/>
                  <a:t>D)| = 3</a:t>
                </a:r>
              </a:p>
              <a:p>
                <a:r>
                  <a:rPr lang="en-US" b="1" dirty="0"/>
                  <a:t>E:</a:t>
                </a:r>
                <a:r>
                  <a:rPr lang="en-US" dirty="0"/>
                  <a:t> neighbors {E,D(0.5),F(0.707)} ⇒ |N</a:t>
                </a:r>
                <a:r>
                  <a:rPr lang="el-GR" dirty="0"/>
                  <a:t>ε(</a:t>
                </a:r>
                <a:r>
                  <a:rPr lang="en-US" dirty="0"/>
                  <a:t>E)| = 3</a:t>
                </a:r>
              </a:p>
              <a:p>
                <a:r>
                  <a:rPr lang="en-US" b="1" dirty="0"/>
                  <a:t>F:</a:t>
                </a:r>
                <a:r>
                  <a:rPr lang="en-US" dirty="0"/>
                  <a:t> neighbors {F,D(1.118),E(0.707),I(0.707)} ⇒ |N</a:t>
                </a:r>
                <a:r>
                  <a:rPr lang="el-GR" dirty="0"/>
                  <a:t>ε(</a:t>
                </a:r>
                <a:r>
                  <a:rPr lang="en-US" dirty="0"/>
                  <a:t>F)| = 4</a:t>
                </a:r>
              </a:p>
              <a:p>
                <a:r>
                  <a:rPr lang="en-US" b="1" dirty="0"/>
                  <a:t>I:</a:t>
                </a:r>
                <a:r>
                  <a:rPr lang="en-US" dirty="0"/>
                  <a:t> neighbors {I,F(0.707)} ⇒ |N</a:t>
                </a:r>
                <a:r>
                  <a:rPr lang="el-GR" dirty="0"/>
                  <a:t>ε(</a:t>
                </a:r>
                <a:r>
                  <a:rPr lang="en-US" dirty="0"/>
                  <a:t>I)| = 2</a:t>
                </a:r>
              </a:p>
              <a:p>
                <a:r>
                  <a:rPr lang="en-US" b="1" dirty="0"/>
                  <a:t>G:</a:t>
                </a:r>
                <a:r>
                  <a:rPr lang="en-US" dirty="0"/>
                  <a:t> neighbors {G} ⇒ |N</a:t>
                </a:r>
                <a:r>
                  <a:rPr lang="el-GR" dirty="0"/>
                  <a:t>ε(</a:t>
                </a:r>
                <a:r>
                  <a:rPr lang="en-US" dirty="0"/>
                  <a:t>G)| = 1</a:t>
                </a:r>
              </a:p>
            </p:txBody>
          </p:sp>
        </mc:Choice>
        <mc:Fallback xmlns="">
          <p:sp>
            <p:nvSpPr>
              <p:cNvPr id="3" name="Content Placeholder 2">
                <a:extLst>
                  <a:ext uri="{FF2B5EF4-FFF2-40B4-BE49-F238E27FC236}">
                    <a16:creationId xmlns:a16="http://schemas.microsoft.com/office/drawing/2014/main" id="{E34F7288-FB6F-7B0E-B58B-C67D97F36C9A}"/>
                  </a:ext>
                </a:extLst>
              </p:cNvPr>
              <p:cNvSpPr>
                <a:spLocks noGrp="1" noRot="1" noChangeAspect="1" noMove="1" noResize="1" noEditPoints="1" noAdjustHandles="1" noChangeArrowheads="1" noChangeShapeType="1" noTextEdit="1"/>
              </p:cNvSpPr>
              <p:nvPr>
                <p:ph idx="1"/>
              </p:nvPr>
            </p:nvSpPr>
            <p:spPr>
              <a:blipFill>
                <a:blip r:embed="rId2"/>
                <a:stretch>
                  <a:fillRect l="-844" t="-3198"/>
                </a:stretch>
              </a:blipFill>
            </p:spPr>
            <p:txBody>
              <a:bodyPr/>
              <a:lstStyle/>
              <a:p>
                <a:r>
                  <a:rPr lang="en-US">
                    <a:noFill/>
                  </a:rPr>
                  <a:t> </a:t>
                </a:r>
              </a:p>
            </p:txBody>
          </p:sp>
        </mc:Fallback>
      </mc:AlternateContent>
    </p:spTree>
    <p:extLst>
      <p:ext uri="{BB962C8B-B14F-4D97-AF65-F5344CB8AC3E}">
        <p14:creationId xmlns:p14="http://schemas.microsoft.com/office/powerpoint/2010/main" val="915286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B20F3-CADD-5887-D48C-322FC5AE3D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72C55-4F76-7636-EB9F-991B6641A7B2}"/>
              </a:ext>
            </a:extLst>
          </p:cNvPr>
          <p:cNvSpPr>
            <a:spLocks noGrp="1"/>
          </p:cNvSpPr>
          <p:nvPr>
            <p:ph type="title"/>
          </p:nvPr>
        </p:nvSpPr>
        <p:spPr/>
        <p:txBody>
          <a:bodyPr/>
          <a:lstStyle/>
          <a:p>
            <a:r>
              <a:rPr lang="en-US" dirty="0">
                <a:solidFill>
                  <a:srgbClr val="00D4D3"/>
                </a:solidFill>
              </a:rPr>
              <a:t>DBSCAN – Math Example</a:t>
            </a:r>
          </a:p>
        </p:txBody>
      </p:sp>
      <p:sp>
        <p:nvSpPr>
          <p:cNvPr id="3" name="Content Placeholder 2">
            <a:extLst>
              <a:ext uri="{FF2B5EF4-FFF2-40B4-BE49-F238E27FC236}">
                <a16:creationId xmlns:a16="http://schemas.microsoft.com/office/drawing/2014/main" id="{4B435F5B-FE2F-ED1A-27F4-C57E771B472D}"/>
              </a:ext>
            </a:extLst>
          </p:cNvPr>
          <p:cNvSpPr>
            <a:spLocks noGrp="1"/>
          </p:cNvSpPr>
          <p:nvPr>
            <p:ph idx="1"/>
          </p:nvPr>
        </p:nvSpPr>
        <p:spPr/>
        <p:txBody>
          <a:bodyPr>
            <a:normAutofit/>
          </a:bodyPr>
          <a:lstStyle/>
          <a:p>
            <a:r>
              <a:rPr lang="en-US" dirty="0"/>
              <a:t>Core / Border / Noise</a:t>
            </a:r>
          </a:p>
          <a:p>
            <a:r>
              <a:rPr lang="en-US" dirty="0"/>
              <a:t>Core point: |N</a:t>
            </a:r>
            <a:r>
              <a:rPr lang="el-GR" dirty="0"/>
              <a:t>ε(</a:t>
            </a:r>
            <a:r>
              <a:rPr lang="en-US" dirty="0"/>
              <a:t>p)| ≥ </a:t>
            </a:r>
            <a:r>
              <a:rPr lang="en-US" dirty="0" err="1"/>
              <a:t>MinPts</a:t>
            </a:r>
            <a:r>
              <a:rPr lang="en-US" dirty="0"/>
              <a:t> (=3 here)</a:t>
            </a:r>
          </a:p>
          <a:p>
            <a:r>
              <a:rPr lang="en-US" dirty="0"/>
              <a:t>Border point: not core, but within </a:t>
            </a:r>
            <a:r>
              <a:rPr lang="el-GR" dirty="0"/>
              <a:t>ε </a:t>
            </a:r>
            <a:r>
              <a:rPr lang="en-US" dirty="0"/>
              <a:t>of a core point</a:t>
            </a:r>
          </a:p>
          <a:p>
            <a:r>
              <a:rPr lang="en-US" dirty="0"/>
              <a:t>Noise: neither core nor border</a:t>
            </a:r>
          </a:p>
          <a:p>
            <a:r>
              <a:rPr lang="en-US" dirty="0"/>
              <a:t>From the counts:</a:t>
            </a:r>
          </a:p>
          <a:p>
            <a:pPr lvl="1"/>
            <a:r>
              <a:rPr lang="en-US" dirty="0"/>
              <a:t>Core: A, B, C, D, E, F</a:t>
            </a:r>
          </a:p>
          <a:p>
            <a:pPr lvl="1"/>
            <a:r>
              <a:rPr lang="en-US" dirty="0"/>
              <a:t>Border: H (within </a:t>
            </a:r>
            <a:r>
              <a:rPr lang="el-GR" dirty="0"/>
              <a:t>ε </a:t>
            </a:r>
            <a:r>
              <a:rPr lang="en-US" dirty="0"/>
              <a:t>of core C), I (within </a:t>
            </a:r>
            <a:r>
              <a:rPr lang="el-GR" dirty="0"/>
              <a:t>ε </a:t>
            </a:r>
            <a:r>
              <a:rPr lang="en-US" dirty="0"/>
              <a:t>of core F)</a:t>
            </a:r>
          </a:p>
          <a:p>
            <a:pPr lvl="1"/>
            <a:r>
              <a:rPr lang="en-US" dirty="0"/>
              <a:t>Noise: G</a:t>
            </a:r>
          </a:p>
        </p:txBody>
      </p:sp>
    </p:spTree>
    <p:extLst>
      <p:ext uri="{BB962C8B-B14F-4D97-AF65-F5344CB8AC3E}">
        <p14:creationId xmlns:p14="http://schemas.microsoft.com/office/powerpoint/2010/main" val="3644944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E50C6-774D-8C0D-207D-4A2D989ABD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C0269F-108D-7D6B-7CAA-73A1A863CF7B}"/>
              </a:ext>
            </a:extLst>
          </p:cNvPr>
          <p:cNvSpPr>
            <a:spLocks noGrp="1"/>
          </p:cNvSpPr>
          <p:nvPr>
            <p:ph type="title"/>
          </p:nvPr>
        </p:nvSpPr>
        <p:spPr/>
        <p:txBody>
          <a:bodyPr/>
          <a:lstStyle/>
          <a:p>
            <a:r>
              <a:rPr lang="en-US" dirty="0">
                <a:solidFill>
                  <a:srgbClr val="00D4D3"/>
                </a:solidFill>
              </a:rPr>
              <a:t>Density reachability &amp; cluster construction</a:t>
            </a:r>
          </a:p>
        </p:txBody>
      </p:sp>
      <p:sp>
        <p:nvSpPr>
          <p:cNvPr id="3" name="Content Placeholder 2">
            <a:extLst>
              <a:ext uri="{FF2B5EF4-FFF2-40B4-BE49-F238E27FC236}">
                <a16:creationId xmlns:a16="http://schemas.microsoft.com/office/drawing/2014/main" id="{8EBE7B5D-AA87-FA93-75E8-D79970E49413}"/>
              </a:ext>
            </a:extLst>
          </p:cNvPr>
          <p:cNvSpPr>
            <a:spLocks noGrp="1"/>
          </p:cNvSpPr>
          <p:nvPr>
            <p:ph idx="1"/>
          </p:nvPr>
        </p:nvSpPr>
        <p:spPr/>
        <p:txBody>
          <a:bodyPr>
            <a:normAutofit/>
          </a:bodyPr>
          <a:lstStyle/>
          <a:p>
            <a:r>
              <a:rPr lang="en-US" dirty="0"/>
              <a:t>DBSCAN expands clusters from cores by adding all points density-reachable (via chains of </a:t>
            </a:r>
            <a:r>
              <a:rPr lang="el-GR" dirty="0"/>
              <a:t>ε-</a:t>
            </a:r>
            <a:r>
              <a:rPr lang="en-US" dirty="0"/>
              <a:t>neighbors through cores).</a:t>
            </a:r>
          </a:p>
          <a:p>
            <a:r>
              <a:rPr lang="en-US" dirty="0"/>
              <a:t>Pick A (unvisited). Core ⇒ start Cluster 1 = {A}.</a:t>
            </a:r>
          </a:p>
          <a:p>
            <a:r>
              <a:rPr lang="en-US" dirty="0"/>
              <a:t>Add its </a:t>
            </a:r>
            <a:r>
              <a:rPr lang="el-GR" dirty="0"/>
              <a:t>ε-</a:t>
            </a:r>
            <a:r>
              <a:rPr lang="en-US" dirty="0"/>
              <a:t>neighbors: {B, C}. Now {A,B,C}.</a:t>
            </a:r>
          </a:p>
          <a:p>
            <a:r>
              <a:rPr lang="en-US" dirty="0"/>
              <a:t>Visit B (core). Add its </a:t>
            </a:r>
            <a:r>
              <a:rPr lang="el-GR" dirty="0"/>
              <a:t>ε-</a:t>
            </a:r>
            <a:r>
              <a:rPr lang="en-US" dirty="0"/>
              <a:t>neighbors (A,C) — already in cluster.</a:t>
            </a:r>
          </a:p>
          <a:p>
            <a:r>
              <a:rPr lang="en-US" dirty="0"/>
              <a:t>Visit C (core). Add its </a:t>
            </a:r>
            <a:r>
              <a:rPr lang="el-GR" dirty="0"/>
              <a:t>ε-</a:t>
            </a:r>
            <a:r>
              <a:rPr lang="en-US" dirty="0"/>
              <a:t>neighbors (A,B,H). H is new ⇒ add H.</a:t>
            </a:r>
          </a:p>
          <a:p>
            <a:r>
              <a:rPr lang="en-US" dirty="0"/>
              <a:t>H is border (not core), so do not expand from H.</a:t>
            </a:r>
          </a:p>
          <a:p>
            <a:r>
              <a:rPr lang="en-US" dirty="0"/>
              <a:t>Cluster 1 finalized: {A, B, C, H}</a:t>
            </a:r>
          </a:p>
        </p:txBody>
      </p:sp>
    </p:spTree>
    <p:extLst>
      <p:ext uri="{BB962C8B-B14F-4D97-AF65-F5344CB8AC3E}">
        <p14:creationId xmlns:p14="http://schemas.microsoft.com/office/powerpoint/2010/main" val="40257052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3E3C0-167D-D3F0-E11A-114F996BAC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BD5FC3-3E35-D144-789B-AD0888069143}"/>
              </a:ext>
            </a:extLst>
          </p:cNvPr>
          <p:cNvSpPr>
            <a:spLocks noGrp="1"/>
          </p:cNvSpPr>
          <p:nvPr>
            <p:ph type="title"/>
          </p:nvPr>
        </p:nvSpPr>
        <p:spPr/>
        <p:txBody>
          <a:bodyPr/>
          <a:lstStyle/>
          <a:p>
            <a:r>
              <a:rPr lang="en-US" dirty="0">
                <a:solidFill>
                  <a:srgbClr val="00D4D3"/>
                </a:solidFill>
              </a:rPr>
              <a:t>Density reachability &amp; cluster construction</a:t>
            </a:r>
          </a:p>
        </p:txBody>
      </p:sp>
      <p:sp>
        <p:nvSpPr>
          <p:cNvPr id="3" name="Content Placeholder 2">
            <a:extLst>
              <a:ext uri="{FF2B5EF4-FFF2-40B4-BE49-F238E27FC236}">
                <a16:creationId xmlns:a16="http://schemas.microsoft.com/office/drawing/2014/main" id="{2FBE59F5-7C72-C943-6868-F5E8DF1D10D6}"/>
              </a:ext>
            </a:extLst>
          </p:cNvPr>
          <p:cNvSpPr>
            <a:spLocks noGrp="1"/>
          </p:cNvSpPr>
          <p:nvPr>
            <p:ph idx="1"/>
          </p:nvPr>
        </p:nvSpPr>
        <p:spPr/>
        <p:txBody>
          <a:bodyPr>
            <a:normAutofit/>
          </a:bodyPr>
          <a:lstStyle/>
          <a:p>
            <a:r>
              <a:rPr lang="en-US" dirty="0"/>
              <a:t>Cluster 2 (continue with next unvisited core, D):</a:t>
            </a:r>
          </a:p>
          <a:p>
            <a:r>
              <a:rPr lang="en-US" dirty="0"/>
              <a:t>Pick D (core). Start Cluster 2 = {D}; add </a:t>
            </a:r>
            <a:r>
              <a:rPr lang="el-GR" dirty="0"/>
              <a:t>ε-</a:t>
            </a:r>
            <a:r>
              <a:rPr lang="en-US" dirty="0"/>
              <a:t>neighbors {E,F}. ⇒ {D,E,F}</a:t>
            </a:r>
          </a:p>
          <a:p>
            <a:r>
              <a:rPr lang="en-US" dirty="0"/>
              <a:t>Visit E (core). </a:t>
            </a:r>
            <a:r>
              <a:rPr lang="el-GR" dirty="0"/>
              <a:t>ε-</a:t>
            </a:r>
            <a:r>
              <a:rPr lang="en-US" dirty="0"/>
              <a:t>neighbors {D,F} already in cluster.</a:t>
            </a:r>
          </a:p>
          <a:p>
            <a:r>
              <a:rPr lang="en-US" dirty="0"/>
              <a:t>Visit F (core). </a:t>
            </a:r>
            <a:r>
              <a:rPr lang="el-GR" dirty="0"/>
              <a:t>ε-</a:t>
            </a:r>
            <a:r>
              <a:rPr lang="en-US" dirty="0"/>
              <a:t>neighbors {D,E,I}. I is new ⇒ add I.</a:t>
            </a:r>
          </a:p>
          <a:p>
            <a:r>
              <a:rPr lang="en-US" dirty="0"/>
              <a:t>I is border; do not expand from it.</a:t>
            </a:r>
          </a:p>
          <a:p>
            <a:r>
              <a:rPr lang="en-US" dirty="0"/>
              <a:t>Cluster 2 finalized: {D, E, F, I}</a:t>
            </a:r>
          </a:p>
          <a:p>
            <a:r>
              <a:rPr lang="en-US" dirty="0">
                <a:solidFill>
                  <a:srgbClr val="00D4D3"/>
                </a:solidFill>
              </a:rPr>
              <a:t>Remaining point</a:t>
            </a:r>
            <a:endParaRPr lang="en-US" dirty="0"/>
          </a:p>
          <a:p>
            <a:pPr lvl="1"/>
            <a:r>
              <a:rPr lang="en-US" dirty="0"/>
              <a:t>G never added ⇒ noise.</a:t>
            </a:r>
          </a:p>
        </p:txBody>
      </p:sp>
    </p:spTree>
    <p:extLst>
      <p:ext uri="{BB962C8B-B14F-4D97-AF65-F5344CB8AC3E}">
        <p14:creationId xmlns:p14="http://schemas.microsoft.com/office/powerpoint/2010/main" val="41243129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C0663-06A1-3D1F-5FB8-620D138B69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612E27-6D05-B916-E7C1-DC6352A768CB}"/>
              </a:ext>
            </a:extLst>
          </p:cNvPr>
          <p:cNvSpPr>
            <a:spLocks noGrp="1"/>
          </p:cNvSpPr>
          <p:nvPr>
            <p:ph type="title"/>
          </p:nvPr>
        </p:nvSpPr>
        <p:spPr/>
        <p:txBody>
          <a:bodyPr/>
          <a:lstStyle/>
          <a:p>
            <a:r>
              <a:rPr lang="en-US" dirty="0">
                <a:solidFill>
                  <a:srgbClr val="00D4D3"/>
                </a:solidFill>
              </a:rPr>
              <a:t>Density reachability &amp; cluster construction</a:t>
            </a:r>
          </a:p>
        </p:txBody>
      </p:sp>
      <p:sp>
        <p:nvSpPr>
          <p:cNvPr id="3" name="Content Placeholder 2">
            <a:extLst>
              <a:ext uri="{FF2B5EF4-FFF2-40B4-BE49-F238E27FC236}">
                <a16:creationId xmlns:a16="http://schemas.microsoft.com/office/drawing/2014/main" id="{D3B2A5D7-49A3-ABC8-12C1-DC88B521EB57}"/>
              </a:ext>
            </a:extLst>
          </p:cNvPr>
          <p:cNvSpPr>
            <a:spLocks noGrp="1"/>
          </p:cNvSpPr>
          <p:nvPr>
            <p:ph idx="1"/>
          </p:nvPr>
        </p:nvSpPr>
        <p:spPr/>
        <p:txBody>
          <a:bodyPr>
            <a:normAutofit/>
          </a:bodyPr>
          <a:lstStyle/>
          <a:p>
            <a:r>
              <a:rPr lang="en-US" dirty="0"/>
              <a:t>Cluster 2 (continue with next unvisited core, D):</a:t>
            </a:r>
          </a:p>
          <a:p>
            <a:r>
              <a:rPr lang="en-US" dirty="0"/>
              <a:t>Pick D (core). Start Cluster 2 = {D}; add </a:t>
            </a:r>
            <a:r>
              <a:rPr lang="el-GR" dirty="0"/>
              <a:t>ε-</a:t>
            </a:r>
            <a:r>
              <a:rPr lang="en-US" dirty="0"/>
              <a:t>neighbors {E,F}. ⇒ {D,E,F}</a:t>
            </a:r>
          </a:p>
          <a:p>
            <a:r>
              <a:rPr lang="en-US" dirty="0"/>
              <a:t>Visit E (core). </a:t>
            </a:r>
            <a:r>
              <a:rPr lang="el-GR" dirty="0"/>
              <a:t>ε-</a:t>
            </a:r>
            <a:r>
              <a:rPr lang="en-US" dirty="0"/>
              <a:t>neighbors {D,F} already in cluster.</a:t>
            </a:r>
          </a:p>
          <a:p>
            <a:r>
              <a:rPr lang="en-US" dirty="0"/>
              <a:t>Visit F (core). </a:t>
            </a:r>
            <a:r>
              <a:rPr lang="el-GR" dirty="0"/>
              <a:t>ε-</a:t>
            </a:r>
            <a:r>
              <a:rPr lang="en-US" dirty="0"/>
              <a:t>neighbors {D,E,I}. I is new ⇒ add I.</a:t>
            </a:r>
          </a:p>
          <a:p>
            <a:r>
              <a:rPr lang="en-US" dirty="0"/>
              <a:t>I is border; do not expand from it.</a:t>
            </a:r>
          </a:p>
          <a:p>
            <a:r>
              <a:rPr lang="en-US" dirty="0"/>
              <a:t>Cluster 2 finalized: {D, E, F, I}</a:t>
            </a:r>
          </a:p>
          <a:p>
            <a:r>
              <a:rPr lang="en-US" dirty="0">
                <a:solidFill>
                  <a:srgbClr val="00D4D3"/>
                </a:solidFill>
              </a:rPr>
              <a:t>Remaining point</a:t>
            </a:r>
            <a:endParaRPr lang="en-US" dirty="0"/>
          </a:p>
          <a:p>
            <a:pPr lvl="1"/>
            <a:r>
              <a:rPr lang="en-US" dirty="0"/>
              <a:t>G never added ⇒ noise.</a:t>
            </a:r>
          </a:p>
        </p:txBody>
      </p:sp>
    </p:spTree>
    <p:extLst>
      <p:ext uri="{BB962C8B-B14F-4D97-AF65-F5344CB8AC3E}">
        <p14:creationId xmlns:p14="http://schemas.microsoft.com/office/powerpoint/2010/main" val="20227897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B1708-32CD-C710-FF48-7292475EBE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4F08A4-E29A-CF00-8E7F-89AD9F8B7F25}"/>
              </a:ext>
            </a:extLst>
          </p:cNvPr>
          <p:cNvSpPr>
            <a:spLocks noGrp="1"/>
          </p:cNvSpPr>
          <p:nvPr>
            <p:ph type="title"/>
          </p:nvPr>
        </p:nvSpPr>
        <p:spPr/>
        <p:txBody>
          <a:bodyPr/>
          <a:lstStyle/>
          <a:p>
            <a:r>
              <a:rPr lang="en-US" dirty="0">
                <a:solidFill>
                  <a:srgbClr val="00D4D3"/>
                </a:solidFill>
              </a:rPr>
              <a:t>Distance matrix</a:t>
            </a:r>
          </a:p>
        </p:txBody>
      </p:sp>
      <p:graphicFrame>
        <p:nvGraphicFramePr>
          <p:cNvPr id="8" name="Table 7">
            <a:extLst>
              <a:ext uri="{FF2B5EF4-FFF2-40B4-BE49-F238E27FC236}">
                <a16:creationId xmlns:a16="http://schemas.microsoft.com/office/drawing/2014/main" id="{6FC5CA6F-0F59-C79B-EA83-D1C90AAAA7F9}"/>
              </a:ext>
            </a:extLst>
          </p:cNvPr>
          <p:cNvGraphicFramePr>
            <a:graphicFrameLocks noGrp="1"/>
          </p:cNvGraphicFramePr>
          <p:nvPr>
            <p:extLst>
              <p:ext uri="{D42A27DB-BD31-4B8C-83A1-F6EECF244321}">
                <p14:modId xmlns:p14="http://schemas.microsoft.com/office/powerpoint/2010/main" val="3691121881"/>
              </p:ext>
            </p:extLst>
          </p:nvPr>
        </p:nvGraphicFramePr>
        <p:xfrm>
          <a:off x="838200" y="1690687"/>
          <a:ext cx="10515600" cy="4353270"/>
        </p:xfrm>
        <a:graphic>
          <a:graphicData uri="http://schemas.openxmlformats.org/drawingml/2006/table">
            <a:tbl>
              <a:tblPr>
                <a:tableStyleId>{BDBED569-4797-4DF1-A0F4-6AAB3CD982D8}</a:tableStyleId>
              </a:tblPr>
              <a:tblGrid>
                <a:gridCol w="1051560">
                  <a:extLst>
                    <a:ext uri="{9D8B030D-6E8A-4147-A177-3AD203B41FA5}">
                      <a16:colId xmlns:a16="http://schemas.microsoft.com/office/drawing/2014/main" val="299043509"/>
                    </a:ext>
                  </a:extLst>
                </a:gridCol>
                <a:gridCol w="1051560">
                  <a:extLst>
                    <a:ext uri="{9D8B030D-6E8A-4147-A177-3AD203B41FA5}">
                      <a16:colId xmlns:a16="http://schemas.microsoft.com/office/drawing/2014/main" val="1360560253"/>
                    </a:ext>
                  </a:extLst>
                </a:gridCol>
                <a:gridCol w="1051560">
                  <a:extLst>
                    <a:ext uri="{9D8B030D-6E8A-4147-A177-3AD203B41FA5}">
                      <a16:colId xmlns:a16="http://schemas.microsoft.com/office/drawing/2014/main" val="2145645110"/>
                    </a:ext>
                  </a:extLst>
                </a:gridCol>
                <a:gridCol w="1051560">
                  <a:extLst>
                    <a:ext uri="{9D8B030D-6E8A-4147-A177-3AD203B41FA5}">
                      <a16:colId xmlns:a16="http://schemas.microsoft.com/office/drawing/2014/main" val="3081303626"/>
                    </a:ext>
                  </a:extLst>
                </a:gridCol>
                <a:gridCol w="1051560">
                  <a:extLst>
                    <a:ext uri="{9D8B030D-6E8A-4147-A177-3AD203B41FA5}">
                      <a16:colId xmlns:a16="http://schemas.microsoft.com/office/drawing/2014/main" val="4078895053"/>
                    </a:ext>
                  </a:extLst>
                </a:gridCol>
                <a:gridCol w="1051560">
                  <a:extLst>
                    <a:ext uri="{9D8B030D-6E8A-4147-A177-3AD203B41FA5}">
                      <a16:colId xmlns:a16="http://schemas.microsoft.com/office/drawing/2014/main" val="2201600675"/>
                    </a:ext>
                  </a:extLst>
                </a:gridCol>
                <a:gridCol w="1051560">
                  <a:extLst>
                    <a:ext uri="{9D8B030D-6E8A-4147-A177-3AD203B41FA5}">
                      <a16:colId xmlns:a16="http://schemas.microsoft.com/office/drawing/2014/main" val="1857967883"/>
                    </a:ext>
                  </a:extLst>
                </a:gridCol>
                <a:gridCol w="1051560">
                  <a:extLst>
                    <a:ext uri="{9D8B030D-6E8A-4147-A177-3AD203B41FA5}">
                      <a16:colId xmlns:a16="http://schemas.microsoft.com/office/drawing/2014/main" val="2012493049"/>
                    </a:ext>
                  </a:extLst>
                </a:gridCol>
                <a:gridCol w="1051560">
                  <a:extLst>
                    <a:ext uri="{9D8B030D-6E8A-4147-A177-3AD203B41FA5}">
                      <a16:colId xmlns:a16="http://schemas.microsoft.com/office/drawing/2014/main" val="3420192095"/>
                    </a:ext>
                  </a:extLst>
                </a:gridCol>
                <a:gridCol w="1051560">
                  <a:extLst>
                    <a:ext uri="{9D8B030D-6E8A-4147-A177-3AD203B41FA5}">
                      <a16:colId xmlns:a16="http://schemas.microsoft.com/office/drawing/2014/main" val="4252097906"/>
                    </a:ext>
                  </a:extLst>
                </a:gridCol>
              </a:tblGrid>
              <a:tr h="435327">
                <a:tc>
                  <a:txBody>
                    <a:bodyPr/>
                    <a:lstStyle/>
                    <a:p>
                      <a:pPr algn="l">
                        <a:buNone/>
                      </a:pPr>
                      <a:endParaRPr lang="en-US"/>
                    </a:p>
                  </a:txBody>
                  <a:tcPr anchor="ctr"/>
                </a:tc>
                <a:tc>
                  <a:txBody>
                    <a:bodyPr/>
                    <a:lstStyle/>
                    <a:p>
                      <a:pPr algn="ctr">
                        <a:buNone/>
                      </a:pPr>
                      <a:r>
                        <a:rPr lang="en-US" b="1"/>
                        <a:t>A</a:t>
                      </a:r>
                      <a:endParaRPr lang="en-US"/>
                    </a:p>
                  </a:txBody>
                  <a:tcPr anchor="ctr"/>
                </a:tc>
                <a:tc>
                  <a:txBody>
                    <a:bodyPr/>
                    <a:lstStyle/>
                    <a:p>
                      <a:pPr algn="ctr">
                        <a:buNone/>
                      </a:pPr>
                      <a:r>
                        <a:rPr lang="en-US" b="1"/>
                        <a:t>B</a:t>
                      </a:r>
                      <a:endParaRPr lang="en-US"/>
                    </a:p>
                  </a:txBody>
                  <a:tcPr anchor="ctr"/>
                </a:tc>
                <a:tc>
                  <a:txBody>
                    <a:bodyPr/>
                    <a:lstStyle/>
                    <a:p>
                      <a:pPr algn="ctr">
                        <a:buNone/>
                      </a:pPr>
                      <a:r>
                        <a:rPr lang="en-US" b="1"/>
                        <a:t>C</a:t>
                      </a:r>
                      <a:endParaRPr lang="en-US"/>
                    </a:p>
                  </a:txBody>
                  <a:tcPr anchor="ctr"/>
                </a:tc>
                <a:tc>
                  <a:txBody>
                    <a:bodyPr/>
                    <a:lstStyle/>
                    <a:p>
                      <a:pPr algn="ctr">
                        <a:buNone/>
                      </a:pPr>
                      <a:r>
                        <a:rPr lang="en-US" b="1"/>
                        <a:t>H</a:t>
                      </a:r>
                      <a:endParaRPr lang="en-US"/>
                    </a:p>
                  </a:txBody>
                  <a:tcPr anchor="ctr"/>
                </a:tc>
                <a:tc>
                  <a:txBody>
                    <a:bodyPr/>
                    <a:lstStyle/>
                    <a:p>
                      <a:pPr algn="ctr">
                        <a:buNone/>
                      </a:pPr>
                      <a:r>
                        <a:rPr lang="en-US" b="1"/>
                        <a:t>D</a:t>
                      </a:r>
                      <a:endParaRPr lang="en-US"/>
                    </a:p>
                  </a:txBody>
                  <a:tcPr anchor="ctr"/>
                </a:tc>
                <a:tc>
                  <a:txBody>
                    <a:bodyPr/>
                    <a:lstStyle/>
                    <a:p>
                      <a:pPr algn="ctr">
                        <a:buNone/>
                      </a:pPr>
                      <a:r>
                        <a:rPr lang="en-US" b="1"/>
                        <a:t>E</a:t>
                      </a:r>
                      <a:endParaRPr lang="en-US"/>
                    </a:p>
                  </a:txBody>
                  <a:tcPr anchor="ctr"/>
                </a:tc>
                <a:tc>
                  <a:txBody>
                    <a:bodyPr/>
                    <a:lstStyle/>
                    <a:p>
                      <a:pPr algn="ctr">
                        <a:buNone/>
                      </a:pPr>
                      <a:r>
                        <a:rPr lang="en-US" b="1"/>
                        <a:t>F</a:t>
                      </a:r>
                      <a:endParaRPr lang="en-US"/>
                    </a:p>
                  </a:txBody>
                  <a:tcPr anchor="ctr"/>
                </a:tc>
                <a:tc>
                  <a:txBody>
                    <a:bodyPr/>
                    <a:lstStyle/>
                    <a:p>
                      <a:pPr algn="ctr">
                        <a:buNone/>
                      </a:pPr>
                      <a:r>
                        <a:rPr lang="en-US" b="1"/>
                        <a:t>G</a:t>
                      </a:r>
                      <a:endParaRPr lang="en-US"/>
                    </a:p>
                  </a:txBody>
                  <a:tcPr anchor="ctr"/>
                </a:tc>
                <a:tc>
                  <a:txBody>
                    <a:bodyPr/>
                    <a:lstStyle/>
                    <a:p>
                      <a:pPr algn="ctr">
                        <a:buNone/>
                      </a:pPr>
                      <a:r>
                        <a:rPr lang="en-US" b="1"/>
                        <a:t>I</a:t>
                      </a:r>
                      <a:endParaRPr lang="en-US"/>
                    </a:p>
                  </a:txBody>
                  <a:tcPr anchor="ctr"/>
                </a:tc>
                <a:extLst>
                  <a:ext uri="{0D108BD9-81ED-4DB2-BD59-A6C34878D82A}">
                    <a16:rowId xmlns:a16="http://schemas.microsoft.com/office/drawing/2014/main" val="75239178"/>
                  </a:ext>
                </a:extLst>
              </a:tr>
              <a:tr h="435327">
                <a:tc>
                  <a:txBody>
                    <a:bodyPr/>
                    <a:lstStyle/>
                    <a:p>
                      <a:pPr algn="l">
                        <a:buNone/>
                      </a:pPr>
                      <a:r>
                        <a:rPr lang="en-US" b="1"/>
                        <a:t>A</a:t>
                      </a:r>
                      <a:endParaRPr lang="en-US"/>
                    </a:p>
                  </a:txBody>
                  <a:tcPr anchor="ctr"/>
                </a:tc>
                <a:tc>
                  <a:txBody>
                    <a:bodyPr/>
                    <a:lstStyle/>
                    <a:p>
                      <a:pPr algn="ctr">
                        <a:buNone/>
                      </a:pPr>
                      <a:r>
                        <a:rPr lang="en-US"/>
                        <a:t>0.000</a:t>
                      </a:r>
                    </a:p>
                  </a:txBody>
                  <a:tcPr anchor="ctr"/>
                </a:tc>
                <a:tc>
                  <a:txBody>
                    <a:bodyPr/>
                    <a:lstStyle/>
                    <a:p>
                      <a:pPr algn="ctr">
                        <a:buNone/>
                      </a:pPr>
                      <a:r>
                        <a:rPr lang="en-US"/>
                        <a:t>1.000</a:t>
                      </a:r>
                    </a:p>
                  </a:txBody>
                  <a:tcPr anchor="ctr"/>
                </a:tc>
                <a:tc>
                  <a:txBody>
                    <a:bodyPr/>
                    <a:lstStyle/>
                    <a:p>
                      <a:pPr algn="ctr">
                        <a:buNone/>
                      </a:pPr>
                      <a:r>
                        <a:rPr lang="en-US"/>
                        <a:t>1.118</a:t>
                      </a:r>
                    </a:p>
                  </a:txBody>
                  <a:tcPr anchor="ctr"/>
                </a:tc>
                <a:tc>
                  <a:txBody>
                    <a:bodyPr/>
                    <a:lstStyle/>
                    <a:p>
                      <a:pPr algn="ctr">
                        <a:buNone/>
                      </a:pPr>
                      <a:r>
                        <a:rPr lang="en-US"/>
                        <a:t>1.513</a:t>
                      </a:r>
                    </a:p>
                  </a:txBody>
                  <a:tcPr anchor="ctr"/>
                </a:tc>
                <a:tc>
                  <a:txBody>
                    <a:bodyPr/>
                    <a:lstStyle/>
                    <a:p>
                      <a:pPr algn="ctr">
                        <a:buNone/>
                      </a:pPr>
                      <a:r>
                        <a:rPr lang="en-US"/>
                        <a:t>9.220</a:t>
                      </a:r>
                    </a:p>
                  </a:txBody>
                  <a:tcPr anchor="ctr"/>
                </a:tc>
                <a:tc>
                  <a:txBody>
                    <a:bodyPr/>
                    <a:lstStyle/>
                    <a:p>
                      <a:pPr algn="ctr">
                        <a:buNone/>
                      </a:pPr>
                      <a:r>
                        <a:rPr lang="en-US"/>
                        <a:t>9.605</a:t>
                      </a:r>
                    </a:p>
                  </a:txBody>
                  <a:tcPr anchor="ctr"/>
                </a:tc>
                <a:tc>
                  <a:txBody>
                    <a:bodyPr/>
                    <a:lstStyle/>
                    <a:p>
                      <a:pPr algn="ctr">
                        <a:buNone/>
                      </a:pPr>
                      <a:r>
                        <a:rPr lang="en-US"/>
                        <a:t>10.308</a:t>
                      </a:r>
                    </a:p>
                  </a:txBody>
                  <a:tcPr anchor="ctr"/>
                </a:tc>
                <a:tc>
                  <a:txBody>
                    <a:bodyPr/>
                    <a:lstStyle/>
                    <a:p>
                      <a:pPr algn="ctr">
                        <a:buNone/>
                      </a:pPr>
                      <a:r>
                        <a:rPr lang="en-US"/>
                        <a:t>6.083</a:t>
                      </a:r>
                    </a:p>
                  </a:txBody>
                  <a:tcPr anchor="ctr"/>
                </a:tc>
                <a:tc>
                  <a:txBody>
                    <a:bodyPr/>
                    <a:lstStyle/>
                    <a:p>
                      <a:pPr algn="ctr">
                        <a:buNone/>
                      </a:pPr>
                      <a:r>
                        <a:rPr lang="en-US"/>
                        <a:t>11.011</a:t>
                      </a:r>
                    </a:p>
                  </a:txBody>
                  <a:tcPr anchor="ctr"/>
                </a:tc>
                <a:extLst>
                  <a:ext uri="{0D108BD9-81ED-4DB2-BD59-A6C34878D82A}">
                    <a16:rowId xmlns:a16="http://schemas.microsoft.com/office/drawing/2014/main" val="3302249642"/>
                  </a:ext>
                </a:extLst>
              </a:tr>
              <a:tr h="435327">
                <a:tc>
                  <a:txBody>
                    <a:bodyPr/>
                    <a:lstStyle/>
                    <a:p>
                      <a:pPr algn="l">
                        <a:buNone/>
                      </a:pPr>
                      <a:r>
                        <a:rPr lang="en-US" b="1"/>
                        <a:t>B</a:t>
                      </a:r>
                      <a:endParaRPr lang="en-US"/>
                    </a:p>
                  </a:txBody>
                  <a:tcPr anchor="ctr"/>
                </a:tc>
                <a:tc>
                  <a:txBody>
                    <a:bodyPr/>
                    <a:lstStyle/>
                    <a:p>
                      <a:pPr algn="ctr">
                        <a:buNone/>
                      </a:pPr>
                      <a:r>
                        <a:rPr lang="en-US"/>
                        <a:t>1.000</a:t>
                      </a:r>
                    </a:p>
                  </a:txBody>
                  <a:tcPr anchor="ctr"/>
                </a:tc>
                <a:tc>
                  <a:txBody>
                    <a:bodyPr/>
                    <a:lstStyle/>
                    <a:p>
                      <a:pPr algn="ctr">
                        <a:buNone/>
                      </a:pPr>
                      <a:r>
                        <a:rPr lang="en-US"/>
                        <a:t>0.000</a:t>
                      </a:r>
                    </a:p>
                  </a:txBody>
                  <a:tcPr anchor="ctr"/>
                </a:tc>
                <a:tc>
                  <a:txBody>
                    <a:bodyPr/>
                    <a:lstStyle/>
                    <a:p>
                      <a:pPr algn="ctr">
                        <a:buNone/>
                      </a:pPr>
                      <a:r>
                        <a:rPr lang="en-US"/>
                        <a:t>1.118</a:t>
                      </a:r>
                    </a:p>
                  </a:txBody>
                  <a:tcPr anchor="ctr"/>
                </a:tc>
                <a:tc>
                  <a:txBody>
                    <a:bodyPr/>
                    <a:lstStyle/>
                    <a:p>
                      <a:pPr algn="ctr">
                        <a:buNone/>
                      </a:pPr>
                      <a:r>
                        <a:rPr lang="en-US"/>
                        <a:t>1.700</a:t>
                      </a:r>
                    </a:p>
                  </a:txBody>
                  <a:tcPr anchor="ctr"/>
                </a:tc>
                <a:tc>
                  <a:txBody>
                    <a:bodyPr/>
                    <a:lstStyle/>
                    <a:p>
                      <a:pPr algn="ctr">
                        <a:buNone/>
                      </a:pPr>
                      <a:r>
                        <a:rPr lang="en-US"/>
                        <a:t>8.602</a:t>
                      </a:r>
                    </a:p>
                  </a:txBody>
                  <a:tcPr anchor="ctr"/>
                </a:tc>
                <a:tc>
                  <a:txBody>
                    <a:bodyPr/>
                    <a:lstStyle/>
                    <a:p>
                      <a:pPr algn="ctr">
                        <a:buNone/>
                      </a:pPr>
                      <a:r>
                        <a:rPr lang="en-US"/>
                        <a:t>9.014</a:t>
                      </a:r>
                    </a:p>
                  </a:txBody>
                  <a:tcPr anchor="ctr"/>
                </a:tc>
                <a:tc>
                  <a:txBody>
                    <a:bodyPr/>
                    <a:lstStyle/>
                    <a:p>
                      <a:pPr algn="ctr">
                        <a:buNone/>
                      </a:pPr>
                      <a:r>
                        <a:rPr lang="en-US"/>
                        <a:t>9.708</a:t>
                      </a:r>
                    </a:p>
                  </a:txBody>
                  <a:tcPr anchor="ctr"/>
                </a:tc>
                <a:tc>
                  <a:txBody>
                    <a:bodyPr/>
                    <a:lstStyle/>
                    <a:p>
                      <a:pPr algn="ctr">
                        <a:buNone/>
                      </a:pPr>
                      <a:r>
                        <a:rPr lang="en-US"/>
                        <a:t>5.099</a:t>
                      </a:r>
                    </a:p>
                  </a:txBody>
                  <a:tcPr anchor="ctr"/>
                </a:tc>
                <a:tc>
                  <a:txBody>
                    <a:bodyPr/>
                    <a:lstStyle/>
                    <a:p>
                      <a:pPr algn="ctr">
                        <a:buNone/>
                      </a:pPr>
                      <a:r>
                        <a:rPr lang="en-US"/>
                        <a:t>10.404</a:t>
                      </a:r>
                    </a:p>
                  </a:txBody>
                  <a:tcPr anchor="ctr"/>
                </a:tc>
                <a:extLst>
                  <a:ext uri="{0D108BD9-81ED-4DB2-BD59-A6C34878D82A}">
                    <a16:rowId xmlns:a16="http://schemas.microsoft.com/office/drawing/2014/main" val="514743613"/>
                  </a:ext>
                </a:extLst>
              </a:tr>
              <a:tr h="435327">
                <a:tc>
                  <a:txBody>
                    <a:bodyPr/>
                    <a:lstStyle/>
                    <a:p>
                      <a:pPr algn="l">
                        <a:buNone/>
                      </a:pPr>
                      <a:r>
                        <a:rPr lang="en-US" b="1"/>
                        <a:t>C</a:t>
                      </a:r>
                      <a:endParaRPr lang="en-US"/>
                    </a:p>
                  </a:txBody>
                  <a:tcPr anchor="ctr"/>
                </a:tc>
                <a:tc>
                  <a:txBody>
                    <a:bodyPr/>
                    <a:lstStyle/>
                    <a:p>
                      <a:pPr algn="ctr">
                        <a:buNone/>
                      </a:pPr>
                      <a:r>
                        <a:rPr lang="en-US"/>
                        <a:t>1.118</a:t>
                      </a:r>
                    </a:p>
                  </a:txBody>
                  <a:tcPr anchor="ctr"/>
                </a:tc>
                <a:tc>
                  <a:txBody>
                    <a:bodyPr/>
                    <a:lstStyle/>
                    <a:p>
                      <a:pPr algn="ctr">
                        <a:buNone/>
                      </a:pPr>
                      <a:r>
                        <a:rPr lang="en-US"/>
                        <a:t>1.118</a:t>
                      </a:r>
                    </a:p>
                  </a:txBody>
                  <a:tcPr anchor="ctr"/>
                </a:tc>
                <a:tc>
                  <a:txBody>
                    <a:bodyPr/>
                    <a:lstStyle/>
                    <a:p>
                      <a:pPr algn="ctr">
                        <a:buNone/>
                      </a:pPr>
                      <a:r>
                        <a:rPr lang="en-US"/>
                        <a:t>0.000</a:t>
                      </a:r>
                    </a:p>
                  </a:txBody>
                  <a:tcPr anchor="ctr"/>
                </a:tc>
                <a:tc>
                  <a:txBody>
                    <a:bodyPr/>
                    <a:lstStyle/>
                    <a:p>
                      <a:pPr algn="ctr">
                        <a:buNone/>
                      </a:pPr>
                      <a:r>
                        <a:rPr lang="en-US"/>
                        <a:t>0.583</a:t>
                      </a:r>
                    </a:p>
                  </a:txBody>
                  <a:tcPr anchor="ctr"/>
                </a:tc>
                <a:tc>
                  <a:txBody>
                    <a:bodyPr/>
                    <a:lstStyle/>
                    <a:p>
                      <a:pPr algn="ctr">
                        <a:buNone/>
                      </a:pPr>
                      <a:r>
                        <a:rPr lang="en-US"/>
                        <a:t>8.139</a:t>
                      </a:r>
                    </a:p>
                  </a:txBody>
                  <a:tcPr anchor="ctr"/>
                </a:tc>
                <a:tc>
                  <a:txBody>
                    <a:bodyPr/>
                    <a:lstStyle/>
                    <a:p>
                      <a:pPr algn="ctr">
                        <a:buNone/>
                      </a:pPr>
                      <a:r>
                        <a:rPr lang="en-US"/>
                        <a:t>8.515</a:t>
                      </a:r>
                    </a:p>
                  </a:txBody>
                  <a:tcPr anchor="ctr"/>
                </a:tc>
                <a:tc>
                  <a:txBody>
                    <a:bodyPr/>
                    <a:lstStyle/>
                    <a:p>
                      <a:pPr algn="ctr">
                        <a:buNone/>
                      </a:pPr>
                      <a:r>
                        <a:rPr lang="en-US"/>
                        <a:t>9.220</a:t>
                      </a:r>
                    </a:p>
                  </a:txBody>
                  <a:tcPr anchor="ctr"/>
                </a:tc>
                <a:tc>
                  <a:txBody>
                    <a:bodyPr/>
                    <a:lstStyle/>
                    <a:p>
                      <a:pPr algn="ctr">
                        <a:buNone/>
                      </a:pPr>
                      <a:r>
                        <a:rPr lang="en-US"/>
                        <a:t>5.852</a:t>
                      </a:r>
                    </a:p>
                  </a:txBody>
                  <a:tcPr anchor="ctr"/>
                </a:tc>
                <a:tc>
                  <a:txBody>
                    <a:bodyPr/>
                    <a:lstStyle/>
                    <a:p>
                      <a:pPr algn="ctr">
                        <a:buNone/>
                      </a:pPr>
                      <a:r>
                        <a:rPr lang="en-US"/>
                        <a:t>9.925</a:t>
                      </a:r>
                    </a:p>
                  </a:txBody>
                  <a:tcPr anchor="ctr"/>
                </a:tc>
                <a:extLst>
                  <a:ext uri="{0D108BD9-81ED-4DB2-BD59-A6C34878D82A}">
                    <a16:rowId xmlns:a16="http://schemas.microsoft.com/office/drawing/2014/main" val="1027517281"/>
                  </a:ext>
                </a:extLst>
              </a:tr>
              <a:tr h="435327">
                <a:tc>
                  <a:txBody>
                    <a:bodyPr/>
                    <a:lstStyle/>
                    <a:p>
                      <a:pPr algn="l">
                        <a:buNone/>
                      </a:pPr>
                      <a:r>
                        <a:rPr lang="en-US" b="1"/>
                        <a:t>H</a:t>
                      </a:r>
                      <a:endParaRPr lang="en-US"/>
                    </a:p>
                  </a:txBody>
                  <a:tcPr anchor="ctr"/>
                </a:tc>
                <a:tc>
                  <a:txBody>
                    <a:bodyPr/>
                    <a:lstStyle/>
                    <a:p>
                      <a:pPr algn="ctr">
                        <a:buNone/>
                      </a:pPr>
                      <a:r>
                        <a:rPr lang="en-US"/>
                        <a:t>1.513</a:t>
                      </a:r>
                    </a:p>
                  </a:txBody>
                  <a:tcPr anchor="ctr"/>
                </a:tc>
                <a:tc>
                  <a:txBody>
                    <a:bodyPr/>
                    <a:lstStyle/>
                    <a:p>
                      <a:pPr algn="ctr">
                        <a:buNone/>
                      </a:pPr>
                      <a:r>
                        <a:rPr lang="en-US"/>
                        <a:t>1.700</a:t>
                      </a:r>
                    </a:p>
                  </a:txBody>
                  <a:tcPr anchor="ctr"/>
                </a:tc>
                <a:tc>
                  <a:txBody>
                    <a:bodyPr/>
                    <a:lstStyle/>
                    <a:p>
                      <a:pPr algn="ctr">
                        <a:buNone/>
                      </a:pPr>
                      <a:r>
                        <a:rPr lang="en-US"/>
                        <a:t>0.583</a:t>
                      </a:r>
                    </a:p>
                  </a:txBody>
                  <a:tcPr anchor="ctr"/>
                </a:tc>
                <a:tc>
                  <a:txBody>
                    <a:bodyPr/>
                    <a:lstStyle/>
                    <a:p>
                      <a:pPr algn="ctr">
                        <a:buNone/>
                      </a:pPr>
                      <a:r>
                        <a:rPr lang="en-US"/>
                        <a:t>0.000</a:t>
                      </a:r>
                    </a:p>
                  </a:txBody>
                  <a:tcPr anchor="ctr"/>
                </a:tc>
                <a:tc>
                  <a:txBody>
                    <a:bodyPr/>
                    <a:lstStyle/>
                    <a:p>
                      <a:pPr algn="ctr">
                        <a:buNone/>
                      </a:pPr>
                      <a:r>
                        <a:rPr lang="en-US"/>
                        <a:t>7.993</a:t>
                      </a:r>
                    </a:p>
                  </a:txBody>
                  <a:tcPr anchor="ctr"/>
                </a:tc>
                <a:tc>
                  <a:txBody>
                    <a:bodyPr/>
                    <a:lstStyle/>
                    <a:p>
                      <a:pPr algn="ctr">
                        <a:buNone/>
                      </a:pPr>
                      <a:r>
                        <a:rPr lang="en-US"/>
                        <a:t>8.345</a:t>
                      </a:r>
                    </a:p>
                  </a:txBody>
                  <a:tcPr anchor="ctr"/>
                </a:tc>
                <a:tc>
                  <a:txBody>
                    <a:bodyPr/>
                    <a:lstStyle/>
                    <a:p>
                      <a:pPr algn="ctr">
                        <a:buNone/>
                      </a:pPr>
                      <a:r>
                        <a:rPr lang="en-US"/>
                        <a:t>9.052</a:t>
                      </a:r>
                    </a:p>
                  </a:txBody>
                  <a:tcPr anchor="ctr"/>
                </a:tc>
                <a:tc>
                  <a:txBody>
                    <a:bodyPr/>
                    <a:lstStyle/>
                    <a:p>
                      <a:pPr algn="ctr">
                        <a:buNone/>
                      </a:pPr>
                      <a:r>
                        <a:rPr lang="en-US"/>
                        <a:t>6.316</a:t>
                      </a:r>
                    </a:p>
                  </a:txBody>
                  <a:tcPr anchor="ctr"/>
                </a:tc>
                <a:tc>
                  <a:txBody>
                    <a:bodyPr/>
                    <a:lstStyle/>
                    <a:p>
                      <a:pPr algn="ctr">
                        <a:buNone/>
                      </a:pPr>
                      <a:r>
                        <a:rPr lang="en-US"/>
                        <a:t>9.759</a:t>
                      </a:r>
                    </a:p>
                  </a:txBody>
                  <a:tcPr anchor="ctr"/>
                </a:tc>
                <a:extLst>
                  <a:ext uri="{0D108BD9-81ED-4DB2-BD59-A6C34878D82A}">
                    <a16:rowId xmlns:a16="http://schemas.microsoft.com/office/drawing/2014/main" val="1089535998"/>
                  </a:ext>
                </a:extLst>
              </a:tr>
              <a:tr h="435327">
                <a:tc>
                  <a:txBody>
                    <a:bodyPr/>
                    <a:lstStyle/>
                    <a:p>
                      <a:pPr algn="l">
                        <a:buNone/>
                      </a:pPr>
                      <a:r>
                        <a:rPr lang="en-US" b="1"/>
                        <a:t>D</a:t>
                      </a:r>
                      <a:endParaRPr lang="en-US"/>
                    </a:p>
                  </a:txBody>
                  <a:tcPr anchor="ctr"/>
                </a:tc>
                <a:tc>
                  <a:txBody>
                    <a:bodyPr/>
                    <a:lstStyle/>
                    <a:p>
                      <a:pPr algn="ctr">
                        <a:buNone/>
                      </a:pPr>
                      <a:r>
                        <a:rPr lang="en-US"/>
                        <a:t>9.220</a:t>
                      </a:r>
                    </a:p>
                  </a:txBody>
                  <a:tcPr anchor="ctr"/>
                </a:tc>
                <a:tc>
                  <a:txBody>
                    <a:bodyPr/>
                    <a:lstStyle/>
                    <a:p>
                      <a:pPr algn="ctr">
                        <a:buNone/>
                      </a:pPr>
                      <a:r>
                        <a:rPr lang="en-US"/>
                        <a:t>8.602</a:t>
                      </a:r>
                    </a:p>
                  </a:txBody>
                  <a:tcPr anchor="ctr"/>
                </a:tc>
                <a:tc>
                  <a:txBody>
                    <a:bodyPr/>
                    <a:lstStyle/>
                    <a:p>
                      <a:pPr algn="ctr">
                        <a:buNone/>
                      </a:pPr>
                      <a:r>
                        <a:rPr lang="en-US"/>
                        <a:t>8.139</a:t>
                      </a:r>
                    </a:p>
                  </a:txBody>
                  <a:tcPr anchor="ctr"/>
                </a:tc>
                <a:tc>
                  <a:txBody>
                    <a:bodyPr/>
                    <a:lstStyle/>
                    <a:p>
                      <a:pPr algn="ctr">
                        <a:buNone/>
                      </a:pPr>
                      <a:r>
                        <a:rPr lang="en-US"/>
                        <a:t>7.993</a:t>
                      </a:r>
                    </a:p>
                  </a:txBody>
                  <a:tcPr anchor="ctr"/>
                </a:tc>
                <a:tc>
                  <a:txBody>
                    <a:bodyPr/>
                    <a:lstStyle/>
                    <a:p>
                      <a:pPr algn="ctr">
                        <a:buNone/>
                      </a:pPr>
                      <a:r>
                        <a:rPr lang="en-US"/>
                        <a:t>0.000</a:t>
                      </a:r>
                    </a:p>
                  </a:txBody>
                  <a:tcPr anchor="ctr"/>
                </a:tc>
                <a:tc>
                  <a:txBody>
                    <a:bodyPr/>
                    <a:lstStyle/>
                    <a:p>
                      <a:pPr algn="ctr">
                        <a:buNone/>
                      </a:pPr>
                      <a:r>
                        <a:rPr lang="en-US"/>
                        <a:t>0.500</a:t>
                      </a:r>
                    </a:p>
                  </a:txBody>
                  <a:tcPr anchor="ctr"/>
                </a:tc>
                <a:tc>
                  <a:txBody>
                    <a:bodyPr/>
                    <a:lstStyle/>
                    <a:p>
                      <a:pPr algn="ctr">
                        <a:buNone/>
                      </a:pPr>
                      <a:r>
                        <a:rPr lang="en-US"/>
                        <a:t>1.118</a:t>
                      </a:r>
                    </a:p>
                  </a:txBody>
                  <a:tcPr anchor="ctr"/>
                </a:tc>
                <a:tc>
                  <a:txBody>
                    <a:bodyPr/>
                    <a:lstStyle/>
                    <a:p>
                      <a:pPr algn="ctr">
                        <a:buNone/>
                      </a:pPr>
                      <a:r>
                        <a:rPr lang="en-US"/>
                        <a:t>8.000</a:t>
                      </a:r>
                    </a:p>
                  </a:txBody>
                  <a:tcPr anchor="ctr"/>
                </a:tc>
                <a:tc>
                  <a:txBody>
                    <a:bodyPr/>
                    <a:lstStyle/>
                    <a:p>
                      <a:pPr algn="ctr">
                        <a:buNone/>
                      </a:pPr>
                      <a:r>
                        <a:rPr lang="en-US"/>
                        <a:t>1.803</a:t>
                      </a:r>
                    </a:p>
                  </a:txBody>
                  <a:tcPr anchor="ctr"/>
                </a:tc>
                <a:extLst>
                  <a:ext uri="{0D108BD9-81ED-4DB2-BD59-A6C34878D82A}">
                    <a16:rowId xmlns:a16="http://schemas.microsoft.com/office/drawing/2014/main" val="3224784999"/>
                  </a:ext>
                </a:extLst>
              </a:tr>
              <a:tr h="435327">
                <a:tc>
                  <a:txBody>
                    <a:bodyPr/>
                    <a:lstStyle/>
                    <a:p>
                      <a:pPr algn="l">
                        <a:buNone/>
                      </a:pPr>
                      <a:r>
                        <a:rPr lang="en-US" b="1"/>
                        <a:t>E</a:t>
                      </a:r>
                      <a:endParaRPr lang="en-US"/>
                    </a:p>
                  </a:txBody>
                  <a:tcPr anchor="ctr"/>
                </a:tc>
                <a:tc>
                  <a:txBody>
                    <a:bodyPr/>
                    <a:lstStyle/>
                    <a:p>
                      <a:pPr algn="ctr">
                        <a:buNone/>
                      </a:pPr>
                      <a:r>
                        <a:rPr lang="en-US"/>
                        <a:t>9.605</a:t>
                      </a:r>
                    </a:p>
                  </a:txBody>
                  <a:tcPr anchor="ctr"/>
                </a:tc>
                <a:tc>
                  <a:txBody>
                    <a:bodyPr/>
                    <a:lstStyle/>
                    <a:p>
                      <a:pPr algn="ctr">
                        <a:buNone/>
                      </a:pPr>
                      <a:r>
                        <a:rPr lang="en-US"/>
                        <a:t>9.014</a:t>
                      </a:r>
                    </a:p>
                  </a:txBody>
                  <a:tcPr anchor="ctr"/>
                </a:tc>
                <a:tc>
                  <a:txBody>
                    <a:bodyPr/>
                    <a:lstStyle/>
                    <a:p>
                      <a:pPr algn="ctr">
                        <a:buNone/>
                      </a:pPr>
                      <a:r>
                        <a:rPr lang="en-US"/>
                        <a:t>8.515</a:t>
                      </a:r>
                    </a:p>
                  </a:txBody>
                  <a:tcPr anchor="ctr"/>
                </a:tc>
                <a:tc>
                  <a:txBody>
                    <a:bodyPr/>
                    <a:lstStyle/>
                    <a:p>
                      <a:pPr algn="ctr">
                        <a:buNone/>
                      </a:pPr>
                      <a:r>
                        <a:rPr lang="en-US"/>
                        <a:t>8.345</a:t>
                      </a:r>
                    </a:p>
                  </a:txBody>
                  <a:tcPr anchor="ctr"/>
                </a:tc>
                <a:tc>
                  <a:txBody>
                    <a:bodyPr/>
                    <a:lstStyle/>
                    <a:p>
                      <a:pPr algn="ctr">
                        <a:buNone/>
                      </a:pPr>
                      <a:r>
                        <a:rPr lang="en-US"/>
                        <a:t>0.500</a:t>
                      </a:r>
                    </a:p>
                  </a:txBody>
                  <a:tcPr anchor="ctr"/>
                </a:tc>
                <a:tc>
                  <a:txBody>
                    <a:bodyPr/>
                    <a:lstStyle/>
                    <a:p>
                      <a:pPr algn="ctr">
                        <a:buNone/>
                      </a:pPr>
                      <a:r>
                        <a:rPr lang="en-US"/>
                        <a:t>0.000</a:t>
                      </a:r>
                    </a:p>
                  </a:txBody>
                  <a:tcPr anchor="ctr"/>
                </a:tc>
                <a:tc>
                  <a:txBody>
                    <a:bodyPr/>
                    <a:lstStyle/>
                    <a:p>
                      <a:pPr algn="ctr">
                        <a:buNone/>
                      </a:pPr>
                      <a:r>
                        <a:rPr lang="en-US"/>
                        <a:t>0.707</a:t>
                      </a:r>
                    </a:p>
                  </a:txBody>
                  <a:tcPr anchor="ctr"/>
                </a:tc>
                <a:tc>
                  <a:txBody>
                    <a:bodyPr/>
                    <a:lstStyle/>
                    <a:p>
                      <a:pPr algn="ctr">
                        <a:buNone/>
                      </a:pPr>
                      <a:r>
                        <a:rPr lang="en-US"/>
                        <a:t>8.500</a:t>
                      </a:r>
                    </a:p>
                  </a:txBody>
                  <a:tcPr anchor="ctr"/>
                </a:tc>
                <a:tc>
                  <a:txBody>
                    <a:bodyPr/>
                    <a:lstStyle/>
                    <a:p>
                      <a:pPr algn="ctr">
                        <a:buNone/>
                      </a:pPr>
                      <a:r>
                        <a:rPr lang="en-US"/>
                        <a:t>1.414</a:t>
                      </a:r>
                    </a:p>
                  </a:txBody>
                  <a:tcPr anchor="ctr"/>
                </a:tc>
                <a:extLst>
                  <a:ext uri="{0D108BD9-81ED-4DB2-BD59-A6C34878D82A}">
                    <a16:rowId xmlns:a16="http://schemas.microsoft.com/office/drawing/2014/main" val="4204755476"/>
                  </a:ext>
                </a:extLst>
              </a:tr>
              <a:tr h="435327">
                <a:tc>
                  <a:txBody>
                    <a:bodyPr/>
                    <a:lstStyle/>
                    <a:p>
                      <a:pPr algn="l">
                        <a:buNone/>
                      </a:pPr>
                      <a:r>
                        <a:rPr lang="en-US" b="1"/>
                        <a:t>F</a:t>
                      </a:r>
                      <a:endParaRPr lang="en-US"/>
                    </a:p>
                  </a:txBody>
                  <a:tcPr anchor="ctr"/>
                </a:tc>
                <a:tc>
                  <a:txBody>
                    <a:bodyPr/>
                    <a:lstStyle/>
                    <a:p>
                      <a:pPr algn="ctr">
                        <a:buNone/>
                      </a:pPr>
                      <a:r>
                        <a:rPr lang="en-US"/>
                        <a:t>10.308</a:t>
                      </a:r>
                    </a:p>
                  </a:txBody>
                  <a:tcPr anchor="ctr"/>
                </a:tc>
                <a:tc>
                  <a:txBody>
                    <a:bodyPr/>
                    <a:lstStyle/>
                    <a:p>
                      <a:pPr algn="ctr">
                        <a:buNone/>
                      </a:pPr>
                      <a:r>
                        <a:rPr lang="en-US"/>
                        <a:t>9.708</a:t>
                      </a:r>
                    </a:p>
                  </a:txBody>
                  <a:tcPr anchor="ctr"/>
                </a:tc>
                <a:tc>
                  <a:txBody>
                    <a:bodyPr/>
                    <a:lstStyle/>
                    <a:p>
                      <a:pPr algn="ctr">
                        <a:buNone/>
                      </a:pPr>
                      <a:r>
                        <a:rPr lang="en-US"/>
                        <a:t>9.220</a:t>
                      </a:r>
                    </a:p>
                  </a:txBody>
                  <a:tcPr anchor="ctr"/>
                </a:tc>
                <a:tc>
                  <a:txBody>
                    <a:bodyPr/>
                    <a:lstStyle/>
                    <a:p>
                      <a:pPr algn="ctr">
                        <a:buNone/>
                      </a:pPr>
                      <a:r>
                        <a:rPr lang="en-US"/>
                        <a:t>9.052</a:t>
                      </a:r>
                    </a:p>
                  </a:txBody>
                  <a:tcPr anchor="ctr"/>
                </a:tc>
                <a:tc>
                  <a:txBody>
                    <a:bodyPr/>
                    <a:lstStyle/>
                    <a:p>
                      <a:pPr algn="ctr">
                        <a:buNone/>
                      </a:pPr>
                      <a:r>
                        <a:rPr lang="en-US"/>
                        <a:t>1.118</a:t>
                      </a:r>
                    </a:p>
                  </a:txBody>
                  <a:tcPr anchor="ctr"/>
                </a:tc>
                <a:tc>
                  <a:txBody>
                    <a:bodyPr/>
                    <a:lstStyle/>
                    <a:p>
                      <a:pPr algn="ctr">
                        <a:buNone/>
                      </a:pPr>
                      <a:r>
                        <a:rPr lang="en-US"/>
                        <a:t>0.707</a:t>
                      </a:r>
                    </a:p>
                  </a:txBody>
                  <a:tcPr anchor="ctr"/>
                </a:tc>
                <a:tc>
                  <a:txBody>
                    <a:bodyPr/>
                    <a:lstStyle/>
                    <a:p>
                      <a:pPr algn="ctr">
                        <a:buNone/>
                      </a:pPr>
                      <a:r>
                        <a:rPr lang="en-US"/>
                        <a:t>0.000</a:t>
                      </a:r>
                    </a:p>
                  </a:txBody>
                  <a:tcPr anchor="ctr"/>
                </a:tc>
                <a:tc>
                  <a:txBody>
                    <a:bodyPr/>
                    <a:lstStyle/>
                    <a:p>
                      <a:pPr algn="ctr">
                        <a:buNone/>
                      </a:pPr>
                      <a:r>
                        <a:rPr lang="en-US"/>
                        <a:t>9.014</a:t>
                      </a:r>
                    </a:p>
                  </a:txBody>
                  <a:tcPr anchor="ctr"/>
                </a:tc>
                <a:tc>
                  <a:txBody>
                    <a:bodyPr/>
                    <a:lstStyle/>
                    <a:p>
                      <a:pPr algn="ctr">
                        <a:buNone/>
                      </a:pPr>
                      <a:r>
                        <a:rPr lang="en-US"/>
                        <a:t>0.707</a:t>
                      </a:r>
                    </a:p>
                  </a:txBody>
                  <a:tcPr anchor="ctr"/>
                </a:tc>
                <a:extLst>
                  <a:ext uri="{0D108BD9-81ED-4DB2-BD59-A6C34878D82A}">
                    <a16:rowId xmlns:a16="http://schemas.microsoft.com/office/drawing/2014/main" val="2953851408"/>
                  </a:ext>
                </a:extLst>
              </a:tr>
              <a:tr h="435327">
                <a:tc>
                  <a:txBody>
                    <a:bodyPr/>
                    <a:lstStyle/>
                    <a:p>
                      <a:pPr algn="l">
                        <a:buNone/>
                      </a:pPr>
                      <a:r>
                        <a:rPr lang="en-US" b="1"/>
                        <a:t>G</a:t>
                      </a:r>
                      <a:endParaRPr lang="en-US"/>
                    </a:p>
                  </a:txBody>
                  <a:tcPr anchor="ctr"/>
                </a:tc>
                <a:tc>
                  <a:txBody>
                    <a:bodyPr/>
                    <a:lstStyle/>
                    <a:p>
                      <a:pPr algn="ctr">
                        <a:buNone/>
                      </a:pPr>
                      <a:r>
                        <a:rPr lang="en-US"/>
                        <a:t>6.083</a:t>
                      </a:r>
                    </a:p>
                  </a:txBody>
                  <a:tcPr anchor="ctr"/>
                </a:tc>
                <a:tc>
                  <a:txBody>
                    <a:bodyPr/>
                    <a:lstStyle/>
                    <a:p>
                      <a:pPr algn="ctr">
                        <a:buNone/>
                      </a:pPr>
                      <a:r>
                        <a:rPr lang="en-US"/>
                        <a:t>5.099</a:t>
                      </a:r>
                    </a:p>
                  </a:txBody>
                  <a:tcPr anchor="ctr"/>
                </a:tc>
                <a:tc>
                  <a:txBody>
                    <a:bodyPr/>
                    <a:lstStyle/>
                    <a:p>
                      <a:pPr algn="ctr">
                        <a:buNone/>
                      </a:pPr>
                      <a:r>
                        <a:rPr lang="en-US"/>
                        <a:t>5.852</a:t>
                      </a:r>
                    </a:p>
                  </a:txBody>
                  <a:tcPr anchor="ctr"/>
                </a:tc>
                <a:tc>
                  <a:txBody>
                    <a:bodyPr/>
                    <a:lstStyle/>
                    <a:p>
                      <a:pPr algn="ctr">
                        <a:buNone/>
                      </a:pPr>
                      <a:r>
                        <a:rPr lang="en-US"/>
                        <a:t>6.316</a:t>
                      </a:r>
                    </a:p>
                  </a:txBody>
                  <a:tcPr anchor="ctr"/>
                </a:tc>
                <a:tc>
                  <a:txBody>
                    <a:bodyPr/>
                    <a:lstStyle/>
                    <a:p>
                      <a:pPr algn="ctr">
                        <a:buNone/>
                      </a:pPr>
                      <a:r>
                        <a:rPr lang="en-US"/>
                        <a:t>8.000</a:t>
                      </a:r>
                    </a:p>
                  </a:txBody>
                  <a:tcPr anchor="ctr"/>
                </a:tc>
                <a:tc>
                  <a:txBody>
                    <a:bodyPr/>
                    <a:lstStyle/>
                    <a:p>
                      <a:pPr algn="ctr">
                        <a:buNone/>
                      </a:pPr>
                      <a:r>
                        <a:rPr lang="en-US"/>
                        <a:t>8.500</a:t>
                      </a:r>
                    </a:p>
                  </a:txBody>
                  <a:tcPr anchor="ctr"/>
                </a:tc>
                <a:tc>
                  <a:txBody>
                    <a:bodyPr/>
                    <a:lstStyle/>
                    <a:p>
                      <a:pPr algn="ctr">
                        <a:buNone/>
                      </a:pPr>
                      <a:r>
                        <a:rPr lang="en-US"/>
                        <a:t>9.014</a:t>
                      </a:r>
                    </a:p>
                  </a:txBody>
                  <a:tcPr anchor="ctr"/>
                </a:tc>
                <a:tc>
                  <a:txBody>
                    <a:bodyPr/>
                    <a:lstStyle/>
                    <a:p>
                      <a:pPr algn="ctr">
                        <a:buNone/>
                      </a:pPr>
                      <a:r>
                        <a:rPr lang="en-US"/>
                        <a:t>0.000</a:t>
                      </a:r>
                    </a:p>
                  </a:txBody>
                  <a:tcPr anchor="ctr"/>
                </a:tc>
                <a:tc>
                  <a:txBody>
                    <a:bodyPr/>
                    <a:lstStyle/>
                    <a:p>
                      <a:pPr algn="ctr">
                        <a:buNone/>
                      </a:pPr>
                      <a:r>
                        <a:rPr lang="en-US"/>
                        <a:t>9.552</a:t>
                      </a:r>
                    </a:p>
                  </a:txBody>
                  <a:tcPr anchor="ctr"/>
                </a:tc>
                <a:extLst>
                  <a:ext uri="{0D108BD9-81ED-4DB2-BD59-A6C34878D82A}">
                    <a16:rowId xmlns:a16="http://schemas.microsoft.com/office/drawing/2014/main" val="819114625"/>
                  </a:ext>
                </a:extLst>
              </a:tr>
              <a:tr h="435327">
                <a:tc>
                  <a:txBody>
                    <a:bodyPr/>
                    <a:lstStyle/>
                    <a:p>
                      <a:pPr algn="l">
                        <a:buNone/>
                      </a:pPr>
                      <a:r>
                        <a:rPr lang="en-US" b="1"/>
                        <a:t>I</a:t>
                      </a:r>
                      <a:endParaRPr lang="en-US"/>
                    </a:p>
                  </a:txBody>
                  <a:tcPr anchor="ctr"/>
                </a:tc>
                <a:tc>
                  <a:txBody>
                    <a:bodyPr/>
                    <a:lstStyle/>
                    <a:p>
                      <a:pPr algn="ctr">
                        <a:buNone/>
                      </a:pPr>
                      <a:r>
                        <a:rPr lang="en-US"/>
                        <a:t>11.011</a:t>
                      </a:r>
                    </a:p>
                  </a:txBody>
                  <a:tcPr anchor="ctr"/>
                </a:tc>
                <a:tc>
                  <a:txBody>
                    <a:bodyPr/>
                    <a:lstStyle/>
                    <a:p>
                      <a:pPr algn="ctr">
                        <a:buNone/>
                      </a:pPr>
                      <a:r>
                        <a:rPr lang="en-US"/>
                        <a:t>10.404</a:t>
                      </a:r>
                    </a:p>
                  </a:txBody>
                  <a:tcPr anchor="ctr"/>
                </a:tc>
                <a:tc>
                  <a:txBody>
                    <a:bodyPr/>
                    <a:lstStyle/>
                    <a:p>
                      <a:pPr algn="ctr">
                        <a:buNone/>
                      </a:pPr>
                      <a:r>
                        <a:rPr lang="en-US"/>
                        <a:t>9.925</a:t>
                      </a:r>
                    </a:p>
                  </a:txBody>
                  <a:tcPr anchor="ctr"/>
                </a:tc>
                <a:tc>
                  <a:txBody>
                    <a:bodyPr/>
                    <a:lstStyle/>
                    <a:p>
                      <a:pPr algn="ctr">
                        <a:buNone/>
                      </a:pPr>
                      <a:r>
                        <a:rPr lang="en-US"/>
                        <a:t>9.759</a:t>
                      </a:r>
                    </a:p>
                  </a:txBody>
                  <a:tcPr anchor="ctr"/>
                </a:tc>
                <a:tc>
                  <a:txBody>
                    <a:bodyPr/>
                    <a:lstStyle/>
                    <a:p>
                      <a:pPr algn="ctr">
                        <a:buNone/>
                      </a:pPr>
                      <a:r>
                        <a:rPr lang="en-US"/>
                        <a:t>1.803</a:t>
                      </a:r>
                    </a:p>
                  </a:txBody>
                  <a:tcPr anchor="ctr"/>
                </a:tc>
                <a:tc>
                  <a:txBody>
                    <a:bodyPr/>
                    <a:lstStyle/>
                    <a:p>
                      <a:pPr algn="ctr">
                        <a:buNone/>
                      </a:pPr>
                      <a:r>
                        <a:rPr lang="en-US"/>
                        <a:t>1.414</a:t>
                      </a:r>
                    </a:p>
                  </a:txBody>
                  <a:tcPr anchor="ctr"/>
                </a:tc>
                <a:tc>
                  <a:txBody>
                    <a:bodyPr/>
                    <a:lstStyle/>
                    <a:p>
                      <a:pPr algn="ctr">
                        <a:buNone/>
                      </a:pPr>
                      <a:r>
                        <a:rPr lang="en-US"/>
                        <a:t>0.707</a:t>
                      </a:r>
                    </a:p>
                  </a:txBody>
                  <a:tcPr anchor="ctr"/>
                </a:tc>
                <a:tc>
                  <a:txBody>
                    <a:bodyPr/>
                    <a:lstStyle/>
                    <a:p>
                      <a:pPr algn="ctr">
                        <a:buNone/>
                      </a:pPr>
                      <a:r>
                        <a:rPr lang="en-US"/>
                        <a:t>9.552</a:t>
                      </a:r>
                    </a:p>
                  </a:txBody>
                  <a:tcPr anchor="ctr"/>
                </a:tc>
                <a:tc>
                  <a:txBody>
                    <a:bodyPr/>
                    <a:lstStyle/>
                    <a:p>
                      <a:pPr algn="ctr">
                        <a:buNone/>
                      </a:pPr>
                      <a:r>
                        <a:rPr lang="en-US" dirty="0"/>
                        <a:t>0.000</a:t>
                      </a:r>
                    </a:p>
                  </a:txBody>
                  <a:tcPr anchor="ctr"/>
                </a:tc>
                <a:extLst>
                  <a:ext uri="{0D108BD9-81ED-4DB2-BD59-A6C34878D82A}">
                    <a16:rowId xmlns:a16="http://schemas.microsoft.com/office/drawing/2014/main" val="924064075"/>
                  </a:ext>
                </a:extLst>
              </a:tr>
            </a:tbl>
          </a:graphicData>
        </a:graphic>
      </p:graphicFrame>
    </p:spTree>
    <p:extLst>
      <p:ext uri="{BB962C8B-B14F-4D97-AF65-F5344CB8AC3E}">
        <p14:creationId xmlns:p14="http://schemas.microsoft.com/office/powerpoint/2010/main" val="10069663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71099B7-C756-A69B-3989-DEDBADB46B51}"/>
              </a:ext>
            </a:extLst>
          </p:cNvPr>
          <p:cNvGraphicFramePr>
            <a:graphicFrameLocks noGrp="1"/>
          </p:cNvGraphicFramePr>
          <p:nvPr>
            <p:extLst>
              <p:ext uri="{D42A27DB-BD31-4B8C-83A1-F6EECF244321}">
                <p14:modId xmlns:p14="http://schemas.microsoft.com/office/powerpoint/2010/main" val="293998786"/>
              </p:ext>
            </p:extLst>
          </p:nvPr>
        </p:nvGraphicFramePr>
        <p:xfrm>
          <a:off x="881902" y="934360"/>
          <a:ext cx="6176820" cy="4989280"/>
        </p:xfrm>
        <a:graphic>
          <a:graphicData uri="http://schemas.openxmlformats.org/drawingml/2006/table">
            <a:tbl>
              <a:tblPr>
                <a:tableStyleId>{BDBED569-4797-4DF1-A0F4-6AAB3CD982D8}</a:tableStyleId>
              </a:tblPr>
              <a:tblGrid>
                <a:gridCol w="2058940">
                  <a:extLst>
                    <a:ext uri="{9D8B030D-6E8A-4147-A177-3AD203B41FA5}">
                      <a16:colId xmlns:a16="http://schemas.microsoft.com/office/drawing/2014/main" val="2674802862"/>
                    </a:ext>
                  </a:extLst>
                </a:gridCol>
                <a:gridCol w="2058940">
                  <a:extLst>
                    <a:ext uri="{9D8B030D-6E8A-4147-A177-3AD203B41FA5}">
                      <a16:colId xmlns:a16="http://schemas.microsoft.com/office/drawing/2014/main" val="1745797552"/>
                    </a:ext>
                  </a:extLst>
                </a:gridCol>
                <a:gridCol w="2058940">
                  <a:extLst>
                    <a:ext uri="{9D8B030D-6E8A-4147-A177-3AD203B41FA5}">
                      <a16:colId xmlns:a16="http://schemas.microsoft.com/office/drawing/2014/main" val="395905544"/>
                    </a:ext>
                  </a:extLst>
                </a:gridCol>
              </a:tblGrid>
              <a:tr h="271959">
                <a:tc>
                  <a:txBody>
                    <a:bodyPr/>
                    <a:lstStyle/>
                    <a:p>
                      <a:pPr algn="ctr">
                        <a:buNone/>
                      </a:pPr>
                      <a:r>
                        <a:rPr lang="en-US" sz="1600"/>
                        <a:t>Customer</a:t>
                      </a:r>
                    </a:p>
                  </a:txBody>
                  <a:tcPr marL="67990" marR="67990" marT="33995" marB="33995" anchor="ctr"/>
                </a:tc>
                <a:tc>
                  <a:txBody>
                    <a:bodyPr/>
                    <a:lstStyle/>
                    <a:p>
                      <a:pPr algn="ctr">
                        <a:buNone/>
                      </a:pPr>
                      <a:r>
                        <a:rPr lang="en-US" sz="1600"/>
                        <a:t>Session Duration (min)</a:t>
                      </a:r>
                    </a:p>
                  </a:txBody>
                  <a:tcPr marL="67990" marR="67990" marT="33995" marB="33995" anchor="ctr"/>
                </a:tc>
                <a:tc>
                  <a:txBody>
                    <a:bodyPr/>
                    <a:lstStyle/>
                    <a:p>
                      <a:pPr algn="ctr">
                        <a:buNone/>
                      </a:pPr>
                      <a:r>
                        <a:rPr lang="en-US" sz="1600"/>
                        <a:t>Sessions / Week</a:t>
                      </a:r>
                    </a:p>
                  </a:txBody>
                  <a:tcPr marL="67990" marR="67990" marT="33995" marB="33995" anchor="ctr"/>
                </a:tc>
                <a:extLst>
                  <a:ext uri="{0D108BD9-81ED-4DB2-BD59-A6C34878D82A}">
                    <a16:rowId xmlns:a16="http://schemas.microsoft.com/office/drawing/2014/main" val="3403503706"/>
                  </a:ext>
                </a:extLst>
              </a:tr>
              <a:tr h="271959">
                <a:tc>
                  <a:txBody>
                    <a:bodyPr/>
                    <a:lstStyle/>
                    <a:p>
                      <a:pPr algn="ctr">
                        <a:buNone/>
                      </a:pPr>
                      <a:r>
                        <a:rPr lang="en-US" sz="1600"/>
                        <a:t>U1</a:t>
                      </a:r>
                    </a:p>
                  </a:txBody>
                  <a:tcPr marL="67990" marR="67990" marT="33995" marB="33995" anchor="ctr"/>
                </a:tc>
                <a:tc>
                  <a:txBody>
                    <a:bodyPr/>
                    <a:lstStyle/>
                    <a:p>
                      <a:pPr algn="ctr">
                        <a:buNone/>
                      </a:pPr>
                      <a:r>
                        <a:rPr lang="en-US" sz="1600"/>
                        <a:t>30</a:t>
                      </a:r>
                    </a:p>
                  </a:txBody>
                  <a:tcPr marL="67990" marR="67990" marT="33995" marB="33995" anchor="ctr"/>
                </a:tc>
                <a:tc>
                  <a:txBody>
                    <a:bodyPr/>
                    <a:lstStyle/>
                    <a:p>
                      <a:pPr algn="ctr">
                        <a:buNone/>
                      </a:pPr>
                      <a:r>
                        <a:rPr lang="en-US" sz="1600"/>
                        <a:t>8</a:t>
                      </a:r>
                    </a:p>
                  </a:txBody>
                  <a:tcPr marL="67990" marR="67990" marT="33995" marB="33995" anchor="ctr"/>
                </a:tc>
                <a:extLst>
                  <a:ext uri="{0D108BD9-81ED-4DB2-BD59-A6C34878D82A}">
                    <a16:rowId xmlns:a16="http://schemas.microsoft.com/office/drawing/2014/main" val="350596452"/>
                  </a:ext>
                </a:extLst>
              </a:tr>
              <a:tr h="271959">
                <a:tc>
                  <a:txBody>
                    <a:bodyPr/>
                    <a:lstStyle/>
                    <a:p>
                      <a:pPr algn="ctr">
                        <a:buNone/>
                      </a:pPr>
                      <a:r>
                        <a:rPr lang="en-US" sz="1600"/>
                        <a:t>U2</a:t>
                      </a:r>
                    </a:p>
                  </a:txBody>
                  <a:tcPr marL="67990" marR="67990" marT="33995" marB="33995" anchor="ctr"/>
                </a:tc>
                <a:tc>
                  <a:txBody>
                    <a:bodyPr/>
                    <a:lstStyle/>
                    <a:p>
                      <a:pPr algn="ctr">
                        <a:buNone/>
                      </a:pPr>
                      <a:r>
                        <a:rPr lang="en-US" sz="1600"/>
                        <a:t>32</a:t>
                      </a:r>
                    </a:p>
                  </a:txBody>
                  <a:tcPr marL="67990" marR="67990" marT="33995" marB="33995" anchor="ctr"/>
                </a:tc>
                <a:tc>
                  <a:txBody>
                    <a:bodyPr/>
                    <a:lstStyle/>
                    <a:p>
                      <a:pPr algn="ctr">
                        <a:buNone/>
                      </a:pPr>
                      <a:r>
                        <a:rPr lang="en-US" sz="1600"/>
                        <a:t>9</a:t>
                      </a:r>
                    </a:p>
                  </a:txBody>
                  <a:tcPr marL="67990" marR="67990" marT="33995" marB="33995" anchor="ctr"/>
                </a:tc>
                <a:extLst>
                  <a:ext uri="{0D108BD9-81ED-4DB2-BD59-A6C34878D82A}">
                    <a16:rowId xmlns:a16="http://schemas.microsoft.com/office/drawing/2014/main" val="376272878"/>
                  </a:ext>
                </a:extLst>
              </a:tr>
              <a:tr h="271959">
                <a:tc>
                  <a:txBody>
                    <a:bodyPr/>
                    <a:lstStyle/>
                    <a:p>
                      <a:pPr algn="ctr">
                        <a:buNone/>
                      </a:pPr>
                      <a:r>
                        <a:rPr lang="en-US" sz="1600"/>
                        <a:t>U3</a:t>
                      </a:r>
                    </a:p>
                  </a:txBody>
                  <a:tcPr marL="67990" marR="67990" marT="33995" marB="33995" anchor="ctr"/>
                </a:tc>
                <a:tc>
                  <a:txBody>
                    <a:bodyPr/>
                    <a:lstStyle/>
                    <a:p>
                      <a:pPr algn="ctr">
                        <a:buNone/>
                      </a:pPr>
                      <a:r>
                        <a:rPr lang="en-US" sz="1600"/>
                        <a:t>29</a:t>
                      </a:r>
                    </a:p>
                  </a:txBody>
                  <a:tcPr marL="67990" marR="67990" marT="33995" marB="33995" anchor="ctr"/>
                </a:tc>
                <a:tc>
                  <a:txBody>
                    <a:bodyPr/>
                    <a:lstStyle/>
                    <a:p>
                      <a:pPr algn="ctr">
                        <a:buNone/>
                      </a:pPr>
                      <a:r>
                        <a:rPr lang="en-US" sz="1600"/>
                        <a:t>7</a:t>
                      </a:r>
                    </a:p>
                  </a:txBody>
                  <a:tcPr marL="67990" marR="67990" marT="33995" marB="33995" anchor="ctr"/>
                </a:tc>
                <a:extLst>
                  <a:ext uri="{0D108BD9-81ED-4DB2-BD59-A6C34878D82A}">
                    <a16:rowId xmlns:a16="http://schemas.microsoft.com/office/drawing/2014/main" val="2191693184"/>
                  </a:ext>
                </a:extLst>
              </a:tr>
              <a:tr h="271959">
                <a:tc>
                  <a:txBody>
                    <a:bodyPr/>
                    <a:lstStyle/>
                    <a:p>
                      <a:pPr algn="ctr">
                        <a:buNone/>
                      </a:pPr>
                      <a:r>
                        <a:rPr lang="en-US" sz="1600"/>
                        <a:t>U4</a:t>
                      </a:r>
                    </a:p>
                  </a:txBody>
                  <a:tcPr marL="67990" marR="67990" marT="33995" marB="33995" anchor="ctr"/>
                </a:tc>
                <a:tc>
                  <a:txBody>
                    <a:bodyPr/>
                    <a:lstStyle/>
                    <a:p>
                      <a:pPr algn="ctr">
                        <a:buNone/>
                      </a:pPr>
                      <a:r>
                        <a:rPr lang="en-US" sz="1600"/>
                        <a:t>31</a:t>
                      </a:r>
                    </a:p>
                  </a:txBody>
                  <a:tcPr marL="67990" marR="67990" marT="33995" marB="33995" anchor="ctr"/>
                </a:tc>
                <a:tc>
                  <a:txBody>
                    <a:bodyPr/>
                    <a:lstStyle/>
                    <a:p>
                      <a:pPr algn="ctr">
                        <a:buNone/>
                      </a:pPr>
                      <a:r>
                        <a:rPr lang="en-US" sz="1600"/>
                        <a:t>8</a:t>
                      </a:r>
                    </a:p>
                  </a:txBody>
                  <a:tcPr marL="67990" marR="67990" marT="33995" marB="33995" anchor="ctr"/>
                </a:tc>
                <a:extLst>
                  <a:ext uri="{0D108BD9-81ED-4DB2-BD59-A6C34878D82A}">
                    <a16:rowId xmlns:a16="http://schemas.microsoft.com/office/drawing/2014/main" val="3186349994"/>
                  </a:ext>
                </a:extLst>
              </a:tr>
              <a:tr h="271959">
                <a:tc>
                  <a:txBody>
                    <a:bodyPr/>
                    <a:lstStyle/>
                    <a:p>
                      <a:pPr algn="ctr">
                        <a:buNone/>
                      </a:pPr>
                      <a:r>
                        <a:rPr lang="en-US" sz="1600"/>
                        <a:t>U5</a:t>
                      </a:r>
                    </a:p>
                  </a:txBody>
                  <a:tcPr marL="67990" marR="67990" marT="33995" marB="33995" anchor="ctr"/>
                </a:tc>
                <a:tc>
                  <a:txBody>
                    <a:bodyPr/>
                    <a:lstStyle/>
                    <a:p>
                      <a:pPr algn="ctr">
                        <a:buNone/>
                      </a:pPr>
                      <a:r>
                        <a:rPr lang="en-US" sz="1600"/>
                        <a:t>33</a:t>
                      </a:r>
                    </a:p>
                  </a:txBody>
                  <a:tcPr marL="67990" marR="67990" marT="33995" marB="33995" anchor="ctr"/>
                </a:tc>
                <a:tc>
                  <a:txBody>
                    <a:bodyPr/>
                    <a:lstStyle/>
                    <a:p>
                      <a:pPr algn="ctr">
                        <a:buNone/>
                      </a:pPr>
                      <a:r>
                        <a:rPr lang="en-US" sz="1600"/>
                        <a:t>9</a:t>
                      </a:r>
                    </a:p>
                  </a:txBody>
                  <a:tcPr marL="67990" marR="67990" marT="33995" marB="33995" anchor="ctr"/>
                </a:tc>
                <a:extLst>
                  <a:ext uri="{0D108BD9-81ED-4DB2-BD59-A6C34878D82A}">
                    <a16:rowId xmlns:a16="http://schemas.microsoft.com/office/drawing/2014/main" val="183944646"/>
                  </a:ext>
                </a:extLst>
              </a:tr>
              <a:tr h="271959">
                <a:tc>
                  <a:txBody>
                    <a:bodyPr/>
                    <a:lstStyle/>
                    <a:p>
                      <a:pPr algn="ctr">
                        <a:buNone/>
                      </a:pPr>
                      <a:r>
                        <a:rPr lang="en-US" sz="1600"/>
                        <a:t>U6</a:t>
                      </a:r>
                    </a:p>
                  </a:txBody>
                  <a:tcPr marL="67990" marR="67990" marT="33995" marB="33995" anchor="ctr"/>
                </a:tc>
                <a:tc>
                  <a:txBody>
                    <a:bodyPr/>
                    <a:lstStyle/>
                    <a:p>
                      <a:pPr algn="ctr">
                        <a:buNone/>
                      </a:pPr>
                      <a:r>
                        <a:rPr lang="en-US" sz="1600"/>
                        <a:t>60</a:t>
                      </a:r>
                    </a:p>
                  </a:txBody>
                  <a:tcPr marL="67990" marR="67990" marT="33995" marB="33995" anchor="ctr"/>
                </a:tc>
                <a:tc>
                  <a:txBody>
                    <a:bodyPr/>
                    <a:lstStyle/>
                    <a:p>
                      <a:pPr algn="ctr">
                        <a:buNone/>
                      </a:pPr>
                      <a:r>
                        <a:rPr lang="en-US" sz="1600"/>
                        <a:t>15</a:t>
                      </a:r>
                    </a:p>
                  </a:txBody>
                  <a:tcPr marL="67990" marR="67990" marT="33995" marB="33995" anchor="ctr"/>
                </a:tc>
                <a:extLst>
                  <a:ext uri="{0D108BD9-81ED-4DB2-BD59-A6C34878D82A}">
                    <a16:rowId xmlns:a16="http://schemas.microsoft.com/office/drawing/2014/main" val="787073600"/>
                  </a:ext>
                </a:extLst>
              </a:tr>
              <a:tr h="271959">
                <a:tc>
                  <a:txBody>
                    <a:bodyPr/>
                    <a:lstStyle/>
                    <a:p>
                      <a:pPr algn="ctr">
                        <a:buNone/>
                      </a:pPr>
                      <a:r>
                        <a:rPr lang="en-US" sz="1600"/>
                        <a:t>U7</a:t>
                      </a:r>
                    </a:p>
                  </a:txBody>
                  <a:tcPr marL="67990" marR="67990" marT="33995" marB="33995" anchor="ctr"/>
                </a:tc>
                <a:tc>
                  <a:txBody>
                    <a:bodyPr/>
                    <a:lstStyle/>
                    <a:p>
                      <a:pPr algn="ctr">
                        <a:buNone/>
                      </a:pPr>
                      <a:r>
                        <a:rPr lang="en-US" sz="1600"/>
                        <a:t>62</a:t>
                      </a:r>
                    </a:p>
                  </a:txBody>
                  <a:tcPr marL="67990" marR="67990" marT="33995" marB="33995" anchor="ctr"/>
                </a:tc>
                <a:tc>
                  <a:txBody>
                    <a:bodyPr/>
                    <a:lstStyle/>
                    <a:p>
                      <a:pPr algn="ctr">
                        <a:buNone/>
                      </a:pPr>
                      <a:r>
                        <a:rPr lang="en-US" sz="1600"/>
                        <a:t>14</a:t>
                      </a:r>
                    </a:p>
                  </a:txBody>
                  <a:tcPr marL="67990" marR="67990" marT="33995" marB="33995" anchor="ctr"/>
                </a:tc>
                <a:extLst>
                  <a:ext uri="{0D108BD9-81ED-4DB2-BD59-A6C34878D82A}">
                    <a16:rowId xmlns:a16="http://schemas.microsoft.com/office/drawing/2014/main" val="669914321"/>
                  </a:ext>
                </a:extLst>
              </a:tr>
              <a:tr h="271959">
                <a:tc>
                  <a:txBody>
                    <a:bodyPr/>
                    <a:lstStyle/>
                    <a:p>
                      <a:pPr algn="ctr">
                        <a:buNone/>
                      </a:pPr>
                      <a:r>
                        <a:rPr lang="en-US" sz="1600"/>
                        <a:t>U8</a:t>
                      </a:r>
                    </a:p>
                  </a:txBody>
                  <a:tcPr marL="67990" marR="67990" marT="33995" marB="33995" anchor="ctr"/>
                </a:tc>
                <a:tc>
                  <a:txBody>
                    <a:bodyPr/>
                    <a:lstStyle/>
                    <a:p>
                      <a:pPr algn="ctr">
                        <a:buNone/>
                      </a:pPr>
                      <a:r>
                        <a:rPr lang="en-US" sz="1600"/>
                        <a:t>58</a:t>
                      </a:r>
                    </a:p>
                  </a:txBody>
                  <a:tcPr marL="67990" marR="67990" marT="33995" marB="33995" anchor="ctr"/>
                </a:tc>
                <a:tc>
                  <a:txBody>
                    <a:bodyPr/>
                    <a:lstStyle/>
                    <a:p>
                      <a:pPr algn="ctr">
                        <a:buNone/>
                      </a:pPr>
                      <a:r>
                        <a:rPr lang="en-US" sz="1600"/>
                        <a:t>16</a:t>
                      </a:r>
                    </a:p>
                  </a:txBody>
                  <a:tcPr marL="67990" marR="67990" marT="33995" marB="33995" anchor="ctr"/>
                </a:tc>
                <a:extLst>
                  <a:ext uri="{0D108BD9-81ED-4DB2-BD59-A6C34878D82A}">
                    <a16:rowId xmlns:a16="http://schemas.microsoft.com/office/drawing/2014/main" val="231797723"/>
                  </a:ext>
                </a:extLst>
              </a:tr>
              <a:tr h="271959">
                <a:tc>
                  <a:txBody>
                    <a:bodyPr/>
                    <a:lstStyle/>
                    <a:p>
                      <a:pPr algn="ctr">
                        <a:buNone/>
                      </a:pPr>
                      <a:r>
                        <a:rPr lang="en-US" sz="1600"/>
                        <a:t>U9</a:t>
                      </a:r>
                    </a:p>
                  </a:txBody>
                  <a:tcPr marL="67990" marR="67990" marT="33995" marB="33995" anchor="ctr"/>
                </a:tc>
                <a:tc>
                  <a:txBody>
                    <a:bodyPr/>
                    <a:lstStyle/>
                    <a:p>
                      <a:pPr algn="ctr">
                        <a:buNone/>
                      </a:pPr>
                      <a:r>
                        <a:rPr lang="en-US" sz="1600"/>
                        <a:t>61</a:t>
                      </a:r>
                    </a:p>
                  </a:txBody>
                  <a:tcPr marL="67990" marR="67990" marT="33995" marB="33995" anchor="ctr"/>
                </a:tc>
                <a:tc>
                  <a:txBody>
                    <a:bodyPr/>
                    <a:lstStyle/>
                    <a:p>
                      <a:pPr algn="ctr">
                        <a:buNone/>
                      </a:pPr>
                      <a:r>
                        <a:rPr lang="en-US" sz="1600"/>
                        <a:t>15</a:t>
                      </a:r>
                    </a:p>
                  </a:txBody>
                  <a:tcPr marL="67990" marR="67990" marT="33995" marB="33995" anchor="ctr"/>
                </a:tc>
                <a:extLst>
                  <a:ext uri="{0D108BD9-81ED-4DB2-BD59-A6C34878D82A}">
                    <a16:rowId xmlns:a16="http://schemas.microsoft.com/office/drawing/2014/main" val="1684895305"/>
                  </a:ext>
                </a:extLst>
              </a:tr>
              <a:tr h="271959">
                <a:tc>
                  <a:txBody>
                    <a:bodyPr/>
                    <a:lstStyle/>
                    <a:p>
                      <a:pPr algn="ctr">
                        <a:buNone/>
                      </a:pPr>
                      <a:r>
                        <a:rPr lang="en-US" sz="1600"/>
                        <a:t>U10</a:t>
                      </a:r>
                    </a:p>
                  </a:txBody>
                  <a:tcPr marL="67990" marR="67990" marT="33995" marB="33995" anchor="ctr"/>
                </a:tc>
                <a:tc>
                  <a:txBody>
                    <a:bodyPr/>
                    <a:lstStyle/>
                    <a:p>
                      <a:pPr algn="ctr">
                        <a:buNone/>
                      </a:pPr>
                      <a:r>
                        <a:rPr lang="en-US" sz="1600"/>
                        <a:t>63</a:t>
                      </a:r>
                    </a:p>
                  </a:txBody>
                  <a:tcPr marL="67990" marR="67990" marT="33995" marB="33995" anchor="ctr"/>
                </a:tc>
                <a:tc>
                  <a:txBody>
                    <a:bodyPr/>
                    <a:lstStyle/>
                    <a:p>
                      <a:pPr algn="ctr">
                        <a:buNone/>
                      </a:pPr>
                      <a:r>
                        <a:rPr lang="en-US" sz="1600"/>
                        <a:t>14</a:t>
                      </a:r>
                    </a:p>
                  </a:txBody>
                  <a:tcPr marL="67990" marR="67990" marT="33995" marB="33995" anchor="ctr"/>
                </a:tc>
                <a:extLst>
                  <a:ext uri="{0D108BD9-81ED-4DB2-BD59-A6C34878D82A}">
                    <a16:rowId xmlns:a16="http://schemas.microsoft.com/office/drawing/2014/main" val="1803848520"/>
                  </a:ext>
                </a:extLst>
              </a:tr>
              <a:tr h="271959">
                <a:tc>
                  <a:txBody>
                    <a:bodyPr/>
                    <a:lstStyle/>
                    <a:p>
                      <a:pPr algn="ctr">
                        <a:buNone/>
                      </a:pPr>
                      <a:r>
                        <a:rPr lang="en-US" sz="1600"/>
                        <a:t>U11</a:t>
                      </a:r>
                    </a:p>
                  </a:txBody>
                  <a:tcPr marL="67990" marR="67990" marT="33995" marB="33995" anchor="ctr"/>
                </a:tc>
                <a:tc>
                  <a:txBody>
                    <a:bodyPr/>
                    <a:lstStyle/>
                    <a:p>
                      <a:pPr algn="ctr">
                        <a:buNone/>
                      </a:pPr>
                      <a:r>
                        <a:rPr lang="en-US" sz="1600"/>
                        <a:t>15</a:t>
                      </a:r>
                    </a:p>
                  </a:txBody>
                  <a:tcPr marL="67990" marR="67990" marT="33995" marB="33995" anchor="ctr"/>
                </a:tc>
                <a:tc>
                  <a:txBody>
                    <a:bodyPr/>
                    <a:lstStyle/>
                    <a:p>
                      <a:pPr algn="ctr">
                        <a:buNone/>
                      </a:pPr>
                      <a:r>
                        <a:rPr lang="en-US" sz="1600"/>
                        <a:t>3</a:t>
                      </a:r>
                    </a:p>
                  </a:txBody>
                  <a:tcPr marL="67990" marR="67990" marT="33995" marB="33995" anchor="ctr"/>
                </a:tc>
                <a:extLst>
                  <a:ext uri="{0D108BD9-81ED-4DB2-BD59-A6C34878D82A}">
                    <a16:rowId xmlns:a16="http://schemas.microsoft.com/office/drawing/2014/main" val="4057868192"/>
                  </a:ext>
                </a:extLst>
              </a:tr>
              <a:tr h="271959">
                <a:tc>
                  <a:txBody>
                    <a:bodyPr/>
                    <a:lstStyle/>
                    <a:p>
                      <a:pPr algn="ctr">
                        <a:buNone/>
                      </a:pPr>
                      <a:r>
                        <a:rPr lang="en-US" sz="1600"/>
                        <a:t>U12</a:t>
                      </a:r>
                    </a:p>
                  </a:txBody>
                  <a:tcPr marL="67990" marR="67990" marT="33995" marB="33995" anchor="ctr"/>
                </a:tc>
                <a:tc>
                  <a:txBody>
                    <a:bodyPr/>
                    <a:lstStyle/>
                    <a:p>
                      <a:pPr algn="ctr">
                        <a:buNone/>
                      </a:pPr>
                      <a:r>
                        <a:rPr lang="en-US" sz="1600"/>
                        <a:t>16</a:t>
                      </a:r>
                    </a:p>
                  </a:txBody>
                  <a:tcPr marL="67990" marR="67990" marT="33995" marB="33995" anchor="ctr"/>
                </a:tc>
                <a:tc>
                  <a:txBody>
                    <a:bodyPr/>
                    <a:lstStyle/>
                    <a:p>
                      <a:pPr algn="ctr">
                        <a:buNone/>
                      </a:pPr>
                      <a:r>
                        <a:rPr lang="en-US" sz="1600"/>
                        <a:t>4</a:t>
                      </a:r>
                    </a:p>
                  </a:txBody>
                  <a:tcPr marL="67990" marR="67990" marT="33995" marB="33995" anchor="ctr"/>
                </a:tc>
                <a:extLst>
                  <a:ext uri="{0D108BD9-81ED-4DB2-BD59-A6C34878D82A}">
                    <a16:rowId xmlns:a16="http://schemas.microsoft.com/office/drawing/2014/main" val="2366501902"/>
                  </a:ext>
                </a:extLst>
              </a:tr>
              <a:tr h="271959">
                <a:tc>
                  <a:txBody>
                    <a:bodyPr/>
                    <a:lstStyle/>
                    <a:p>
                      <a:pPr algn="ctr">
                        <a:buNone/>
                      </a:pPr>
                      <a:r>
                        <a:rPr lang="en-US" sz="1600"/>
                        <a:t>U13</a:t>
                      </a:r>
                    </a:p>
                  </a:txBody>
                  <a:tcPr marL="67990" marR="67990" marT="33995" marB="33995" anchor="ctr"/>
                </a:tc>
                <a:tc>
                  <a:txBody>
                    <a:bodyPr/>
                    <a:lstStyle/>
                    <a:p>
                      <a:pPr algn="ctr">
                        <a:buNone/>
                      </a:pPr>
                      <a:r>
                        <a:rPr lang="en-US" sz="1600"/>
                        <a:t>14</a:t>
                      </a:r>
                    </a:p>
                  </a:txBody>
                  <a:tcPr marL="67990" marR="67990" marT="33995" marB="33995" anchor="ctr"/>
                </a:tc>
                <a:tc>
                  <a:txBody>
                    <a:bodyPr/>
                    <a:lstStyle/>
                    <a:p>
                      <a:pPr algn="ctr">
                        <a:buNone/>
                      </a:pPr>
                      <a:r>
                        <a:rPr lang="en-US" sz="1600"/>
                        <a:t>3</a:t>
                      </a:r>
                    </a:p>
                  </a:txBody>
                  <a:tcPr marL="67990" marR="67990" marT="33995" marB="33995" anchor="ctr"/>
                </a:tc>
                <a:extLst>
                  <a:ext uri="{0D108BD9-81ED-4DB2-BD59-A6C34878D82A}">
                    <a16:rowId xmlns:a16="http://schemas.microsoft.com/office/drawing/2014/main" val="3991345335"/>
                  </a:ext>
                </a:extLst>
              </a:tr>
              <a:tr h="271959">
                <a:tc>
                  <a:txBody>
                    <a:bodyPr/>
                    <a:lstStyle/>
                    <a:p>
                      <a:pPr algn="ctr">
                        <a:buNone/>
                      </a:pPr>
                      <a:r>
                        <a:rPr lang="en-US" sz="1600"/>
                        <a:t>U14</a:t>
                      </a:r>
                    </a:p>
                  </a:txBody>
                  <a:tcPr marL="67990" marR="67990" marT="33995" marB="33995" anchor="ctr"/>
                </a:tc>
                <a:tc>
                  <a:txBody>
                    <a:bodyPr/>
                    <a:lstStyle/>
                    <a:p>
                      <a:pPr algn="ctr">
                        <a:buNone/>
                      </a:pPr>
                      <a:r>
                        <a:rPr lang="en-US" sz="1600"/>
                        <a:t>45</a:t>
                      </a:r>
                    </a:p>
                  </a:txBody>
                  <a:tcPr marL="67990" marR="67990" marT="33995" marB="33995" anchor="ctr"/>
                </a:tc>
                <a:tc>
                  <a:txBody>
                    <a:bodyPr/>
                    <a:lstStyle/>
                    <a:p>
                      <a:pPr algn="ctr">
                        <a:buNone/>
                      </a:pPr>
                      <a:r>
                        <a:rPr lang="en-US" sz="1600"/>
                        <a:t>10</a:t>
                      </a:r>
                    </a:p>
                  </a:txBody>
                  <a:tcPr marL="67990" marR="67990" marT="33995" marB="33995" anchor="ctr"/>
                </a:tc>
                <a:extLst>
                  <a:ext uri="{0D108BD9-81ED-4DB2-BD59-A6C34878D82A}">
                    <a16:rowId xmlns:a16="http://schemas.microsoft.com/office/drawing/2014/main" val="3116479953"/>
                  </a:ext>
                </a:extLst>
              </a:tr>
              <a:tr h="271959">
                <a:tc>
                  <a:txBody>
                    <a:bodyPr/>
                    <a:lstStyle/>
                    <a:p>
                      <a:pPr algn="ctr">
                        <a:buNone/>
                      </a:pPr>
                      <a:r>
                        <a:rPr lang="en-US" sz="1600"/>
                        <a:t>U15</a:t>
                      </a:r>
                    </a:p>
                  </a:txBody>
                  <a:tcPr marL="67990" marR="67990" marT="33995" marB="33995" anchor="ctr"/>
                </a:tc>
                <a:tc>
                  <a:txBody>
                    <a:bodyPr/>
                    <a:lstStyle/>
                    <a:p>
                      <a:pPr algn="ctr">
                        <a:buNone/>
                      </a:pPr>
                      <a:r>
                        <a:rPr lang="en-US" sz="1600"/>
                        <a:t>90</a:t>
                      </a:r>
                    </a:p>
                  </a:txBody>
                  <a:tcPr marL="67990" marR="67990" marT="33995" marB="33995" anchor="ctr"/>
                </a:tc>
                <a:tc>
                  <a:txBody>
                    <a:bodyPr/>
                    <a:lstStyle/>
                    <a:p>
                      <a:pPr algn="ctr">
                        <a:buNone/>
                      </a:pPr>
                      <a:r>
                        <a:rPr lang="en-US" sz="1600" dirty="0"/>
                        <a:t>2</a:t>
                      </a:r>
                    </a:p>
                  </a:txBody>
                  <a:tcPr marL="67990" marR="67990" marT="33995" marB="33995" anchor="ctr"/>
                </a:tc>
                <a:extLst>
                  <a:ext uri="{0D108BD9-81ED-4DB2-BD59-A6C34878D82A}">
                    <a16:rowId xmlns:a16="http://schemas.microsoft.com/office/drawing/2014/main" val="1109980744"/>
                  </a:ext>
                </a:extLst>
              </a:tr>
            </a:tbl>
          </a:graphicData>
        </a:graphic>
      </p:graphicFrame>
      <p:sp>
        <p:nvSpPr>
          <p:cNvPr id="5" name="TextBox 4">
            <a:extLst>
              <a:ext uri="{FF2B5EF4-FFF2-40B4-BE49-F238E27FC236}">
                <a16:creationId xmlns:a16="http://schemas.microsoft.com/office/drawing/2014/main" id="{9436FCA2-86BC-D357-AE06-0C8DC699A5FB}"/>
              </a:ext>
            </a:extLst>
          </p:cNvPr>
          <p:cNvSpPr txBox="1"/>
          <p:nvPr/>
        </p:nvSpPr>
        <p:spPr>
          <a:xfrm>
            <a:off x="7348654" y="934360"/>
            <a:ext cx="4282068" cy="4247317"/>
          </a:xfrm>
          <a:prstGeom prst="rect">
            <a:avLst/>
          </a:prstGeom>
          <a:noFill/>
        </p:spPr>
        <p:txBody>
          <a:bodyPr wrap="square" rtlCol="0">
            <a:spAutoFit/>
          </a:bodyPr>
          <a:lstStyle/>
          <a:p>
            <a:r>
              <a:rPr lang="en-US" dirty="0"/>
              <a:t>An </a:t>
            </a:r>
            <a:r>
              <a:rPr lang="en-US" b="1" dirty="0"/>
              <a:t>e-commerce company</a:t>
            </a:r>
            <a:r>
              <a:rPr lang="en-US" dirty="0"/>
              <a:t> wants to analyze </a:t>
            </a:r>
            <a:r>
              <a:rPr lang="en-US" b="1" dirty="0"/>
              <a:t>user activity patterns</a:t>
            </a:r>
            <a:r>
              <a:rPr lang="en-US" dirty="0"/>
              <a:t> on its platform to identify </a:t>
            </a:r>
            <a:r>
              <a:rPr lang="en-US" b="1" dirty="0"/>
              <a:t>dense engagement zones</a:t>
            </a:r>
            <a:r>
              <a:rPr lang="en-US" dirty="0"/>
              <a:t> and detect </a:t>
            </a:r>
            <a:r>
              <a:rPr lang="en-US" b="1" dirty="0"/>
              <a:t>inactive or abnormal users</a:t>
            </a:r>
            <a:r>
              <a:rPr lang="en-US" dirty="0"/>
              <a:t>.</a:t>
            </a:r>
          </a:p>
          <a:p>
            <a:br>
              <a:rPr lang="en-US" dirty="0"/>
            </a:br>
            <a:r>
              <a:rPr lang="en-US" dirty="0"/>
              <a:t>Each data point represents a customer summarized by two behavioral features:</a:t>
            </a:r>
          </a:p>
          <a:p>
            <a:r>
              <a:rPr lang="en-US" b="1" dirty="0"/>
              <a:t>Average Session Duration (minutes)</a:t>
            </a:r>
            <a:endParaRPr lang="en-US" dirty="0"/>
          </a:p>
          <a:p>
            <a:r>
              <a:rPr lang="en-US" b="1" dirty="0"/>
              <a:t>Number of Sessions per Week</a:t>
            </a:r>
          </a:p>
          <a:p>
            <a:endParaRPr lang="en-US" b="1" dirty="0"/>
          </a:p>
          <a:p>
            <a:r>
              <a:rPr lang="en-US" dirty="0"/>
              <a:t>DBSCAN Parameters</a:t>
            </a:r>
          </a:p>
          <a:p>
            <a:pPr marL="285750" indent="-285750">
              <a:buFont typeface="Arial" panose="020B0604020202020204" pitchFamily="34" charset="0"/>
              <a:buChar char="•"/>
            </a:pPr>
            <a:r>
              <a:rPr lang="el-GR" dirty="0"/>
              <a:t>ε (</a:t>
            </a:r>
            <a:r>
              <a:rPr lang="en-US" dirty="0"/>
              <a:t>epsilon) = 3</a:t>
            </a:r>
          </a:p>
          <a:p>
            <a:pPr marL="285750" indent="-285750">
              <a:buFont typeface="Arial" panose="020B0604020202020204" pitchFamily="34" charset="0"/>
              <a:buChar char="•"/>
            </a:pPr>
            <a:r>
              <a:rPr lang="en-US" dirty="0" err="1"/>
              <a:t>MinPts</a:t>
            </a:r>
            <a:r>
              <a:rPr lang="en-US" dirty="0"/>
              <a:t> = 4</a:t>
            </a:r>
          </a:p>
          <a:p>
            <a:r>
              <a:rPr lang="en-US" dirty="0"/>
              <a:t>Distance metric: Euclidean distance</a:t>
            </a:r>
          </a:p>
          <a:p>
            <a:endParaRPr lang="en-US" dirty="0"/>
          </a:p>
        </p:txBody>
      </p:sp>
    </p:spTree>
    <p:extLst>
      <p:ext uri="{BB962C8B-B14F-4D97-AF65-F5344CB8AC3E}">
        <p14:creationId xmlns:p14="http://schemas.microsoft.com/office/powerpoint/2010/main" val="5198859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678</TotalTime>
  <Words>1965</Words>
  <Application>Microsoft Macintosh PowerPoint</Application>
  <PresentationFormat>Widescreen</PresentationFormat>
  <Paragraphs>273</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Cambria Math</vt:lpstr>
      <vt:lpstr>Office Theme</vt:lpstr>
      <vt:lpstr>PowerPoint Presentation</vt:lpstr>
      <vt:lpstr>DBSCAN Clustering</vt:lpstr>
      <vt:lpstr>Why do we need DBSCAN Clustering?</vt:lpstr>
      <vt:lpstr>Why do we need DBSCAN Clustering?</vt:lpstr>
      <vt:lpstr>Why do we need DBSCAN Clustering?</vt:lpstr>
      <vt:lpstr>What Parameters Required DBSCAN?</vt:lpstr>
      <vt:lpstr>What Exactly is DBSCAN Clustering?</vt:lpstr>
      <vt:lpstr>What Exactly is DBSCAN Clustering?</vt:lpstr>
      <vt:lpstr>Example</vt:lpstr>
      <vt:lpstr>What Exactly is DBSCAN Clustering?</vt:lpstr>
      <vt:lpstr>Reachability and Connectivity</vt:lpstr>
      <vt:lpstr>Directly density-reachable</vt:lpstr>
      <vt:lpstr>Density-reachable</vt:lpstr>
      <vt:lpstr>Density-connected</vt:lpstr>
      <vt:lpstr>DBSCAN – Math Example</vt:lpstr>
      <vt:lpstr>DBSCAN – Math Example</vt:lpstr>
      <vt:lpstr>DBSCAN – Math Example</vt:lpstr>
      <vt:lpstr>DBSCAN – Math Example</vt:lpstr>
      <vt:lpstr>DBSCAN – Math Example</vt:lpstr>
      <vt:lpstr>Density reachability &amp; cluster construction</vt:lpstr>
      <vt:lpstr>Density reachability &amp; cluster construction</vt:lpstr>
      <vt:lpstr>Density reachability &amp; cluster construction</vt:lpstr>
      <vt:lpstr>Distance matrix</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Atif Saeed</dc:creator>
  <cp:lastModifiedBy>Muhammad Atif Saeed</cp:lastModifiedBy>
  <cp:revision>13</cp:revision>
  <dcterms:created xsi:type="dcterms:W3CDTF">2025-09-16T08:21:32Z</dcterms:created>
  <dcterms:modified xsi:type="dcterms:W3CDTF">2026-02-02T17:17:51Z</dcterms:modified>
</cp:coreProperties>
</file>