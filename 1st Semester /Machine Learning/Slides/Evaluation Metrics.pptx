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72" r:id="rId4"/>
    <p:sldId id="273" r:id="rId5"/>
    <p:sldId id="274" r:id="rId6"/>
    <p:sldId id="275" r:id="rId7"/>
    <p:sldId id="276" r:id="rId8"/>
    <p:sldId id="277" r:id="rId9"/>
    <p:sldId id="278" r:id="rId10"/>
    <p:sldId id="279"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69"/>
  </p:normalViewPr>
  <p:slideViewPr>
    <p:cSldViewPr snapToGrid="0">
      <p:cViewPr varScale="1">
        <p:scale>
          <a:sx n="114" d="100"/>
          <a:sy n="114"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9/29/25</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0178-F979-60AE-DFC5-F97ED5F97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0B531-52AA-6F95-88B5-E467D1DD8D38}"/>
              </a:ext>
            </a:extLst>
          </p:cNvPr>
          <p:cNvSpPr>
            <a:spLocks noGrp="1"/>
          </p:cNvSpPr>
          <p:nvPr>
            <p:ph type="title"/>
          </p:nvPr>
        </p:nvSpPr>
        <p:spPr/>
        <p:txBody>
          <a:bodyPr/>
          <a:lstStyle/>
          <a:p>
            <a:r>
              <a:rPr lang="en-US" dirty="0">
                <a:solidFill>
                  <a:srgbClr val="00D4D3"/>
                </a:solidFill>
              </a:rPr>
              <a:t>Evaluation Metrics in Machine Learning</a:t>
            </a:r>
          </a:p>
        </p:txBody>
      </p:sp>
      <p:sp>
        <p:nvSpPr>
          <p:cNvPr id="3" name="Content Placeholder 2">
            <a:extLst>
              <a:ext uri="{FF2B5EF4-FFF2-40B4-BE49-F238E27FC236}">
                <a16:creationId xmlns:a16="http://schemas.microsoft.com/office/drawing/2014/main" id="{FB82DFEF-3C5D-0AA1-5EF5-5D5E71146762}"/>
              </a:ext>
            </a:extLst>
          </p:cNvPr>
          <p:cNvSpPr>
            <a:spLocks noGrp="1"/>
          </p:cNvSpPr>
          <p:nvPr>
            <p:ph idx="1"/>
          </p:nvPr>
        </p:nvSpPr>
        <p:spPr/>
        <p:txBody>
          <a:bodyPr/>
          <a:lstStyle/>
          <a:p>
            <a:r>
              <a:rPr lang="en-US" dirty="0"/>
              <a:t>When building machine learning models, it’s important to understand how well they perform.</a:t>
            </a:r>
          </a:p>
          <a:p>
            <a:r>
              <a:rPr lang="en-US" dirty="0"/>
              <a:t>Evaluation metrics help us to measure the effectiveness of our models.</a:t>
            </a:r>
          </a:p>
          <a:p>
            <a:r>
              <a:rPr lang="en-US" dirty="0"/>
              <a:t>Whether we are solving a classification problem, predicting continuous values or clustering data, selecting the right evaluation metric allows us to assess how well the model meets our goals.</a:t>
            </a:r>
            <a:endParaRPr lang="en-US" dirty="0">
              <a:solidFill>
                <a:srgbClr val="00D4D3"/>
              </a:solidFill>
            </a:endParaRPr>
          </a:p>
        </p:txBody>
      </p:sp>
    </p:spTree>
    <p:extLst>
      <p:ext uri="{BB962C8B-B14F-4D97-AF65-F5344CB8AC3E}">
        <p14:creationId xmlns:p14="http://schemas.microsoft.com/office/powerpoint/2010/main" val="245236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6996C-3CB8-1035-AA22-1875EE807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15F3E-06DF-9711-E244-E97FC7E01B6F}"/>
              </a:ext>
            </a:extLst>
          </p:cNvPr>
          <p:cNvSpPr>
            <a:spLocks noGrp="1"/>
          </p:cNvSpPr>
          <p:nvPr>
            <p:ph type="title"/>
          </p:nvPr>
        </p:nvSpPr>
        <p:spPr/>
        <p:txBody>
          <a:bodyPr/>
          <a:lstStyle/>
          <a:p>
            <a:r>
              <a:rPr lang="en-US" dirty="0">
                <a:solidFill>
                  <a:srgbClr val="00D4D3"/>
                </a:solidFill>
              </a:rPr>
              <a:t>Confusion Matrix</a:t>
            </a:r>
          </a:p>
        </p:txBody>
      </p:sp>
      <p:sp>
        <p:nvSpPr>
          <p:cNvPr id="3" name="Content Placeholder 2">
            <a:extLst>
              <a:ext uri="{FF2B5EF4-FFF2-40B4-BE49-F238E27FC236}">
                <a16:creationId xmlns:a16="http://schemas.microsoft.com/office/drawing/2014/main" id="{A4BB76EE-8E43-746E-2CA1-657FCDA67420}"/>
              </a:ext>
            </a:extLst>
          </p:cNvPr>
          <p:cNvSpPr>
            <a:spLocks noGrp="1"/>
          </p:cNvSpPr>
          <p:nvPr>
            <p:ph idx="1"/>
          </p:nvPr>
        </p:nvSpPr>
        <p:spPr>
          <a:xfrm>
            <a:off x="838200" y="1825625"/>
            <a:ext cx="6577361" cy="4351338"/>
          </a:xfrm>
        </p:spPr>
        <p:txBody>
          <a:bodyPr>
            <a:normAutofit fontScale="92500" lnSpcReduction="10000"/>
          </a:bodyPr>
          <a:lstStyle/>
          <a:p>
            <a:r>
              <a:rPr lang="en-US" dirty="0"/>
              <a:t>Confusion matrix creates a N X N matrix, where N is the number of classes or categories that are to be predicted.</a:t>
            </a:r>
          </a:p>
          <a:p>
            <a:r>
              <a:rPr lang="en-US" dirty="0"/>
              <a:t>Here we have N = 2, so we get a 2 X 2 matrix. Suppose there is a problem with our practice which is a binary classification.</a:t>
            </a:r>
          </a:p>
          <a:p>
            <a:r>
              <a:rPr lang="en-US" dirty="0"/>
              <a:t>Samples of that classification belong to either Yes or No. So, we build our classifier which will predict the class for the new input sample. </a:t>
            </a:r>
          </a:p>
          <a:p>
            <a:r>
              <a:rPr lang="en-US" dirty="0"/>
              <a:t>After that, we tested our model with 165 samples and we get the following result.</a:t>
            </a:r>
            <a:endParaRPr lang="en-US" dirty="0">
              <a:solidFill>
                <a:srgbClr val="00D4D3"/>
              </a:solidFill>
            </a:endParaRPr>
          </a:p>
        </p:txBody>
      </p:sp>
      <p:graphicFrame>
        <p:nvGraphicFramePr>
          <p:cNvPr id="4" name="Table 3">
            <a:extLst>
              <a:ext uri="{FF2B5EF4-FFF2-40B4-BE49-F238E27FC236}">
                <a16:creationId xmlns:a16="http://schemas.microsoft.com/office/drawing/2014/main" id="{BC7AAB51-05B9-8549-A346-57C5A2AF8C5E}"/>
              </a:ext>
            </a:extLst>
          </p:cNvPr>
          <p:cNvGraphicFramePr>
            <a:graphicFrameLocks noGrp="1"/>
          </p:cNvGraphicFramePr>
          <p:nvPr>
            <p:extLst>
              <p:ext uri="{D42A27DB-BD31-4B8C-83A1-F6EECF244321}">
                <p14:modId xmlns:p14="http://schemas.microsoft.com/office/powerpoint/2010/main" val="3623740458"/>
              </p:ext>
            </p:extLst>
          </p:nvPr>
        </p:nvGraphicFramePr>
        <p:xfrm>
          <a:off x="7408127" y="1825625"/>
          <a:ext cx="3945673" cy="1395108"/>
        </p:xfrm>
        <a:graphic>
          <a:graphicData uri="http://schemas.openxmlformats.org/drawingml/2006/table">
            <a:tbl>
              <a:tblPr>
                <a:tableStyleId>{BDBED569-4797-4DF1-A0F4-6AAB3CD982D8}</a:tableStyleId>
              </a:tblPr>
              <a:tblGrid>
                <a:gridCol w="751557">
                  <a:extLst>
                    <a:ext uri="{9D8B030D-6E8A-4147-A177-3AD203B41FA5}">
                      <a16:colId xmlns:a16="http://schemas.microsoft.com/office/drawing/2014/main" val="1972661830"/>
                    </a:ext>
                  </a:extLst>
                </a:gridCol>
                <a:gridCol w="1597058">
                  <a:extLst>
                    <a:ext uri="{9D8B030D-6E8A-4147-A177-3AD203B41FA5}">
                      <a16:colId xmlns:a16="http://schemas.microsoft.com/office/drawing/2014/main" val="4142721529"/>
                    </a:ext>
                  </a:extLst>
                </a:gridCol>
                <a:gridCol w="1597058">
                  <a:extLst>
                    <a:ext uri="{9D8B030D-6E8A-4147-A177-3AD203B41FA5}">
                      <a16:colId xmlns:a16="http://schemas.microsoft.com/office/drawing/2014/main" val="11751562"/>
                    </a:ext>
                  </a:extLst>
                </a:gridCol>
              </a:tblGrid>
              <a:tr h="0">
                <a:tc>
                  <a:txBody>
                    <a:bodyPr/>
                    <a:lstStyle/>
                    <a:p>
                      <a:pPr algn="ctr" rtl="0" fontAlgn="base">
                        <a:spcAft>
                          <a:spcPts val="750"/>
                        </a:spcAft>
                        <a:buNone/>
                      </a:pPr>
                      <a:r>
                        <a:rPr lang="en-US" sz="1400" b="1">
                          <a:effectLst/>
                        </a:rPr>
                        <a:t>n=165</a:t>
                      </a:r>
                    </a:p>
                  </a:txBody>
                  <a:tcPr marL="38100" marR="38100" marT="95250" marB="95250" anchor="ctr"/>
                </a:tc>
                <a:tc>
                  <a:txBody>
                    <a:bodyPr/>
                    <a:lstStyle/>
                    <a:p>
                      <a:pPr algn="ctr" rtl="0" fontAlgn="base">
                        <a:spcAft>
                          <a:spcPts val="750"/>
                        </a:spcAft>
                        <a:buNone/>
                      </a:pPr>
                      <a:r>
                        <a:rPr lang="en-US" sz="1400" b="1" dirty="0">
                          <a:effectLst/>
                        </a:rPr>
                        <a:t>Predicted Yes</a:t>
                      </a:r>
                    </a:p>
                  </a:txBody>
                  <a:tcPr marL="95250" marR="95250" marT="95250" marB="95250" anchor="ctr"/>
                </a:tc>
                <a:tc>
                  <a:txBody>
                    <a:bodyPr/>
                    <a:lstStyle/>
                    <a:p>
                      <a:pPr algn="ctr" rtl="0" fontAlgn="base">
                        <a:spcAft>
                          <a:spcPts val="750"/>
                        </a:spcAft>
                        <a:buNone/>
                      </a:pPr>
                      <a:r>
                        <a:rPr lang="en-US" sz="1400" b="1" dirty="0">
                          <a:effectLst/>
                        </a:rPr>
                        <a:t>Predicted No</a:t>
                      </a:r>
                    </a:p>
                  </a:txBody>
                  <a:tcPr marL="95250" marR="95250" marT="95250" marB="95250" anchor="ctr"/>
                </a:tc>
                <a:extLst>
                  <a:ext uri="{0D108BD9-81ED-4DB2-BD59-A6C34878D82A}">
                    <a16:rowId xmlns:a16="http://schemas.microsoft.com/office/drawing/2014/main" val="2625032922"/>
                  </a:ext>
                </a:extLst>
              </a:tr>
              <a:tr h="0">
                <a:tc>
                  <a:txBody>
                    <a:bodyPr/>
                    <a:lstStyle/>
                    <a:p>
                      <a:pPr algn="ctr" rtl="0" fontAlgn="base">
                        <a:spcAft>
                          <a:spcPts val="750"/>
                        </a:spcAft>
                        <a:buNone/>
                      </a:pPr>
                      <a:r>
                        <a:rPr lang="en-US" sz="1400" b="1" dirty="0">
                          <a:effectLst/>
                        </a:rPr>
                        <a:t>Actual Yes</a:t>
                      </a:r>
                    </a:p>
                  </a:txBody>
                  <a:tcPr marL="38100" marR="38100" marT="34452" marB="34452" anchor="ctr"/>
                </a:tc>
                <a:tc>
                  <a:txBody>
                    <a:bodyPr/>
                    <a:lstStyle/>
                    <a:p>
                      <a:pPr algn="ctr" fontAlgn="base">
                        <a:spcAft>
                          <a:spcPts val="750"/>
                        </a:spcAft>
                        <a:buNone/>
                      </a:pPr>
                      <a:r>
                        <a:rPr lang="en-US" sz="1400" b="0" dirty="0">
                          <a:effectLst/>
                        </a:rPr>
                        <a:t>100</a:t>
                      </a:r>
                    </a:p>
                  </a:txBody>
                  <a:tcPr marL="95250" marR="95250" marT="133350" marB="133350" anchor="ctr"/>
                </a:tc>
                <a:tc>
                  <a:txBody>
                    <a:bodyPr/>
                    <a:lstStyle/>
                    <a:p>
                      <a:pPr algn="ctr" fontAlgn="base">
                        <a:spcAft>
                          <a:spcPts val="750"/>
                        </a:spcAft>
                        <a:buNone/>
                      </a:pPr>
                      <a:r>
                        <a:rPr lang="en-US" sz="1400" b="0" dirty="0">
                          <a:effectLst/>
                        </a:rPr>
                        <a:t>5</a:t>
                      </a:r>
                    </a:p>
                  </a:txBody>
                  <a:tcPr marL="95250" marR="95250" marT="133350" marB="133350" anchor="ctr"/>
                </a:tc>
                <a:extLst>
                  <a:ext uri="{0D108BD9-81ED-4DB2-BD59-A6C34878D82A}">
                    <a16:rowId xmlns:a16="http://schemas.microsoft.com/office/drawing/2014/main" val="1874511196"/>
                  </a:ext>
                </a:extLst>
              </a:tr>
              <a:tr h="0">
                <a:tc>
                  <a:txBody>
                    <a:bodyPr/>
                    <a:lstStyle/>
                    <a:p>
                      <a:pPr algn="ctr" rtl="0" fontAlgn="base">
                        <a:spcAft>
                          <a:spcPts val="750"/>
                        </a:spcAft>
                        <a:buNone/>
                      </a:pPr>
                      <a:r>
                        <a:rPr lang="en-US" sz="1400" b="1" dirty="0">
                          <a:effectLst/>
                        </a:rPr>
                        <a:t>Actual No</a:t>
                      </a:r>
                    </a:p>
                  </a:txBody>
                  <a:tcPr marL="38100" marR="38100" marT="34452" marB="34452" anchor="ctr"/>
                </a:tc>
                <a:tc>
                  <a:txBody>
                    <a:bodyPr/>
                    <a:lstStyle/>
                    <a:p>
                      <a:pPr algn="ctr" fontAlgn="base">
                        <a:spcAft>
                          <a:spcPts val="750"/>
                        </a:spcAft>
                        <a:buNone/>
                      </a:pPr>
                      <a:r>
                        <a:rPr lang="en-US" sz="1400" b="0" dirty="0">
                          <a:effectLst/>
                        </a:rPr>
                        <a:t>10</a:t>
                      </a:r>
                    </a:p>
                  </a:txBody>
                  <a:tcPr marL="95250" marR="95250" marT="133350" marB="133350" anchor="ctr"/>
                </a:tc>
                <a:tc>
                  <a:txBody>
                    <a:bodyPr/>
                    <a:lstStyle/>
                    <a:p>
                      <a:pPr algn="ctr" fontAlgn="base">
                        <a:spcAft>
                          <a:spcPts val="750"/>
                        </a:spcAft>
                        <a:buNone/>
                      </a:pPr>
                      <a:r>
                        <a:rPr lang="en-US" sz="1400" b="0" dirty="0">
                          <a:effectLst/>
                        </a:rPr>
                        <a:t>50</a:t>
                      </a:r>
                    </a:p>
                  </a:txBody>
                  <a:tcPr marL="95250" marR="95250" marT="133350" marB="133350" anchor="ctr"/>
                </a:tc>
                <a:extLst>
                  <a:ext uri="{0D108BD9-81ED-4DB2-BD59-A6C34878D82A}">
                    <a16:rowId xmlns:a16="http://schemas.microsoft.com/office/drawing/2014/main" val="107941991"/>
                  </a:ext>
                </a:extLst>
              </a:tr>
            </a:tbl>
          </a:graphicData>
        </a:graphic>
      </p:graphicFrame>
      <p:sp>
        <p:nvSpPr>
          <p:cNvPr id="5" name="TextBox 4">
            <a:extLst>
              <a:ext uri="{FF2B5EF4-FFF2-40B4-BE49-F238E27FC236}">
                <a16:creationId xmlns:a16="http://schemas.microsoft.com/office/drawing/2014/main" id="{EE5CA44B-E32D-5AE6-5B23-CF0F0E3E8B76}"/>
              </a:ext>
            </a:extLst>
          </p:cNvPr>
          <p:cNvSpPr txBox="1"/>
          <p:nvPr/>
        </p:nvSpPr>
        <p:spPr>
          <a:xfrm>
            <a:off x="7408127" y="3637268"/>
            <a:ext cx="3945672" cy="2246769"/>
          </a:xfrm>
          <a:prstGeom prst="rect">
            <a:avLst/>
          </a:prstGeom>
          <a:noFill/>
        </p:spPr>
        <p:txBody>
          <a:bodyPr wrap="square" rtlCol="0">
            <a:spAutoFit/>
          </a:bodyPr>
          <a:lstStyle/>
          <a:p>
            <a:pPr fontAlgn="base"/>
            <a:r>
              <a:rPr lang="en-US" sz="1400" dirty="0"/>
              <a:t>There are 4 terms we should keep in mind: </a:t>
            </a:r>
          </a:p>
          <a:p>
            <a:pPr fontAlgn="base"/>
            <a:r>
              <a:rPr lang="en-US" sz="1400" b="1" dirty="0"/>
              <a:t>True Positives:</a:t>
            </a:r>
            <a:r>
              <a:rPr lang="en-US" sz="1400" dirty="0"/>
              <a:t> It is the case where we predicted Yes and the real output was also Yes.</a:t>
            </a:r>
          </a:p>
          <a:p>
            <a:pPr fontAlgn="base"/>
            <a:r>
              <a:rPr lang="en-US" sz="1400" b="1" dirty="0"/>
              <a:t>True Negatives:</a:t>
            </a:r>
            <a:r>
              <a:rPr lang="en-US" sz="1400" dirty="0"/>
              <a:t> It is the case where we predicted No and the real output was also No.</a:t>
            </a:r>
          </a:p>
          <a:p>
            <a:pPr fontAlgn="base"/>
            <a:r>
              <a:rPr lang="en-US" sz="1400" b="1" dirty="0"/>
              <a:t>False Positives:</a:t>
            </a:r>
            <a:r>
              <a:rPr lang="en-US" sz="1400" dirty="0"/>
              <a:t> It is the case where we predicted Yes but it was actually No.</a:t>
            </a:r>
          </a:p>
          <a:p>
            <a:pPr fontAlgn="base"/>
            <a:r>
              <a:rPr lang="en-US" sz="1400" b="1" dirty="0"/>
              <a:t>False Negatives:</a:t>
            </a:r>
            <a:r>
              <a:rPr lang="en-US" sz="1400" dirty="0"/>
              <a:t> It is the case where we predicted No but it was actually Yes. </a:t>
            </a:r>
          </a:p>
          <a:p>
            <a:endParaRPr lang="en-US" sz="1400" dirty="0"/>
          </a:p>
        </p:txBody>
      </p:sp>
    </p:spTree>
    <p:extLst>
      <p:ext uri="{BB962C8B-B14F-4D97-AF65-F5344CB8AC3E}">
        <p14:creationId xmlns:p14="http://schemas.microsoft.com/office/powerpoint/2010/main" val="1741232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27C8F-902B-5404-E377-410B728F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C251F-5633-030E-DBEC-687C4B4CF33E}"/>
              </a:ext>
            </a:extLst>
          </p:cNvPr>
          <p:cNvSpPr>
            <a:spLocks noGrp="1"/>
          </p:cNvSpPr>
          <p:nvPr>
            <p:ph type="title"/>
          </p:nvPr>
        </p:nvSpPr>
        <p:spPr/>
        <p:txBody>
          <a:bodyPr/>
          <a:lstStyle/>
          <a:p>
            <a:r>
              <a:rPr lang="en-US" dirty="0">
                <a:solidFill>
                  <a:srgbClr val="00D4D3"/>
                </a:solidFill>
              </a:rPr>
              <a:t>Accuracy</a:t>
            </a:r>
          </a:p>
        </p:txBody>
      </p:sp>
      <p:sp>
        <p:nvSpPr>
          <p:cNvPr id="3" name="Content Placeholder 2">
            <a:extLst>
              <a:ext uri="{FF2B5EF4-FFF2-40B4-BE49-F238E27FC236}">
                <a16:creationId xmlns:a16="http://schemas.microsoft.com/office/drawing/2014/main" id="{51B9AD8C-47BC-318B-7A20-7415FEA86A9F}"/>
              </a:ext>
            </a:extLst>
          </p:cNvPr>
          <p:cNvSpPr>
            <a:spLocks noGrp="1"/>
          </p:cNvSpPr>
          <p:nvPr>
            <p:ph idx="1"/>
          </p:nvPr>
        </p:nvSpPr>
        <p:spPr/>
        <p:txBody>
          <a:bodyPr/>
          <a:lstStyle/>
          <a:p>
            <a:r>
              <a:rPr lang="en-US" dirty="0"/>
              <a:t>Accuracy is a fundamental metric used for evaluating the performance of a classification model. It tells us the proportion of correct predictions made by the model out of all predictions.</a:t>
            </a:r>
            <a:endParaRPr lang="en-US" dirty="0">
              <a:solidFill>
                <a:srgbClr val="00D4D3"/>
              </a:solidFill>
            </a:endParaRPr>
          </a:p>
          <a:p>
            <a:r>
              <a:rPr lang="en-US" dirty="0"/>
              <a:t>While accuracy provides a quick snapshot, it can be misleading in cases of imbalanced datasets. For example, in a dataset with 90% class A and 10% class B, a model predicting only class A will still achieve 90% accuracy but it will fail to identify any class B instances.</a:t>
            </a:r>
          </a:p>
        </p:txBody>
      </p:sp>
      <p:pic>
        <p:nvPicPr>
          <p:cNvPr id="2050" name="Picture 2" descr="Sensitivity ,Specificity, and Accuracy: Understanding Model Performance">
            <a:extLst>
              <a:ext uri="{FF2B5EF4-FFF2-40B4-BE49-F238E27FC236}">
                <a16:creationId xmlns:a16="http://schemas.microsoft.com/office/drawing/2014/main" id="{20CC904C-A024-9468-F9C1-BDBC00256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100" y="4945063"/>
            <a:ext cx="4241800" cy="123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760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55105-838E-E856-DD6F-F0290DC62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8C67D-2647-B6F9-0B4C-3B320D359A89}"/>
              </a:ext>
            </a:extLst>
          </p:cNvPr>
          <p:cNvSpPr>
            <a:spLocks noGrp="1"/>
          </p:cNvSpPr>
          <p:nvPr>
            <p:ph type="title"/>
          </p:nvPr>
        </p:nvSpPr>
        <p:spPr/>
        <p:txBody>
          <a:bodyPr/>
          <a:lstStyle/>
          <a:p>
            <a:r>
              <a:rPr lang="en-US" dirty="0">
                <a:solidFill>
                  <a:srgbClr val="00D4D3"/>
                </a:solidFill>
              </a:rPr>
              <a:t>Precision</a:t>
            </a:r>
          </a:p>
        </p:txBody>
      </p:sp>
      <p:sp>
        <p:nvSpPr>
          <p:cNvPr id="3" name="Content Placeholder 2">
            <a:extLst>
              <a:ext uri="{FF2B5EF4-FFF2-40B4-BE49-F238E27FC236}">
                <a16:creationId xmlns:a16="http://schemas.microsoft.com/office/drawing/2014/main" id="{2B133828-F61B-C5C6-4553-417AD541FAAB}"/>
              </a:ext>
            </a:extLst>
          </p:cNvPr>
          <p:cNvSpPr>
            <a:spLocks noGrp="1"/>
          </p:cNvSpPr>
          <p:nvPr>
            <p:ph idx="1"/>
          </p:nvPr>
        </p:nvSpPr>
        <p:spPr/>
        <p:txBody>
          <a:bodyPr/>
          <a:lstStyle/>
          <a:p>
            <a:r>
              <a:rPr lang="en-US" dirty="0"/>
              <a:t>It measures how many of the positive predictions made by the model are actually correct. It's useful when the cost of false positives is high such as in medical diagnoses where predicting a disease when it’s not present can have serious consequences.</a:t>
            </a:r>
          </a:p>
        </p:txBody>
      </p:sp>
      <p:pic>
        <p:nvPicPr>
          <p:cNvPr id="3074" name="Picture 2" descr="Accuracy vs. Precision vs. Recall in Machine Learning | Encord">
            <a:extLst>
              <a:ext uri="{FF2B5EF4-FFF2-40B4-BE49-F238E27FC236}">
                <a16:creationId xmlns:a16="http://schemas.microsoft.com/office/drawing/2014/main" id="{D426F05C-2798-6397-70E5-53E0AF439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6607" y="3840976"/>
            <a:ext cx="4158785" cy="1116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06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4E241-116E-E463-BAC7-E8FB34B47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8496A-34A6-25BC-FA2F-0C538A8F6189}"/>
              </a:ext>
            </a:extLst>
          </p:cNvPr>
          <p:cNvSpPr>
            <a:spLocks noGrp="1"/>
          </p:cNvSpPr>
          <p:nvPr>
            <p:ph type="title"/>
          </p:nvPr>
        </p:nvSpPr>
        <p:spPr/>
        <p:txBody>
          <a:bodyPr/>
          <a:lstStyle/>
          <a:p>
            <a:r>
              <a:rPr lang="en-US" dirty="0">
                <a:solidFill>
                  <a:srgbClr val="00D4D3"/>
                </a:solidFill>
              </a:rPr>
              <a:t>Recall</a:t>
            </a:r>
          </a:p>
        </p:txBody>
      </p:sp>
      <p:sp>
        <p:nvSpPr>
          <p:cNvPr id="3" name="Content Placeholder 2">
            <a:extLst>
              <a:ext uri="{FF2B5EF4-FFF2-40B4-BE49-F238E27FC236}">
                <a16:creationId xmlns:a16="http://schemas.microsoft.com/office/drawing/2014/main" id="{20A54C3A-97F5-6A70-E414-A5DCED9E822E}"/>
              </a:ext>
            </a:extLst>
          </p:cNvPr>
          <p:cNvSpPr>
            <a:spLocks noGrp="1"/>
          </p:cNvSpPr>
          <p:nvPr>
            <p:ph idx="1"/>
          </p:nvPr>
        </p:nvSpPr>
        <p:spPr/>
        <p:txBody>
          <a:bodyPr/>
          <a:lstStyle/>
          <a:p>
            <a:r>
              <a:rPr lang="en-US" dirty="0"/>
              <a:t>Recall or Sensitivity measures how many of the actual positive cases were correctly identified by the model. It is important when missing a positive case (false negative) is more costly than false positives.</a:t>
            </a:r>
          </a:p>
        </p:txBody>
      </p:sp>
      <p:pic>
        <p:nvPicPr>
          <p:cNvPr id="4098" name="Picture 2" descr="Accuracy vs. Precision vs. Recall in Machine Learning | Encord">
            <a:extLst>
              <a:ext uri="{FF2B5EF4-FFF2-40B4-BE49-F238E27FC236}">
                <a16:creationId xmlns:a16="http://schemas.microsoft.com/office/drawing/2014/main" id="{D7ABA82F-CDA8-7F88-7474-D31C372869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147" y="3713511"/>
            <a:ext cx="3765705" cy="1308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47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7B3E-DB63-9E73-CF62-EF2E5C32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CC50C-56EE-1E29-211F-DD8B8195DD2D}"/>
              </a:ext>
            </a:extLst>
          </p:cNvPr>
          <p:cNvSpPr>
            <a:spLocks noGrp="1"/>
          </p:cNvSpPr>
          <p:nvPr>
            <p:ph type="title"/>
          </p:nvPr>
        </p:nvSpPr>
        <p:spPr/>
        <p:txBody>
          <a:bodyPr/>
          <a:lstStyle/>
          <a:p>
            <a:r>
              <a:rPr lang="en-US" dirty="0">
                <a:solidFill>
                  <a:srgbClr val="00D4D3"/>
                </a:solidFill>
              </a:rPr>
              <a:t>F1 Score</a:t>
            </a:r>
          </a:p>
        </p:txBody>
      </p:sp>
      <p:sp>
        <p:nvSpPr>
          <p:cNvPr id="3" name="Content Placeholder 2">
            <a:extLst>
              <a:ext uri="{FF2B5EF4-FFF2-40B4-BE49-F238E27FC236}">
                <a16:creationId xmlns:a16="http://schemas.microsoft.com/office/drawing/2014/main" id="{8F9B6932-6E59-C0AC-B5A9-B415D482D3F3}"/>
              </a:ext>
            </a:extLst>
          </p:cNvPr>
          <p:cNvSpPr>
            <a:spLocks noGrp="1"/>
          </p:cNvSpPr>
          <p:nvPr>
            <p:ph idx="1"/>
          </p:nvPr>
        </p:nvSpPr>
        <p:spPr/>
        <p:txBody>
          <a:bodyPr/>
          <a:lstStyle/>
          <a:p>
            <a:r>
              <a:rPr lang="en-US" dirty="0"/>
              <a:t>The F1 Score is the harmonic mean of precision and recall. It is useful when we need a balance between precision and recall as it combines both into a single number. A high F1 score means the model performs well on both metrics. Its range is [0,1].</a:t>
            </a:r>
          </a:p>
        </p:txBody>
      </p:sp>
      <p:pic>
        <p:nvPicPr>
          <p:cNvPr id="5122" name="Picture 2" descr="f1 Score Definition | Encord">
            <a:extLst>
              <a:ext uri="{FF2B5EF4-FFF2-40B4-BE49-F238E27FC236}">
                <a16:creationId xmlns:a16="http://schemas.microsoft.com/office/drawing/2014/main" id="{54961C7C-90F1-EAD7-D11F-99CBF4BA1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916" y="3689504"/>
            <a:ext cx="5540168" cy="1618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50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3269-4BDC-174F-A817-8FC7DFE96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C59DA-C508-ED30-D1C5-49BC3D62A1A3}"/>
              </a:ext>
            </a:extLst>
          </p:cNvPr>
          <p:cNvSpPr>
            <a:spLocks noGrp="1"/>
          </p:cNvSpPr>
          <p:nvPr>
            <p:ph type="title"/>
          </p:nvPr>
        </p:nvSpPr>
        <p:spPr/>
        <p:txBody>
          <a:bodyPr/>
          <a:lstStyle/>
          <a:p>
            <a:r>
              <a:rPr lang="en-US" dirty="0">
                <a:solidFill>
                  <a:srgbClr val="00D4D3"/>
                </a:solidFill>
              </a:rPr>
              <a:t>Clustering Metrics</a:t>
            </a:r>
          </a:p>
        </p:txBody>
      </p:sp>
      <p:sp>
        <p:nvSpPr>
          <p:cNvPr id="3" name="Content Placeholder 2">
            <a:extLst>
              <a:ext uri="{FF2B5EF4-FFF2-40B4-BE49-F238E27FC236}">
                <a16:creationId xmlns:a16="http://schemas.microsoft.com/office/drawing/2014/main" id="{CA9D124E-1576-082F-5EA7-9FF5E67EDC39}"/>
              </a:ext>
            </a:extLst>
          </p:cNvPr>
          <p:cNvSpPr>
            <a:spLocks noGrp="1"/>
          </p:cNvSpPr>
          <p:nvPr>
            <p:ph idx="1"/>
          </p:nvPr>
        </p:nvSpPr>
        <p:spPr/>
        <p:txBody>
          <a:bodyPr/>
          <a:lstStyle/>
          <a:p>
            <a:r>
              <a:rPr lang="en-US" dirty="0"/>
              <a:t>In unsupervised learning tasks such as clustering, the goal is to group similar data points together.</a:t>
            </a:r>
          </a:p>
          <a:p>
            <a:r>
              <a:rPr lang="en-US" dirty="0"/>
              <a:t>Evaluating clustering performance is often more challenging than supervised learning since there is no explicit ground truth. </a:t>
            </a:r>
          </a:p>
          <a:p>
            <a:r>
              <a:rPr lang="en-US" dirty="0"/>
              <a:t>However, clustering metrics provide a way to measure how well the model is grouping similar data points.</a:t>
            </a:r>
          </a:p>
        </p:txBody>
      </p:sp>
    </p:spTree>
    <p:extLst>
      <p:ext uri="{BB962C8B-B14F-4D97-AF65-F5344CB8AC3E}">
        <p14:creationId xmlns:p14="http://schemas.microsoft.com/office/powerpoint/2010/main" val="362646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5408-FCD8-D437-60FD-E8ED8B022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C7800-EC5E-06BB-6CB5-B0EDCF678821}"/>
              </a:ext>
            </a:extLst>
          </p:cNvPr>
          <p:cNvSpPr>
            <a:spLocks noGrp="1"/>
          </p:cNvSpPr>
          <p:nvPr>
            <p:ph type="title"/>
          </p:nvPr>
        </p:nvSpPr>
        <p:spPr/>
        <p:txBody>
          <a:bodyPr/>
          <a:lstStyle/>
          <a:p>
            <a:r>
              <a:rPr lang="en-US" dirty="0">
                <a:solidFill>
                  <a:srgbClr val="00D4D3"/>
                </a:solidFill>
              </a:rPr>
              <a:t>Silhouette Score</a:t>
            </a:r>
          </a:p>
        </p:txBody>
      </p:sp>
      <p:sp>
        <p:nvSpPr>
          <p:cNvPr id="3" name="Content Placeholder 2">
            <a:extLst>
              <a:ext uri="{FF2B5EF4-FFF2-40B4-BE49-F238E27FC236}">
                <a16:creationId xmlns:a16="http://schemas.microsoft.com/office/drawing/2014/main" id="{42E48638-3EE8-A4DC-2CF5-0C934485EEDF}"/>
              </a:ext>
            </a:extLst>
          </p:cNvPr>
          <p:cNvSpPr>
            <a:spLocks noGrp="1"/>
          </p:cNvSpPr>
          <p:nvPr>
            <p:ph idx="1"/>
          </p:nvPr>
        </p:nvSpPr>
        <p:spPr/>
        <p:txBody>
          <a:bodyPr/>
          <a:lstStyle/>
          <a:p>
            <a:r>
              <a:rPr lang="en-US" dirty="0"/>
              <a:t>Silhouette Score evaluates how well a data point fits within its assigned cluster considering how close it is to points in its own cluster (cohesion) and how far it is from points in other clusters (separation). </a:t>
            </a:r>
          </a:p>
          <a:p>
            <a:r>
              <a:rPr lang="en-US" dirty="0"/>
              <a:t>A higher silhouette score (close to +1) shows well-clustered data while a score near -1 suggests that the data point is in the wrong cluster.</a:t>
            </a:r>
          </a:p>
        </p:txBody>
      </p:sp>
      <p:pic>
        <p:nvPicPr>
          <p:cNvPr id="7170" name="Picture 2" descr="The silhouette method - Training Systems Using Python Statistical Modeling  [Book]">
            <a:extLst>
              <a:ext uri="{FF2B5EF4-FFF2-40B4-BE49-F238E27FC236}">
                <a16:creationId xmlns:a16="http://schemas.microsoft.com/office/drawing/2014/main" id="{062DF83B-A9FA-43E1-BFEF-316F656DE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7208" y="4482791"/>
            <a:ext cx="3717584" cy="9860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776EF6-4C8D-DD3D-04E7-21F4E4E44D25}"/>
              </a:ext>
            </a:extLst>
          </p:cNvPr>
          <p:cNvSpPr txBox="1"/>
          <p:nvPr/>
        </p:nvSpPr>
        <p:spPr>
          <a:xfrm>
            <a:off x="838200" y="5846544"/>
            <a:ext cx="7590348" cy="646331"/>
          </a:xfrm>
          <a:prstGeom prst="rect">
            <a:avLst/>
          </a:prstGeom>
          <a:noFill/>
        </p:spPr>
        <p:txBody>
          <a:bodyPr wrap="none" rtlCol="0">
            <a:spAutoFit/>
          </a:bodyPr>
          <a:lstStyle/>
          <a:p>
            <a:pPr fontAlgn="base"/>
            <a:r>
              <a:rPr lang="en-US" dirty="0"/>
              <a:t>a = Average distance between a sample and all other points in the same cluster</a:t>
            </a:r>
          </a:p>
          <a:p>
            <a:pPr fontAlgn="base"/>
            <a:r>
              <a:rPr lang="en-US" dirty="0"/>
              <a:t>b = Average distance between a sample and all points in the nearest cluster</a:t>
            </a:r>
          </a:p>
        </p:txBody>
      </p:sp>
    </p:spTree>
    <p:extLst>
      <p:ext uri="{BB962C8B-B14F-4D97-AF65-F5344CB8AC3E}">
        <p14:creationId xmlns:p14="http://schemas.microsoft.com/office/powerpoint/2010/main" val="3951220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72232-420D-10CF-25AA-2C794D4C6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BEC9C-383D-2AF9-0D9C-EE31362AF90D}"/>
              </a:ext>
            </a:extLst>
          </p:cNvPr>
          <p:cNvSpPr>
            <a:spLocks noGrp="1"/>
          </p:cNvSpPr>
          <p:nvPr>
            <p:ph type="title"/>
          </p:nvPr>
        </p:nvSpPr>
        <p:spPr/>
        <p:txBody>
          <a:bodyPr/>
          <a:lstStyle/>
          <a:p>
            <a:r>
              <a:rPr lang="en-US" dirty="0">
                <a:solidFill>
                  <a:srgbClr val="00D4D3"/>
                </a:solidFill>
              </a:rPr>
              <a:t>Davies-Bouldin Index</a:t>
            </a:r>
          </a:p>
        </p:txBody>
      </p:sp>
      <p:sp>
        <p:nvSpPr>
          <p:cNvPr id="3" name="Content Placeholder 2">
            <a:extLst>
              <a:ext uri="{FF2B5EF4-FFF2-40B4-BE49-F238E27FC236}">
                <a16:creationId xmlns:a16="http://schemas.microsoft.com/office/drawing/2014/main" id="{8E3157D5-1063-BDB5-444B-BD48E732461A}"/>
              </a:ext>
            </a:extLst>
          </p:cNvPr>
          <p:cNvSpPr>
            <a:spLocks noGrp="1"/>
          </p:cNvSpPr>
          <p:nvPr>
            <p:ph idx="1"/>
          </p:nvPr>
        </p:nvSpPr>
        <p:spPr/>
        <p:txBody>
          <a:bodyPr/>
          <a:lstStyle/>
          <a:p>
            <a:r>
              <a:rPr lang="en-US" dirty="0"/>
              <a:t>Davies-Bouldin Index measures the average similarity between each cluster and its most similar cluster. </a:t>
            </a:r>
          </a:p>
          <a:p>
            <a:r>
              <a:rPr lang="en-US" dirty="0"/>
              <a:t>A lower Davies-Bouldin index shows better clustering as it suggests the clusters are well-separated and compact. The goal is to minimize the Davies-Bouldin index to achieve optimal clustering.</a:t>
            </a:r>
          </a:p>
        </p:txBody>
      </p:sp>
      <p:sp>
        <p:nvSpPr>
          <p:cNvPr id="4" name="TextBox 3">
            <a:extLst>
              <a:ext uri="{FF2B5EF4-FFF2-40B4-BE49-F238E27FC236}">
                <a16:creationId xmlns:a16="http://schemas.microsoft.com/office/drawing/2014/main" id="{2360DA59-3E2A-F2A1-927E-3060E6822806}"/>
              </a:ext>
            </a:extLst>
          </p:cNvPr>
          <p:cNvSpPr txBox="1"/>
          <p:nvPr/>
        </p:nvSpPr>
        <p:spPr>
          <a:xfrm>
            <a:off x="838200" y="5846544"/>
            <a:ext cx="6460102" cy="646331"/>
          </a:xfrm>
          <a:prstGeom prst="rect">
            <a:avLst/>
          </a:prstGeom>
          <a:noFill/>
        </p:spPr>
        <p:txBody>
          <a:bodyPr wrap="none" rtlCol="0">
            <a:spAutoFit/>
          </a:bodyPr>
          <a:lstStyle/>
          <a:p>
            <a:pPr fontAlgn="base"/>
            <a:r>
              <a:rPr lang="el-GR" dirty="0"/>
              <a:t>σ </a:t>
            </a:r>
            <a:r>
              <a:rPr lang="en-US" dirty="0" err="1"/>
              <a:t>i</a:t>
            </a:r>
            <a:r>
              <a:rPr lang="en-US" dirty="0"/>
              <a:t>= Average distance of points in cluster </a:t>
            </a:r>
            <a:r>
              <a:rPr lang="en-US" dirty="0" err="1"/>
              <a:t>i</a:t>
            </a:r>
            <a:r>
              <a:rPr lang="en-US" dirty="0"/>
              <a:t> from the cluster centroid</a:t>
            </a:r>
          </a:p>
          <a:p>
            <a:pPr fontAlgn="base"/>
            <a:r>
              <a:rPr lang="en-US" dirty="0"/>
              <a:t>d(ci​,</a:t>
            </a:r>
            <a:r>
              <a:rPr lang="en-US" dirty="0" err="1"/>
              <a:t>cj</a:t>
            </a:r>
            <a:r>
              <a:rPr lang="en-US" dirty="0"/>
              <a:t>) = Distance between centroids of clusters </a:t>
            </a:r>
            <a:r>
              <a:rPr lang="en-US" dirty="0" err="1"/>
              <a:t>i</a:t>
            </a:r>
            <a:r>
              <a:rPr lang="en-US" dirty="0"/>
              <a:t> and j</a:t>
            </a:r>
          </a:p>
        </p:txBody>
      </p:sp>
      <p:pic>
        <p:nvPicPr>
          <p:cNvPr id="8194" name="Picture 2" descr="Assessment Metrics for Clustering Algorithms">
            <a:extLst>
              <a:ext uri="{FF2B5EF4-FFF2-40B4-BE49-F238E27FC236}">
                <a16:creationId xmlns:a16="http://schemas.microsoft.com/office/drawing/2014/main" id="{8D11E7F4-4447-D101-C9FA-A132F3E9F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4540" y="4271473"/>
            <a:ext cx="4842919" cy="1259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765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090D6-EEC1-5B5C-8801-B70E7A573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57F21-6509-192E-DD36-058EB84B4013}"/>
              </a:ext>
            </a:extLst>
          </p:cNvPr>
          <p:cNvSpPr>
            <a:spLocks noGrp="1"/>
          </p:cNvSpPr>
          <p:nvPr>
            <p:ph type="title"/>
          </p:nvPr>
        </p:nvSpPr>
        <p:spPr/>
        <p:txBody>
          <a:bodyPr/>
          <a:lstStyle/>
          <a:p>
            <a:r>
              <a:rPr lang="en-US" dirty="0">
                <a:solidFill>
                  <a:srgbClr val="00D4D3"/>
                </a:solidFill>
              </a:rPr>
              <a:t>Davies-Bouldin Index</a:t>
            </a:r>
          </a:p>
        </p:txBody>
      </p:sp>
      <p:pic>
        <p:nvPicPr>
          <p:cNvPr id="8" name="Picture 7">
            <a:extLst>
              <a:ext uri="{FF2B5EF4-FFF2-40B4-BE49-F238E27FC236}">
                <a16:creationId xmlns:a16="http://schemas.microsoft.com/office/drawing/2014/main" id="{60B7CCF8-0E95-303A-1A63-938260123BE2}"/>
              </a:ext>
            </a:extLst>
          </p:cNvPr>
          <p:cNvPicPr>
            <a:picLocks noChangeAspect="1"/>
          </p:cNvPicPr>
          <p:nvPr/>
        </p:nvPicPr>
        <p:blipFill>
          <a:blip r:embed="rId2"/>
          <a:stretch>
            <a:fillRect/>
          </a:stretch>
        </p:blipFill>
        <p:spPr>
          <a:xfrm>
            <a:off x="838200" y="1470567"/>
            <a:ext cx="5381224" cy="4183101"/>
          </a:xfrm>
          <a:prstGeom prst="rect">
            <a:avLst/>
          </a:prstGeom>
        </p:spPr>
      </p:pic>
      <p:pic>
        <p:nvPicPr>
          <p:cNvPr id="10" name="Picture 9">
            <a:extLst>
              <a:ext uri="{FF2B5EF4-FFF2-40B4-BE49-F238E27FC236}">
                <a16:creationId xmlns:a16="http://schemas.microsoft.com/office/drawing/2014/main" id="{8DB620AA-404A-60E3-ADB0-A876EC23E4BF}"/>
              </a:ext>
            </a:extLst>
          </p:cNvPr>
          <p:cNvPicPr>
            <a:picLocks noChangeAspect="1"/>
          </p:cNvPicPr>
          <p:nvPr/>
        </p:nvPicPr>
        <p:blipFill>
          <a:blip r:embed="rId3"/>
          <a:stretch>
            <a:fillRect/>
          </a:stretch>
        </p:blipFill>
        <p:spPr>
          <a:xfrm>
            <a:off x="6096000" y="1470566"/>
            <a:ext cx="5657913" cy="4183101"/>
          </a:xfrm>
          <a:prstGeom prst="rect">
            <a:avLst/>
          </a:prstGeom>
        </p:spPr>
      </p:pic>
    </p:spTree>
    <p:extLst>
      <p:ext uri="{BB962C8B-B14F-4D97-AF65-F5344CB8AC3E}">
        <p14:creationId xmlns:p14="http://schemas.microsoft.com/office/powerpoint/2010/main" val="2949154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734</Words>
  <Application>Microsoft Macintosh PowerPoint</Application>
  <PresentationFormat>Widescreen</PresentationFormat>
  <Paragraphs>48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Evaluation Metrics in Machine Learning</vt:lpstr>
      <vt:lpstr>Confusion Matrix</vt:lpstr>
      <vt:lpstr>Accuracy</vt:lpstr>
      <vt:lpstr>Precision</vt:lpstr>
      <vt:lpstr>Recall</vt:lpstr>
      <vt:lpstr>F1 Score</vt:lpstr>
      <vt:lpstr>Clustering Metrics</vt:lpstr>
      <vt:lpstr>Silhouette Score</vt:lpstr>
      <vt:lpstr>Davies-Bouldin Index</vt:lpstr>
      <vt:lpstr>Davies-Bouldin Index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6</cp:revision>
  <dcterms:created xsi:type="dcterms:W3CDTF">2025-09-16T08:21:32Z</dcterms:created>
  <dcterms:modified xsi:type="dcterms:W3CDTF">2025-09-29T12:22:01Z</dcterms:modified>
</cp:coreProperties>
</file>