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1" r:id="rId5"/>
    <p:sldId id="259" r:id="rId6"/>
    <p:sldId id="260"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D4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69"/>
  </p:normalViewPr>
  <p:slideViewPr>
    <p:cSldViewPr snapToGrid="0">
      <p:cViewPr varScale="1">
        <p:scale>
          <a:sx n="114" d="100"/>
          <a:sy n="114" d="100"/>
        </p:scale>
        <p:origin x="6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780CB-89B7-FFB9-6A9E-D5F7072D25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684131-D9EB-8B35-7700-D09FEC7E4A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152866-51F3-C02D-7B3C-D2C52309D9D3}"/>
              </a:ext>
            </a:extLst>
          </p:cNvPr>
          <p:cNvSpPr>
            <a:spLocks noGrp="1"/>
          </p:cNvSpPr>
          <p:nvPr>
            <p:ph type="dt" sz="half" idx="10"/>
          </p:nvPr>
        </p:nvSpPr>
        <p:spPr/>
        <p:txBody>
          <a:bodyPr/>
          <a:lstStyle/>
          <a:p>
            <a:fld id="{80550C69-14D2-2846-94E9-915A6919AB41}" type="datetimeFigureOut">
              <a:rPr lang="en-US" smtClean="0"/>
              <a:t>9/16/25</a:t>
            </a:fld>
            <a:endParaRPr lang="en-US"/>
          </a:p>
        </p:txBody>
      </p:sp>
      <p:sp>
        <p:nvSpPr>
          <p:cNvPr id="5" name="Footer Placeholder 4">
            <a:extLst>
              <a:ext uri="{FF2B5EF4-FFF2-40B4-BE49-F238E27FC236}">
                <a16:creationId xmlns:a16="http://schemas.microsoft.com/office/drawing/2014/main" id="{2C02D25E-02D6-3D31-7F4B-EE01572634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389D5E-F2CF-D931-AE1D-B48BD961996A}"/>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710186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2AB22-7E12-841A-9EB1-A94D447A6D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0ABD4F-E8C9-B30E-38A4-242CE2B50E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7284BE-483E-6C34-94CB-43F55EC1C364}"/>
              </a:ext>
            </a:extLst>
          </p:cNvPr>
          <p:cNvSpPr>
            <a:spLocks noGrp="1"/>
          </p:cNvSpPr>
          <p:nvPr>
            <p:ph type="dt" sz="half" idx="10"/>
          </p:nvPr>
        </p:nvSpPr>
        <p:spPr/>
        <p:txBody>
          <a:bodyPr/>
          <a:lstStyle/>
          <a:p>
            <a:fld id="{80550C69-14D2-2846-94E9-915A6919AB41}" type="datetimeFigureOut">
              <a:rPr lang="en-US" smtClean="0"/>
              <a:t>9/16/25</a:t>
            </a:fld>
            <a:endParaRPr lang="en-US"/>
          </a:p>
        </p:txBody>
      </p:sp>
      <p:sp>
        <p:nvSpPr>
          <p:cNvPr id="5" name="Footer Placeholder 4">
            <a:extLst>
              <a:ext uri="{FF2B5EF4-FFF2-40B4-BE49-F238E27FC236}">
                <a16:creationId xmlns:a16="http://schemas.microsoft.com/office/drawing/2014/main" id="{3F863459-1045-CB0C-02BC-AE5CF5038B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6C211B-D400-BB06-7A51-4EACAD94D258}"/>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2452783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75E00-7113-CC3E-1AD6-4C2E50CC4A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C85FC7-025E-2AA2-45BB-D0CFDED5AE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C9D077-BBB1-0893-D077-4F47E18AA217}"/>
              </a:ext>
            </a:extLst>
          </p:cNvPr>
          <p:cNvSpPr>
            <a:spLocks noGrp="1"/>
          </p:cNvSpPr>
          <p:nvPr>
            <p:ph type="dt" sz="half" idx="10"/>
          </p:nvPr>
        </p:nvSpPr>
        <p:spPr/>
        <p:txBody>
          <a:bodyPr/>
          <a:lstStyle/>
          <a:p>
            <a:fld id="{80550C69-14D2-2846-94E9-915A6919AB41}" type="datetimeFigureOut">
              <a:rPr lang="en-US" smtClean="0"/>
              <a:t>9/16/25</a:t>
            </a:fld>
            <a:endParaRPr lang="en-US"/>
          </a:p>
        </p:txBody>
      </p:sp>
      <p:sp>
        <p:nvSpPr>
          <p:cNvPr id="5" name="Footer Placeholder 4">
            <a:extLst>
              <a:ext uri="{FF2B5EF4-FFF2-40B4-BE49-F238E27FC236}">
                <a16:creationId xmlns:a16="http://schemas.microsoft.com/office/drawing/2014/main" id="{112D0E1D-152F-DAD9-D916-EADD1E4936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43BE5B-10E9-F719-A303-4EDE54AF48BB}"/>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641444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0C707-0159-420D-396E-ACCD1B1A8F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71320F-8868-19E6-3320-91C84B4DEE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4FA021-DC2F-9847-7907-D82F8D6C4A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11A38E-8975-F272-F5D4-7C4A10E2D661}"/>
              </a:ext>
            </a:extLst>
          </p:cNvPr>
          <p:cNvSpPr>
            <a:spLocks noGrp="1"/>
          </p:cNvSpPr>
          <p:nvPr>
            <p:ph type="dt" sz="half" idx="10"/>
          </p:nvPr>
        </p:nvSpPr>
        <p:spPr/>
        <p:txBody>
          <a:bodyPr/>
          <a:lstStyle/>
          <a:p>
            <a:fld id="{80550C69-14D2-2846-94E9-915A6919AB41}" type="datetimeFigureOut">
              <a:rPr lang="en-US" smtClean="0"/>
              <a:t>9/16/25</a:t>
            </a:fld>
            <a:endParaRPr lang="en-US"/>
          </a:p>
        </p:txBody>
      </p:sp>
      <p:sp>
        <p:nvSpPr>
          <p:cNvPr id="6" name="Footer Placeholder 5">
            <a:extLst>
              <a:ext uri="{FF2B5EF4-FFF2-40B4-BE49-F238E27FC236}">
                <a16:creationId xmlns:a16="http://schemas.microsoft.com/office/drawing/2014/main" id="{05B28722-AC7F-9CE3-9F35-A314E0821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B72E1-C7EE-7608-8093-9FA535E7B8F1}"/>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823819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7C2C8-A95C-93CF-C94F-75603FF5EC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A4EE83-B580-440D-4EB3-B29BC1C726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28028C-0DCF-7C10-CE75-657A021A11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E8F2E1-45BB-520A-0966-2354D3DDD3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D0134E-B8AA-7670-5BB3-1815D0AFF6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5151D0-A91B-EB65-6870-8A5B7FF289CB}"/>
              </a:ext>
            </a:extLst>
          </p:cNvPr>
          <p:cNvSpPr>
            <a:spLocks noGrp="1"/>
          </p:cNvSpPr>
          <p:nvPr>
            <p:ph type="dt" sz="half" idx="10"/>
          </p:nvPr>
        </p:nvSpPr>
        <p:spPr/>
        <p:txBody>
          <a:bodyPr/>
          <a:lstStyle/>
          <a:p>
            <a:fld id="{80550C69-14D2-2846-94E9-915A6919AB41}" type="datetimeFigureOut">
              <a:rPr lang="en-US" smtClean="0"/>
              <a:t>9/16/25</a:t>
            </a:fld>
            <a:endParaRPr lang="en-US"/>
          </a:p>
        </p:txBody>
      </p:sp>
      <p:sp>
        <p:nvSpPr>
          <p:cNvPr id="8" name="Footer Placeholder 7">
            <a:extLst>
              <a:ext uri="{FF2B5EF4-FFF2-40B4-BE49-F238E27FC236}">
                <a16:creationId xmlns:a16="http://schemas.microsoft.com/office/drawing/2014/main" id="{6BD4093C-A005-2E42-2FC7-96661EF927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35DDA8-D9E3-8A69-1B99-D2513049176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934132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9F219-AE2E-5FC7-5974-DBE9A1ABE5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2B48B3C-1D49-4553-AE0D-962D52C5DD62}"/>
              </a:ext>
            </a:extLst>
          </p:cNvPr>
          <p:cNvSpPr>
            <a:spLocks noGrp="1"/>
          </p:cNvSpPr>
          <p:nvPr>
            <p:ph type="dt" sz="half" idx="10"/>
          </p:nvPr>
        </p:nvSpPr>
        <p:spPr/>
        <p:txBody>
          <a:bodyPr/>
          <a:lstStyle/>
          <a:p>
            <a:fld id="{80550C69-14D2-2846-94E9-915A6919AB41}" type="datetimeFigureOut">
              <a:rPr lang="en-US" smtClean="0"/>
              <a:t>9/16/25</a:t>
            </a:fld>
            <a:endParaRPr lang="en-US"/>
          </a:p>
        </p:txBody>
      </p:sp>
      <p:sp>
        <p:nvSpPr>
          <p:cNvPr id="4" name="Footer Placeholder 3">
            <a:extLst>
              <a:ext uri="{FF2B5EF4-FFF2-40B4-BE49-F238E27FC236}">
                <a16:creationId xmlns:a16="http://schemas.microsoft.com/office/drawing/2014/main" id="{9FA0514A-C851-A741-3A0A-876F053FC0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713EBA-489F-0258-2EE0-EFC1B7E6CCF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396104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600181-D881-1F1B-CAE6-C749104B8173}"/>
              </a:ext>
            </a:extLst>
          </p:cNvPr>
          <p:cNvSpPr>
            <a:spLocks noGrp="1"/>
          </p:cNvSpPr>
          <p:nvPr>
            <p:ph type="dt" sz="half" idx="10"/>
          </p:nvPr>
        </p:nvSpPr>
        <p:spPr/>
        <p:txBody>
          <a:bodyPr/>
          <a:lstStyle/>
          <a:p>
            <a:fld id="{80550C69-14D2-2846-94E9-915A6919AB41}" type="datetimeFigureOut">
              <a:rPr lang="en-US" smtClean="0"/>
              <a:t>9/16/25</a:t>
            </a:fld>
            <a:endParaRPr lang="en-US"/>
          </a:p>
        </p:txBody>
      </p:sp>
      <p:sp>
        <p:nvSpPr>
          <p:cNvPr id="3" name="Footer Placeholder 2">
            <a:extLst>
              <a:ext uri="{FF2B5EF4-FFF2-40B4-BE49-F238E27FC236}">
                <a16:creationId xmlns:a16="http://schemas.microsoft.com/office/drawing/2014/main" id="{B0ABF13A-05CA-D93A-8C20-65A4D9FE94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CFC02E-7F24-1696-FCED-7784C99CFFB8}"/>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833110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1DDC9-B01A-E58E-5297-CF3A048369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9C47ED-8039-E286-8C42-3378E9C51F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7414EE-FC09-75B7-9A04-96294ACDC6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FAE040-18CC-3773-2A33-AE7734C545F9}"/>
              </a:ext>
            </a:extLst>
          </p:cNvPr>
          <p:cNvSpPr>
            <a:spLocks noGrp="1"/>
          </p:cNvSpPr>
          <p:nvPr>
            <p:ph type="dt" sz="half" idx="10"/>
          </p:nvPr>
        </p:nvSpPr>
        <p:spPr/>
        <p:txBody>
          <a:bodyPr/>
          <a:lstStyle/>
          <a:p>
            <a:fld id="{80550C69-14D2-2846-94E9-915A6919AB41}" type="datetimeFigureOut">
              <a:rPr lang="en-US" smtClean="0"/>
              <a:t>9/16/25</a:t>
            </a:fld>
            <a:endParaRPr lang="en-US"/>
          </a:p>
        </p:txBody>
      </p:sp>
      <p:sp>
        <p:nvSpPr>
          <p:cNvPr id="6" name="Footer Placeholder 5">
            <a:extLst>
              <a:ext uri="{FF2B5EF4-FFF2-40B4-BE49-F238E27FC236}">
                <a16:creationId xmlns:a16="http://schemas.microsoft.com/office/drawing/2014/main" id="{30577619-D277-6F67-BDDB-E0ABA5D5B5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7F8823-D223-0050-388B-C2125402C6B0}"/>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664512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8E4C8-CC4C-38C3-814B-9C94AB6F3A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376015-62D0-D2B5-DE3A-52CA7D2097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57B94A-8E77-1556-9C64-FC72D4416B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030C46-7D60-2432-1DA5-9FD3AB6522CB}"/>
              </a:ext>
            </a:extLst>
          </p:cNvPr>
          <p:cNvSpPr>
            <a:spLocks noGrp="1"/>
          </p:cNvSpPr>
          <p:nvPr>
            <p:ph type="dt" sz="half" idx="10"/>
          </p:nvPr>
        </p:nvSpPr>
        <p:spPr/>
        <p:txBody>
          <a:bodyPr/>
          <a:lstStyle/>
          <a:p>
            <a:fld id="{80550C69-14D2-2846-94E9-915A6919AB41}" type="datetimeFigureOut">
              <a:rPr lang="en-US" smtClean="0"/>
              <a:t>9/16/25</a:t>
            </a:fld>
            <a:endParaRPr lang="en-US"/>
          </a:p>
        </p:txBody>
      </p:sp>
      <p:sp>
        <p:nvSpPr>
          <p:cNvPr id="6" name="Footer Placeholder 5">
            <a:extLst>
              <a:ext uri="{FF2B5EF4-FFF2-40B4-BE49-F238E27FC236}">
                <a16:creationId xmlns:a16="http://schemas.microsoft.com/office/drawing/2014/main" id="{9514F618-18F2-1B27-78E9-FD5DC85C72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0FB3DA-9440-F953-49FF-0BCB3B0BF17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339486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1BD4C-4BD1-F4B7-8BE3-AEFDC69553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E3CC2AD-8F94-12E2-BEA7-A8655DF814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0172DA-3E15-1B63-D204-70ACDB8908B7}"/>
              </a:ext>
            </a:extLst>
          </p:cNvPr>
          <p:cNvSpPr>
            <a:spLocks noGrp="1"/>
          </p:cNvSpPr>
          <p:nvPr>
            <p:ph type="dt" sz="half" idx="10"/>
          </p:nvPr>
        </p:nvSpPr>
        <p:spPr/>
        <p:txBody>
          <a:bodyPr/>
          <a:lstStyle/>
          <a:p>
            <a:fld id="{80550C69-14D2-2846-94E9-915A6919AB41}" type="datetimeFigureOut">
              <a:rPr lang="en-US" smtClean="0"/>
              <a:t>9/16/25</a:t>
            </a:fld>
            <a:endParaRPr lang="en-US"/>
          </a:p>
        </p:txBody>
      </p:sp>
      <p:sp>
        <p:nvSpPr>
          <p:cNvPr id="5" name="Footer Placeholder 4">
            <a:extLst>
              <a:ext uri="{FF2B5EF4-FFF2-40B4-BE49-F238E27FC236}">
                <a16:creationId xmlns:a16="http://schemas.microsoft.com/office/drawing/2014/main" id="{2858BB3E-83D8-7790-2292-B545BE7825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567C2-18C0-D165-B387-3DF23F15852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2122798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85BD31-A0F8-F850-0CCB-2110EDBB64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720AFE-D26B-4FEB-7769-9A8E7A2D34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C9B23E-3614-A962-91CA-E51DC1C311EA}"/>
              </a:ext>
            </a:extLst>
          </p:cNvPr>
          <p:cNvSpPr>
            <a:spLocks noGrp="1"/>
          </p:cNvSpPr>
          <p:nvPr>
            <p:ph type="dt" sz="half" idx="10"/>
          </p:nvPr>
        </p:nvSpPr>
        <p:spPr/>
        <p:txBody>
          <a:bodyPr/>
          <a:lstStyle/>
          <a:p>
            <a:fld id="{80550C69-14D2-2846-94E9-915A6919AB41}" type="datetimeFigureOut">
              <a:rPr lang="en-US" smtClean="0"/>
              <a:t>9/16/25</a:t>
            </a:fld>
            <a:endParaRPr lang="en-US"/>
          </a:p>
        </p:txBody>
      </p:sp>
      <p:sp>
        <p:nvSpPr>
          <p:cNvPr id="5" name="Footer Placeholder 4">
            <a:extLst>
              <a:ext uri="{FF2B5EF4-FFF2-40B4-BE49-F238E27FC236}">
                <a16:creationId xmlns:a16="http://schemas.microsoft.com/office/drawing/2014/main" id="{64FA361C-573E-A771-A2C0-817526A8E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739FA-174B-941A-3909-9B4A68547774}"/>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387042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4E3F75-7C31-338F-1EF9-ED3F44146D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225010-F8EA-EE89-71AE-7775C2E2C9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09FA02-5CA3-3197-346C-AC9B1F8282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550C69-14D2-2846-94E9-915A6919AB41}" type="datetimeFigureOut">
              <a:rPr lang="en-US" smtClean="0"/>
              <a:t>9/16/25</a:t>
            </a:fld>
            <a:endParaRPr lang="en-US"/>
          </a:p>
        </p:txBody>
      </p:sp>
      <p:sp>
        <p:nvSpPr>
          <p:cNvPr id="5" name="Footer Placeholder 4">
            <a:extLst>
              <a:ext uri="{FF2B5EF4-FFF2-40B4-BE49-F238E27FC236}">
                <a16:creationId xmlns:a16="http://schemas.microsoft.com/office/drawing/2014/main" id="{D70C1696-2AB9-1EC0-6784-4A45D11792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5A4D83-5566-E0B0-4F4C-F5062D8F01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7250AC-D1DC-F242-8646-2EAA28AC5EB9}" type="slidenum">
              <a:rPr lang="en-US" smtClean="0"/>
              <a:t>‹#›</a:t>
            </a:fld>
            <a:endParaRPr lang="en-US"/>
          </a:p>
        </p:txBody>
      </p:sp>
    </p:spTree>
    <p:extLst>
      <p:ext uri="{BB962C8B-B14F-4D97-AF65-F5344CB8AC3E}">
        <p14:creationId xmlns:p14="http://schemas.microsoft.com/office/powerpoint/2010/main" val="154306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E3ED8-F229-15AF-5C7A-42A0BC473B8C}"/>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9DD3A20-A900-6084-113D-CCA05113E0CC}"/>
              </a:ext>
            </a:extLst>
          </p:cNvPr>
          <p:cNvSpPr>
            <a:spLocks noGrp="1"/>
          </p:cNvSpPr>
          <p:nvPr>
            <p:ph type="subTitle" idx="1"/>
          </p:nvPr>
        </p:nvSpPr>
        <p:spPr/>
        <p:txBody>
          <a:bodyPr/>
          <a:lstStyle/>
          <a:p>
            <a:endParaRPr lang="en-US"/>
          </a:p>
        </p:txBody>
      </p:sp>
      <p:pic>
        <p:nvPicPr>
          <p:cNvPr id="1026" name="Picture 2" descr="Machine Learning Wallpapers - 4k, HD Machine Learning Backgrounds on  WallpaperBat">
            <a:extLst>
              <a:ext uri="{FF2B5EF4-FFF2-40B4-BE49-F238E27FC236}">
                <a16:creationId xmlns:a16="http://schemas.microsoft.com/office/drawing/2014/main" id="{80658FC8-7575-B726-71F0-46D05C1223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EBC1755-1CF1-E3D4-8CB4-675E52014B3D}"/>
              </a:ext>
            </a:extLst>
          </p:cNvPr>
          <p:cNvSpPr txBox="1"/>
          <p:nvPr/>
        </p:nvSpPr>
        <p:spPr>
          <a:xfrm>
            <a:off x="3332629" y="6211540"/>
            <a:ext cx="5526741" cy="461665"/>
          </a:xfrm>
          <a:prstGeom prst="rect">
            <a:avLst/>
          </a:prstGeom>
          <a:noFill/>
        </p:spPr>
        <p:txBody>
          <a:bodyPr wrap="square" rtlCol="0">
            <a:spAutoFit/>
          </a:bodyPr>
          <a:lstStyle/>
          <a:p>
            <a:pPr algn="ctr"/>
            <a:r>
              <a:rPr lang="en-US" sz="2400" dirty="0">
                <a:solidFill>
                  <a:srgbClr val="00D4D3"/>
                </a:solidFill>
              </a:rPr>
              <a:t>Muhammad Atif Saeed (Lecturer DS &amp; AI)</a:t>
            </a:r>
          </a:p>
        </p:txBody>
      </p:sp>
    </p:spTree>
    <p:extLst>
      <p:ext uri="{BB962C8B-B14F-4D97-AF65-F5344CB8AC3E}">
        <p14:creationId xmlns:p14="http://schemas.microsoft.com/office/powerpoint/2010/main" val="189558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46DD1-07CA-A29C-338F-579794530EF3}"/>
              </a:ext>
            </a:extLst>
          </p:cNvPr>
          <p:cNvSpPr>
            <a:spLocks noGrp="1"/>
          </p:cNvSpPr>
          <p:nvPr>
            <p:ph type="title"/>
          </p:nvPr>
        </p:nvSpPr>
        <p:spPr/>
        <p:txBody>
          <a:bodyPr/>
          <a:lstStyle/>
          <a:p>
            <a:r>
              <a:rPr lang="en-US" dirty="0">
                <a:solidFill>
                  <a:srgbClr val="00D4D3"/>
                </a:solidFill>
              </a:rPr>
              <a:t>What is K-means Clustering?</a:t>
            </a:r>
          </a:p>
        </p:txBody>
      </p:sp>
      <p:sp>
        <p:nvSpPr>
          <p:cNvPr id="3" name="Content Placeholder 2">
            <a:extLst>
              <a:ext uri="{FF2B5EF4-FFF2-40B4-BE49-F238E27FC236}">
                <a16:creationId xmlns:a16="http://schemas.microsoft.com/office/drawing/2014/main" id="{4B22030A-7095-CCB4-95CD-0E54FCF22C3C}"/>
              </a:ext>
            </a:extLst>
          </p:cNvPr>
          <p:cNvSpPr>
            <a:spLocks noGrp="1"/>
          </p:cNvSpPr>
          <p:nvPr>
            <p:ph idx="1"/>
          </p:nvPr>
        </p:nvSpPr>
        <p:spPr/>
        <p:txBody>
          <a:bodyPr/>
          <a:lstStyle/>
          <a:p>
            <a:r>
              <a:rPr lang="en-US" dirty="0"/>
              <a:t>K-means clustering is an </a:t>
            </a:r>
            <a:r>
              <a:rPr lang="en-US" dirty="0">
                <a:solidFill>
                  <a:srgbClr val="00D4D3"/>
                </a:solidFill>
              </a:rPr>
              <a:t>unsupervised machine learning </a:t>
            </a:r>
            <a:r>
              <a:rPr lang="en-US" dirty="0"/>
              <a:t>algorithm used to group a dataset into k clusters. </a:t>
            </a:r>
          </a:p>
          <a:p>
            <a:r>
              <a:rPr lang="en-US" dirty="0"/>
              <a:t>It is an iterative algorithm that starts by </a:t>
            </a:r>
            <a:r>
              <a:rPr lang="en-US" dirty="0">
                <a:solidFill>
                  <a:srgbClr val="00D4D3"/>
                </a:solidFill>
              </a:rPr>
              <a:t>randomly selecting k centroids</a:t>
            </a:r>
            <a:r>
              <a:rPr lang="en-US" dirty="0"/>
              <a:t> in the dataset. After selecting the centroids, the entire dataset is </a:t>
            </a:r>
            <a:r>
              <a:rPr lang="en-US" dirty="0">
                <a:solidFill>
                  <a:srgbClr val="00D4D3"/>
                </a:solidFill>
              </a:rPr>
              <a:t>divided into clusters based on the distance </a:t>
            </a:r>
            <a:r>
              <a:rPr lang="en-US" dirty="0"/>
              <a:t>of the data points from the </a:t>
            </a:r>
            <a:r>
              <a:rPr lang="en-US" dirty="0">
                <a:solidFill>
                  <a:srgbClr val="00D4D3"/>
                </a:solidFill>
              </a:rPr>
              <a:t>centroid</a:t>
            </a:r>
            <a:r>
              <a:rPr lang="en-US" dirty="0"/>
              <a:t>. </a:t>
            </a:r>
          </a:p>
          <a:p>
            <a:r>
              <a:rPr lang="en-US" dirty="0"/>
              <a:t>In the new clusters, the centroids are </a:t>
            </a:r>
            <a:r>
              <a:rPr lang="en-US" dirty="0">
                <a:solidFill>
                  <a:srgbClr val="00D4D3"/>
                </a:solidFill>
              </a:rPr>
              <a:t>calculated by taking the mean of the data points.</a:t>
            </a:r>
          </a:p>
        </p:txBody>
      </p:sp>
    </p:spTree>
    <p:extLst>
      <p:ext uri="{BB962C8B-B14F-4D97-AF65-F5344CB8AC3E}">
        <p14:creationId xmlns:p14="http://schemas.microsoft.com/office/powerpoint/2010/main" val="352213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D8794-CC35-CFD9-7E37-FC7F6005C4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28FC8F-9990-87EF-BDD1-B1840AE24C6C}"/>
              </a:ext>
            </a:extLst>
          </p:cNvPr>
          <p:cNvSpPr>
            <a:spLocks noGrp="1"/>
          </p:cNvSpPr>
          <p:nvPr>
            <p:ph type="title"/>
          </p:nvPr>
        </p:nvSpPr>
        <p:spPr/>
        <p:txBody>
          <a:bodyPr/>
          <a:lstStyle/>
          <a:p>
            <a:r>
              <a:rPr lang="en-US" dirty="0">
                <a:solidFill>
                  <a:srgbClr val="00D4D3"/>
                </a:solidFill>
              </a:rPr>
              <a:t>K-means Clustering Algorithm</a:t>
            </a:r>
          </a:p>
        </p:txBody>
      </p:sp>
      <p:sp>
        <p:nvSpPr>
          <p:cNvPr id="3" name="Content Placeholder 2">
            <a:extLst>
              <a:ext uri="{FF2B5EF4-FFF2-40B4-BE49-F238E27FC236}">
                <a16:creationId xmlns:a16="http://schemas.microsoft.com/office/drawing/2014/main" id="{FF7CE0FA-27D4-16E4-1810-65C845213227}"/>
              </a:ext>
            </a:extLst>
          </p:cNvPr>
          <p:cNvSpPr>
            <a:spLocks noGrp="1"/>
          </p:cNvSpPr>
          <p:nvPr>
            <p:ph idx="1"/>
          </p:nvPr>
        </p:nvSpPr>
        <p:spPr/>
        <p:txBody>
          <a:bodyPr>
            <a:normAutofit fontScale="85000" lnSpcReduction="10000"/>
          </a:bodyPr>
          <a:lstStyle/>
          <a:p>
            <a:r>
              <a:rPr lang="en-US" dirty="0"/>
              <a:t>First, we will </a:t>
            </a:r>
            <a:r>
              <a:rPr lang="en-US" dirty="0">
                <a:solidFill>
                  <a:srgbClr val="00D4D3"/>
                </a:solidFill>
              </a:rPr>
              <a:t>select K random entries </a:t>
            </a:r>
            <a:r>
              <a:rPr lang="en-US" dirty="0"/>
              <a:t>from the dataset and use them as centroids. </a:t>
            </a:r>
          </a:p>
          <a:p>
            <a:r>
              <a:rPr lang="en-US" dirty="0"/>
              <a:t>Now, we will find the </a:t>
            </a:r>
            <a:r>
              <a:rPr lang="en-US" dirty="0">
                <a:solidFill>
                  <a:srgbClr val="00D4D3"/>
                </a:solidFill>
              </a:rPr>
              <a:t>distance of each entry in the dataset </a:t>
            </a:r>
            <a:r>
              <a:rPr lang="en-US" dirty="0"/>
              <a:t>from the centroids. You can use any distance metric such as </a:t>
            </a:r>
            <a:r>
              <a:rPr lang="en-US" dirty="0" err="1">
                <a:solidFill>
                  <a:srgbClr val="00D4D3"/>
                </a:solidFill>
              </a:rPr>
              <a:t>euclidean</a:t>
            </a:r>
            <a:r>
              <a:rPr lang="en-US" dirty="0">
                <a:solidFill>
                  <a:srgbClr val="00D4D3"/>
                </a:solidFill>
              </a:rPr>
              <a:t> distance, Manhattan distance, or squared </a:t>
            </a:r>
            <a:r>
              <a:rPr lang="en-US" dirty="0" err="1">
                <a:solidFill>
                  <a:srgbClr val="00D4D3"/>
                </a:solidFill>
              </a:rPr>
              <a:t>euclidean</a:t>
            </a:r>
            <a:r>
              <a:rPr lang="en-US" dirty="0">
                <a:solidFill>
                  <a:srgbClr val="00D4D3"/>
                </a:solidFill>
              </a:rPr>
              <a:t> distance</a:t>
            </a:r>
            <a:r>
              <a:rPr lang="en-US" dirty="0"/>
              <a:t>.</a:t>
            </a:r>
          </a:p>
          <a:p>
            <a:r>
              <a:rPr lang="en-US" dirty="0"/>
              <a:t>After finding the distance of each data entry from the centroids, we will start assigning the data points to clusters. We will assign each data point to the cluster with the </a:t>
            </a:r>
            <a:r>
              <a:rPr lang="en-US" dirty="0">
                <a:solidFill>
                  <a:srgbClr val="00D4D3"/>
                </a:solidFill>
              </a:rPr>
              <a:t>centroid to which it has the least distance</a:t>
            </a:r>
            <a:r>
              <a:rPr lang="en-US" dirty="0"/>
              <a:t>.</a:t>
            </a:r>
          </a:p>
          <a:p>
            <a:r>
              <a:rPr lang="en-US" dirty="0"/>
              <a:t>After assigning the points to clusters, we will </a:t>
            </a:r>
            <a:r>
              <a:rPr lang="en-US" dirty="0">
                <a:solidFill>
                  <a:srgbClr val="00D4D3"/>
                </a:solidFill>
              </a:rPr>
              <a:t>calculate the new centroid</a:t>
            </a:r>
            <a:r>
              <a:rPr lang="en-US" dirty="0"/>
              <a:t> of the clusters. For this, we will use the </a:t>
            </a:r>
            <a:r>
              <a:rPr lang="en-US" dirty="0">
                <a:solidFill>
                  <a:srgbClr val="00D4D3"/>
                </a:solidFill>
              </a:rPr>
              <a:t>mean of each data point in the same cluster </a:t>
            </a:r>
            <a:r>
              <a:rPr lang="en-US" dirty="0"/>
              <a:t>as the new centroid. If the newly created centroids are the same as the centroids in the previous iteration, we will consider the current clusters to be final. Hence, we will stop the execution of the algorithm. If any of the newly created centroids is different from the centroids in the previous iteration, we will go to step 2.</a:t>
            </a:r>
            <a:endParaRPr lang="en-US" dirty="0">
              <a:solidFill>
                <a:srgbClr val="00D4D3"/>
              </a:solidFill>
            </a:endParaRPr>
          </a:p>
        </p:txBody>
      </p:sp>
    </p:spTree>
    <p:extLst>
      <p:ext uri="{BB962C8B-B14F-4D97-AF65-F5344CB8AC3E}">
        <p14:creationId xmlns:p14="http://schemas.microsoft.com/office/powerpoint/2010/main" val="2844050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75234-56FC-751E-E7D6-B95D8B0DC9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11B26-C79E-9052-8053-1CCE3FC754D3}"/>
              </a:ext>
            </a:extLst>
          </p:cNvPr>
          <p:cNvSpPr>
            <a:spLocks noGrp="1"/>
          </p:cNvSpPr>
          <p:nvPr>
            <p:ph type="title"/>
          </p:nvPr>
        </p:nvSpPr>
        <p:spPr/>
        <p:txBody>
          <a:bodyPr/>
          <a:lstStyle/>
          <a:p>
            <a:r>
              <a:rPr lang="en-US" dirty="0">
                <a:solidFill>
                  <a:srgbClr val="00D4D3"/>
                </a:solidFill>
              </a:rPr>
              <a:t>Distance Functions</a:t>
            </a:r>
          </a:p>
        </p:txBody>
      </p:sp>
      <p:sp>
        <p:nvSpPr>
          <p:cNvPr id="3" name="Content Placeholder 2">
            <a:extLst>
              <a:ext uri="{FF2B5EF4-FFF2-40B4-BE49-F238E27FC236}">
                <a16:creationId xmlns:a16="http://schemas.microsoft.com/office/drawing/2014/main" id="{C5F4A786-6E08-91EB-F0EA-EBF6F53A9D3A}"/>
              </a:ext>
            </a:extLst>
          </p:cNvPr>
          <p:cNvSpPr>
            <a:spLocks noGrp="1"/>
          </p:cNvSpPr>
          <p:nvPr>
            <p:ph idx="1"/>
          </p:nvPr>
        </p:nvSpPr>
        <p:spPr>
          <a:xfrm>
            <a:off x="838200" y="1825625"/>
            <a:ext cx="5257800" cy="4351338"/>
          </a:xfrm>
        </p:spPr>
        <p:txBody>
          <a:bodyPr>
            <a:normAutofit/>
          </a:bodyPr>
          <a:lstStyle/>
          <a:p>
            <a:r>
              <a:rPr lang="en-US" dirty="0"/>
              <a:t>There are various methods for calculating the distance between the new point and each training point</a:t>
            </a:r>
          </a:p>
          <a:p>
            <a:endParaRPr lang="en-US" dirty="0"/>
          </a:p>
          <a:p>
            <a:r>
              <a:rPr lang="en-US" dirty="0"/>
              <a:t>The most commonly known methods are:</a:t>
            </a:r>
          </a:p>
          <a:p>
            <a:pPr lvl="1"/>
            <a:r>
              <a:rPr lang="en-US" dirty="0"/>
              <a:t>Euclidian (for continuous)</a:t>
            </a:r>
          </a:p>
          <a:p>
            <a:pPr lvl="1"/>
            <a:r>
              <a:rPr lang="en-US" dirty="0"/>
              <a:t>Manhattan (for continuous)</a:t>
            </a:r>
          </a:p>
          <a:p>
            <a:pPr lvl="1"/>
            <a:r>
              <a:rPr lang="en-US" dirty="0"/>
              <a:t>Hamming distance (for categorical)</a:t>
            </a:r>
          </a:p>
        </p:txBody>
      </p:sp>
      <p:pic>
        <p:nvPicPr>
          <p:cNvPr id="4" name="Content Placeholder 3">
            <a:extLst>
              <a:ext uri="{FF2B5EF4-FFF2-40B4-BE49-F238E27FC236}">
                <a16:creationId xmlns:a16="http://schemas.microsoft.com/office/drawing/2014/main" id="{00C01D36-2752-9E60-8956-2C6BC832408B}"/>
              </a:ext>
            </a:extLst>
          </p:cNvPr>
          <p:cNvPicPr>
            <a:picLocks noChangeAspect="1"/>
          </p:cNvPicPr>
          <p:nvPr/>
        </p:nvPicPr>
        <p:blipFill rotWithShape="1">
          <a:blip r:embed="rId2"/>
          <a:srcRect/>
          <a:stretch/>
        </p:blipFill>
        <p:spPr>
          <a:xfrm>
            <a:off x="6623697" y="1690688"/>
            <a:ext cx="4730103" cy="3155795"/>
          </a:xfrm>
          <a:prstGeom prst="rect">
            <a:avLst/>
          </a:prstGeom>
        </p:spPr>
      </p:pic>
    </p:spTree>
    <p:extLst>
      <p:ext uri="{BB962C8B-B14F-4D97-AF65-F5344CB8AC3E}">
        <p14:creationId xmlns:p14="http://schemas.microsoft.com/office/powerpoint/2010/main" val="1431723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EABE1-4400-DB76-B834-175993EAAE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AFDDD-05EE-6790-3C9B-77722C536AF1}"/>
              </a:ext>
            </a:extLst>
          </p:cNvPr>
          <p:cNvSpPr>
            <a:spLocks noGrp="1"/>
          </p:cNvSpPr>
          <p:nvPr>
            <p:ph type="title"/>
          </p:nvPr>
        </p:nvSpPr>
        <p:spPr/>
        <p:txBody>
          <a:bodyPr/>
          <a:lstStyle/>
          <a:p>
            <a:r>
              <a:rPr lang="en-US" dirty="0">
                <a:solidFill>
                  <a:srgbClr val="00D4D3"/>
                </a:solidFill>
              </a:rPr>
              <a:t>K-Means Example (Cont.)</a:t>
            </a:r>
          </a:p>
        </p:txBody>
      </p:sp>
      <p:graphicFrame>
        <p:nvGraphicFramePr>
          <p:cNvPr id="4" name="Table 3">
            <a:extLst>
              <a:ext uri="{FF2B5EF4-FFF2-40B4-BE49-F238E27FC236}">
                <a16:creationId xmlns:a16="http://schemas.microsoft.com/office/drawing/2014/main" id="{C838B4E2-0791-D577-A939-C439A6192AFB}"/>
              </a:ext>
            </a:extLst>
          </p:cNvPr>
          <p:cNvGraphicFramePr>
            <a:graphicFrameLocks noGrp="1"/>
          </p:cNvGraphicFramePr>
          <p:nvPr>
            <p:extLst>
              <p:ext uri="{D42A27DB-BD31-4B8C-83A1-F6EECF244321}">
                <p14:modId xmlns:p14="http://schemas.microsoft.com/office/powerpoint/2010/main" val="291384310"/>
              </p:ext>
            </p:extLst>
          </p:nvPr>
        </p:nvGraphicFramePr>
        <p:xfrm>
          <a:off x="838200" y="1690688"/>
          <a:ext cx="3388112" cy="4351344"/>
        </p:xfrm>
        <a:graphic>
          <a:graphicData uri="http://schemas.openxmlformats.org/drawingml/2006/table">
            <a:tbl>
              <a:tblPr/>
              <a:tblGrid>
                <a:gridCol w="1694056">
                  <a:extLst>
                    <a:ext uri="{9D8B030D-6E8A-4147-A177-3AD203B41FA5}">
                      <a16:colId xmlns:a16="http://schemas.microsoft.com/office/drawing/2014/main" val="1338329223"/>
                    </a:ext>
                  </a:extLst>
                </a:gridCol>
                <a:gridCol w="1694056">
                  <a:extLst>
                    <a:ext uri="{9D8B030D-6E8A-4147-A177-3AD203B41FA5}">
                      <a16:colId xmlns:a16="http://schemas.microsoft.com/office/drawing/2014/main" val="1346064060"/>
                    </a:ext>
                  </a:extLst>
                </a:gridCol>
              </a:tblGrid>
              <a:tr h="271959">
                <a:tc>
                  <a:txBody>
                    <a:bodyPr/>
                    <a:lstStyle/>
                    <a:p>
                      <a:pPr latinLnBrk="0">
                        <a:buNone/>
                      </a:pPr>
                      <a:r>
                        <a:rPr lang="en-US" sz="1300">
                          <a:effectLst/>
                        </a:rPr>
                        <a:t>Point</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300">
                          <a:effectLst/>
                        </a:rPr>
                        <a:t>Coordinates</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297645829"/>
                  </a:ext>
                </a:extLst>
              </a:tr>
              <a:tr h="271959">
                <a:tc>
                  <a:txBody>
                    <a:bodyPr/>
                    <a:lstStyle/>
                    <a:p>
                      <a:pPr latinLnBrk="0">
                        <a:buNone/>
                      </a:pPr>
                      <a:r>
                        <a:rPr lang="en-US" sz="1300">
                          <a:effectLst/>
                        </a:rPr>
                        <a:t>A1</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300">
                          <a:effectLst/>
                        </a:rPr>
                        <a:t>(2,10)</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2133285451"/>
                  </a:ext>
                </a:extLst>
              </a:tr>
              <a:tr h="271959">
                <a:tc>
                  <a:txBody>
                    <a:bodyPr/>
                    <a:lstStyle/>
                    <a:p>
                      <a:pPr latinLnBrk="0">
                        <a:buNone/>
                      </a:pPr>
                      <a:r>
                        <a:rPr lang="en-US" sz="1300">
                          <a:effectLst/>
                        </a:rPr>
                        <a:t>A2</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300">
                          <a:effectLst/>
                        </a:rPr>
                        <a:t>(2,6)</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693229286"/>
                  </a:ext>
                </a:extLst>
              </a:tr>
              <a:tr h="271959">
                <a:tc>
                  <a:txBody>
                    <a:bodyPr/>
                    <a:lstStyle/>
                    <a:p>
                      <a:pPr latinLnBrk="0">
                        <a:buNone/>
                      </a:pPr>
                      <a:r>
                        <a:rPr lang="en-US" sz="1300">
                          <a:effectLst/>
                        </a:rPr>
                        <a:t>A3</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300">
                          <a:effectLst/>
                        </a:rPr>
                        <a:t>(11,11)</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236780269"/>
                  </a:ext>
                </a:extLst>
              </a:tr>
              <a:tr h="271959">
                <a:tc>
                  <a:txBody>
                    <a:bodyPr/>
                    <a:lstStyle/>
                    <a:p>
                      <a:pPr latinLnBrk="0">
                        <a:buNone/>
                      </a:pPr>
                      <a:r>
                        <a:rPr lang="en-US" sz="1300">
                          <a:effectLst/>
                        </a:rPr>
                        <a:t>A4</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300">
                          <a:effectLst/>
                        </a:rPr>
                        <a:t>(6,9)</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3696616886"/>
                  </a:ext>
                </a:extLst>
              </a:tr>
              <a:tr h="271959">
                <a:tc>
                  <a:txBody>
                    <a:bodyPr/>
                    <a:lstStyle/>
                    <a:p>
                      <a:pPr latinLnBrk="0">
                        <a:buNone/>
                      </a:pPr>
                      <a:r>
                        <a:rPr lang="en-US" sz="1300">
                          <a:effectLst/>
                        </a:rPr>
                        <a:t>A5</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300">
                          <a:effectLst/>
                        </a:rPr>
                        <a:t>(6,4)</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997798641"/>
                  </a:ext>
                </a:extLst>
              </a:tr>
              <a:tr h="271959">
                <a:tc>
                  <a:txBody>
                    <a:bodyPr/>
                    <a:lstStyle/>
                    <a:p>
                      <a:pPr latinLnBrk="0">
                        <a:buNone/>
                      </a:pPr>
                      <a:r>
                        <a:rPr lang="en-US" sz="1300">
                          <a:effectLst/>
                        </a:rPr>
                        <a:t>A6</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300">
                          <a:effectLst/>
                        </a:rPr>
                        <a:t>(1,2)</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2574824278"/>
                  </a:ext>
                </a:extLst>
              </a:tr>
              <a:tr h="271959">
                <a:tc>
                  <a:txBody>
                    <a:bodyPr/>
                    <a:lstStyle/>
                    <a:p>
                      <a:pPr latinLnBrk="0">
                        <a:buNone/>
                      </a:pPr>
                      <a:r>
                        <a:rPr lang="en-US" sz="1300">
                          <a:effectLst/>
                        </a:rPr>
                        <a:t>A7</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300">
                          <a:effectLst/>
                        </a:rPr>
                        <a:t>(5,10)</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266864903"/>
                  </a:ext>
                </a:extLst>
              </a:tr>
              <a:tr h="271959">
                <a:tc>
                  <a:txBody>
                    <a:bodyPr/>
                    <a:lstStyle/>
                    <a:p>
                      <a:pPr latinLnBrk="0">
                        <a:buNone/>
                      </a:pPr>
                      <a:r>
                        <a:rPr lang="en-US" sz="1300">
                          <a:effectLst/>
                        </a:rPr>
                        <a:t>A8</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300">
                          <a:effectLst/>
                        </a:rPr>
                        <a:t>(4,9)</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2193660598"/>
                  </a:ext>
                </a:extLst>
              </a:tr>
              <a:tr h="271959">
                <a:tc>
                  <a:txBody>
                    <a:bodyPr/>
                    <a:lstStyle/>
                    <a:p>
                      <a:pPr latinLnBrk="0">
                        <a:buNone/>
                      </a:pPr>
                      <a:r>
                        <a:rPr lang="en-US" sz="1300">
                          <a:effectLst/>
                        </a:rPr>
                        <a:t>A9</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300">
                          <a:effectLst/>
                        </a:rPr>
                        <a:t>(10,12)</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648491254"/>
                  </a:ext>
                </a:extLst>
              </a:tr>
              <a:tr h="271959">
                <a:tc>
                  <a:txBody>
                    <a:bodyPr/>
                    <a:lstStyle/>
                    <a:p>
                      <a:pPr latinLnBrk="0">
                        <a:buNone/>
                      </a:pPr>
                      <a:r>
                        <a:rPr lang="en-US" sz="1300">
                          <a:effectLst/>
                        </a:rPr>
                        <a:t>A10</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300">
                          <a:effectLst/>
                        </a:rPr>
                        <a:t>(7,5)</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3513351246"/>
                  </a:ext>
                </a:extLst>
              </a:tr>
              <a:tr h="271959">
                <a:tc>
                  <a:txBody>
                    <a:bodyPr/>
                    <a:lstStyle/>
                    <a:p>
                      <a:pPr latinLnBrk="0">
                        <a:buNone/>
                      </a:pPr>
                      <a:r>
                        <a:rPr lang="en-US" sz="1300">
                          <a:effectLst/>
                        </a:rPr>
                        <a:t>A11</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300">
                          <a:effectLst/>
                        </a:rPr>
                        <a:t>(9,11)</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604718697"/>
                  </a:ext>
                </a:extLst>
              </a:tr>
              <a:tr h="271959">
                <a:tc>
                  <a:txBody>
                    <a:bodyPr/>
                    <a:lstStyle/>
                    <a:p>
                      <a:pPr latinLnBrk="0">
                        <a:buNone/>
                      </a:pPr>
                      <a:r>
                        <a:rPr lang="en-US" sz="1300">
                          <a:effectLst/>
                        </a:rPr>
                        <a:t>A12</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300">
                          <a:effectLst/>
                        </a:rPr>
                        <a:t>(4,6)</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3319364902"/>
                  </a:ext>
                </a:extLst>
              </a:tr>
              <a:tr h="271959">
                <a:tc>
                  <a:txBody>
                    <a:bodyPr/>
                    <a:lstStyle/>
                    <a:p>
                      <a:pPr latinLnBrk="0">
                        <a:buNone/>
                      </a:pPr>
                      <a:r>
                        <a:rPr lang="en-US" sz="1300">
                          <a:effectLst/>
                        </a:rPr>
                        <a:t>A13</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300">
                          <a:effectLst/>
                        </a:rPr>
                        <a:t>(3,10)</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915810684"/>
                  </a:ext>
                </a:extLst>
              </a:tr>
              <a:tr h="271959">
                <a:tc>
                  <a:txBody>
                    <a:bodyPr/>
                    <a:lstStyle/>
                    <a:p>
                      <a:pPr latinLnBrk="0">
                        <a:buNone/>
                      </a:pPr>
                      <a:r>
                        <a:rPr lang="en-US" sz="1300">
                          <a:effectLst/>
                        </a:rPr>
                        <a:t>A14</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300">
                          <a:effectLst/>
                        </a:rPr>
                        <a:t>(3,8)</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2162485185"/>
                  </a:ext>
                </a:extLst>
              </a:tr>
              <a:tr h="271959">
                <a:tc>
                  <a:txBody>
                    <a:bodyPr/>
                    <a:lstStyle/>
                    <a:p>
                      <a:pPr latinLnBrk="0">
                        <a:buNone/>
                      </a:pPr>
                      <a:r>
                        <a:rPr lang="en-US" sz="1300">
                          <a:effectLst/>
                        </a:rPr>
                        <a:t>A15</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300" dirty="0">
                          <a:effectLst/>
                        </a:rPr>
                        <a:t>(6,11)</a:t>
                      </a:r>
                    </a:p>
                  </a:txBody>
                  <a:tcPr marL="67990" marR="67990" marT="33995" marB="33995"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82312088"/>
                  </a:ext>
                </a:extLst>
              </a:tr>
            </a:tbl>
          </a:graphicData>
        </a:graphic>
      </p:graphicFrame>
      <p:sp>
        <p:nvSpPr>
          <p:cNvPr id="7" name="TextBox 6">
            <a:extLst>
              <a:ext uri="{FF2B5EF4-FFF2-40B4-BE49-F238E27FC236}">
                <a16:creationId xmlns:a16="http://schemas.microsoft.com/office/drawing/2014/main" id="{44B49974-A02C-4166-7E14-A159B35C02A6}"/>
              </a:ext>
            </a:extLst>
          </p:cNvPr>
          <p:cNvSpPr txBox="1"/>
          <p:nvPr/>
        </p:nvSpPr>
        <p:spPr>
          <a:xfrm>
            <a:off x="4873083" y="1690688"/>
            <a:ext cx="6480717" cy="4093428"/>
          </a:xfrm>
          <a:prstGeom prst="rect">
            <a:avLst/>
          </a:prstGeom>
          <a:noFill/>
        </p:spPr>
        <p:txBody>
          <a:bodyPr wrap="square" rtlCol="0">
            <a:spAutoFit/>
          </a:bodyPr>
          <a:lstStyle/>
          <a:p>
            <a:r>
              <a:rPr lang="en-US" sz="2000" dirty="0"/>
              <a:t>We are also given the information that we need to make 3 clusters. It means we are given K=3.We will solve this numerical on k-means clustering using the approach discussed below.</a:t>
            </a:r>
          </a:p>
          <a:p>
            <a:endParaRPr lang="en-US" sz="2000" dirty="0"/>
          </a:p>
          <a:p>
            <a:r>
              <a:rPr lang="en-US" sz="2000" dirty="0"/>
              <a:t>First, we will randomly choose 3 centroids from the given data. Let us consider A2 (2,6), A7 (5,10), and A15 (6,11) as the centroids of the initial clusters. Hence, we will consider that:</a:t>
            </a:r>
          </a:p>
          <a:p>
            <a:endParaRPr lang="en-US" sz="2000" dirty="0"/>
          </a:p>
          <a:p>
            <a:r>
              <a:rPr lang="en-US" sz="2000" dirty="0"/>
              <a:t>Centroid 1=(2,6) is associated with cluster 1.</a:t>
            </a:r>
          </a:p>
          <a:p>
            <a:r>
              <a:rPr lang="en-US" sz="2000" dirty="0"/>
              <a:t>Centroid 2=(5,10) is associated with cluster 2.</a:t>
            </a:r>
          </a:p>
          <a:p>
            <a:r>
              <a:rPr lang="en-US" sz="2000" dirty="0"/>
              <a:t>Centroid 3=(6,11) is associated with cluster 3.</a:t>
            </a:r>
          </a:p>
        </p:txBody>
      </p:sp>
    </p:spTree>
    <p:extLst>
      <p:ext uri="{BB962C8B-B14F-4D97-AF65-F5344CB8AC3E}">
        <p14:creationId xmlns:p14="http://schemas.microsoft.com/office/powerpoint/2010/main" val="1516863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23BFF-7534-4FFA-7CC6-BA4C9134C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D3832-D732-46D4-D894-04098C020AF7}"/>
              </a:ext>
            </a:extLst>
          </p:cNvPr>
          <p:cNvSpPr>
            <a:spLocks noGrp="1"/>
          </p:cNvSpPr>
          <p:nvPr>
            <p:ph type="title"/>
          </p:nvPr>
        </p:nvSpPr>
        <p:spPr/>
        <p:txBody>
          <a:bodyPr/>
          <a:lstStyle/>
          <a:p>
            <a:r>
              <a:rPr lang="en-US" dirty="0">
                <a:solidFill>
                  <a:srgbClr val="00D4D3"/>
                </a:solidFill>
              </a:rPr>
              <a:t>K-Means Example (Cont.)</a:t>
            </a:r>
          </a:p>
        </p:txBody>
      </p:sp>
      <p:sp>
        <p:nvSpPr>
          <p:cNvPr id="7" name="TextBox 6">
            <a:extLst>
              <a:ext uri="{FF2B5EF4-FFF2-40B4-BE49-F238E27FC236}">
                <a16:creationId xmlns:a16="http://schemas.microsoft.com/office/drawing/2014/main" id="{C01502BA-5FB4-6369-360A-EB42C9A76240}"/>
              </a:ext>
            </a:extLst>
          </p:cNvPr>
          <p:cNvSpPr txBox="1"/>
          <p:nvPr/>
        </p:nvSpPr>
        <p:spPr>
          <a:xfrm>
            <a:off x="6936059" y="1690688"/>
            <a:ext cx="4417741" cy="3539430"/>
          </a:xfrm>
          <a:prstGeom prst="rect">
            <a:avLst/>
          </a:prstGeom>
          <a:noFill/>
        </p:spPr>
        <p:txBody>
          <a:bodyPr wrap="square" rtlCol="0">
            <a:spAutoFit/>
          </a:bodyPr>
          <a:lstStyle/>
          <a:p>
            <a:r>
              <a:rPr lang="en-US" sz="1600" dirty="0"/>
              <a:t>In cluster 1, we have 6 points i.e. A2 (2,6), A5 (6,4), A6 (1,2), A10 (7,5), A12 (4,6), A14 (3,8). To calculate the new centroid for cluster 1, we will find the mean of the x and y coordinates of each point in the cluster. Hence, the </a:t>
            </a:r>
            <a:r>
              <a:rPr lang="en-US" sz="1600" dirty="0">
                <a:solidFill>
                  <a:srgbClr val="00D4D3"/>
                </a:solidFill>
              </a:rPr>
              <a:t>new centroid for cluster 1 is (3.833, 5.167)</a:t>
            </a:r>
            <a:r>
              <a:rPr lang="en-US" sz="1600" dirty="0"/>
              <a:t>.</a:t>
            </a:r>
          </a:p>
          <a:p>
            <a:endParaRPr lang="en-US" sz="1600" dirty="0"/>
          </a:p>
          <a:p>
            <a:r>
              <a:rPr lang="en-US" sz="1600" dirty="0"/>
              <a:t>In cluster 2, we have 5 points i.e. A1 (2,10), A4 (6,9), A7 (5,10) , A8 (4,9), and A13 (3,10). Hence, the </a:t>
            </a:r>
            <a:r>
              <a:rPr lang="en-US" sz="1600" dirty="0">
                <a:solidFill>
                  <a:srgbClr val="00D4D3"/>
                </a:solidFill>
              </a:rPr>
              <a:t>new centroid for cluster 2 is (4, 9.6) </a:t>
            </a:r>
          </a:p>
          <a:p>
            <a:endParaRPr lang="en-US" sz="1600" dirty="0"/>
          </a:p>
          <a:p>
            <a:r>
              <a:rPr lang="en-US" sz="1600" dirty="0"/>
              <a:t>In cluster 3, we have 4 points i.e. A3 (11,11), A9 (10,12), A11 (9,11), and A15 (6,11). Hence, the </a:t>
            </a:r>
            <a:r>
              <a:rPr lang="en-US" sz="1600" dirty="0">
                <a:solidFill>
                  <a:srgbClr val="00D4D3"/>
                </a:solidFill>
              </a:rPr>
              <a:t>new centroid for cluster 3 is (9, 11.25).</a:t>
            </a:r>
          </a:p>
        </p:txBody>
      </p:sp>
      <p:graphicFrame>
        <p:nvGraphicFramePr>
          <p:cNvPr id="3" name="Table 2">
            <a:extLst>
              <a:ext uri="{FF2B5EF4-FFF2-40B4-BE49-F238E27FC236}">
                <a16:creationId xmlns:a16="http://schemas.microsoft.com/office/drawing/2014/main" id="{F46F04BA-11B9-1BC1-B553-AE0DF830A2D6}"/>
              </a:ext>
            </a:extLst>
          </p:cNvPr>
          <p:cNvGraphicFramePr>
            <a:graphicFrameLocks noGrp="1"/>
          </p:cNvGraphicFramePr>
          <p:nvPr>
            <p:extLst>
              <p:ext uri="{D42A27DB-BD31-4B8C-83A1-F6EECF244321}">
                <p14:modId xmlns:p14="http://schemas.microsoft.com/office/powerpoint/2010/main" val="3187908786"/>
              </p:ext>
            </p:extLst>
          </p:nvPr>
        </p:nvGraphicFramePr>
        <p:xfrm>
          <a:off x="838200" y="1690688"/>
          <a:ext cx="5885985" cy="4351340"/>
        </p:xfrm>
        <a:graphic>
          <a:graphicData uri="http://schemas.openxmlformats.org/drawingml/2006/table">
            <a:tbl>
              <a:tblPr/>
              <a:tblGrid>
                <a:gridCol w="1177197">
                  <a:extLst>
                    <a:ext uri="{9D8B030D-6E8A-4147-A177-3AD203B41FA5}">
                      <a16:colId xmlns:a16="http://schemas.microsoft.com/office/drawing/2014/main" val="2658974532"/>
                    </a:ext>
                  </a:extLst>
                </a:gridCol>
                <a:gridCol w="1177197">
                  <a:extLst>
                    <a:ext uri="{9D8B030D-6E8A-4147-A177-3AD203B41FA5}">
                      <a16:colId xmlns:a16="http://schemas.microsoft.com/office/drawing/2014/main" val="665642378"/>
                    </a:ext>
                  </a:extLst>
                </a:gridCol>
                <a:gridCol w="1177197">
                  <a:extLst>
                    <a:ext uri="{9D8B030D-6E8A-4147-A177-3AD203B41FA5}">
                      <a16:colId xmlns:a16="http://schemas.microsoft.com/office/drawing/2014/main" val="1686260004"/>
                    </a:ext>
                  </a:extLst>
                </a:gridCol>
                <a:gridCol w="1177197">
                  <a:extLst>
                    <a:ext uri="{9D8B030D-6E8A-4147-A177-3AD203B41FA5}">
                      <a16:colId xmlns:a16="http://schemas.microsoft.com/office/drawing/2014/main" val="3716660114"/>
                    </a:ext>
                  </a:extLst>
                </a:gridCol>
                <a:gridCol w="1177197">
                  <a:extLst>
                    <a:ext uri="{9D8B030D-6E8A-4147-A177-3AD203B41FA5}">
                      <a16:colId xmlns:a16="http://schemas.microsoft.com/office/drawing/2014/main" val="3697031413"/>
                    </a:ext>
                  </a:extLst>
                </a:gridCol>
              </a:tblGrid>
              <a:tr h="621620">
                <a:tc>
                  <a:txBody>
                    <a:bodyPr/>
                    <a:lstStyle/>
                    <a:p>
                      <a:pPr latinLnBrk="0">
                        <a:buNone/>
                      </a:pPr>
                      <a:r>
                        <a:rPr lang="en-US" sz="1200">
                          <a:effectLst/>
                        </a:rPr>
                        <a:t>Point</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Distance from Centroid 1 (2,6)</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Distance from Centroid 2 (5,10)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Distance from Centroid 3 (6,11)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Assigned Cluster</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2013794986"/>
                  </a:ext>
                </a:extLst>
              </a:tr>
              <a:tr h="248648">
                <a:tc>
                  <a:txBody>
                    <a:bodyPr/>
                    <a:lstStyle/>
                    <a:p>
                      <a:pPr latinLnBrk="0">
                        <a:buNone/>
                      </a:pPr>
                      <a:r>
                        <a:rPr lang="en-US" sz="1200">
                          <a:effectLst/>
                        </a:rPr>
                        <a:t>A1 (2,10)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4.123106</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52825734"/>
                  </a:ext>
                </a:extLst>
              </a:tr>
              <a:tr h="248648">
                <a:tc>
                  <a:txBody>
                    <a:bodyPr/>
                    <a:lstStyle/>
                    <a:p>
                      <a:pPr latinLnBrk="0">
                        <a:buNone/>
                      </a:pPr>
                      <a:r>
                        <a:rPr lang="en-US" sz="1200">
                          <a:effectLst/>
                        </a:rPr>
                        <a:t>A2 (2,6)</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6.403124</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605679362"/>
                  </a:ext>
                </a:extLst>
              </a:tr>
              <a:tr h="248648">
                <a:tc>
                  <a:txBody>
                    <a:bodyPr/>
                    <a:lstStyle/>
                    <a:p>
                      <a:pPr latinLnBrk="0">
                        <a:buNone/>
                      </a:pPr>
                      <a:r>
                        <a:rPr lang="en-US" sz="1200">
                          <a:effectLst/>
                        </a:rPr>
                        <a:t>A3 (11,11)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10.29563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6.082763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4270243588"/>
                  </a:ext>
                </a:extLst>
              </a:tr>
              <a:tr h="248648">
                <a:tc>
                  <a:txBody>
                    <a:bodyPr/>
                    <a:lstStyle/>
                    <a:p>
                      <a:pPr latinLnBrk="0">
                        <a:buNone/>
                      </a:pPr>
                      <a:r>
                        <a:rPr lang="en-US" sz="1200">
                          <a:effectLst/>
                        </a:rPr>
                        <a:t>A4 (6,9)</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1.414214</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959989143"/>
                  </a:ext>
                </a:extLst>
              </a:tr>
              <a:tr h="248648">
                <a:tc>
                  <a:txBody>
                    <a:bodyPr/>
                    <a:lstStyle/>
                    <a:p>
                      <a:pPr latinLnBrk="0">
                        <a:buNone/>
                      </a:pPr>
                      <a:r>
                        <a:rPr lang="en-US" sz="1200">
                          <a:effectLst/>
                        </a:rPr>
                        <a:t>A5 (6,4)</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4.472136</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6.082763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7</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2281244012"/>
                  </a:ext>
                </a:extLst>
              </a:tr>
              <a:tr h="248648">
                <a:tc>
                  <a:txBody>
                    <a:bodyPr/>
                    <a:lstStyle/>
                    <a:p>
                      <a:pPr latinLnBrk="0">
                        <a:buNone/>
                      </a:pPr>
                      <a:r>
                        <a:rPr lang="en-US" sz="1200">
                          <a:effectLst/>
                        </a:rPr>
                        <a:t>A6 (1,2)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4.123106</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8.944272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10.29563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3746241896"/>
                  </a:ext>
                </a:extLst>
              </a:tr>
              <a:tr h="248648">
                <a:tc>
                  <a:txBody>
                    <a:bodyPr/>
                    <a:lstStyle/>
                    <a:p>
                      <a:pPr latinLnBrk="0">
                        <a:buNone/>
                      </a:pPr>
                      <a:r>
                        <a:rPr lang="en-US" sz="1200">
                          <a:effectLst/>
                        </a:rPr>
                        <a:t>A7 (5,10)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1.414214</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2580888288"/>
                  </a:ext>
                </a:extLst>
              </a:tr>
              <a:tr h="248648">
                <a:tc>
                  <a:txBody>
                    <a:bodyPr/>
                    <a:lstStyle/>
                    <a:p>
                      <a:pPr latinLnBrk="0">
                        <a:buNone/>
                      </a:pPr>
                      <a:r>
                        <a:rPr lang="en-US" sz="1200">
                          <a:effectLst/>
                        </a:rPr>
                        <a:t>A8 (4,9)</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3.605551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1.414214</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2.828427</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255262476"/>
                  </a:ext>
                </a:extLst>
              </a:tr>
              <a:tr h="248648">
                <a:tc>
                  <a:txBody>
                    <a:bodyPr/>
                    <a:lstStyle/>
                    <a:p>
                      <a:pPr latinLnBrk="0">
                        <a:buNone/>
                      </a:pPr>
                      <a:r>
                        <a:rPr lang="en-US" sz="1200">
                          <a:effectLst/>
                        </a:rPr>
                        <a:t>A9 (10,12)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5.385165</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4.123106</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2320992791"/>
                  </a:ext>
                </a:extLst>
              </a:tr>
              <a:tr h="248648">
                <a:tc>
                  <a:txBody>
                    <a:bodyPr/>
                    <a:lstStyle/>
                    <a:p>
                      <a:pPr latinLnBrk="0">
                        <a:buNone/>
                      </a:pPr>
                      <a:r>
                        <a:rPr lang="en-US" sz="1200">
                          <a:effectLst/>
                        </a:rPr>
                        <a:t>A10 (7,5)</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5.09902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5.385165</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6.082763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3077796269"/>
                  </a:ext>
                </a:extLst>
              </a:tr>
              <a:tr h="248648">
                <a:tc>
                  <a:txBody>
                    <a:bodyPr/>
                    <a:lstStyle/>
                    <a:p>
                      <a:pPr latinLnBrk="0">
                        <a:buNone/>
                      </a:pPr>
                      <a:r>
                        <a:rPr lang="en-US" sz="1200">
                          <a:effectLst/>
                        </a:rPr>
                        <a:t>A11 (9,11)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8.602325</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4.123106</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2592341"/>
                  </a:ext>
                </a:extLst>
              </a:tr>
              <a:tr h="248648">
                <a:tc>
                  <a:txBody>
                    <a:bodyPr/>
                    <a:lstStyle/>
                    <a:p>
                      <a:pPr latinLnBrk="0">
                        <a:buNone/>
                      </a:pPr>
                      <a:r>
                        <a:rPr lang="en-US" sz="1200">
                          <a:effectLst/>
                        </a:rPr>
                        <a:t>A12 (4,6)</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4.123106</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5.385165</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744629161"/>
                  </a:ext>
                </a:extLst>
              </a:tr>
              <a:tr h="248648">
                <a:tc>
                  <a:txBody>
                    <a:bodyPr/>
                    <a:lstStyle/>
                    <a:p>
                      <a:pPr latinLnBrk="0">
                        <a:buNone/>
                      </a:pPr>
                      <a:r>
                        <a:rPr lang="en-US" sz="1200">
                          <a:effectLst/>
                        </a:rPr>
                        <a:t>A13 (3,10)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4.123106</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3.162278</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3576817155"/>
                  </a:ext>
                </a:extLst>
              </a:tr>
              <a:tr h="248648">
                <a:tc>
                  <a:txBody>
                    <a:bodyPr/>
                    <a:lstStyle/>
                    <a:p>
                      <a:pPr latinLnBrk="0">
                        <a:buNone/>
                      </a:pPr>
                      <a:r>
                        <a:rPr lang="en-US" sz="1200">
                          <a:effectLst/>
                        </a:rPr>
                        <a:t>A14 (3,8)</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2.236068</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2.828427</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4.242641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521054837"/>
                  </a:ext>
                </a:extLst>
              </a:tr>
              <a:tr h="248648">
                <a:tc>
                  <a:txBody>
                    <a:bodyPr/>
                    <a:lstStyle/>
                    <a:p>
                      <a:pPr latinLnBrk="0">
                        <a:buNone/>
                      </a:pPr>
                      <a:r>
                        <a:rPr lang="en-US" sz="1200">
                          <a:effectLst/>
                        </a:rPr>
                        <a:t>A15 (6,11)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6.403124</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1.414214</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dirty="0">
                          <a:effectLst/>
                        </a:rPr>
                        <a:t>Cluster 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601941064"/>
                  </a:ext>
                </a:extLst>
              </a:tr>
            </a:tbl>
          </a:graphicData>
        </a:graphic>
      </p:graphicFrame>
    </p:spTree>
    <p:extLst>
      <p:ext uri="{BB962C8B-B14F-4D97-AF65-F5344CB8AC3E}">
        <p14:creationId xmlns:p14="http://schemas.microsoft.com/office/powerpoint/2010/main" val="3188993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268B5-BBCC-C5D0-D124-6DB551676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18E84C-2B5E-B5AC-562C-FEF70EB5578B}"/>
              </a:ext>
            </a:extLst>
          </p:cNvPr>
          <p:cNvSpPr>
            <a:spLocks noGrp="1"/>
          </p:cNvSpPr>
          <p:nvPr>
            <p:ph type="title"/>
          </p:nvPr>
        </p:nvSpPr>
        <p:spPr/>
        <p:txBody>
          <a:bodyPr/>
          <a:lstStyle/>
          <a:p>
            <a:r>
              <a:rPr lang="en-US" dirty="0">
                <a:solidFill>
                  <a:srgbClr val="00D4D3"/>
                </a:solidFill>
              </a:rPr>
              <a:t>K-Means Example (Cont.)</a:t>
            </a:r>
          </a:p>
        </p:txBody>
      </p:sp>
      <p:sp>
        <p:nvSpPr>
          <p:cNvPr id="7" name="TextBox 6">
            <a:extLst>
              <a:ext uri="{FF2B5EF4-FFF2-40B4-BE49-F238E27FC236}">
                <a16:creationId xmlns:a16="http://schemas.microsoft.com/office/drawing/2014/main" id="{08422339-D4A5-D637-5233-F397829863A3}"/>
              </a:ext>
            </a:extLst>
          </p:cNvPr>
          <p:cNvSpPr txBox="1"/>
          <p:nvPr/>
        </p:nvSpPr>
        <p:spPr>
          <a:xfrm>
            <a:off x="6936059" y="1690688"/>
            <a:ext cx="4417741" cy="3539430"/>
          </a:xfrm>
          <a:prstGeom prst="rect">
            <a:avLst/>
          </a:prstGeom>
          <a:noFill/>
        </p:spPr>
        <p:txBody>
          <a:bodyPr wrap="square" rtlCol="0">
            <a:spAutoFit/>
          </a:bodyPr>
          <a:lstStyle/>
          <a:p>
            <a:r>
              <a:rPr lang="en-US" sz="1600" dirty="0"/>
              <a:t>In cluster 1, we have 5 points i.e. A2 (2,6), A5 (6,4), A6 (1,2), A10 (7,5), and A12 (4,6). To calculate the new centroid for cluster 1, we will find the mean of the x and y coordinates of each point in the cluster. Hence, the </a:t>
            </a:r>
            <a:r>
              <a:rPr lang="en-US" sz="1600" dirty="0">
                <a:solidFill>
                  <a:srgbClr val="00D4D3"/>
                </a:solidFill>
              </a:rPr>
              <a:t>new centroid for cluster 1 is (4, 4.6).</a:t>
            </a:r>
          </a:p>
          <a:p>
            <a:endParaRPr lang="en-US" sz="1600" dirty="0"/>
          </a:p>
          <a:p>
            <a:r>
              <a:rPr lang="en-US" sz="1600" dirty="0"/>
              <a:t>In cluster 2, we have 7 points i.e. A1 (2,10), A4 (6,9), A7 (5,10) , A8 (4,9), A13 (3,10), A14 (3,8), and A15 (6,11). Hence, the </a:t>
            </a:r>
            <a:r>
              <a:rPr lang="en-US" sz="1600" dirty="0">
                <a:solidFill>
                  <a:srgbClr val="00D4D3"/>
                </a:solidFill>
              </a:rPr>
              <a:t>new centroid for cluster 2 is (4.143, 9.571) </a:t>
            </a:r>
          </a:p>
          <a:p>
            <a:endParaRPr lang="en-US" sz="1600" dirty="0"/>
          </a:p>
          <a:p>
            <a:r>
              <a:rPr lang="en-US" sz="1600" dirty="0"/>
              <a:t>In cluster 3, we have 3 points i.e. A3 (11,11), A9 (10,12), and A11 (9,11). Hence, the </a:t>
            </a:r>
            <a:r>
              <a:rPr lang="en-US" sz="1600" dirty="0">
                <a:solidFill>
                  <a:srgbClr val="00D4D3"/>
                </a:solidFill>
              </a:rPr>
              <a:t>new centroid for cluster 3 is (10, 11.333).</a:t>
            </a:r>
          </a:p>
        </p:txBody>
      </p:sp>
      <p:graphicFrame>
        <p:nvGraphicFramePr>
          <p:cNvPr id="4" name="Table 3">
            <a:extLst>
              <a:ext uri="{FF2B5EF4-FFF2-40B4-BE49-F238E27FC236}">
                <a16:creationId xmlns:a16="http://schemas.microsoft.com/office/drawing/2014/main" id="{38DCDBF0-6753-A4E2-F3A4-56DB68B95C35}"/>
              </a:ext>
            </a:extLst>
          </p:cNvPr>
          <p:cNvGraphicFramePr>
            <a:graphicFrameLocks noGrp="1"/>
          </p:cNvGraphicFramePr>
          <p:nvPr>
            <p:extLst>
              <p:ext uri="{D42A27DB-BD31-4B8C-83A1-F6EECF244321}">
                <p14:modId xmlns:p14="http://schemas.microsoft.com/office/powerpoint/2010/main" val="888081854"/>
              </p:ext>
            </p:extLst>
          </p:nvPr>
        </p:nvGraphicFramePr>
        <p:xfrm>
          <a:off x="838200" y="1690688"/>
          <a:ext cx="5819080" cy="4351340"/>
        </p:xfrm>
        <a:graphic>
          <a:graphicData uri="http://schemas.openxmlformats.org/drawingml/2006/table">
            <a:tbl>
              <a:tblPr/>
              <a:tblGrid>
                <a:gridCol w="1163816">
                  <a:extLst>
                    <a:ext uri="{9D8B030D-6E8A-4147-A177-3AD203B41FA5}">
                      <a16:colId xmlns:a16="http://schemas.microsoft.com/office/drawing/2014/main" val="1552958082"/>
                    </a:ext>
                  </a:extLst>
                </a:gridCol>
                <a:gridCol w="1163816">
                  <a:extLst>
                    <a:ext uri="{9D8B030D-6E8A-4147-A177-3AD203B41FA5}">
                      <a16:colId xmlns:a16="http://schemas.microsoft.com/office/drawing/2014/main" val="3111093809"/>
                    </a:ext>
                  </a:extLst>
                </a:gridCol>
                <a:gridCol w="1163816">
                  <a:extLst>
                    <a:ext uri="{9D8B030D-6E8A-4147-A177-3AD203B41FA5}">
                      <a16:colId xmlns:a16="http://schemas.microsoft.com/office/drawing/2014/main" val="3909069338"/>
                    </a:ext>
                  </a:extLst>
                </a:gridCol>
                <a:gridCol w="1163816">
                  <a:extLst>
                    <a:ext uri="{9D8B030D-6E8A-4147-A177-3AD203B41FA5}">
                      <a16:colId xmlns:a16="http://schemas.microsoft.com/office/drawing/2014/main" val="905380146"/>
                    </a:ext>
                  </a:extLst>
                </a:gridCol>
                <a:gridCol w="1163816">
                  <a:extLst>
                    <a:ext uri="{9D8B030D-6E8A-4147-A177-3AD203B41FA5}">
                      <a16:colId xmlns:a16="http://schemas.microsoft.com/office/drawing/2014/main" val="1459334233"/>
                    </a:ext>
                  </a:extLst>
                </a:gridCol>
              </a:tblGrid>
              <a:tr h="621620">
                <a:tc>
                  <a:txBody>
                    <a:bodyPr/>
                    <a:lstStyle/>
                    <a:p>
                      <a:pPr latinLnBrk="0">
                        <a:buNone/>
                      </a:pPr>
                      <a:r>
                        <a:rPr lang="en-US" sz="1200">
                          <a:effectLst/>
                        </a:rPr>
                        <a:t>Point</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Distance from Centroid 1 (3.833, 5.167)</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Distance from centroid 2 (4, 9.6) </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Distance from centroid 3 (9, 11.25)</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Assigned Cluster</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425082018"/>
                  </a:ext>
                </a:extLst>
              </a:tr>
              <a:tr h="248648">
                <a:tc>
                  <a:txBody>
                    <a:bodyPr/>
                    <a:lstStyle/>
                    <a:p>
                      <a:pPr latinLnBrk="0">
                        <a:buNone/>
                      </a:pPr>
                      <a:r>
                        <a:rPr lang="en-US" sz="1200">
                          <a:effectLst/>
                        </a:rPr>
                        <a:t>A1 (2,10)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5.169</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2.040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7.111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4068832843"/>
                  </a:ext>
                </a:extLst>
              </a:tr>
              <a:tr h="248648">
                <a:tc>
                  <a:txBody>
                    <a:bodyPr/>
                    <a:lstStyle/>
                    <a:p>
                      <a:pPr latinLnBrk="0">
                        <a:buNone/>
                      </a:pPr>
                      <a:r>
                        <a:rPr lang="en-US" sz="1200">
                          <a:effectLst/>
                        </a:rPr>
                        <a:t>A2 (2,6)</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2.013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4.118</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8.750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91034903"/>
                  </a:ext>
                </a:extLst>
              </a:tr>
              <a:tr h="248648">
                <a:tc>
                  <a:txBody>
                    <a:bodyPr/>
                    <a:lstStyle/>
                    <a:p>
                      <a:pPr latinLnBrk="0">
                        <a:buNone/>
                      </a:pPr>
                      <a:r>
                        <a:rPr lang="en-US" sz="1200">
                          <a:effectLst/>
                        </a:rPr>
                        <a:t>A3 (11,11)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9.241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7.139</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2.016</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2692093318"/>
                  </a:ext>
                </a:extLst>
              </a:tr>
              <a:tr h="248648">
                <a:tc>
                  <a:txBody>
                    <a:bodyPr/>
                    <a:lstStyle/>
                    <a:p>
                      <a:pPr latinLnBrk="0">
                        <a:buNone/>
                      </a:pPr>
                      <a:r>
                        <a:rPr lang="en-US" sz="1200">
                          <a:effectLst/>
                        </a:rPr>
                        <a:t>A4 (6,9)</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4.403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2.088</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3.750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586222837"/>
                  </a:ext>
                </a:extLst>
              </a:tr>
              <a:tr h="248648">
                <a:tc>
                  <a:txBody>
                    <a:bodyPr/>
                    <a:lstStyle/>
                    <a:p>
                      <a:pPr latinLnBrk="0">
                        <a:buNone/>
                      </a:pPr>
                      <a:r>
                        <a:rPr lang="en-US" sz="1200">
                          <a:effectLst/>
                        </a:rPr>
                        <a:t>A5 (6,4)</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2.461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5.946</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7.846</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3427706206"/>
                  </a:ext>
                </a:extLst>
              </a:tr>
              <a:tr h="248648">
                <a:tc>
                  <a:txBody>
                    <a:bodyPr/>
                    <a:lstStyle/>
                    <a:p>
                      <a:pPr latinLnBrk="0">
                        <a:buNone/>
                      </a:pPr>
                      <a:r>
                        <a:rPr lang="en-US" sz="1200">
                          <a:effectLst/>
                        </a:rPr>
                        <a:t>A6 (1,2)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4.249</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8.171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12.230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482324917"/>
                  </a:ext>
                </a:extLst>
              </a:tr>
              <a:tr h="248648">
                <a:tc>
                  <a:txBody>
                    <a:bodyPr/>
                    <a:lstStyle/>
                    <a:p>
                      <a:pPr latinLnBrk="0">
                        <a:buNone/>
                      </a:pPr>
                      <a:r>
                        <a:rPr lang="en-US" sz="1200">
                          <a:effectLst/>
                        </a:rPr>
                        <a:t>A7 (5,10)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4.972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1.077</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4.191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2157210001"/>
                  </a:ext>
                </a:extLst>
              </a:tr>
              <a:tr h="248648">
                <a:tc>
                  <a:txBody>
                    <a:bodyPr/>
                    <a:lstStyle/>
                    <a:p>
                      <a:pPr latinLnBrk="0">
                        <a:buNone/>
                      </a:pPr>
                      <a:r>
                        <a:rPr lang="en-US" sz="1200">
                          <a:effectLst/>
                        </a:rPr>
                        <a:t>A8 (4,9)</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3.837</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0.600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5.483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2396663311"/>
                  </a:ext>
                </a:extLst>
              </a:tr>
              <a:tr h="248648">
                <a:tc>
                  <a:txBody>
                    <a:bodyPr/>
                    <a:lstStyle/>
                    <a:p>
                      <a:pPr latinLnBrk="0">
                        <a:buNone/>
                      </a:pPr>
                      <a:r>
                        <a:rPr lang="en-US" sz="1200">
                          <a:effectLst/>
                        </a:rPr>
                        <a:t>A9 (10,12)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9.204</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6.462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1.250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3111627377"/>
                  </a:ext>
                </a:extLst>
              </a:tr>
              <a:tr h="248648">
                <a:tc>
                  <a:txBody>
                    <a:bodyPr/>
                    <a:lstStyle/>
                    <a:p>
                      <a:pPr latinLnBrk="0">
                        <a:buNone/>
                      </a:pPr>
                      <a:r>
                        <a:rPr lang="en-US" sz="1200">
                          <a:effectLst/>
                        </a:rPr>
                        <a:t>A10 (7,5)</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3.171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5.492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6.562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4042868904"/>
                  </a:ext>
                </a:extLst>
              </a:tr>
              <a:tr h="248648">
                <a:tc>
                  <a:txBody>
                    <a:bodyPr/>
                    <a:lstStyle/>
                    <a:p>
                      <a:pPr latinLnBrk="0">
                        <a:buNone/>
                      </a:pPr>
                      <a:r>
                        <a:rPr lang="en-US" sz="1200">
                          <a:effectLst/>
                        </a:rPr>
                        <a:t>A11 (9,11)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7.792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5.192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0.250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540166826"/>
                  </a:ext>
                </a:extLst>
              </a:tr>
              <a:tr h="248648">
                <a:tc>
                  <a:txBody>
                    <a:bodyPr/>
                    <a:lstStyle/>
                    <a:p>
                      <a:pPr latinLnBrk="0">
                        <a:buNone/>
                      </a:pPr>
                      <a:r>
                        <a:rPr lang="en-US" sz="1200">
                          <a:effectLst/>
                        </a:rPr>
                        <a:t>A12 (4,6)</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0.850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3.600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7.250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850267326"/>
                  </a:ext>
                </a:extLst>
              </a:tr>
              <a:tr h="248648">
                <a:tc>
                  <a:txBody>
                    <a:bodyPr/>
                    <a:lstStyle/>
                    <a:p>
                      <a:pPr latinLnBrk="0">
                        <a:buNone/>
                      </a:pPr>
                      <a:r>
                        <a:rPr lang="en-US" sz="1200">
                          <a:effectLst/>
                        </a:rPr>
                        <a:t>A13 (3,10)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4.904</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1.077</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6.129</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824275813"/>
                  </a:ext>
                </a:extLst>
              </a:tr>
              <a:tr h="248648">
                <a:tc>
                  <a:txBody>
                    <a:bodyPr/>
                    <a:lstStyle/>
                    <a:p>
                      <a:pPr latinLnBrk="0">
                        <a:buNone/>
                      </a:pPr>
                      <a:r>
                        <a:rPr lang="en-US" sz="1200">
                          <a:effectLst/>
                        </a:rPr>
                        <a:t>A14 (3,8)</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2.953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1.887</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6.824</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976454448"/>
                  </a:ext>
                </a:extLst>
              </a:tr>
              <a:tr h="248648">
                <a:tc>
                  <a:txBody>
                    <a:bodyPr/>
                    <a:lstStyle/>
                    <a:p>
                      <a:pPr latinLnBrk="0">
                        <a:buNone/>
                      </a:pPr>
                      <a:r>
                        <a:rPr lang="en-US" sz="1200">
                          <a:effectLst/>
                        </a:rPr>
                        <a:t>A15 (6,11)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6.223</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2.441</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3.010</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dirty="0">
                          <a:effectLst/>
                        </a:rPr>
                        <a:t>Cluster 2</a:t>
                      </a:r>
                    </a:p>
                  </a:txBody>
                  <a:tcPr marL="62162" marR="62162" marT="31081" marB="31081"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586255583"/>
                  </a:ext>
                </a:extLst>
              </a:tr>
            </a:tbl>
          </a:graphicData>
        </a:graphic>
      </p:graphicFrame>
    </p:spTree>
    <p:extLst>
      <p:ext uri="{BB962C8B-B14F-4D97-AF65-F5344CB8AC3E}">
        <p14:creationId xmlns:p14="http://schemas.microsoft.com/office/powerpoint/2010/main" val="3887696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03C5D-ECED-7F59-7D25-30C8D3F5CF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2CDB5-1ECA-506D-B763-E56AE2977E9F}"/>
              </a:ext>
            </a:extLst>
          </p:cNvPr>
          <p:cNvSpPr>
            <a:spLocks noGrp="1"/>
          </p:cNvSpPr>
          <p:nvPr>
            <p:ph type="title"/>
          </p:nvPr>
        </p:nvSpPr>
        <p:spPr/>
        <p:txBody>
          <a:bodyPr/>
          <a:lstStyle/>
          <a:p>
            <a:r>
              <a:rPr lang="en-US" dirty="0">
                <a:solidFill>
                  <a:srgbClr val="00D4D3"/>
                </a:solidFill>
              </a:rPr>
              <a:t>K-Means Example (Cont.)</a:t>
            </a:r>
          </a:p>
        </p:txBody>
      </p:sp>
      <p:sp>
        <p:nvSpPr>
          <p:cNvPr id="7" name="TextBox 6">
            <a:extLst>
              <a:ext uri="{FF2B5EF4-FFF2-40B4-BE49-F238E27FC236}">
                <a16:creationId xmlns:a16="http://schemas.microsoft.com/office/drawing/2014/main" id="{2053AAF3-2981-83E4-1F80-5F341DEDBD58}"/>
              </a:ext>
            </a:extLst>
          </p:cNvPr>
          <p:cNvSpPr txBox="1"/>
          <p:nvPr/>
        </p:nvSpPr>
        <p:spPr>
          <a:xfrm>
            <a:off x="6936059" y="1690688"/>
            <a:ext cx="4417741" cy="4647426"/>
          </a:xfrm>
          <a:prstGeom prst="rect">
            <a:avLst/>
          </a:prstGeom>
          <a:noFill/>
        </p:spPr>
        <p:txBody>
          <a:bodyPr wrap="square" rtlCol="0">
            <a:spAutoFit/>
          </a:bodyPr>
          <a:lstStyle/>
          <a:p>
            <a:r>
              <a:rPr lang="en-US" sz="1600" dirty="0"/>
              <a:t>In cluster 1, we have 5 points i.e. A2 (2,6), A5 (6,4), A6 (1,2), A10 (7,5), and A12 (4,6). To calculate the new centroid for cluster 1, we will find the mean of the x and y coordinates of each point in the cluster. Hence, the </a:t>
            </a:r>
            <a:r>
              <a:rPr lang="en-US" sz="1600" dirty="0">
                <a:solidFill>
                  <a:srgbClr val="00D4D3"/>
                </a:solidFill>
              </a:rPr>
              <a:t>new centroid for cluster 1 is (4, 4.6).</a:t>
            </a:r>
          </a:p>
          <a:p>
            <a:endParaRPr lang="en-US" sz="1600" dirty="0"/>
          </a:p>
          <a:p>
            <a:r>
              <a:rPr lang="en-US" sz="1600" dirty="0"/>
              <a:t>In cluster 2, we have 7 points i.e. A1 (2,10), A4 (6,9), A7 (5,10) , A8 (4,9), A13 (3,10), A14 (3,8), and A15 (6,11). Hence, the </a:t>
            </a:r>
            <a:r>
              <a:rPr lang="en-US" sz="1600" dirty="0">
                <a:solidFill>
                  <a:srgbClr val="00D4D3"/>
                </a:solidFill>
              </a:rPr>
              <a:t>new centroid for cluster 2 is (4.143, 9.571) </a:t>
            </a:r>
          </a:p>
          <a:p>
            <a:endParaRPr lang="en-US" sz="1600" dirty="0"/>
          </a:p>
          <a:p>
            <a:r>
              <a:rPr lang="en-US" sz="1600" dirty="0"/>
              <a:t>In cluster 3, we have 3 points i.e. A3 (11,11), A9 (10,12), and A11 (9,11). Hence, the </a:t>
            </a:r>
            <a:r>
              <a:rPr lang="en-US" sz="1600" dirty="0">
                <a:solidFill>
                  <a:srgbClr val="00D4D3"/>
                </a:solidFill>
              </a:rPr>
              <a:t>new centroid for cluster 3 is (10, 11.333).</a:t>
            </a:r>
          </a:p>
          <a:p>
            <a:endParaRPr lang="en-US" sz="1600" dirty="0">
              <a:solidFill>
                <a:srgbClr val="00D4D3"/>
              </a:solidFill>
            </a:endParaRPr>
          </a:p>
          <a:p>
            <a:r>
              <a:rPr lang="en-US" sz="1400" dirty="0">
                <a:solidFill>
                  <a:srgbClr val="00D4D3"/>
                </a:solidFill>
              </a:rPr>
              <a:t>Here, you can observe that no point has changed its cluster compared to the previous iteration. Due to this, the centroid also remains constant. Therefore, we will say that the clusters have been stabilized.</a:t>
            </a:r>
          </a:p>
        </p:txBody>
      </p:sp>
      <p:graphicFrame>
        <p:nvGraphicFramePr>
          <p:cNvPr id="3" name="Table 2">
            <a:extLst>
              <a:ext uri="{FF2B5EF4-FFF2-40B4-BE49-F238E27FC236}">
                <a16:creationId xmlns:a16="http://schemas.microsoft.com/office/drawing/2014/main" id="{37E52DD7-A6A0-F5F3-1A19-04AB02213264}"/>
              </a:ext>
            </a:extLst>
          </p:cNvPr>
          <p:cNvGraphicFramePr>
            <a:graphicFrameLocks noGrp="1"/>
          </p:cNvGraphicFramePr>
          <p:nvPr>
            <p:extLst>
              <p:ext uri="{D42A27DB-BD31-4B8C-83A1-F6EECF244321}">
                <p14:modId xmlns:p14="http://schemas.microsoft.com/office/powerpoint/2010/main" val="81654948"/>
              </p:ext>
            </p:extLst>
          </p:nvPr>
        </p:nvGraphicFramePr>
        <p:xfrm>
          <a:off x="838200" y="1690688"/>
          <a:ext cx="5785625" cy="4412216"/>
        </p:xfrm>
        <a:graphic>
          <a:graphicData uri="http://schemas.openxmlformats.org/drawingml/2006/table">
            <a:tbl>
              <a:tblPr/>
              <a:tblGrid>
                <a:gridCol w="1157125">
                  <a:extLst>
                    <a:ext uri="{9D8B030D-6E8A-4147-A177-3AD203B41FA5}">
                      <a16:colId xmlns:a16="http://schemas.microsoft.com/office/drawing/2014/main" val="3181547194"/>
                    </a:ext>
                  </a:extLst>
                </a:gridCol>
                <a:gridCol w="1157125">
                  <a:extLst>
                    <a:ext uri="{9D8B030D-6E8A-4147-A177-3AD203B41FA5}">
                      <a16:colId xmlns:a16="http://schemas.microsoft.com/office/drawing/2014/main" val="1616424808"/>
                    </a:ext>
                  </a:extLst>
                </a:gridCol>
                <a:gridCol w="1157125">
                  <a:extLst>
                    <a:ext uri="{9D8B030D-6E8A-4147-A177-3AD203B41FA5}">
                      <a16:colId xmlns:a16="http://schemas.microsoft.com/office/drawing/2014/main" val="3483058658"/>
                    </a:ext>
                  </a:extLst>
                </a:gridCol>
                <a:gridCol w="1157125">
                  <a:extLst>
                    <a:ext uri="{9D8B030D-6E8A-4147-A177-3AD203B41FA5}">
                      <a16:colId xmlns:a16="http://schemas.microsoft.com/office/drawing/2014/main" val="1028525153"/>
                    </a:ext>
                  </a:extLst>
                </a:gridCol>
                <a:gridCol w="1157125">
                  <a:extLst>
                    <a:ext uri="{9D8B030D-6E8A-4147-A177-3AD203B41FA5}">
                      <a16:colId xmlns:a16="http://schemas.microsoft.com/office/drawing/2014/main" val="2490817270"/>
                    </a:ext>
                  </a:extLst>
                </a:gridCol>
              </a:tblGrid>
              <a:tr h="774896">
                <a:tc>
                  <a:txBody>
                    <a:bodyPr/>
                    <a:lstStyle/>
                    <a:p>
                      <a:pPr latinLnBrk="0">
                        <a:buNone/>
                      </a:pPr>
                      <a:r>
                        <a:rPr lang="en-US" sz="1200">
                          <a:effectLst/>
                        </a:rPr>
                        <a:t>Point</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Distance from Centroid 1  (4, 4.6)</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Distance from centroid 2  (4.143, 9.571)</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Distance from centroid 3 (10, 11.333)</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Assigned Cluster</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2696783275"/>
                  </a:ext>
                </a:extLst>
              </a:tr>
              <a:tr h="238429">
                <a:tc>
                  <a:txBody>
                    <a:bodyPr/>
                    <a:lstStyle/>
                    <a:p>
                      <a:pPr latinLnBrk="0">
                        <a:buNone/>
                      </a:pPr>
                      <a:r>
                        <a:rPr lang="en-US" sz="1200">
                          <a:effectLst/>
                        </a:rPr>
                        <a:t>A1 (2,10)</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5.758</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2.186</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8.110</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2</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3478994293"/>
                  </a:ext>
                </a:extLst>
              </a:tr>
              <a:tr h="238429">
                <a:tc>
                  <a:txBody>
                    <a:bodyPr/>
                    <a:lstStyle/>
                    <a:p>
                      <a:pPr latinLnBrk="0">
                        <a:buNone/>
                      </a:pPr>
                      <a:r>
                        <a:rPr lang="en-US" sz="1200">
                          <a:effectLst/>
                        </a:rPr>
                        <a:t>A2 (2,6)</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2.441</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4.165</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9.615</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1</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713102313"/>
                  </a:ext>
                </a:extLst>
              </a:tr>
              <a:tr h="238429">
                <a:tc>
                  <a:txBody>
                    <a:bodyPr/>
                    <a:lstStyle/>
                    <a:p>
                      <a:pPr latinLnBrk="0">
                        <a:buNone/>
                      </a:pPr>
                      <a:r>
                        <a:rPr lang="en-US" sz="1200">
                          <a:effectLst/>
                        </a:rPr>
                        <a:t>A3 (11,11)</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9.485</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7.004</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1.054</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3</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3015584170"/>
                  </a:ext>
                </a:extLst>
              </a:tr>
              <a:tr h="238429">
                <a:tc>
                  <a:txBody>
                    <a:bodyPr/>
                    <a:lstStyle/>
                    <a:p>
                      <a:pPr latinLnBrk="0">
                        <a:buNone/>
                      </a:pPr>
                      <a:r>
                        <a:rPr lang="en-US" sz="1200">
                          <a:effectLst/>
                        </a:rPr>
                        <a:t>A4 (6,9)</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4.833</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1.943</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4.631</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2</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3648799391"/>
                  </a:ext>
                </a:extLst>
              </a:tr>
              <a:tr h="238429">
                <a:tc>
                  <a:txBody>
                    <a:bodyPr/>
                    <a:lstStyle/>
                    <a:p>
                      <a:pPr latinLnBrk="0">
                        <a:buNone/>
                      </a:pPr>
                      <a:r>
                        <a:rPr lang="en-US" sz="1200">
                          <a:effectLst/>
                        </a:rPr>
                        <a:t>A5 (6,4)</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2.088</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5.872</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8.353</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1</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2077322643"/>
                  </a:ext>
                </a:extLst>
              </a:tr>
              <a:tr h="238429">
                <a:tc>
                  <a:txBody>
                    <a:bodyPr/>
                    <a:lstStyle/>
                    <a:p>
                      <a:pPr latinLnBrk="0">
                        <a:buNone/>
                      </a:pPr>
                      <a:r>
                        <a:rPr lang="en-US" sz="1200">
                          <a:effectLst/>
                        </a:rPr>
                        <a:t>A6 (1,2)</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3.970</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8.197</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12.966</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1</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2754501657"/>
                  </a:ext>
                </a:extLst>
              </a:tr>
              <a:tr h="238429">
                <a:tc>
                  <a:txBody>
                    <a:bodyPr/>
                    <a:lstStyle/>
                    <a:p>
                      <a:pPr latinLnBrk="0">
                        <a:buNone/>
                      </a:pPr>
                      <a:r>
                        <a:rPr lang="en-US" sz="1200">
                          <a:effectLst/>
                        </a:rPr>
                        <a:t>A7 (5,10)</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5.492</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0.958</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5.175</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2</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3125067799"/>
                  </a:ext>
                </a:extLst>
              </a:tr>
              <a:tr h="238429">
                <a:tc>
                  <a:txBody>
                    <a:bodyPr/>
                    <a:lstStyle/>
                    <a:p>
                      <a:pPr latinLnBrk="0">
                        <a:buNone/>
                      </a:pPr>
                      <a:r>
                        <a:rPr lang="en-US" sz="1200">
                          <a:effectLst/>
                        </a:rPr>
                        <a:t>A8 (4,9)</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4.400</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0.589</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6.438</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2</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4179980569"/>
                  </a:ext>
                </a:extLst>
              </a:tr>
              <a:tr h="238429">
                <a:tc>
                  <a:txBody>
                    <a:bodyPr/>
                    <a:lstStyle/>
                    <a:p>
                      <a:pPr latinLnBrk="0">
                        <a:buNone/>
                      </a:pPr>
                      <a:r>
                        <a:rPr lang="en-US" sz="1200">
                          <a:effectLst/>
                        </a:rPr>
                        <a:t>A9 (10,12)</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9.527</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6.341</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0.667</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3</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42026761"/>
                  </a:ext>
                </a:extLst>
              </a:tr>
              <a:tr h="238429">
                <a:tc>
                  <a:txBody>
                    <a:bodyPr/>
                    <a:lstStyle/>
                    <a:p>
                      <a:pPr latinLnBrk="0">
                        <a:buNone/>
                      </a:pPr>
                      <a:r>
                        <a:rPr lang="en-US" sz="1200">
                          <a:effectLst/>
                        </a:rPr>
                        <a:t>A10 (7,5)</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3.027</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5.390</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7.008</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1</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950541877"/>
                  </a:ext>
                </a:extLst>
              </a:tr>
              <a:tr h="238429">
                <a:tc>
                  <a:txBody>
                    <a:bodyPr/>
                    <a:lstStyle/>
                    <a:p>
                      <a:pPr latinLnBrk="0">
                        <a:buNone/>
                      </a:pPr>
                      <a:r>
                        <a:rPr lang="en-US" sz="1200">
                          <a:effectLst/>
                        </a:rPr>
                        <a:t>A11 (9,11)</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8.122</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5.063</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1.054</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3</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422683165"/>
                  </a:ext>
                </a:extLst>
              </a:tr>
              <a:tr h="238429">
                <a:tc>
                  <a:txBody>
                    <a:bodyPr/>
                    <a:lstStyle/>
                    <a:p>
                      <a:pPr latinLnBrk="0">
                        <a:buNone/>
                      </a:pPr>
                      <a:r>
                        <a:rPr lang="en-US" sz="1200">
                          <a:effectLst/>
                        </a:rPr>
                        <a:t>A12 (4,6)</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1.400</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3.574</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8.028</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1</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531029693"/>
                  </a:ext>
                </a:extLst>
              </a:tr>
              <a:tr h="238429">
                <a:tc>
                  <a:txBody>
                    <a:bodyPr/>
                    <a:lstStyle/>
                    <a:p>
                      <a:pPr latinLnBrk="0">
                        <a:buNone/>
                      </a:pPr>
                      <a:r>
                        <a:rPr lang="en-US" sz="1200">
                          <a:effectLst/>
                        </a:rPr>
                        <a:t>A13 (3,10)</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5.492</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1.221</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7.126</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2</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83025036"/>
                  </a:ext>
                </a:extLst>
              </a:tr>
              <a:tr h="238429">
                <a:tc>
                  <a:txBody>
                    <a:bodyPr/>
                    <a:lstStyle/>
                    <a:p>
                      <a:pPr latinLnBrk="0">
                        <a:buNone/>
                      </a:pPr>
                      <a:r>
                        <a:rPr lang="en-US" sz="1200">
                          <a:effectLst/>
                        </a:rPr>
                        <a:t>A14 (3,8)</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3.544</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1.943</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7.753</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Cluster 2</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3072233372"/>
                  </a:ext>
                </a:extLst>
              </a:tr>
              <a:tr h="238429">
                <a:tc>
                  <a:txBody>
                    <a:bodyPr/>
                    <a:lstStyle/>
                    <a:p>
                      <a:pPr latinLnBrk="0">
                        <a:buNone/>
                      </a:pPr>
                      <a:r>
                        <a:rPr lang="en-US" sz="1200">
                          <a:effectLst/>
                        </a:rPr>
                        <a:t>A15 (6,11)</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6.705</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2.343</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a:effectLst/>
                        </a:rPr>
                        <a:t>4.014</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tc>
                  <a:txBody>
                    <a:bodyPr/>
                    <a:lstStyle/>
                    <a:p>
                      <a:pPr latinLnBrk="0">
                        <a:buNone/>
                      </a:pPr>
                      <a:r>
                        <a:rPr lang="en-US" sz="1200" dirty="0">
                          <a:effectLst/>
                        </a:rPr>
                        <a:t>Cluster 2</a:t>
                      </a:r>
                    </a:p>
                  </a:txBody>
                  <a:tcPr marL="59607" marR="59607" marT="29804" marB="29804" anchor="ctr">
                    <a:lnL w="6344" cap="flat" cmpd="sng" algn="ctr">
                      <a:solidFill>
                        <a:srgbClr val="718096"/>
                      </a:solidFill>
                      <a:prstDash val="solid"/>
                      <a:round/>
                      <a:headEnd type="none" w="med" len="med"/>
                      <a:tailEnd type="none" w="med" len="med"/>
                    </a:lnL>
                    <a:lnR w="6344" cap="flat" cmpd="sng" algn="ctr">
                      <a:solidFill>
                        <a:srgbClr val="718096"/>
                      </a:solidFill>
                      <a:prstDash val="solid"/>
                      <a:round/>
                      <a:headEnd type="none" w="med" len="med"/>
                      <a:tailEnd type="none" w="med" len="med"/>
                    </a:lnR>
                    <a:lnT w="6344" cap="flat" cmpd="sng" algn="ctr">
                      <a:solidFill>
                        <a:srgbClr val="718096"/>
                      </a:solidFill>
                      <a:prstDash val="solid"/>
                      <a:round/>
                      <a:headEnd type="none" w="med" len="med"/>
                      <a:tailEnd type="none" w="med" len="med"/>
                    </a:lnT>
                    <a:lnB w="6344"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626876953"/>
                  </a:ext>
                </a:extLst>
              </a:tr>
            </a:tbl>
          </a:graphicData>
        </a:graphic>
      </p:graphicFrame>
    </p:spTree>
    <p:extLst>
      <p:ext uri="{BB962C8B-B14F-4D97-AF65-F5344CB8AC3E}">
        <p14:creationId xmlns:p14="http://schemas.microsoft.com/office/powerpoint/2010/main" val="2747766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54A08-50A0-7407-E5B8-5B01996B8A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88646-7462-435B-D323-81C5F8800A1B}"/>
              </a:ext>
            </a:extLst>
          </p:cNvPr>
          <p:cNvSpPr>
            <a:spLocks noGrp="1"/>
          </p:cNvSpPr>
          <p:nvPr>
            <p:ph type="title"/>
          </p:nvPr>
        </p:nvSpPr>
        <p:spPr/>
        <p:txBody>
          <a:bodyPr/>
          <a:lstStyle/>
          <a:p>
            <a:r>
              <a:rPr lang="en-US" dirty="0">
                <a:solidFill>
                  <a:srgbClr val="00D4D3"/>
                </a:solidFill>
              </a:rPr>
              <a:t>Plot for K-Means Clustering</a:t>
            </a:r>
          </a:p>
        </p:txBody>
      </p:sp>
      <p:pic>
        <p:nvPicPr>
          <p:cNvPr id="6146" name="Picture 2" descr="K-means clustering plot">
            <a:extLst>
              <a:ext uri="{FF2B5EF4-FFF2-40B4-BE49-F238E27FC236}">
                <a16:creationId xmlns:a16="http://schemas.microsoft.com/office/drawing/2014/main" id="{A5DC8BFA-D554-33B6-C449-8995F29FD0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3236" y="1690688"/>
            <a:ext cx="9465527" cy="4675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4776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6E23F-B9C5-85D1-6BFC-ED4D94401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D22A43-794B-9119-961B-A507DE1F8142}"/>
              </a:ext>
            </a:extLst>
          </p:cNvPr>
          <p:cNvSpPr>
            <a:spLocks noGrp="1"/>
          </p:cNvSpPr>
          <p:nvPr>
            <p:ph type="title"/>
          </p:nvPr>
        </p:nvSpPr>
        <p:spPr/>
        <p:txBody>
          <a:bodyPr/>
          <a:lstStyle/>
          <a:p>
            <a:r>
              <a:rPr lang="en-US" dirty="0">
                <a:solidFill>
                  <a:srgbClr val="00D4D3"/>
                </a:solidFill>
              </a:rPr>
              <a:t>Challenges with K-Means Clustering</a:t>
            </a:r>
          </a:p>
        </p:txBody>
      </p:sp>
      <p:sp>
        <p:nvSpPr>
          <p:cNvPr id="3" name="Content Placeholder 2">
            <a:extLst>
              <a:ext uri="{FF2B5EF4-FFF2-40B4-BE49-F238E27FC236}">
                <a16:creationId xmlns:a16="http://schemas.microsoft.com/office/drawing/2014/main" id="{C88FDE66-886A-8488-205A-245E196EEBC8}"/>
              </a:ext>
            </a:extLst>
          </p:cNvPr>
          <p:cNvSpPr>
            <a:spLocks noGrp="1"/>
          </p:cNvSpPr>
          <p:nvPr>
            <p:ph idx="1"/>
          </p:nvPr>
        </p:nvSpPr>
        <p:spPr/>
        <p:txBody>
          <a:bodyPr>
            <a:normAutofit/>
          </a:bodyPr>
          <a:lstStyle/>
          <a:p>
            <a:r>
              <a:rPr lang="en-US" dirty="0">
                <a:solidFill>
                  <a:srgbClr val="00D4D3"/>
                </a:solidFill>
              </a:rPr>
              <a:t>Choosing the Right Number of Clusters (k): </a:t>
            </a:r>
            <a:r>
              <a:rPr lang="en-US" dirty="0"/>
              <a:t>One of the biggest challenges is deciding how many clusters to use.</a:t>
            </a:r>
          </a:p>
          <a:p>
            <a:r>
              <a:rPr lang="en-US" dirty="0">
                <a:solidFill>
                  <a:srgbClr val="00D4D3"/>
                </a:solidFill>
              </a:rPr>
              <a:t>Sensitive to Initial Centroids:</a:t>
            </a:r>
            <a:r>
              <a:rPr lang="en-US" dirty="0"/>
              <a:t> The final clusters can vary depending on the initial random placement of centroids.</a:t>
            </a:r>
          </a:p>
          <a:p>
            <a:r>
              <a:rPr lang="en-US" dirty="0">
                <a:solidFill>
                  <a:srgbClr val="00D4D3"/>
                </a:solidFill>
              </a:rPr>
              <a:t>Non-Spherical Clusters: </a:t>
            </a:r>
            <a:r>
              <a:rPr lang="en-US" dirty="0"/>
              <a:t>K-Means assumes that the clusters are spherical and equally sized. This can be a problem when the actual clusters in the data are of different shapes or densities.</a:t>
            </a:r>
          </a:p>
          <a:p>
            <a:r>
              <a:rPr lang="en-US" dirty="0">
                <a:solidFill>
                  <a:srgbClr val="00D4D3"/>
                </a:solidFill>
              </a:rPr>
              <a:t>Outliers: </a:t>
            </a:r>
            <a:r>
              <a:rPr lang="en-US" dirty="0"/>
              <a:t>K-Means is sensitive to outliers, which can distort the centroid and, ultimately, the clusters.</a:t>
            </a:r>
            <a:endParaRPr lang="en-US" dirty="0">
              <a:solidFill>
                <a:srgbClr val="00D4D3"/>
              </a:solidFill>
            </a:endParaRPr>
          </a:p>
        </p:txBody>
      </p:sp>
    </p:spTree>
    <p:extLst>
      <p:ext uri="{BB962C8B-B14F-4D97-AF65-F5344CB8AC3E}">
        <p14:creationId xmlns:p14="http://schemas.microsoft.com/office/powerpoint/2010/main" val="3608363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0A374-A7D7-32FE-6196-DF9A774E3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0CCA5C-4068-172B-ABD3-B021F17B8860}"/>
              </a:ext>
            </a:extLst>
          </p:cNvPr>
          <p:cNvSpPr>
            <a:spLocks noGrp="1"/>
          </p:cNvSpPr>
          <p:nvPr>
            <p:ph type="title"/>
          </p:nvPr>
        </p:nvSpPr>
        <p:spPr/>
        <p:txBody>
          <a:bodyPr/>
          <a:lstStyle/>
          <a:p>
            <a:r>
              <a:rPr lang="en-US" dirty="0">
                <a:solidFill>
                  <a:srgbClr val="00D4D3"/>
                </a:solidFill>
              </a:rPr>
              <a:t>Applications of K-means Clustering</a:t>
            </a:r>
          </a:p>
        </p:txBody>
      </p:sp>
      <p:sp>
        <p:nvSpPr>
          <p:cNvPr id="3" name="Content Placeholder 2">
            <a:extLst>
              <a:ext uri="{FF2B5EF4-FFF2-40B4-BE49-F238E27FC236}">
                <a16:creationId xmlns:a16="http://schemas.microsoft.com/office/drawing/2014/main" id="{F3F54A2A-047E-614C-3E0C-5F4668915F98}"/>
              </a:ext>
            </a:extLst>
          </p:cNvPr>
          <p:cNvSpPr>
            <a:spLocks noGrp="1"/>
          </p:cNvSpPr>
          <p:nvPr>
            <p:ph idx="1"/>
          </p:nvPr>
        </p:nvSpPr>
        <p:spPr/>
        <p:txBody>
          <a:bodyPr>
            <a:normAutofit fontScale="77500" lnSpcReduction="20000"/>
          </a:bodyPr>
          <a:lstStyle/>
          <a:p>
            <a:r>
              <a:rPr lang="en-US" dirty="0">
                <a:solidFill>
                  <a:srgbClr val="00D4D3"/>
                </a:solidFill>
              </a:rPr>
              <a:t>Document Classification: </a:t>
            </a:r>
            <a:r>
              <a:rPr lang="en-US" dirty="0"/>
              <a:t>Using k-means clustering, we can divide documents into various clusters based on their content, topics, and tags. </a:t>
            </a:r>
          </a:p>
          <a:p>
            <a:r>
              <a:rPr lang="en-US" dirty="0">
                <a:solidFill>
                  <a:srgbClr val="00D4D3"/>
                </a:solidFill>
              </a:rPr>
              <a:t>Customer segmentation: </a:t>
            </a:r>
            <a:r>
              <a:rPr lang="en-US" dirty="0"/>
              <a:t>Supermarkets and e-commerce websites divide their customers into various clusters based on their transaction data and demography. This helps the business to target appropriate customers with relevant products to increase sales. </a:t>
            </a:r>
          </a:p>
          <a:p>
            <a:r>
              <a:rPr lang="en-US" dirty="0">
                <a:solidFill>
                  <a:srgbClr val="00D4D3"/>
                </a:solidFill>
              </a:rPr>
              <a:t>Cyber profiling: </a:t>
            </a:r>
            <a:r>
              <a:rPr lang="en-US" dirty="0"/>
              <a:t>In cyber profiling, we collect  data from individuals as well as groups to identify their relationships. With k-means clustering, we can easily make clusters of people based on their connection to each other to identify any available patterns. </a:t>
            </a:r>
          </a:p>
          <a:p>
            <a:r>
              <a:rPr lang="en-US" dirty="0">
                <a:solidFill>
                  <a:srgbClr val="00D4D3"/>
                </a:solidFill>
              </a:rPr>
              <a:t>Image segmentation: </a:t>
            </a:r>
            <a:r>
              <a:rPr lang="en-US" dirty="0"/>
              <a:t>We can use k-means clustering to perform image segmentation by grouping similar pixels into clusters.</a:t>
            </a:r>
          </a:p>
          <a:p>
            <a:r>
              <a:rPr lang="en-US" dirty="0">
                <a:solidFill>
                  <a:srgbClr val="00D4D3"/>
                </a:solidFill>
              </a:rPr>
              <a:t>Fraud detection in banking and insurance: </a:t>
            </a:r>
            <a:r>
              <a:rPr lang="en-US" dirty="0"/>
              <a:t>By using historical data on frauds, banks and insurance agencies can predict potential frauds by the application of k-means clustering. </a:t>
            </a:r>
            <a:endParaRPr lang="en-US" dirty="0">
              <a:solidFill>
                <a:srgbClr val="00D4D3"/>
              </a:solidFill>
            </a:endParaRPr>
          </a:p>
        </p:txBody>
      </p:sp>
    </p:spTree>
    <p:extLst>
      <p:ext uri="{BB962C8B-B14F-4D97-AF65-F5344CB8AC3E}">
        <p14:creationId xmlns:p14="http://schemas.microsoft.com/office/powerpoint/2010/main" val="3506934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EB6D7-7D8F-C55A-8AAC-312EFCE3E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1341DD-57EC-302E-9A1A-3F1655CDBEB7}"/>
              </a:ext>
            </a:extLst>
          </p:cNvPr>
          <p:cNvSpPr>
            <a:spLocks noGrp="1"/>
          </p:cNvSpPr>
          <p:nvPr>
            <p:ph type="title"/>
          </p:nvPr>
        </p:nvSpPr>
        <p:spPr/>
        <p:txBody>
          <a:bodyPr/>
          <a:lstStyle/>
          <a:p>
            <a:r>
              <a:rPr lang="en-US" dirty="0">
                <a:solidFill>
                  <a:srgbClr val="00D4D3"/>
                </a:solidFill>
              </a:rPr>
              <a:t>Advantages of K-means Clustering</a:t>
            </a:r>
          </a:p>
        </p:txBody>
      </p:sp>
      <p:sp>
        <p:nvSpPr>
          <p:cNvPr id="3" name="Content Placeholder 2">
            <a:extLst>
              <a:ext uri="{FF2B5EF4-FFF2-40B4-BE49-F238E27FC236}">
                <a16:creationId xmlns:a16="http://schemas.microsoft.com/office/drawing/2014/main" id="{6521BD30-8A77-CDF5-3098-60E02B9CCAE0}"/>
              </a:ext>
            </a:extLst>
          </p:cNvPr>
          <p:cNvSpPr>
            <a:spLocks noGrp="1"/>
          </p:cNvSpPr>
          <p:nvPr>
            <p:ph idx="1"/>
          </p:nvPr>
        </p:nvSpPr>
        <p:spPr/>
        <p:txBody>
          <a:bodyPr>
            <a:normAutofit fontScale="77500" lnSpcReduction="20000"/>
          </a:bodyPr>
          <a:lstStyle/>
          <a:p>
            <a:r>
              <a:rPr lang="en-US" dirty="0">
                <a:solidFill>
                  <a:srgbClr val="00D4D3"/>
                </a:solidFill>
              </a:rPr>
              <a:t>Easy to implement: </a:t>
            </a:r>
            <a:r>
              <a:rPr lang="en-US" dirty="0"/>
              <a:t>K-means clustering is an </a:t>
            </a:r>
            <a:r>
              <a:rPr lang="en-US" dirty="0" err="1"/>
              <a:t>iterable</a:t>
            </a:r>
            <a:r>
              <a:rPr lang="en-US" dirty="0"/>
              <a:t> algorithm and a relatively simple algorithm. In fact, we can also perform k-means clustering manually as we did in the numerical example.</a:t>
            </a:r>
          </a:p>
          <a:p>
            <a:r>
              <a:rPr lang="en-US" dirty="0">
                <a:solidFill>
                  <a:srgbClr val="00D4D3"/>
                </a:solidFill>
              </a:rPr>
              <a:t>Scalability: </a:t>
            </a:r>
            <a:r>
              <a:rPr lang="en-US" dirty="0"/>
              <a:t>We can use k-means clustering for even 10 records or even 10 million records in a dataset. It will give us results in both cases.</a:t>
            </a:r>
          </a:p>
          <a:p>
            <a:r>
              <a:rPr lang="en-US" dirty="0">
                <a:solidFill>
                  <a:srgbClr val="00D4D3"/>
                </a:solidFill>
              </a:rPr>
              <a:t>Convergence: </a:t>
            </a:r>
            <a:r>
              <a:rPr lang="en-US" dirty="0"/>
              <a:t>The k-means clustering algorithm is guaranteed to give us results. It guarantees convergence. Thus, we will get the result of the execution of the algorithm for sure.</a:t>
            </a:r>
          </a:p>
          <a:p>
            <a:r>
              <a:rPr lang="en-US" dirty="0">
                <a:solidFill>
                  <a:srgbClr val="00D4D3"/>
                </a:solidFill>
              </a:rPr>
              <a:t>Generalization: </a:t>
            </a:r>
            <a:r>
              <a:rPr lang="en-US" dirty="0"/>
              <a:t>K-means clustering doesn’t apply to a specific problem. From numerical data to text documents, you can use the k-means clustering algorithm on any dataset to perform clustering. It can also be applied to datasets of different sizes having entirely different distributions in the dataset. Hence, this algorithm is completely generalized.</a:t>
            </a:r>
          </a:p>
          <a:p>
            <a:r>
              <a:rPr lang="en-US" dirty="0">
                <a:solidFill>
                  <a:srgbClr val="00D4D3"/>
                </a:solidFill>
              </a:rPr>
              <a:t>Choice of centroids: </a:t>
            </a:r>
            <a:r>
              <a:rPr lang="en-US" dirty="0"/>
              <a:t>You can warm-start the choice of centroids in an easy manner. Hence, the algorithm allows you to choose and assign centroids that fit well with the dataset.</a:t>
            </a:r>
            <a:endParaRPr lang="en-US" dirty="0">
              <a:solidFill>
                <a:srgbClr val="00D4D3"/>
              </a:solidFill>
            </a:endParaRPr>
          </a:p>
        </p:txBody>
      </p:sp>
    </p:spTree>
    <p:extLst>
      <p:ext uri="{BB962C8B-B14F-4D97-AF65-F5344CB8AC3E}">
        <p14:creationId xmlns:p14="http://schemas.microsoft.com/office/powerpoint/2010/main" val="725906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2009</Words>
  <Application>Microsoft Macintosh PowerPoint</Application>
  <PresentationFormat>Widescreen</PresentationFormat>
  <Paragraphs>335</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What is K-means Clustering?</vt:lpstr>
      <vt:lpstr>K-means Clustering Algorithm</vt:lpstr>
      <vt:lpstr>Distance Functions</vt:lpstr>
      <vt:lpstr>K-Means Example (Cont.)</vt:lpstr>
      <vt:lpstr>K-Means Example (Cont.)</vt:lpstr>
      <vt:lpstr>K-Means Example (Cont.)</vt:lpstr>
      <vt:lpstr>K-Means Example (Cont.)</vt:lpstr>
      <vt:lpstr>Plot for K-Means Clustering</vt:lpstr>
      <vt:lpstr>Challenges with K-Means Clustering</vt:lpstr>
      <vt:lpstr>Applications of K-means Clustering</vt:lpstr>
      <vt:lpstr>Advantages of K-means Clustering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Atif Saeed</dc:creator>
  <cp:lastModifiedBy>Muhammad Atif Saeed</cp:lastModifiedBy>
  <cp:revision>3</cp:revision>
  <dcterms:created xsi:type="dcterms:W3CDTF">2025-09-16T08:21:32Z</dcterms:created>
  <dcterms:modified xsi:type="dcterms:W3CDTF">2025-09-16T08:41:04Z</dcterms:modified>
</cp:coreProperties>
</file>