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1"/>
  </p:notesMasterIdLst>
  <p:sldIdLst>
    <p:sldId id="352" r:id="rId2"/>
    <p:sldId id="421" r:id="rId3"/>
    <p:sldId id="422" r:id="rId4"/>
    <p:sldId id="423" r:id="rId5"/>
    <p:sldId id="424" r:id="rId6"/>
    <p:sldId id="448" r:id="rId7"/>
    <p:sldId id="425" r:id="rId8"/>
    <p:sldId id="444" r:id="rId9"/>
    <p:sldId id="416" r:id="rId10"/>
    <p:sldId id="405" r:id="rId11"/>
    <p:sldId id="406" r:id="rId12"/>
    <p:sldId id="445" r:id="rId13"/>
    <p:sldId id="446" r:id="rId14"/>
    <p:sldId id="419" r:id="rId15"/>
    <p:sldId id="410" r:id="rId16"/>
    <p:sldId id="449" r:id="rId17"/>
    <p:sldId id="429" r:id="rId18"/>
    <p:sldId id="619" r:id="rId19"/>
    <p:sldId id="412" r:id="rId20"/>
    <p:sldId id="432" r:id="rId21"/>
    <p:sldId id="433" r:id="rId22"/>
    <p:sldId id="434" r:id="rId23"/>
    <p:sldId id="435" r:id="rId24"/>
    <p:sldId id="450" r:id="rId25"/>
    <p:sldId id="451" r:id="rId26"/>
    <p:sldId id="427" r:id="rId27"/>
    <p:sldId id="426" r:id="rId28"/>
    <p:sldId id="452" r:id="rId29"/>
    <p:sldId id="453" r:id="rId30"/>
    <p:sldId id="454" r:id="rId31"/>
    <p:sldId id="436" r:id="rId32"/>
    <p:sldId id="418" r:id="rId33"/>
    <p:sldId id="428" r:id="rId34"/>
    <p:sldId id="455" r:id="rId35"/>
    <p:sldId id="442" r:id="rId36"/>
    <p:sldId id="441" r:id="rId37"/>
    <p:sldId id="456" r:id="rId38"/>
    <p:sldId id="414" r:id="rId39"/>
    <p:sldId id="58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>
      <p:cViewPr varScale="1">
        <p:scale>
          <a:sx n="121" d="100"/>
          <a:sy n="121" d="100"/>
        </p:scale>
        <p:origin x="432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447C841-308C-461C-88B8-7A83370BE52D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5B3F-74C7-4C54-BE5F-7B7EBC36D106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886C-0A00-499A-B935-5CE6EA761B52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14A4-E1E3-4FDE-A3D8-9B8772534D36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760A-CE30-4119-80CC-1C3939E1F289}" type="datetime1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38207-2546-4926-8D2E-1D6AEBC3C4DD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DCC7-7BBE-4F68-B8E2-FBE502A720CC}" type="datetime1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A254-FA13-42CF-963F-15EDD5C26D8F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FDF4-19E7-4AF5-AD20-3449C95E4C69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7A90-F29A-4812-AE8A-869337A866CE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BADD-D547-49E8-AB14-1A77E8EF6204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29131" y="360038"/>
            <a:ext cx="3333739" cy="6729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36" b="1" i="0">
                <a:solidFill>
                  <a:srgbClr val="0000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8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41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DAF4F-F30F-44AF-B121-2081658F3E54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47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7412526">
              <a:lnSpc>
                <a:spcPts val="1191"/>
              </a:lnSpc>
            </a:pPr>
            <a:fld id="{81D60167-4931-47E6-BA6A-407CBD079E47}" type="slidenum">
              <a:rPr lang="en-US" spc="-44" smtClean="0"/>
              <a:pPr marL="7412526">
                <a:lnSpc>
                  <a:spcPts val="1191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51479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6C8A6BE-3E6D-4D31-A85C-7C02A60C5BB5}" type="datetime1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ai-platform/docs/ml-solutions-overview" TargetMode="External"/><Relationship Id="rId2" Type="http://schemas.openxmlformats.org/officeDocument/2006/relationships/hyperlink" Target="https://towardsdatascience.com/workflow-of-a-machine-learning-project-ec1dba419b94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33120-715F-418F-9872-1E13CD85BDA5}" type="datetime1">
              <a:rPr lang="en-US" smtClean="0"/>
              <a:t>1/19/26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AKHTAR JAMIL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440891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National University of Computer and Emerging Sciences,</a:t>
            </a:r>
          </a:p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Islamabad, Pakistan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Machine Learning Basics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CS-4025: Deep Learning for Perception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979" y="228600"/>
            <a:ext cx="1223315" cy="122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learning?</a:t>
            </a:r>
          </a:p>
          <a:p>
            <a:r>
              <a:rPr lang="en-US" dirty="0"/>
              <a:t>What is machine learning?</a:t>
            </a:r>
          </a:p>
          <a:p>
            <a:r>
              <a:rPr lang="en-US" dirty="0"/>
              <a:t>Types of machine learning</a:t>
            </a:r>
          </a:p>
          <a:p>
            <a:pPr lvl="1"/>
            <a:r>
              <a:rPr lang="en-US" dirty="0"/>
              <a:t>Classification vs Regression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solve a specific problem? </a:t>
            </a:r>
          </a:p>
          <a:p>
            <a:pPr lvl="1"/>
            <a:r>
              <a:rPr lang="en-US" dirty="0"/>
              <a:t>We write a program with a </a:t>
            </a:r>
            <a:r>
              <a:rPr lang="en-US" dirty="0">
                <a:solidFill>
                  <a:srgbClr val="FF0000"/>
                </a:solidFill>
              </a:rPr>
              <a:t>set of rules </a:t>
            </a:r>
            <a:r>
              <a:rPr lang="en-US" dirty="0"/>
              <a:t>that are useful to solve the problem.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Example</a:t>
            </a:r>
            <a:r>
              <a:rPr lang="en-US" dirty="0"/>
              <a:t>: Find average of </a:t>
            </a:r>
          </a:p>
          <a:p>
            <a:pPr marL="457200" lvl="1" indent="0">
              <a:buNone/>
            </a:pPr>
            <a:r>
              <a:rPr lang="en-US" dirty="0"/>
              <a:t>    three numbers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Learning?</a:t>
            </a:r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562909"/>
            <a:ext cx="3543436" cy="380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09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many situations it is very difficult to </a:t>
            </a:r>
            <a:r>
              <a:rPr lang="en-US" dirty="0">
                <a:solidFill>
                  <a:srgbClr val="FF0000"/>
                </a:solidFill>
              </a:rPr>
              <a:t>specify those rule</a:t>
            </a:r>
            <a:r>
              <a:rPr lang="en-US" dirty="0"/>
              <a:t>s to solve a problem.</a:t>
            </a:r>
          </a:p>
          <a:p>
            <a:r>
              <a:rPr lang="en-US" dirty="0"/>
              <a:t>For example, given a picture determine whether there is </a:t>
            </a:r>
            <a:r>
              <a:rPr lang="en-US" dirty="0">
                <a:solidFill>
                  <a:srgbClr val="00B050"/>
                </a:solidFill>
              </a:rPr>
              <a:t>a cat in the image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Learning?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602" y="3482953"/>
            <a:ext cx="5936159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63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face of a specific person?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Learning?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210654"/>
            <a:ext cx="6858000" cy="406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6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A27065E-FB61-4B6B-9D29-D6931E0DB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2193465"/>
            <a:ext cx="6781800" cy="3815401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B9E4-8F0A-4868-81CD-9B765003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B3916-B907-47E6-B6B9-0D639D50B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0AEDD-8185-41F0-BB9F-1EE4A311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FD1926-8A71-43C0-9F68-9AA2D035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Learning?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73A5-F570-4462-9FD9-B994BB8F5E8F}"/>
              </a:ext>
            </a:extLst>
          </p:cNvPr>
          <p:cNvSpPr txBox="1"/>
          <p:nvPr/>
        </p:nvSpPr>
        <p:spPr>
          <a:xfrm>
            <a:off x="3384056" y="1608690"/>
            <a:ext cx="4693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Benign vs Malignant tumor</a:t>
            </a:r>
          </a:p>
        </p:txBody>
      </p:sp>
    </p:spTree>
    <p:extLst>
      <p:ext uri="{BB962C8B-B14F-4D97-AF65-F5344CB8AC3E}">
        <p14:creationId xmlns:p14="http://schemas.microsoft.com/office/powerpoint/2010/main" val="949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learning systems </a:t>
            </a:r>
            <a:r>
              <a:rPr lang="en-US" dirty="0">
                <a:solidFill>
                  <a:srgbClr val="00B050"/>
                </a:solidFill>
              </a:rPr>
              <a:t>are not directly programmed using conditions </a:t>
            </a:r>
            <a:r>
              <a:rPr lang="en-US" dirty="0"/>
              <a:t>to solve a problem</a:t>
            </a:r>
          </a:p>
          <a:p>
            <a:r>
              <a:rPr lang="en-US" dirty="0"/>
              <a:t>Instead it should </a:t>
            </a:r>
            <a:r>
              <a:rPr lang="en-US" dirty="0">
                <a:solidFill>
                  <a:srgbClr val="FF0000"/>
                </a:solidFill>
              </a:rPr>
              <a:t>learn from examples </a:t>
            </a:r>
            <a:r>
              <a:rPr lang="en-US" dirty="0"/>
              <a:t>(data)</a:t>
            </a:r>
          </a:p>
          <a:p>
            <a:r>
              <a:rPr lang="en-US" dirty="0"/>
              <a:t>From </a:t>
            </a:r>
            <a:r>
              <a:rPr lang="en-US" dirty="0">
                <a:solidFill>
                  <a:srgbClr val="00B0F0"/>
                </a:solidFill>
              </a:rPr>
              <a:t>trial-and-error experience</a:t>
            </a:r>
            <a:r>
              <a:rPr lang="en-US" dirty="0"/>
              <a:t> trying to solve the problem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Learning?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4648200"/>
            <a:ext cx="60769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0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08C449-B0C5-4372-BEC9-77E125777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NewRomanPSMT"/>
              </a:rPr>
              <a:t>Machine Learning is the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NewRomanPSMT"/>
              </a:rPr>
              <a:t>science (and art) </a:t>
            </a:r>
            <a:r>
              <a:rPr lang="en-US" b="0" i="0" u="none" strike="noStrike" baseline="0" dirty="0">
                <a:latin typeface="TimesNewRomanPSMT"/>
              </a:rPr>
              <a:t>of programming computers so they can 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imesNewRomanPS-ItalicMT"/>
              </a:rPr>
              <a:t>learn from data</a:t>
            </a:r>
            <a:r>
              <a:rPr lang="en-US" b="0" i="0" u="none" strike="noStrike" baseline="0" dirty="0">
                <a:latin typeface="TimesNewRomanPSMT"/>
              </a:rPr>
              <a:t>.</a:t>
            </a:r>
          </a:p>
          <a:p>
            <a:pPr algn="l"/>
            <a:endParaRPr lang="en-US" b="0" i="1" u="none" strike="noStrike" baseline="0" dirty="0">
              <a:latin typeface="TimesNewRomanPS-ItalicMT"/>
            </a:endParaRPr>
          </a:p>
          <a:p>
            <a:pPr algn="l"/>
            <a:r>
              <a:rPr lang="en-US" b="0" i="1" u="none" strike="noStrike" baseline="0" dirty="0">
                <a:latin typeface="TimesNewRomanPS-ItalicMT"/>
              </a:rPr>
              <a:t>[Machine Learning is the] field of study that gives computers the ability to </a:t>
            </a:r>
            <a:r>
              <a:rPr lang="en-US" b="0" i="1" u="none" strike="noStrike" baseline="0" dirty="0">
                <a:solidFill>
                  <a:srgbClr val="0070C0"/>
                </a:solidFill>
                <a:latin typeface="TimesNewRomanPS-ItalicMT"/>
              </a:rPr>
              <a:t>learn without being explicitly programmed</a:t>
            </a:r>
            <a:r>
              <a:rPr lang="en-US" b="0" i="1" u="none" strike="noStrike" baseline="0" dirty="0">
                <a:latin typeface="TimesNewRomanPS-ItalicMT"/>
              </a:rPr>
              <a:t>.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Arthur Samuel, 1959</a:t>
            </a:r>
            <a:endParaRPr lang="en-US" b="0" i="0" u="none" strike="noStrike" baseline="0" dirty="0">
              <a:latin typeface="TimesNewRomanPS-ItalicMT"/>
            </a:endParaRP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868BAB-476B-4905-A605-15FFB7367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C09529-7F0C-4BBB-A041-0610C714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7EC28-AC46-490D-BA89-45D4B708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4C0073-608C-4ADA-98AA-E3C28B61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194123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can be defined as computational methods using </a:t>
            </a:r>
            <a:r>
              <a:rPr lang="en-US" dirty="0">
                <a:solidFill>
                  <a:srgbClr val="FF0000"/>
                </a:solidFill>
              </a:rPr>
              <a:t>experience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improve performance </a:t>
            </a:r>
            <a:r>
              <a:rPr lang="en-US" dirty="0"/>
              <a:t>or to </a:t>
            </a:r>
            <a:r>
              <a:rPr lang="en-US" dirty="0">
                <a:solidFill>
                  <a:srgbClr val="FF0000"/>
                </a:solidFill>
              </a:rPr>
              <a:t>make accurate predictions</a:t>
            </a:r>
            <a:r>
              <a:rPr lang="en-US" dirty="0"/>
              <a:t>. </a:t>
            </a:r>
          </a:p>
          <a:p>
            <a:r>
              <a:rPr lang="en-US" i="1" dirty="0">
                <a:solidFill>
                  <a:srgbClr val="00B050"/>
                </a:solidFill>
              </a:rPr>
              <a:t>Experience</a:t>
            </a:r>
            <a:r>
              <a:rPr lang="en-US" i="1" dirty="0"/>
              <a:t> </a:t>
            </a:r>
            <a:r>
              <a:rPr lang="en-US" dirty="0"/>
              <a:t>refers to the </a:t>
            </a:r>
            <a:r>
              <a:rPr lang="en-US" dirty="0">
                <a:solidFill>
                  <a:srgbClr val="00B050"/>
                </a:solidFill>
              </a:rPr>
              <a:t>past information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dirty="0" err="1"/>
              <a:t>Mohri</a:t>
            </a:r>
            <a:r>
              <a:rPr lang="en-US" dirty="0"/>
              <a:t> et al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4EB13-4A48-48D3-AF97-3BA738AA3E22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2866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“A computer program is said to learn from </a:t>
            </a:r>
            <a:r>
              <a:rPr lang="en-US" dirty="0">
                <a:solidFill>
                  <a:srgbClr val="0070C0"/>
                </a:solidFill>
              </a:rPr>
              <a:t>experience E </a:t>
            </a:r>
            <a:r>
              <a:rPr lang="en-US" dirty="0"/>
              <a:t>with respect to some class of </a:t>
            </a:r>
            <a:r>
              <a:rPr lang="en-US" dirty="0">
                <a:solidFill>
                  <a:srgbClr val="0070C0"/>
                </a:solidFill>
              </a:rPr>
              <a:t>tasks T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performance measure P, </a:t>
            </a:r>
            <a:r>
              <a:rPr lang="en-US" dirty="0"/>
              <a:t>if its performance at tasks in T, as measured by P, improves with experience E”</a:t>
            </a:r>
          </a:p>
          <a:p>
            <a:pPr marL="0" indent="0">
              <a:buNone/>
            </a:pPr>
            <a:r>
              <a:rPr lang="en-US" dirty="0"/>
              <a:t>					Tom M. Mitchel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57B8B-DDE1-4BF9-BE85-679657F497C4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4114800"/>
            <a:ext cx="2190750" cy="191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56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checkers learning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441904"/>
            <a:ext cx="7886700" cy="4351338"/>
          </a:xfrm>
        </p:spPr>
        <p:txBody>
          <a:bodyPr/>
          <a:lstStyle/>
          <a:p>
            <a:r>
              <a:rPr lang="en-US" b="1" dirty="0"/>
              <a:t>Task T: </a:t>
            </a:r>
            <a:r>
              <a:rPr lang="en-US" dirty="0"/>
              <a:t>playing checkers</a:t>
            </a:r>
          </a:p>
          <a:p>
            <a:r>
              <a:rPr lang="en-US" b="1" dirty="0"/>
              <a:t>Performance measure P:</a:t>
            </a:r>
            <a:r>
              <a:rPr lang="en-US" dirty="0"/>
              <a:t> percent of games won against opponents</a:t>
            </a:r>
          </a:p>
          <a:p>
            <a:r>
              <a:rPr lang="en-US" b="1" dirty="0"/>
              <a:t>Training experience E:</a:t>
            </a:r>
            <a:r>
              <a:rPr lang="en-US" dirty="0"/>
              <a:t> playing practice games against itself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0" name="Picture 2" descr="http://cdn.sheknows.com/articles/2010/03/girls-playing-checke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488" y="3392068"/>
            <a:ext cx="4218462" cy="280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E40E9-452C-442B-9ECD-1522E4AC727A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346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CE7DE8-0188-41A4-AFF3-0A74A1D50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sz="3200" dirty="0">
                <a:latin typeface="TimesNewRomanPSMT"/>
              </a:rPr>
              <a:t>Your </a:t>
            </a:r>
            <a:r>
              <a:rPr lang="en-US" sz="3200" dirty="0">
                <a:solidFill>
                  <a:srgbClr val="0070C0"/>
                </a:solidFill>
                <a:latin typeface="TimesNewRomanPSMT"/>
              </a:rPr>
              <a:t>spam filter </a:t>
            </a:r>
            <a:r>
              <a:rPr lang="en-US" sz="3200" dirty="0">
                <a:latin typeface="TimesNewRomanPSMT"/>
              </a:rPr>
              <a:t>is a Machine Learning program</a:t>
            </a:r>
          </a:p>
          <a:p>
            <a:pPr lvl="1"/>
            <a:r>
              <a:rPr lang="en-US" sz="3200" dirty="0">
                <a:solidFill>
                  <a:srgbClr val="00B050"/>
                </a:solidFill>
                <a:latin typeface="TimesNewRomanPSMT"/>
              </a:rPr>
              <a:t>Binary Classification Problem</a:t>
            </a:r>
            <a:r>
              <a:rPr lang="en-US" sz="3200" dirty="0">
                <a:latin typeface="TimesNewRomanPSMT"/>
              </a:rPr>
              <a:t>: spam emails or </a:t>
            </a:r>
            <a:r>
              <a:rPr lang="en-US" sz="3200" dirty="0" err="1">
                <a:latin typeface="TimesNewRomanPSMT"/>
              </a:rPr>
              <a:t>nonspam</a:t>
            </a:r>
            <a:endParaRPr lang="en-US" sz="3200" dirty="0">
              <a:latin typeface="TimesNewRomanPSMT"/>
            </a:endParaRPr>
          </a:p>
          <a:p>
            <a:r>
              <a:rPr lang="en-US" sz="3600" dirty="0">
                <a:latin typeface="TimesNewRomanPSMT"/>
              </a:rPr>
              <a:t>To train a machine learning model, examples of emails that are  </a:t>
            </a:r>
            <a:r>
              <a:rPr lang="en-US" sz="3600" dirty="0">
                <a:solidFill>
                  <a:srgbClr val="FF0000"/>
                </a:solidFill>
                <a:latin typeface="TimesNewRomanPSMT"/>
              </a:rPr>
              <a:t>spam and </a:t>
            </a:r>
            <a:r>
              <a:rPr lang="en-US" sz="3600" dirty="0" err="1">
                <a:solidFill>
                  <a:srgbClr val="FF0000"/>
                </a:solidFill>
                <a:latin typeface="TimesNewRomanPSMT"/>
              </a:rPr>
              <a:t>nonspam</a:t>
            </a:r>
            <a:r>
              <a:rPr lang="en-US" sz="3600" dirty="0">
                <a:solidFill>
                  <a:srgbClr val="FF0000"/>
                </a:solidFill>
                <a:latin typeface="TimesNewRomanPSMT"/>
              </a:rPr>
              <a:t> </a:t>
            </a:r>
            <a:r>
              <a:rPr lang="en-US" sz="3600" dirty="0">
                <a:latin typeface="TimesNewRomanPSMT"/>
              </a:rPr>
              <a:t>should be presented to the model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  <a:latin typeface="TimesNewRomanPSMT"/>
              </a:rPr>
              <a:t>Usually flagged by users</a:t>
            </a:r>
          </a:p>
          <a:p>
            <a:pPr algn="l"/>
            <a:r>
              <a:rPr lang="en-US" sz="3200" dirty="0">
                <a:latin typeface="TimesNewRomanPSMT"/>
              </a:rPr>
              <a:t>The examples that the model uses to learn are called the </a:t>
            </a:r>
            <a:r>
              <a:rPr lang="en-US" sz="3200" dirty="0">
                <a:solidFill>
                  <a:srgbClr val="FF0000"/>
                </a:solidFill>
                <a:latin typeface="TimesNewRomanPS-ItalicMT"/>
              </a:rPr>
              <a:t>training set</a:t>
            </a:r>
            <a:r>
              <a:rPr lang="en-US" sz="3200" dirty="0">
                <a:latin typeface="TimesNewRomanPSMT"/>
              </a:rPr>
              <a:t>. </a:t>
            </a:r>
          </a:p>
          <a:p>
            <a:pPr lvl="1"/>
            <a:r>
              <a:rPr lang="en-US" sz="3200" dirty="0">
                <a:latin typeface="TimesNewRomanPSMT"/>
              </a:rPr>
              <a:t>Training instance (or sample). </a:t>
            </a:r>
          </a:p>
          <a:p>
            <a:endParaRPr lang="en-US" sz="4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5098F-C46C-4ABB-9930-294C7780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D3DB5-A21A-4357-8C3A-3CB50233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EB7DA-B3BB-44E5-A7F0-48CF7B15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E922A8-EEA9-4EB3-84C8-970E1E55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Tagging Problem</a:t>
            </a:r>
          </a:p>
        </p:txBody>
      </p:sp>
    </p:spTree>
    <p:extLst>
      <p:ext uri="{BB962C8B-B14F-4D97-AF65-F5344CB8AC3E}">
        <p14:creationId xmlns:p14="http://schemas.microsoft.com/office/powerpoint/2010/main" val="262667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9FB02C-2E30-4F99-8A85-B900C4D0A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baseline="0" dirty="0">
                <a:latin typeface="TimesNewRomanPSMT"/>
              </a:rPr>
              <a:t>For Spam classification:</a:t>
            </a:r>
          </a:p>
          <a:p>
            <a:pPr lvl="1"/>
            <a:r>
              <a:rPr lang="en-US" sz="2800" dirty="0">
                <a:latin typeface="TimesNewRomanPSMT"/>
              </a:rPr>
              <a:t>The </a:t>
            </a:r>
            <a:r>
              <a:rPr lang="en-US" sz="2800" dirty="0">
                <a:solidFill>
                  <a:srgbClr val="FF0000"/>
                </a:solidFill>
                <a:latin typeface="TimesNewRomanPSMT"/>
              </a:rPr>
              <a:t>task T </a:t>
            </a:r>
            <a:r>
              <a:rPr lang="en-US" sz="2800" dirty="0">
                <a:latin typeface="TimesNewRomanPSMT"/>
              </a:rPr>
              <a:t>is to flag spam for new emails</a:t>
            </a:r>
          </a:p>
          <a:p>
            <a:pPr lvl="1"/>
            <a:r>
              <a:rPr lang="en-US" sz="2800" dirty="0">
                <a:latin typeface="TimesNewRomanPSMT"/>
              </a:rPr>
              <a:t>The </a:t>
            </a:r>
            <a:r>
              <a:rPr lang="en-US" sz="2800" dirty="0">
                <a:solidFill>
                  <a:srgbClr val="00B050"/>
                </a:solidFill>
                <a:latin typeface="TimesNewRomanPSMT"/>
              </a:rPr>
              <a:t>experience </a:t>
            </a:r>
            <a:r>
              <a:rPr lang="en-US" sz="2800" i="1" dirty="0">
                <a:solidFill>
                  <a:srgbClr val="00B050"/>
                </a:solidFill>
                <a:latin typeface="TimesNewRomanPS-ItalicMT"/>
              </a:rPr>
              <a:t>E </a:t>
            </a:r>
            <a:r>
              <a:rPr lang="en-US" sz="2800" dirty="0">
                <a:latin typeface="TimesNewRomanPSMT"/>
              </a:rPr>
              <a:t>is the </a:t>
            </a:r>
            <a:r>
              <a:rPr lang="en-US" sz="2800" i="1" dirty="0">
                <a:latin typeface="TimesNewRomanPS-ItalicMT"/>
              </a:rPr>
              <a:t>training data</a:t>
            </a:r>
            <a:r>
              <a:rPr lang="en-US" sz="2800" dirty="0">
                <a:latin typeface="TimesNewRomanPSMT"/>
              </a:rPr>
              <a:t>, </a:t>
            </a:r>
          </a:p>
          <a:p>
            <a:pPr lvl="1"/>
            <a:r>
              <a:rPr lang="en-US" sz="2800" dirty="0">
                <a:latin typeface="TimesNewRomanPSMT"/>
              </a:rPr>
              <a:t>The </a:t>
            </a:r>
            <a:r>
              <a:rPr lang="en-US" sz="2800" dirty="0">
                <a:solidFill>
                  <a:srgbClr val="0070C0"/>
                </a:solidFill>
                <a:latin typeface="TimesNewRomanPSMT"/>
              </a:rPr>
              <a:t>performance measure </a:t>
            </a:r>
            <a:r>
              <a:rPr lang="en-US" sz="2800" i="1" dirty="0">
                <a:solidFill>
                  <a:srgbClr val="0070C0"/>
                </a:solidFill>
                <a:latin typeface="TimesNewRomanPS-ItalicMT"/>
              </a:rPr>
              <a:t>P </a:t>
            </a:r>
            <a:r>
              <a:rPr lang="en-US" sz="2800" dirty="0">
                <a:latin typeface="TimesNewRomanPSMT"/>
              </a:rPr>
              <a:t>needs to be defined; </a:t>
            </a:r>
          </a:p>
          <a:p>
            <a:pPr lvl="2"/>
            <a:r>
              <a:rPr lang="en-US" sz="2800" dirty="0">
                <a:latin typeface="TimesNewRomanPSMT"/>
              </a:rPr>
              <a:t>Percentage of correctly classified emails (</a:t>
            </a:r>
            <a:r>
              <a:rPr lang="en-US" sz="2800" i="1" dirty="0">
                <a:latin typeface="TimesNewRomanPS-ItalicMT"/>
              </a:rPr>
              <a:t>accuracy)</a:t>
            </a:r>
            <a:endParaRPr lang="en-US" sz="2800" dirty="0">
              <a:latin typeface="TimesNewRomanPSMT"/>
            </a:endParaRPr>
          </a:p>
          <a:p>
            <a:endParaRPr lang="en-US" sz="3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0F2B30-D337-41E1-BB66-CC6451DE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02A31D-1543-4C4D-A9EF-E9EAACC7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76CE2-2961-4AD1-AE36-FD4FDB36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8DA7D3-33E3-45B1-83BD-54780604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Spam Tagging Problem</a:t>
            </a:r>
          </a:p>
        </p:txBody>
      </p:sp>
    </p:spTree>
    <p:extLst>
      <p:ext uri="{BB962C8B-B14F-4D97-AF65-F5344CB8AC3E}">
        <p14:creationId xmlns:p14="http://schemas.microsoft.com/office/powerpoint/2010/main" val="3432325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Learning…</a:t>
            </a:r>
          </a:p>
        </p:txBody>
      </p:sp>
      <p:pic>
        <p:nvPicPr>
          <p:cNvPr id="2050" name="Picture 2" descr="Image result for reinforcement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1467395"/>
            <a:ext cx="6829425" cy="469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65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ea typeface="SimSun" panose="02010600030101010101" pitchFamily="2" charset="-122"/>
              </a:rPr>
              <a:t>For supervised learning, we provide </a:t>
            </a:r>
            <a:r>
              <a:rPr lang="en-US" altLang="zh-CN" sz="3200" dirty="0">
                <a:solidFill>
                  <a:srgbClr val="FF0000"/>
                </a:solidFill>
                <a:ea typeface="SimSun" panose="02010600030101010101" pitchFamily="2" charset="-122"/>
              </a:rPr>
              <a:t>both data and labels </a:t>
            </a:r>
            <a:r>
              <a:rPr lang="en-US" altLang="zh-CN" sz="3200" dirty="0">
                <a:ea typeface="SimSun" panose="02010600030101010101" pitchFamily="2" charset="-122"/>
              </a:rPr>
              <a:t>for training the algorithm.</a:t>
            </a:r>
          </a:p>
          <a:p>
            <a:r>
              <a:rPr lang="en-US" altLang="zh-CN" sz="3200" dirty="0">
                <a:ea typeface="SimSun" panose="02010600030101010101" pitchFamily="2" charset="-122"/>
              </a:rPr>
              <a:t>The algorithms learns from the </a:t>
            </a:r>
            <a:r>
              <a:rPr lang="en-US" altLang="zh-CN" sz="3200" dirty="0">
                <a:solidFill>
                  <a:srgbClr val="FF0000"/>
                </a:solidFill>
                <a:ea typeface="SimSun" panose="02010600030101010101" pitchFamily="2" charset="-122"/>
              </a:rPr>
              <a:t>data and labels</a:t>
            </a:r>
          </a:p>
          <a:p>
            <a:r>
              <a:rPr lang="en-US" altLang="zh-CN" sz="3200" dirty="0">
                <a:ea typeface="SimSun" panose="02010600030101010101" pitchFamily="2" charset="-122"/>
              </a:rPr>
              <a:t>After training, we can pass </a:t>
            </a:r>
            <a:r>
              <a:rPr lang="en-US" altLang="zh-CN" sz="3200" dirty="0">
                <a:solidFill>
                  <a:srgbClr val="0070C0"/>
                </a:solidFill>
                <a:ea typeface="SimSun" panose="02010600030101010101" pitchFamily="2" charset="-122"/>
              </a:rPr>
              <a:t>test samples </a:t>
            </a:r>
            <a:r>
              <a:rPr lang="en-US" altLang="zh-CN" sz="3200" dirty="0">
                <a:ea typeface="SimSun" panose="02010600030101010101" pitchFamily="2" charset="-122"/>
              </a:rPr>
              <a:t>to check if the </a:t>
            </a:r>
            <a:r>
              <a:rPr lang="en-US" altLang="zh-CN" sz="3200" dirty="0">
                <a:solidFill>
                  <a:srgbClr val="0070C0"/>
                </a:solidFill>
                <a:ea typeface="SimSun" panose="02010600030101010101" pitchFamily="2" charset="-122"/>
              </a:rPr>
              <a:t>algorithm learned the data or not</a:t>
            </a:r>
          </a:p>
          <a:p>
            <a:r>
              <a:rPr lang="en-US" altLang="zh-CN" sz="3200" dirty="0">
                <a:solidFill>
                  <a:srgbClr val="00B050"/>
                </a:solidFill>
                <a:ea typeface="SimSun" panose="02010600030101010101" pitchFamily="2" charset="-122"/>
              </a:rPr>
              <a:t>Most popular </a:t>
            </a:r>
            <a:r>
              <a:rPr lang="en-US" altLang="zh-CN" sz="3200" dirty="0">
                <a:ea typeface="SimSun" panose="02010600030101010101" pitchFamily="2" charset="-122"/>
              </a:rPr>
              <a:t>in ML community</a:t>
            </a:r>
          </a:p>
          <a:p>
            <a:endParaRPr lang="en-US" altLang="zh-CN" sz="3200" dirty="0">
              <a:solidFill>
                <a:sysClr val="windowText" lastClr="000000"/>
              </a:solidFill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50C9-A81E-4615-A460-0F575EB25BE7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22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DC6B4-35C2-4F63-B75F-A3C298F1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C54D2-0A96-47DD-BF01-41F8695B4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04294-F26D-47B1-99B0-C683548E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3305E1-A1B4-4504-A0E1-4C5FDEBC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learning: Example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68BB18-A50A-5395-9875-94B84DFB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54021"/>
            <a:ext cx="4732430" cy="24843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E5238E-57FC-4723-CF8A-9EF6B41F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994" y="1507411"/>
            <a:ext cx="5609111" cy="24143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C5761E-94DF-F892-9311-9183F44A5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052656"/>
            <a:ext cx="3313545" cy="23100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89F0A3-FE1C-E452-258F-E203F3A13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994" y="3948343"/>
            <a:ext cx="3450560" cy="24143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FD626B-4963-BBD5-1485-83C8D9C8C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3921767"/>
            <a:ext cx="3478951" cy="24242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5A312A-88D6-58BE-9EE2-62343D642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1382" y="1447801"/>
            <a:ext cx="2362405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21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learning: Example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600200"/>
            <a:ext cx="5562600" cy="476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7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53B65C-7264-006C-3ACB-8624CBB08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0" i="0" dirty="0">
                <a:solidFill>
                  <a:srgbClr val="333333"/>
                </a:solidFill>
                <a:effectLst/>
                <a:latin typeface="-apple-system"/>
              </a:rPr>
              <a:t>Supervised learning is widely used for tasks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-apple-system"/>
              </a:rPr>
              <a:t>Classifying medical images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-apple-system"/>
              </a:rPr>
              <a:t>Given a large datasets of images of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-apple-system"/>
              </a:rPr>
              <a:t>malignant and benign tumors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-apple-system"/>
              </a:rPr>
              <a:t>Translating between pairs of languages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-apple-system"/>
              </a:rPr>
              <a:t>Pairs of sentences that have the same meaning in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-apple-system"/>
              </a:rPr>
              <a:t>two different languages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333333"/>
                </a:solidFill>
                <a:effectLst/>
                <a:latin typeface="-apple-system"/>
              </a:rPr>
              <a:t>Detecting objects in a self-driving car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-apple-system"/>
              </a:rPr>
              <a:t>Provide the model with examples of 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-apple-system"/>
              </a:rPr>
              <a:t>cars, pedestrians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-apple-system"/>
              </a:rPr>
              <a:t>, etc.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3AD33-CFDA-0E74-D68A-18DB5F18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F5B3F-74C7-4C54-BE5F-7B7EBC36D106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AF1D8-EF89-7B6C-8F08-F6ACAAE3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DE627-1FB6-32C0-406E-654AEA6D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5F67970-B423-8E6C-186C-C76BB026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learning: Example</a:t>
            </a:r>
          </a:p>
        </p:txBody>
      </p:sp>
    </p:spTree>
    <p:extLst>
      <p:ext uri="{BB962C8B-B14F-4D97-AF65-F5344CB8AC3E}">
        <p14:creationId xmlns:p14="http://schemas.microsoft.com/office/powerpoint/2010/main" val="3424065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Supervised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39823" y="1332200"/>
            <a:ext cx="6312354" cy="4663500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BA5E5-C162-4CFA-A3BC-7245B7982ABE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118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910" y="1676401"/>
            <a:ext cx="79152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81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1905001"/>
            <a:ext cx="6000750" cy="216217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0351689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1" y="1591491"/>
            <a:ext cx="860107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40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1" y="1600201"/>
            <a:ext cx="7614167" cy="4525963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029861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69A272-145F-4902-980B-12A13F879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>
                <a:latin typeface="TimesNewRomanPSMT"/>
              </a:rPr>
              <a:t>Can regression algorithms be used for classification and vice versa?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  <a:latin typeface="TimesNewRomanPSMT"/>
              </a:rPr>
              <a:t>Yes, some algorithms can be used</a:t>
            </a:r>
            <a:r>
              <a:rPr lang="en-US" sz="3200" dirty="0">
                <a:latin typeface="TimesNewRomanPSMT"/>
              </a:rPr>
              <a:t>.</a:t>
            </a:r>
          </a:p>
          <a:p>
            <a:pPr algn="l"/>
            <a:r>
              <a:rPr lang="en-US" sz="3200" dirty="0">
                <a:solidFill>
                  <a:srgbClr val="0070C0"/>
                </a:solidFill>
                <a:latin typeface="TimesNewRomanPS-ItalicMT"/>
              </a:rPr>
              <a:t>Logistic Regression </a:t>
            </a:r>
            <a:r>
              <a:rPr lang="en-US" sz="3200" dirty="0">
                <a:latin typeface="TimesNewRomanPSMT"/>
              </a:rPr>
              <a:t>is commonly used for classification</a:t>
            </a:r>
            <a:endParaRPr lang="en-US" sz="3200" dirty="0">
              <a:latin typeface="TimesNewRomanPS-ItalicMT"/>
            </a:endParaRPr>
          </a:p>
          <a:p>
            <a:pPr lvl="1"/>
            <a:r>
              <a:rPr lang="en-US" sz="3200" dirty="0">
                <a:latin typeface="TimesNewRomanPSMT"/>
              </a:rPr>
              <a:t>Predicts probability belonging to a class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F70D7-E98C-41D6-93A3-CDC9DB3D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22E20-86F0-4E87-ABAF-4B22B7F6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DF999-E42C-4218-AABB-C931694A8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1F37B9-B227-40DA-90C6-A122DD05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876774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7F9094-B1E7-4917-B501-F5475B453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widely used supervised ML algorithms: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Linear Regression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Logistic Regression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Support Vector Machines (SVMs)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Decision Trees and Random Forests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Neural networks</a:t>
            </a:r>
          </a:p>
          <a:p>
            <a:pPr lvl="1"/>
            <a:r>
              <a:rPr lang="en-US" b="0" i="0" u="none" strike="noStrike" baseline="0" dirty="0">
                <a:latin typeface="TimesNewRomanPSMT"/>
              </a:rPr>
              <a:t>k-Nearest Neighbors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49E26-483C-4C90-9C04-33E8A21B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DEE64-EE19-4BE3-A013-25A86CAA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BF3B4-4AFA-4491-9BB5-A5E52CAD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71BD624-9FE2-4672-8B17-D83FC9C88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0452982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For unsupervised learning, we provide </a:t>
            </a:r>
            <a:r>
              <a:rPr lang="en-US" altLang="zh-CN" dirty="0">
                <a:solidFill>
                  <a:srgbClr val="00B0F0"/>
                </a:solidFill>
                <a:ea typeface="SimSun" panose="02010600030101010101" pitchFamily="2" charset="-122"/>
              </a:rPr>
              <a:t>data but NOT labels </a:t>
            </a:r>
            <a:r>
              <a:rPr lang="en-US" altLang="zh-CN" dirty="0">
                <a:ea typeface="SimSun" panose="02010600030101010101" pitchFamily="2" charset="-122"/>
              </a:rPr>
              <a:t>for training the algorithm </a:t>
            </a:r>
          </a:p>
          <a:p>
            <a:r>
              <a:rPr lang="en-US" dirty="0"/>
              <a:t>The system tries to learn </a:t>
            </a:r>
            <a:r>
              <a:rPr lang="en-US" dirty="0">
                <a:solidFill>
                  <a:srgbClr val="00B050"/>
                </a:solidFill>
              </a:rPr>
              <a:t>without a teacher</a:t>
            </a:r>
            <a:r>
              <a:rPr lang="en-US" dirty="0"/>
              <a:t>.</a:t>
            </a:r>
          </a:p>
          <a:p>
            <a:r>
              <a:rPr lang="en-US" dirty="0"/>
              <a:t>Learns </a:t>
            </a:r>
            <a:r>
              <a:rPr lang="en-US" dirty="0">
                <a:solidFill>
                  <a:srgbClr val="FF0000"/>
                </a:solidFill>
              </a:rPr>
              <a:t>relations among data </a:t>
            </a:r>
            <a:r>
              <a:rPr lang="en-US" dirty="0"/>
              <a:t>by itself</a:t>
            </a:r>
          </a:p>
          <a:p>
            <a:r>
              <a:rPr lang="en-US" dirty="0"/>
              <a:t>Then put the data into different </a:t>
            </a:r>
            <a:r>
              <a:rPr lang="en-US" dirty="0">
                <a:solidFill>
                  <a:srgbClr val="FF0000"/>
                </a:solidFill>
              </a:rPr>
              <a:t>groups/clusters</a:t>
            </a:r>
            <a:endParaRPr lang="en-US" altLang="zh-CN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50C9-A81E-4615-A460-0F575EB25BE7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804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600200"/>
            <a:ext cx="6553200" cy="439754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574101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F3E3E-6135-4BE8-B86D-ECBC8E4B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217D6-3D20-4C7E-BC24-6E74E382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D6CFC-88AA-4EA8-9EB8-48AB904C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5E60BD-65D2-4A07-8DAB-5BB8A782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pic>
        <p:nvPicPr>
          <p:cNvPr id="1026" name="Picture 2" descr="A Brief Introduction to Unsupervised Learning | by Aidan Wilson | Towards  Data Science">
            <a:extLst>
              <a:ext uri="{FF2B5EF4-FFF2-40B4-BE49-F238E27FC236}">
                <a16:creationId xmlns:a16="http://schemas.microsoft.com/office/drawing/2014/main" id="{5DDF4CC3-F152-4CA7-BD79-7FB198E100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41" b="4034"/>
          <a:stretch/>
        </p:blipFill>
        <p:spPr bwMode="auto">
          <a:xfrm>
            <a:off x="3200400" y="1568201"/>
            <a:ext cx="4495800" cy="478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169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229D15-ADE5-4118-B271-1FC5BE4CF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widely used unsupervised learning algorithms:</a:t>
            </a:r>
          </a:p>
          <a:p>
            <a:pPr lvl="1"/>
            <a:r>
              <a:rPr lang="en-US" dirty="0"/>
              <a:t>K-Means</a:t>
            </a:r>
          </a:p>
          <a:p>
            <a:pPr lvl="1"/>
            <a:r>
              <a:rPr lang="en-US" dirty="0"/>
              <a:t>Principal Component Analysis (PCA)</a:t>
            </a:r>
          </a:p>
          <a:p>
            <a:pPr lvl="1"/>
            <a:r>
              <a:rPr lang="en-US" dirty="0" err="1"/>
              <a:t>Apriori</a:t>
            </a:r>
            <a:endParaRPr lang="en-US" dirty="0"/>
          </a:p>
          <a:p>
            <a:pPr lvl="1"/>
            <a:r>
              <a:rPr lang="en-US" dirty="0"/>
              <a:t>Hierarchical Cluster Analysis (HCA)</a:t>
            </a:r>
          </a:p>
          <a:p>
            <a:pPr lvl="1"/>
            <a:r>
              <a:rPr lang="en-US" dirty="0"/>
              <a:t>One-class SVM</a:t>
            </a:r>
          </a:p>
          <a:p>
            <a:endParaRPr lang="en-US" sz="1800" dirty="0">
              <a:latin typeface="TimesNewRomanPSMT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55CF0-787C-4962-AC18-63E56DA1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641EC9-7A91-4CD4-ABA4-F0688F7D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991A9-B8F6-4FB0-9761-9BD6A0EB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5C6F39-DA81-4F7D-893C-C538FEF9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181588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CC2905-422D-4019-9219-40115F6BD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  <a:p>
            <a:r>
              <a:rPr lang="en-US" dirty="0"/>
              <a:t>Dimensionality reduction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Anomaly detection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A5CCD-6D5D-42D6-A39A-DA2461AF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44318-C881-41F6-8702-A9777403E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D046E-8F3C-4851-BA2D-24D6019F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FEBBCA6-2405-4D9F-9E01-4D5471B2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of Unsupervised Learning	</a:t>
            </a:r>
          </a:p>
        </p:txBody>
      </p:sp>
    </p:spTree>
    <p:extLst>
      <p:ext uri="{BB962C8B-B14F-4D97-AF65-F5344CB8AC3E}">
        <p14:creationId xmlns:p14="http://schemas.microsoft.com/office/powerpoint/2010/main" val="3137257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252" y="1589314"/>
            <a:ext cx="78962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76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Unsupervised Learning </a:t>
            </a:r>
          </a:p>
        </p:txBody>
      </p:sp>
      <p:pic>
        <p:nvPicPr>
          <p:cNvPr id="1026" name="Picture 2" descr="Image result for unsupervised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339181"/>
            <a:ext cx="7088372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51366" y="2819400"/>
            <a:ext cx="1025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Labels: y</a:t>
            </a:r>
          </a:p>
        </p:txBody>
      </p:sp>
    </p:spTree>
    <p:extLst>
      <p:ext uri="{BB962C8B-B14F-4D97-AF65-F5344CB8AC3E}">
        <p14:creationId xmlns:p14="http://schemas.microsoft.com/office/powerpoint/2010/main" val="760217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ea typeface="SimSun" panose="02010600030101010101" pitchFamily="2" charset="-122"/>
              </a:rPr>
              <a:t>Reinforcement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The learning system, called an </a:t>
            </a:r>
            <a:r>
              <a:rPr lang="en-US" dirty="0">
                <a:solidFill>
                  <a:srgbClr val="00B050"/>
                </a:solidFill>
              </a:rPr>
              <a:t>agent</a:t>
            </a:r>
            <a:r>
              <a:rPr lang="en-US" dirty="0"/>
              <a:t>, can </a:t>
            </a:r>
            <a:r>
              <a:rPr lang="en-US" dirty="0">
                <a:solidFill>
                  <a:srgbClr val="00B0F0"/>
                </a:solidFill>
              </a:rPr>
              <a:t>observe the environment, select and perform actions</a:t>
            </a:r>
            <a:r>
              <a:rPr lang="en-US" dirty="0"/>
              <a:t>:</a:t>
            </a:r>
          </a:p>
          <a:p>
            <a:pPr lvl="1"/>
            <a:r>
              <a:rPr lang="en-US" sz="2800" dirty="0"/>
              <a:t>Get </a:t>
            </a:r>
            <a:r>
              <a:rPr lang="en-US" sz="2800" dirty="0">
                <a:solidFill>
                  <a:srgbClr val="00B050"/>
                </a:solidFill>
              </a:rPr>
              <a:t>positive rewards </a:t>
            </a:r>
            <a:r>
              <a:rPr lang="en-US" sz="2800" dirty="0"/>
              <a:t>for good actions</a:t>
            </a:r>
          </a:p>
          <a:p>
            <a:pPr lvl="1"/>
            <a:r>
              <a:rPr lang="en-US" sz="2800" dirty="0"/>
              <a:t>Get </a:t>
            </a:r>
            <a:r>
              <a:rPr lang="en-US" sz="2800" dirty="0">
                <a:solidFill>
                  <a:srgbClr val="00B050"/>
                </a:solidFill>
              </a:rPr>
              <a:t>negative rewards </a:t>
            </a:r>
            <a:r>
              <a:rPr lang="en-US" sz="2800" dirty="0"/>
              <a:t>for wrong action</a:t>
            </a:r>
          </a:p>
          <a:p>
            <a:r>
              <a:rPr lang="en-US" dirty="0"/>
              <a:t>Reinforcement learning </a:t>
            </a:r>
            <a:r>
              <a:rPr lang="en-US" dirty="0">
                <a:solidFill>
                  <a:srgbClr val="FF0000"/>
                </a:solidFill>
              </a:rPr>
              <a:t>refers to goal-oriented algorithms</a:t>
            </a:r>
            <a:r>
              <a:rPr lang="en-US" dirty="0"/>
              <a:t>, which learn how to attain a complex </a:t>
            </a:r>
            <a:r>
              <a:rPr lang="en-US" dirty="0">
                <a:solidFill>
                  <a:srgbClr val="FF0000"/>
                </a:solidFill>
              </a:rPr>
              <a:t>objective (goal) or maximize </a:t>
            </a:r>
          </a:p>
          <a:p>
            <a:endParaRPr lang="en-US" altLang="zh-CN" dirty="0">
              <a:solidFill>
                <a:sysClr val="windowText" lastClr="000000"/>
              </a:solidFill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50C9-A81E-4615-A460-0F575EB25BE7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238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B71A47-629A-41A9-AFCC-A35F43408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NewRomanPSMT"/>
              </a:rPr>
              <a:t>It must then learn by itself what is the best strategy</a:t>
            </a:r>
          </a:p>
          <a:p>
            <a:pPr lvl="1"/>
            <a:r>
              <a:rPr lang="en-US" sz="2800" dirty="0">
                <a:solidFill>
                  <a:srgbClr val="00B050"/>
                </a:solidFill>
                <a:latin typeface="TimesNewRomanPSMT"/>
              </a:rPr>
              <a:t>P</a:t>
            </a:r>
            <a:r>
              <a:rPr lang="en-US" sz="2800" dirty="0">
                <a:solidFill>
                  <a:srgbClr val="00B050"/>
                </a:solidFill>
                <a:latin typeface="TimesNewRomanPS-ItalicMT"/>
              </a:rPr>
              <a:t>olicy</a:t>
            </a:r>
            <a:r>
              <a:rPr lang="en-US" sz="2800" dirty="0">
                <a:latin typeface="TimesNewRomanPS-ItalicMT"/>
              </a:rPr>
              <a:t>: best strategy</a:t>
            </a:r>
            <a:endParaRPr lang="en-US" sz="2800" dirty="0">
              <a:latin typeface="TimesNewRomanPSMT"/>
            </a:endParaRPr>
          </a:p>
          <a:p>
            <a:pPr algn="l"/>
            <a:r>
              <a:rPr lang="en-US" b="0" i="0" u="none" strike="noStrike" baseline="0" dirty="0">
                <a:latin typeface="TimesNewRomanPSMT"/>
              </a:rPr>
              <a:t>A policy defines what </a:t>
            </a:r>
            <a:r>
              <a:rPr lang="en-US" b="0" i="0" u="none" strike="noStrike" baseline="0" dirty="0">
                <a:solidFill>
                  <a:srgbClr val="FF0000"/>
                </a:solidFill>
                <a:latin typeface="TimesNewRomanPSMT"/>
              </a:rPr>
              <a:t>action the agent should choose </a:t>
            </a:r>
            <a:r>
              <a:rPr lang="en-US" b="0" i="0" u="none" strike="noStrike" baseline="0" dirty="0">
                <a:latin typeface="TimesNewRomanPSMT"/>
              </a:rPr>
              <a:t>when it is in a given situation.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Example: 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Playing games, Robotics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Robots </a:t>
            </a:r>
            <a:r>
              <a:rPr lang="en-US" dirty="0">
                <a:ea typeface="SimSun" panose="02010600030101010101" pitchFamily="2" charset="-122"/>
              </a:rPr>
              <a:t>learn how to walk.</a:t>
            </a:r>
          </a:p>
          <a:p>
            <a:pPr lvl="1"/>
            <a:r>
              <a:rPr lang="en-US" sz="2800" dirty="0">
                <a:latin typeface="TimesNewRomanPSMT"/>
              </a:rPr>
              <a:t>DeepMind’s AlphaGo</a:t>
            </a:r>
          </a:p>
          <a:p>
            <a:pPr lvl="1"/>
            <a:endParaRPr lang="en-US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pPr algn="l"/>
            <a:endParaRPr lang="en-US" dirty="0">
              <a:ea typeface="SimSun" panose="02010600030101010101" pitchFamily="2" charset="-122"/>
            </a:endParaRP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6D9A0-230B-4834-87AD-49F1D80B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D24CE-61B6-406F-9678-9E006DC0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FAAB2-313C-479F-ACC0-A093ABFF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24DF71-75D8-4B1E-8AA9-5010D9E7C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SimSun" panose="02010600030101010101" pitchFamily="2" charset="-122"/>
              </a:rPr>
              <a:t>Reinforcement learning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DF4A17-126D-46D1-86AE-38D263049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3200401"/>
            <a:ext cx="2857500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9596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SimSun" panose="02010600030101010101" pitchFamily="2" charset="-122"/>
              </a:rPr>
              <a:t>Reinforcement learning</a:t>
            </a:r>
            <a:endParaRPr lang="en-US" dirty="0"/>
          </a:p>
        </p:txBody>
      </p:sp>
      <p:pic>
        <p:nvPicPr>
          <p:cNvPr id="3074" name="Picture 2" descr="Image result for reinforcement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87686"/>
            <a:ext cx="7010400" cy="443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405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1" y="1699420"/>
            <a:ext cx="7329357" cy="4525963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ea typeface="SimSun" panose="02010600030101010101" pitchFamily="2" charset="-122"/>
              </a:rPr>
              <a:t>Reinforcement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5382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A48F2C-2D4C-4D15-970F-912CCCA60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</a:t>
            </a:r>
            <a:r>
              <a:rPr lang="en-US" dirty="0">
                <a:solidFill>
                  <a:srgbClr val="00B050"/>
                </a:solidFill>
              </a:rPr>
              <a:t>data is changing</a:t>
            </a:r>
            <a:r>
              <a:rPr lang="en-US" dirty="0"/>
              <a:t>, should we </a:t>
            </a:r>
            <a:r>
              <a:rPr lang="en-US" dirty="0">
                <a:solidFill>
                  <a:srgbClr val="FF0000"/>
                </a:solidFill>
              </a:rPr>
              <a:t>retrain</a:t>
            </a:r>
            <a:r>
              <a:rPr lang="en-US" dirty="0"/>
              <a:t> the model from scratch?</a:t>
            </a:r>
          </a:p>
          <a:p>
            <a:r>
              <a:rPr lang="en-US" dirty="0"/>
              <a:t>Or anything else can be done?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54A38-09E5-4ABB-A3D8-0B62F8F9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5CFB1-399B-4A96-B5D1-909C7FE2AC18}" type="datetime1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055A7-B76E-4AD4-BB97-98EAC558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D8F73-BA30-4701-B03F-155F0A51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ED4C76-45EF-451B-85BC-5EBB3D97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Curiosity: Question of the Day</a:t>
            </a:r>
          </a:p>
        </p:txBody>
      </p:sp>
    </p:spTree>
    <p:extLst>
      <p:ext uri="{BB962C8B-B14F-4D97-AF65-F5344CB8AC3E}">
        <p14:creationId xmlns:p14="http://schemas.microsoft.com/office/powerpoint/2010/main" val="1232500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tr-TR" dirty="0">
                <a:cs typeface="Times New Roman" panose="02020603050405020304" pitchFamily="18" charset="0"/>
              </a:rPr>
              <a:t>Read  1</a:t>
            </a:r>
            <a:r>
              <a:rPr lang="en-GB" altLang="tr-TR" baseline="30000" dirty="0">
                <a:cs typeface="Times New Roman" panose="02020603050405020304" pitchFamily="18" charset="0"/>
              </a:rPr>
              <a:t>st</a:t>
            </a:r>
            <a:r>
              <a:rPr lang="en-GB" altLang="tr-TR" dirty="0">
                <a:cs typeface="Times New Roman" panose="02020603050405020304" pitchFamily="18" charset="0"/>
              </a:rPr>
              <a:t> Chapter of </a:t>
            </a:r>
            <a:r>
              <a:rPr lang="en-US" altLang="tr-TR" dirty="0">
                <a:cs typeface="Times New Roman" panose="02020603050405020304" pitchFamily="18" charset="0"/>
              </a:rPr>
              <a:t>Hands-on Machine Learning with Scikit-Learn, Keras, and TensorFlow- (2019)</a:t>
            </a:r>
          </a:p>
          <a:p>
            <a:r>
              <a:rPr lang="en-GB" altLang="tr-TR" i="1" dirty="0">
                <a:cs typeface="Times New Roman" panose="02020603050405020304" pitchFamily="18" charset="0"/>
                <a:hlinkClick r:id="rId2"/>
              </a:rPr>
              <a:t>https://towardsdatascience.com/workflow-of-a-machine-learning-project-ec1dba419b94</a:t>
            </a:r>
            <a:endParaRPr lang="en-GB" altLang="tr-TR" i="1" dirty="0">
              <a:cs typeface="Times New Roman" panose="02020603050405020304" pitchFamily="18" charset="0"/>
            </a:endParaRPr>
          </a:p>
          <a:p>
            <a:r>
              <a:rPr lang="en-GB" altLang="tr-TR" i="1" dirty="0">
                <a:cs typeface="Times New Roman" panose="02020603050405020304" pitchFamily="18" charset="0"/>
                <a:hlinkClick r:id="rId3"/>
              </a:rPr>
              <a:t>https://cloud.google.com/ai-platform/docs/ml-solutions-overview</a:t>
            </a:r>
            <a:endParaRPr lang="en-GB" altLang="tr-TR" i="1" dirty="0">
              <a:cs typeface="Times New Roman" panose="02020603050405020304" pitchFamily="18" charset="0"/>
            </a:endParaRPr>
          </a:p>
          <a:p>
            <a:endParaRPr lang="en-GB" altLang="tr-TR" i="1" dirty="0">
              <a:cs typeface="Times New Roman" panose="02020603050405020304" pitchFamily="18" charset="0"/>
            </a:endParaRPr>
          </a:p>
          <a:p>
            <a:endParaRPr lang="en-GB" altLang="tr-TR" i="1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25D30-01EA-4812-BD28-AAEDF275B4C3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829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60BC9-6AD8-4F60-A70C-1218C471839E}" type="datetime1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00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16626</TotalTime>
  <Words>1228</Words>
  <Application>Microsoft Macintosh PowerPoint</Application>
  <PresentationFormat>Widescreen</PresentationFormat>
  <Paragraphs>257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SimSun</vt:lpstr>
      <vt:lpstr>-apple-system</vt:lpstr>
      <vt:lpstr>arial</vt:lpstr>
      <vt:lpstr>arial</vt:lpstr>
      <vt:lpstr>Calibri</vt:lpstr>
      <vt:lpstr>Times New Roman</vt:lpstr>
      <vt:lpstr>TimesNewRomanPS-ItalicMT</vt:lpstr>
      <vt:lpstr>TimesNewRomanPSMT</vt:lpstr>
      <vt:lpstr>Wingdings</vt:lpstr>
      <vt:lpstr>Office Theme</vt:lpstr>
      <vt:lpstr>PowerPoint Presentation</vt:lpstr>
      <vt:lpstr>Goals</vt:lpstr>
      <vt:lpstr>What is Learning?</vt:lpstr>
      <vt:lpstr>What is Learning?</vt:lpstr>
      <vt:lpstr>What is Learning?</vt:lpstr>
      <vt:lpstr>What is Learning?</vt:lpstr>
      <vt:lpstr>What is Learning?</vt:lpstr>
      <vt:lpstr>What is Machine Learning?</vt:lpstr>
      <vt:lpstr>What is Machine Learning?</vt:lpstr>
      <vt:lpstr>What is Machine Learning?</vt:lpstr>
      <vt:lpstr>A checkers learning problem</vt:lpstr>
      <vt:lpstr>Spam Tagging Problem</vt:lpstr>
      <vt:lpstr>Spam Tagging Problem</vt:lpstr>
      <vt:lpstr>Types of Machine Learning…</vt:lpstr>
      <vt:lpstr>Supervised learning</vt:lpstr>
      <vt:lpstr>Supervised learning: Example</vt:lpstr>
      <vt:lpstr>Supervised learning: Example</vt:lpstr>
      <vt:lpstr>Supervised learning: Example</vt:lpstr>
      <vt:lpstr>Supervised Learning</vt:lpstr>
      <vt:lpstr>Supervised learning</vt:lpstr>
      <vt:lpstr>Supervised learning</vt:lpstr>
      <vt:lpstr>Supervised learning</vt:lpstr>
      <vt:lpstr>Supervised learning</vt:lpstr>
      <vt:lpstr>Supervised learning</vt:lpstr>
      <vt:lpstr>Supervised learning</vt:lpstr>
      <vt:lpstr>Unsupervised learning</vt:lpstr>
      <vt:lpstr>Unsupervised Learning</vt:lpstr>
      <vt:lpstr>Unsupervised Learning</vt:lpstr>
      <vt:lpstr>Unsupervised Learning</vt:lpstr>
      <vt:lpstr>Usage of Unsupervised Learning </vt:lpstr>
      <vt:lpstr>Unsupervised Learning</vt:lpstr>
      <vt:lpstr>Supervised vs Unsupervised Learning </vt:lpstr>
      <vt:lpstr>Reinforcement learning</vt:lpstr>
      <vt:lpstr>Reinforcement learning</vt:lpstr>
      <vt:lpstr>Reinforcement learning</vt:lpstr>
      <vt:lpstr>Reinforcement learning</vt:lpstr>
      <vt:lpstr>Curiosity: Question of the Day</vt:lpstr>
      <vt:lpstr>Reference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Muhammad Atif Saeed</cp:lastModifiedBy>
  <cp:revision>1319</cp:revision>
  <dcterms:created xsi:type="dcterms:W3CDTF">2006-08-16T00:00:00Z</dcterms:created>
  <dcterms:modified xsi:type="dcterms:W3CDTF">2026-01-19T17:51:29Z</dcterms:modified>
</cp:coreProperties>
</file>