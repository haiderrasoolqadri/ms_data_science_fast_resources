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7"/>
  </p:notesMasterIdLst>
  <p:sldIdLst>
    <p:sldId id="443" r:id="rId2"/>
    <p:sldId id="421" r:id="rId3"/>
    <p:sldId id="1329" r:id="rId4"/>
    <p:sldId id="1341" r:id="rId5"/>
    <p:sldId id="1353" r:id="rId6"/>
    <p:sldId id="1355" r:id="rId7"/>
    <p:sldId id="1376" r:id="rId8"/>
    <p:sldId id="1364" r:id="rId9"/>
    <p:sldId id="1379" r:id="rId10"/>
    <p:sldId id="1381" r:id="rId11"/>
    <p:sldId id="1390" r:id="rId12"/>
    <p:sldId id="1384" r:id="rId13"/>
    <p:sldId id="1385" r:id="rId14"/>
    <p:sldId id="1386" r:id="rId15"/>
    <p:sldId id="1377" r:id="rId16"/>
    <p:sldId id="1393" r:id="rId17"/>
    <p:sldId id="1382" r:id="rId18"/>
    <p:sldId id="1383" r:id="rId19"/>
    <p:sldId id="259" r:id="rId20"/>
    <p:sldId id="1392" r:id="rId21"/>
    <p:sldId id="265" r:id="rId22"/>
    <p:sldId id="273" r:id="rId23"/>
    <p:sldId id="291" r:id="rId24"/>
    <p:sldId id="1394" r:id="rId25"/>
    <p:sldId id="1395" r:id="rId26"/>
    <p:sldId id="294" r:id="rId27"/>
    <p:sldId id="296" r:id="rId28"/>
    <p:sldId id="297" r:id="rId29"/>
    <p:sldId id="1397" r:id="rId30"/>
    <p:sldId id="1396" r:id="rId31"/>
    <p:sldId id="266" r:id="rId32"/>
    <p:sldId id="267" r:id="rId33"/>
    <p:sldId id="300" r:id="rId34"/>
    <p:sldId id="1298" r:id="rId35"/>
    <p:sldId id="415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08" autoAdjust="0"/>
    <p:restoredTop sz="94660"/>
  </p:normalViewPr>
  <p:slideViewPr>
    <p:cSldViewPr>
      <p:cViewPr varScale="1">
        <p:scale>
          <a:sx n="72" d="100"/>
          <a:sy n="72" d="100"/>
        </p:scale>
        <p:origin x="122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4/25/2022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more unique colors (3-4)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8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7EE8E72-DB05-4F25-921E-8373A995D12D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57200"/>
            <a:ext cx="9128760" cy="762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517199"/>
            <a:ext cx="91287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0D146-60E0-42B3-B050-79D997995FD0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2045-6CAE-4DAE-8FFC-092811B27E2C}" type="datetime1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854E2-7C77-47AD-978C-A10F19BCD4EF}" type="datetime1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691A-3BE9-406A-BB8C-B3BB24D9470B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7FECC-5824-4FCE-BFF7-CED6C57E07CF}" type="datetime1">
              <a:rPr lang="en-US" smtClean="0"/>
              <a:t>4/25/2022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CDCD-E4C5-4930-A27B-99FAF7D39B37}" type="datetime1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71D15-B244-40C6-A276-85EA812108C8}" type="datetime1">
              <a:rPr lang="en-US" smtClean="0"/>
              <a:t>4/25/2022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D161-9528-45B1-A429-B6D972A56A25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8BC2-373E-492A-ACB3-8076CE7139D5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31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25285C9-B633-43E6-BFFE-60FAA2493F9F}" type="datetime1">
              <a:rPr lang="en-US" smtClean="0"/>
              <a:t>4/25/2022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3.xml"/><Relationship Id="rId21" Type="http://schemas.openxmlformats.org/officeDocument/2006/relationships/image" Target="../media/image19.png"/><Relationship Id="rId7" Type="http://schemas.openxmlformats.org/officeDocument/2006/relationships/tags" Target="../tags/tag7.xml"/><Relationship Id="rId12" Type="http://schemas.openxmlformats.org/officeDocument/2006/relationships/notesSlide" Target="../notesSlides/notesSlide2.xml"/><Relationship Id="rId17" Type="http://schemas.openxmlformats.org/officeDocument/2006/relationships/image" Target="../media/image15.png"/><Relationship Id="rId2" Type="http://schemas.openxmlformats.org/officeDocument/2006/relationships/tags" Target="../tags/tag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5.xml"/><Relationship Id="rId15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1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3blue1brown.com/" TargetMode="External"/><Relationship Id="rId2" Type="http://schemas.openxmlformats.org/officeDocument/2006/relationships/hyperlink" Target="https://medium.com/analytics-vidhya/understanding-principle-component-analysis-pca-step-by-step-e7a4bb4031d9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81400" y="92867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0099CC"/>
                </a:solidFill>
                <a:effectLst/>
                <a:latin typeface="arial" panose="020B0604020202020204" pitchFamily="34" charset="0"/>
              </a:rPr>
              <a:t>The National University of Computer and Emerging Sciences</a:t>
            </a:r>
            <a:endParaRPr lang="en-US" sz="20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876300" y="2589241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lvl="1"/>
            <a:r>
              <a:rPr lang="en-US" sz="4000" dirty="0">
                <a:solidFill>
                  <a:schemeClr val="bg1"/>
                </a:solidFill>
              </a:rPr>
              <a:t>Dimensionality Reduction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28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3900341"/>
            <a:ext cx="7391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Machine Learning for Data Science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5802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CE3A62-5C29-499E-8256-FBD552D3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33370-80AC-4E9D-9FF9-D81426488D70}" type="datetime1">
              <a:rPr lang="en-US" smtClean="0"/>
              <a:t>4/25/2022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08BEE6-F8F4-4A24-8FF4-E33955C7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B18DA6-C312-4A10-95C0-9292A7C8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Dimensionality Reduction</a:t>
            </a:r>
            <a:endParaRPr lang="en-US" sz="2400" dirty="0">
              <a:solidFill>
                <a:srgbClr val="002060"/>
              </a:solidFill>
            </a:endParaRPr>
          </a:p>
          <a:p>
            <a:pPr lvl="1"/>
            <a:r>
              <a:rPr lang="en-US" sz="2400" dirty="0">
                <a:solidFill>
                  <a:srgbClr val="002060"/>
                </a:solidFill>
              </a:rPr>
              <a:t>Principal Component Analysis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402D7-A97B-483B-B162-D01C3F95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3F08E-A05B-4A5C-BEC7-0CF9B928A8E4}" type="datetime1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3A54A-7D4E-437F-83F7-634F4507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EB498-E246-4877-A681-DE3891A3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3079A-4BDE-4F99-9EE0-D1CCE7AE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C41AE-F914-4B22-B662-5C842171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C3316-8092-4E4A-8004-A820C6E2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D9F73E-394A-47B0-B9BE-860E9DBB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09900"/>
            <a:ext cx="8229600" cy="838200"/>
          </a:xfrm>
        </p:spPr>
        <p:txBody>
          <a:bodyPr/>
          <a:lstStyle/>
          <a:p>
            <a:r>
              <a:rPr lang="en-US" dirty="0"/>
              <a:t>Review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394436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1CA825-F6C8-4042-A856-ECBD0C4D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All clustering methods use almost </a:t>
            </a:r>
            <a:r>
              <a:rPr lang="en-US" b="0" i="0" dirty="0">
                <a:solidFill>
                  <a:srgbClr val="07AE77"/>
                </a:solidFill>
                <a:effectLst/>
                <a:latin typeface="open sans" panose="020B0606030504020204" pitchFamily="34" charset="0"/>
              </a:rPr>
              <a:t>the same approach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pPr lvl="1"/>
            <a:r>
              <a:rPr lang="en-US" b="0" i="0" dirty="0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Calculate similarities 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and then add to </a:t>
            </a:r>
            <a:r>
              <a:rPr lang="en-US" b="0" i="0" dirty="0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the cluster </a:t>
            </a:r>
          </a:p>
          <a:p>
            <a:r>
              <a:rPr lang="en-US" b="0" i="1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k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-means is generally good, but:</a:t>
            </a:r>
          </a:p>
          <a:p>
            <a:pPr lvl="1"/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Need to </a:t>
            </a:r>
            <a:r>
              <a:rPr lang="en-US" b="0" i="0" dirty="0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specify the number of clusters 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in beginning</a:t>
            </a:r>
          </a:p>
          <a:p>
            <a:pPr lvl="1"/>
            <a:r>
              <a:rPr lang="en-US" dirty="0">
                <a:solidFill>
                  <a:srgbClr val="222222"/>
                </a:solidFill>
                <a:latin typeface="Lato" panose="020F0502020204030203" pitchFamily="34" charset="0"/>
              </a:rPr>
              <a:t>K-Means may fail for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different shapes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lvl="1"/>
            <a:r>
              <a:rPr lang="en-US" b="0" i="0" dirty="0">
                <a:solidFill>
                  <a:srgbClr val="07AE77"/>
                </a:solidFill>
                <a:effectLst/>
                <a:latin typeface="open sans" panose="020B0606030504020204" pitchFamily="34" charset="0"/>
              </a:rPr>
              <a:t>Outliers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 can affect its performance	;</a:t>
            </a:r>
          </a:p>
          <a:p>
            <a:pPr lvl="2"/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A slight change in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open sans" panose="020B0606030504020204" pitchFamily="34" charset="0"/>
              </a:rPr>
              <a:t>data points </a:t>
            </a:r>
            <a:r>
              <a:rPr lang="en-US" sz="2400" b="0" i="1" dirty="0">
                <a:solidFill>
                  <a:srgbClr val="FFC000"/>
                </a:solidFill>
                <a:effectLst/>
                <a:latin typeface="open sans" panose="020B0606030504020204" pitchFamily="34" charset="0"/>
              </a:rPr>
              <a:t>might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open sans" panose="020B0606030504020204" pitchFamily="34" charset="0"/>
              </a:rPr>
              <a:t> affect the clustering outcome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sz="2400" b="0" i="0" dirty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DBSCAN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clustering can overcome these.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543E1-B805-4C19-B08B-395F9544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D6282-F463-4854-970C-A3CC92B9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810F0-D563-4C91-9491-E50432F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0ACCD8-EA91-4F96-A253-9DA22132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398900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DE9F91-45E4-4DF7-AD22-326931A5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The DBSCAN algorithm uses two parameters:</a:t>
            </a:r>
          </a:p>
          <a:p>
            <a:r>
              <a:rPr lang="en-US" sz="2400" b="1" i="0" dirty="0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eps (ε):</a:t>
            </a:r>
            <a:r>
              <a:rPr lang="en-US" sz="2400" b="0" i="0" dirty="0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A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distance measure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that will be used to locate the points in the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neighborhood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 of any point.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B0F0"/>
                </a:solidFill>
                <a:effectLst/>
                <a:latin typeface="open sans" panose="020B0606030504020204" pitchFamily="34" charset="0"/>
              </a:rPr>
              <a:t>minPts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: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 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minimum number of points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(a threshold) clustered together for a region to be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considered dense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CF179-FD37-432E-8A2B-24CB5B71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874ED-A4F7-4797-8963-FB42FCC4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6D499-74A7-48EC-8CCA-6E1538D9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5F4424-BD6D-4FB1-8816-DC800881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Clustering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1BE43-B7F8-4036-A257-2A6E24C7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73" y="3706813"/>
            <a:ext cx="78390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6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F4967-04AA-4AE9-BE80-9E71DA1D8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E5D8E-1DF3-485B-B932-F5EEC53E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5B13B-FD68-45F3-AF32-FFD675C5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500001-BE15-4505-8FA1-CF5FD106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Clustering Algorithm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DF2FAD-860F-49C7-A974-0A7C3BFAB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772444"/>
            <a:ext cx="7848600" cy="418147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21C25B-623F-4651-9668-D117C3104F41}"/>
              </a:ext>
            </a:extLst>
          </p:cNvPr>
          <p:cNvSpPr txBox="1"/>
          <p:nvPr/>
        </p:nvSpPr>
        <p:spPr>
          <a:xfrm>
            <a:off x="3200400" y="5923072"/>
            <a:ext cx="396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C00000"/>
                </a:solidFill>
                <a:effectLst/>
                <a:latin typeface="open sans" panose="020B0606030504020204" pitchFamily="34" charset="0"/>
              </a:rPr>
              <a:t>ε  = 2, </a:t>
            </a:r>
            <a:r>
              <a:rPr lang="en-US" sz="3200" dirty="0" err="1">
                <a:solidFill>
                  <a:srgbClr val="C00000"/>
                </a:solidFill>
              </a:rPr>
              <a:t>minPts</a:t>
            </a:r>
            <a:r>
              <a:rPr lang="en-US" sz="3200" dirty="0">
                <a:solidFill>
                  <a:srgbClr val="C00000"/>
                </a:solidFill>
              </a:rPr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122151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E9A4E0-194B-4156-AA70-6050B39B9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920" y="1600200"/>
            <a:ext cx="6342160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4760D-C1B8-4151-8463-3AB673B6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153ED-643D-434F-BBEA-81691A85A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CCF17-99DC-4E50-A7AD-5DC0F877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5E9868-1FC3-4131-92F4-24D9DCAB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Clustering Algorithm</a:t>
            </a:r>
          </a:p>
        </p:txBody>
      </p:sp>
    </p:spTree>
    <p:extLst>
      <p:ext uri="{BB962C8B-B14F-4D97-AF65-F5344CB8AC3E}">
        <p14:creationId xmlns:p14="http://schemas.microsoft.com/office/powerpoint/2010/main" val="51213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3079A-4BDE-4F99-9EE0-D1CCE7AE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C41AE-F914-4B22-B662-5C842171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C3316-8092-4E4A-8004-A820C6E2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D9F73E-394A-47B0-B9BE-860E9DBB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09900"/>
            <a:ext cx="82296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280353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04947-0508-4F76-AAA7-1EEFE085E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LucidaBright"/>
              </a:rPr>
              <a:t>The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LucidaBright"/>
              </a:rPr>
              <a:t>input data </a:t>
            </a:r>
            <a:r>
              <a:rPr lang="en-US" b="0" i="0" u="none" strike="noStrike" baseline="0" dirty="0">
                <a:latin typeface="LucidaBright"/>
              </a:rPr>
              <a:t>fed to the model for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LucidaBright"/>
              </a:rPr>
              <a:t>training</a:t>
            </a:r>
            <a:r>
              <a:rPr lang="en-US" b="0" i="0" u="none" strike="noStrike" baseline="0" dirty="0">
                <a:latin typeface="LucidaBright"/>
              </a:rPr>
              <a:t> and then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LucidaBright"/>
              </a:rPr>
              <a:t>decision making</a:t>
            </a:r>
            <a:r>
              <a:rPr lang="en-US" b="0" i="0" u="none" strike="noStrike" baseline="0" dirty="0">
                <a:latin typeface="LucidaBright"/>
              </a:rPr>
              <a:t>.</a:t>
            </a:r>
          </a:p>
          <a:p>
            <a:pPr lvl="1"/>
            <a:r>
              <a:rPr lang="en-US" b="0" i="0" u="none" strike="noStrike" baseline="0" dirty="0">
                <a:solidFill>
                  <a:srgbClr val="00B050"/>
                </a:solidFill>
                <a:latin typeface="LucidaBright"/>
              </a:rPr>
              <a:t>Contain information</a:t>
            </a:r>
          </a:p>
          <a:p>
            <a:pPr algn="l"/>
            <a:r>
              <a:rPr lang="en-US" b="0" i="1" u="none" strike="noStrike" baseline="0" dirty="0">
                <a:latin typeface="LucidaBright-Italic"/>
              </a:rPr>
              <a:t>The </a:t>
            </a:r>
            <a:r>
              <a:rPr lang="en-US" b="0" i="1" u="none" strike="noStrike" baseline="0" dirty="0">
                <a:solidFill>
                  <a:srgbClr val="0070C0"/>
                </a:solidFill>
                <a:latin typeface="LucidaBright-Italic"/>
              </a:rPr>
              <a:t>complexity of any classifier or regressor </a:t>
            </a:r>
            <a:r>
              <a:rPr lang="en-US" b="0" i="1" u="none" strike="noStrike" baseline="0" dirty="0">
                <a:latin typeface="LucidaBright-Italic"/>
              </a:rPr>
              <a:t>depends on the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LucidaBright-Italic"/>
              </a:rPr>
              <a:t>number of inputs</a:t>
            </a:r>
            <a:r>
              <a:rPr lang="en-US" b="0" i="1" u="none" strike="noStrike" baseline="0" dirty="0">
                <a:latin typeface="LucidaBright-Italic"/>
              </a:rPr>
              <a:t>. </a:t>
            </a:r>
          </a:p>
          <a:p>
            <a:pPr lvl="1"/>
            <a:r>
              <a:rPr lang="en-US" sz="2800" i="1" dirty="0">
                <a:solidFill>
                  <a:srgbClr val="00B050"/>
                </a:solidFill>
                <a:latin typeface="LucidaBright-Italic"/>
              </a:rPr>
              <a:t>Dimensionality of input</a:t>
            </a:r>
          </a:p>
          <a:p>
            <a:pPr algn="l"/>
            <a:r>
              <a:rPr lang="en-US" b="0" i="1" u="none" strike="noStrike" baseline="0" dirty="0">
                <a:solidFill>
                  <a:srgbClr val="C00000"/>
                </a:solidFill>
                <a:latin typeface="LucidaBright-Italic"/>
              </a:rPr>
              <a:t>Time and space complexity </a:t>
            </a:r>
          </a:p>
          <a:p>
            <a:pPr algn="l"/>
            <a:r>
              <a:rPr lang="en-US" b="0" i="1" u="none" strike="noStrike" baseline="0" dirty="0">
                <a:latin typeface="LucidaBright-Italic"/>
              </a:rPr>
              <a:t>Required number </a:t>
            </a:r>
            <a:r>
              <a:rPr lang="en-US" b="0" i="1" u="none" strike="noStrike" baseline="0" dirty="0">
                <a:solidFill>
                  <a:srgbClr val="00B0F0"/>
                </a:solidFill>
                <a:latin typeface="LucidaBright-Italic"/>
              </a:rPr>
              <a:t>of training examples </a:t>
            </a:r>
            <a:r>
              <a:rPr lang="en-US" b="0" i="1" u="none" strike="noStrike" baseline="0" dirty="0">
                <a:latin typeface="LucidaBright-Italic"/>
              </a:rPr>
              <a:t>to train model.</a:t>
            </a:r>
            <a:endParaRPr lang="en-US" b="0" i="0" u="none" strike="noStrike" baseline="0" dirty="0">
              <a:latin typeface="LucidaBright-Italic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F970A-FB97-4590-9716-49E9A790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CE32C-CA0F-4455-89C2-2F9881B8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E7B68-4E15-4A20-9D56-19D2197C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633CAA-B83C-47C6-8DB0-02099FE85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201228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1A1113-57F6-4B78-97CB-708104CA2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i="0" u="none" strike="noStrike" baseline="0" dirty="0">
                <a:latin typeface="LucidaBright"/>
              </a:rPr>
              <a:t>Why dimensionality reduction?</a:t>
            </a:r>
          </a:p>
          <a:p>
            <a:pPr lvl="1"/>
            <a:r>
              <a:rPr lang="en-US" sz="2800" b="0" i="0" u="none" strike="noStrike" baseline="0" dirty="0">
                <a:latin typeface="LucidaBright"/>
              </a:rPr>
              <a:t>The 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LucidaBright"/>
              </a:rPr>
              <a:t>complexity</a:t>
            </a:r>
            <a:r>
              <a:rPr lang="en-US" sz="2800" b="0" i="0" u="none" strike="noStrike" baseline="0" dirty="0">
                <a:latin typeface="LucidaBright"/>
              </a:rPr>
              <a:t> depends on the 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LucidaBright"/>
              </a:rPr>
              <a:t>number of input dimensions (</a:t>
            </a:r>
            <a:r>
              <a:rPr lang="en-US" sz="2800" b="0" i="1" u="none" strike="noStrike" baseline="0" dirty="0">
                <a:solidFill>
                  <a:srgbClr val="0070C0"/>
                </a:solidFill>
                <a:latin typeface="LucidaBright-Italic"/>
              </a:rPr>
              <a:t>d)</a:t>
            </a:r>
          </a:p>
          <a:p>
            <a:pPr lvl="1"/>
            <a:r>
              <a:rPr lang="en-US" sz="2800" b="0" i="0" u="none" strike="noStrike" baseline="0" dirty="0">
                <a:latin typeface="LucidaBright"/>
              </a:rPr>
              <a:t>Decreases the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LucidaBright"/>
              </a:rPr>
              <a:t>complexity</a:t>
            </a:r>
          </a:p>
          <a:p>
            <a:pPr lvl="1"/>
            <a:r>
              <a:rPr lang="en-US" sz="2800" b="0" i="0" u="none" strike="noStrike" baseline="0" dirty="0">
                <a:latin typeface="LucidaBright"/>
              </a:rPr>
              <a:t>The 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LucidaBright"/>
              </a:rPr>
              <a:t>size</a:t>
            </a:r>
            <a:r>
              <a:rPr lang="en-US" sz="2800" b="0" i="0" u="none" strike="noStrike" baseline="0" dirty="0">
                <a:latin typeface="LucidaBright"/>
              </a:rPr>
              <a:t> of the 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LucidaBright"/>
              </a:rPr>
              <a:t>data sample (</a:t>
            </a:r>
            <a:r>
              <a:rPr lang="en-US" sz="2800" b="0" i="1" u="none" strike="noStrike" baseline="0" dirty="0">
                <a:solidFill>
                  <a:srgbClr val="0070C0"/>
                </a:solidFill>
                <a:latin typeface="LucidaBright-Italic"/>
              </a:rPr>
              <a:t>N)</a:t>
            </a:r>
          </a:p>
          <a:p>
            <a:pPr lvl="1"/>
            <a:r>
              <a:rPr lang="en-US" sz="2800" b="0" i="0" u="none" strike="noStrike" baseline="0" dirty="0">
                <a:latin typeface="LucidaBright"/>
              </a:rPr>
              <a:t>Efficient 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LucidaBright"/>
              </a:rPr>
              <a:t>memory and computation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4C8E4-0B54-417D-B691-7DA81090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5791F-35DC-45DD-9923-2535723C8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37AA8-5278-41A2-BEDF-56E8560A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517216-E294-4B8F-A72F-25F07BC40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61332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8AF8A9-E283-42E6-BAEE-85B826570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i="0" u="none" strike="noStrike" baseline="0" dirty="0">
                <a:latin typeface="LucidaBright"/>
              </a:rPr>
              <a:t>Why dimensionality reduction?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  <a:latin typeface="LucidaBright"/>
              </a:rPr>
              <a:t>Redundant features </a:t>
            </a:r>
            <a:r>
              <a:rPr lang="en-US" b="0" i="0" u="none" strike="noStrike" baseline="0" dirty="0">
                <a:latin typeface="LucidaBright"/>
              </a:rPr>
              <a:t>must be removed.</a:t>
            </a:r>
          </a:p>
          <a:p>
            <a:pPr lvl="1"/>
            <a:r>
              <a:rPr lang="en-US" dirty="0">
                <a:latin typeface="LucidaBright"/>
              </a:rPr>
              <a:t>BMI, Height, Weight</a:t>
            </a:r>
          </a:p>
          <a:p>
            <a:pPr lvl="1"/>
            <a:r>
              <a:rPr lang="en-US" b="0" i="0" u="none" strike="noStrike" baseline="0" dirty="0">
                <a:solidFill>
                  <a:srgbClr val="00B050"/>
                </a:solidFill>
                <a:latin typeface="LucidaBright"/>
              </a:rPr>
              <a:t>Simpler</a:t>
            </a:r>
            <a:r>
              <a:rPr lang="en-US" b="0" i="0" u="none" strike="noStrike" baseline="0" dirty="0">
                <a:latin typeface="LucidaBright"/>
              </a:rPr>
              <a:t> models are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LucidaBright"/>
              </a:rPr>
              <a:t>more robust on small datasets</a:t>
            </a:r>
            <a:r>
              <a:rPr lang="en-US" b="0" i="0" u="none" strike="noStrike" baseline="0" dirty="0">
                <a:latin typeface="LucidaBright"/>
              </a:rPr>
              <a:t>.</a:t>
            </a:r>
          </a:p>
          <a:p>
            <a:pPr algn="l"/>
            <a:r>
              <a:rPr lang="en-US" b="0" i="0" u="none" strike="noStrike" baseline="0" dirty="0">
                <a:solidFill>
                  <a:srgbClr val="0070C0"/>
                </a:solidFill>
                <a:latin typeface="LucidaBright"/>
              </a:rPr>
              <a:t>Fewer features can represent </a:t>
            </a:r>
            <a:r>
              <a:rPr lang="en-US" b="0" i="0" u="none" strike="noStrike" baseline="0" dirty="0">
                <a:latin typeface="LucidaBright"/>
              </a:rPr>
              <a:t>the data in effective way (if possible) 	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LucidaBright"/>
              </a:rPr>
              <a:t>H</a:t>
            </a:r>
            <a:r>
              <a:rPr lang="en-US" sz="2800" b="0" i="1" u="none" strike="noStrike" baseline="0" dirty="0">
                <a:solidFill>
                  <a:srgbClr val="FF0000"/>
                </a:solidFill>
                <a:latin typeface="LucidaBright-Italic"/>
              </a:rPr>
              <a:t>idden </a:t>
            </a:r>
            <a:r>
              <a:rPr lang="en-US" sz="2800" b="0" i="0" u="none" strike="noStrike" baseline="0" dirty="0">
                <a:solidFill>
                  <a:srgbClr val="FF0000"/>
                </a:solidFill>
                <a:latin typeface="LucidaBright"/>
              </a:rPr>
              <a:t>or </a:t>
            </a:r>
            <a:r>
              <a:rPr lang="en-US" sz="2800" b="0" i="1" u="none" strike="noStrike" baseline="0" dirty="0">
                <a:solidFill>
                  <a:srgbClr val="FF0000"/>
                </a:solidFill>
                <a:latin typeface="LucidaBright-Italic"/>
              </a:rPr>
              <a:t>latent factors</a:t>
            </a:r>
            <a:endParaRPr lang="en-US" sz="2800" b="0" i="0" u="none" strike="noStrike" baseline="0" dirty="0">
              <a:solidFill>
                <a:srgbClr val="FF0000"/>
              </a:solidFill>
              <a:latin typeface="LucidaBright"/>
            </a:endParaRPr>
          </a:p>
          <a:p>
            <a:pPr algn="l"/>
            <a:r>
              <a:rPr lang="en-US" b="0" i="0" u="none" strike="noStrike" baseline="0" dirty="0">
                <a:solidFill>
                  <a:srgbClr val="00B050"/>
                </a:solidFill>
                <a:latin typeface="LucidaBright"/>
              </a:rPr>
              <a:t>Easier data visualization </a:t>
            </a:r>
            <a:r>
              <a:rPr lang="en-US" b="0" i="0" u="none" strike="noStrike" baseline="0" dirty="0">
                <a:latin typeface="LucidaBright"/>
              </a:rPr>
              <a:t>with fewer dimensions</a:t>
            </a: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9D086-9DBF-4717-9C8E-E5A10223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E7CAF-27BA-44A1-962F-7A64B27A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04DE9-4F6D-49CB-BD58-242961C2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681F0C-A2CE-4E4C-8949-D9A9D6ED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50517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3E5856-DE25-42AF-A88F-EC7A6E7A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>
                <a:latin typeface="LucidaBright-Italic"/>
              </a:rPr>
              <a:t>How to perform dimensionality reduction?</a:t>
            </a:r>
          </a:p>
          <a:p>
            <a:pPr lvl="1"/>
            <a:r>
              <a:rPr lang="en-US" sz="2600" i="1" dirty="0">
                <a:solidFill>
                  <a:srgbClr val="FF0000"/>
                </a:solidFill>
                <a:latin typeface="LucidaBright-Italic"/>
              </a:rPr>
              <a:t>Curse of Dimensionality</a:t>
            </a:r>
          </a:p>
          <a:p>
            <a:pPr algn="l"/>
            <a:r>
              <a:rPr lang="en-US" b="0" i="0" u="none" strike="noStrike" baseline="0" dirty="0">
                <a:latin typeface="LucidaBright"/>
              </a:rPr>
              <a:t>There are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LucidaBright"/>
              </a:rPr>
              <a:t>two main </a:t>
            </a:r>
            <a:r>
              <a:rPr lang="en-US" b="0" i="0" u="none" strike="noStrike" baseline="0" dirty="0">
                <a:latin typeface="LucidaBright"/>
              </a:rPr>
              <a:t>methods for reducing dimensionality:</a:t>
            </a:r>
          </a:p>
          <a:p>
            <a:pPr lvl="1"/>
            <a:r>
              <a:rPr lang="en-US" dirty="0">
                <a:solidFill>
                  <a:srgbClr val="0070C0"/>
                </a:solidFill>
                <a:latin typeface="LucidaBright"/>
              </a:rPr>
              <a:t>F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LucidaBright"/>
              </a:rPr>
              <a:t>eature selection and feature extraction</a:t>
            </a:r>
            <a:r>
              <a:rPr lang="en-US" b="0" i="0" u="none" strike="noStrike" baseline="0" dirty="0">
                <a:latin typeface="LucidaBright"/>
              </a:rPr>
              <a:t>.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  <a:latin typeface="LucidaBright"/>
              </a:rPr>
              <a:t>F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LucidaBright-DemiItalic"/>
              </a:rPr>
              <a:t>eature selection</a:t>
            </a:r>
            <a:r>
              <a:rPr lang="en-US" dirty="0">
                <a:solidFill>
                  <a:srgbClr val="FF0000"/>
                </a:solidFill>
                <a:latin typeface="LucidaBright"/>
              </a:rPr>
              <a:t>:</a:t>
            </a:r>
            <a:endParaRPr lang="en-US" b="0" i="0" u="none" strike="noStrike" baseline="0" dirty="0">
              <a:solidFill>
                <a:srgbClr val="FF0000"/>
              </a:solidFill>
              <a:latin typeface="LucidaBright"/>
            </a:endParaRPr>
          </a:p>
          <a:p>
            <a:pPr lvl="1"/>
            <a:r>
              <a:rPr lang="en-US" sz="2800" b="0" i="0" u="none" strike="noStrike" baseline="0" dirty="0">
                <a:latin typeface="LucidaBright"/>
              </a:rPr>
              <a:t>Select a </a:t>
            </a:r>
            <a:r>
              <a:rPr lang="en-US" sz="2800" b="0" i="1" u="none" strike="noStrike" baseline="0" dirty="0">
                <a:solidFill>
                  <a:srgbClr val="0070C0"/>
                </a:solidFill>
                <a:latin typeface="LucidaBright-Italic"/>
              </a:rPr>
              <a:t>subset of 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LucidaBright"/>
              </a:rPr>
              <a:t>features</a:t>
            </a:r>
            <a:r>
              <a:rPr lang="en-US" sz="2800" b="0" i="0" u="none" strike="noStrike" baseline="0" dirty="0">
                <a:latin typeface="LucidaBright"/>
              </a:rPr>
              <a:t>.</a:t>
            </a:r>
          </a:p>
          <a:p>
            <a:pPr lvl="1"/>
            <a:r>
              <a:rPr lang="en-US" sz="2800" dirty="0">
                <a:latin typeface="LucidaBright"/>
              </a:rPr>
              <a:t>Finding </a:t>
            </a:r>
            <a:r>
              <a:rPr lang="en-US" sz="2800" dirty="0">
                <a:solidFill>
                  <a:srgbClr val="0070C0"/>
                </a:solidFill>
                <a:latin typeface="LucidaBright"/>
              </a:rPr>
              <a:t>k</a:t>
            </a:r>
            <a:r>
              <a:rPr lang="en-US" sz="2800" dirty="0">
                <a:latin typeface="LucidaBright"/>
              </a:rPr>
              <a:t> of the </a:t>
            </a:r>
            <a:r>
              <a:rPr lang="en-US" sz="2800" dirty="0">
                <a:solidFill>
                  <a:srgbClr val="C00000"/>
                </a:solidFill>
                <a:latin typeface="LucidaBright"/>
              </a:rPr>
              <a:t>d dimensions </a:t>
            </a:r>
            <a:r>
              <a:rPr lang="en-US" sz="2800" dirty="0">
                <a:latin typeface="LucidaBright"/>
              </a:rPr>
              <a:t>that give us the </a:t>
            </a:r>
            <a:r>
              <a:rPr lang="en-US" sz="2800" b="0" i="0" u="none" strike="noStrike" baseline="0" dirty="0">
                <a:latin typeface="LucidaBright"/>
              </a:rPr>
              <a:t>most information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  <a:latin typeface="LucidaBright"/>
              </a:rPr>
              <a:t>F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LucidaBright-DemiItalic"/>
              </a:rPr>
              <a:t>eature extraction:</a:t>
            </a:r>
          </a:p>
          <a:p>
            <a:pPr lvl="1"/>
            <a:r>
              <a:rPr lang="en-US" sz="2800" dirty="0">
                <a:latin typeface="LucidaBright"/>
              </a:rPr>
              <a:t>Finding a new set of k </a:t>
            </a:r>
            <a:r>
              <a:rPr lang="en-US" sz="2800" b="0" i="0" u="none" strike="noStrike" baseline="0" dirty="0">
                <a:latin typeface="LucidaBright"/>
              </a:rPr>
              <a:t>dimensions that are 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LucidaBright"/>
              </a:rPr>
              <a:t>combinations of the original </a:t>
            </a:r>
            <a:r>
              <a:rPr lang="en-US" sz="2800" b="0" i="1" u="none" strike="noStrike" baseline="0" dirty="0">
                <a:solidFill>
                  <a:srgbClr val="00B0F0"/>
                </a:solidFill>
                <a:latin typeface="LucidaBright-Italic"/>
              </a:rPr>
              <a:t>d 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LucidaBright"/>
              </a:rPr>
              <a:t>dimensions</a:t>
            </a:r>
            <a:r>
              <a:rPr lang="en-US" sz="2800" b="0" i="0" u="none" strike="noStrike" baseline="0" dirty="0">
                <a:latin typeface="LucidaBright"/>
              </a:rPr>
              <a:t>.</a:t>
            </a: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B983B-CDBF-4CB9-B008-76BD82B6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008C6-56DB-4062-B2A5-EC8C369E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78A2E-AA78-48C8-AB1C-AC487441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41C5E4-03E1-49C5-9AF2-1298922A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426712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B293F7-E693-4D34-8ED2-D4281CAB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sz="3200" b="0" i="0" u="none" strike="noStrike" baseline="0" dirty="0">
                <a:latin typeface="LucidaBright"/>
              </a:rPr>
              <a:t>Select on a best subset of features from original data.</a:t>
            </a:r>
          </a:p>
          <a:p>
            <a:pPr algn="l"/>
            <a:r>
              <a:rPr lang="en-US" sz="3200" b="0" i="0" u="none" strike="noStrike" baseline="0" dirty="0">
                <a:latin typeface="LucidaBright"/>
              </a:rPr>
              <a:t>The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LucidaBright"/>
              </a:rPr>
              <a:t>best subset </a:t>
            </a:r>
            <a:r>
              <a:rPr lang="en-US" sz="3200" b="0" i="0" u="none" strike="noStrike" baseline="0" dirty="0">
                <a:latin typeface="LucidaBright"/>
              </a:rPr>
              <a:t>contains the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LucidaBright"/>
              </a:rPr>
              <a:t>least number of dimensions</a:t>
            </a:r>
            <a:r>
              <a:rPr lang="en-US" sz="3200" b="0" i="0" u="none" strike="noStrike" baseline="0" dirty="0">
                <a:latin typeface="LucidaBright"/>
              </a:rPr>
              <a:t> </a:t>
            </a:r>
          </a:p>
          <a:p>
            <a:pPr lvl="1"/>
            <a:r>
              <a:rPr lang="en-US" sz="3000" dirty="0">
                <a:latin typeface="LucidaBright"/>
              </a:rPr>
              <a:t>Should not </a:t>
            </a:r>
            <a:r>
              <a:rPr lang="en-US" sz="3000" dirty="0">
                <a:solidFill>
                  <a:srgbClr val="00B0F0"/>
                </a:solidFill>
                <a:latin typeface="LucidaBright"/>
              </a:rPr>
              <a:t>affect </a:t>
            </a:r>
            <a:r>
              <a:rPr lang="en-US" sz="3000" b="0" i="0" u="none" strike="noStrike" baseline="0" dirty="0">
                <a:solidFill>
                  <a:srgbClr val="00B0F0"/>
                </a:solidFill>
                <a:latin typeface="LucidaBright"/>
              </a:rPr>
              <a:t>the accuracy</a:t>
            </a:r>
            <a:r>
              <a:rPr lang="en-US" sz="3000" b="0" i="0" u="none" strike="noStrike" baseline="0" dirty="0">
                <a:latin typeface="LucidaBright"/>
              </a:rPr>
              <a:t>.</a:t>
            </a:r>
          </a:p>
          <a:p>
            <a:pPr algn="l"/>
            <a:r>
              <a:rPr lang="en-US" sz="3200" b="0" i="0" u="none" strike="noStrike" baseline="0" dirty="0">
                <a:latin typeface="LucidaBright"/>
              </a:rPr>
              <a:t>Discard the 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LucidaBright"/>
              </a:rPr>
              <a:t>remaining, unimportant dimensions</a:t>
            </a:r>
            <a:r>
              <a:rPr lang="en-US" sz="3200" b="0" i="0" u="none" strike="noStrike" baseline="0" dirty="0">
                <a:latin typeface="LucidaBright"/>
              </a:rPr>
              <a:t>. </a:t>
            </a:r>
          </a:p>
          <a:p>
            <a:pPr algn="l"/>
            <a:r>
              <a:rPr lang="en-US" sz="3200" b="0" i="0" u="none" strike="noStrike" baseline="0" dirty="0">
                <a:latin typeface="LucidaBright"/>
              </a:rPr>
              <a:t>Using a suitable </a:t>
            </a:r>
            <a:r>
              <a:rPr lang="en-US" sz="3200" b="0" i="0" u="none" strike="noStrike" baseline="0" dirty="0">
                <a:solidFill>
                  <a:srgbClr val="0070C0"/>
                </a:solidFill>
                <a:latin typeface="LucidaBright"/>
              </a:rPr>
              <a:t>error function to find best subset</a:t>
            </a:r>
          </a:p>
          <a:p>
            <a:pPr algn="l"/>
            <a:r>
              <a:rPr lang="en-US" sz="3200" b="0" i="0" u="none" strike="noStrike" baseline="0" dirty="0">
                <a:latin typeface="LucidaBright"/>
              </a:rPr>
              <a:t>Testing all features may be hard (</a:t>
            </a:r>
            <a:r>
              <a:rPr lang="en-US" sz="3200" b="0" i="0" u="none" strike="noStrike" baseline="0" dirty="0">
                <a:solidFill>
                  <a:srgbClr val="0070C0"/>
                </a:solidFill>
                <a:latin typeface="LucidaBright"/>
              </a:rPr>
              <a:t>polynomial time</a:t>
            </a:r>
            <a:r>
              <a:rPr lang="en-US" sz="3200" b="0" i="0" u="none" strike="noStrike" baseline="0" dirty="0">
                <a:latin typeface="LucidaBright"/>
              </a:rPr>
              <a:t>).</a:t>
            </a:r>
          </a:p>
          <a:p>
            <a:endParaRPr lang="en-US" sz="4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17072-890E-4F68-8511-3DE267B4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F1DDD-FA1C-4996-B1A6-D233A8FA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41CAA-4E2B-4C08-91B1-31C9B491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144B19-BA3E-44A6-8B3E-833994AB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2270336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F834A1-041D-40AF-9839-AF59F32E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LucidaBright"/>
              </a:rPr>
              <a:t>There are two approaches for feature selection: </a:t>
            </a:r>
          </a:p>
          <a:p>
            <a:pPr lvl="1"/>
            <a:r>
              <a:rPr lang="en-US" b="0" i="0" u="none" strike="noStrike" baseline="0" dirty="0">
                <a:latin typeface="LucidaBright"/>
              </a:rPr>
              <a:t>Forward Selection  and </a:t>
            </a:r>
            <a:r>
              <a:rPr lang="en-US" dirty="0">
                <a:latin typeface="LucidaBright"/>
              </a:rPr>
              <a:t>Backward selection</a:t>
            </a:r>
          </a:p>
          <a:p>
            <a:pPr algn="l"/>
            <a:r>
              <a:rPr lang="en-US" sz="2400" b="0" i="0" u="none" strike="noStrike" baseline="0" dirty="0">
                <a:solidFill>
                  <a:srgbClr val="FF0000"/>
                </a:solidFill>
                <a:latin typeface="LucidaBright"/>
              </a:rPr>
              <a:t>F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LucidaBright-DemiItalic"/>
              </a:rPr>
              <a:t>orward selection: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LucidaBright"/>
              </a:rPr>
              <a:t>, </a:t>
            </a:r>
            <a:r>
              <a:rPr lang="en-US" sz="2400" b="0" i="0" u="none" strike="noStrike" baseline="0" dirty="0">
                <a:latin typeface="LucidaBright"/>
              </a:rPr>
              <a:t>Start with </a:t>
            </a:r>
            <a:r>
              <a:rPr lang="en-US" sz="2400" b="0" i="0" u="none" strike="noStrike" baseline="0" dirty="0">
                <a:solidFill>
                  <a:srgbClr val="0070C0"/>
                </a:solidFill>
                <a:latin typeface="LucidaBright"/>
              </a:rPr>
              <a:t>no feature and add them one by one</a:t>
            </a:r>
          </a:p>
          <a:p>
            <a:pPr lvl="1"/>
            <a:r>
              <a:rPr lang="en-US" b="0" i="0" u="none" strike="noStrike" baseline="0" dirty="0">
                <a:latin typeface="LucidaBright"/>
              </a:rPr>
              <a:t>Add the feature </a:t>
            </a:r>
            <a:r>
              <a:rPr lang="en-US" b="0" i="0" u="none" strike="noStrike" baseline="0" dirty="0">
                <a:solidFill>
                  <a:srgbClr val="FFC000"/>
                </a:solidFill>
                <a:latin typeface="LucidaBright"/>
              </a:rPr>
              <a:t>that decreases the error </a:t>
            </a:r>
          </a:p>
          <a:p>
            <a:pPr algn="l"/>
            <a:r>
              <a:rPr lang="en-US" sz="2400" b="0" i="0" u="none" strike="noStrike" baseline="0" dirty="0">
                <a:solidFill>
                  <a:srgbClr val="FF0000"/>
                </a:solidFill>
                <a:latin typeface="LucidaBright"/>
              </a:rPr>
              <a:t>B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LucidaBright-DemiItalic"/>
              </a:rPr>
              <a:t>ackward selection</a:t>
            </a:r>
            <a:r>
              <a:rPr lang="en-US" sz="2400" dirty="0">
                <a:solidFill>
                  <a:srgbClr val="FF0000"/>
                </a:solidFill>
                <a:latin typeface="LucidaBright"/>
              </a:rPr>
              <a:t>: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LucidaBright"/>
              </a:rPr>
              <a:t> </a:t>
            </a:r>
            <a:r>
              <a:rPr lang="en-US" sz="2400" b="0" i="0" u="none" strike="noStrike" baseline="0" dirty="0">
                <a:latin typeface="LucidaBright"/>
              </a:rPr>
              <a:t>Start with </a:t>
            </a:r>
            <a:r>
              <a:rPr lang="en-US" sz="2400" b="0" i="0" u="none" strike="noStrike" baseline="0" dirty="0">
                <a:solidFill>
                  <a:srgbClr val="00B050"/>
                </a:solidFill>
                <a:latin typeface="LucidaBright"/>
              </a:rPr>
              <a:t>all features </a:t>
            </a:r>
            <a:r>
              <a:rPr lang="en-US" sz="2400" b="0" i="0" u="none" strike="noStrike" baseline="0" dirty="0">
                <a:latin typeface="LucidaBright"/>
              </a:rPr>
              <a:t>and remove them one by one.</a:t>
            </a:r>
          </a:p>
          <a:p>
            <a:pPr lvl="1"/>
            <a:r>
              <a:rPr lang="en-US" b="0" i="0" u="none" strike="noStrike" baseline="0" dirty="0">
                <a:latin typeface="LucidaBright"/>
              </a:rPr>
              <a:t>Removing the one that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LucidaBright"/>
              </a:rPr>
              <a:t>decreases the error the most </a:t>
            </a:r>
            <a:r>
              <a:rPr lang="en-US" b="0" i="0" u="none" strike="noStrike" baseline="0" dirty="0">
                <a:latin typeface="LucidaBright"/>
              </a:rPr>
              <a:t>(or increases it only slightly).</a:t>
            </a:r>
          </a:p>
          <a:p>
            <a:pPr algn="l"/>
            <a:r>
              <a:rPr lang="en-US" sz="2400" b="0" i="0" u="none" strike="noStrike" baseline="0" dirty="0">
                <a:latin typeface="LucidaBright"/>
              </a:rPr>
              <a:t>Checking the error  with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LucidaBright"/>
              </a:rPr>
              <a:t>validation dataset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DA56C-5846-4BC5-B878-30F8CC09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D19BF-DC83-41D4-84F0-F038A3FD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6BFD9-587D-4139-B2A7-FEEB3955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EF9C32-2EFC-437A-ABF1-1525C8B9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801855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D2D83F-73B9-484D-8485-54C8B58CF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B0F0"/>
                </a:solidFill>
                <a:latin typeface="CMR10"/>
              </a:rPr>
              <a:t>Component analysis </a:t>
            </a:r>
            <a:r>
              <a:rPr lang="en-US" sz="2400" b="0" i="0" u="none" strike="noStrike" baseline="0" dirty="0">
                <a:latin typeface="CMR10"/>
              </a:rPr>
              <a:t>is an unsupervised approach to finding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CMR10"/>
              </a:rPr>
              <a:t>“right” features from the data</a:t>
            </a:r>
            <a:r>
              <a:rPr lang="en-US" sz="2400" b="0" i="0" u="none" strike="noStrike" baseline="0" dirty="0">
                <a:latin typeface="CMR10"/>
              </a:rPr>
              <a:t>.</a:t>
            </a:r>
          </a:p>
          <a:p>
            <a:r>
              <a:rPr lang="en-US" sz="2400" b="0" i="0" u="none" strike="noStrike" baseline="0" dirty="0">
                <a:latin typeface="CMR10"/>
              </a:rPr>
              <a:t>One leading method for </a:t>
            </a:r>
            <a:r>
              <a:rPr lang="en-US" sz="2400" b="0" i="0" u="none" strike="noStrike" baseline="0" dirty="0">
                <a:latin typeface="LucidaBright"/>
              </a:rPr>
              <a:t>feature extraction</a:t>
            </a:r>
            <a:endParaRPr lang="en-US" sz="2400" b="0" i="0" u="none" strike="noStrike" baseline="0" dirty="0">
              <a:latin typeface="CMR10"/>
            </a:endParaRPr>
          </a:p>
          <a:p>
            <a:pPr lvl="1"/>
            <a:r>
              <a:rPr lang="en-US" b="0" i="0" u="none" strike="noStrike" baseline="0" dirty="0">
                <a:solidFill>
                  <a:srgbClr val="00B0F0"/>
                </a:solidFill>
                <a:latin typeface="CMR10"/>
              </a:rPr>
              <a:t>Principal component analysis (PCA)</a:t>
            </a:r>
          </a:p>
          <a:p>
            <a:r>
              <a:rPr lang="en-US" sz="2400" b="0" i="0" u="none" strike="noStrike" baseline="0" dirty="0">
                <a:latin typeface="CMR10"/>
              </a:rPr>
              <a:t>PCA: </a:t>
            </a:r>
            <a:r>
              <a:rPr lang="en-US" sz="2400" b="0" i="0" u="none" strike="noStrike" baseline="0" dirty="0">
                <a:solidFill>
                  <a:srgbClr val="00B050"/>
                </a:solidFill>
                <a:latin typeface="CMR10"/>
              </a:rPr>
              <a:t>Represent the </a:t>
            </a:r>
            <a:r>
              <a:rPr lang="en-US" sz="2400" b="0" i="1" u="none" strike="noStrike" baseline="0" dirty="0">
                <a:solidFill>
                  <a:srgbClr val="00B050"/>
                </a:solidFill>
                <a:latin typeface="CMMI10"/>
              </a:rPr>
              <a:t>d</a:t>
            </a:r>
            <a:r>
              <a:rPr lang="en-US" sz="2400" b="0" i="0" u="none" strike="noStrike" baseline="0" dirty="0">
                <a:solidFill>
                  <a:srgbClr val="00B050"/>
                </a:solidFill>
                <a:latin typeface="CMR10"/>
              </a:rPr>
              <a:t>-dimensional data in a lower-dimensional space. </a:t>
            </a:r>
          </a:p>
          <a:p>
            <a:pPr lvl="1"/>
            <a:r>
              <a:rPr lang="en-US" b="0" i="0" u="none" strike="noStrike" baseline="0" dirty="0">
                <a:latin typeface="CMR10"/>
              </a:rPr>
              <a:t>Represent same data in a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lowe</a:t>
            </a:r>
            <a:r>
              <a:rPr lang="en-US" dirty="0">
                <a:solidFill>
                  <a:srgbClr val="FF0000"/>
                </a:solidFill>
                <a:latin typeface="CMR10"/>
              </a:rPr>
              <a:t>r dimensional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space </a:t>
            </a:r>
          </a:p>
          <a:p>
            <a:pPr lvl="1"/>
            <a:r>
              <a:rPr lang="en-US" b="0" i="0" u="none" strike="noStrike" baseline="0" dirty="0">
                <a:latin typeface="CMR10"/>
              </a:rPr>
              <a:t>Should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CMR10"/>
              </a:rPr>
              <a:t>best describe original data</a:t>
            </a:r>
            <a:r>
              <a:rPr lang="en-US" b="0" i="0" u="none" strike="noStrike" baseline="0" dirty="0">
                <a:latin typeface="CMR10"/>
              </a:rPr>
              <a:t>.</a:t>
            </a:r>
          </a:p>
          <a:p>
            <a:pPr lvl="1"/>
            <a:r>
              <a:rPr lang="en-US" dirty="0">
                <a:latin typeface="CMR10"/>
              </a:rPr>
              <a:t>Should </a:t>
            </a:r>
            <a:r>
              <a:rPr lang="en-US" dirty="0">
                <a:solidFill>
                  <a:srgbClr val="00B050"/>
                </a:solidFill>
                <a:latin typeface="CMR10"/>
              </a:rPr>
              <a:t>maintain </a:t>
            </a:r>
            <a:r>
              <a:rPr lang="en-US" b="0" i="0" u="none" strike="noStrike" baseline="0" dirty="0">
                <a:solidFill>
                  <a:srgbClr val="00B050"/>
                </a:solidFill>
                <a:latin typeface="CMR10"/>
              </a:rPr>
              <a:t>the variations </a:t>
            </a:r>
            <a:r>
              <a:rPr lang="en-US" b="0" i="0" u="none" strike="noStrike" baseline="0" dirty="0">
                <a:latin typeface="CMR10"/>
              </a:rPr>
              <a:t>in the original data</a:t>
            </a:r>
          </a:p>
          <a:p>
            <a:r>
              <a:rPr lang="en-US" sz="2400" dirty="0"/>
              <a:t>We </a:t>
            </a:r>
            <a:r>
              <a:rPr lang="en-US" sz="2400" dirty="0">
                <a:solidFill>
                  <a:srgbClr val="FFC000"/>
                </a:solidFill>
              </a:rPr>
              <a:t>standardize</a:t>
            </a:r>
            <a:r>
              <a:rPr lang="en-US" sz="2400" dirty="0"/>
              <a:t> the data before </a:t>
            </a:r>
            <a:r>
              <a:rPr lang="en-US" sz="2400" dirty="0">
                <a:solidFill>
                  <a:srgbClr val="FFC000"/>
                </a:solidFill>
              </a:rPr>
              <a:t>applying PCA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F98EC-C4E8-4E70-A685-ADC67CB5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8ADA4-BEC3-422B-B43A-D5974889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E7E4E-0AE8-4989-8317-713943A5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6DA288-2AFC-4156-A592-E761BD6D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1836825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ECA2FC-1FCE-4D49-94C3-6A88EFFF8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Mean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Variance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Covariance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6594B-7D14-4C42-B531-EBD1B9F3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9D259-D41D-4383-B4F5-18BDD33A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C4E5D-F0CC-4B4D-A2C4-07D88EF3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365C40-C425-4C0F-B89D-4676B6EE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390D15-F20B-4412-A2BB-93B94AD76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724" y="1798638"/>
            <a:ext cx="3708400" cy="850900"/>
          </a:xfrm>
          <a:prstGeom prst="rect">
            <a:avLst/>
          </a:prstGeom>
        </p:spPr>
      </p:pic>
      <p:pic>
        <p:nvPicPr>
          <p:cNvPr id="1026" name="Picture 2" descr="Variance: Definition, Formula and Step-by-Step Examples | Indeed.com">
            <a:extLst>
              <a:ext uri="{FF2B5EF4-FFF2-40B4-BE49-F238E27FC236}">
                <a16:creationId xmlns:a16="http://schemas.microsoft.com/office/drawing/2014/main" id="{EAEFC7CF-72E2-4382-8013-34D6BCF97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724" y="3082292"/>
            <a:ext cx="335280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72D750-3B86-459C-AC83-B5877CE23967}"/>
                  </a:ext>
                </a:extLst>
              </p:cNvPr>
              <p:cNvSpPr txBox="1"/>
              <p:nvPr/>
            </p:nvSpPr>
            <p:spPr>
              <a:xfrm>
                <a:off x="2971800" y="4674740"/>
                <a:ext cx="6095999" cy="1451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sz="2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𝐂𝐨𝐯</m:t>
                      </m:r>
                      <m:r>
                        <a:rPr lang="en-PK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⁡(</m:t>
                      </m:r>
                      <m:r>
                        <a:rPr lang="en-PK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𝑿</m:t>
                      </m:r>
                      <m:r>
                        <a:rPr lang="en-PK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PK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𝒀</m:t>
                      </m:r>
                      <m:r>
                        <a:rPr lang="en-PK" sz="2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)=</m:t>
                      </m:r>
                      <m:f>
                        <m:fPr>
                          <m:ctrlP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𝒊</m:t>
                          </m:r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𝒏</m:t>
                          </m:r>
                        </m:sup>
                        <m:e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 </m:t>
                          </m:r>
                        </m:e>
                      </m:nary>
                      <m:d>
                        <m:dPr>
                          <m:ctrlP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PK" sz="2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PK" sz="2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K" sz="2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72D750-3B86-459C-AC83-B5877CE23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674740"/>
                <a:ext cx="6095999" cy="1451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2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EC10AC-44C0-48D6-B206-E8A619ADF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162" y="1848644"/>
            <a:ext cx="5781675" cy="402907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6E5C9-C5B1-4CF1-9A29-EE37824F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80337-A07F-4776-AE00-45FE28D4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A5FED-F636-4F69-9C12-42C05FCE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ABA7EE-A034-4999-8AA7-852AE582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Algebra</a:t>
            </a:r>
          </a:p>
        </p:txBody>
      </p:sp>
    </p:spTree>
    <p:extLst>
      <p:ext uri="{BB962C8B-B14F-4D97-AF65-F5344CB8AC3E}">
        <p14:creationId xmlns:p14="http://schemas.microsoft.com/office/powerpoint/2010/main" val="3567973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FD5B0C-EA70-4DF2-B642-E4B560CB4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133600"/>
            <a:ext cx="7166439" cy="2958306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2A964-B218-44E6-B2E6-C8F9FDFD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6046D-F216-40B2-A996-03562BBB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2ADCF-A08F-49A5-BF1D-083F5EB4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ABF811-DF75-4177-8F7A-593D2756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Algebra</a:t>
            </a:r>
          </a:p>
        </p:txBody>
      </p:sp>
    </p:spTree>
    <p:extLst>
      <p:ext uri="{BB962C8B-B14F-4D97-AF65-F5344CB8AC3E}">
        <p14:creationId xmlns:p14="http://schemas.microsoft.com/office/powerpoint/2010/main" val="227735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113551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Compression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405494" y="187673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19200" y="445930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ross 35"/>
          <p:cNvSpPr/>
          <p:nvPr/>
        </p:nvSpPr>
        <p:spPr>
          <a:xfrm rot="2734294">
            <a:off x="1568762" y="4007162"/>
            <a:ext cx="216165" cy="216165"/>
          </a:xfrm>
          <a:prstGeom prst="plus">
            <a:avLst>
              <a:gd name="adj" fmla="val 46579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/>
          <p:cNvSpPr/>
          <p:nvPr/>
        </p:nvSpPr>
        <p:spPr>
          <a:xfrm rot="2734294">
            <a:off x="1949762" y="3930962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/>
          <p:cNvSpPr/>
          <p:nvPr/>
        </p:nvSpPr>
        <p:spPr>
          <a:xfrm rot="2734294">
            <a:off x="2329874" y="3245162"/>
            <a:ext cx="216165" cy="216165"/>
          </a:xfrm>
          <a:prstGeom prst="plus">
            <a:avLst>
              <a:gd name="adj" fmla="val 46579"/>
            </a:avLst>
          </a:prstGeom>
          <a:solidFill>
            <a:srgbClr val="00CC00"/>
          </a:solidFill>
          <a:ln w="1905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/>
          <p:cNvSpPr/>
          <p:nvPr/>
        </p:nvSpPr>
        <p:spPr>
          <a:xfrm rot="2734294">
            <a:off x="2787962" y="3016562"/>
            <a:ext cx="216165" cy="216165"/>
          </a:xfrm>
          <a:prstGeom prst="plus">
            <a:avLst>
              <a:gd name="adj" fmla="val 46579"/>
            </a:avLst>
          </a:prstGeom>
          <a:solidFill>
            <a:srgbClr val="993366"/>
          </a:solidFill>
          <a:ln w="19050">
            <a:solidFill>
              <a:srgbClr val="99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/>
          <p:cNvSpPr/>
          <p:nvPr/>
        </p:nvSpPr>
        <p:spPr>
          <a:xfrm rot="2734294">
            <a:off x="3168074" y="2787074"/>
            <a:ext cx="216165" cy="216165"/>
          </a:xfrm>
          <a:prstGeom prst="plus">
            <a:avLst>
              <a:gd name="adj" fmla="val 46579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/>
          <p:cNvSpPr/>
          <p:nvPr/>
        </p:nvSpPr>
        <p:spPr>
          <a:xfrm rot="2734294">
            <a:off x="3403598" y="2425763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ross 26"/>
          <p:cNvSpPr/>
          <p:nvPr/>
        </p:nvSpPr>
        <p:spPr>
          <a:xfrm rot="2734294">
            <a:off x="3777674" y="2330762"/>
            <a:ext cx="216165" cy="216165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ross 28"/>
          <p:cNvSpPr/>
          <p:nvPr/>
        </p:nvSpPr>
        <p:spPr>
          <a:xfrm rot="2734294">
            <a:off x="4006274" y="2025074"/>
            <a:ext cx="216165" cy="216165"/>
          </a:xfrm>
          <a:prstGeom prst="plus">
            <a:avLst>
              <a:gd name="adj" fmla="val 46579"/>
            </a:avLst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219200" y="5271564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1" y="5502070"/>
            <a:ext cx="192405" cy="150495"/>
          </a:xfrm>
          <a:prstGeom prst="rect">
            <a:avLst/>
          </a:prstGeom>
        </p:spPr>
      </p:pic>
      <p:sp>
        <p:nvSpPr>
          <p:cNvPr id="28" name="Cross 27"/>
          <p:cNvSpPr/>
          <p:nvPr/>
        </p:nvSpPr>
        <p:spPr>
          <a:xfrm rot="2734294">
            <a:off x="1568762" y="5163038"/>
            <a:ext cx="216165" cy="216165"/>
          </a:xfrm>
          <a:prstGeom prst="plus">
            <a:avLst>
              <a:gd name="adj" fmla="val 46579"/>
            </a:avLst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ross 30"/>
          <p:cNvSpPr/>
          <p:nvPr/>
        </p:nvSpPr>
        <p:spPr>
          <a:xfrm rot="2734294">
            <a:off x="1949762" y="5158088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ross 32"/>
          <p:cNvSpPr/>
          <p:nvPr/>
        </p:nvSpPr>
        <p:spPr>
          <a:xfrm rot="2734294">
            <a:off x="2329874" y="5150162"/>
            <a:ext cx="216165" cy="216165"/>
          </a:xfrm>
          <a:prstGeom prst="plus">
            <a:avLst>
              <a:gd name="adj" fmla="val 46579"/>
            </a:avLst>
          </a:prstGeom>
          <a:solidFill>
            <a:srgbClr val="00CC00"/>
          </a:solidFill>
          <a:ln w="19050"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ross 33"/>
          <p:cNvSpPr/>
          <p:nvPr/>
        </p:nvSpPr>
        <p:spPr>
          <a:xfrm rot="2734294">
            <a:off x="2787962" y="5151163"/>
            <a:ext cx="216165" cy="216165"/>
          </a:xfrm>
          <a:prstGeom prst="plus">
            <a:avLst>
              <a:gd name="adj" fmla="val 46579"/>
            </a:avLst>
          </a:prstGeom>
          <a:solidFill>
            <a:srgbClr val="993366"/>
          </a:solidFill>
          <a:ln w="19050">
            <a:solidFill>
              <a:srgbClr val="99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3168074" y="5151163"/>
            <a:ext cx="216165" cy="216165"/>
          </a:xfrm>
          <a:prstGeom prst="plus">
            <a:avLst>
              <a:gd name="adj" fmla="val 46579"/>
            </a:avLst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3403598" y="5151163"/>
            <a:ext cx="216165" cy="21616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3777674" y="5151163"/>
            <a:ext cx="216165" cy="216165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4006274" y="5152052"/>
            <a:ext cx="216165" cy="216165"/>
          </a:xfrm>
          <a:prstGeom prst="plus">
            <a:avLst>
              <a:gd name="adj" fmla="val 46579"/>
            </a:avLst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011287" y="1828801"/>
            <a:ext cx="3751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Reduce data from </a:t>
            </a:r>
          </a:p>
          <a:p>
            <a:r>
              <a:rPr lang="en-US" sz="2800" dirty="0"/>
              <a:t>2D to 1D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1" y="2895600"/>
            <a:ext cx="492823" cy="2996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903159"/>
            <a:ext cx="884110" cy="3021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3436813"/>
            <a:ext cx="884110" cy="3021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1" y="3439290"/>
            <a:ext cx="492823" cy="29965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50" y="4482474"/>
            <a:ext cx="594360" cy="29965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2" y="4498468"/>
            <a:ext cx="985647" cy="3021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654" y="4030419"/>
            <a:ext cx="37147" cy="299656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1" y="4650106"/>
            <a:ext cx="222885" cy="15049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48612" y="2937955"/>
            <a:ext cx="228600" cy="15049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 rot="16200000">
            <a:off x="509989" y="2224975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(inches)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2401" y="4516937"/>
            <a:ext cx="104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15795" y="5723751"/>
            <a:ext cx="9669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/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156260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E3EFF-6AC1-4580-AF32-B5D399DA1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BB428-19F7-475E-85C1-61869613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A9F6C-F125-4832-8B7E-3BD6273C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2DF0D0-872E-4E9F-908C-6F013F07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Algorithm</a:t>
            </a:r>
          </a:p>
        </p:txBody>
      </p:sp>
      <p:pic>
        <p:nvPicPr>
          <p:cNvPr id="7" name="Picture 2" descr="image14">
            <a:extLst>
              <a:ext uri="{FF2B5EF4-FFF2-40B4-BE49-F238E27FC236}">
                <a16:creationId xmlns:a16="http://schemas.microsoft.com/office/drawing/2014/main" id="{DFA63A6E-6D03-4E3B-B8A2-A8F500AE8BC7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0" b="12699"/>
          <a:stretch/>
        </p:blipFill>
        <p:spPr bwMode="auto">
          <a:xfrm>
            <a:off x="270748" y="1752600"/>
            <a:ext cx="8602503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1482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25266"/>
            <a:ext cx="7886700" cy="326350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Variance and Covariance:</a:t>
            </a:r>
          </a:p>
          <a:p>
            <a:pPr lvl="1"/>
            <a:r>
              <a:rPr lang="en-US" dirty="0"/>
              <a:t>Measure of the “spread” of a set of points around their center of mass(mean)</a:t>
            </a:r>
          </a:p>
          <a:p>
            <a:r>
              <a:rPr lang="en-US" dirty="0">
                <a:solidFill>
                  <a:srgbClr val="FFC000"/>
                </a:solidFill>
              </a:rPr>
              <a:t>Variance:</a:t>
            </a:r>
          </a:p>
          <a:p>
            <a:pPr lvl="1"/>
            <a:r>
              <a:rPr lang="en-US" dirty="0"/>
              <a:t>Measure of the deviation from the mean for points in one dimension</a:t>
            </a:r>
          </a:p>
          <a:p>
            <a:r>
              <a:rPr lang="en-US" dirty="0">
                <a:solidFill>
                  <a:srgbClr val="FFC000"/>
                </a:solidFill>
              </a:rPr>
              <a:t>Covariance:</a:t>
            </a:r>
          </a:p>
          <a:p>
            <a:pPr lvl="1"/>
            <a:r>
              <a:rPr lang="en-US" dirty="0"/>
              <a:t>Measure of how much each of the dimensions vary from the mean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respect to each other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15731" y="5388770"/>
            <a:ext cx="6622903" cy="95795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marL="214313" indent="-214313">
              <a:buFont typeface="Arial" charset="0"/>
              <a:buChar char="•"/>
            </a:pPr>
            <a:r>
              <a:rPr lang="en-US" sz="1875" b="1" dirty="0"/>
              <a:t>Covariance is </a:t>
            </a:r>
            <a:r>
              <a:rPr lang="en-US" sz="1875" b="1" dirty="0">
                <a:solidFill>
                  <a:srgbClr val="FF0000"/>
                </a:solidFill>
              </a:rPr>
              <a:t>measured between two dimensions </a:t>
            </a:r>
          </a:p>
          <a:p>
            <a:pPr marL="214313" indent="-214313">
              <a:buFont typeface="Arial" charset="0"/>
              <a:buChar char="•"/>
            </a:pPr>
            <a:r>
              <a:rPr lang="en-US" sz="1875" b="1" dirty="0"/>
              <a:t>Covariance sees if there is a relation between two dimensions </a:t>
            </a:r>
          </a:p>
          <a:p>
            <a:pPr marL="214313" indent="-214313">
              <a:buFont typeface="Arial" charset="0"/>
              <a:buChar char="•"/>
            </a:pPr>
            <a:r>
              <a:rPr lang="en-US" sz="1875" b="1" dirty="0"/>
              <a:t>Covariance between one dimension is the variance</a:t>
            </a:r>
          </a:p>
        </p:txBody>
      </p:sp>
    </p:spTree>
    <p:extLst>
      <p:ext uri="{BB962C8B-B14F-4D97-AF65-F5344CB8AC3E}">
        <p14:creationId xmlns:p14="http://schemas.microsoft.com/office/powerpoint/2010/main" val="1681434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8" y="787456"/>
            <a:ext cx="7972935" cy="4672418"/>
          </a:xfrm>
        </p:spPr>
      </p:pic>
      <p:sp>
        <p:nvSpPr>
          <p:cNvPr id="5" name="TextBox 4"/>
          <p:cNvSpPr txBox="1"/>
          <p:nvPr/>
        </p:nvSpPr>
        <p:spPr>
          <a:xfrm>
            <a:off x="625793" y="5442728"/>
            <a:ext cx="41952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Positive: Both dimensions increase or decrease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6529" y="5442728"/>
            <a:ext cx="36547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Negative: While one increase the other decrease</a:t>
            </a:r>
          </a:p>
        </p:txBody>
      </p:sp>
    </p:spTree>
    <p:extLst>
      <p:ext uri="{BB962C8B-B14F-4D97-AF65-F5344CB8AC3E}">
        <p14:creationId xmlns:p14="http://schemas.microsoft.com/office/powerpoint/2010/main" val="878958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4FEA2A-2CEC-4E2C-81AA-9FE2EC5EE6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Let A be an </a:t>
                </a:r>
                <a:r>
                  <a:rPr lang="en-US" b="0" i="1" dirty="0" err="1">
                    <a:solidFill>
                      <a:srgbClr val="000000"/>
                    </a:solidFill>
                    <a:effectLst/>
                    <a:latin typeface="CharterBT"/>
                  </a:rPr>
                  <a:t>n×n</a:t>
                </a:r>
                <a:r>
                  <a:rPr lang="en-US" b="0" i="1" dirty="0">
                    <a:solidFill>
                      <a:srgbClr val="000000"/>
                    </a:solidFill>
                    <a:effectLst/>
                    <a:latin typeface="CharterBT"/>
                  </a:rPr>
                  <a:t> 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matrix</a:t>
                </a:r>
              </a:p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An </a:t>
                </a:r>
                <a:r>
                  <a:rPr lang="en-US" b="1" i="1" dirty="0">
                    <a:solidFill>
                      <a:srgbClr val="000000"/>
                    </a:solidFill>
                    <a:effectLst/>
                    <a:latin typeface="CharterBT"/>
                  </a:rPr>
                  <a:t>eigenvector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 of A is a </a:t>
                </a:r>
                <a:r>
                  <a:rPr lang="en-US" b="0" i="1" dirty="0">
                    <a:solidFill>
                      <a:srgbClr val="FF0000"/>
                    </a:solidFill>
                    <a:effectLst/>
                    <a:latin typeface="CharterBT"/>
                  </a:rPr>
                  <a:t>nonzero</a:t>
                </a:r>
                <a:r>
                  <a:rPr lang="en-US" b="0" i="0" dirty="0">
                    <a:solidFill>
                      <a:srgbClr val="FF0000"/>
                    </a:solidFill>
                    <a:effectLst/>
                    <a:latin typeface="CharterBT"/>
                  </a:rPr>
                  <a:t> vector v 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in R</a:t>
                </a:r>
                <a:r>
                  <a:rPr lang="en-US" b="0" i="0" baseline="30000" dirty="0">
                    <a:solidFill>
                      <a:srgbClr val="000000"/>
                    </a:solidFill>
                    <a:effectLst/>
                    <a:latin typeface="CharterBT"/>
                  </a:rPr>
                  <a:t>n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 such that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Av</m:t>
                      </m:r>
                      <m:r>
                        <m:rPr>
                          <m:nor/>
                        </m:rPr>
                        <a:rPr lang="en-US" sz="44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44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λv</m:t>
                      </m:r>
                    </m:oMath>
                  </m:oMathPara>
                </a14:m>
                <a:endParaRPr lang="en-US" sz="4400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Where </a:t>
                </a:r>
                <a:r>
                  <a:rPr lang="en-US" b="0" i="0" dirty="0">
                    <a:solidFill>
                      <a:srgbClr val="FF0000"/>
                    </a:solidFill>
                    <a:effectLst/>
                    <a:latin typeface="CharterBT"/>
                  </a:rPr>
                  <a:t>λ  is a scalar value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.</a:t>
                </a:r>
              </a:p>
              <a:p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If Av=</a:t>
                </a:r>
                <a:r>
                  <a:rPr lang="en-US" b="0" i="0" dirty="0" err="1">
                    <a:solidFill>
                      <a:srgbClr val="000000"/>
                    </a:solidFill>
                    <a:effectLst/>
                    <a:latin typeface="CharterBT"/>
                  </a:rPr>
                  <a:t>λv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 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, we say that λ is the </a:t>
                </a:r>
                <a:r>
                  <a:rPr lang="en-US" b="1" i="1" dirty="0">
                    <a:solidFill>
                      <a:srgbClr val="000000"/>
                    </a:solidFill>
                    <a:effectLst/>
                    <a:latin typeface="CharterBT"/>
                  </a:rPr>
                  <a:t>eigenvalue for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 v, and that v is an </a:t>
                </a:r>
                <a:r>
                  <a:rPr lang="en-US" b="1" i="1" dirty="0">
                    <a:solidFill>
                      <a:srgbClr val="000000"/>
                    </a:solidFill>
                    <a:effectLst/>
                    <a:latin typeface="CharterBT"/>
                  </a:rPr>
                  <a:t>eigenvector for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CharterBT"/>
                  </a:rPr>
                  <a:t> λ.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4FEA2A-2CEC-4E2C-81AA-9FE2EC5EE6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</p:spTree>
    <p:extLst>
      <p:ext uri="{BB962C8B-B14F-4D97-AF65-F5344CB8AC3E}">
        <p14:creationId xmlns:p14="http://schemas.microsoft.com/office/powerpoint/2010/main" val="120178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C4DDDB-FB9B-4FFF-A7A4-EFBEE2AC7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595239"/>
            <a:ext cx="7454348" cy="4865196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CD3A5-FAD2-41BD-BE64-F339C609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282EB-1FB0-4F5B-BEB7-A6843EBD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D5F5A-3EF1-4F41-9096-8C9D9D0E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F621C1-DF6A-4FBA-AC54-A13B6DAD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</p:spTree>
    <p:extLst>
      <p:ext uri="{BB962C8B-B14F-4D97-AF65-F5344CB8AC3E}">
        <p14:creationId xmlns:p14="http://schemas.microsoft.com/office/powerpoint/2010/main" val="822472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9142BE-DB2B-41B9-8597-17904DFA6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802" y="2133600"/>
            <a:ext cx="7477018" cy="31242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F54CD-66D5-430C-8352-EF3B1218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098A3-F057-4DBE-9341-9DDF7BED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05B68-75A0-456B-A2AB-658E9E97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D2806D-2401-4499-8D0E-E76ED91E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</p:spTree>
    <p:extLst>
      <p:ext uri="{BB962C8B-B14F-4D97-AF65-F5344CB8AC3E}">
        <p14:creationId xmlns:p14="http://schemas.microsoft.com/office/powerpoint/2010/main" val="728614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FCB0-9ACB-4EF0-A018-DECF10C9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en-US" altLang="zh-TW" sz="2400" dirty="0"/>
              <a:t>A: Square Matrix</a:t>
            </a:r>
          </a:p>
          <a:p>
            <a:r>
              <a:rPr lang="el-GR" altLang="zh-TW" sz="2400" dirty="0"/>
              <a:t>λ</a:t>
            </a:r>
            <a:r>
              <a:rPr lang="en-US" altLang="zh-TW" sz="2400" dirty="0"/>
              <a:t>: Eigenvector or characteristic vector</a:t>
            </a:r>
          </a:p>
          <a:p>
            <a:r>
              <a:rPr lang="en-US" altLang="zh-TW" sz="2400" dirty="0"/>
              <a:t>X: Eigenvalue or characteristic value</a:t>
            </a:r>
            <a:endParaRPr lang="en-US" sz="24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61560" y="1719545"/>
            <a:ext cx="16147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7030A0"/>
                </a:solidFill>
              </a:rPr>
              <a:t>Ax = </a:t>
            </a:r>
            <a:r>
              <a:rPr lang="el-GR" altLang="zh-TW" sz="3000" b="1" dirty="0">
                <a:solidFill>
                  <a:srgbClr val="7030A0"/>
                </a:solidFill>
              </a:rPr>
              <a:t>λ</a:t>
            </a:r>
            <a:r>
              <a:rPr lang="en-US" altLang="zh-TW" sz="3000" b="1" dirty="0">
                <a:solidFill>
                  <a:srgbClr val="7030A0"/>
                </a:solidFill>
              </a:rPr>
              <a:t>x</a:t>
            </a:r>
            <a:endParaRPr lang="en-US" sz="3000" dirty="0">
              <a:solidFill>
                <a:srgbClr val="7030A0"/>
              </a:solidFill>
            </a:endParaRPr>
          </a:p>
        </p:txBody>
      </p:sp>
      <p:graphicFrame>
        <p:nvGraphicFramePr>
          <p:cNvPr id="8" name="Object 7"/>
          <p:cNvGraphicFramePr>
            <a:graphicFrameLocks/>
          </p:cNvGraphicFramePr>
          <p:nvPr/>
        </p:nvGraphicFramePr>
        <p:xfrm>
          <a:off x="2096649" y="3481573"/>
          <a:ext cx="5693871" cy="2519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3" imgW="3378200" imgH="1638300" progId="Equation.3">
                  <p:embed/>
                </p:oleObj>
              </mc:Choice>
              <mc:Fallback>
                <p:oleObj name="Equation" r:id="rId3" imgW="3378200" imgH="16383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649" y="3481573"/>
                        <a:ext cx="5693871" cy="2519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Arrow 9"/>
          <p:cNvSpPr/>
          <p:nvPr/>
        </p:nvSpPr>
        <p:spPr>
          <a:xfrm>
            <a:off x="448389" y="3516277"/>
            <a:ext cx="1648260" cy="1146349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1917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792" y="829795"/>
            <a:ext cx="7886700" cy="994172"/>
          </a:xfrm>
        </p:spPr>
        <p:txBody>
          <a:bodyPr/>
          <a:lstStyle/>
          <a:p>
            <a:r>
              <a:rPr lang="en-US" dirty="0"/>
              <a:t>Eigenvector and Eigenvalue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9109" y="1691508"/>
            <a:ext cx="23308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700" b="1" dirty="0">
                <a:solidFill>
                  <a:srgbClr val="0070C0"/>
                </a:solidFill>
              </a:rPr>
              <a:t>Ax -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x</a:t>
            </a:r>
            <a:r>
              <a:rPr lang="en-US" altLang="zh-TW" sz="2700" dirty="0">
                <a:solidFill>
                  <a:srgbClr val="0070C0"/>
                </a:solidFill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</a:rPr>
              <a:t>= 0</a:t>
            </a:r>
          </a:p>
          <a:p>
            <a:r>
              <a:rPr lang="en-US" altLang="zh-TW" sz="2700" b="1" dirty="0">
                <a:solidFill>
                  <a:srgbClr val="0070C0"/>
                </a:solidFill>
              </a:rPr>
              <a:t>(A –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I)x</a:t>
            </a:r>
            <a:r>
              <a:rPr lang="en-US" altLang="zh-TW" sz="2700" dirty="0">
                <a:solidFill>
                  <a:srgbClr val="0070C0"/>
                </a:solidFill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</a:rPr>
              <a:t>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265" y="3627849"/>
            <a:ext cx="5101088" cy="669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75" b="1" dirty="0"/>
              <a:t>x will be an eigenvector of A if and only if  B does not have an inverse, or equivalently </a:t>
            </a:r>
            <a:r>
              <a:rPr lang="en-US" sz="1875" b="1" dirty="0" err="1"/>
              <a:t>det</a:t>
            </a:r>
            <a:r>
              <a:rPr lang="en-US" sz="1875" b="1" dirty="0"/>
              <a:t>(B)=0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2558" y="4658661"/>
            <a:ext cx="2471041" cy="50783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700" b="1" dirty="0" err="1">
                <a:solidFill>
                  <a:srgbClr val="0070C0"/>
                </a:solidFill>
                <a:sym typeface="Symbol" charset="2"/>
              </a:rPr>
              <a:t>det</a:t>
            </a:r>
            <a:r>
              <a:rPr lang="en-US" altLang="zh-TW" sz="2700" b="1" dirty="0">
                <a:solidFill>
                  <a:srgbClr val="0070C0"/>
                </a:solidFill>
              </a:rPr>
              <a:t>(A –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I)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7348" y="1893673"/>
            <a:ext cx="121058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700" b="1" dirty="0">
                <a:solidFill>
                  <a:srgbClr val="7030A0"/>
                </a:solidFill>
              </a:rPr>
              <a:t>Ax = </a:t>
            </a:r>
            <a:r>
              <a:rPr lang="el-GR" altLang="zh-TW" sz="2700" b="1" dirty="0">
                <a:solidFill>
                  <a:srgbClr val="7030A0"/>
                </a:solidFill>
              </a:rPr>
              <a:t>λ</a:t>
            </a:r>
            <a:r>
              <a:rPr lang="en-US" altLang="zh-TW" sz="2700" b="1" dirty="0">
                <a:solidFill>
                  <a:srgbClr val="7030A0"/>
                </a:solidFill>
              </a:rPr>
              <a:t>x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46542" y="2136047"/>
            <a:ext cx="52492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012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4114800" cy="4525963"/>
              </a:xfr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>
                <a:normAutofit fontScale="85000" lnSpcReduction="10000"/>
              </a:bodyPr>
              <a:lstStyle/>
              <a:p>
                <a:pPr>
                  <a:buFont typeface="Wingdings" charset="2"/>
                  <a:buNone/>
                </a:pPr>
                <a:r>
                  <a:rPr lang="en-US" altLang="zh-TW" sz="1800" dirty="0">
                    <a:solidFill>
                      <a:srgbClr val="3333FF"/>
                    </a:solidFill>
                  </a:rPr>
                  <a:t>Example : </a:t>
                </a:r>
                <a:r>
                  <a:rPr lang="en-US" altLang="zh-TW" sz="1800" dirty="0"/>
                  <a:t>Find the eigenvalues of</a:t>
                </a:r>
              </a:p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i="1"/>
                        <m:t>𝐴</m:t>
                      </m:r>
                      <m:r>
                        <a:rPr lang="en-PK" i="1"/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PK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i="1"/>
                              </m:ctrlPr>
                            </m:mPr>
                            <m:mr>
                              <m:e>
                                <m:r>
                                  <a:rPr lang="en-PK" i="1"/>
                                  <m:t>−6</m:t>
                                </m:r>
                              </m:e>
                              <m:e>
                                <m:r>
                                  <a:rPr lang="en-PK" i="1"/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PK" i="1"/>
                                  <m:t>4</m:t>
                                </m:r>
                              </m:e>
                              <m:e>
                                <m:r>
                                  <a:rPr lang="en-PK" i="1"/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  <a:buNone/>
                </a:pPr>
                <a:endParaRPr lang="en-US" dirty="0"/>
              </a:p>
              <a:p>
                <a:pPr algn="ctr">
                  <a:lnSpc>
                    <a:spcPct val="120000"/>
                  </a:lnSpc>
                  <a:buNone/>
                </a:pPr>
                <a:r>
                  <a:rPr lang="en-P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 A − </a:t>
                </a:r>
                <a:r>
                  <a:rPr lang="en-PK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λI</a:t>
                </a:r>
                <a:r>
                  <a:rPr lang="en-PK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| = 0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K" i="1"/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PK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K" i="1"/>
                                  </m:ctrlPr>
                                </m:mPr>
                                <m:mr>
                                  <m:e>
                                    <m:r>
                                      <a:rPr lang="en-PK" i="1"/>
                                      <m:t>−6</m:t>
                                    </m:r>
                                  </m:e>
                                  <m:e>
                                    <m:r>
                                      <a:rPr lang="en-PK" i="1"/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K" i="1"/>
                                      <m:t>4</m:t>
                                    </m:r>
                                  </m:e>
                                  <m:e>
                                    <m:r>
                                      <a:rPr lang="en-PK" i="1"/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PK" i="1"/>
                            <m:t>−</m:t>
                          </m:r>
                          <m:r>
                            <a:rPr lang="en-PK" i="1"/>
                            <m:t>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PK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PK" i="1"/>
                                  </m:ctrlPr>
                                </m:mPr>
                                <m:mr>
                                  <m:e>
                                    <m:r>
                                      <a:rPr lang="en-PK" i="1"/>
                                      <m:t>1</m:t>
                                    </m:r>
                                  </m:e>
                                  <m:e>
                                    <m:r>
                                      <a:rPr lang="en-PK" i="1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PK" i="1"/>
                                      <m:t>0</m:t>
                                    </m:r>
                                  </m:e>
                                  <m:e>
                                    <m:r>
                                      <a:rPr lang="en-PK" i="1"/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PK" i="1"/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PK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PK" i="1"/>
                              </m:ctrlPr>
                            </m:mPr>
                            <m:mr>
                              <m:e>
                                <m:r>
                                  <a:rPr lang="en-PK" i="1"/>
                                  <m:t>−6−</m:t>
                                </m:r>
                                <m:r>
                                  <a:rPr lang="en-PK" i="1"/>
                                  <m:t>𝜆</m:t>
                                </m:r>
                              </m:e>
                              <m:e>
                                <m:r>
                                  <a:rPr lang="en-PK" i="1"/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PK" i="1"/>
                                  <m:t>4</m:t>
                                </m:r>
                              </m:e>
                              <m:e>
                                <m:r>
                                  <a:rPr lang="en-PK" i="1"/>
                                  <m:t>5−</m:t>
                                </m:r>
                                <m:r>
                                  <a:rPr lang="en-PK" i="1"/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PK" i="1"/>
                        <m:t>=0</m:t>
                      </m:r>
                    </m:oMath>
                  </m:oMathPara>
                </a14:m>
                <a:endParaRPr lang="en-PK" dirty="0"/>
              </a:p>
              <a:p>
                <a:pPr>
                  <a:buNone/>
                </a:pPr>
                <a:endParaRPr lang="en-PK" sz="1600" dirty="0"/>
              </a:p>
              <a:p>
                <a:pPr>
                  <a:buFont typeface="Wingdings" charset="2"/>
                  <a:buNone/>
                </a:pPr>
                <a:endParaRPr lang="en-US" altLang="zh-TW" sz="1500" dirty="0"/>
              </a:p>
              <a:p>
                <a:pPr>
                  <a:buFont typeface="Wingdings" charset="2"/>
                  <a:buNone/>
                </a:pPr>
                <a:endParaRPr lang="en-US" altLang="zh-TW" sz="1500" dirty="0"/>
              </a:p>
            </p:txBody>
          </p:sp>
        </mc:Choice>
        <mc:Fallback>
          <p:sp>
            <p:nvSpPr>
              <p:cNvPr id="51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14800" cy="4525963"/>
              </a:xfrm>
              <a:blipFill>
                <a:blip r:embed="rId2"/>
                <a:stretch>
                  <a:fillRect l="-593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D87FA5CE-E9B5-498A-913A-E538D1A9B1A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495800" y="1616765"/>
                <a:ext cx="4638261" cy="46316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K" i="1"/>
                          </m:ctrlPr>
                        </m:dPr>
                        <m:e>
                          <m:r>
                            <a:rPr lang="en-PK" i="1"/>
                            <m:t>−6−</m:t>
                          </m:r>
                          <m:r>
                            <a:rPr lang="en-PK" i="1"/>
                            <m:t>𝜆</m:t>
                          </m:r>
                        </m:e>
                      </m:d>
                      <m:d>
                        <m:dPr>
                          <m:ctrlPr>
                            <a:rPr lang="en-PK" i="1"/>
                          </m:ctrlPr>
                        </m:dPr>
                        <m:e>
                          <m:r>
                            <a:rPr lang="en-PK" i="1"/>
                            <m:t>5−</m:t>
                          </m:r>
                          <m:r>
                            <a:rPr lang="en-PK" i="1"/>
                            <m:t>𝜆</m:t>
                          </m:r>
                        </m:e>
                      </m:d>
                      <m:r>
                        <a:rPr lang="en-PK" i="1"/>
                        <m:t>−3×4=0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PK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K" i="1"/>
                          </m:ctrlPr>
                        </m:sSupPr>
                        <m:e>
                          <m:r>
                            <a:rPr lang="en-US" i="1"/>
                            <m:t>𝜆</m:t>
                          </m:r>
                        </m:e>
                        <m:sup>
                          <m:r>
                            <a:rPr lang="en-US" i="1"/>
                            <m:t>2</m:t>
                          </m:r>
                        </m:sup>
                      </m:sSup>
                      <m:r>
                        <a:rPr lang="en-US" i="1"/>
                        <m:t>+</m:t>
                      </m:r>
                      <m:r>
                        <a:rPr lang="en-US" i="1"/>
                        <m:t>𝜆</m:t>
                      </m:r>
                      <m:r>
                        <a:rPr lang="en-US" i="1"/>
                        <m:t>−42=0</m:t>
                      </m:r>
                    </m:oMath>
                  </m:oMathPara>
                </a14:m>
                <a:endParaRPr lang="en-PK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i="1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𝜆</m:t>
                      </m:r>
                      <m:r>
                        <a:rPr lang="en-US" i="1"/>
                        <m:t>=−7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or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a:rPr lang="en-US" i="1"/>
                        <m:t>6</m:t>
                      </m:r>
                    </m:oMath>
                  </m:oMathPara>
                </a14:m>
                <a:endParaRPr lang="en-PK" dirty="0"/>
              </a:p>
              <a:p>
                <a:pPr>
                  <a:buFont typeface="Arial" pitchFamily="34" charset="0"/>
                  <a:buNone/>
                </a:pPr>
                <a:endParaRPr lang="en-PK" sz="1600" dirty="0"/>
              </a:p>
              <a:p>
                <a:pPr>
                  <a:buFont typeface="Wingdings" charset="2"/>
                  <a:buNone/>
                </a:pPr>
                <a:endParaRPr lang="en-US" altLang="zh-TW" sz="1500" dirty="0"/>
              </a:p>
              <a:p>
                <a:pPr>
                  <a:buFont typeface="Wingdings" charset="2"/>
                  <a:buNone/>
                </a:pPr>
                <a:endParaRPr lang="en-US" altLang="zh-TW" sz="1500" dirty="0"/>
              </a:p>
            </p:txBody>
          </p:sp>
        </mc:Choice>
        <mc:Fallback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D87FA5CE-E9B5-498A-913A-E538D1A9B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1616765"/>
                <a:ext cx="4638261" cy="4631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80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FE90FE-E5EC-4E4A-AFCA-3F8E978AB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47801"/>
            <a:ext cx="8229600" cy="502919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3DE9A-E7B4-45F8-82BF-3739FA2F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0B0D0-5DCD-44DB-93A4-6305C90A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A77D5-66B4-4B8F-91DB-EB81A66A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6379B5-8964-40C9-8EA7-FF69436B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</p:spTree>
    <p:extLst>
      <p:ext uri="{BB962C8B-B14F-4D97-AF65-F5344CB8AC3E}">
        <p14:creationId xmlns:p14="http://schemas.microsoft.com/office/powerpoint/2010/main" val="1749587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E3907A-574C-4089-BB61-752DC1C21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8B369-209E-4980-B6D6-00CE611D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1006-9DB7-46F5-9D90-1E71F07ADF87}" type="datetime1">
              <a:rPr lang="en-US" smtClean="0"/>
              <a:t>4/25/2022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F4DF1-4645-4F7E-8DC0-5710056B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6C12B-D3A9-4E03-AB8D-AA6E3BED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0EF671-295C-4BD2-9AC3-EDE1EC83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F02EE-A8AE-4F2C-8E1D-F7C5ED36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3574"/>
            <a:ext cx="8229600" cy="453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64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2783" y="981977"/>
            <a:ext cx="5568764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Principal Component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910" y="2052161"/>
            <a:ext cx="3895725" cy="447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910" y="2830094"/>
            <a:ext cx="1543050" cy="36195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3501861" y="4179626"/>
            <a:ext cx="2686050" cy="1733550"/>
            <a:chOff x="3368040" y="3759200"/>
            <a:chExt cx="3581400" cy="2311400"/>
          </a:xfrm>
        </p:grpSpPr>
        <p:grpSp>
          <p:nvGrpSpPr>
            <p:cNvPr id="10" name="Group 9"/>
            <p:cNvGrpSpPr/>
            <p:nvPr/>
          </p:nvGrpSpPr>
          <p:grpSpPr>
            <a:xfrm>
              <a:off x="3368040" y="3759200"/>
              <a:ext cx="3581400" cy="2311400"/>
              <a:chOff x="3368040" y="3759200"/>
              <a:chExt cx="3581400" cy="2311400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68040" y="3759200"/>
                <a:ext cx="3581400" cy="2311400"/>
              </a:xfrm>
              <a:prstGeom prst="rect">
                <a:avLst/>
              </a:prstGeom>
            </p:spPr>
          </p:pic>
          <p:sp>
            <p:nvSpPr>
              <p:cNvPr id="9" name="Rounded Rectangle 8"/>
              <p:cNvSpPr/>
              <p:nvPr/>
            </p:nvSpPr>
            <p:spPr>
              <a:xfrm>
                <a:off x="5552440" y="5634990"/>
                <a:ext cx="334010" cy="33147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7680" y="5706931"/>
              <a:ext cx="318770" cy="290643"/>
            </a:xfrm>
            <a:prstGeom prst="rect">
              <a:avLst/>
            </a:prstGeom>
          </p:spPr>
        </p:pic>
      </p:grpSp>
      <p:sp>
        <p:nvSpPr>
          <p:cNvPr id="17" name="Rectangle 16"/>
          <p:cNvSpPr/>
          <p:nvPr/>
        </p:nvSpPr>
        <p:spPr>
          <a:xfrm>
            <a:off x="793432" y="2075008"/>
            <a:ext cx="907621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50" b="1" dirty="0"/>
              <a:t>Input: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6614" y="3507388"/>
            <a:ext cx="712352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50" b="1" dirty="0"/>
              <a:t>Summarize a </a:t>
            </a:r>
            <a:r>
              <a:rPr lang="en-US" sz="2250" b="1" i="1" dirty="0"/>
              <a:t>D</a:t>
            </a:r>
            <a:r>
              <a:rPr lang="en-US" sz="2250" b="1" dirty="0"/>
              <a:t> dimensional vector </a:t>
            </a:r>
            <a:r>
              <a:rPr lang="en-US" sz="2250" b="1" i="1" dirty="0"/>
              <a:t>X</a:t>
            </a:r>
            <a:r>
              <a:rPr lang="en-US" sz="2250" b="1" dirty="0"/>
              <a:t> with </a:t>
            </a:r>
            <a:r>
              <a:rPr lang="en-US" sz="2250" b="1" i="1" dirty="0"/>
              <a:t>K</a:t>
            </a:r>
            <a:r>
              <a:rPr lang="en-US" sz="2250" b="1" dirty="0"/>
              <a:t> dimensional feature vector </a:t>
            </a:r>
            <a:r>
              <a:rPr lang="en-US" sz="2250" b="1" i="1" dirty="0"/>
              <a:t>h(x)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614" y="2756574"/>
            <a:ext cx="2554097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50" b="1" dirty="0"/>
              <a:t>Set of basis vectors:</a:t>
            </a:r>
          </a:p>
        </p:txBody>
      </p:sp>
    </p:spTree>
    <p:extLst>
      <p:ext uri="{BB962C8B-B14F-4D97-AF65-F5344CB8AC3E}">
        <p14:creationId xmlns:p14="http://schemas.microsoft.com/office/powerpoint/2010/main" val="2119695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782" y="3062033"/>
            <a:ext cx="1609725" cy="5143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288" y="3570487"/>
            <a:ext cx="1524000" cy="476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31" y="4687639"/>
            <a:ext cx="1724025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731" y="5097214"/>
            <a:ext cx="3248025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436" y="2041184"/>
            <a:ext cx="2809875" cy="59055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02783" y="981977"/>
            <a:ext cx="5568764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6289" y="2786388"/>
            <a:ext cx="3771097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50" b="1" dirty="0"/>
              <a:t>Basis vectors are orthonormal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288" y="4081483"/>
            <a:ext cx="3708836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50" b="1" dirty="0"/>
              <a:t>New data representation </a:t>
            </a:r>
            <a:r>
              <a:rPr lang="en-US" sz="2250" b="1" i="1" dirty="0"/>
              <a:t>h(x)</a:t>
            </a:r>
          </a:p>
        </p:txBody>
      </p:sp>
    </p:spTree>
    <p:extLst>
      <p:ext uri="{BB962C8B-B14F-4D97-AF65-F5344CB8AC3E}">
        <p14:creationId xmlns:p14="http://schemas.microsoft.com/office/powerpoint/2010/main" val="2138178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436" y="2041184"/>
            <a:ext cx="2809875" cy="59055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02783" y="981977"/>
            <a:ext cx="5568764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118" y="2840991"/>
            <a:ext cx="3708836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50" b="1" dirty="0"/>
              <a:t>New data representation </a:t>
            </a:r>
            <a:r>
              <a:rPr lang="en-US" sz="2250" b="1" i="1" dirty="0"/>
              <a:t>h(x)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203" y="5067002"/>
            <a:ext cx="2781300" cy="6381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951" y="3632024"/>
            <a:ext cx="3209925" cy="742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1608" y="5280539"/>
            <a:ext cx="208069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Empirical mean of the data</a:t>
            </a:r>
          </a:p>
        </p:txBody>
      </p:sp>
    </p:spTree>
    <p:extLst>
      <p:ext uri="{BB962C8B-B14F-4D97-AF65-F5344CB8AC3E}">
        <p14:creationId xmlns:p14="http://schemas.microsoft.com/office/powerpoint/2010/main" val="174548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1F11-1A79-4878-BD6B-B8BF6260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Examples</a:t>
            </a:r>
          </a:p>
          <a:p>
            <a:pPr lvl="1"/>
            <a:r>
              <a:rPr lang="en-US" dirty="0">
                <a:hlinkClick r:id="rId2"/>
              </a:rPr>
              <a:t>https://medium.com/analytics-vidhya/understanding-principle-component-analysis-pca-step-by-step-e7a4bb4031d9</a:t>
            </a:r>
            <a:endParaRPr lang="en-US" dirty="0"/>
          </a:p>
          <a:p>
            <a:r>
              <a:rPr lang="en-US" dirty="0"/>
              <a:t>For various Mathematical Visualization</a:t>
            </a:r>
          </a:p>
          <a:p>
            <a:pPr lvl="1"/>
            <a:r>
              <a:rPr lang="en-US" dirty="0">
                <a:hlinkClick r:id="rId3"/>
              </a:rPr>
              <a:t>https://www.3blue1brown.com/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980EE-E49A-432C-9A0E-21147F21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48DCE-46ED-4FCE-A81D-B65C35E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C449-682A-4E74-B776-CD27622066FE}" type="datetime1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0F90D-8F13-421E-8B83-A7E30BD0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3FBBB-D9A7-4725-8EA4-AC9CA4F4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1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52" y="2866671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202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D60B6-C4AB-4FCE-A7D0-FA402B4C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0F2CA-75F1-453F-B7B2-A16A5B6D932D}" type="datetime1">
              <a:rPr lang="en-US" smtClean="0"/>
              <a:t>4/25/2022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114CE-420E-4172-B2B3-AF289C1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60BAE-FF99-448B-948D-19B928DA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z_1&#10;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1)}&#10;$&#10;&#10;\end{document}"/>
  <p:tag name="IGUANATEXSIZE" val="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1)}&#10;$&#10;&#10;\end{document}"/>
  <p:tag name="IGUANATEXSIZE" val="2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2)}&#10;$&#10;&#10;\end{document}"/>
  <p:tag name="IGUANATEXSIZE" val="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2)}&#10;$&#10;&#10;\end{document}"/>
  <p:tag name="IGUANATEXSIZE" val="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m)}&#10;$&#10;&#10;\end{document}"/>
  <p:tag name="IGUANATEXSIZE" val="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rightarrow z^{(m)}&#10;$&#10;&#10;\end{document}"/>
  <p:tag name="IGUANATEXSIZE" val="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vdots&#10;$&#10;&#10;\end{document}"/>
  <p:tag name="IGUANATEXSIZE" val="2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29459</TotalTime>
  <Words>1188</Words>
  <Application>Microsoft Office PowerPoint</Application>
  <PresentationFormat>On-screen Show (4:3)</PresentationFormat>
  <Paragraphs>248</Paragraphs>
  <Slides>35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Arial</vt:lpstr>
      <vt:lpstr>Calibri</vt:lpstr>
      <vt:lpstr>Cambria Math</vt:lpstr>
      <vt:lpstr>CharterBT</vt:lpstr>
      <vt:lpstr>CMMI10</vt:lpstr>
      <vt:lpstr>CMR10</vt:lpstr>
      <vt:lpstr>Lato</vt:lpstr>
      <vt:lpstr>LucidaBright</vt:lpstr>
      <vt:lpstr>LucidaBright-DemiItalic</vt:lpstr>
      <vt:lpstr>LucidaBright-Italic</vt:lpstr>
      <vt:lpstr>open sans</vt:lpstr>
      <vt:lpstr>Wingdings</vt:lpstr>
      <vt:lpstr>Office Theme</vt:lpstr>
      <vt:lpstr>Equation</vt:lpstr>
      <vt:lpstr>PowerPoint Presentation</vt:lpstr>
      <vt:lpstr>Goals</vt:lpstr>
      <vt:lpstr>Review of Previous Lecture</vt:lpstr>
      <vt:lpstr>Density-based Clustering</vt:lpstr>
      <vt:lpstr>DBSCAN Clustering Algorithm</vt:lpstr>
      <vt:lpstr>DBSCAN Clustering Algorithm</vt:lpstr>
      <vt:lpstr>DBSCAN Clustering Algorithm</vt:lpstr>
      <vt:lpstr>Today’s Lecture</vt:lpstr>
      <vt:lpstr>Dimensionality Reduction</vt:lpstr>
      <vt:lpstr>Dimensionality Reduction</vt:lpstr>
      <vt:lpstr>Dimensionality Reduction</vt:lpstr>
      <vt:lpstr>Dimensionality Reduction</vt:lpstr>
      <vt:lpstr>Feature Selection</vt:lpstr>
      <vt:lpstr>Feature Selection</vt:lpstr>
      <vt:lpstr>Feature Extraction</vt:lpstr>
      <vt:lpstr>Feature Extraction</vt:lpstr>
      <vt:lpstr>Basic Algebra</vt:lpstr>
      <vt:lpstr>Basic Algebra</vt:lpstr>
      <vt:lpstr>PowerPoint Presentation</vt:lpstr>
      <vt:lpstr>PCA Algorithm</vt:lpstr>
      <vt:lpstr>Covariance</vt:lpstr>
      <vt:lpstr>PowerPoint Presentation</vt:lpstr>
      <vt:lpstr>Eigenvector and Eigenvalue</vt:lpstr>
      <vt:lpstr>Eigenvector and Eigenvalue</vt:lpstr>
      <vt:lpstr>Eigenvector and Eigenvalue</vt:lpstr>
      <vt:lpstr>Eigenvector and Eigenvalue</vt:lpstr>
      <vt:lpstr>Eigenvector and Eigenvalue</vt:lpstr>
      <vt:lpstr>Eigenvector and Eigenvalue</vt:lpstr>
      <vt:lpstr>Eigenvector and Eigenvalue</vt:lpstr>
      <vt:lpstr>Eigenvector and Eigenvalue</vt:lpstr>
      <vt:lpstr>Principal Component Analysis</vt:lpstr>
      <vt:lpstr>Principal Component Analysis</vt:lpstr>
      <vt:lpstr>Principal Component Analysis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1980</cp:revision>
  <dcterms:created xsi:type="dcterms:W3CDTF">2006-08-16T00:00:00Z</dcterms:created>
  <dcterms:modified xsi:type="dcterms:W3CDTF">2022-04-25T15:44:03Z</dcterms:modified>
</cp:coreProperties>
</file>