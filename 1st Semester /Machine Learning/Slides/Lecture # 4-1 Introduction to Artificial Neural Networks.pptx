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48" r:id="rId1"/>
  </p:sldMasterIdLst>
  <p:notesMasterIdLst>
    <p:notesMasterId r:id="rId63"/>
  </p:notesMasterIdLst>
  <p:sldIdLst>
    <p:sldId id="525" r:id="rId2"/>
    <p:sldId id="421" r:id="rId3"/>
    <p:sldId id="463" r:id="rId4"/>
    <p:sldId id="490" r:id="rId5"/>
    <p:sldId id="276" r:id="rId6"/>
    <p:sldId id="523" r:id="rId7"/>
    <p:sldId id="504" r:id="rId8"/>
    <p:sldId id="464" r:id="rId9"/>
    <p:sldId id="1266" r:id="rId10"/>
    <p:sldId id="1267" r:id="rId11"/>
    <p:sldId id="1268" r:id="rId12"/>
    <p:sldId id="1272" r:id="rId13"/>
    <p:sldId id="1271" r:id="rId14"/>
    <p:sldId id="1270" r:id="rId15"/>
    <p:sldId id="1269" r:id="rId16"/>
    <p:sldId id="1273" r:id="rId17"/>
    <p:sldId id="1274" r:id="rId18"/>
    <p:sldId id="1275" r:id="rId19"/>
    <p:sldId id="1276" r:id="rId20"/>
    <p:sldId id="1277" r:id="rId21"/>
    <p:sldId id="1278" r:id="rId22"/>
    <p:sldId id="1283" r:id="rId23"/>
    <p:sldId id="1284" r:id="rId24"/>
    <p:sldId id="1288" r:id="rId25"/>
    <p:sldId id="1289" r:id="rId26"/>
    <p:sldId id="1290" r:id="rId27"/>
    <p:sldId id="1297" r:id="rId28"/>
    <p:sldId id="1291" r:id="rId29"/>
    <p:sldId id="1292" r:id="rId30"/>
    <p:sldId id="1341" r:id="rId31"/>
    <p:sldId id="1293" r:id="rId32"/>
    <p:sldId id="282" r:id="rId33"/>
    <p:sldId id="1285" r:id="rId34"/>
    <p:sldId id="1286" r:id="rId35"/>
    <p:sldId id="1197" r:id="rId36"/>
    <p:sldId id="1198" r:id="rId37"/>
    <p:sldId id="1193" r:id="rId38"/>
    <p:sldId id="1194" r:id="rId39"/>
    <p:sldId id="1195" r:id="rId40"/>
    <p:sldId id="1196" r:id="rId41"/>
    <p:sldId id="1192" r:id="rId42"/>
    <p:sldId id="1255" r:id="rId43"/>
    <p:sldId id="1256" r:id="rId44"/>
    <p:sldId id="1257" r:id="rId45"/>
    <p:sldId id="1180" r:id="rId46"/>
    <p:sldId id="1287" r:id="rId47"/>
    <p:sldId id="1181" r:id="rId48"/>
    <p:sldId id="1182" r:id="rId49"/>
    <p:sldId id="1183" r:id="rId50"/>
    <p:sldId id="1328" r:id="rId51"/>
    <p:sldId id="1343" r:id="rId52"/>
    <p:sldId id="1345" r:id="rId53"/>
    <p:sldId id="1346" r:id="rId54"/>
    <p:sldId id="1344" r:id="rId55"/>
    <p:sldId id="1347" r:id="rId56"/>
    <p:sldId id="1348" r:id="rId57"/>
    <p:sldId id="1349" r:id="rId58"/>
    <p:sldId id="1350" r:id="rId59"/>
    <p:sldId id="1351" r:id="rId60"/>
    <p:sldId id="478" r:id="rId61"/>
    <p:sldId id="415" r:id="rId6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v" initials="C" lastIdx="1" clrIdx="0">
    <p:extLst>
      <p:ext uri="{19B8F6BF-5375-455C-9EA6-DF929625EA0E}">
        <p15:presenceInfo xmlns:p15="http://schemas.microsoft.com/office/powerpoint/2012/main" userId="Cv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9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>
      <p:cViewPr varScale="1">
        <p:scale>
          <a:sx n="82" d="100"/>
          <a:sy n="82" d="100"/>
        </p:scale>
        <p:origin x="720" y="5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notesMaster" Target="notesMasters/notesMaster1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commentAuthors" Target="commentAuthor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128C82-CA69-4C24-80B0-668ACBAF35BA}" type="datetimeFigureOut">
              <a:rPr lang="en-US" smtClean="0"/>
              <a:pPr/>
              <a:t>2/10/2025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D1793F-0F1D-49B1-A0BA-855CC243B4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79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D1793F-0F1D-49B1-A0BA-855CC243B45D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005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381000" y="695325"/>
            <a:ext cx="6096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2946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335071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baseline="0" dirty="0"/>
              <a:t>TODO: Include the math on the right. </a:t>
            </a:r>
          </a:p>
          <a:p>
            <a:r>
              <a:rPr lang="en-US" baseline="0" dirty="0"/>
              <a:t>TODO: Show the parameters.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C97D60-1F67-9049-9332-09B31DA49069}" type="slidenum">
              <a:rPr lang="en-US" smtClean="0"/>
              <a:pPr/>
              <a:t>35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baseline="0" dirty="0"/>
              <a:t>What if we connect all the X to all the Z?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C97D60-1F67-9049-9332-09B31DA49069}" type="slidenum">
              <a:rPr lang="en-US" smtClean="0"/>
              <a:pPr/>
              <a:t>37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baseline="0" dirty="0"/>
              <a:t>What if we connect all the X to all the Z?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C97D60-1F67-9049-9332-09B31DA49069}" type="slidenum">
              <a:rPr lang="en-US" smtClean="0"/>
              <a:pPr/>
              <a:t>38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baseline="0" dirty="0"/>
              <a:t>What if we connect all the X to all the Z?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C97D60-1F67-9049-9332-09B31DA49069}" type="slidenum">
              <a:rPr lang="en-US" smtClean="0"/>
              <a:pPr/>
              <a:t>39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baseline="0" dirty="0"/>
              <a:t>What if we connect all the X to all the Z?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C97D60-1F67-9049-9332-09B31DA49069}" type="slidenum">
              <a:rPr lang="en-US" smtClean="0"/>
              <a:pPr/>
              <a:t>40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baseline="0" dirty="0"/>
              <a:t>This is regular perceptron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C97D60-1F67-9049-9332-09B31DA49069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5932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We saw with XOR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C97D60-1F67-9049-9332-09B31DA49069}" type="slidenum">
              <a:rPr lang="en-US" smtClean="0"/>
              <a:pPr/>
              <a:t>43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Why called feed forward?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C97D60-1F67-9049-9332-09B31DA49069}" type="slidenum">
              <a:rPr lang="en-US" smtClean="0"/>
              <a:pPr/>
              <a:t>45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Why called feed forward?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C97D60-1F67-9049-9332-09B31DA49069}" type="slidenum">
              <a:rPr lang="en-US" smtClean="0"/>
              <a:pPr/>
              <a:t>46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C97D60-1F67-9049-9332-09B31DA49069}" type="slidenum">
              <a:rPr lang="en-US" smtClean="0"/>
              <a:pPr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0211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492876"/>
            <a:ext cx="2844800" cy="365125"/>
          </a:xfrm>
        </p:spPr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1E02AB6-0A0D-4DBC-90F1-94DC3C4B086D}" type="datetime1">
              <a:rPr lang="en-US" smtClean="0"/>
              <a:t>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492876"/>
            <a:ext cx="3860800" cy="365125"/>
          </a:xfrm>
        </p:spPr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Presented by    Dr. AKHTAR JAMIL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477001"/>
            <a:ext cx="2844800" cy="365125"/>
          </a:xfrm>
        </p:spPr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AB2C7-2CBA-4502-84C3-44AFE0C96515}" type="datetime1">
              <a:rPr lang="en-US" smtClean="0"/>
              <a:t>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609600" y="609601"/>
            <a:ext cx="10972800" cy="838200"/>
          </a:xfrm>
        </p:spPr>
        <p:txBody>
          <a:bodyPr>
            <a:noAutofit/>
          </a:bodyPr>
          <a:lstStyle>
            <a:lvl1pPr>
              <a:defRPr sz="3600" b="0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BD660-FD4C-46A1-88EC-8E4EC150089A}" type="datetime1">
              <a:rPr lang="en-US" smtClean="0"/>
              <a:t>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993F8-6B19-4A2D-B5AC-34E623E31D55}" type="datetime1">
              <a:rPr lang="en-US" smtClean="0"/>
              <a:t>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3141F-A16C-487C-9FEE-C29E8995DA1B}" type="datetime1">
              <a:rPr lang="en-US" smtClean="0"/>
              <a:t>2/10/2025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4C4F6-37C6-4358-B127-4FEDAF208B0C}" type="datetime1">
              <a:rPr lang="en-US" smtClean="0"/>
              <a:t>2/10/2025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9600" y="1524000"/>
            <a:ext cx="109728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4495A-ED6C-4E66-AB24-B838EB11BE5E}" type="datetime1">
              <a:rPr lang="en-US" smtClean="0"/>
              <a:t>2/10/2025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70021-C96B-4A57-BF06-CDC7E35AE0A9}" type="datetime1">
              <a:rPr lang="en-US" smtClean="0"/>
              <a:t>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FA73D-1902-4546-BB15-C264489351B0}" type="datetime1">
              <a:rPr lang="en-US" smtClean="0"/>
              <a:t>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7973B-9D80-4043-81B4-A533526188A9}" type="datetime1">
              <a:rPr lang="en-US" smtClean="0"/>
              <a:t>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7532C-C460-4357-8AA9-41AA89F0FE57}" type="datetime1">
              <a:rPr lang="en-US" smtClean="0"/>
              <a:t>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85BAF-5C34-41EE-ACD2-392C52D3E96A}" type="datetime1">
              <a:rPr lang="en-US" smtClean="0"/>
              <a:t>2/10/2025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142875"/>
            <a:ext cx="3556000" cy="1143000"/>
          </a:xfrm>
        </p:spPr>
        <p:txBody>
          <a:bodyPr anchor="ctr" anchorCtr="0"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dirty="0"/>
              <a:t>Click to add Section</a:t>
            </a:r>
          </a:p>
        </p:txBody>
      </p:sp>
    </p:spTree>
    <p:extLst>
      <p:ext uri="{BB962C8B-B14F-4D97-AF65-F5344CB8AC3E}">
        <p14:creationId xmlns:p14="http://schemas.microsoft.com/office/powerpoint/2010/main" val="33327999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AB026-CE0E-4C26-BEC1-21284FBF9E13}" type="datetime1">
              <a:rPr lang="en-US" smtClean="0"/>
              <a:t>2/10/2025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142875"/>
            <a:ext cx="3556000" cy="1143000"/>
          </a:xfrm>
        </p:spPr>
        <p:txBody>
          <a:bodyPr anchor="ctr" anchorCtr="0"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dirty="0"/>
              <a:t>Click to add Section</a:t>
            </a:r>
          </a:p>
        </p:txBody>
      </p:sp>
    </p:spTree>
    <p:extLst>
      <p:ext uri="{BB962C8B-B14F-4D97-AF65-F5344CB8AC3E}">
        <p14:creationId xmlns:p14="http://schemas.microsoft.com/office/powerpoint/2010/main" val="13880608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95B1C-5201-46AA-804F-B89EF85728E0}" type="datetime1">
              <a:rPr lang="en-US" smtClean="0"/>
              <a:t>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4035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DB4FF-D48F-4573-B91A-531BCC7FAAB6}" type="datetime1">
              <a:rPr lang="en-US" smtClean="0"/>
              <a:t>2/10/2025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142875"/>
            <a:ext cx="3556000" cy="1143000"/>
          </a:xfrm>
        </p:spPr>
        <p:txBody>
          <a:bodyPr anchor="ctr" anchorCtr="0"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dirty="0"/>
              <a:t>Click to add Section</a:t>
            </a:r>
          </a:p>
        </p:txBody>
      </p:sp>
    </p:spTree>
    <p:extLst>
      <p:ext uri="{BB962C8B-B14F-4D97-AF65-F5344CB8AC3E}">
        <p14:creationId xmlns:p14="http://schemas.microsoft.com/office/powerpoint/2010/main" val="22255921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0EFD8-F8B1-43E0-A2B3-49AE98127FDF}" type="datetime1">
              <a:rPr lang="en-US" smtClean="0"/>
              <a:t>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142875"/>
            <a:ext cx="3556000" cy="1143000"/>
          </a:xfrm>
        </p:spPr>
        <p:txBody>
          <a:bodyPr anchor="ctr" anchorCtr="0"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 dirty="0"/>
              <a:t>Click to add Section</a:t>
            </a:r>
          </a:p>
        </p:txBody>
      </p:sp>
    </p:spTree>
    <p:extLst>
      <p:ext uri="{BB962C8B-B14F-4D97-AF65-F5344CB8AC3E}">
        <p14:creationId xmlns:p14="http://schemas.microsoft.com/office/powerpoint/2010/main" val="22789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8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E1D6CDA-11BC-4FB9-AD2D-41970D93B461}"/>
              </a:ext>
            </a:extLst>
          </p:cNvPr>
          <p:cNvSpPr/>
          <p:nvPr userDrawn="1"/>
        </p:nvSpPr>
        <p:spPr>
          <a:xfrm>
            <a:off x="14400" y="182564"/>
            <a:ext cx="12158400" cy="3508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533400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828801"/>
            <a:ext cx="10972800" cy="42973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477000"/>
            <a:ext cx="2844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79AC1BBB-84A6-494A-9AEC-2F9744D754BA}" type="datetime1">
              <a:rPr lang="en-US" smtClean="0"/>
              <a:t>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477000"/>
            <a:ext cx="3860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Presented by    Dr. AKHTAR JAMIL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477000"/>
            <a:ext cx="2844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png"/><Relationship Id="rId3" Type="http://schemas.openxmlformats.org/officeDocument/2006/relationships/image" Target="../media/image19.png"/><Relationship Id="rId7" Type="http://schemas.openxmlformats.org/officeDocument/2006/relationships/image" Target="../media/image23.jpg"/><Relationship Id="rId12" Type="http://schemas.openxmlformats.org/officeDocument/2006/relationships/image" Target="../media/image28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jpg"/><Relationship Id="rId11" Type="http://schemas.openxmlformats.org/officeDocument/2006/relationships/image" Target="../media/image27.jpg"/><Relationship Id="rId5" Type="http://schemas.openxmlformats.org/officeDocument/2006/relationships/image" Target="../media/image21.jpg"/><Relationship Id="rId15" Type="http://schemas.openxmlformats.org/officeDocument/2006/relationships/image" Target="../media/image31.png"/><Relationship Id="rId10" Type="http://schemas.openxmlformats.org/officeDocument/2006/relationships/image" Target="../media/image26.jpg"/><Relationship Id="rId4" Type="http://schemas.openxmlformats.org/officeDocument/2006/relationships/image" Target="../media/image20.png"/><Relationship Id="rId9" Type="http://schemas.openxmlformats.org/officeDocument/2006/relationships/image" Target="../media/image25.jpg"/><Relationship Id="rId14" Type="http://schemas.openxmlformats.org/officeDocument/2006/relationships/image" Target="../media/image3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wmf"/><Relationship Id="rId7" Type="http://schemas.openxmlformats.org/officeDocument/2006/relationships/image" Target="../media/image37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14.x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36.wmf"/><Relationship Id="rId4" Type="http://schemas.openxmlformats.org/officeDocument/2006/relationships/oleObject" Target="../embeddings/oleObject3.bin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wmf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7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36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35.wm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wmf"/><Relationship Id="rId7" Type="http://schemas.openxmlformats.org/officeDocument/2006/relationships/image" Target="../media/image37.w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14.xml"/><Relationship Id="rId6" Type="http://schemas.openxmlformats.org/officeDocument/2006/relationships/oleObject" Target="../embeddings/oleObject10.bin"/><Relationship Id="rId5" Type="http://schemas.openxmlformats.org/officeDocument/2006/relationships/image" Target="../media/image36.wmf"/><Relationship Id="rId4" Type="http://schemas.openxmlformats.org/officeDocument/2006/relationships/oleObject" Target="../embeddings/oleObject9.bin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33120-715F-418F-9872-1E13CD85BDA5}" type="datetime1">
              <a:rPr lang="en-US" smtClean="0"/>
              <a:t>2/10/2025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Presented by    Dr. AKHTAR JAMIL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4800" y="440891"/>
            <a:ext cx="7239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/>
                </a:solidFill>
                <a:latin typeface="arial" panose="020B0604020202020204" pitchFamily="34" charset="0"/>
              </a:rPr>
              <a:t>National University of Computer and Emerging Sciences,</a:t>
            </a:r>
          </a:p>
          <a:p>
            <a:r>
              <a:rPr lang="en-US" b="1" dirty="0">
                <a:solidFill>
                  <a:schemeClr val="tx2"/>
                </a:solidFill>
                <a:latin typeface="arial" panose="020B0604020202020204" pitchFamily="34" charset="0"/>
              </a:rPr>
              <a:t>Islamabad, Pakistan</a:t>
            </a:r>
            <a:endParaRPr lang="en-US" b="1" dirty="0">
              <a:solidFill>
                <a:schemeClr val="tx2"/>
              </a:solidFill>
            </a:endParaRPr>
          </a:p>
        </p:txBody>
      </p:sp>
      <p:sp>
        <p:nvSpPr>
          <p:cNvPr id="9" name="AutoShape 8"/>
          <p:cNvSpPr>
            <a:spLocks noChangeArrowheads="1"/>
          </p:cNvSpPr>
          <p:nvPr/>
        </p:nvSpPr>
        <p:spPr bwMode="auto">
          <a:xfrm>
            <a:off x="2400301" y="2589242"/>
            <a:ext cx="7391399" cy="838201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45791" dir="3378596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spcBef>
                <a:spcPct val="50000"/>
              </a:spcBef>
            </a:pPr>
            <a:r>
              <a:rPr lang="en-US" sz="3200" dirty="0">
                <a:solidFill>
                  <a:schemeClr val="bg1"/>
                </a:solidFill>
              </a:rPr>
              <a:t>Training Multilayer Perceptron</a:t>
            </a:r>
          </a:p>
        </p:txBody>
      </p:sp>
      <p:sp>
        <p:nvSpPr>
          <p:cNvPr id="10" name="Text Box 10"/>
          <p:cNvSpPr txBox="1">
            <a:spLocks noChangeArrowheads="1"/>
          </p:cNvSpPr>
          <p:nvPr/>
        </p:nvSpPr>
        <p:spPr bwMode="auto">
          <a:xfrm>
            <a:off x="2552700" y="4829633"/>
            <a:ext cx="7086600" cy="861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2000" b="1" dirty="0" err="1">
                <a:solidFill>
                  <a:srgbClr val="002060"/>
                </a:solidFill>
                <a:latin typeface="Arial" charset="0"/>
              </a:rPr>
              <a:t>Dr.</a:t>
            </a:r>
            <a:r>
              <a:rPr lang="en-GB" sz="2000" b="1" dirty="0">
                <a:solidFill>
                  <a:srgbClr val="002060"/>
                </a:solidFill>
                <a:latin typeface="Arial" charset="0"/>
              </a:rPr>
              <a:t> Akhtar Jamil</a:t>
            </a:r>
          </a:p>
          <a:p>
            <a:pPr algn="ctr">
              <a:spcBef>
                <a:spcPct val="50000"/>
              </a:spcBef>
            </a:pPr>
            <a:r>
              <a:rPr lang="en-GB" sz="2000" b="1" dirty="0">
                <a:solidFill>
                  <a:srgbClr val="002060"/>
                </a:solidFill>
                <a:latin typeface="Arial" charset="0"/>
              </a:rPr>
              <a:t>Department of Computer Science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514600" y="3842753"/>
            <a:ext cx="7391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800" b="1" dirty="0"/>
              <a:t>CS-4025: Deep Learning for Perception</a:t>
            </a:r>
          </a:p>
        </p:txBody>
      </p:sp>
      <p:pic>
        <p:nvPicPr>
          <p:cNvPr id="4098" name="Picture 2" descr="National University of Computer and Emerging Sciences - Wikipedia">
            <a:extLst>
              <a:ext uri="{FF2B5EF4-FFF2-40B4-BE49-F238E27FC236}">
                <a16:creationId xmlns:a16="http://schemas.microsoft.com/office/drawing/2014/main" id="{E0F510F5-0228-44A0-926A-4D4211F686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1979" y="228600"/>
            <a:ext cx="1223315" cy="12233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66049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Review of Previous Lecture</a:t>
            </a:r>
          </a:p>
          <a:p>
            <a:r>
              <a:rPr lang="en-US" dirty="0">
                <a:solidFill>
                  <a:srgbClr val="00B050"/>
                </a:solidFill>
              </a:rPr>
              <a:t>Today’s Lecture</a:t>
            </a:r>
          </a:p>
          <a:p>
            <a:pPr lvl="1"/>
            <a:r>
              <a:rPr lang="en-US"/>
              <a:t>Multilayer Perceptron </a:t>
            </a:r>
            <a:endParaRPr lang="en-US" dirty="0"/>
          </a:p>
          <a:p>
            <a:pPr lvl="1"/>
            <a:r>
              <a:rPr lang="en-US" dirty="0"/>
              <a:t>Backpropagation for training Neural Networks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5CFB1-399B-4A96-B5D1-909C7FE2AC18}" type="datetime1">
              <a:rPr lang="en-US" smtClean="0"/>
              <a:t>2/10/2025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Goals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5359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89C759-126E-2A37-7298-8B08E1DF7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AB2C7-2CBA-4502-84C3-44AFE0C96515}" type="datetime1">
              <a:rPr lang="en-US" smtClean="0"/>
              <a:t>2/10/2025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C423EB-48B9-3C16-B3A8-580DF77E6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EB48EC-86D4-ADBC-C311-188DAC984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887A421-63AA-1051-B3C6-B7AAA75D9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590800"/>
            <a:ext cx="10972800" cy="838200"/>
          </a:xfrm>
        </p:spPr>
        <p:txBody>
          <a:bodyPr/>
          <a:lstStyle/>
          <a:p>
            <a:r>
              <a:rPr lang="en-US" dirty="0"/>
              <a:t>Recap of Previous Lecture</a:t>
            </a:r>
          </a:p>
        </p:txBody>
      </p:sp>
    </p:spTree>
    <p:extLst>
      <p:ext uri="{BB962C8B-B14F-4D97-AF65-F5344CB8AC3E}">
        <p14:creationId xmlns:p14="http://schemas.microsoft.com/office/powerpoint/2010/main" val="32062719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Text Box 1"/>
          <p:cNvSpPr txBox="1">
            <a:spLocks noChangeArrowheads="1"/>
          </p:cNvSpPr>
          <p:nvPr/>
        </p:nvSpPr>
        <p:spPr bwMode="auto">
          <a:xfrm>
            <a:off x="3048000" y="349758"/>
            <a:ext cx="7772400" cy="7551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91440" anchor="b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Perpetua" panose="02020502060401020303" pitchFamily="18" charset="0"/>
                <a:cs typeface="HG Mincho Light J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HG Mincho Light J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HG Mincho Light J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HG Mincho Light J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HG Mincho Light J" charset="0"/>
              </a:defRPr>
            </a:lvl5pPr>
            <a:lvl6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Perpetua" panose="02020502060401020303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HG Mincho Light J" charset="0"/>
              </a:defRPr>
            </a:lvl6pPr>
            <a:lvl7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Perpetua" panose="02020502060401020303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HG Mincho Light J" charset="0"/>
              </a:defRPr>
            </a:lvl7pPr>
            <a:lvl8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Perpetua" panose="02020502060401020303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HG Mincho Light J" charset="0"/>
              </a:defRPr>
            </a:lvl8pPr>
            <a:lvl9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Perpetua" panose="02020502060401020303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HG Mincho Light J" charset="0"/>
              </a:defRPr>
            </a:lvl9pPr>
          </a:lstStyle>
          <a:p>
            <a:pPr>
              <a:lnSpc>
                <a:spcPct val="100000"/>
              </a:lnSpc>
              <a:buClr>
                <a:srgbClr val="696464"/>
              </a:buClr>
              <a:buFont typeface="Times New Roman" panose="02020603050405020304" pitchFamily="18" charset="0"/>
              <a:buNone/>
            </a:pPr>
            <a:r>
              <a:rPr lang="en-GB" altLang="en-US" sz="4000" dirty="0">
                <a:solidFill>
                  <a:srgbClr val="6964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do our brains work?</a:t>
            </a:r>
          </a:p>
        </p:txBody>
      </p:sp>
      <p:sp>
        <p:nvSpPr>
          <p:cNvPr id="24578" name="Text Box 2"/>
          <p:cNvSpPr txBox="1">
            <a:spLocks noChangeArrowheads="1"/>
          </p:cNvSpPr>
          <p:nvPr/>
        </p:nvSpPr>
        <p:spPr bwMode="auto">
          <a:xfrm>
            <a:off x="1558834" y="914401"/>
            <a:ext cx="8686800" cy="525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271463" indent="-27146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rgbClr val="000000"/>
                </a:solidFill>
                <a:latin typeface="Perpetua" panose="02020502060401020303" pitchFamily="18" charset="0"/>
                <a:cs typeface="HG Mincho Light J" charset="0"/>
              </a:defRPr>
            </a:lvl1pPr>
            <a:lvl2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HG Mincho Light J" charset="0"/>
              </a:defRPr>
            </a:lvl2pPr>
            <a:lvl3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HG Mincho Light J" charset="0"/>
              </a:defRPr>
            </a:lvl3pPr>
            <a:lvl4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HG Mincho Light J" charset="0"/>
              </a:defRPr>
            </a:lvl4pPr>
            <a:lvl5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HG Mincho Light J" charset="0"/>
              </a:defRPr>
            </a:lvl5pPr>
            <a:lvl6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Perpetua" panose="02020502060401020303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HG Mincho Light J" charset="0"/>
              </a:defRPr>
            </a:lvl6pPr>
            <a:lvl7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Perpetua" panose="02020502060401020303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HG Mincho Light J" charset="0"/>
              </a:defRPr>
            </a:lvl7pPr>
            <a:lvl8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Perpetua" panose="02020502060401020303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HG Mincho Light J" charset="0"/>
              </a:defRPr>
            </a:lvl8pPr>
            <a:lvl9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Perpetua" panose="02020502060401020303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HG Mincho Light J" charset="0"/>
              </a:defRPr>
            </a:lvl9pPr>
          </a:lstStyle>
          <a:p>
            <a:pPr algn="ctr">
              <a:spcBef>
                <a:spcPts val="575"/>
              </a:spcBef>
              <a:buClr>
                <a:srgbClr val="D34817"/>
              </a:buClr>
              <a:buSzPct val="85000"/>
              <a:buFont typeface="Wingdings" panose="05000000000000000000" pitchFamily="2" charset="2"/>
              <a:buChar char=""/>
            </a:pPr>
            <a:r>
              <a:rPr lang="en-GB" altLang="en-US" sz="2800"/>
              <a:t>A processing element</a:t>
            </a:r>
          </a:p>
        </p:txBody>
      </p:sp>
      <p:pic>
        <p:nvPicPr>
          <p:cNvPr id="2457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1295400"/>
            <a:ext cx="6324600" cy="403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4580" name="Text Box 4"/>
          <p:cNvSpPr txBox="1">
            <a:spLocks noChangeArrowheads="1"/>
          </p:cNvSpPr>
          <p:nvPr/>
        </p:nvSpPr>
        <p:spPr bwMode="auto">
          <a:xfrm>
            <a:off x="1905000" y="5029200"/>
            <a:ext cx="8305800" cy="2654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Perpetua" panose="02020502060401020303" pitchFamily="18" charset="0"/>
                <a:cs typeface="HG Mincho Light J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HG Mincho Light J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HG Mincho Light J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HG Mincho Light J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HG Mincho Light J" charset="0"/>
              </a:defRPr>
            </a:lvl5pPr>
            <a:lvl6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Perpetua" panose="02020502060401020303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HG Mincho Light J" charset="0"/>
              </a:defRPr>
            </a:lvl6pPr>
            <a:lvl7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Perpetua" panose="02020502060401020303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HG Mincho Light J" charset="0"/>
              </a:defRPr>
            </a:lvl7pPr>
            <a:lvl8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Perpetua" panose="02020502060401020303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HG Mincho Light J" charset="0"/>
              </a:defRPr>
            </a:lvl8pPr>
            <a:lvl9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Perpetua" panose="02020502060401020303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HG Mincho Light J" charset="0"/>
              </a:defRPr>
            </a:lvl9pPr>
          </a:lstStyle>
          <a:p>
            <a:pPr algn="ctr">
              <a:lnSpc>
                <a:spcPct val="100000"/>
              </a:lnSpc>
              <a:buFont typeface="Times New Roman" panose="02020603050405020304" pitchFamily="18" charset="0"/>
              <a:buNone/>
            </a:pPr>
            <a:r>
              <a:rPr lang="en-GB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Dendrites: Input</a:t>
            </a:r>
          </a:p>
          <a:p>
            <a:pPr algn="ctr">
              <a:lnSpc>
                <a:spcPct val="100000"/>
              </a:lnSpc>
              <a:buFont typeface="Times New Roman" panose="02020603050405020304" pitchFamily="18" charset="0"/>
              <a:buNone/>
            </a:pPr>
            <a:r>
              <a:rPr lang="en-GB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Cell body: Processor</a:t>
            </a:r>
          </a:p>
          <a:p>
            <a:pPr algn="ctr">
              <a:lnSpc>
                <a:spcPct val="100000"/>
              </a:lnSpc>
              <a:buFont typeface="Times New Roman" panose="02020603050405020304" pitchFamily="18" charset="0"/>
              <a:buNone/>
            </a:pPr>
            <a:r>
              <a:rPr lang="en-GB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Synaptic: Link</a:t>
            </a:r>
          </a:p>
          <a:p>
            <a:pPr algn="ctr">
              <a:lnSpc>
                <a:spcPct val="100000"/>
              </a:lnSpc>
              <a:buFont typeface="Times New Roman" panose="02020603050405020304" pitchFamily="18" charset="0"/>
              <a:buNone/>
            </a:pPr>
            <a:r>
              <a:rPr lang="en-GB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Axon: Output</a:t>
            </a:r>
          </a:p>
          <a:p>
            <a:pPr algn="ctr">
              <a:lnSpc>
                <a:spcPct val="100000"/>
              </a:lnSpc>
            </a:pPr>
            <a:endParaRPr lang="en-GB" altLang="en-US" sz="2400"/>
          </a:p>
          <a:p>
            <a:pPr algn="ctr">
              <a:lnSpc>
                <a:spcPct val="100000"/>
              </a:lnSpc>
            </a:pPr>
            <a:endParaRPr lang="en-GB" altLang="en-US" sz="2400"/>
          </a:p>
          <a:p>
            <a:pPr algn="ctr">
              <a:lnSpc>
                <a:spcPct val="100000"/>
              </a:lnSpc>
            </a:pPr>
            <a:endParaRPr lang="en-GB" altLang="en-US" sz="240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61FE3-9CF6-4430-8CB1-F49F354444C9}" type="datetime1">
              <a:rPr lang="en-US" smtClean="0"/>
              <a:t>2/10/2025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990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AA89A52-03E3-01BD-FC53-028E4E17F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989E2-4ED5-4BF1-AEA4-88D085497D6B}" type="slidenum">
              <a:rPr lang="he-IL" altLang="en-US"/>
              <a:pPr/>
              <a:t>5</a:t>
            </a:fld>
            <a:endParaRPr lang="en-US" altLang="en-US"/>
          </a:p>
        </p:txBody>
      </p:sp>
      <p:sp>
        <p:nvSpPr>
          <p:cNvPr id="109570" name="Rectangle 2">
            <a:extLst>
              <a:ext uri="{FF2B5EF4-FFF2-40B4-BE49-F238E27FC236}">
                <a16:creationId xmlns:a16="http://schemas.microsoft.com/office/drawing/2014/main" id="{99F47E47-85CA-80CB-22A4-7CB8E05C89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304800"/>
            <a:ext cx="7467600" cy="99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ctr"/>
          <a:lstStyle/>
          <a:p>
            <a:pPr eaLnBrk="0" hangingPunct="0"/>
            <a:r>
              <a:rPr lang="en-GB" altLang="en-US" sz="4400" b="1">
                <a:solidFill>
                  <a:schemeClr val="tx2"/>
                </a:solidFill>
              </a:rPr>
              <a:t>An Artificial Neuron</a:t>
            </a:r>
          </a:p>
        </p:txBody>
      </p:sp>
      <p:sp>
        <p:nvSpPr>
          <p:cNvPr id="109571" name="Rectangle 3">
            <a:extLst>
              <a:ext uri="{FF2B5EF4-FFF2-40B4-BE49-F238E27FC236}">
                <a16:creationId xmlns:a16="http://schemas.microsoft.com/office/drawing/2014/main" id="{B47F16B4-BFD1-D19B-79E6-713C051B63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3810000"/>
            <a:ext cx="8458200" cy="2590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  <a:buFontTx/>
              <a:buChar char="•"/>
            </a:pPr>
            <a:r>
              <a:rPr lang="en-GB" altLang="en-US" dirty="0">
                <a:solidFill>
                  <a:srgbClr val="FF0000"/>
                </a:solidFill>
                <a:latin typeface="Tahoma" panose="020B0604030504040204" pitchFamily="34" charset="0"/>
              </a:rPr>
              <a:t>Each neuron has weighted input connections </a:t>
            </a:r>
            <a:r>
              <a:rPr lang="en-GB" altLang="en-US" dirty="0">
                <a:latin typeface="Tahoma" panose="020B0604030504040204" pitchFamily="34" charset="0"/>
              </a:rPr>
              <a:t>from each of the units in the preceding layer.</a:t>
            </a:r>
          </a:p>
          <a:p>
            <a:pPr>
              <a:spcBef>
                <a:spcPct val="20000"/>
              </a:spcBef>
              <a:buFontTx/>
              <a:buChar char="•"/>
            </a:pPr>
            <a:r>
              <a:rPr lang="en-GB" altLang="en-US" dirty="0">
                <a:latin typeface="Tahoma" panose="020B0604030504040204" pitchFamily="34" charset="0"/>
              </a:rPr>
              <a:t>The unit performs a </a:t>
            </a:r>
            <a:r>
              <a:rPr lang="en-GB" altLang="en-US" dirty="0">
                <a:solidFill>
                  <a:srgbClr val="FF0000"/>
                </a:solidFill>
                <a:latin typeface="Tahoma" panose="020B0604030504040204" pitchFamily="34" charset="0"/>
              </a:rPr>
              <a:t>weighted sum of its inputs</a:t>
            </a:r>
            <a:r>
              <a:rPr lang="en-GB" altLang="en-US" dirty="0">
                <a:latin typeface="Tahoma" panose="020B0604030504040204" pitchFamily="34" charset="0"/>
              </a:rPr>
              <a:t>, to give its activation level.</a:t>
            </a:r>
          </a:p>
          <a:p>
            <a:pPr>
              <a:spcBef>
                <a:spcPct val="20000"/>
              </a:spcBef>
              <a:buFontTx/>
              <a:buChar char="•"/>
            </a:pPr>
            <a:r>
              <a:rPr lang="en-GB" altLang="en-US" dirty="0">
                <a:latin typeface="Tahoma" panose="020B0604030504040204" pitchFamily="34" charset="0"/>
              </a:rPr>
              <a:t>Activation level is passed through a </a:t>
            </a:r>
            <a:r>
              <a:rPr lang="en-GB" altLang="en-US" dirty="0">
                <a:solidFill>
                  <a:srgbClr val="FF0000"/>
                </a:solidFill>
                <a:latin typeface="Tahoma" panose="020B0604030504040204" pitchFamily="34" charset="0"/>
              </a:rPr>
              <a:t>sigmoid activation function to determine output</a:t>
            </a:r>
            <a:r>
              <a:rPr lang="en-GB" altLang="en-US" dirty="0">
                <a:latin typeface="Tahoma" panose="020B0604030504040204" pitchFamily="34" charset="0"/>
              </a:rPr>
              <a:t>.</a:t>
            </a:r>
          </a:p>
        </p:txBody>
      </p:sp>
      <p:sp>
        <p:nvSpPr>
          <p:cNvPr id="109592" name="Rectangle 24">
            <a:extLst>
              <a:ext uri="{FF2B5EF4-FFF2-40B4-BE49-F238E27FC236}">
                <a16:creationId xmlns:a16="http://schemas.microsoft.com/office/drawing/2014/main" id="{F8EABBED-62C0-EF54-256E-75302B71A8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800" y="1524000"/>
            <a:ext cx="4953000" cy="2209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09572" name="Group 4">
            <a:extLst>
              <a:ext uri="{FF2B5EF4-FFF2-40B4-BE49-F238E27FC236}">
                <a16:creationId xmlns:a16="http://schemas.microsoft.com/office/drawing/2014/main" id="{8E90C9F6-57B2-F4C8-40E9-F050F3B28E76}"/>
              </a:ext>
            </a:extLst>
          </p:cNvPr>
          <p:cNvGrpSpPr>
            <a:grpSpLocks/>
          </p:cNvGrpSpPr>
          <p:nvPr/>
        </p:nvGrpSpPr>
        <p:grpSpPr bwMode="auto">
          <a:xfrm>
            <a:off x="3871914" y="1585914"/>
            <a:ext cx="4387849" cy="1966913"/>
            <a:chOff x="1479" y="999"/>
            <a:chExt cx="2764" cy="1239"/>
          </a:xfrm>
        </p:grpSpPr>
        <p:sp>
          <p:nvSpPr>
            <p:cNvPr id="109573" name="Oval 5">
              <a:extLst>
                <a:ext uri="{FF2B5EF4-FFF2-40B4-BE49-F238E27FC236}">
                  <a16:creationId xmlns:a16="http://schemas.microsoft.com/office/drawing/2014/main" id="{83669403-2A66-68C9-E750-A61A9B6CB3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4" y="1348"/>
              <a:ext cx="856" cy="76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9574" name="Line 6">
              <a:extLst>
                <a:ext uri="{FF2B5EF4-FFF2-40B4-BE49-F238E27FC236}">
                  <a16:creationId xmlns:a16="http://schemas.microsoft.com/office/drawing/2014/main" id="{595B23DF-548F-74FA-E099-34A2F2C47E0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776" y="1200"/>
              <a:ext cx="720" cy="2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575" name="Line 7">
              <a:extLst>
                <a:ext uri="{FF2B5EF4-FFF2-40B4-BE49-F238E27FC236}">
                  <a16:creationId xmlns:a16="http://schemas.microsoft.com/office/drawing/2014/main" id="{FCCFB388-6977-EC0D-312F-5EDB5942FAE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728" y="1488"/>
              <a:ext cx="672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576" name="Line 8">
              <a:extLst>
                <a:ext uri="{FF2B5EF4-FFF2-40B4-BE49-F238E27FC236}">
                  <a16:creationId xmlns:a16="http://schemas.microsoft.com/office/drawing/2014/main" id="{0506E528-5B70-1BB6-66C4-89056B342A6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76" y="1728"/>
              <a:ext cx="624" cy="4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577" name="Line 9">
              <a:extLst>
                <a:ext uri="{FF2B5EF4-FFF2-40B4-BE49-F238E27FC236}">
                  <a16:creationId xmlns:a16="http://schemas.microsoft.com/office/drawing/2014/main" id="{8AD410A3-FBFF-6FFF-00FE-2BD94E596F5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76" y="1968"/>
              <a:ext cx="672" cy="2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578" name="Rectangle 10">
              <a:extLst>
                <a:ext uri="{FF2B5EF4-FFF2-40B4-BE49-F238E27FC236}">
                  <a16:creationId xmlns:a16="http://schemas.microsoft.com/office/drawing/2014/main" id="{37AFDB7A-EAA6-EDEB-F843-75AC616474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1" y="1095"/>
              <a:ext cx="30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GB" altLang="en-US" b="1">
                  <a:latin typeface="Times New Roman" panose="02020603050405020304" pitchFamily="18" charset="0"/>
                </a:rPr>
                <a:t>w</a:t>
              </a:r>
              <a:r>
                <a:rPr lang="en-GB" altLang="en-US" b="1" baseline="-25000">
                  <a:latin typeface="Times New Roman" panose="02020603050405020304" pitchFamily="18" charset="0"/>
                </a:rPr>
                <a:t>1j</a:t>
              </a:r>
            </a:p>
          </p:txBody>
        </p:sp>
        <p:sp>
          <p:nvSpPr>
            <p:cNvPr id="109579" name="Rectangle 11">
              <a:extLst>
                <a:ext uri="{FF2B5EF4-FFF2-40B4-BE49-F238E27FC236}">
                  <a16:creationId xmlns:a16="http://schemas.microsoft.com/office/drawing/2014/main" id="{FC4887A1-F529-0EC2-5DEB-6225464D9B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11" y="1249"/>
              <a:ext cx="36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 eaLnBrk="0" hangingPunct="0"/>
              <a:r>
                <a:rPr lang="en-GB" altLang="en-US" b="1">
                  <a:latin typeface="Times New Roman" panose="02020603050405020304" pitchFamily="18" charset="0"/>
                </a:rPr>
                <a:t>w</a:t>
              </a:r>
              <a:r>
                <a:rPr lang="en-GB" altLang="en-US" b="1" baseline="-25000">
                  <a:latin typeface="Times New Roman" panose="02020603050405020304" pitchFamily="18" charset="0"/>
                </a:rPr>
                <a:t>2j</a:t>
              </a:r>
            </a:p>
          </p:txBody>
        </p:sp>
        <p:sp>
          <p:nvSpPr>
            <p:cNvPr id="109580" name="Rectangle 12">
              <a:extLst>
                <a:ext uri="{FF2B5EF4-FFF2-40B4-BE49-F238E27FC236}">
                  <a16:creationId xmlns:a16="http://schemas.microsoft.com/office/drawing/2014/main" id="{5D148AB6-8680-9582-EF01-E6DC80ADFD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5" y="1479"/>
              <a:ext cx="30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GB" altLang="en-US" b="1">
                  <a:latin typeface="Times New Roman" panose="02020603050405020304" pitchFamily="18" charset="0"/>
                </a:rPr>
                <a:t>w</a:t>
              </a:r>
              <a:r>
                <a:rPr lang="en-GB" altLang="en-US" b="1" baseline="-25000">
                  <a:latin typeface="Times New Roman" panose="02020603050405020304" pitchFamily="18" charset="0"/>
                </a:rPr>
                <a:t>3j</a:t>
              </a:r>
            </a:p>
          </p:txBody>
        </p:sp>
        <p:sp>
          <p:nvSpPr>
            <p:cNvPr id="109581" name="Rectangle 13">
              <a:extLst>
                <a:ext uri="{FF2B5EF4-FFF2-40B4-BE49-F238E27FC236}">
                  <a16:creationId xmlns:a16="http://schemas.microsoft.com/office/drawing/2014/main" id="{558B0E70-6A58-9D1E-858A-0AAB851EBC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03" y="2007"/>
              <a:ext cx="28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GB" altLang="en-US" b="1">
                  <a:latin typeface="Times New Roman" panose="02020603050405020304" pitchFamily="18" charset="0"/>
                </a:rPr>
                <a:t>w</a:t>
              </a:r>
              <a:r>
                <a:rPr lang="en-GB" altLang="en-US" b="1" baseline="-25000">
                  <a:latin typeface="Times New Roman" panose="02020603050405020304" pitchFamily="18" charset="0"/>
                </a:rPr>
                <a:t>ij</a:t>
              </a:r>
            </a:p>
          </p:txBody>
        </p:sp>
        <p:sp>
          <p:nvSpPr>
            <p:cNvPr id="109582" name="Rectangle 14">
              <a:extLst>
                <a:ext uri="{FF2B5EF4-FFF2-40B4-BE49-F238E27FC236}">
                  <a16:creationId xmlns:a16="http://schemas.microsoft.com/office/drawing/2014/main" id="{1D2D8329-84D5-19C3-571A-478D63DC9C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9" y="999"/>
              <a:ext cx="23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GB" altLang="en-US" b="1">
                  <a:latin typeface="Times New Roman" panose="02020603050405020304" pitchFamily="18" charset="0"/>
                </a:rPr>
                <a:t>y</a:t>
              </a:r>
              <a:r>
                <a:rPr lang="en-GB" altLang="en-US" b="1" baseline="-250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09583" name="Rectangle 15">
              <a:extLst>
                <a:ext uri="{FF2B5EF4-FFF2-40B4-BE49-F238E27FC236}">
                  <a16:creationId xmlns:a16="http://schemas.microsoft.com/office/drawing/2014/main" id="{C9F85AEB-0F58-48B3-D79B-092A87A924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9" y="1335"/>
              <a:ext cx="23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GB" altLang="en-US" b="1">
                  <a:latin typeface="Times New Roman" panose="02020603050405020304" pitchFamily="18" charset="0"/>
                </a:rPr>
                <a:t>y</a:t>
              </a:r>
              <a:r>
                <a:rPr lang="en-GB" altLang="en-US" b="1" baseline="-2500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109584" name="Rectangle 16">
              <a:extLst>
                <a:ext uri="{FF2B5EF4-FFF2-40B4-BE49-F238E27FC236}">
                  <a16:creationId xmlns:a16="http://schemas.microsoft.com/office/drawing/2014/main" id="{CA5358C6-DA10-A709-2CBE-38B86DD3E2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9" y="1671"/>
              <a:ext cx="23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GB" altLang="en-US" b="1">
                  <a:latin typeface="Times New Roman" panose="02020603050405020304" pitchFamily="18" charset="0"/>
                </a:rPr>
                <a:t>y</a:t>
              </a:r>
              <a:r>
                <a:rPr lang="en-GB" altLang="en-US" b="1" baseline="-25000"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109585" name="Rectangle 17">
              <a:extLst>
                <a:ext uri="{FF2B5EF4-FFF2-40B4-BE49-F238E27FC236}">
                  <a16:creationId xmlns:a16="http://schemas.microsoft.com/office/drawing/2014/main" id="{D53388F5-CA2E-9F97-C6CF-2620512A2F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7" y="2007"/>
              <a:ext cx="21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GB" altLang="en-US" b="1">
                  <a:latin typeface="Times New Roman" panose="02020603050405020304" pitchFamily="18" charset="0"/>
                </a:rPr>
                <a:t>y</a:t>
              </a:r>
              <a:r>
                <a:rPr lang="en-GB" altLang="en-US" b="1" baseline="-25000">
                  <a:latin typeface="Times New Roman" panose="02020603050405020304" pitchFamily="18" charset="0"/>
                </a:rPr>
                <a:t>i</a:t>
              </a:r>
            </a:p>
          </p:txBody>
        </p:sp>
        <p:sp>
          <p:nvSpPr>
            <p:cNvPr id="109586" name="Line 18">
              <a:extLst>
                <a:ext uri="{FF2B5EF4-FFF2-40B4-BE49-F238E27FC236}">
                  <a16:creationId xmlns:a16="http://schemas.microsoft.com/office/drawing/2014/main" id="{126E7197-F1FB-7577-B228-6E5DF64D7B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4" y="1824"/>
              <a:ext cx="0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587" name="Line 19">
              <a:extLst>
                <a:ext uri="{FF2B5EF4-FFF2-40B4-BE49-F238E27FC236}">
                  <a16:creationId xmlns:a16="http://schemas.microsoft.com/office/drawing/2014/main" id="{6378609E-249E-C460-9444-0338CB552F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2" y="1344"/>
              <a:ext cx="0" cy="76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aphicFrame>
          <p:nvGraphicFramePr>
            <p:cNvPr id="109588" name="Object 20">
              <a:hlinkClick r:id="" action="ppaction://ole?verb=0"/>
              <a:extLst>
                <a:ext uri="{FF2B5EF4-FFF2-40B4-BE49-F238E27FC236}">
                  <a16:creationId xmlns:a16="http://schemas.microsoft.com/office/drawing/2014/main" id="{4945F656-AD6D-9CBF-7260-7BB11DFEAE6D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2488" y="1536"/>
            <a:ext cx="719" cy="5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483840" imgH="358560" progId="Equation.2">
                    <p:embed/>
                  </p:oleObj>
                </mc:Choice>
                <mc:Fallback>
                  <p:oleObj name="Equation" r:id="rId2" imgW="483840" imgH="358560" progId="Equation.2">
                    <p:embed/>
                    <p:pic>
                      <p:nvPicPr>
                        <p:cNvPr id="109588" name="Object 20">
                          <a:hlinkClick r:id="" action="ppaction://ole?verb=0"/>
                          <a:extLst>
                            <a:ext uri="{FF2B5EF4-FFF2-40B4-BE49-F238E27FC236}">
                              <a16:creationId xmlns:a16="http://schemas.microsoft.com/office/drawing/2014/main" id="{4945F656-AD6D-9CBF-7260-7BB11DFEAE6D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88" y="1536"/>
                          <a:ext cx="719" cy="5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9589" name="Rectangle 21">
              <a:extLst>
                <a:ext uri="{FF2B5EF4-FFF2-40B4-BE49-F238E27FC236}">
                  <a16:creationId xmlns:a16="http://schemas.microsoft.com/office/drawing/2014/main" id="{5F351B24-7EFC-6B17-06DA-57E296FBFC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1546"/>
              <a:ext cx="455" cy="3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GB" altLang="en-US" sz="2800" b="1" i="1">
                  <a:latin typeface="Times New Roman" panose="02020603050405020304" pitchFamily="18" charset="0"/>
                </a:rPr>
                <a:t>f</a:t>
              </a:r>
              <a:r>
                <a:rPr lang="en-GB" altLang="en-US" sz="2800" b="1">
                  <a:latin typeface="Times New Roman" panose="02020603050405020304" pitchFamily="18" charset="0"/>
                </a:rPr>
                <a:t>(x)</a:t>
              </a:r>
            </a:p>
          </p:txBody>
        </p:sp>
        <p:sp>
          <p:nvSpPr>
            <p:cNvPr id="109590" name="Line 22">
              <a:extLst>
                <a:ext uri="{FF2B5EF4-FFF2-40B4-BE49-F238E27FC236}">
                  <a16:creationId xmlns:a16="http://schemas.microsoft.com/office/drawing/2014/main" id="{ADBE2C41-9FB4-587A-8D91-59FC7C5337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4" y="1728"/>
              <a:ext cx="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591" name="Rectangle 23">
              <a:extLst>
                <a:ext uri="{FF2B5EF4-FFF2-40B4-BE49-F238E27FC236}">
                  <a16:creationId xmlns:a16="http://schemas.microsoft.com/office/drawing/2014/main" id="{3F9202B5-5C36-81A9-0786-693FB703DB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7" y="1566"/>
              <a:ext cx="316" cy="3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GB" altLang="en-US" sz="3200" b="1">
                  <a:latin typeface="Times New Roman" panose="02020603050405020304" pitchFamily="18" charset="0"/>
                </a:rPr>
                <a:t>O</a:t>
              </a:r>
            </a:p>
          </p:txBody>
        </p:sp>
      </p:grp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C90FE26-30CF-405D-8E6B-B7AE66125F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14600" y="2062940"/>
            <a:ext cx="7113814" cy="3575860"/>
          </a:xfr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568662-8C84-4336-A666-02D6D06AB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FF301-CFDA-4A4B-9CA4-7231BB051C13}" type="datetime1">
              <a:rPr lang="en-US" smtClean="0"/>
              <a:t>2/10/2025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94EC44-52B5-4886-9AE9-B27293F6B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3EE035-F292-49A6-B6A0-9F56BAD09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42BD95D-97CB-46F2-8FEF-0091B82B3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Rosenblatt's perceptron model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89855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F14C722-CA1F-4CE6-A952-112D63E3B2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21276" y="1828800"/>
            <a:ext cx="8041523" cy="3772694"/>
          </a:xfr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EEF218-AE3E-417E-B316-764D7BBF3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54C3-5091-4395-8E0A-00311E6C739E}" type="datetime1">
              <a:rPr lang="en-US" smtClean="0"/>
              <a:t>2/10/2025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E36393-B10D-4D77-A356-0A2C13B44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563275-DE0E-486C-80E8-5399D1848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1E1B552-1DA3-42A7-8453-24CA155FE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Rosenblatt's perceptron model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5403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3B04D4-CF26-4C39-7332-A444900BE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AB2C7-2CBA-4502-84C3-44AFE0C96515}" type="datetime1">
              <a:rPr lang="en-US" smtClean="0"/>
              <a:t>2/10/2025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F31FF2-0532-E6F7-1885-A3BFE498A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DC5A62-9272-28CA-C20F-425893CEE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D59CFE6-2FDA-A4E0-E675-B3D7D1318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583024"/>
            <a:ext cx="10972800" cy="838200"/>
          </a:xfrm>
        </p:spPr>
        <p:txBody>
          <a:bodyPr/>
          <a:lstStyle/>
          <a:p>
            <a:r>
              <a:rPr lang="en-US" dirty="0"/>
              <a:t>Today’s Lecture</a:t>
            </a:r>
          </a:p>
        </p:txBody>
      </p:sp>
    </p:spTree>
    <p:extLst>
      <p:ext uri="{BB962C8B-B14F-4D97-AF65-F5344CB8AC3E}">
        <p14:creationId xmlns:p14="http://schemas.microsoft.com/office/powerpoint/2010/main" val="15736739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62CF026-B6FB-42B0-8F5B-42F8C30735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Need a </a:t>
            </a:r>
            <a:r>
              <a:rPr lang="en-US" dirty="0">
                <a:solidFill>
                  <a:srgbClr val="00B0F0"/>
                </a:solidFill>
              </a:rPr>
              <a:t>complex model to understand complex patterns</a:t>
            </a:r>
            <a:r>
              <a:rPr lang="en-US" dirty="0"/>
              <a:t>, such as object detection, face recognition, etc.</a:t>
            </a:r>
          </a:p>
          <a:p>
            <a:r>
              <a:rPr lang="en-US" dirty="0"/>
              <a:t>Most commonly used architecture is known as the </a:t>
            </a:r>
            <a:r>
              <a:rPr lang="en-US" dirty="0">
                <a:solidFill>
                  <a:srgbClr val="FF0000"/>
                </a:solidFill>
              </a:rPr>
              <a:t>multilayer perceptron</a:t>
            </a:r>
            <a:r>
              <a:rPr lang="en-US" dirty="0"/>
              <a:t>.</a:t>
            </a:r>
          </a:p>
          <a:p>
            <a:r>
              <a:rPr lang="en-US" dirty="0"/>
              <a:t>Basic features of MLP</a:t>
            </a:r>
          </a:p>
          <a:p>
            <a:pPr lvl="1"/>
            <a:r>
              <a:rPr lang="en-US" dirty="0"/>
              <a:t>A differentiable </a:t>
            </a:r>
            <a:r>
              <a:rPr lang="en-US" dirty="0">
                <a:solidFill>
                  <a:srgbClr val="00B050"/>
                </a:solidFill>
              </a:rPr>
              <a:t>nonlinear activation function</a:t>
            </a:r>
          </a:p>
          <a:p>
            <a:pPr lvl="1"/>
            <a:r>
              <a:rPr lang="en-US" dirty="0"/>
              <a:t>One or more hidden layers</a:t>
            </a:r>
          </a:p>
          <a:p>
            <a:pPr lvl="1"/>
            <a:r>
              <a:rPr lang="en-US" dirty="0"/>
              <a:t>High degree of connectivity (fully connected)</a:t>
            </a:r>
          </a:p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60E874-43FF-4FF8-B5CB-76A5EE556A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B5BC9-A761-4B59-8E91-1EB2A64E0CA4}" type="datetime1">
              <a:rPr lang="en-US" smtClean="0"/>
              <a:t>2/10/2025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99A8B2-3648-4261-B1B0-A5DEFFF97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14A1AC-EE1C-433A-9255-E53220C86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DC80F30-9525-4288-83BD-ABFDB94A0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ANN: Multi-Layer Perceptron</a:t>
            </a:r>
          </a:p>
        </p:txBody>
      </p:sp>
    </p:spTree>
    <p:extLst>
      <p:ext uri="{BB962C8B-B14F-4D97-AF65-F5344CB8AC3E}">
        <p14:creationId xmlns:p14="http://schemas.microsoft.com/office/powerpoint/2010/main" val="32463808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B4715D0-8025-490B-B0C0-03776C78B5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69497" y="1919332"/>
            <a:ext cx="8841303" cy="4176667"/>
          </a:xfr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39EB50-CD36-46BE-B45E-5DEDB418D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39675-778C-414C-8367-A5F72472AF6A}" type="datetime1">
              <a:rPr lang="en-US" smtClean="0"/>
              <a:t>2/10/2025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B3CF2B-6247-4A03-AFD2-BC13DCC3F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5016DC-FF7A-4BAA-BCDA-35D7AA076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DAAE54E-7048-422F-B32F-0FD5F0940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Artificial Neural Network</a:t>
            </a:r>
          </a:p>
        </p:txBody>
      </p:sp>
    </p:spTree>
    <p:extLst>
      <p:ext uri="{BB962C8B-B14F-4D97-AF65-F5344CB8AC3E}">
        <p14:creationId xmlns:p14="http://schemas.microsoft.com/office/powerpoint/2010/main" val="39190152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91F54C5-3C69-46EE-B7EB-65244ED72A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dirty="0">
                <a:latin typeface="TimesTen-Roman"/>
              </a:rPr>
              <a:t>A popular method for the training of multilayer perceptron is the </a:t>
            </a:r>
            <a:r>
              <a:rPr lang="en-US" sz="2600" dirty="0">
                <a:solidFill>
                  <a:srgbClr val="FF0000"/>
                </a:solidFill>
                <a:latin typeface="TimesTen-Roman"/>
              </a:rPr>
              <a:t>back-propagation algorithm (Generalized Delta Rule)</a:t>
            </a:r>
          </a:p>
          <a:p>
            <a:pPr algn="l"/>
            <a:r>
              <a:rPr lang="en-US" sz="2600" b="1" dirty="0">
                <a:latin typeface="TimesTen-Italic"/>
              </a:rPr>
              <a:t>Forward phase</a:t>
            </a:r>
            <a:r>
              <a:rPr lang="en-US" sz="2600" dirty="0">
                <a:latin typeface="TimesTen-Roman"/>
              </a:rPr>
              <a:t>: </a:t>
            </a:r>
          </a:p>
          <a:p>
            <a:pPr lvl="1"/>
            <a:r>
              <a:rPr lang="en-US" sz="2600" dirty="0">
                <a:latin typeface="TimesTen-Roman"/>
              </a:rPr>
              <a:t>The input data is </a:t>
            </a:r>
            <a:r>
              <a:rPr lang="en-US" sz="2600" dirty="0">
                <a:solidFill>
                  <a:srgbClr val="0070C0"/>
                </a:solidFill>
                <a:latin typeface="TimesTen-Roman"/>
              </a:rPr>
              <a:t>propagated through the network</a:t>
            </a:r>
            <a:r>
              <a:rPr lang="en-US" sz="2600" dirty="0">
                <a:latin typeface="TimesTen-Roman"/>
              </a:rPr>
              <a:t>, layer by layer, until it reaches the output.</a:t>
            </a:r>
          </a:p>
          <a:p>
            <a:pPr algn="l"/>
            <a:r>
              <a:rPr lang="en-US" sz="2600" b="1" dirty="0">
                <a:latin typeface="TimesTen-Italic"/>
              </a:rPr>
              <a:t>Backward phase: </a:t>
            </a:r>
          </a:p>
          <a:p>
            <a:pPr lvl="1"/>
            <a:r>
              <a:rPr lang="en-US" sz="2600" dirty="0">
                <a:latin typeface="TimesTen-Roman"/>
              </a:rPr>
              <a:t>An </a:t>
            </a:r>
            <a:r>
              <a:rPr lang="en-US" sz="2600" dirty="0">
                <a:solidFill>
                  <a:srgbClr val="0070C0"/>
                </a:solidFill>
                <a:latin typeface="TimesTen-Roman"/>
              </a:rPr>
              <a:t>error is calculated </a:t>
            </a:r>
            <a:r>
              <a:rPr lang="en-US" sz="2600" dirty="0">
                <a:latin typeface="TimesTen-Roman"/>
              </a:rPr>
              <a:t>by comparing the output of the network with a desired response.</a:t>
            </a:r>
          </a:p>
          <a:p>
            <a:pPr lvl="1"/>
            <a:r>
              <a:rPr lang="en-US" sz="2600" dirty="0">
                <a:latin typeface="TimesTen-Roman"/>
              </a:rPr>
              <a:t>This </a:t>
            </a:r>
            <a:r>
              <a:rPr lang="en-US" sz="2600" dirty="0">
                <a:solidFill>
                  <a:srgbClr val="0070C0"/>
                </a:solidFill>
                <a:latin typeface="TimesTen-Roman"/>
              </a:rPr>
              <a:t>error is propagated </a:t>
            </a:r>
            <a:r>
              <a:rPr lang="en-US" sz="2600" dirty="0">
                <a:latin typeface="TimesTen-Roman"/>
              </a:rPr>
              <a:t>through the network in </a:t>
            </a:r>
            <a:r>
              <a:rPr lang="en-US" sz="2600" dirty="0">
                <a:solidFill>
                  <a:srgbClr val="00B0F0"/>
                </a:solidFill>
                <a:latin typeface="TimesTen-Roman"/>
              </a:rPr>
              <a:t>backward direction</a:t>
            </a:r>
            <a:r>
              <a:rPr lang="en-US" sz="2600" dirty="0">
                <a:latin typeface="TimesTen-Roman"/>
              </a:rPr>
              <a:t>.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B5E69A-379B-4A7E-A84A-A3AFFB924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73BAE-7477-4164-BA37-ED73D50EEFB0}" type="datetime1">
              <a:rPr lang="en-US" smtClean="0"/>
              <a:t>2/10/2025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7458F0-213A-4833-9913-88F2BC6DD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598D44-A060-4A5A-90EF-C066886E4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FB5CFDD-C45E-4A19-998B-6104B2387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Artificial Neural Network</a:t>
            </a:r>
          </a:p>
        </p:txBody>
      </p:sp>
    </p:spTree>
    <p:extLst>
      <p:ext uri="{BB962C8B-B14F-4D97-AF65-F5344CB8AC3E}">
        <p14:creationId xmlns:p14="http://schemas.microsoft.com/office/powerpoint/2010/main" val="4718637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B49FB01-7429-4DB5-BE43-99FF9D462E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b="0" i="0" u="none" strike="noStrike" baseline="0" dirty="0">
                <a:latin typeface="CMR10"/>
              </a:rPr>
              <a:t>Network </a:t>
            </a:r>
            <a:r>
              <a:rPr lang="en-US" b="0" i="0" u="none" strike="noStrike" baseline="0" dirty="0">
                <a:solidFill>
                  <a:srgbClr val="00B050"/>
                </a:solidFill>
                <a:latin typeface="CMR10"/>
              </a:rPr>
              <a:t>architecture or topology </a:t>
            </a:r>
            <a:r>
              <a:rPr lang="en-US" b="0" i="0" u="none" strike="noStrike" baseline="0" dirty="0">
                <a:latin typeface="CMR10"/>
              </a:rPr>
              <a:t>plays an important role for neural net classification.</a:t>
            </a:r>
          </a:p>
          <a:p>
            <a:pPr lvl="1"/>
            <a:r>
              <a:rPr lang="en-US" sz="2800" dirty="0">
                <a:solidFill>
                  <a:srgbClr val="FF0000"/>
                </a:solidFill>
                <a:latin typeface="CMR10"/>
              </a:rPr>
              <a:t>Optimal topology </a:t>
            </a:r>
            <a:r>
              <a:rPr lang="en-US" sz="2800" dirty="0">
                <a:latin typeface="CMR10"/>
              </a:rPr>
              <a:t>for the problem at hand.</a:t>
            </a:r>
          </a:p>
          <a:p>
            <a:pPr algn="l"/>
            <a:r>
              <a:rPr lang="en-US" b="0" i="0" u="none" strike="noStrike" baseline="0" dirty="0">
                <a:solidFill>
                  <a:srgbClr val="7030A0"/>
                </a:solidFill>
                <a:latin typeface="CMR10"/>
              </a:rPr>
              <a:t>Empirically find the network architectures </a:t>
            </a:r>
          </a:p>
          <a:p>
            <a:pPr lvl="1"/>
            <a:r>
              <a:rPr lang="en-US" sz="2800" dirty="0">
                <a:latin typeface="CMR10"/>
              </a:rPr>
              <a:t>The number of </a:t>
            </a:r>
            <a:r>
              <a:rPr lang="en-US" sz="2800" dirty="0">
                <a:solidFill>
                  <a:srgbClr val="00B0F0"/>
                </a:solidFill>
                <a:latin typeface="CMR10"/>
              </a:rPr>
              <a:t>hidden layers, units, feedback connections</a:t>
            </a:r>
            <a:r>
              <a:rPr lang="en-US" sz="2800" dirty="0">
                <a:latin typeface="CMR10"/>
              </a:rPr>
              <a:t>, and so on. </a:t>
            </a:r>
          </a:p>
          <a:p>
            <a:r>
              <a:rPr lang="en-US" b="0" i="0" u="none" strike="noStrike" baseline="0" dirty="0">
                <a:solidFill>
                  <a:srgbClr val="FF0000"/>
                </a:solidFill>
                <a:latin typeface="CMR10"/>
              </a:rPr>
              <a:t>Selecting models </a:t>
            </a:r>
            <a:r>
              <a:rPr lang="en-US" b="0" i="0" u="none" strike="noStrike" baseline="0" dirty="0">
                <a:latin typeface="CMR10"/>
              </a:rPr>
              <a:t>(network topologies) and </a:t>
            </a:r>
            <a:r>
              <a:rPr lang="en-US" b="0" i="0" u="none" strike="noStrike" baseline="0" dirty="0">
                <a:solidFill>
                  <a:srgbClr val="FF0000"/>
                </a:solidFill>
                <a:latin typeface="CMR10"/>
              </a:rPr>
              <a:t>estimating parameters </a:t>
            </a:r>
            <a:r>
              <a:rPr lang="en-US" b="0" i="0" u="none" strike="noStrike" baseline="0" dirty="0">
                <a:latin typeface="CMR10"/>
              </a:rPr>
              <a:t>(training via backpropagation) enable you to try out </a:t>
            </a:r>
            <a:r>
              <a:rPr lang="en-US" b="0" i="0" u="none" strike="noStrike" baseline="0" dirty="0">
                <a:solidFill>
                  <a:srgbClr val="0070C0"/>
                </a:solidFill>
                <a:latin typeface="CMR10"/>
              </a:rPr>
              <a:t>alternate models</a:t>
            </a:r>
            <a:r>
              <a:rPr lang="en-US" b="0" i="0" u="none" strike="noStrike" baseline="0" dirty="0">
                <a:latin typeface="CMR10"/>
              </a:rPr>
              <a:t>.</a:t>
            </a:r>
          </a:p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F5FCBE-BBC0-49B3-B336-572FDD04C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B6A4C-CB9B-4335-BF1E-9EAD7CF30668}" type="datetime1">
              <a:rPr lang="en-US" smtClean="0"/>
              <a:t>2/10/2025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084ADA-5BE1-40F2-AA8E-12F4C85F7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FC4168-C399-4168-A811-797FB3336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A79173B-3F5D-4025-9628-062D53A3B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Neural Network</a:t>
            </a:r>
          </a:p>
        </p:txBody>
      </p:sp>
    </p:spTree>
    <p:extLst>
      <p:ext uri="{BB962C8B-B14F-4D97-AF65-F5344CB8AC3E}">
        <p14:creationId xmlns:p14="http://schemas.microsoft.com/office/powerpoint/2010/main" val="38533064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D882ADE-4186-4A5B-B443-7E19C65657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Ten-Roman"/>
              </a:rPr>
              <a:t>Adjustments must be </a:t>
            </a:r>
            <a:r>
              <a:rPr lang="en-US" dirty="0">
                <a:solidFill>
                  <a:srgbClr val="FF0000"/>
                </a:solidFill>
                <a:latin typeface="TimesTen-Roman"/>
              </a:rPr>
              <a:t>made to the weights of the network</a:t>
            </a:r>
            <a:r>
              <a:rPr lang="en-US" dirty="0">
                <a:latin typeface="TimesTen-Roman"/>
              </a:rPr>
              <a:t>.</a:t>
            </a:r>
          </a:p>
          <a:p>
            <a:pPr algn="l"/>
            <a:r>
              <a:rPr lang="en-US" dirty="0">
                <a:solidFill>
                  <a:srgbClr val="0070C0"/>
                </a:solidFill>
                <a:latin typeface="TimesTen-Roman"/>
              </a:rPr>
              <a:t>Calculation of the adjustments </a:t>
            </a:r>
            <a:r>
              <a:rPr lang="en-US" dirty="0">
                <a:latin typeface="TimesTen-Roman"/>
              </a:rPr>
              <a:t>for the output layer is straightforward</a:t>
            </a:r>
          </a:p>
          <a:p>
            <a:pPr algn="l"/>
            <a:r>
              <a:rPr lang="en-US" dirty="0">
                <a:latin typeface="TimesTen-Roman"/>
              </a:rPr>
              <a:t>It is more </a:t>
            </a:r>
            <a:r>
              <a:rPr lang="en-US" dirty="0">
                <a:solidFill>
                  <a:srgbClr val="FF0000"/>
                </a:solidFill>
                <a:latin typeface="TimesTen-Roman"/>
              </a:rPr>
              <a:t>challenging for the hidden layers</a:t>
            </a:r>
            <a:r>
              <a:rPr lang="en-US" dirty="0">
                <a:latin typeface="TimesTen-Roman"/>
              </a:rPr>
              <a:t>.</a:t>
            </a:r>
            <a:endParaRPr lang="en-US" dirty="0">
              <a:latin typeface="TimesTen-Italic"/>
            </a:endParaRPr>
          </a:p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449013-FB05-4B30-9935-ECA7EE9F9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E0FFA-C641-42C5-9FCC-1EFC21536165}" type="datetime1">
              <a:rPr lang="en-US" smtClean="0"/>
              <a:t>2/10/2025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D1BC1B-A436-4FC7-8DDD-64A2F7903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8F769-87B8-4F5A-8A2A-2F451F3AA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78D130C-46ED-4935-BB27-EC35F3BAF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Neural Network</a:t>
            </a:r>
          </a:p>
        </p:txBody>
      </p:sp>
    </p:spTree>
    <p:extLst>
      <p:ext uri="{BB962C8B-B14F-4D97-AF65-F5344CB8AC3E}">
        <p14:creationId xmlns:p14="http://schemas.microsoft.com/office/powerpoint/2010/main" val="15133850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5D1F6C5-3DE2-4488-BFA2-F7B22032A3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200" b="1" dirty="0">
                <a:latin typeface="Frutiger-Bold"/>
              </a:rPr>
              <a:t>Hidden Neurons</a:t>
            </a:r>
          </a:p>
          <a:p>
            <a:pPr algn="l"/>
            <a:r>
              <a:rPr lang="en-US" sz="3200" dirty="0">
                <a:latin typeface="TimesTen-Roman"/>
              </a:rPr>
              <a:t>The hidden neurons act as </a:t>
            </a:r>
            <a:r>
              <a:rPr lang="en-US" sz="3200" i="1" dirty="0">
                <a:solidFill>
                  <a:srgbClr val="FF0000"/>
                </a:solidFill>
                <a:latin typeface="TimesTen-Italic"/>
              </a:rPr>
              <a:t>feature detectors</a:t>
            </a:r>
          </a:p>
          <a:p>
            <a:pPr algn="l"/>
            <a:r>
              <a:rPr lang="en-US" sz="3200" dirty="0">
                <a:latin typeface="TimesTen-Roman"/>
              </a:rPr>
              <a:t>The hidden neurons gradually </a:t>
            </a:r>
            <a:r>
              <a:rPr lang="en-US" sz="3200" dirty="0">
                <a:solidFill>
                  <a:srgbClr val="FF0000"/>
                </a:solidFill>
                <a:latin typeface="TimesTen-Roman"/>
              </a:rPr>
              <a:t>“discover” the main features </a:t>
            </a:r>
            <a:r>
              <a:rPr lang="en-US" sz="3200" dirty="0">
                <a:latin typeface="TimesTen-Roman"/>
              </a:rPr>
              <a:t>to understand the training data.</a:t>
            </a:r>
          </a:p>
          <a:p>
            <a:pPr algn="l"/>
            <a:r>
              <a:rPr lang="en-US" sz="3200" dirty="0">
                <a:latin typeface="TimesTen-Roman"/>
              </a:rPr>
              <a:t>They perform </a:t>
            </a:r>
            <a:r>
              <a:rPr lang="en-US" sz="3200" dirty="0">
                <a:solidFill>
                  <a:srgbClr val="00B050"/>
                </a:solidFill>
                <a:latin typeface="TimesTen-Roman"/>
              </a:rPr>
              <a:t>nonlinear transformations </a:t>
            </a:r>
            <a:r>
              <a:rPr lang="en-US" sz="3200" dirty="0">
                <a:latin typeface="TimesTen-Roman"/>
              </a:rPr>
              <a:t>on the input</a:t>
            </a:r>
          </a:p>
          <a:p>
            <a:pPr lvl="1"/>
            <a:r>
              <a:rPr lang="en-US" sz="3200" dirty="0">
                <a:solidFill>
                  <a:srgbClr val="FF0000"/>
                </a:solidFill>
                <a:latin typeface="TimesTen-Italic"/>
              </a:rPr>
              <a:t>Feature space</a:t>
            </a:r>
            <a:r>
              <a:rPr lang="en-US" sz="3200" dirty="0">
                <a:solidFill>
                  <a:srgbClr val="FF0000"/>
                </a:solidFill>
                <a:latin typeface="TimesTen-Roman"/>
              </a:rPr>
              <a:t>. </a:t>
            </a:r>
          </a:p>
          <a:p>
            <a:r>
              <a:rPr lang="en-US" sz="3200" dirty="0">
                <a:latin typeface="TimesTen-Roman"/>
              </a:rPr>
              <a:t>Classes may be more </a:t>
            </a:r>
            <a:r>
              <a:rPr lang="en-US" sz="3200" dirty="0">
                <a:solidFill>
                  <a:srgbClr val="0070C0"/>
                </a:solidFill>
                <a:latin typeface="TimesTen-Roman"/>
              </a:rPr>
              <a:t>easily separated </a:t>
            </a:r>
            <a:r>
              <a:rPr lang="en-US" sz="3200" dirty="0">
                <a:latin typeface="TimesTen-Roman"/>
              </a:rPr>
              <a:t>from each other </a:t>
            </a:r>
          </a:p>
          <a:p>
            <a:endParaRPr lang="en-US" sz="44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1B9992-6B73-47D8-AAC8-AD737F576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21568-1E76-4805-B6E8-C05AD248F6EC}" type="datetime1">
              <a:rPr lang="en-US" smtClean="0"/>
              <a:t>2/10/2025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EF3101-775A-4994-B801-E9053C669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964AAD-8C5E-4BF2-924F-3E7533A3E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7C36B5A-7486-4A7E-8397-65CA7A50F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Neural Network</a:t>
            </a:r>
          </a:p>
        </p:txBody>
      </p:sp>
    </p:spTree>
    <p:extLst>
      <p:ext uri="{BB962C8B-B14F-4D97-AF65-F5344CB8AC3E}">
        <p14:creationId xmlns:p14="http://schemas.microsoft.com/office/powerpoint/2010/main" val="1195657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951B570-167C-4F99-9547-2AA92CA4A5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95601" y="1692189"/>
            <a:ext cx="6716602" cy="4556210"/>
          </a:xfr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3FE650-9375-48C1-AB58-FFDF4015F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B5D2D-FDBD-4C23-BA32-0904A40F001E}" type="datetime1">
              <a:rPr lang="en-US" smtClean="0"/>
              <a:t>2/10/2025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3864B5-7650-40B4-9992-C8254D4E5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CFE1B7-791B-4583-9250-0237077A8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7F61CAF-C89F-4340-9655-508F81BB5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Neural Network</a:t>
            </a:r>
          </a:p>
        </p:txBody>
      </p:sp>
    </p:spTree>
    <p:extLst>
      <p:ext uri="{BB962C8B-B14F-4D97-AF65-F5344CB8AC3E}">
        <p14:creationId xmlns:p14="http://schemas.microsoft.com/office/powerpoint/2010/main" val="25243432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118A862-88A9-41E9-BE43-D069F158C9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48000" y="1353063"/>
            <a:ext cx="5308096" cy="5089725"/>
          </a:xfr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C90789-65A9-4BFE-9A0C-6BD84AF5D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B6A4C-CB9B-4335-BF1E-9EAD7CF30668}" type="datetime1">
              <a:rPr lang="en-US" smtClean="0"/>
              <a:t>2/10/2025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F0B6B3-37FE-4CD5-891F-F59536331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B0A875-3CA5-4673-B39E-0A9922294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7F823B0-378C-475C-84F4-B0EF6CC37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Neural Network</a:t>
            </a:r>
          </a:p>
        </p:txBody>
      </p:sp>
    </p:spTree>
    <p:extLst>
      <p:ext uri="{BB962C8B-B14F-4D97-AF65-F5344CB8AC3E}">
        <p14:creationId xmlns:p14="http://schemas.microsoft.com/office/powerpoint/2010/main" val="41668378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6FE82C34-3FF2-4126-9AB0-400EE977873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l"/>
                <a:r>
                  <a:rPr lang="en-US" sz="2400" dirty="0">
                    <a:latin typeface="CMR10"/>
                  </a:rPr>
                  <a:t>Each hidden unit performs the </a:t>
                </a:r>
                <a:r>
                  <a:rPr lang="en-US" sz="2400" dirty="0">
                    <a:solidFill>
                      <a:srgbClr val="FF0000"/>
                    </a:solidFill>
                    <a:latin typeface="CMR10"/>
                  </a:rPr>
                  <a:t>weighted sum of its inputs </a:t>
                </a:r>
                <a:r>
                  <a:rPr lang="en-US" sz="2400" dirty="0">
                    <a:latin typeface="CMR10"/>
                  </a:rPr>
                  <a:t>to form its (scalar) </a:t>
                </a:r>
                <a:r>
                  <a:rPr lang="en-US" sz="2400" i="1" dirty="0">
                    <a:solidFill>
                      <a:srgbClr val="0070C0"/>
                    </a:solidFill>
                    <a:latin typeface="CMTI10"/>
                  </a:rPr>
                  <a:t>net activation </a:t>
                </a:r>
                <a:r>
                  <a:rPr lang="en-US" sz="2400" dirty="0">
                    <a:solidFill>
                      <a:srgbClr val="0070C0"/>
                    </a:solidFill>
                    <a:latin typeface="CMR10"/>
                  </a:rPr>
                  <a:t>or </a:t>
                </a:r>
                <a:r>
                  <a:rPr lang="en-US" sz="2400" i="1" dirty="0">
                    <a:solidFill>
                      <a:srgbClr val="0070C0"/>
                    </a:solidFill>
                    <a:latin typeface="CMTI10"/>
                  </a:rPr>
                  <a:t>net</a:t>
                </a:r>
                <a:r>
                  <a:rPr lang="en-US" sz="2400" dirty="0">
                    <a:latin typeface="CMR10"/>
                  </a:rPr>
                  <a:t>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K" sz="2400" i="1"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𝑛𝑒</m:t>
                      </m:r>
                      <m:sSub>
                        <m:sSubPr>
                          <m:ctrlP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𝑡</m:t>
                          </m:r>
                        </m:e>
                        <m:sub>
                          <m: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𝑗</m:t>
                          </m:r>
                        </m:sub>
                      </m:sSub>
                      <m:r>
                        <a:rPr lang="en-PK" sz="2400" i="1"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naryPr>
                        <m:sub>
                          <m: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𝑖</m:t>
                          </m:r>
                          <m: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=</m:t>
                          </m:r>
                          <m: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1</m:t>
                          </m:r>
                        </m:sub>
                        <m:sup>
                          <m: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𝑑</m:t>
                          </m:r>
                        </m:sup>
                        <m:e>
                          <m: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 </m:t>
                          </m:r>
                        </m:e>
                      </m:nary>
                      <m:sSub>
                        <m:sSubPr>
                          <m:ctrlP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𝑤</m:t>
                          </m:r>
                        </m:e>
                        <m:sub>
                          <m: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𝑗𝑖</m:t>
                          </m:r>
                        </m:sub>
                      </m:sSub>
                      <m:r>
                        <a:rPr lang="en-PK" sz="2400" i="1"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𝑤</m:t>
                          </m:r>
                        </m:e>
                        <m:sub>
                          <m: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𝑗</m:t>
                          </m:r>
                          <m: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0</m:t>
                          </m:r>
                        </m:sub>
                      </m:sSub>
                      <m:r>
                        <a:rPr lang="en-PK" sz="2400" i="1"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naryPr>
                        <m:sub>
                          <m: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𝑖</m:t>
                          </m:r>
                          <m: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=</m:t>
                          </m:r>
                          <m: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0</m:t>
                          </m:r>
                        </m:sub>
                        <m:sup>
                          <m: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𝑑</m:t>
                          </m:r>
                        </m:sup>
                        <m:e>
                          <m: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 </m:t>
                          </m:r>
                        </m:e>
                      </m:nary>
                      <m:sSub>
                        <m:sSubPr>
                          <m:ctrlP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𝑤</m:t>
                          </m:r>
                        </m:e>
                        <m:sub>
                          <m: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𝑗𝑖</m:t>
                          </m:r>
                        </m:sub>
                      </m:sSub>
                      <m:r>
                        <a:rPr lang="en-PK" sz="2400" i="1"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≡</m:t>
                      </m:r>
                      <m:sSubSup>
                        <m:sSubSupPr>
                          <m:ctrlP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SupPr>
                        <m:e>
                          <m:r>
                            <a:rPr lang="en-PK" sz="2400" b="1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𝐰</m:t>
                          </m:r>
                        </m:e>
                        <m:sub>
                          <m: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𝑗</m:t>
                          </m:r>
                        </m:sub>
                        <m:sup>
                          <m: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𝑡</m:t>
                          </m:r>
                        </m:sup>
                      </m:sSubSup>
                      <m:r>
                        <a:rPr lang="en-PK" sz="2400" b="1" i="1"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𝐱</m:t>
                      </m:r>
                    </m:oMath>
                  </m:oMathPara>
                </a14:m>
                <a:endParaRPr lang="en-PK" sz="2400" dirty="0">
                  <a:latin typeface="Calibri" panose="020F0502020204030204" pitchFamily="34" charset="0"/>
                  <a:ea typeface="Calibri" panose="020F0502020204030204" pitchFamily="34" charset="0"/>
                </a:endParaRPr>
              </a:p>
              <a:p>
                <a:pPr algn="l"/>
                <a:endParaRPr lang="en-US" sz="1800" dirty="0">
                  <a:latin typeface="CMR10"/>
                </a:endParaRPr>
              </a:p>
              <a:p>
                <a:pPr algn="l"/>
                <a:r>
                  <a:rPr lang="en-US" sz="2400" dirty="0">
                    <a:latin typeface="CMR10"/>
                  </a:rPr>
                  <a:t>The subscript </a:t>
                </a:r>
                <a:r>
                  <a:rPr lang="en-US" sz="2400" i="1" dirty="0" err="1">
                    <a:latin typeface="CMMI10"/>
                  </a:rPr>
                  <a:t>i</a:t>
                </a:r>
                <a:r>
                  <a:rPr lang="en-US" sz="2400" i="1" dirty="0">
                    <a:latin typeface="CMMI10"/>
                  </a:rPr>
                  <a:t> </a:t>
                </a:r>
                <a:r>
                  <a:rPr lang="en-US" sz="2400" dirty="0">
                    <a:latin typeface="CMR10"/>
                  </a:rPr>
                  <a:t>indices' units on the input layer, </a:t>
                </a:r>
              </a:p>
              <a:p>
                <a:pPr algn="l"/>
                <a:r>
                  <a:rPr lang="en-US" sz="2400" i="1" dirty="0">
                    <a:latin typeface="CMMI10"/>
                  </a:rPr>
                  <a:t>j </a:t>
                </a:r>
                <a:r>
                  <a:rPr lang="en-US" sz="2400" dirty="0">
                    <a:latin typeface="CMR10"/>
                  </a:rPr>
                  <a:t>for the hidden; </a:t>
                </a:r>
              </a:p>
              <a:p>
                <a:pPr algn="l"/>
                <a:r>
                  <a:rPr lang="en-US" sz="2400" i="1" dirty="0" err="1">
                    <a:latin typeface="CMMI10"/>
                  </a:rPr>
                  <a:t>w</a:t>
                </a:r>
                <a:r>
                  <a:rPr lang="en-US" sz="2400" i="1" baseline="-25000" dirty="0" err="1">
                    <a:latin typeface="CMMI7"/>
                  </a:rPr>
                  <a:t>ji</a:t>
                </a:r>
                <a:r>
                  <a:rPr lang="en-US" sz="2400" i="1" dirty="0">
                    <a:latin typeface="CMMI7"/>
                  </a:rPr>
                  <a:t> </a:t>
                </a:r>
                <a:r>
                  <a:rPr lang="en-US" sz="2400" dirty="0">
                    <a:latin typeface="CMR10"/>
                  </a:rPr>
                  <a:t>denotes the input-to-hidden layer weights at the hidden unit </a:t>
                </a:r>
                <a:r>
                  <a:rPr lang="en-US" sz="2400" i="1" dirty="0">
                    <a:latin typeface="CMMI10"/>
                  </a:rPr>
                  <a:t>j</a:t>
                </a:r>
                <a:r>
                  <a:rPr lang="en-US" sz="2400" dirty="0">
                    <a:latin typeface="CMR10"/>
                  </a:rPr>
                  <a:t>.</a:t>
                </a:r>
              </a:p>
              <a:p>
                <a:pPr algn="l"/>
                <a:endParaRPr lang="en-US" sz="2400" dirty="0">
                  <a:latin typeface="CMR10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6FE82C34-3FF2-4126-9AB0-400EE97787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3" t="-1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F9F7D9-94EB-4A3E-B8BE-6905BFD9D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B6A4C-CB9B-4335-BF1E-9EAD7CF30668}" type="datetime1">
              <a:rPr lang="en-US" smtClean="0"/>
              <a:t>2/10/2025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4D22AF-14A1-4C84-A9A3-68FF8681C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3B435B-4896-43DB-BC96-825FA1986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7188F81-345B-4996-9BB7-1C8D44285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Neural Network</a:t>
            </a:r>
          </a:p>
        </p:txBody>
      </p:sp>
    </p:spTree>
    <p:extLst>
      <p:ext uri="{BB962C8B-B14F-4D97-AF65-F5344CB8AC3E}">
        <p14:creationId xmlns:p14="http://schemas.microsoft.com/office/powerpoint/2010/main" val="8981010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7910BBEE-4A87-4180-858B-A90377960A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l"/>
                <a:r>
                  <a:rPr lang="en-US" b="0" i="0" u="none" strike="noStrike" baseline="0" dirty="0">
                    <a:latin typeface="CMR10"/>
                  </a:rPr>
                  <a:t>Each </a:t>
                </a:r>
                <a:r>
                  <a:rPr lang="en-US" b="0" i="0" u="none" strike="noStrike" baseline="0" dirty="0">
                    <a:solidFill>
                      <a:srgbClr val="FF0000"/>
                    </a:solidFill>
                    <a:latin typeface="CMR10"/>
                  </a:rPr>
                  <a:t>hidden unit produces an output </a:t>
                </a:r>
                <a:r>
                  <a:rPr lang="en-US" b="0" i="0" u="none" strike="noStrike" baseline="0" dirty="0">
                    <a:latin typeface="CMR10"/>
                  </a:rPr>
                  <a:t>which is a </a:t>
                </a:r>
                <a:r>
                  <a:rPr lang="en-US" b="0" i="0" u="none" strike="noStrike" baseline="0" dirty="0">
                    <a:solidFill>
                      <a:srgbClr val="0070C0"/>
                    </a:solidFill>
                    <a:latin typeface="CMR10"/>
                  </a:rPr>
                  <a:t>nonlinear function </a:t>
                </a:r>
                <a:r>
                  <a:rPr lang="en-US" b="0" i="0" u="none" strike="noStrike" baseline="0" dirty="0">
                    <a:latin typeface="CMR10"/>
                  </a:rPr>
                  <a:t>of its activation, </a:t>
                </a:r>
                <a:r>
                  <a:rPr lang="en-US" b="0" i="1" u="none" strike="noStrike" baseline="0" dirty="0">
                    <a:latin typeface="CMMI10"/>
                  </a:rPr>
                  <a:t>f</a:t>
                </a:r>
                <a:r>
                  <a:rPr lang="en-US" b="0" i="0" u="none" strike="noStrike" baseline="0" dirty="0">
                    <a:latin typeface="CMR10"/>
                  </a:rPr>
                  <a:t>(</a:t>
                </a:r>
                <a:r>
                  <a:rPr lang="en-US" b="0" i="1" u="none" strike="noStrike" baseline="0" dirty="0">
                    <a:latin typeface="CMMI10"/>
                  </a:rPr>
                  <a:t>net</a:t>
                </a:r>
                <a:r>
                  <a:rPr lang="en-US" b="0" i="0" u="none" strike="noStrike" baseline="0" dirty="0">
                    <a:latin typeface="CMR10"/>
                  </a:rPr>
                  <a:t>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PK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PK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𝑦</m:t>
                          </m:r>
                        </m:e>
                        <m:sub>
                          <m:r>
                            <a:rPr lang="en-PK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𝑗</m:t>
                          </m:r>
                        </m:sub>
                      </m:sSub>
                      <m:r>
                        <a:rPr lang="en-PK" i="1"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=</m:t>
                      </m:r>
                      <m:r>
                        <a:rPr lang="en-PK" i="1"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𝑓</m:t>
                      </m:r>
                      <m:d>
                        <m:dPr>
                          <m:ctrlPr>
                            <a:rPr lang="en-PK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PK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PK">
                                  <a:latin typeface="Calibri" panose="020F0502020204030204" pitchFamily="34" charset="0"/>
                                  <a:ea typeface="Calibri" panose="020F0502020204030204" pitchFamily="34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PK">
                                  <a:latin typeface="Calibri" panose="020F0502020204030204" pitchFamily="34" charset="0"/>
                                  <a:ea typeface="Calibri" panose="020F0502020204030204" pitchFamily="34" charset="0"/>
                                </a:rPr>
                                <m:t>net</m:t>
                              </m:r>
                              <m:r>
                                <m:rPr>
                                  <m:nor/>
                                </m:rPr>
                                <a:rPr lang="en-PK">
                                  <a:latin typeface="Calibri" panose="020F0502020204030204" pitchFamily="34" charset="0"/>
                                  <a:ea typeface="Calibri" panose="020F0502020204030204" pitchFamily="34" charset="0"/>
                                </a:rPr>
                                <m:t> </m:t>
                              </m:r>
                            </m:e>
                            <m:sub>
                              <m:r>
                                <a:rPr lang="en-PK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en-US" dirty="0">
                    <a:latin typeface="CMR10"/>
                  </a:rPr>
                  <a:t>f(x) is an </a:t>
                </a:r>
                <a:r>
                  <a:rPr lang="en-US" dirty="0">
                    <a:solidFill>
                      <a:srgbClr val="FF0000"/>
                    </a:solidFill>
                    <a:latin typeface="CMR10"/>
                  </a:rPr>
                  <a:t>activation function</a:t>
                </a:r>
                <a:r>
                  <a:rPr lang="en-US" dirty="0">
                    <a:latin typeface="CMR10"/>
                  </a:rPr>
                  <a:t>.</a:t>
                </a:r>
              </a:p>
              <a:p>
                <a:pPr lvl="1"/>
                <a:r>
                  <a:rPr lang="en-US" dirty="0">
                    <a:latin typeface="CMR10"/>
                  </a:rPr>
                  <a:t>Many choices</a:t>
                </a:r>
              </a:p>
              <a:p>
                <a:pPr lvl="1"/>
                <a:r>
                  <a:rPr lang="en-US" dirty="0">
                    <a:latin typeface="CMR10"/>
                  </a:rPr>
                  <a:t>Also called the transfer function or “nonlinearity” of a unit</a:t>
                </a:r>
              </a:p>
              <a:p>
                <a:pPr lvl="1"/>
                <a:r>
                  <a:rPr lang="en-US" dirty="0">
                    <a:latin typeface="CMR10"/>
                  </a:rPr>
                  <a:t>Example, Sigmoid function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K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𝑓</m:t>
                      </m:r>
                      <m:r>
                        <a:rPr lang="en-PK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(</m:t>
                      </m:r>
                      <m:r>
                        <a:rPr lang="en-PK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𝑛𝑒𝑡</m:t>
                      </m:r>
                      <m:r>
                        <a:rPr lang="en-PK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)=</m:t>
                      </m:r>
                      <m:f>
                        <m:fPr>
                          <m:ctrlPr>
                            <a:rPr lang="en-PK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PK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1</m:t>
                          </m:r>
                        </m:num>
                        <m:den>
                          <m:r>
                            <a:rPr lang="en-PK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PK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r>
                                <a:rPr lang="en-PK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PK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−</m:t>
                              </m:r>
                              <m:r>
                                <a:rPr lang="en-PK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𝑊𝑥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PK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7910BBEE-4A87-4180-858B-A90377960A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33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C3EE10-0049-4383-A963-1DA8C55B2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B6A4C-CB9B-4335-BF1E-9EAD7CF30668}" type="datetime1">
              <a:rPr lang="en-US" smtClean="0"/>
              <a:t>2/10/2025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531D96-46B4-41DB-9A70-BE917A16D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A3C1BF-C68B-489F-A90E-C8CFB4A59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2B38DCE-9FE4-42AB-9AC0-305CD39D9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Neural Network</a:t>
            </a:r>
          </a:p>
        </p:txBody>
      </p:sp>
    </p:spTree>
    <p:extLst>
      <p:ext uri="{BB962C8B-B14F-4D97-AF65-F5344CB8AC3E}">
        <p14:creationId xmlns:p14="http://schemas.microsoft.com/office/powerpoint/2010/main" val="24580859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95B45631-68BD-479E-B964-9EB716D616A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l"/>
                <a:r>
                  <a:rPr lang="en-US" b="0" i="0" u="none" strike="noStrike" baseline="0" dirty="0">
                    <a:latin typeface="CMR10"/>
                  </a:rPr>
                  <a:t>Each output unit (neuron) similarly computes its net activation based on the hidden unit signals as: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K" sz="2400" i="1"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𝑛𝑒</m:t>
                      </m:r>
                      <m:sSub>
                        <m:sSubPr>
                          <m:ctrlP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𝑡</m:t>
                          </m:r>
                        </m:e>
                        <m:sub>
                          <m: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𝑘</m:t>
                          </m:r>
                        </m:sub>
                      </m:sSub>
                      <m:r>
                        <a:rPr lang="en-PK" sz="2400" i="1"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naryPr>
                        <m:sub>
                          <m: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𝑗</m:t>
                          </m:r>
                          <m: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=1</m:t>
                          </m:r>
                        </m:sub>
                        <m:sup>
                          <m:sSub>
                            <m:sSubPr>
                              <m:ctrlPr>
                                <a:rPr lang="en-PK" sz="2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en-PK" sz="2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PK" sz="2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𝐻</m:t>
                              </m:r>
                            </m:sub>
                          </m:sSub>
                        </m:sup>
                        <m:e>
                          <m: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 </m:t>
                          </m:r>
                        </m:e>
                      </m:nary>
                      <m:sSub>
                        <m:sSubPr>
                          <m:ctrlP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𝑦</m:t>
                          </m:r>
                        </m:e>
                        <m:sub>
                          <m: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𝑗</m:t>
                          </m:r>
                        </m:sub>
                      </m:sSub>
                      <m:sSub>
                        <m:sSubPr>
                          <m:ctrlP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𝑤</m:t>
                          </m:r>
                        </m:e>
                        <m:sub>
                          <m: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𝑘𝑗</m:t>
                          </m:r>
                        </m:sub>
                      </m:sSub>
                      <m:r>
                        <a:rPr lang="en-PK" sz="2400" i="1"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𝑤</m:t>
                          </m:r>
                        </m:e>
                        <m:sub>
                          <m: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𝑘</m:t>
                          </m:r>
                          <m: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0</m:t>
                          </m:r>
                        </m:sub>
                      </m:sSub>
                      <m:r>
                        <a:rPr lang="en-PK" sz="2400" i="1"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naryPr>
                        <m:sub>
                          <m: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𝑗</m:t>
                          </m:r>
                          <m: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=0</m:t>
                          </m:r>
                        </m:sub>
                        <m:sup>
                          <m:sSub>
                            <m:sSubPr>
                              <m:ctrlPr>
                                <a:rPr lang="en-PK" sz="2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en-PK" sz="2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PK" sz="2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𝐻</m:t>
                              </m:r>
                            </m:sub>
                          </m:sSub>
                        </m:sup>
                        <m:e>
                          <m: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 </m:t>
                          </m:r>
                        </m:e>
                      </m:nary>
                      <m:sSub>
                        <m:sSubPr>
                          <m:ctrlP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𝑦</m:t>
                          </m:r>
                        </m:e>
                        <m:sub>
                          <m: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𝑗</m:t>
                          </m:r>
                        </m:sub>
                      </m:sSub>
                      <m:sSub>
                        <m:sSubPr>
                          <m:ctrlP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𝑤</m:t>
                          </m:r>
                        </m:e>
                        <m:sub>
                          <m: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𝑘𝑗</m:t>
                          </m:r>
                        </m:sub>
                      </m:sSub>
                      <m:r>
                        <a:rPr lang="en-PK" sz="2400" i="1"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=</m:t>
                      </m:r>
                      <m:sSubSup>
                        <m:sSubSupPr>
                          <m:ctrlP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SupPr>
                        <m:e>
                          <m:r>
                            <a:rPr lang="en-PK" sz="2400" b="1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𝐰</m:t>
                          </m:r>
                        </m:e>
                        <m:sub>
                          <m: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𝑘</m:t>
                          </m:r>
                        </m:sub>
                        <m:sup>
                          <m: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𝑡</m:t>
                          </m:r>
                        </m:sup>
                      </m:sSubSup>
                      <m:r>
                        <a:rPr lang="en-PK" sz="2400" b="1" i="1"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𝐲</m:t>
                      </m:r>
                    </m:oMath>
                  </m:oMathPara>
                </a14:m>
                <a:endParaRPr lang="en-PK" sz="2400" dirty="0">
                  <a:latin typeface="Calibri" panose="020F0502020204030204" pitchFamily="34" charset="0"/>
                  <a:ea typeface="Calibri" panose="020F0502020204030204" pitchFamily="34" charset="0"/>
                </a:endParaRPr>
              </a:p>
              <a:p>
                <a:r>
                  <a:rPr lang="en-US" b="0" i="0" u="none" strike="noStrike" baseline="0" dirty="0">
                    <a:latin typeface="CMR10"/>
                  </a:rPr>
                  <a:t>Each </a:t>
                </a:r>
                <a:r>
                  <a:rPr lang="en-US" b="0" i="0" u="none" strike="noStrike" baseline="0" dirty="0">
                    <a:solidFill>
                      <a:srgbClr val="0070C0"/>
                    </a:solidFill>
                    <a:latin typeface="CMR10"/>
                  </a:rPr>
                  <a:t>output unit </a:t>
                </a:r>
                <a:r>
                  <a:rPr lang="en-US" b="0" i="0" u="none" strike="noStrike" baseline="0" dirty="0">
                    <a:latin typeface="CMR10"/>
                  </a:rPr>
                  <a:t>then </a:t>
                </a:r>
                <a:r>
                  <a:rPr lang="en-US" b="0" i="0" u="none" strike="noStrike" baseline="0" dirty="0">
                    <a:solidFill>
                      <a:srgbClr val="0070C0"/>
                    </a:solidFill>
                    <a:latin typeface="CMR10"/>
                  </a:rPr>
                  <a:t>computes the nonlinear </a:t>
                </a:r>
                <a:r>
                  <a:rPr lang="en-US" b="0" i="0" u="none" strike="noStrike" baseline="0" dirty="0">
                    <a:latin typeface="CMR10"/>
                  </a:rPr>
                  <a:t>function of its </a:t>
                </a:r>
                <a:r>
                  <a:rPr lang="en-US" b="0" i="1" u="none" strike="noStrike" baseline="0" dirty="0">
                    <a:solidFill>
                      <a:srgbClr val="FF0000"/>
                    </a:solidFill>
                    <a:latin typeface="CMMI10"/>
                  </a:rPr>
                  <a:t>net</a:t>
                </a:r>
                <a:endParaRPr lang="en-US" b="0" i="0" u="none" strike="noStrike" baseline="0" dirty="0">
                  <a:solidFill>
                    <a:srgbClr val="FF0000"/>
                  </a:solidFill>
                  <a:latin typeface="CMR1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PK" sz="32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𝑧</m:t>
                          </m:r>
                        </m:e>
                        <m:sub>
                          <m:r>
                            <a:rPr lang="en-US" sz="32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𝑘</m:t>
                          </m:r>
                        </m:sub>
                      </m:sSub>
                      <m:r>
                        <a:rPr lang="en-PK" sz="3200" i="1"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=</m:t>
                      </m:r>
                      <m:r>
                        <a:rPr lang="en-PK" sz="3200" i="1"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𝑓</m:t>
                      </m:r>
                      <m:d>
                        <m:dPr>
                          <m:ctrlPr>
                            <a:rPr lang="en-PK" sz="32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PK" sz="32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PK" sz="3200">
                                  <a:latin typeface="Calibri" panose="020F0502020204030204" pitchFamily="34" charset="0"/>
                                  <a:ea typeface="Calibri" panose="020F0502020204030204" pitchFamily="34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PK" sz="3200">
                                  <a:latin typeface="Calibri" panose="020F0502020204030204" pitchFamily="34" charset="0"/>
                                  <a:ea typeface="Calibri" panose="020F0502020204030204" pitchFamily="34" charset="0"/>
                                </a:rPr>
                                <m:t>net</m:t>
                              </m:r>
                              <m:r>
                                <m:rPr>
                                  <m:nor/>
                                </m:rPr>
                                <a:rPr lang="en-PK" sz="3200">
                                  <a:latin typeface="Calibri" panose="020F0502020204030204" pitchFamily="34" charset="0"/>
                                  <a:ea typeface="Calibri" panose="020F0502020204030204" pitchFamily="34" charset="0"/>
                                </a:rPr>
                                <m:t> </m:t>
                              </m:r>
                            </m:e>
                            <m:sub>
                              <m:r>
                                <a:rPr lang="en-US" sz="32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b="0" i="0" u="none" strike="noStrike" baseline="0" dirty="0">
                  <a:latin typeface="CMR10"/>
                </a:endParaRPr>
              </a:p>
              <a:p>
                <a:endParaRPr lang="en-US" sz="4000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95B45631-68BD-479E-B964-9EB716D616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33" t="-1348" r="-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B3C46D-2CF1-4FF8-9C55-8DC88BB72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B6A4C-CB9B-4335-BF1E-9EAD7CF30668}" type="datetime1">
              <a:rPr lang="en-US" smtClean="0"/>
              <a:t>2/10/2025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667AFA-F80E-4523-AC42-D7562691A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1569E0-EF2B-460D-B39F-C2990CED3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01F2AD7-6F64-4AAA-AA98-DB18516EF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Neural Network</a:t>
            </a:r>
          </a:p>
        </p:txBody>
      </p:sp>
    </p:spTree>
    <p:extLst>
      <p:ext uri="{BB962C8B-B14F-4D97-AF65-F5344CB8AC3E}">
        <p14:creationId xmlns:p14="http://schemas.microsoft.com/office/powerpoint/2010/main" val="20779579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9B4F30-5615-4FBE-9606-874AE9BA9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B6A4C-CB9B-4335-BF1E-9EAD7CF30668}" type="datetime1">
              <a:rPr lang="en-US" smtClean="0"/>
              <a:t>2/10/2025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C914C1-AB76-4873-B427-FF002528C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00BF1E-4ED2-471E-B353-E2FA882C4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0415FAC-9566-47D7-BEE3-1338509E9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Neural Network</a:t>
            </a:r>
          </a:p>
        </p:txBody>
      </p:sp>
      <p:pic>
        <p:nvPicPr>
          <p:cNvPr id="7" name="Content Placeholder 7">
            <a:extLst>
              <a:ext uri="{FF2B5EF4-FFF2-40B4-BE49-F238E27FC236}">
                <a16:creationId xmlns:a16="http://schemas.microsoft.com/office/drawing/2014/main" id="{953DCDBD-7FC5-4ECD-9C9E-EBC5FF1AEE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81200" y="1728247"/>
            <a:ext cx="4419600" cy="4237781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1240ED7-4F3D-4F5D-9231-B778951AE3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1800" y="2362200"/>
            <a:ext cx="3539743" cy="19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4294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3BE008BE-3F22-44D9-BFC7-CB14A71FB8F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For </a:t>
                </a:r>
                <a:r>
                  <a:rPr lang="en-US" dirty="0">
                    <a:solidFill>
                      <a:srgbClr val="00B050"/>
                    </a:solidFill>
                  </a:rPr>
                  <a:t>a three layer network</a:t>
                </a:r>
                <a:r>
                  <a:rPr lang="en-US" dirty="0"/>
                  <a:t>, we can </a:t>
                </a:r>
                <a:r>
                  <a:rPr lang="en-US" dirty="0">
                    <a:solidFill>
                      <a:srgbClr val="7030A0"/>
                    </a:solidFill>
                  </a:rPr>
                  <a:t>generalize the formula</a:t>
                </a:r>
                <a:r>
                  <a:rPr lang="en-US" dirty="0"/>
                  <a:t> to get the final output as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𝑔</m:t>
                          </m:r>
                        </m:e>
                        <m:sub>
                          <m: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𝑘</m:t>
                          </m:r>
                        </m:sub>
                      </m:sSub>
                      <m:r>
                        <a:rPr lang="en-PK" sz="2400" i="1"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PK" sz="2400"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x</m:t>
                      </m:r>
                      <m:r>
                        <a:rPr lang="en-PK" sz="2400" i="1"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)≡</m:t>
                      </m:r>
                      <m:sSub>
                        <m:sSubPr>
                          <m:ctrlP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𝑧</m:t>
                          </m:r>
                        </m:e>
                        <m:sub>
                          <m: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𝑘</m:t>
                          </m:r>
                        </m:sub>
                      </m:sSub>
                      <m:r>
                        <a:rPr lang="en-PK" sz="2400" i="1"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=</m:t>
                      </m:r>
                      <m:r>
                        <a:rPr lang="en-PK" sz="2400" i="1"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𝑓</m:t>
                      </m:r>
                      <m:d>
                        <m:dPr>
                          <m:ctrlP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limLoc m:val="undOvr"/>
                              <m:grow m:val="on"/>
                              <m:ctrlPr>
                                <a:rPr lang="en-PK" sz="2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naryPr>
                            <m:sub>
                              <m:r>
                                <a:rPr lang="en-PK" sz="2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𝑗</m:t>
                              </m:r>
                              <m:r>
                                <a:rPr lang="en-PK" sz="2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=</m:t>
                              </m:r>
                              <m:r>
                                <a:rPr lang="en-PK" sz="2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1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en-PK" sz="24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PK" sz="24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PK" sz="24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𝐻</m:t>
                                  </m:r>
                                </m:sub>
                              </m:sSub>
                            </m:sup>
                            <m:e>
                              <m:r>
                                <a:rPr lang="en-PK" sz="2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 </m:t>
                              </m:r>
                            </m:e>
                          </m:nary>
                          <m:sSub>
                            <m:sSubPr>
                              <m:ctrlPr>
                                <a:rPr lang="en-PK" sz="2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en-PK" sz="2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PK" sz="2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𝑘𝑗</m:t>
                              </m:r>
                            </m:sub>
                          </m:sSub>
                          <m: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PK" sz="2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limLoc m:val="undOvr"/>
                                  <m:grow m:val="on"/>
                                  <m:ctrlPr>
                                    <a:rPr lang="en-PK" sz="24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PK" sz="24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𝑖</m:t>
                                  </m:r>
                                  <m:r>
                                    <a:rPr lang="en-PK" sz="24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=</m:t>
                                  </m:r>
                                  <m:r>
                                    <a:rPr lang="en-PK" sz="24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PK" sz="24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𝑑</m:t>
                                  </m:r>
                                </m:sup>
                                <m:e>
                                  <m:r>
                                    <a:rPr lang="en-PK" sz="24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 </m:t>
                                  </m:r>
                                </m:e>
                              </m:nary>
                              <m:sSub>
                                <m:sSubPr>
                                  <m:ctrlPr>
                                    <a:rPr lang="en-PK" sz="24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PK" sz="24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PK" sz="24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𝑗𝑖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PK" sz="24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PK" sz="24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PK" sz="24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PK" sz="2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PK" sz="24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PK" sz="24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PK" sz="24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𝑗</m:t>
                                  </m:r>
                                  <m:r>
                                    <a:rPr lang="en-PK" sz="24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  <m: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PK" sz="2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en-PK" sz="2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PK" sz="2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𝑘</m:t>
                              </m:r>
                              <m:r>
                                <a:rPr lang="en-PK" sz="2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PK" sz="1800" dirty="0">
                  <a:latin typeface="Calibri" panose="020F0502020204030204" pitchFamily="34" charset="0"/>
                  <a:ea typeface="Calibri" panose="020F0502020204030204" pitchFamily="34" charset="0"/>
                </a:endParaRPr>
              </a:p>
              <a:p>
                <a:pPr algn="l"/>
                <a:r>
                  <a:rPr lang="en-US" b="0" i="0" u="none" strike="noStrike" baseline="0" dirty="0">
                    <a:latin typeface="CMR10"/>
                  </a:rPr>
                  <a:t>Can we put </a:t>
                </a:r>
                <a:r>
                  <a:rPr lang="en-US" b="0" i="0" u="none" strike="noStrike" baseline="0" dirty="0">
                    <a:solidFill>
                      <a:srgbClr val="FF0000"/>
                    </a:solidFill>
                    <a:latin typeface="CMR10"/>
                  </a:rPr>
                  <a:t>different activation functions </a:t>
                </a:r>
                <a:r>
                  <a:rPr lang="en-US" b="0" i="0" u="none" strike="noStrike" baseline="0" dirty="0">
                    <a:latin typeface="CMR10"/>
                  </a:rPr>
                  <a:t>at the output layer to differ from those in the hidden layer?</a:t>
                </a:r>
              </a:p>
              <a:p>
                <a:pPr lvl="1"/>
                <a:r>
                  <a:rPr lang="en-US" dirty="0">
                    <a:solidFill>
                      <a:srgbClr val="00B050"/>
                    </a:solidFill>
                  </a:rPr>
                  <a:t>Yes</a:t>
                </a:r>
                <a:r>
                  <a:rPr lang="en-US" dirty="0"/>
                  <a:t> </a:t>
                </a:r>
                <a:r>
                  <a:rPr lang="en-US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</a:t>
                </a:r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3BE008BE-3F22-44D9-BFC7-CB14A71FB8F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33" t="-1482" r="-1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A907B7-179E-4361-B163-876EAFB51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B6A4C-CB9B-4335-BF1E-9EAD7CF30668}" type="datetime1">
              <a:rPr lang="en-US" smtClean="0"/>
              <a:t>2/10/2025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DB7084-BBD6-4182-B71D-A2F9982DA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69FAB1-A0CC-4EE7-B2F4-7A0B783B8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E222875-226B-4D1D-A210-93D11A54A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Neural Network</a:t>
            </a:r>
          </a:p>
        </p:txBody>
      </p:sp>
    </p:spTree>
    <p:extLst>
      <p:ext uri="{BB962C8B-B14F-4D97-AF65-F5344CB8AC3E}">
        <p14:creationId xmlns:p14="http://schemas.microsoft.com/office/powerpoint/2010/main" val="8117597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69CC0A9E-78C9-4CFF-A160-C1274940D43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We can calculate the desired error for the output units as: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K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𝐽</m:t>
                      </m:r>
                      <m:r>
                        <a:rPr lang="en-PK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(</m:t>
                      </m:r>
                      <m:r>
                        <a:rPr lang="en-PK" b="1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𝐰</m:t>
                      </m:r>
                      <m:r>
                        <a:rPr lang="en-PK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)≡1/2</m:t>
                      </m:r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en-PK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</m:ctrlPr>
                        </m:naryPr>
                        <m:sub>
                          <m:r>
                            <a:rPr lang="en-PK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𝑘</m:t>
                          </m:r>
                          <m:r>
                            <a:rPr lang="en-PK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=1</m:t>
                          </m:r>
                        </m:sub>
                        <m:sup>
                          <m:r>
                            <a:rPr lang="en-PK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𝑐</m:t>
                          </m:r>
                        </m:sup>
                        <m:e>
                          <m:r>
                            <a:rPr lang="en-PK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 </m:t>
                          </m:r>
                        </m:e>
                      </m:nary>
                      <m:sSup>
                        <m:sSupPr>
                          <m:ctrlPr>
                            <a:rPr lang="en-PK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PK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PK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PK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Arial" panose="020B0604020202020204" pitchFamily="34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PK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Arial" panose="020B0604020202020204" pitchFamily="34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PK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PK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PK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Arial" panose="020B0604020202020204" pitchFamily="34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PK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Arial" panose="020B0604020202020204" pitchFamily="34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PK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2</m:t>
                          </m:r>
                        </m:sup>
                      </m:sSup>
                      <m:r>
                        <a:rPr lang="en-PK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=1/2(</m:t>
                      </m:r>
                      <m:r>
                        <a:rPr lang="en-PK" b="1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𝐭</m:t>
                      </m:r>
                      <m:r>
                        <a:rPr lang="en-PK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−</m:t>
                      </m:r>
                      <m:r>
                        <a:rPr lang="en-PK" b="1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𝐳</m:t>
                      </m:r>
                      <m:sSup>
                        <m:sSupPr>
                          <m:ctrlPr>
                            <a:rPr lang="en-PK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en-PK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)</m:t>
                          </m:r>
                        </m:e>
                        <m:sup>
                          <m:r>
                            <a:rPr lang="en-PK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PK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r>
                  <a:rPr lang="en-US" dirty="0"/>
                  <a:t>The </a:t>
                </a:r>
                <a:r>
                  <a:rPr lang="en-US" dirty="0">
                    <a:solidFill>
                      <a:srgbClr val="00B050"/>
                    </a:solidFill>
                  </a:rPr>
                  <a:t>backpropagation learning rule is based on gradient descent</a:t>
                </a:r>
                <a:r>
                  <a:rPr lang="en-US" dirty="0"/>
                  <a:t>.</a:t>
                </a:r>
              </a:p>
              <a:p>
                <a:pPr algn="l"/>
                <a:r>
                  <a:rPr lang="en-US" dirty="0"/>
                  <a:t>The weights are initialized with random values, and are changed in a direction that will reduce the error: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PK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Δ</m:t>
                      </m:r>
                      <m:r>
                        <a:rPr lang="en-PK" b="1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𝐰</m:t>
                      </m:r>
                      <m:r>
                        <a:rPr lang="en-PK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=−</m:t>
                      </m:r>
                      <m:r>
                        <a:rPr lang="en-PK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𝜂</m:t>
                      </m:r>
                      <m:f>
                        <m:fPr>
                          <m:ctrlPr>
                            <a:rPr lang="en-PK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PK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𝜕</m:t>
                          </m:r>
                          <m:r>
                            <a:rPr lang="en-PK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𝐽</m:t>
                          </m:r>
                        </m:num>
                        <m:den>
                          <m:r>
                            <a:rPr lang="en-PK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𝜕</m:t>
                          </m:r>
                          <m:r>
                            <a:rPr lang="en-PK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𝐰</m:t>
                          </m:r>
                        </m:den>
                      </m:f>
                    </m:oMath>
                  </m:oMathPara>
                </a14:m>
                <a:endParaRPr lang="en-PK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r>
                  <a:rPr lang="en-US" sz="2600" dirty="0">
                    <a:latin typeface="CMR10"/>
                  </a:rPr>
                  <a:t>where </a:t>
                </a:r>
                <a:r>
                  <a:rPr lang="en-US" sz="2600" i="1" dirty="0">
                    <a:latin typeface="CMMI10"/>
                  </a:rPr>
                  <a:t>η </a:t>
                </a:r>
                <a:r>
                  <a:rPr lang="en-US" sz="2600" dirty="0">
                    <a:latin typeface="CMR10"/>
                  </a:rPr>
                  <a:t>is the </a:t>
                </a:r>
                <a:r>
                  <a:rPr lang="en-US" sz="2600" i="1" dirty="0">
                    <a:solidFill>
                      <a:srgbClr val="00B050"/>
                    </a:solidFill>
                    <a:latin typeface="CMTI10"/>
                  </a:rPr>
                  <a:t>learning rate</a:t>
                </a:r>
                <a:endParaRPr lang="en-US" sz="2600" dirty="0">
                  <a:solidFill>
                    <a:srgbClr val="00B050"/>
                  </a:solidFill>
                  <a:latin typeface="CMR10"/>
                </a:endParaRP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69CC0A9E-78C9-4CFF-A160-C1274940D4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0" t="-1482" b="-12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1513C9-8FBD-4708-A650-6EF97823E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B6A4C-CB9B-4335-BF1E-9EAD7CF30668}" type="datetime1">
              <a:rPr lang="en-US" smtClean="0"/>
              <a:t>2/10/2025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0DA9C1-23E3-437C-BE20-406269ADC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1BD25E-FB6F-4DC4-9456-DE313E723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CA05C1C-63F6-4328-9378-77D7BB49C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MBX12"/>
              </a:rPr>
              <a:t>Backpropagation algorithm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37177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5251AF5E-C9B5-4174-A951-C634E299E25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l"/>
                <a:r>
                  <a:rPr lang="en-US" i="0" u="none" strike="noStrike" baseline="0" dirty="0">
                    <a:latin typeface="CMR10"/>
                  </a:rPr>
                  <a:t>The weight vector will be updated in iterative manner as:</a:t>
                </a:r>
              </a:p>
              <a:p>
                <a:pPr marL="0" indent="0" algn="ctr">
                  <a:buNone/>
                </a:pPr>
                <a:r>
                  <a:rPr lang="pl-PL" i="0" u="none" strike="noStrike" baseline="0" dirty="0">
                    <a:latin typeface="CMBX10"/>
                  </a:rPr>
                  <a:t>w</a:t>
                </a:r>
                <a:r>
                  <a:rPr lang="pl-PL" i="0" u="none" strike="noStrike" baseline="0" dirty="0">
                    <a:latin typeface="CMR10"/>
                  </a:rPr>
                  <a:t>(</a:t>
                </a:r>
                <a:r>
                  <a:rPr lang="pl-PL" i="1" u="none" strike="noStrike" baseline="0" dirty="0">
                    <a:latin typeface="CMMI10"/>
                  </a:rPr>
                  <a:t>m </a:t>
                </a:r>
                <a:r>
                  <a:rPr lang="pl-PL" i="0" u="none" strike="noStrike" baseline="0" dirty="0">
                    <a:latin typeface="CMR10"/>
                  </a:rPr>
                  <a:t>+ 1) = </a:t>
                </a:r>
                <a:r>
                  <a:rPr lang="pl-PL" i="0" u="none" strike="noStrike" baseline="0" dirty="0">
                    <a:latin typeface="CMBX10"/>
                  </a:rPr>
                  <a:t>w</a:t>
                </a:r>
                <a:r>
                  <a:rPr lang="pl-PL" i="0" u="none" strike="noStrike" baseline="0" dirty="0">
                    <a:latin typeface="CMR10"/>
                  </a:rPr>
                  <a:t>(</a:t>
                </a:r>
                <a:r>
                  <a:rPr lang="pl-PL" i="1" u="none" strike="noStrike" baseline="0" dirty="0">
                    <a:latin typeface="CMMI10"/>
                  </a:rPr>
                  <a:t>m</a:t>
                </a:r>
                <a:r>
                  <a:rPr lang="pl-PL" i="0" u="none" strike="noStrike" baseline="0" dirty="0">
                    <a:latin typeface="CMR10"/>
                  </a:rPr>
                  <a:t>)+Δ</a:t>
                </a:r>
                <a:r>
                  <a:rPr lang="pl-PL" i="0" u="none" strike="noStrike" baseline="0" dirty="0">
                    <a:latin typeface="CMBX10"/>
                  </a:rPr>
                  <a:t>w</a:t>
                </a:r>
                <a:r>
                  <a:rPr lang="pl-PL" i="0" u="none" strike="noStrike" baseline="0" dirty="0">
                    <a:latin typeface="CMR10"/>
                  </a:rPr>
                  <a:t>(</a:t>
                </a:r>
                <a:r>
                  <a:rPr lang="pl-PL" i="1" u="none" strike="noStrike" baseline="0" dirty="0">
                    <a:latin typeface="CMMI10"/>
                  </a:rPr>
                  <a:t>m</a:t>
                </a:r>
                <a:r>
                  <a:rPr lang="pl-PL" i="0" u="none" strike="noStrike" baseline="0" dirty="0">
                    <a:latin typeface="CMR10"/>
                  </a:rPr>
                  <a:t>)</a:t>
                </a:r>
                <a:endParaRPr lang="en-US" i="0" u="none" strike="noStrike" baseline="0" dirty="0">
                  <a:latin typeface="CMR10"/>
                </a:endParaRPr>
              </a:p>
              <a:p>
                <a:pPr marL="0" indent="0" algn="ctr">
                  <a:buNone/>
                </a:pPr>
                <a:endParaRPr lang="pl-PL" sz="900" dirty="0">
                  <a:latin typeface="CMBX10"/>
                </a:endParaRPr>
              </a:p>
              <a:p>
                <a:pPr marL="0" indent="0" algn="ctr">
                  <a:buNone/>
                </a:pPr>
                <a:r>
                  <a:rPr lang="pl-PL" sz="2400" dirty="0">
                    <a:latin typeface="CMBX10"/>
                  </a:rPr>
                  <a:t>w</a:t>
                </a:r>
                <a:r>
                  <a:rPr lang="pl-PL" sz="2400" dirty="0">
                    <a:latin typeface="CMR10"/>
                  </a:rPr>
                  <a:t>(</a:t>
                </a:r>
                <a:r>
                  <a:rPr lang="pl-PL" sz="2400" i="1" dirty="0">
                    <a:latin typeface="CMMI10"/>
                  </a:rPr>
                  <a:t>m </a:t>
                </a:r>
                <a:r>
                  <a:rPr lang="pl-PL" sz="2400" dirty="0">
                    <a:latin typeface="CMR10"/>
                  </a:rPr>
                  <a:t>+ 1) = </a:t>
                </a:r>
                <a:r>
                  <a:rPr lang="pl-PL" sz="2400" dirty="0">
                    <a:latin typeface="CMBX10"/>
                  </a:rPr>
                  <a:t>w</a:t>
                </a:r>
                <a:r>
                  <a:rPr lang="pl-PL" sz="2400" dirty="0">
                    <a:latin typeface="CMR10"/>
                  </a:rPr>
                  <a:t>(</a:t>
                </a:r>
                <a:r>
                  <a:rPr lang="pl-PL" sz="2400" i="1" dirty="0">
                    <a:latin typeface="CMMI10"/>
                  </a:rPr>
                  <a:t>m</a:t>
                </a:r>
                <a:r>
                  <a:rPr lang="pl-PL" sz="2400" dirty="0">
                    <a:latin typeface="CMR10"/>
                  </a:rPr>
                  <a:t>)</a:t>
                </a:r>
                <a:r>
                  <a:rPr lang="en-US" sz="2400" dirty="0">
                    <a:latin typeface="CMR10"/>
                  </a:rPr>
                  <a:t> </a:t>
                </a:r>
                <a14:m>
                  <m:oMath xmlns:m="http://schemas.openxmlformats.org/officeDocument/2006/math">
                    <m:r>
                      <a:rPr lang="en-PK" sz="2400" i="1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−</m:t>
                    </m:r>
                    <m:r>
                      <a:rPr lang="en-US" sz="2400" i="1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 </m:t>
                    </m:r>
                    <m:r>
                      <a:rPr lang="en-PK" sz="2400" i="1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𝜂</m:t>
                    </m:r>
                    <m:f>
                      <m:fPr>
                        <m:ctrlPr>
                          <a:rPr lang="en-PK" sz="2400" i="1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en-PK" sz="2400" i="1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𝜕</m:t>
                        </m:r>
                        <m:r>
                          <a:rPr lang="en-PK" sz="2400" i="1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𝐽</m:t>
                        </m:r>
                      </m:num>
                      <m:den>
                        <m:r>
                          <a:rPr lang="en-PK" sz="2400" i="1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𝜕</m:t>
                        </m:r>
                        <m:r>
                          <a:rPr lang="en-PK" sz="2400" i="1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𝑤</m:t>
                        </m:r>
                      </m:den>
                    </m:f>
                  </m:oMath>
                </a14:m>
                <a:endParaRPr lang="en-PK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r>
                  <a:rPr lang="en-US" sz="2400" dirty="0">
                    <a:latin typeface="CMR10"/>
                  </a:rPr>
                  <a:t>The weights throughout the network can be updated using.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K" sz="2000" i="1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𝛥</m:t>
                      </m:r>
                      <m:sSub>
                        <m:sSubPr>
                          <m:ctrlPr>
                            <a:rPr lang="en-PK" sz="20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PK" sz="20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PK" sz="20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𝑚𝑛</m:t>
                          </m:r>
                        </m:sub>
                      </m:sSub>
                      <m:r>
                        <a:rPr lang="en-PK" sz="2000" i="1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=−</m:t>
                      </m:r>
                      <m:r>
                        <a:rPr lang="en-PK" sz="2000" i="1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𝜂</m:t>
                      </m:r>
                      <m:f>
                        <m:fPr>
                          <m:ctrlPr>
                            <a:rPr lang="en-PK" sz="20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PK" sz="20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𝜕</m:t>
                          </m:r>
                          <m:r>
                            <a:rPr lang="en-PK" sz="20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𝐽</m:t>
                          </m:r>
                        </m:num>
                        <m:den>
                          <m:r>
                            <a:rPr lang="en-PK" sz="20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PK" sz="20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PK" sz="20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PK" sz="20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𝑚𝑛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3200" dirty="0"/>
              </a:p>
              <a:p>
                <a:r>
                  <a:rPr lang="en-US" dirty="0"/>
                  <a:t>Now the challenge is to update the weights </a:t>
                </a:r>
              </a:p>
              <a:p>
                <a:pPr lvl="1"/>
                <a:r>
                  <a:rPr lang="en-US" dirty="0"/>
                  <a:t>Some are </a:t>
                </a:r>
                <a:r>
                  <a:rPr lang="en-US" dirty="0">
                    <a:solidFill>
                      <a:srgbClr val="00B050"/>
                    </a:solidFill>
                  </a:rPr>
                  <a:t>not explicitly dependent on incoming weights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5251AF5E-C9B5-4174-A951-C634E299E2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0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51DB7E-D63A-4018-90BF-BB10ACF3F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B6A4C-CB9B-4335-BF1E-9EAD7CF30668}" type="datetime1">
              <a:rPr lang="en-US" smtClean="0"/>
              <a:t>2/10/2025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A0262F-DD37-4802-8B98-4762CD890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79FB31-4E57-4BD9-86CB-F00B1F16A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036E33C-27A2-4084-B4F7-EF50EE665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MBX12"/>
              </a:rPr>
              <a:t>Backpropagation algorithm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00596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BCD37CB0-33DC-4B18-85AE-202F0ECA1AE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l"/>
                <a:r>
                  <a:rPr lang="en-US" sz="2400" dirty="0">
                    <a:latin typeface="CMR10"/>
                  </a:rPr>
                  <a:t>Consider first the hidden-to-output weights, </a:t>
                </a:r>
                <a:r>
                  <a:rPr lang="en-US" sz="2400" i="1" dirty="0" err="1">
                    <a:latin typeface="CMMI10"/>
                  </a:rPr>
                  <a:t>w</a:t>
                </a:r>
                <a:r>
                  <a:rPr lang="en-US" sz="2400" i="1" baseline="-25000" dirty="0" err="1">
                    <a:latin typeface="CMMI7"/>
                  </a:rPr>
                  <a:t>jk</a:t>
                </a:r>
                <a:r>
                  <a:rPr lang="en-US" sz="2400" dirty="0">
                    <a:latin typeface="CMR10"/>
                  </a:rPr>
                  <a:t>.</a:t>
                </a:r>
              </a:p>
              <a:p>
                <a:r>
                  <a:rPr lang="en-US" sz="2400" dirty="0">
                    <a:latin typeface="CMR10"/>
                  </a:rPr>
                  <a:t>we must use the chain rule for differentiation: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fPr>
                        <m:num>
                          <m:r>
                            <a:rPr lang="en-PK" sz="2400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𝜕</m:t>
                          </m:r>
                          <m: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𝐽</m:t>
                          </m:r>
                        </m:num>
                        <m:den>
                          <m:r>
                            <a:rPr lang="en-PK" sz="2400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PK" sz="2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en-PK" sz="2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PK" sz="2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𝑘𝑗</m:t>
                              </m:r>
                            </m:sub>
                          </m:sSub>
                        </m:den>
                      </m:f>
                      <m:r>
                        <a:rPr lang="en-PK" sz="2400" i="1"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=</m:t>
                      </m:r>
                      <m:f>
                        <m:fPr>
                          <m:ctrlP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fPr>
                        <m:num>
                          <m:r>
                            <a:rPr lang="en-PK" sz="2400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𝜕</m:t>
                          </m:r>
                          <m: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𝐽</m:t>
                          </m:r>
                        </m:num>
                        <m:den>
                          <m:r>
                            <a:rPr lang="en-PK" sz="2400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𝜕</m:t>
                          </m:r>
                          <m: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𝑛𝑒</m:t>
                          </m:r>
                          <m:sSub>
                            <m:sSubPr>
                              <m:ctrlPr>
                                <a:rPr lang="en-PK" sz="2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en-PK" sz="2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PK" sz="2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𝑘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fPr>
                        <m:num>
                          <m:r>
                            <a:rPr lang="en-PK" sz="2400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𝜕</m:t>
                          </m:r>
                          <m: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𝑛𝑒</m:t>
                          </m:r>
                          <m:sSub>
                            <m:sSubPr>
                              <m:ctrlPr>
                                <a:rPr lang="en-PK" sz="2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en-PK" sz="2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PK" sz="2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𝑘</m:t>
                              </m:r>
                            </m:sub>
                          </m:sSub>
                        </m:num>
                        <m:den>
                          <m:r>
                            <a:rPr lang="en-PK" sz="2400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PK" sz="2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en-PK" sz="2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PK" sz="2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𝑘𝑗</m:t>
                              </m:r>
                            </m:sub>
                          </m:sSub>
                        </m:den>
                      </m:f>
                      <m:r>
                        <a:rPr lang="en-PK" sz="2400" i="1"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𝛿</m:t>
                          </m:r>
                        </m:e>
                        <m:sub>
                          <m: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𝑘</m:t>
                          </m:r>
                        </m:sub>
                      </m:sSub>
                      <m:f>
                        <m:fPr>
                          <m:ctrlP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fPr>
                        <m:num>
                          <m:r>
                            <a:rPr lang="en-PK" sz="2400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𝜕</m:t>
                          </m:r>
                          <m: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𝑛𝑒</m:t>
                          </m:r>
                          <m:sSub>
                            <m:sSubPr>
                              <m:ctrlPr>
                                <a:rPr lang="en-PK" sz="2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en-PK" sz="2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PK" sz="2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𝑘</m:t>
                              </m:r>
                            </m:sub>
                          </m:sSub>
                        </m:num>
                        <m:den>
                          <m:r>
                            <a:rPr lang="en-PK" sz="2400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PK" sz="2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en-PK" sz="2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PK" sz="2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𝑘𝑗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PK" sz="2400" dirty="0">
                  <a:latin typeface="Calibri" panose="020F0502020204030204" pitchFamily="34" charset="0"/>
                  <a:ea typeface="Calibri" panose="020F0502020204030204" pitchFamily="34" charset="0"/>
                </a:endParaRPr>
              </a:p>
              <a:p>
                <a:endParaRPr lang="en-US" sz="2400" i="1" dirty="0">
                  <a:latin typeface="CMTI10"/>
                </a:endParaRPr>
              </a:p>
              <a:p>
                <a:r>
                  <a:rPr lang="en-US" sz="2400" i="1" dirty="0">
                    <a:solidFill>
                      <a:srgbClr val="00B050"/>
                    </a:solidFill>
                    <a:latin typeface="CMTI10"/>
                  </a:rPr>
                  <a:t>Sensitivity </a:t>
                </a:r>
                <a:r>
                  <a:rPr lang="en-US" sz="2400" dirty="0">
                    <a:solidFill>
                      <a:srgbClr val="00B050"/>
                    </a:solidFill>
                    <a:latin typeface="CMR10"/>
                  </a:rPr>
                  <a:t>of output unit </a:t>
                </a:r>
                <a:r>
                  <a:rPr lang="en-US" sz="2400" i="1" dirty="0">
                    <a:latin typeface="CMMI10"/>
                  </a:rPr>
                  <a:t>k </a:t>
                </a:r>
                <a:r>
                  <a:rPr lang="en-US" sz="2400" dirty="0">
                    <a:latin typeface="CMR10"/>
                  </a:rPr>
                  <a:t>is defined to be</a:t>
                </a:r>
              </a:p>
              <a:p>
                <a:endParaRPr lang="en-US" sz="2400" dirty="0">
                  <a:latin typeface="CMTI1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PK" i="1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PK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𝛿</m:t>
                          </m:r>
                        </m:e>
                        <m:sub>
                          <m:r>
                            <a:rPr lang="en-PK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𝑘</m:t>
                          </m:r>
                        </m:sub>
                      </m:sSub>
                      <m:r>
                        <a:rPr lang="en-PK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≡−</m:t>
                      </m:r>
                      <m:r>
                        <a:rPr lang="en-PK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𝜕</m:t>
                      </m:r>
                      <m:r>
                        <a:rPr lang="en-PK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𝐽</m:t>
                      </m:r>
                      <m:r>
                        <a:rPr lang="en-PK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/</m:t>
                      </m:r>
                      <m:r>
                        <a:rPr lang="en-PK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𝜕</m:t>
                      </m:r>
                      <m:r>
                        <a:rPr lang="en-PK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𝑛𝑒</m:t>
                      </m:r>
                      <m:sSub>
                        <m:sSubPr>
                          <m:ctrlPr>
                            <a:rPr lang="en-PK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PK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  <m:sub>
                          <m:r>
                            <a:rPr lang="en-PK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PK" sz="1800" dirty="0">
                  <a:latin typeface="Calibri" panose="020F0502020204030204" pitchFamily="34" charset="0"/>
                  <a:ea typeface="Calibri" panose="020F0502020204030204" pitchFamily="34" charset="0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BCD37CB0-33DC-4B18-85AE-202F0ECA1A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3" t="-1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ED827A-0997-4D76-BAAA-3E28623B6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B6A4C-CB9B-4335-BF1E-9EAD7CF30668}" type="datetime1">
              <a:rPr lang="en-US" smtClean="0"/>
              <a:t>2/10/2025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324CA1-9BFA-4EDE-8A7A-E589CF56D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EA527A-73E9-43BA-9787-FE3F9E7E3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778CC77-C7B1-4E9B-8207-DA53AA2A2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MBX12"/>
              </a:rPr>
              <a:t>Backpropagation algorithm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06432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1EC21251-36BE-4D65-994A-C6ED265956B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Differentiate the </a:t>
                </a:r>
                <a:r>
                  <a:rPr lang="en-US" dirty="0">
                    <a:solidFill>
                      <a:srgbClr val="00B050"/>
                    </a:solidFill>
                  </a:rPr>
                  <a:t>cost function with unit’s net activation </a:t>
                </a:r>
                <a:r>
                  <a:rPr lang="en-US" dirty="0"/>
                  <a:t>to find how the overall error changes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K" sz="2400" i="1"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𝐽</m:t>
                      </m:r>
                      <m:r>
                        <a:rPr lang="en-PK" sz="2400" i="1"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en-PK" sz="2400" b="1" i="1"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𝐰</m:t>
                      </m:r>
                      <m:r>
                        <a:rPr lang="en-PK" sz="2400" i="1"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)≡1/2</m:t>
                      </m:r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naryPr>
                        <m:sub>
                          <m: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𝑘</m:t>
                          </m:r>
                          <m: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=1</m:t>
                          </m:r>
                        </m:sub>
                        <m:sup>
                          <m: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𝑐</m:t>
                          </m:r>
                        </m:sup>
                        <m:e>
                          <m: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 </m:t>
                          </m:r>
                        </m:e>
                      </m:nary>
                      <m:sSup>
                        <m:sSupPr>
                          <m:ctrlP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PK" sz="2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PK" sz="24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PK" sz="24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PK" sz="24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PK" sz="2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PK" sz="24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PK" sz="24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PK" sz="24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PK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PK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𝛿</m:t>
                        </m:r>
                      </m:e>
                      <m:sub>
                        <m:r>
                          <a:rPr lang="en-PK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𝑘</m:t>
                        </m:r>
                      </m:sub>
                    </m:sSub>
                    <m:r>
                      <a:rPr lang="en-PK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≡−</m:t>
                    </m:r>
                    <m:r>
                      <a:rPr lang="en-PK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𝜕</m:t>
                    </m:r>
                    <m:r>
                      <a:rPr lang="en-PK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𝐽</m:t>
                    </m:r>
                    <m:r>
                      <a:rPr lang="en-PK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/</m:t>
                    </m:r>
                    <m:r>
                      <a:rPr lang="en-PK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𝜕</m:t>
                    </m:r>
                    <m:r>
                      <a:rPr lang="en-PK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𝑛𝑒</m:t>
                    </m:r>
                    <m:sSub>
                      <m:sSubPr>
                        <m:ctrlPr>
                          <a:rPr lang="en-PK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PK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𝑡</m:t>
                        </m:r>
                      </m:e>
                      <m:sub>
                        <m:r>
                          <a:rPr lang="en-PK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=</a:t>
                </a:r>
                <a:r>
                  <a:rPr lang="en-PK" dirty="0"/>
                  <a:t> </a:t>
                </a:r>
                <a14:m>
                  <m:oMath xmlns:m="http://schemas.openxmlformats.org/officeDocument/2006/math">
                    <m:r>
                      <a:rPr lang="en-PK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PK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PK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PK" i="1">
                            <a:latin typeface="Cambria Math" panose="02040503050406030204" pitchFamily="18" charset="0"/>
                          </a:rPr>
                          <m:t>𝐽</m:t>
                        </m:r>
                      </m:num>
                      <m:den>
                        <m:r>
                          <a:rPr lang="en-PK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PK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PK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PK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en-PK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PK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PK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PK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PK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num>
                      <m:den>
                        <m:r>
                          <a:rPr lang="en-PK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PK" i="1">
                            <a:latin typeface="Cambria Math" panose="02040503050406030204" pitchFamily="18" charset="0"/>
                          </a:rPr>
                          <m:t>𝑛𝑒</m:t>
                        </m:r>
                        <m:sSub>
                          <m:sSubPr>
                            <m:ctrlPr>
                              <a:rPr lang="en-PK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PK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PK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den>
                    </m:f>
                    <m:r>
                      <a:rPr lang="en-PK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PK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PK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PK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PK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PK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PK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PK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PK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sSup>
                      <m:sSupPr>
                        <m:ctrlPr>
                          <a:rPr lang="en-PK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PK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PK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PK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PK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𝑛𝑒</m:t>
                        </m:r>
                        <m:sSub>
                          <m:sSubPr>
                            <m:ctrlPr>
                              <a:rPr lang="en-PK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PK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PK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endParaRPr lang="en-PK" dirty="0"/>
              </a:p>
              <a:p>
                <a:r>
                  <a:rPr lang="en-US" dirty="0"/>
                  <a:t>From the equation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PK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PK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PK" i="1">
                            <a:latin typeface="Cambria Math" panose="02040503050406030204" pitchFamily="18" charset="0"/>
                          </a:rPr>
                          <m:t>𝑛𝑒</m:t>
                        </m:r>
                        <m:sSub>
                          <m:sSubPr>
                            <m:ctrlPr>
                              <a:rPr lang="en-PK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PK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PK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num>
                      <m:den>
                        <m:r>
                          <a:rPr lang="en-PK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PK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PK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PK" i="1">
                                <a:latin typeface="Cambria Math" panose="02040503050406030204" pitchFamily="18" charset="0"/>
                              </a:rPr>
                              <m:t>𝑘𝑗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PK" i="1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𝑖</m:t>
                        </m:r>
                      </m:sub>
                    </m:sSub>
                  </m:oMath>
                </a14:m>
                <a:endParaRPr lang="en-PK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1EC21251-36BE-4D65-994A-C6ED265956B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33" t="-14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16F7D4-12F3-4F06-AA9A-2FF988DC9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B6A4C-CB9B-4335-BF1E-9EAD7CF30668}" type="datetime1">
              <a:rPr lang="en-US" smtClean="0"/>
              <a:t>2/10/2025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E03207-5F34-42B5-8039-838BD5ACE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88E4A2-1E5D-4B1D-9F78-037D3A3B1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97805DF-9DDE-487F-93CA-05C3A7D5D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MBX12"/>
              </a:rPr>
              <a:t>Backpropagation algorithm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5834141-F0B4-47B5-89CA-C783C54102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200" y="5140409"/>
            <a:ext cx="2895600" cy="1134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8545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5CDD3FAE-097A-4848-812A-B5D71BA40C4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l"/>
                <a:r>
                  <a:rPr lang="en-US" sz="2400" dirty="0">
                    <a:latin typeface="CMR10"/>
                  </a:rPr>
                  <a:t>Taken together, these results give the </a:t>
                </a:r>
                <a:r>
                  <a:rPr lang="en-US" sz="2400" dirty="0">
                    <a:solidFill>
                      <a:srgbClr val="00B050"/>
                    </a:solidFill>
                    <a:latin typeface="CMR10"/>
                  </a:rPr>
                  <a:t>weight update (learning rule) for the hidden-to-output weight</a:t>
                </a:r>
                <a:r>
                  <a:rPr lang="en-US" sz="2400" dirty="0">
                    <a:latin typeface="CMR10"/>
                  </a:rPr>
                  <a:t>s:</a:t>
                </a:r>
              </a:p>
              <a:p>
                <a:pPr algn="l"/>
                <a:endParaRPr lang="en-US" sz="2400" dirty="0">
                  <a:latin typeface="CMR1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PK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Δ</m:t>
                      </m:r>
                      <m:sSub>
                        <m:sSubPr>
                          <m:ctrlPr>
                            <a:rPr lang="en-PK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PK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𝑤</m:t>
                          </m:r>
                        </m:e>
                        <m:sub>
                          <m:r>
                            <a:rPr lang="en-PK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𝑘𝑗</m:t>
                          </m:r>
                        </m:sub>
                      </m:sSub>
                      <m:r>
                        <a:rPr lang="en-PK" i="1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PK" i="1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𝜂</m:t>
                      </m:r>
                      <m:sSub>
                        <m:sSubPr>
                          <m:ctrlPr>
                            <a:rPr lang="en-PK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PK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𝛿</m:t>
                          </m:r>
                        </m:e>
                        <m:sub>
                          <m:r>
                            <a:rPr lang="en-PK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𝑘</m:t>
                          </m:r>
                        </m:sub>
                      </m:sSub>
                      <m:sSub>
                        <m:sSubPr>
                          <m:ctrlPr>
                            <a:rPr lang="en-PK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PK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𝑦</m:t>
                          </m:r>
                        </m:e>
                        <m:sub>
                          <m:r>
                            <a:rPr lang="en-PK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𝑗</m:t>
                          </m:r>
                        </m:sub>
                      </m:sSub>
                      <m:r>
                        <a:rPr lang="en-PK" i="1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PK" i="1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𝜂</m:t>
                      </m:r>
                      <m:d>
                        <m:dPr>
                          <m:ctrlPr>
                            <a:rPr lang="en-PK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PK" i="1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PK" i="1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PK" i="1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PK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PK" i="1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PK" i="1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PK" i="1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sSup>
                        <m:sSupPr>
                          <m:ctrlPr>
                            <a:rPr lang="en-PK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en-PK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𝑓</m:t>
                          </m:r>
                        </m:e>
                        <m:sup>
                          <m:r>
                            <a:rPr lang="en-PK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PK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PK" i="1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PK">
                                  <a:solidFill>
                                    <a:srgbClr val="FF0000"/>
                                  </a:solidFill>
                                  <a:effectLst/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PK">
                                  <a:solidFill>
                                    <a:srgbClr val="FF0000"/>
                                  </a:solidFill>
                                  <a:effectLst/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net</m:t>
                              </m:r>
                              <m:r>
                                <m:rPr>
                                  <m:nor/>
                                </m:rPr>
                                <a:rPr lang="en-PK">
                                  <a:solidFill>
                                    <a:srgbClr val="FF0000"/>
                                  </a:solidFill>
                                  <a:effectLst/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 </m:t>
                              </m:r>
                            </m:e>
                            <m:sub>
                              <m:r>
                                <a:rPr lang="en-PK" i="1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PK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PK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𝑦</m:t>
                          </m:r>
                        </m:e>
                        <m:sub>
                          <m:r>
                            <a:rPr lang="en-PK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sz="2000" dirty="0">
                  <a:solidFill>
                    <a:srgbClr val="FF0000"/>
                  </a:solidFill>
                  <a:latin typeface="Calibri" panose="020F0502020204030204" pitchFamily="34" charset="0"/>
                  <a:ea typeface="Calibri" panose="020F0502020204030204" pitchFamily="34" charset="0"/>
                </a:endParaRPr>
              </a:p>
              <a:p>
                <a:pPr marL="0" indent="0">
                  <a:buNone/>
                </a:pPr>
                <a:endParaRPr lang="en-US" sz="2000" dirty="0">
                  <a:solidFill>
                    <a:srgbClr val="FF0000"/>
                  </a:solidFill>
                  <a:latin typeface="Calibri" panose="020F0502020204030204" pitchFamily="34" charset="0"/>
                  <a:ea typeface="Calibri" panose="020F0502020204030204" pitchFamily="34" charset="0"/>
                </a:endParaRPr>
              </a:p>
              <a:p>
                <a:pPr algn="l"/>
                <a:r>
                  <a:rPr lang="en-US" sz="2400" dirty="0">
                    <a:latin typeface="CMR10"/>
                  </a:rPr>
                  <a:t>This makes intuitive sense:</a:t>
                </a:r>
              </a:p>
              <a:p>
                <a:pPr lvl="1"/>
                <a:r>
                  <a:rPr lang="en-US" b="0" i="0" u="none" strike="noStrike" baseline="0" dirty="0">
                    <a:latin typeface="CMR10"/>
                  </a:rPr>
                  <a:t>The weight update at unit </a:t>
                </a:r>
                <a:r>
                  <a:rPr lang="en-US" b="0" i="1" u="none" strike="noStrike" baseline="0" dirty="0">
                    <a:latin typeface="CMMI10"/>
                  </a:rPr>
                  <a:t>k should </a:t>
                </a:r>
                <a:r>
                  <a:rPr lang="en-US" b="0" i="0" u="none" strike="noStrike" baseline="0" dirty="0">
                    <a:latin typeface="CMR10"/>
                  </a:rPr>
                  <a:t>depend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PK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PK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𝑡</m:t>
                        </m:r>
                      </m:e>
                      <m:sub>
                        <m:r>
                          <a:rPr lang="en-PK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𝑘</m:t>
                        </m:r>
                      </m:sub>
                    </m:sSub>
                    <m:r>
                      <a:rPr lang="en-PK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−</m:t>
                    </m:r>
                    <m:sSub>
                      <m:sSubPr>
                        <m:ctrlPr>
                          <a:rPr lang="en-PK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PK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𝑧</m:t>
                        </m:r>
                      </m:e>
                      <m:sub>
                        <m:r>
                          <a:rPr lang="en-PK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i="0" dirty="0">
                  <a:solidFill>
                    <a:schemeClr val="tx1"/>
                  </a:solidFill>
                  <a:effectLst/>
                  <a:latin typeface="CMR1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 lvl="1"/>
                <a:r>
                  <a:rPr lang="en-US" b="0" i="0" u="none" strike="noStrike" baseline="0" dirty="0">
                    <a:latin typeface="CMR10"/>
                  </a:rPr>
                  <a:t> if we get the desired output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PK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PK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𝑡</m:t>
                        </m:r>
                      </m:e>
                      <m:sub>
                        <m:r>
                          <a:rPr lang="en-PK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=</m:t>
                    </m:r>
                    <m:sSub>
                      <m:sSubPr>
                        <m:ctrlPr>
                          <a:rPr lang="en-PK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PK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𝑧</m:t>
                        </m:r>
                      </m:e>
                      <m:sub>
                        <m:r>
                          <a:rPr lang="en-PK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b="0" i="0" u="none" strike="noStrike" baseline="0" dirty="0">
                    <a:latin typeface="CMR10"/>
                  </a:rPr>
                  <a:t>), then there should be no weight change.</a:t>
                </a:r>
              </a:p>
              <a:p>
                <a:pPr marL="0" indent="0">
                  <a:buNone/>
                </a:pPr>
                <a:endParaRPr lang="en-PK" sz="2000" dirty="0">
                  <a:solidFill>
                    <a:srgbClr val="FF0000"/>
                  </a:solidFill>
                  <a:latin typeface="Calibri" panose="020F0502020204030204" pitchFamily="34" charset="0"/>
                  <a:ea typeface="Calibri" panose="020F0502020204030204" pitchFamily="34" charset="0"/>
                </a:endParaRPr>
              </a:p>
              <a:p>
                <a:endParaRPr lang="en-PK" sz="1800" dirty="0">
                  <a:latin typeface="Calibri" panose="020F0502020204030204" pitchFamily="34" charset="0"/>
                  <a:ea typeface="Calibri" panose="020F0502020204030204" pitchFamily="34" charset="0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5CDD3FAE-097A-4848-812A-B5D71BA40C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3" t="-1078" r="-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8729EE-8CA1-44F0-848B-672C5A639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B6A4C-CB9B-4335-BF1E-9EAD7CF30668}" type="datetime1">
              <a:rPr lang="en-US" smtClean="0"/>
              <a:t>2/10/2025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10F922-BBCD-4F58-9970-0FB823484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79E41C-1EC9-46A5-AB99-7F3C804B6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B9C1E3F-3CDF-4379-A04D-21C727A41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MBX12"/>
              </a:rPr>
              <a:t>Backpropagation algorithm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07890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8E45BC34-9D9F-46CC-941F-F55EF5EC518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0" i="0" u="none" strike="noStrike" baseline="0" dirty="0">
                    <a:latin typeface="CMR10"/>
                  </a:rPr>
                  <a:t>The learning rule for the </a:t>
                </a:r>
                <a:r>
                  <a:rPr lang="en-US" b="0" i="0" u="none" strike="noStrike" baseline="0" dirty="0">
                    <a:solidFill>
                      <a:srgbClr val="FF0000"/>
                    </a:solidFill>
                    <a:latin typeface="CMR10"/>
                  </a:rPr>
                  <a:t>input-to-hidden</a:t>
                </a:r>
                <a:r>
                  <a:rPr lang="en-US" b="0" i="0" u="none" strike="noStrike" baseline="0" dirty="0">
                    <a:latin typeface="CMR10"/>
                  </a:rPr>
                  <a:t> units can be calculated as: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fPr>
                        <m:num>
                          <m:r>
                            <a:rPr lang="en-PK" sz="2400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𝜕</m:t>
                          </m:r>
                          <m: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𝐽</m:t>
                          </m:r>
                        </m:num>
                        <m:den>
                          <m:r>
                            <a:rPr lang="en-PK" sz="2400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PK" sz="2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en-PK" sz="2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PK" sz="2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𝑗𝑖</m:t>
                              </m:r>
                            </m:sub>
                          </m:sSub>
                        </m:den>
                      </m:f>
                      <m:r>
                        <a:rPr lang="en-PK" sz="2400" i="1"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=</m:t>
                      </m:r>
                      <m:f>
                        <m:fPr>
                          <m:ctrlP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fPr>
                        <m:num>
                          <m:r>
                            <a:rPr lang="en-PK" sz="2400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𝜕</m:t>
                          </m:r>
                          <m: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𝐽</m:t>
                          </m:r>
                        </m:num>
                        <m:den>
                          <m:r>
                            <a:rPr lang="en-PK" sz="2400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PK" sz="2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en-PK" sz="2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PK" sz="2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fPr>
                        <m:num>
                          <m:r>
                            <a:rPr lang="en-PK" sz="2400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PK" sz="2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en-PK" sz="2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PK" sz="2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𝑗</m:t>
                              </m:r>
                            </m:sub>
                          </m:sSub>
                        </m:num>
                        <m:den>
                          <m:r>
                            <a:rPr lang="en-PK" sz="2400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𝜕</m:t>
                          </m:r>
                          <m: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𝑛𝑒</m:t>
                          </m:r>
                          <m:sSub>
                            <m:sSubPr>
                              <m:ctrlPr>
                                <a:rPr lang="en-PK" sz="2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en-PK" sz="2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PK" sz="2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fPr>
                        <m:num>
                          <m:r>
                            <a:rPr lang="en-PK" sz="2400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𝜕</m:t>
                          </m:r>
                          <m: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𝑛𝑒</m:t>
                          </m:r>
                          <m:sSub>
                            <m:sSubPr>
                              <m:ctrlPr>
                                <a:rPr lang="en-PK" sz="2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en-PK" sz="2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PK" sz="2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𝑗</m:t>
                              </m:r>
                            </m:sub>
                          </m:sSub>
                        </m:num>
                        <m:den>
                          <m:r>
                            <a:rPr lang="en-PK" sz="2400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PK" sz="2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en-PK" sz="2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PK" sz="2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𝑗𝑖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8E45BC34-9D9F-46CC-941F-F55EF5EC518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33" t="-1348" r="-22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190CE4-BE16-4876-80D4-050CCE37D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B6A4C-CB9B-4335-BF1E-9EAD7CF30668}" type="datetime1">
              <a:rPr lang="en-US" smtClean="0"/>
              <a:t>2/10/2025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271D54-FBAD-4C76-A920-CDA17BBCF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2038CA-DB6B-496D-A89F-18BADE01A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3DD2928-7F46-407E-9920-F50A0FBB5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MBX12"/>
              </a:rPr>
              <a:t>Backpropagation algorithm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82579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AC2223B-89E5-4DCA-9DA0-2BB1B581D9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14871" y="1447801"/>
            <a:ext cx="5192623" cy="4191000"/>
          </a:xfr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1CB7CF-19FF-4932-9807-A16ED1A1B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B6A4C-CB9B-4335-BF1E-9EAD7CF30668}" type="datetime1">
              <a:rPr lang="en-US" smtClean="0"/>
              <a:t>2/10/2025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3A8644-B8D8-41C6-9DCE-3F714D0D0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F49330-8766-4204-983C-E0A7FC5A1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2462B02-3AF0-4CE4-9BB6-D15696DC4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MBX12"/>
              </a:rPr>
              <a:t>Backpropagation algorithm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D63771-8D19-4819-A0B9-257092D5F58E}"/>
              </a:ext>
            </a:extLst>
          </p:cNvPr>
          <p:cNvSpPr txBox="1"/>
          <p:nvPr/>
        </p:nvSpPr>
        <p:spPr>
          <a:xfrm>
            <a:off x="1981200" y="5486401"/>
            <a:ext cx="8229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 dirty="0">
                <a:latin typeface="CMR10"/>
              </a:rPr>
              <a:t>This last equation expresses how the hidden unit output, </a:t>
            </a:r>
            <a:r>
              <a:rPr lang="en-US" sz="2400" i="1" dirty="0" err="1">
                <a:latin typeface="CMMI10"/>
              </a:rPr>
              <a:t>y</a:t>
            </a:r>
            <a:r>
              <a:rPr lang="en-US" sz="2400" i="1" dirty="0" err="1">
                <a:latin typeface="CMMI7"/>
              </a:rPr>
              <a:t>j</a:t>
            </a:r>
            <a:r>
              <a:rPr lang="en-US" sz="2400" i="1" dirty="0">
                <a:latin typeface="CMMI7"/>
              </a:rPr>
              <a:t> </a:t>
            </a:r>
            <a:r>
              <a:rPr lang="en-US" sz="2400" dirty="0">
                <a:latin typeface="CMR10"/>
              </a:rPr>
              <a:t>, affects the error at each output unit.</a:t>
            </a:r>
          </a:p>
        </p:txBody>
      </p:sp>
    </p:spTree>
    <p:extLst>
      <p:ext uri="{BB962C8B-B14F-4D97-AF65-F5344CB8AC3E}">
        <p14:creationId xmlns:p14="http://schemas.microsoft.com/office/powerpoint/2010/main" val="7186110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9C95442-F5D5-4B68-98C4-59E93D27FF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Similar to the sensitivity </a:t>
            </a:r>
            <a:r>
              <a:rPr lang="en-US" dirty="0"/>
              <a:t>we calculated for the output units, we can also calculate the </a:t>
            </a:r>
            <a:r>
              <a:rPr lang="en-US" dirty="0">
                <a:solidFill>
                  <a:srgbClr val="FF0000"/>
                </a:solidFill>
              </a:rPr>
              <a:t>sensitivity for hidden units similar</a:t>
            </a:r>
            <a:r>
              <a:rPr lang="en-US" dirty="0"/>
              <a:t> to previous equation as:</a:t>
            </a:r>
          </a:p>
          <a:p>
            <a:endParaRPr lang="en-US" dirty="0"/>
          </a:p>
          <a:p>
            <a:endParaRPr lang="en-US" dirty="0"/>
          </a:p>
          <a:p>
            <a:pPr algn="l"/>
            <a:endParaRPr lang="en-US" sz="1800" dirty="0">
              <a:latin typeface="CMR10"/>
            </a:endParaRPr>
          </a:p>
          <a:p>
            <a:pPr algn="l"/>
            <a:r>
              <a:rPr lang="en-US" sz="2400" dirty="0">
                <a:latin typeface="CMR10"/>
              </a:rPr>
              <a:t>This equation indicates that the sensitivity at a hidden unit is simply the </a:t>
            </a:r>
            <a:r>
              <a:rPr lang="en-US" sz="2400" dirty="0">
                <a:solidFill>
                  <a:srgbClr val="FF0000"/>
                </a:solidFill>
                <a:latin typeface="CMR10"/>
              </a:rPr>
              <a:t>sum of the individual sensitivities at the output units weighted by the hidden-to-output weights </a:t>
            </a:r>
            <a:r>
              <a:rPr lang="en-US" sz="2400" i="1" dirty="0" err="1">
                <a:latin typeface="CMMI10"/>
              </a:rPr>
              <a:t>w</a:t>
            </a:r>
            <a:r>
              <a:rPr lang="en-US" sz="2400" i="1" baseline="-25000" dirty="0" err="1">
                <a:latin typeface="CMMI7"/>
              </a:rPr>
              <a:t>jk</a:t>
            </a:r>
            <a:r>
              <a:rPr lang="en-US" sz="2400" dirty="0">
                <a:latin typeface="CMR10"/>
              </a:rPr>
              <a:t>, all multiplied by </a:t>
            </a:r>
            <a:r>
              <a:rPr lang="en-US" sz="2400" i="1" dirty="0">
                <a:latin typeface="CMMI10"/>
              </a:rPr>
              <a:t>f</a:t>
            </a:r>
            <a:r>
              <a:rPr lang="en-US" sz="2400" dirty="0">
                <a:latin typeface="CMR10"/>
              </a:rPr>
              <a:t>(</a:t>
            </a:r>
            <a:r>
              <a:rPr lang="en-US" sz="2400" i="1" dirty="0" err="1">
                <a:latin typeface="CMMI10"/>
              </a:rPr>
              <a:t>net</a:t>
            </a:r>
            <a:r>
              <a:rPr lang="en-US" sz="2400" i="1" baseline="-25000" dirty="0" err="1">
                <a:latin typeface="CMMI7"/>
              </a:rPr>
              <a:t>j</a:t>
            </a:r>
            <a:r>
              <a:rPr lang="en-US" sz="2400" i="1" baseline="-25000" dirty="0">
                <a:latin typeface="CMMI7"/>
              </a:rPr>
              <a:t> </a:t>
            </a:r>
            <a:r>
              <a:rPr lang="en-US" sz="2400" dirty="0">
                <a:latin typeface="CMR10"/>
              </a:rPr>
              <a:t>). </a:t>
            </a:r>
          </a:p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BF05B0-41E6-4DBD-BE4C-1426C63C0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B6A4C-CB9B-4335-BF1E-9EAD7CF30668}" type="datetime1">
              <a:rPr lang="en-US" smtClean="0"/>
              <a:t>2/10/2025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097D22-4098-471E-8343-4BB4ABB44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7C9C83-5BCE-4E4D-AA8E-FA809F86C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57428C8-7FF7-4F63-A758-CC43AA0CC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MBX12"/>
              </a:rPr>
              <a:t>Backpropagation algorithm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BABE58D-C7AC-4A9D-9AF7-1348A20E0C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8664" y="2895600"/>
            <a:ext cx="4068537" cy="1423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29140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19041C8-0488-4F7D-871C-17B34264F3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18007" y="1981200"/>
            <a:ext cx="4314864" cy="2438400"/>
          </a:xfr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E924E5-1FD7-42C6-8A09-422666285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B6A4C-CB9B-4335-BF1E-9EAD7CF30668}" type="datetime1">
              <a:rPr lang="en-US" smtClean="0"/>
              <a:t>2/10/2025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C52222-5E44-49F6-B928-12D83EF22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586D52-4FA1-425B-8264-3CCB2075F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27A05CD-90A6-49B9-8D06-708CD80A6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MBX12"/>
              </a:rPr>
              <a:t>Backpropagation algorithm</a:t>
            </a:r>
            <a:endParaRPr lang="en-US" dirty="0"/>
          </a:p>
        </p:txBody>
      </p:sp>
      <p:sp>
        <p:nvSpPr>
          <p:cNvPr id="9" name="Content Placeholder 1">
            <a:extLst>
              <a:ext uri="{FF2B5EF4-FFF2-40B4-BE49-F238E27FC236}">
                <a16:creationId xmlns:a16="http://schemas.microsoft.com/office/drawing/2014/main" id="{352F2155-398B-47D4-868D-7BBA1BE8A6AF}"/>
              </a:ext>
            </a:extLst>
          </p:cNvPr>
          <p:cNvSpPr txBox="1">
            <a:spLocks/>
          </p:cNvSpPr>
          <p:nvPr/>
        </p:nvSpPr>
        <p:spPr>
          <a:xfrm>
            <a:off x="1752633" y="1775792"/>
            <a:ext cx="45720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CMR10"/>
              </a:rPr>
              <a:t>The sensitivity at a hidden unit is proportional to the </a:t>
            </a:r>
            <a:r>
              <a:rPr lang="en-US" dirty="0">
                <a:solidFill>
                  <a:srgbClr val="FF0000"/>
                </a:solidFill>
                <a:latin typeface="CMR10"/>
              </a:rPr>
              <a:t>weighted sum of the sensitivities at the output units</a:t>
            </a:r>
            <a:r>
              <a:rPr lang="en-US" dirty="0">
                <a:latin typeface="CMR10"/>
              </a:rPr>
              <a:t>.</a:t>
            </a:r>
          </a:p>
          <a:p>
            <a:r>
              <a:rPr lang="en-US" dirty="0">
                <a:latin typeface="CMR10"/>
              </a:rPr>
              <a:t>The output unit sensitivities are thus </a:t>
            </a:r>
            <a:r>
              <a:rPr lang="en-US" dirty="0">
                <a:solidFill>
                  <a:srgbClr val="FF0000"/>
                </a:solidFill>
                <a:latin typeface="CMR10"/>
              </a:rPr>
              <a:t>propagated “back” to the hidden units</a:t>
            </a:r>
            <a:r>
              <a:rPr lang="en-US" dirty="0">
                <a:latin typeface="CMR10"/>
              </a:rPr>
              <a:t>.</a:t>
            </a:r>
          </a:p>
          <a:p>
            <a:endParaRPr lang="en-US" dirty="0">
              <a:latin typeface="CMR10"/>
            </a:endParaRPr>
          </a:p>
          <a:p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41736695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510135FE-4DD8-4B0B-8DDE-AB6A9682B51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>
                    <a:latin typeface="CMR10"/>
                  </a:rPr>
                  <a:t>Thus the learning rule for the input-to-hidden weights is: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PK" sz="24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Δ</m:t>
                      </m:r>
                      <m:sSub>
                        <m:sSubPr>
                          <m:ctrlPr>
                            <a:rPr lang="en-PK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PK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𝑤</m:t>
                          </m:r>
                        </m:e>
                        <m:sub>
                          <m:r>
                            <a:rPr lang="en-PK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𝑗𝑖</m:t>
                          </m:r>
                        </m:sub>
                      </m:sSub>
                      <m:r>
                        <a:rPr lang="en-PK" sz="2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=</m:t>
                      </m:r>
                      <m:r>
                        <a:rPr lang="en-PK" sz="2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𝜂</m:t>
                      </m:r>
                      <m:sSub>
                        <m:sSubPr>
                          <m:ctrlPr>
                            <a:rPr lang="en-PK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PK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PK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PK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PK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𝛿</m:t>
                          </m:r>
                        </m:e>
                        <m:sub>
                          <m:r>
                            <a:rPr lang="en-PK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𝑗</m:t>
                          </m:r>
                        </m:sub>
                      </m:sSub>
                      <m:r>
                        <a:rPr lang="en-PK" sz="2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=</m:t>
                      </m:r>
                      <m:r>
                        <a:rPr lang="en-PK" sz="2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𝜂</m:t>
                      </m:r>
                      <m:sSub>
                        <m:sSubPr>
                          <m:ctrlPr>
                            <a:rPr lang="en-PK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PK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PK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𝑖</m:t>
                          </m:r>
                        </m:sub>
                      </m:sSub>
                      <m:sSup>
                        <m:sSupPr>
                          <m:ctrlPr>
                            <a:rPr lang="en-PK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en-PK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𝑓</m:t>
                          </m:r>
                        </m:e>
                        <m:sup>
                          <m:r>
                            <a:rPr lang="en-PK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PK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PK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PK" sz="2400">
                                  <a:solidFill>
                                    <a:srgbClr val="FF0000"/>
                                  </a:solidFill>
                                  <a:latin typeface="Calibri" panose="020F0502020204030204" pitchFamily="34" charset="0"/>
                                  <a:ea typeface="Calibri" panose="020F0502020204030204" pitchFamily="34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PK" sz="2400">
                                  <a:solidFill>
                                    <a:srgbClr val="FF0000"/>
                                  </a:solidFill>
                                  <a:latin typeface="Calibri" panose="020F0502020204030204" pitchFamily="34" charset="0"/>
                                  <a:ea typeface="Calibri" panose="020F0502020204030204" pitchFamily="34" charset="0"/>
                                </a:rPr>
                                <m:t>net</m:t>
                              </m:r>
                              <m:r>
                                <m:rPr>
                                  <m:nor/>
                                </m:rPr>
                                <a:rPr lang="en-PK" sz="2400">
                                  <a:solidFill>
                                    <a:srgbClr val="FF0000"/>
                                  </a:solidFill>
                                  <a:latin typeface="Calibri" panose="020F0502020204030204" pitchFamily="34" charset="0"/>
                                  <a:ea typeface="Calibri" panose="020F0502020204030204" pitchFamily="34" charset="0"/>
                                </a:rPr>
                                <m:t> </m:t>
                              </m:r>
                            </m:e>
                            <m:sub>
                              <m:r>
                                <a:rPr lang="en-PK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en-PK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naryPr>
                        <m:sub>
                          <m:r>
                            <a:rPr lang="en-PK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𝑘</m:t>
                          </m:r>
                          <m:r>
                            <a:rPr lang="en-PK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=1</m:t>
                          </m:r>
                        </m:sub>
                        <m:sup>
                          <m:r>
                            <a:rPr lang="en-PK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𝑐</m:t>
                          </m:r>
                        </m:sup>
                        <m:e>
                          <m:r>
                            <a:rPr lang="en-PK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 </m:t>
                          </m:r>
                        </m:e>
                      </m:nary>
                      <m:sSub>
                        <m:sSubPr>
                          <m:ctrlPr>
                            <a:rPr lang="en-PK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PK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𝑤</m:t>
                          </m:r>
                        </m:e>
                        <m:sub>
                          <m:r>
                            <a:rPr lang="en-PK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𝑘𝑗</m:t>
                          </m:r>
                        </m:sub>
                      </m:sSub>
                      <m:sSub>
                        <m:sSubPr>
                          <m:ctrlPr>
                            <a:rPr lang="en-PK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PK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𝛿</m:t>
                          </m:r>
                        </m:e>
                        <m:sub>
                          <m:r>
                            <a:rPr lang="en-PK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PK" sz="2400" dirty="0">
                  <a:latin typeface="Calibri" panose="020F0502020204030204" pitchFamily="34" charset="0"/>
                  <a:ea typeface="Calibri" panose="020F0502020204030204" pitchFamily="34" charset="0"/>
                </a:endParaRPr>
              </a:p>
              <a:p>
                <a:pPr algn="l"/>
                <a:r>
                  <a:rPr lang="en-US" dirty="0">
                    <a:latin typeface="CMR10"/>
                  </a:rPr>
                  <a:t>The </a:t>
                </a:r>
                <a:r>
                  <a:rPr lang="en-US" dirty="0">
                    <a:solidFill>
                      <a:srgbClr val="07AE77"/>
                    </a:solidFill>
                    <a:latin typeface="CMR10"/>
                  </a:rPr>
                  <a:t>“backpropagation of errors” </a:t>
                </a:r>
                <a:r>
                  <a:rPr lang="en-US" dirty="0">
                    <a:latin typeface="CMR10"/>
                  </a:rPr>
                  <a:t>(sensitivities </a:t>
                </a:r>
                <a:r>
                  <a:rPr lang="en-US" dirty="0" err="1">
                    <a:latin typeface="CMR10"/>
                  </a:rPr>
                  <a:t>δk</a:t>
                </a:r>
                <a:r>
                  <a:rPr lang="en-US" dirty="0">
                    <a:latin typeface="CMR10"/>
                  </a:rPr>
                  <a:t>) must be propagated from the output layer back to the hidden layer in order to perform the learning of the </a:t>
                </a:r>
                <a:r>
                  <a:rPr lang="en-US" dirty="0">
                    <a:solidFill>
                      <a:srgbClr val="07AE77"/>
                    </a:solidFill>
                    <a:latin typeface="CMR10"/>
                  </a:rPr>
                  <a:t>input-to-hidden weights</a:t>
                </a:r>
                <a:r>
                  <a:rPr lang="en-US" dirty="0">
                    <a:latin typeface="CMR10"/>
                  </a:rPr>
                  <a:t>.</a:t>
                </a:r>
              </a:p>
              <a:p>
                <a:pPr algn="l"/>
                <a:endParaRPr lang="en-US" dirty="0">
                  <a:latin typeface="CMR10"/>
                </a:endParaRPr>
              </a:p>
              <a:p>
                <a:pPr algn="l"/>
                <a:r>
                  <a:rPr lang="en-US" dirty="0">
                    <a:latin typeface="CMR10"/>
                  </a:rPr>
                  <a:t> It is just performing a </a:t>
                </a:r>
                <a:r>
                  <a:rPr lang="en-US" dirty="0">
                    <a:solidFill>
                      <a:srgbClr val="07AE77"/>
                    </a:solidFill>
                    <a:latin typeface="CMR10"/>
                  </a:rPr>
                  <a:t>gradient descent </a:t>
                </a:r>
                <a:r>
                  <a:rPr lang="en-US" dirty="0">
                    <a:latin typeface="CMR10"/>
                  </a:rPr>
                  <a:t>in each layer with chain rule to update the model parameters (weights).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510135FE-4DD8-4B0B-8DDE-AB6A9682B51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0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C0448A-49BB-4868-96A2-66D98A405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B6A4C-CB9B-4335-BF1E-9EAD7CF30668}" type="datetime1">
              <a:rPr lang="en-US" smtClean="0"/>
              <a:t>2/10/2025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3DCFAC-48EB-4C5B-BF0F-CD664CEA1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02E32C-914D-48E3-8167-D7329CB40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8583D7C-CE4F-4C5B-ACF2-B651730AB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MBX12"/>
              </a:rPr>
              <a:t>Backpropagation algorithm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35366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955566" y="646966"/>
            <a:ext cx="4685453" cy="4685453"/>
            <a:chOff x="2966674" y="485224"/>
            <a:chExt cx="3514090" cy="3514090"/>
          </a:xfrm>
        </p:grpSpPr>
        <p:sp>
          <p:nvSpPr>
            <p:cNvPr id="3" name="object 3"/>
            <p:cNvSpPr/>
            <p:nvPr/>
          </p:nvSpPr>
          <p:spPr>
            <a:xfrm>
              <a:off x="2976199" y="494749"/>
              <a:ext cx="3495040" cy="3495040"/>
            </a:xfrm>
            <a:custGeom>
              <a:avLst/>
              <a:gdLst/>
              <a:ahLst/>
              <a:cxnLst/>
              <a:rect l="l" t="t" r="r" b="b"/>
              <a:pathLst>
                <a:path w="3495040" h="3495040">
                  <a:moveTo>
                    <a:pt x="1747349" y="3494699"/>
                  </a:moveTo>
                  <a:lnTo>
                    <a:pt x="1699253" y="3494050"/>
                  </a:lnTo>
                  <a:lnTo>
                    <a:pt x="1651477" y="3492114"/>
                  </a:lnTo>
                  <a:lnTo>
                    <a:pt x="1604040" y="3488907"/>
                  </a:lnTo>
                  <a:lnTo>
                    <a:pt x="1556956" y="3484446"/>
                  </a:lnTo>
                  <a:lnTo>
                    <a:pt x="1510244" y="3478748"/>
                  </a:lnTo>
                  <a:lnTo>
                    <a:pt x="1463920" y="3471830"/>
                  </a:lnTo>
                  <a:lnTo>
                    <a:pt x="1418001" y="3463707"/>
                  </a:lnTo>
                  <a:lnTo>
                    <a:pt x="1372502" y="3454397"/>
                  </a:lnTo>
                  <a:lnTo>
                    <a:pt x="1327441" y="3443917"/>
                  </a:lnTo>
                  <a:lnTo>
                    <a:pt x="1282835" y="3432282"/>
                  </a:lnTo>
                  <a:lnTo>
                    <a:pt x="1238699" y="3419511"/>
                  </a:lnTo>
                  <a:lnTo>
                    <a:pt x="1195052" y="3405618"/>
                  </a:lnTo>
                  <a:lnTo>
                    <a:pt x="1151909" y="3390622"/>
                  </a:lnTo>
                  <a:lnTo>
                    <a:pt x="1109286" y="3374538"/>
                  </a:lnTo>
                  <a:lnTo>
                    <a:pt x="1067202" y="3357384"/>
                  </a:lnTo>
                  <a:lnTo>
                    <a:pt x="1025672" y="3339176"/>
                  </a:lnTo>
                  <a:lnTo>
                    <a:pt x="984713" y="3319930"/>
                  </a:lnTo>
                  <a:lnTo>
                    <a:pt x="944342" y="3299663"/>
                  </a:lnTo>
                  <a:lnTo>
                    <a:pt x="904575" y="3278393"/>
                  </a:lnTo>
                  <a:lnTo>
                    <a:pt x="865428" y="3256135"/>
                  </a:lnTo>
                  <a:lnTo>
                    <a:pt x="826920" y="3232906"/>
                  </a:lnTo>
                  <a:lnTo>
                    <a:pt x="789066" y="3208723"/>
                  </a:lnTo>
                  <a:lnTo>
                    <a:pt x="751883" y="3183603"/>
                  </a:lnTo>
                  <a:lnTo>
                    <a:pt x="715387" y="3157562"/>
                  </a:lnTo>
                  <a:lnTo>
                    <a:pt x="679596" y="3130617"/>
                  </a:lnTo>
                  <a:lnTo>
                    <a:pt x="644526" y="3102784"/>
                  </a:lnTo>
                  <a:lnTo>
                    <a:pt x="610193" y="3074081"/>
                  </a:lnTo>
                  <a:lnTo>
                    <a:pt x="576614" y="3044523"/>
                  </a:lnTo>
                  <a:lnTo>
                    <a:pt x="543807" y="3014128"/>
                  </a:lnTo>
                  <a:lnTo>
                    <a:pt x="511786" y="2982912"/>
                  </a:lnTo>
                  <a:lnTo>
                    <a:pt x="480571" y="2950892"/>
                  </a:lnTo>
                  <a:lnTo>
                    <a:pt x="450175" y="2918085"/>
                  </a:lnTo>
                  <a:lnTo>
                    <a:pt x="420618" y="2884506"/>
                  </a:lnTo>
                  <a:lnTo>
                    <a:pt x="391914" y="2850173"/>
                  </a:lnTo>
                  <a:lnTo>
                    <a:pt x="364082" y="2815103"/>
                  </a:lnTo>
                  <a:lnTo>
                    <a:pt x="337137" y="2779312"/>
                  </a:lnTo>
                  <a:lnTo>
                    <a:pt x="311096" y="2742816"/>
                  </a:lnTo>
                  <a:lnTo>
                    <a:pt x="285975" y="2705633"/>
                  </a:lnTo>
                  <a:lnTo>
                    <a:pt x="261793" y="2667779"/>
                  </a:lnTo>
                  <a:lnTo>
                    <a:pt x="238564" y="2629270"/>
                  </a:lnTo>
                  <a:lnTo>
                    <a:pt x="216306" y="2590124"/>
                  </a:lnTo>
                  <a:lnTo>
                    <a:pt x="195036" y="2550357"/>
                  </a:lnTo>
                  <a:lnTo>
                    <a:pt x="174769" y="2509986"/>
                  </a:lnTo>
                  <a:lnTo>
                    <a:pt x="155523" y="2469027"/>
                  </a:lnTo>
                  <a:lnTo>
                    <a:pt x="137315" y="2427497"/>
                  </a:lnTo>
                  <a:lnTo>
                    <a:pt x="120161" y="2385412"/>
                  </a:lnTo>
                  <a:lnTo>
                    <a:pt x="104077" y="2342790"/>
                  </a:lnTo>
                  <a:lnTo>
                    <a:pt x="89081" y="2299647"/>
                  </a:lnTo>
                  <a:lnTo>
                    <a:pt x="75188" y="2256000"/>
                  </a:lnTo>
                  <a:lnTo>
                    <a:pt x="62417" y="2211864"/>
                  </a:lnTo>
                  <a:lnTo>
                    <a:pt x="50782" y="2167258"/>
                  </a:lnTo>
                  <a:lnTo>
                    <a:pt x="40302" y="2122197"/>
                  </a:lnTo>
                  <a:lnTo>
                    <a:pt x="30992" y="2076698"/>
                  </a:lnTo>
                  <a:lnTo>
                    <a:pt x="22869" y="2030779"/>
                  </a:lnTo>
                  <a:lnTo>
                    <a:pt x="15951" y="1984454"/>
                  </a:lnTo>
                  <a:lnTo>
                    <a:pt x="10253" y="1937742"/>
                  </a:lnTo>
                  <a:lnTo>
                    <a:pt x="5792" y="1890659"/>
                  </a:lnTo>
                  <a:lnTo>
                    <a:pt x="2585" y="1843222"/>
                  </a:lnTo>
                  <a:lnTo>
                    <a:pt x="649" y="1795446"/>
                  </a:lnTo>
                  <a:lnTo>
                    <a:pt x="0" y="1747349"/>
                  </a:lnTo>
                  <a:lnTo>
                    <a:pt x="649" y="1699253"/>
                  </a:lnTo>
                  <a:lnTo>
                    <a:pt x="2585" y="1651477"/>
                  </a:lnTo>
                  <a:lnTo>
                    <a:pt x="5792" y="1604040"/>
                  </a:lnTo>
                  <a:lnTo>
                    <a:pt x="10253" y="1556956"/>
                  </a:lnTo>
                  <a:lnTo>
                    <a:pt x="15951" y="1510244"/>
                  </a:lnTo>
                  <a:lnTo>
                    <a:pt x="22869" y="1463920"/>
                  </a:lnTo>
                  <a:lnTo>
                    <a:pt x="30992" y="1418001"/>
                  </a:lnTo>
                  <a:lnTo>
                    <a:pt x="40302" y="1372502"/>
                  </a:lnTo>
                  <a:lnTo>
                    <a:pt x="50782" y="1327441"/>
                  </a:lnTo>
                  <a:lnTo>
                    <a:pt x="62417" y="1282835"/>
                  </a:lnTo>
                  <a:lnTo>
                    <a:pt x="75188" y="1238699"/>
                  </a:lnTo>
                  <a:lnTo>
                    <a:pt x="89081" y="1195052"/>
                  </a:lnTo>
                  <a:lnTo>
                    <a:pt x="104077" y="1151909"/>
                  </a:lnTo>
                  <a:lnTo>
                    <a:pt x="120161" y="1109286"/>
                  </a:lnTo>
                  <a:lnTo>
                    <a:pt x="137315" y="1067202"/>
                  </a:lnTo>
                  <a:lnTo>
                    <a:pt x="155523" y="1025672"/>
                  </a:lnTo>
                  <a:lnTo>
                    <a:pt x="174769" y="984713"/>
                  </a:lnTo>
                  <a:lnTo>
                    <a:pt x="195036" y="944342"/>
                  </a:lnTo>
                  <a:lnTo>
                    <a:pt x="216306" y="904575"/>
                  </a:lnTo>
                  <a:lnTo>
                    <a:pt x="238564" y="865428"/>
                  </a:lnTo>
                  <a:lnTo>
                    <a:pt x="261793" y="826920"/>
                  </a:lnTo>
                  <a:lnTo>
                    <a:pt x="285975" y="789066"/>
                  </a:lnTo>
                  <a:lnTo>
                    <a:pt x="311096" y="751883"/>
                  </a:lnTo>
                  <a:lnTo>
                    <a:pt x="337137" y="715387"/>
                  </a:lnTo>
                  <a:lnTo>
                    <a:pt x="364082" y="679596"/>
                  </a:lnTo>
                  <a:lnTo>
                    <a:pt x="391914" y="644526"/>
                  </a:lnTo>
                  <a:lnTo>
                    <a:pt x="420618" y="610193"/>
                  </a:lnTo>
                  <a:lnTo>
                    <a:pt x="450175" y="576614"/>
                  </a:lnTo>
                  <a:lnTo>
                    <a:pt x="480571" y="543807"/>
                  </a:lnTo>
                  <a:lnTo>
                    <a:pt x="511787" y="511786"/>
                  </a:lnTo>
                  <a:lnTo>
                    <a:pt x="543807" y="480571"/>
                  </a:lnTo>
                  <a:lnTo>
                    <a:pt x="576614" y="450175"/>
                  </a:lnTo>
                  <a:lnTo>
                    <a:pt x="610193" y="420618"/>
                  </a:lnTo>
                  <a:lnTo>
                    <a:pt x="644526" y="391914"/>
                  </a:lnTo>
                  <a:lnTo>
                    <a:pt x="679596" y="364082"/>
                  </a:lnTo>
                  <a:lnTo>
                    <a:pt x="715387" y="337137"/>
                  </a:lnTo>
                  <a:lnTo>
                    <a:pt x="751883" y="311096"/>
                  </a:lnTo>
                  <a:lnTo>
                    <a:pt x="789066" y="285975"/>
                  </a:lnTo>
                  <a:lnTo>
                    <a:pt x="826920" y="261793"/>
                  </a:lnTo>
                  <a:lnTo>
                    <a:pt x="865428" y="238564"/>
                  </a:lnTo>
                  <a:lnTo>
                    <a:pt x="904575" y="216306"/>
                  </a:lnTo>
                  <a:lnTo>
                    <a:pt x="944342" y="195036"/>
                  </a:lnTo>
                  <a:lnTo>
                    <a:pt x="984713" y="174769"/>
                  </a:lnTo>
                  <a:lnTo>
                    <a:pt x="1025672" y="155523"/>
                  </a:lnTo>
                  <a:lnTo>
                    <a:pt x="1067202" y="137315"/>
                  </a:lnTo>
                  <a:lnTo>
                    <a:pt x="1109286" y="120161"/>
                  </a:lnTo>
                  <a:lnTo>
                    <a:pt x="1151909" y="104077"/>
                  </a:lnTo>
                  <a:lnTo>
                    <a:pt x="1195052" y="89081"/>
                  </a:lnTo>
                  <a:lnTo>
                    <a:pt x="1238699" y="75188"/>
                  </a:lnTo>
                  <a:lnTo>
                    <a:pt x="1282835" y="62417"/>
                  </a:lnTo>
                  <a:lnTo>
                    <a:pt x="1327441" y="50782"/>
                  </a:lnTo>
                  <a:lnTo>
                    <a:pt x="1372502" y="40302"/>
                  </a:lnTo>
                  <a:lnTo>
                    <a:pt x="1418001" y="30992"/>
                  </a:lnTo>
                  <a:lnTo>
                    <a:pt x="1463920" y="22869"/>
                  </a:lnTo>
                  <a:lnTo>
                    <a:pt x="1510244" y="15951"/>
                  </a:lnTo>
                  <a:lnTo>
                    <a:pt x="1556956" y="10253"/>
                  </a:lnTo>
                  <a:lnTo>
                    <a:pt x="1604040" y="5792"/>
                  </a:lnTo>
                  <a:lnTo>
                    <a:pt x="1651477" y="2585"/>
                  </a:lnTo>
                  <a:lnTo>
                    <a:pt x="1699253" y="649"/>
                  </a:lnTo>
                  <a:lnTo>
                    <a:pt x="1747349" y="0"/>
                  </a:lnTo>
                  <a:lnTo>
                    <a:pt x="1796925" y="702"/>
                  </a:lnTo>
                  <a:lnTo>
                    <a:pt x="1846329" y="2803"/>
                  </a:lnTo>
                  <a:lnTo>
                    <a:pt x="1895534" y="6290"/>
                  </a:lnTo>
                  <a:lnTo>
                    <a:pt x="1944513" y="11153"/>
                  </a:lnTo>
                  <a:lnTo>
                    <a:pt x="1993241" y="17380"/>
                  </a:lnTo>
                  <a:lnTo>
                    <a:pt x="2041689" y="24961"/>
                  </a:lnTo>
                  <a:lnTo>
                    <a:pt x="2089832" y="33885"/>
                  </a:lnTo>
                  <a:lnTo>
                    <a:pt x="2137643" y="44139"/>
                  </a:lnTo>
                  <a:lnTo>
                    <a:pt x="2185094" y="55715"/>
                  </a:lnTo>
                  <a:lnTo>
                    <a:pt x="2232160" y="68599"/>
                  </a:lnTo>
                  <a:lnTo>
                    <a:pt x="2278813" y="82782"/>
                  </a:lnTo>
                  <a:lnTo>
                    <a:pt x="2325028" y="98252"/>
                  </a:lnTo>
                  <a:lnTo>
                    <a:pt x="2370776" y="114998"/>
                  </a:lnTo>
                  <a:lnTo>
                    <a:pt x="2416031" y="133009"/>
                  </a:lnTo>
                  <a:lnTo>
                    <a:pt x="2460767" y="152273"/>
                  </a:lnTo>
                  <a:lnTo>
                    <a:pt x="2504957" y="172781"/>
                  </a:lnTo>
                  <a:lnTo>
                    <a:pt x="2548574" y="194521"/>
                  </a:lnTo>
                  <a:lnTo>
                    <a:pt x="2591592" y="217481"/>
                  </a:lnTo>
                  <a:lnTo>
                    <a:pt x="2633983" y="241651"/>
                  </a:lnTo>
                  <a:lnTo>
                    <a:pt x="2675721" y="267019"/>
                  </a:lnTo>
                  <a:lnTo>
                    <a:pt x="2716780" y="293575"/>
                  </a:lnTo>
                  <a:lnTo>
                    <a:pt x="2757132" y="321307"/>
                  </a:lnTo>
                  <a:lnTo>
                    <a:pt x="2796751" y="350205"/>
                  </a:lnTo>
                  <a:lnTo>
                    <a:pt x="2835610" y="380257"/>
                  </a:lnTo>
                  <a:lnTo>
                    <a:pt x="2873682" y="411452"/>
                  </a:lnTo>
                  <a:lnTo>
                    <a:pt x="2910941" y="443779"/>
                  </a:lnTo>
                  <a:lnTo>
                    <a:pt x="2947360" y="477228"/>
                  </a:lnTo>
                  <a:lnTo>
                    <a:pt x="2982913" y="511786"/>
                  </a:lnTo>
                  <a:lnTo>
                    <a:pt x="3017471" y="547339"/>
                  </a:lnTo>
                  <a:lnTo>
                    <a:pt x="3050919" y="583757"/>
                  </a:lnTo>
                  <a:lnTo>
                    <a:pt x="3083247" y="621016"/>
                  </a:lnTo>
                  <a:lnTo>
                    <a:pt x="3114442" y="659089"/>
                  </a:lnTo>
                  <a:lnTo>
                    <a:pt x="3144494" y="697948"/>
                  </a:lnTo>
                  <a:lnTo>
                    <a:pt x="3173392" y="737567"/>
                  </a:lnTo>
                  <a:lnTo>
                    <a:pt x="3201124" y="777919"/>
                  </a:lnTo>
                  <a:lnTo>
                    <a:pt x="3227680" y="818977"/>
                  </a:lnTo>
                  <a:lnTo>
                    <a:pt x="3253048" y="860716"/>
                  </a:lnTo>
                  <a:lnTo>
                    <a:pt x="3277218" y="903107"/>
                  </a:lnTo>
                  <a:lnTo>
                    <a:pt x="3300178" y="946124"/>
                  </a:lnTo>
                  <a:lnTo>
                    <a:pt x="3321918" y="989741"/>
                  </a:lnTo>
                  <a:lnTo>
                    <a:pt x="3342426" y="1033931"/>
                  </a:lnTo>
                  <a:lnTo>
                    <a:pt x="3361690" y="1078667"/>
                  </a:lnTo>
                  <a:lnTo>
                    <a:pt x="3379701" y="1123923"/>
                  </a:lnTo>
                  <a:lnTo>
                    <a:pt x="3396447" y="1169671"/>
                  </a:lnTo>
                  <a:lnTo>
                    <a:pt x="3411917" y="1215885"/>
                  </a:lnTo>
                  <a:lnTo>
                    <a:pt x="3426100" y="1262538"/>
                  </a:lnTo>
                  <a:lnTo>
                    <a:pt x="3438984" y="1309604"/>
                  </a:lnTo>
                  <a:lnTo>
                    <a:pt x="3450560" y="1357056"/>
                  </a:lnTo>
                  <a:lnTo>
                    <a:pt x="3460814" y="1404866"/>
                  </a:lnTo>
                  <a:lnTo>
                    <a:pt x="3469738" y="1453009"/>
                  </a:lnTo>
                  <a:lnTo>
                    <a:pt x="3477319" y="1501458"/>
                  </a:lnTo>
                  <a:lnTo>
                    <a:pt x="3483546" y="1550185"/>
                  </a:lnTo>
                  <a:lnTo>
                    <a:pt x="3488409" y="1599165"/>
                  </a:lnTo>
                  <a:lnTo>
                    <a:pt x="3491896" y="1648370"/>
                  </a:lnTo>
                  <a:lnTo>
                    <a:pt x="3493997" y="1697774"/>
                  </a:lnTo>
                  <a:lnTo>
                    <a:pt x="3494699" y="1747349"/>
                  </a:lnTo>
                  <a:lnTo>
                    <a:pt x="3494050" y="1795446"/>
                  </a:lnTo>
                  <a:lnTo>
                    <a:pt x="3492114" y="1843222"/>
                  </a:lnTo>
                  <a:lnTo>
                    <a:pt x="3488907" y="1890659"/>
                  </a:lnTo>
                  <a:lnTo>
                    <a:pt x="3484446" y="1937742"/>
                  </a:lnTo>
                  <a:lnTo>
                    <a:pt x="3478748" y="1984454"/>
                  </a:lnTo>
                  <a:lnTo>
                    <a:pt x="3471830" y="2030779"/>
                  </a:lnTo>
                  <a:lnTo>
                    <a:pt x="3463707" y="2076698"/>
                  </a:lnTo>
                  <a:lnTo>
                    <a:pt x="3454397" y="2122197"/>
                  </a:lnTo>
                  <a:lnTo>
                    <a:pt x="3443917" y="2167258"/>
                  </a:lnTo>
                  <a:lnTo>
                    <a:pt x="3432282" y="2211864"/>
                  </a:lnTo>
                  <a:lnTo>
                    <a:pt x="3419511" y="2256000"/>
                  </a:lnTo>
                  <a:lnTo>
                    <a:pt x="3405618" y="2299647"/>
                  </a:lnTo>
                  <a:lnTo>
                    <a:pt x="3390622" y="2342790"/>
                  </a:lnTo>
                  <a:lnTo>
                    <a:pt x="3374538" y="2385412"/>
                  </a:lnTo>
                  <a:lnTo>
                    <a:pt x="3357384" y="2427497"/>
                  </a:lnTo>
                  <a:lnTo>
                    <a:pt x="3339176" y="2469027"/>
                  </a:lnTo>
                  <a:lnTo>
                    <a:pt x="3319930" y="2509986"/>
                  </a:lnTo>
                  <a:lnTo>
                    <a:pt x="3299663" y="2550357"/>
                  </a:lnTo>
                  <a:lnTo>
                    <a:pt x="3278393" y="2590124"/>
                  </a:lnTo>
                  <a:lnTo>
                    <a:pt x="3256135" y="2629270"/>
                  </a:lnTo>
                  <a:lnTo>
                    <a:pt x="3232906" y="2667779"/>
                  </a:lnTo>
                  <a:lnTo>
                    <a:pt x="3208724" y="2705633"/>
                  </a:lnTo>
                  <a:lnTo>
                    <a:pt x="3183603" y="2742816"/>
                  </a:lnTo>
                  <a:lnTo>
                    <a:pt x="3157562" y="2779312"/>
                  </a:lnTo>
                  <a:lnTo>
                    <a:pt x="3130617" y="2815103"/>
                  </a:lnTo>
                  <a:lnTo>
                    <a:pt x="3102785" y="2850173"/>
                  </a:lnTo>
                  <a:lnTo>
                    <a:pt x="3074081" y="2884506"/>
                  </a:lnTo>
                  <a:lnTo>
                    <a:pt x="3044524" y="2918085"/>
                  </a:lnTo>
                  <a:lnTo>
                    <a:pt x="3014128" y="2950892"/>
                  </a:lnTo>
                  <a:lnTo>
                    <a:pt x="2982913" y="2982912"/>
                  </a:lnTo>
                  <a:lnTo>
                    <a:pt x="2950892" y="3014128"/>
                  </a:lnTo>
                  <a:lnTo>
                    <a:pt x="2918085" y="3044523"/>
                  </a:lnTo>
                  <a:lnTo>
                    <a:pt x="2884506" y="3074081"/>
                  </a:lnTo>
                  <a:lnTo>
                    <a:pt x="2850173" y="3102784"/>
                  </a:lnTo>
                  <a:lnTo>
                    <a:pt x="2815103" y="3130617"/>
                  </a:lnTo>
                  <a:lnTo>
                    <a:pt x="2779312" y="3157562"/>
                  </a:lnTo>
                  <a:lnTo>
                    <a:pt x="2742816" y="3183603"/>
                  </a:lnTo>
                  <a:lnTo>
                    <a:pt x="2705633" y="3208723"/>
                  </a:lnTo>
                  <a:lnTo>
                    <a:pt x="2667779" y="3232906"/>
                  </a:lnTo>
                  <a:lnTo>
                    <a:pt x="2629270" y="3256135"/>
                  </a:lnTo>
                  <a:lnTo>
                    <a:pt x="2590124" y="3278393"/>
                  </a:lnTo>
                  <a:lnTo>
                    <a:pt x="2550357" y="3299663"/>
                  </a:lnTo>
                  <a:lnTo>
                    <a:pt x="2509986" y="3319930"/>
                  </a:lnTo>
                  <a:lnTo>
                    <a:pt x="2469027" y="3339176"/>
                  </a:lnTo>
                  <a:lnTo>
                    <a:pt x="2427497" y="3357384"/>
                  </a:lnTo>
                  <a:lnTo>
                    <a:pt x="2385413" y="3374538"/>
                  </a:lnTo>
                  <a:lnTo>
                    <a:pt x="2342790" y="3390622"/>
                  </a:lnTo>
                  <a:lnTo>
                    <a:pt x="2299647" y="3405618"/>
                  </a:lnTo>
                  <a:lnTo>
                    <a:pt x="2256000" y="3419511"/>
                  </a:lnTo>
                  <a:lnTo>
                    <a:pt x="2211864" y="3432282"/>
                  </a:lnTo>
                  <a:lnTo>
                    <a:pt x="2167258" y="3443917"/>
                  </a:lnTo>
                  <a:lnTo>
                    <a:pt x="2122197" y="3454397"/>
                  </a:lnTo>
                  <a:lnTo>
                    <a:pt x="2076698" y="3463707"/>
                  </a:lnTo>
                  <a:lnTo>
                    <a:pt x="2030779" y="3471830"/>
                  </a:lnTo>
                  <a:lnTo>
                    <a:pt x="1984455" y="3478748"/>
                  </a:lnTo>
                  <a:lnTo>
                    <a:pt x="1937743" y="3484446"/>
                  </a:lnTo>
                  <a:lnTo>
                    <a:pt x="1890659" y="3488907"/>
                  </a:lnTo>
                  <a:lnTo>
                    <a:pt x="1843222" y="3492114"/>
                  </a:lnTo>
                  <a:lnTo>
                    <a:pt x="1795446" y="3494050"/>
                  </a:lnTo>
                  <a:lnTo>
                    <a:pt x="1747349" y="3494699"/>
                  </a:lnTo>
                  <a:close/>
                </a:path>
              </a:pathLst>
            </a:custGeom>
            <a:solidFill>
              <a:srgbClr val="F3F3F3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" name="object 4"/>
            <p:cNvSpPr/>
            <p:nvPr/>
          </p:nvSpPr>
          <p:spPr>
            <a:xfrm>
              <a:off x="2976199" y="494749"/>
              <a:ext cx="3495040" cy="3495040"/>
            </a:xfrm>
            <a:custGeom>
              <a:avLst/>
              <a:gdLst/>
              <a:ahLst/>
              <a:cxnLst/>
              <a:rect l="l" t="t" r="r" b="b"/>
              <a:pathLst>
                <a:path w="3495040" h="3495040">
                  <a:moveTo>
                    <a:pt x="0" y="1747349"/>
                  </a:moveTo>
                  <a:lnTo>
                    <a:pt x="649" y="1699253"/>
                  </a:lnTo>
                  <a:lnTo>
                    <a:pt x="2585" y="1651477"/>
                  </a:lnTo>
                  <a:lnTo>
                    <a:pt x="5792" y="1604040"/>
                  </a:lnTo>
                  <a:lnTo>
                    <a:pt x="10253" y="1556956"/>
                  </a:lnTo>
                  <a:lnTo>
                    <a:pt x="15951" y="1510244"/>
                  </a:lnTo>
                  <a:lnTo>
                    <a:pt x="22869" y="1463920"/>
                  </a:lnTo>
                  <a:lnTo>
                    <a:pt x="30992" y="1418001"/>
                  </a:lnTo>
                  <a:lnTo>
                    <a:pt x="40302" y="1372502"/>
                  </a:lnTo>
                  <a:lnTo>
                    <a:pt x="50782" y="1327441"/>
                  </a:lnTo>
                  <a:lnTo>
                    <a:pt x="62417" y="1282835"/>
                  </a:lnTo>
                  <a:lnTo>
                    <a:pt x="75188" y="1238699"/>
                  </a:lnTo>
                  <a:lnTo>
                    <a:pt x="89081" y="1195052"/>
                  </a:lnTo>
                  <a:lnTo>
                    <a:pt x="104077" y="1151909"/>
                  </a:lnTo>
                  <a:lnTo>
                    <a:pt x="120161" y="1109286"/>
                  </a:lnTo>
                  <a:lnTo>
                    <a:pt x="137315" y="1067202"/>
                  </a:lnTo>
                  <a:lnTo>
                    <a:pt x="155523" y="1025672"/>
                  </a:lnTo>
                  <a:lnTo>
                    <a:pt x="174769" y="984713"/>
                  </a:lnTo>
                  <a:lnTo>
                    <a:pt x="195036" y="944342"/>
                  </a:lnTo>
                  <a:lnTo>
                    <a:pt x="216306" y="904575"/>
                  </a:lnTo>
                  <a:lnTo>
                    <a:pt x="238564" y="865428"/>
                  </a:lnTo>
                  <a:lnTo>
                    <a:pt x="261793" y="826920"/>
                  </a:lnTo>
                  <a:lnTo>
                    <a:pt x="285975" y="789066"/>
                  </a:lnTo>
                  <a:lnTo>
                    <a:pt x="311096" y="751883"/>
                  </a:lnTo>
                  <a:lnTo>
                    <a:pt x="337137" y="715387"/>
                  </a:lnTo>
                  <a:lnTo>
                    <a:pt x="364082" y="679596"/>
                  </a:lnTo>
                  <a:lnTo>
                    <a:pt x="391914" y="644526"/>
                  </a:lnTo>
                  <a:lnTo>
                    <a:pt x="420618" y="610193"/>
                  </a:lnTo>
                  <a:lnTo>
                    <a:pt x="450175" y="576614"/>
                  </a:lnTo>
                  <a:lnTo>
                    <a:pt x="480571" y="543807"/>
                  </a:lnTo>
                  <a:lnTo>
                    <a:pt x="511786" y="511786"/>
                  </a:lnTo>
                  <a:lnTo>
                    <a:pt x="543807" y="480571"/>
                  </a:lnTo>
                  <a:lnTo>
                    <a:pt x="576614" y="450175"/>
                  </a:lnTo>
                  <a:lnTo>
                    <a:pt x="610193" y="420618"/>
                  </a:lnTo>
                  <a:lnTo>
                    <a:pt x="644526" y="391914"/>
                  </a:lnTo>
                  <a:lnTo>
                    <a:pt x="679596" y="364082"/>
                  </a:lnTo>
                  <a:lnTo>
                    <a:pt x="715387" y="337137"/>
                  </a:lnTo>
                  <a:lnTo>
                    <a:pt x="751883" y="311096"/>
                  </a:lnTo>
                  <a:lnTo>
                    <a:pt x="789066" y="285975"/>
                  </a:lnTo>
                  <a:lnTo>
                    <a:pt x="826920" y="261793"/>
                  </a:lnTo>
                  <a:lnTo>
                    <a:pt x="865428" y="238564"/>
                  </a:lnTo>
                  <a:lnTo>
                    <a:pt x="904575" y="216306"/>
                  </a:lnTo>
                  <a:lnTo>
                    <a:pt x="944342" y="195036"/>
                  </a:lnTo>
                  <a:lnTo>
                    <a:pt x="984713" y="174769"/>
                  </a:lnTo>
                  <a:lnTo>
                    <a:pt x="1025672" y="155523"/>
                  </a:lnTo>
                  <a:lnTo>
                    <a:pt x="1067202" y="137315"/>
                  </a:lnTo>
                  <a:lnTo>
                    <a:pt x="1109286" y="120161"/>
                  </a:lnTo>
                  <a:lnTo>
                    <a:pt x="1151909" y="104077"/>
                  </a:lnTo>
                  <a:lnTo>
                    <a:pt x="1195052" y="89081"/>
                  </a:lnTo>
                  <a:lnTo>
                    <a:pt x="1238699" y="75188"/>
                  </a:lnTo>
                  <a:lnTo>
                    <a:pt x="1282835" y="62417"/>
                  </a:lnTo>
                  <a:lnTo>
                    <a:pt x="1327441" y="50782"/>
                  </a:lnTo>
                  <a:lnTo>
                    <a:pt x="1372502" y="40302"/>
                  </a:lnTo>
                  <a:lnTo>
                    <a:pt x="1418001" y="30992"/>
                  </a:lnTo>
                  <a:lnTo>
                    <a:pt x="1463920" y="22869"/>
                  </a:lnTo>
                  <a:lnTo>
                    <a:pt x="1510244" y="15951"/>
                  </a:lnTo>
                  <a:lnTo>
                    <a:pt x="1556956" y="10253"/>
                  </a:lnTo>
                  <a:lnTo>
                    <a:pt x="1604040" y="5792"/>
                  </a:lnTo>
                  <a:lnTo>
                    <a:pt x="1651477" y="2585"/>
                  </a:lnTo>
                  <a:lnTo>
                    <a:pt x="1699253" y="649"/>
                  </a:lnTo>
                  <a:lnTo>
                    <a:pt x="1747349" y="0"/>
                  </a:lnTo>
                  <a:lnTo>
                    <a:pt x="1796925" y="702"/>
                  </a:lnTo>
                  <a:lnTo>
                    <a:pt x="1846329" y="2803"/>
                  </a:lnTo>
                  <a:lnTo>
                    <a:pt x="1895534" y="6290"/>
                  </a:lnTo>
                  <a:lnTo>
                    <a:pt x="1944513" y="11153"/>
                  </a:lnTo>
                  <a:lnTo>
                    <a:pt x="1993241" y="17380"/>
                  </a:lnTo>
                  <a:lnTo>
                    <a:pt x="2041689" y="24961"/>
                  </a:lnTo>
                  <a:lnTo>
                    <a:pt x="2089832" y="33885"/>
                  </a:lnTo>
                  <a:lnTo>
                    <a:pt x="2137643" y="44139"/>
                  </a:lnTo>
                  <a:lnTo>
                    <a:pt x="2185094" y="55715"/>
                  </a:lnTo>
                  <a:lnTo>
                    <a:pt x="2232160" y="68599"/>
                  </a:lnTo>
                  <a:lnTo>
                    <a:pt x="2278813" y="82782"/>
                  </a:lnTo>
                  <a:lnTo>
                    <a:pt x="2325028" y="98252"/>
                  </a:lnTo>
                  <a:lnTo>
                    <a:pt x="2370776" y="114998"/>
                  </a:lnTo>
                  <a:lnTo>
                    <a:pt x="2416031" y="133009"/>
                  </a:lnTo>
                  <a:lnTo>
                    <a:pt x="2460767" y="152273"/>
                  </a:lnTo>
                  <a:lnTo>
                    <a:pt x="2504957" y="172781"/>
                  </a:lnTo>
                  <a:lnTo>
                    <a:pt x="2548574" y="194521"/>
                  </a:lnTo>
                  <a:lnTo>
                    <a:pt x="2591592" y="217481"/>
                  </a:lnTo>
                  <a:lnTo>
                    <a:pt x="2633983" y="241651"/>
                  </a:lnTo>
                  <a:lnTo>
                    <a:pt x="2675721" y="267019"/>
                  </a:lnTo>
                  <a:lnTo>
                    <a:pt x="2716780" y="293575"/>
                  </a:lnTo>
                  <a:lnTo>
                    <a:pt x="2757132" y="321307"/>
                  </a:lnTo>
                  <a:lnTo>
                    <a:pt x="2796751" y="350205"/>
                  </a:lnTo>
                  <a:lnTo>
                    <a:pt x="2835610" y="380257"/>
                  </a:lnTo>
                  <a:lnTo>
                    <a:pt x="2873682" y="411452"/>
                  </a:lnTo>
                  <a:lnTo>
                    <a:pt x="2910941" y="443779"/>
                  </a:lnTo>
                  <a:lnTo>
                    <a:pt x="2947360" y="477228"/>
                  </a:lnTo>
                  <a:lnTo>
                    <a:pt x="2982912" y="511786"/>
                  </a:lnTo>
                  <a:lnTo>
                    <a:pt x="3017471" y="547339"/>
                  </a:lnTo>
                  <a:lnTo>
                    <a:pt x="3050919" y="583757"/>
                  </a:lnTo>
                  <a:lnTo>
                    <a:pt x="3083247" y="621016"/>
                  </a:lnTo>
                  <a:lnTo>
                    <a:pt x="3114442" y="659089"/>
                  </a:lnTo>
                  <a:lnTo>
                    <a:pt x="3144494" y="697948"/>
                  </a:lnTo>
                  <a:lnTo>
                    <a:pt x="3173392" y="737567"/>
                  </a:lnTo>
                  <a:lnTo>
                    <a:pt x="3201124" y="777919"/>
                  </a:lnTo>
                  <a:lnTo>
                    <a:pt x="3227680" y="818977"/>
                  </a:lnTo>
                  <a:lnTo>
                    <a:pt x="3253048" y="860716"/>
                  </a:lnTo>
                  <a:lnTo>
                    <a:pt x="3277218" y="903107"/>
                  </a:lnTo>
                  <a:lnTo>
                    <a:pt x="3300178" y="946124"/>
                  </a:lnTo>
                  <a:lnTo>
                    <a:pt x="3321918" y="989741"/>
                  </a:lnTo>
                  <a:lnTo>
                    <a:pt x="3342426" y="1033931"/>
                  </a:lnTo>
                  <a:lnTo>
                    <a:pt x="3361690" y="1078668"/>
                  </a:lnTo>
                  <a:lnTo>
                    <a:pt x="3379701" y="1123923"/>
                  </a:lnTo>
                  <a:lnTo>
                    <a:pt x="3396447" y="1169671"/>
                  </a:lnTo>
                  <a:lnTo>
                    <a:pt x="3411917" y="1215885"/>
                  </a:lnTo>
                  <a:lnTo>
                    <a:pt x="3426100" y="1262538"/>
                  </a:lnTo>
                  <a:lnTo>
                    <a:pt x="3438984" y="1309604"/>
                  </a:lnTo>
                  <a:lnTo>
                    <a:pt x="3450560" y="1357056"/>
                  </a:lnTo>
                  <a:lnTo>
                    <a:pt x="3460814" y="1404866"/>
                  </a:lnTo>
                  <a:lnTo>
                    <a:pt x="3469738" y="1453009"/>
                  </a:lnTo>
                  <a:lnTo>
                    <a:pt x="3477319" y="1501458"/>
                  </a:lnTo>
                  <a:lnTo>
                    <a:pt x="3483546" y="1550185"/>
                  </a:lnTo>
                  <a:lnTo>
                    <a:pt x="3488409" y="1599165"/>
                  </a:lnTo>
                  <a:lnTo>
                    <a:pt x="3491896" y="1648370"/>
                  </a:lnTo>
                  <a:lnTo>
                    <a:pt x="3493997" y="1697774"/>
                  </a:lnTo>
                  <a:lnTo>
                    <a:pt x="3494699" y="1747349"/>
                  </a:lnTo>
                  <a:lnTo>
                    <a:pt x="3494050" y="1795446"/>
                  </a:lnTo>
                  <a:lnTo>
                    <a:pt x="3492114" y="1843222"/>
                  </a:lnTo>
                  <a:lnTo>
                    <a:pt x="3488907" y="1890659"/>
                  </a:lnTo>
                  <a:lnTo>
                    <a:pt x="3484446" y="1937742"/>
                  </a:lnTo>
                  <a:lnTo>
                    <a:pt x="3478748" y="1984454"/>
                  </a:lnTo>
                  <a:lnTo>
                    <a:pt x="3471830" y="2030779"/>
                  </a:lnTo>
                  <a:lnTo>
                    <a:pt x="3463707" y="2076698"/>
                  </a:lnTo>
                  <a:lnTo>
                    <a:pt x="3454397" y="2122197"/>
                  </a:lnTo>
                  <a:lnTo>
                    <a:pt x="3443917" y="2167258"/>
                  </a:lnTo>
                  <a:lnTo>
                    <a:pt x="3432282" y="2211864"/>
                  </a:lnTo>
                  <a:lnTo>
                    <a:pt x="3419511" y="2256000"/>
                  </a:lnTo>
                  <a:lnTo>
                    <a:pt x="3405618" y="2299647"/>
                  </a:lnTo>
                  <a:lnTo>
                    <a:pt x="3390622" y="2342790"/>
                  </a:lnTo>
                  <a:lnTo>
                    <a:pt x="3374538" y="2385412"/>
                  </a:lnTo>
                  <a:lnTo>
                    <a:pt x="3357384" y="2427497"/>
                  </a:lnTo>
                  <a:lnTo>
                    <a:pt x="3339176" y="2469027"/>
                  </a:lnTo>
                  <a:lnTo>
                    <a:pt x="3319930" y="2509986"/>
                  </a:lnTo>
                  <a:lnTo>
                    <a:pt x="3299663" y="2550357"/>
                  </a:lnTo>
                  <a:lnTo>
                    <a:pt x="3278393" y="2590124"/>
                  </a:lnTo>
                  <a:lnTo>
                    <a:pt x="3256135" y="2629270"/>
                  </a:lnTo>
                  <a:lnTo>
                    <a:pt x="3232906" y="2667779"/>
                  </a:lnTo>
                  <a:lnTo>
                    <a:pt x="3208724" y="2705633"/>
                  </a:lnTo>
                  <a:lnTo>
                    <a:pt x="3183603" y="2742816"/>
                  </a:lnTo>
                  <a:lnTo>
                    <a:pt x="3157562" y="2779312"/>
                  </a:lnTo>
                  <a:lnTo>
                    <a:pt x="3130617" y="2815103"/>
                  </a:lnTo>
                  <a:lnTo>
                    <a:pt x="3102785" y="2850173"/>
                  </a:lnTo>
                  <a:lnTo>
                    <a:pt x="3074081" y="2884506"/>
                  </a:lnTo>
                  <a:lnTo>
                    <a:pt x="3044524" y="2918085"/>
                  </a:lnTo>
                  <a:lnTo>
                    <a:pt x="3014128" y="2950892"/>
                  </a:lnTo>
                  <a:lnTo>
                    <a:pt x="2982913" y="2982912"/>
                  </a:lnTo>
                  <a:lnTo>
                    <a:pt x="2950892" y="3014128"/>
                  </a:lnTo>
                  <a:lnTo>
                    <a:pt x="2918085" y="3044523"/>
                  </a:lnTo>
                  <a:lnTo>
                    <a:pt x="2884506" y="3074081"/>
                  </a:lnTo>
                  <a:lnTo>
                    <a:pt x="2850173" y="3102784"/>
                  </a:lnTo>
                  <a:lnTo>
                    <a:pt x="2815103" y="3130617"/>
                  </a:lnTo>
                  <a:lnTo>
                    <a:pt x="2779312" y="3157562"/>
                  </a:lnTo>
                  <a:lnTo>
                    <a:pt x="2742816" y="3183603"/>
                  </a:lnTo>
                  <a:lnTo>
                    <a:pt x="2705633" y="3208723"/>
                  </a:lnTo>
                  <a:lnTo>
                    <a:pt x="2667779" y="3232906"/>
                  </a:lnTo>
                  <a:lnTo>
                    <a:pt x="2629270" y="3256135"/>
                  </a:lnTo>
                  <a:lnTo>
                    <a:pt x="2590124" y="3278393"/>
                  </a:lnTo>
                  <a:lnTo>
                    <a:pt x="2550357" y="3299663"/>
                  </a:lnTo>
                  <a:lnTo>
                    <a:pt x="2509986" y="3319930"/>
                  </a:lnTo>
                  <a:lnTo>
                    <a:pt x="2469027" y="3339176"/>
                  </a:lnTo>
                  <a:lnTo>
                    <a:pt x="2427497" y="3357384"/>
                  </a:lnTo>
                  <a:lnTo>
                    <a:pt x="2385413" y="3374538"/>
                  </a:lnTo>
                  <a:lnTo>
                    <a:pt x="2342790" y="3390622"/>
                  </a:lnTo>
                  <a:lnTo>
                    <a:pt x="2299647" y="3405618"/>
                  </a:lnTo>
                  <a:lnTo>
                    <a:pt x="2256000" y="3419511"/>
                  </a:lnTo>
                  <a:lnTo>
                    <a:pt x="2211864" y="3432282"/>
                  </a:lnTo>
                  <a:lnTo>
                    <a:pt x="2167258" y="3443917"/>
                  </a:lnTo>
                  <a:lnTo>
                    <a:pt x="2122197" y="3454397"/>
                  </a:lnTo>
                  <a:lnTo>
                    <a:pt x="2076698" y="3463707"/>
                  </a:lnTo>
                  <a:lnTo>
                    <a:pt x="2030779" y="3471830"/>
                  </a:lnTo>
                  <a:lnTo>
                    <a:pt x="1984455" y="3478748"/>
                  </a:lnTo>
                  <a:lnTo>
                    <a:pt x="1937743" y="3484446"/>
                  </a:lnTo>
                  <a:lnTo>
                    <a:pt x="1890659" y="3488907"/>
                  </a:lnTo>
                  <a:lnTo>
                    <a:pt x="1843222" y="3492114"/>
                  </a:lnTo>
                  <a:lnTo>
                    <a:pt x="1795446" y="3494050"/>
                  </a:lnTo>
                  <a:lnTo>
                    <a:pt x="1747349" y="3494699"/>
                  </a:lnTo>
                  <a:lnTo>
                    <a:pt x="1699253" y="3494050"/>
                  </a:lnTo>
                  <a:lnTo>
                    <a:pt x="1651477" y="3492114"/>
                  </a:lnTo>
                  <a:lnTo>
                    <a:pt x="1604040" y="3488907"/>
                  </a:lnTo>
                  <a:lnTo>
                    <a:pt x="1556956" y="3484446"/>
                  </a:lnTo>
                  <a:lnTo>
                    <a:pt x="1510244" y="3478748"/>
                  </a:lnTo>
                  <a:lnTo>
                    <a:pt x="1463920" y="3471830"/>
                  </a:lnTo>
                  <a:lnTo>
                    <a:pt x="1418001" y="3463707"/>
                  </a:lnTo>
                  <a:lnTo>
                    <a:pt x="1372502" y="3454397"/>
                  </a:lnTo>
                  <a:lnTo>
                    <a:pt x="1327441" y="3443917"/>
                  </a:lnTo>
                  <a:lnTo>
                    <a:pt x="1282835" y="3432282"/>
                  </a:lnTo>
                  <a:lnTo>
                    <a:pt x="1238699" y="3419511"/>
                  </a:lnTo>
                  <a:lnTo>
                    <a:pt x="1195052" y="3405618"/>
                  </a:lnTo>
                  <a:lnTo>
                    <a:pt x="1151909" y="3390622"/>
                  </a:lnTo>
                  <a:lnTo>
                    <a:pt x="1109286" y="3374538"/>
                  </a:lnTo>
                  <a:lnTo>
                    <a:pt x="1067202" y="3357384"/>
                  </a:lnTo>
                  <a:lnTo>
                    <a:pt x="1025672" y="3339176"/>
                  </a:lnTo>
                  <a:lnTo>
                    <a:pt x="984713" y="3319930"/>
                  </a:lnTo>
                  <a:lnTo>
                    <a:pt x="944342" y="3299663"/>
                  </a:lnTo>
                  <a:lnTo>
                    <a:pt x="904575" y="3278393"/>
                  </a:lnTo>
                  <a:lnTo>
                    <a:pt x="865428" y="3256135"/>
                  </a:lnTo>
                  <a:lnTo>
                    <a:pt x="826920" y="3232906"/>
                  </a:lnTo>
                  <a:lnTo>
                    <a:pt x="789066" y="3208723"/>
                  </a:lnTo>
                  <a:lnTo>
                    <a:pt x="751883" y="3183603"/>
                  </a:lnTo>
                  <a:lnTo>
                    <a:pt x="715387" y="3157562"/>
                  </a:lnTo>
                  <a:lnTo>
                    <a:pt x="679596" y="3130617"/>
                  </a:lnTo>
                  <a:lnTo>
                    <a:pt x="644526" y="3102784"/>
                  </a:lnTo>
                  <a:lnTo>
                    <a:pt x="610193" y="3074081"/>
                  </a:lnTo>
                  <a:lnTo>
                    <a:pt x="576614" y="3044523"/>
                  </a:lnTo>
                  <a:lnTo>
                    <a:pt x="543807" y="3014128"/>
                  </a:lnTo>
                  <a:lnTo>
                    <a:pt x="511786" y="2982912"/>
                  </a:lnTo>
                  <a:lnTo>
                    <a:pt x="480571" y="2950892"/>
                  </a:lnTo>
                  <a:lnTo>
                    <a:pt x="450175" y="2918085"/>
                  </a:lnTo>
                  <a:lnTo>
                    <a:pt x="420618" y="2884506"/>
                  </a:lnTo>
                  <a:lnTo>
                    <a:pt x="391914" y="2850173"/>
                  </a:lnTo>
                  <a:lnTo>
                    <a:pt x="364082" y="2815103"/>
                  </a:lnTo>
                  <a:lnTo>
                    <a:pt x="337137" y="2779312"/>
                  </a:lnTo>
                  <a:lnTo>
                    <a:pt x="311096" y="2742816"/>
                  </a:lnTo>
                  <a:lnTo>
                    <a:pt x="285975" y="2705633"/>
                  </a:lnTo>
                  <a:lnTo>
                    <a:pt x="261793" y="2667779"/>
                  </a:lnTo>
                  <a:lnTo>
                    <a:pt x="238564" y="2629270"/>
                  </a:lnTo>
                  <a:lnTo>
                    <a:pt x="216306" y="2590124"/>
                  </a:lnTo>
                  <a:lnTo>
                    <a:pt x="195036" y="2550357"/>
                  </a:lnTo>
                  <a:lnTo>
                    <a:pt x="174769" y="2509986"/>
                  </a:lnTo>
                  <a:lnTo>
                    <a:pt x="155523" y="2469027"/>
                  </a:lnTo>
                  <a:lnTo>
                    <a:pt x="137315" y="2427497"/>
                  </a:lnTo>
                  <a:lnTo>
                    <a:pt x="120161" y="2385412"/>
                  </a:lnTo>
                  <a:lnTo>
                    <a:pt x="104077" y="2342790"/>
                  </a:lnTo>
                  <a:lnTo>
                    <a:pt x="89081" y="2299647"/>
                  </a:lnTo>
                  <a:lnTo>
                    <a:pt x="75188" y="2256000"/>
                  </a:lnTo>
                  <a:lnTo>
                    <a:pt x="62417" y="2211864"/>
                  </a:lnTo>
                  <a:lnTo>
                    <a:pt x="50782" y="2167258"/>
                  </a:lnTo>
                  <a:lnTo>
                    <a:pt x="40302" y="2122197"/>
                  </a:lnTo>
                  <a:lnTo>
                    <a:pt x="30992" y="2076698"/>
                  </a:lnTo>
                  <a:lnTo>
                    <a:pt x="22869" y="2030779"/>
                  </a:lnTo>
                  <a:lnTo>
                    <a:pt x="15951" y="1984454"/>
                  </a:lnTo>
                  <a:lnTo>
                    <a:pt x="10253" y="1937742"/>
                  </a:lnTo>
                  <a:lnTo>
                    <a:pt x="5792" y="1890659"/>
                  </a:lnTo>
                  <a:lnTo>
                    <a:pt x="2585" y="1843222"/>
                  </a:lnTo>
                  <a:lnTo>
                    <a:pt x="649" y="1795446"/>
                  </a:lnTo>
                  <a:lnTo>
                    <a:pt x="0" y="1747349"/>
                  </a:lnTo>
                  <a:close/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6168222" y="2451071"/>
            <a:ext cx="259927" cy="1001983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6400" dirty="0">
                <a:latin typeface="Arial MT"/>
                <a:cs typeface="Arial MT"/>
              </a:rPr>
              <a:t>f</a:t>
            </a:r>
            <a:endParaRPr sz="6400">
              <a:latin typeface="Arial MT"/>
              <a:cs typeface="Arial MT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923534" y="285399"/>
            <a:ext cx="10712873" cy="4781127"/>
            <a:chOff x="692650" y="214049"/>
            <a:chExt cx="8034655" cy="3585845"/>
          </a:xfrm>
        </p:grpSpPr>
        <p:sp>
          <p:nvSpPr>
            <p:cNvPr id="7" name="object 7"/>
            <p:cNvSpPr/>
            <p:nvPr/>
          </p:nvSpPr>
          <p:spPr>
            <a:xfrm>
              <a:off x="702175" y="3012748"/>
              <a:ext cx="2301875" cy="777875"/>
            </a:xfrm>
            <a:custGeom>
              <a:avLst/>
              <a:gdLst/>
              <a:ahLst/>
              <a:cxnLst/>
              <a:rect l="l" t="t" r="r" b="b"/>
              <a:pathLst>
                <a:path w="2301875" h="777875">
                  <a:moveTo>
                    <a:pt x="0" y="777326"/>
                  </a:moveTo>
                  <a:lnTo>
                    <a:pt x="2301609" y="0"/>
                  </a:lnTo>
                </a:path>
              </a:pathLst>
            </a:custGeom>
            <a:ln w="19049">
              <a:solidFill>
                <a:srgbClr val="37761C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84190" y="2973411"/>
              <a:ext cx="111023" cy="7867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989425" y="470774"/>
              <a:ext cx="2089150" cy="889000"/>
            </a:xfrm>
            <a:custGeom>
              <a:avLst/>
              <a:gdLst/>
              <a:ahLst/>
              <a:cxnLst/>
              <a:rect l="l" t="t" r="r" b="b"/>
              <a:pathLst>
                <a:path w="2089150" h="889000">
                  <a:moveTo>
                    <a:pt x="0" y="0"/>
                  </a:moveTo>
                  <a:lnTo>
                    <a:pt x="2089024" y="888849"/>
                  </a:lnTo>
                </a:path>
              </a:pathLst>
            </a:custGeom>
            <a:ln w="19049">
              <a:solidFill>
                <a:srgbClr val="37761C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56605" y="1321145"/>
              <a:ext cx="110918" cy="8185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6470900" y="2242100"/>
              <a:ext cx="2160270" cy="0"/>
            </a:xfrm>
            <a:custGeom>
              <a:avLst/>
              <a:gdLst/>
              <a:ahLst/>
              <a:cxnLst/>
              <a:rect l="l" t="t" r="r" b="b"/>
              <a:pathLst>
                <a:path w="2160270">
                  <a:moveTo>
                    <a:pt x="0" y="0"/>
                  </a:moveTo>
                  <a:lnTo>
                    <a:pt x="2159999" y="0"/>
                  </a:lnTo>
                </a:path>
              </a:pathLst>
            </a:custGeom>
            <a:ln w="19049">
              <a:solidFill>
                <a:srgbClr val="37761C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621375" y="2201109"/>
              <a:ext cx="105500" cy="8198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80512" y="233099"/>
              <a:ext cx="352424" cy="304799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370987" y="223574"/>
              <a:ext cx="371475" cy="323850"/>
            </a:xfrm>
            <a:custGeom>
              <a:avLst/>
              <a:gdLst/>
              <a:ahLst/>
              <a:cxnLst/>
              <a:rect l="l" t="t" r="r" b="b"/>
              <a:pathLst>
                <a:path w="371475" h="323850">
                  <a:moveTo>
                    <a:pt x="0" y="0"/>
                  </a:moveTo>
                  <a:lnTo>
                    <a:pt x="371474" y="0"/>
                  </a:lnTo>
                  <a:lnTo>
                    <a:pt x="371474" y="323849"/>
                  </a:lnTo>
                  <a:lnTo>
                    <a:pt x="0" y="32384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37761C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00362" y="3061025"/>
              <a:ext cx="295274" cy="361949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1290837" y="3051500"/>
              <a:ext cx="314325" cy="381000"/>
            </a:xfrm>
            <a:custGeom>
              <a:avLst/>
              <a:gdLst/>
              <a:ahLst/>
              <a:cxnLst/>
              <a:rect l="l" t="t" r="r" b="b"/>
              <a:pathLst>
                <a:path w="314325" h="381000">
                  <a:moveTo>
                    <a:pt x="0" y="0"/>
                  </a:moveTo>
                  <a:lnTo>
                    <a:pt x="314324" y="0"/>
                  </a:lnTo>
                  <a:lnTo>
                    <a:pt x="314324" y="380999"/>
                  </a:lnTo>
                  <a:lnTo>
                    <a:pt x="0" y="3809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37761C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245937" y="1758700"/>
              <a:ext cx="314324" cy="304799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7236412" y="1749174"/>
              <a:ext cx="371475" cy="323850"/>
            </a:xfrm>
            <a:custGeom>
              <a:avLst/>
              <a:gdLst/>
              <a:ahLst/>
              <a:cxnLst/>
              <a:rect l="l" t="t" r="r" b="b"/>
              <a:pathLst>
                <a:path w="371475" h="323850">
                  <a:moveTo>
                    <a:pt x="0" y="0"/>
                  </a:moveTo>
                  <a:lnTo>
                    <a:pt x="371474" y="0"/>
                  </a:lnTo>
                  <a:lnTo>
                    <a:pt x="371474" y="323849"/>
                  </a:lnTo>
                  <a:lnTo>
                    <a:pt x="0" y="32384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37761C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9" name="object 19"/>
            <p:cNvSpPr/>
            <p:nvPr/>
          </p:nvSpPr>
          <p:spPr>
            <a:xfrm>
              <a:off x="6585412" y="2433624"/>
              <a:ext cx="2112010" cy="0"/>
            </a:xfrm>
            <a:custGeom>
              <a:avLst/>
              <a:gdLst/>
              <a:ahLst/>
              <a:cxnLst/>
              <a:rect l="l" t="t" r="r" b="b"/>
              <a:pathLst>
                <a:path w="2112009">
                  <a:moveTo>
                    <a:pt x="2111699" y="0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489436" y="2392634"/>
              <a:ext cx="105500" cy="81980"/>
            </a:xfrm>
            <a:prstGeom prst="rect">
              <a:avLst/>
            </a:prstGeom>
          </p:spPr>
        </p:pic>
      </p:grp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xfrm>
            <a:off x="2927034" y="5408"/>
            <a:ext cx="2433319" cy="63265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spcBef>
                <a:spcPts val="133"/>
              </a:spcBef>
            </a:pPr>
            <a:r>
              <a:rPr sz="4000" spc="-7" dirty="0">
                <a:solidFill>
                  <a:srgbClr val="37761C"/>
                </a:solidFill>
                <a:latin typeface="Arial MT"/>
                <a:cs typeface="Arial MT"/>
              </a:rPr>
              <a:t>activations</a:t>
            </a:r>
            <a:endParaRPr sz="4000">
              <a:latin typeface="Arial MT"/>
              <a:cs typeface="Arial MT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-12700" y="1"/>
            <a:ext cx="10277687" cy="6025727"/>
            <a:chOff x="-9525" y="0"/>
            <a:chExt cx="7708265" cy="4519295"/>
          </a:xfrm>
        </p:grpSpPr>
        <p:pic>
          <p:nvPicPr>
            <p:cNvPr id="23" name="object 2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164987" y="2555187"/>
              <a:ext cx="514349" cy="676274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7155462" y="2545662"/>
              <a:ext cx="533400" cy="695325"/>
            </a:xfrm>
            <a:custGeom>
              <a:avLst/>
              <a:gdLst/>
              <a:ahLst/>
              <a:cxnLst/>
              <a:rect l="l" t="t" r="r" b="b"/>
              <a:pathLst>
                <a:path w="533400" h="695325">
                  <a:moveTo>
                    <a:pt x="0" y="0"/>
                  </a:moveTo>
                  <a:lnTo>
                    <a:pt x="533399" y="0"/>
                  </a:lnTo>
                  <a:lnTo>
                    <a:pt x="533399" y="695324"/>
                  </a:lnTo>
                  <a:lnTo>
                    <a:pt x="0" y="695324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25" name="object 2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398762" y="1290437"/>
              <a:ext cx="485774" cy="638174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3389237" y="1280912"/>
              <a:ext cx="504825" cy="657225"/>
            </a:xfrm>
            <a:custGeom>
              <a:avLst/>
              <a:gdLst/>
              <a:ahLst/>
              <a:cxnLst/>
              <a:rect l="l" t="t" r="r" b="b"/>
              <a:pathLst>
                <a:path w="504825" h="657225">
                  <a:moveTo>
                    <a:pt x="0" y="0"/>
                  </a:moveTo>
                  <a:lnTo>
                    <a:pt x="504824" y="0"/>
                  </a:lnTo>
                  <a:lnTo>
                    <a:pt x="504824" y="657224"/>
                  </a:lnTo>
                  <a:lnTo>
                    <a:pt x="0" y="657224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27" name="object 2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398762" y="2493037"/>
              <a:ext cx="409574" cy="704849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3389237" y="2483512"/>
              <a:ext cx="428625" cy="723900"/>
            </a:xfrm>
            <a:custGeom>
              <a:avLst/>
              <a:gdLst/>
              <a:ahLst/>
              <a:cxnLst/>
              <a:rect l="l" t="t" r="r" b="b"/>
              <a:pathLst>
                <a:path w="428625" h="723900">
                  <a:moveTo>
                    <a:pt x="0" y="0"/>
                  </a:moveTo>
                  <a:lnTo>
                    <a:pt x="428624" y="0"/>
                  </a:lnTo>
                  <a:lnTo>
                    <a:pt x="428624" y="723899"/>
                  </a:lnTo>
                  <a:lnTo>
                    <a:pt x="0" y="7238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99525" y="712036"/>
              <a:ext cx="2129399" cy="1553150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784739" y="741541"/>
              <a:ext cx="811530" cy="833119"/>
            </a:xfrm>
            <a:custGeom>
              <a:avLst/>
              <a:gdLst/>
              <a:ahLst/>
              <a:cxnLst/>
              <a:rect l="l" t="t" r="r" b="b"/>
              <a:pathLst>
                <a:path w="811530" h="833119">
                  <a:moveTo>
                    <a:pt x="281399" y="0"/>
                  </a:moveTo>
                  <a:lnTo>
                    <a:pt x="811199" y="260400"/>
                  </a:lnTo>
                  <a:lnTo>
                    <a:pt x="529799" y="833099"/>
                  </a:lnTo>
                  <a:lnTo>
                    <a:pt x="0" y="572699"/>
                  </a:lnTo>
                  <a:lnTo>
                    <a:pt x="281399" y="0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202510" y="3189279"/>
              <a:ext cx="2132705" cy="1320414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053372" y="654667"/>
              <a:ext cx="2042795" cy="3813175"/>
            </a:xfrm>
            <a:custGeom>
              <a:avLst/>
              <a:gdLst/>
              <a:ahLst/>
              <a:cxnLst/>
              <a:rect l="l" t="t" r="r" b="b"/>
              <a:pathLst>
                <a:path w="2042795" h="3813175">
                  <a:moveTo>
                    <a:pt x="142551" y="3209759"/>
                  </a:moveTo>
                  <a:lnTo>
                    <a:pt x="700252" y="3016559"/>
                  </a:lnTo>
                  <a:lnTo>
                    <a:pt x="909352" y="3619559"/>
                  </a:lnTo>
                  <a:lnTo>
                    <a:pt x="351651" y="3812759"/>
                  </a:lnTo>
                  <a:lnTo>
                    <a:pt x="142551" y="3209759"/>
                  </a:lnTo>
                  <a:close/>
                </a:path>
                <a:path w="2042795" h="3813175">
                  <a:moveTo>
                    <a:pt x="2042527" y="901257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33" name="object 33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64754" y="610242"/>
              <a:ext cx="110845" cy="82737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882509" y="3105099"/>
              <a:ext cx="2277745" cy="745490"/>
            </a:xfrm>
            <a:custGeom>
              <a:avLst/>
              <a:gdLst/>
              <a:ahLst/>
              <a:cxnLst/>
              <a:rect l="l" t="t" r="r" b="b"/>
              <a:pathLst>
                <a:path w="2277745" h="745489">
                  <a:moveTo>
                    <a:pt x="2277565" y="0"/>
                  </a:moveTo>
                  <a:lnTo>
                    <a:pt x="0" y="745061"/>
                  </a:lnTo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35" name="object 3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90818" y="3810731"/>
              <a:ext cx="110999" cy="78861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0" y="0"/>
              <a:ext cx="1119505" cy="1125855"/>
            </a:xfrm>
            <a:custGeom>
              <a:avLst/>
              <a:gdLst/>
              <a:ahLst/>
              <a:cxnLst/>
              <a:rect l="l" t="t" r="r" b="b"/>
              <a:pathLst>
                <a:path w="1119505" h="1125855">
                  <a:moveTo>
                    <a:pt x="0" y="1125539"/>
                  </a:moveTo>
                  <a:lnTo>
                    <a:pt x="0" y="0"/>
                  </a:lnTo>
                  <a:lnTo>
                    <a:pt x="1118892" y="0"/>
                  </a:lnTo>
                  <a:lnTo>
                    <a:pt x="1098422" y="60340"/>
                  </a:lnTo>
                  <a:lnTo>
                    <a:pt x="1082338" y="102962"/>
                  </a:lnTo>
                  <a:lnTo>
                    <a:pt x="1065184" y="145047"/>
                  </a:lnTo>
                  <a:lnTo>
                    <a:pt x="1046975" y="186577"/>
                  </a:lnTo>
                  <a:lnTo>
                    <a:pt x="1027730" y="227536"/>
                  </a:lnTo>
                  <a:lnTo>
                    <a:pt x="1007463" y="267907"/>
                  </a:lnTo>
                  <a:lnTo>
                    <a:pt x="986193" y="307674"/>
                  </a:lnTo>
                  <a:lnTo>
                    <a:pt x="963935" y="346820"/>
                  </a:lnTo>
                  <a:lnTo>
                    <a:pt x="940706" y="385329"/>
                  </a:lnTo>
                  <a:lnTo>
                    <a:pt x="916523" y="423183"/>
                  </a:lnTo>
                  <a:lnTo>
                    <a:pt x="891403" y="460366"/>
                  </a:lnTo>
                  <a:lnTo>
                    <a:pt x="865362" y="496862"/>
                  </a:lnTo>
                  <a:lnTo>
                    <a:pt x="838417" y="532653"/>
                  </a:lnTo>
                  <a:lnTo>
                    <a:pt x="810584" y="567723"/>
                  </a:lnTo>
                  <a:lnTo>
                    <a:pt x="781881" y="602056"/>
                  </a:lnTo>
                  <a:lnTo>
                    <a:pt x="752323" y="635635"/>
                  </a:lnTo>
                  <a:lnTo>
                    <a:pt x="721928" y="668442"/>
                  </a:lnTo>
                  <a:lnTo>
                    <a:pt x="690712" y="700462"/>
                  </a:lnTo>
                  <a:lnTo>
                    <a:pt x="658692" y="731678"/>
                  </a:lnTo>
                  <a:lnTo>
                    <a:pt x="625885" y="762073"/>
                  </a:lnTo>
                  <a:lnTo>
                    <a:pt x="592306" y="791631"/>
                  </a:lnTo>
                  <a:lnTo>
                    <a:pt x="557973" y="820334"/>
                  </a:lnTo>
                  <a:lnTo>
                    <a:pt x="522903" y="848167"/>
                  </a:lnTo>
                  <a:lnTo>
                    <a:pt x="487112" y="875112"/>
                  </a:lnTo>
                  <a:lnTo>
                    <a:pt x="450616" y="901153"/>
                  </a:lnTo>
                  <a:lnTo>
                    <a:pt x="413433" y="926273"/>
                  </a:lnTo>
                  <a:lnTo>
                    <a:pt x="375579" y="950456"/>
                  </a:lnTo>
                  <a:lnTo>
                    <a:pt x="337070" y="973685"/>
                  </a:lnTo>
                  <a:lnTo>
                    <a:pt x="297924" y="995943"/>
                  </a:lnTo>
                  <a:lnTo>
                    <a:pt x="258157" y="1017213"/>
                  </a:lnTo>
                  <a:lnTo>
                    <a:pt x="217786" y="1037480"/>
                  </a:lnTo>
                  <a:lnTo>
                    <a:pt x="176827" y="1056726"/>
                  </a:lnTo>
                  <a:lnTo>
                    <a:pt x="135297" y="1074934"/>
                  </a:lnTo>
                  <a:lnTo>
                    <a:pt x="93212" y="1092088"/>
                  </a:lnTo>
                  <a:lnTo>
                    <a:pt x="50590" y="1108172"/>
                  </a:lnTo>
                  <a:lnTo>
                    <a:pt x="7447" y="1123168"/>
                  </a:lnTo>
                  <a:lnTo>
                    <a:pt x="0" y="1125539"/>
                  </a:lnTo>
                  <a:close/>
                </a:path>
              </a:pathLst>
            </a:custGeom>
            <a:solidFill>
              <a:srgbClr val="F3F3F3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7" name="object 37"/>
            <p:cNvSpPr/>
            <p:nvPr/>
          </p:nvSpPr>
          <p:spPr>
            <a:xfrm>
              <a:off x="0" y="0"/>
              <a:ext cx="1119505" cy="1125855"/>
            </a:xfrm>
            <a:custGeom>
              <a:avLst/>
              <a:gdLst/>
              <a:ahLst/>
              <a:cxnLst/>
              <a:rect l="l" t="t" r="r" b="b"/>
              <a:pathLst>
                <a:path w="1119505" h="1125855">
                  <a:moveTo>
                    <a:pt x="1118892" y="0"/>
                  </a:moveTo>
                  <a:lnTo>
                    <a:pt x="1098422" y="60340"/>
                  </a:lnTo>
                  <a:lnTo>
                    <a:pt x="1082338" y="102962"/>
                  </a:lnTo>
                  <a:lnTo>
                    <a:pt x="1065184" y="145047"/>
                  </a:lnTo>
                  <a:lnTo>
                    <a:pt x="1046976" y="186577"/>
                  </a:lnTo>
                  <a:lnTo>
                    <a:pt x="1027730" y="227536"/>
                  </a:lnTo>
                  <a:lnTo>
                    <a:pt x="1007463" y="267907"/>
                  </a:lnTo>
                  <a:lnTo>
                    <a:pt x="986193" y="307674"/>
                  </a:lnTo>
                  <a:lnTo>
                    <a:pt x="963935" y="346820"/>
                  </a:lnTo>
                  <a:lnTo>
                    <a:pt x="940706" y="385329"/>
                  </a:lnTo>
                  <a:lnTo>
                    <a:pt x="916523" y="423183"/>
                  </a:lnTo>
                  <a:lnTo>
                    <a:pt x="891403" y="460366"/>
                  </a:lnTo>
                  <a:lnTo>
                    <a:pt x="865362" y="496862"/>
                  </a:lnTo>
                  <a:lnTo>
                    <a:pt x="838417" y="532653"/>
                  </a:lnTo>
                  <a:lnTo>
                    <a:pt x="810584" y="567723"/>
                  </a:lnTo>
                  <a:lnTo>
                    <a:pt x="781881" y="602056"/>
                  </a:lnTo>
                  <a:lnTo>
                    <a:pt x="752323" y="635635"/>
                  </a:lnTo>
                  <a:lnTo>
                    <a:pt x="721928" y="668442"/>
                  </a:lnTo>
                  <a:lnTo>
                    <a:pt x="690712" y="700462"/>
                  </a:lnTo>
                  <a:lnTo>
                    <a:pt x="658692" y="731678"/>
                  </a:lnTo>
                  <a:lnTo>
                    <a:pt x="625885" y="762073"/>
                  </a:lnTo>
                  <a:lnTo>
                    <a:pt x="592306" y="791631"/>
                  </a:lnTo>
                  <a:lnTo>
                    <a:pt x="557973" y="820334"/>
                  </a:lnTo>
                  <a:lnTo>
                    <a:pt x="522903" y="848167"/>
                  </a:lnTo>
                  <a:lnTo>
                    <a:pt x="487112" y="875112"/>
                  </a:lnTo>
                  <a:lnTo>
                    <a:pt x="450616" y="901153"/>
                  </a:lnTo>
                  <a:lnTo>
                    <a:pt x="413433" y="926273"/>
                  </a:lnTo>
                  <a:lnTo>
                    <a:pt x="375579" y="950456"/>
                  </a:lnTo>
                  <a:lnTo>
                    <a:pt x="337070" y="973685"/>
                  </a:lnTo>
                  <a:lnTo>
                    <a:pt x="297924" y="995943"/>
                  </a:lnTo>
                  <a:lnTo>
                    <a:pt x="258157" y="1017213"/>
                  </a:lnTo>
                  <a:lnTo>
                    <a:pt x="217786" y="1037480"/>
                  </a:lnTo>
                  <a:lnTo>
                    <a:pt x="176827" y="1056726"/>
                  </a:lnTo>
                  <a:lnTo>
                    <a:pt x="135297" y="1074934"/>
                  </a:lnTo>
                  <a:lnTo>
                    <a:pt x="93212" y="1092088"/>
                  </a:lnTo>
                  <a:lnTo>
                    <a:pt x="50590" y="1108172"/>
                  </a:lnTo>
                  <a:lnTo>
                    <a:pt x="7447" y="1123168"/>
                  </a:lnTo>
                  <a:lnTo>
                    <a:pt x="0" y="1125539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9047500" y="4803146"/>
            <a:ext cx="2123440" cy="63265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4000" spc="-7" dirty="0">
                <a:solidFill>
                  <a:srgbClr val="FF0000"/>
                </a:solidFill>
                <a:latin typeface="Arial MT"/>
                <a:cs typeface="Arial MT"/>
              </a:rPr>
              <a:t>gradients</a:t>
            </a:r>
            <a:endParaRPr sz="4000">
              <a:latin typeface="Arial MT"/>
              <a:cs typeface="Arial MT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5357734" y="1276740"/>
            <a:ext cx="2049780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“local</a:t>
            </a:r>
            <a:r>
              <a:rPr sz="2400" spc="-113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7" dirty="0">
                <a:solidFill>
                  <a:srgbClr val="FF0000"/>
                </a:solidFill>
                <a:latin typeface="Arial MT"/>
                <a:cs typeface="Arial MT"/>
              </a:rPr>
              <a:t>gradient”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-12700" y="3951863"/>
            <a:ext cx="961813" cy="2919307"/>
            <a:chOff x="-9525" y="2963897"/>
            <a:chExt cx="721360" cy="2189480"/>
          </a:xfrm>
        </p:grpSpPr>
        <p:sp>
          <p:nvSpPr>
            <p:cNvPr id="41" name="object 41"/>
            <p:cNvSpPr/>
            <p:nvPr/>
          </p:nvSpPr>
          <p:spPr>
            <a:xfrm>
              <a:off x="0" y="2973422"/>
              <a:ext cx="702310" cy="2170430"/>
            </a:xfrm>
            <a:custGeom>
              <a:avLst/>
              <a:gdLst/>
              <a:ahLst/>
              <a:cxnLst/>
              <a:rect l="l" t="t" r="r" b="b"/>
              <a:pathLst>
                <a:path w="702310" h="2170429">
                  <a:moveTo>
                    <a:pt x="523784" y="2170077"/>
                  </a:moveTo>
                  <a:lnTo>
                    <a:pt x="0" y="2170077"/>
                  </a:lnTo>
                  <a:lnTo>
                    <a:pt x="0" y="0"/>
                  </a:lnTo>
                  <a:lnTo>
                    <a:pt x="43085" y="33134"/>
                  </a:lnTo>
                  <a:lnTo>
                    <a:pt x="81157" y="64330"/>
                  </a:lnTo>
                  <a:lnTo>
                    <a:pt x="118416" y="96657"/>
                  </a:lnTo>
                  <a:lnTo>
                    <a:pt x="154835" y="130105"/>
                  </a:lnTo>
                  <a:lnTo>
                    <a:pt x="190387" y="164664"/>
                  </a:lnTo>
                  <a:lnTo>
                    <a:pt x="224946" y="200216"/>
                  </a:lnTo>
                  <a:lnTo>
                    <a:pt x="258394" y="236635"/>
                  </a:lnTo>
                  <a:lnTo>
                    <a:pt x="290722" y="273894"/>
                  </a:lnTo>
                  <a:lnTo>
                    <a:pt x="321917" y="311966"/>
                  </a:lnTo>
                  <a:lnTo>
                    <a:pt x="351969" y="350825"/>
                  </a:lnTo>
                  <a:lnTo>
                    <a:pt x="380867" y="390444"/>
                  </a:lnTo>
                  <a:lnTo>
                    <a:pt x="408599" y="430796"/>
                  </a:lnTo>
                  <a:lnTo>
                    <a:pt x="435155" y="471855"/>
                  </a:lnTo>
                  <a:lnTo>
                    <a:pt x="460523" y="513593"/>
                  </a:lnTo>
                  <a:lnTo>
                    <a:pt x="484693" y="555984"/>
                  </a:lnTo>
                  <a:lnTo>
                    <a:pt x="507653" y="599002"/>
                  </a:lnTo>
                  <a:lnTo>
                    <a:pt x="529393" y="642619"/>
                  </a:lnTo>
                  <a:lnTo>
                    <a:pt x="549900" y="686809"/>
                  </a:lnTo>
                  <a:lnTo>
                    <a:pt x="569165" y="731545"/>
                  </a:lnTo>
                  <a:lnTo>
                    <a:pt x="587176" y="776800"/>
                  </a:lnTo>
                  <a:lnTo>
                    <a:pt x="603922" y="822548"/>
                  </a:lnTo>
                  <a:lnTo>
                    <a:pt x="619392" y="868763"/>
                  </a:lnTo>
                  <a:lnTo>
                    <a:pt x="633575" y="915416"/>
                  </a:lnTo>
                  <a:lnTo>
                    <a:pt x="646459" y="962482"/>
                  </a:lnTo>
                  <a:lnTo>
                    <a:pt x="658034" y="1009933"/>
                  </a:lnTo>
                  <a:lnTo>
                    <a:pt x="668289" y="1057744"/>
                  </a:lnTo>
                  <a:lnTo>
                    <a:pt x="677213" y="1105887"/>
                  </a:lnTo>
                  <a:lnTo>
                    <a:pt x="684794" y="1154335"/>
                  </a:lnTo>
                  <a:lnTo>
                    <a:pt x="691021" y="1203063"/>
                  </a:lnTo>
                  <a:lnTo>
                    <a:pt x="695884" y="1252042"/>
                  </a:lnTo>
                  <a:lnTo>
                    <a:pt x="699371" y="1301247"/>
                  </a:lnTo>
                  <a:lnTo>
                    <a:pt x="701472" y="1350651"/>
                  </a:lnTo>
                  <a:lnTo>
                    <a:pt x="702174" y="1400227"/>
                  </a:lnTo>
                  <a:lnTo>
                    <a:pt x="701525" y="1448324"/>
                  </a:lnTo>
                  <a:lnTo>
                    <a:pt x="699589" y="1496099"/>
                  </a:lnTo>
                  <a:lnTo>
                    <a:pt x="696382" y="1543537"/>
                  </a:lnTo>
                  <a:lnTo>
                    <a:pt x="691921" y="1590620"/>
                  </a:lnTo>
                  <a:lnTo>
                    <a:pt x="686223" y="1637332"/>
                  </a:lnTo>
                  <a:lnTo>
                    <a:pt x="679304" y="1683656"/>
                  </a:lnTo>
                  <a:lnTo>
                    <a:pt x="671182" y="1729576"/>
                  </a:lnTo>
                  <a:lnTo>
                    <a:pt x="661872" y="1775074"/>
                  </a:lnTo>
                  <a:lnTo>
                    <a:pt x="651392" y="1820135"/>
                  </a:lnTo>
                  <a:lnTo>
                    <a:pt x="639757" y="1864742"/>
                  </a:lnTo>
                  <a:lnTo>
                    <a:pt x="626986" y="1908877"/>
                  </a:lnTo>
                  <a:lnTo>
                    <a:pt x="613093" y="1952525"/>
                  </a:lnTo>
                  <a:lnTo>
                    <a:pt x="598097" y="1995668"/>
                  </a:lnTo>
                  <a:lnTo>
                    <a:pt x="582013" y="2038290"/>
                  </a:lnTo>
                  <a:lnTo>
                    <a:pt x="564859" y="2080374"/>
                  </a:lnTo>
                  <a:lnTo>
                    <a:pt x="546651" y="2121904"/>
                  </a:lnTo>
                  <a:lnTo>
                    <a:pt x="527405" y="2162863"/>
                  </a:lnTo>
                  <a:lnTo>
                    <a:pt x="523784" y="2170077"/>
                  </a:lnTo>
                  <a:close/>
                </a:path>
              </a:pathLst>
            </a:custGeom>
            <a:solidFill>
              <a:srgbClr val="F3F3F3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2" name="object 42"/>
            <p:cNvSpPr/>
            <p:nvPr/>
          </p:nvSpPr>
          <p:spPr>
            <a:xfrm>
              <a:off x="0" y="2973422"/>
              <a:ext cx="702310" cy="2170430"/>
            </a:xfrm>
            <a:custGeom>
              <a:avLst/>
              <a:gdLst/>
              <a:ahLst/>
              <a:cxnLst/>
              <a:rect l="l" t="t" r="r" b="b"/>
              <a:pathLst>
                <a:path w="702310" h="2170429">
                  <a:moveTo>
                    <a:pt x="0" y="0"/>
                  </a:moveTo>
                  <a:lnTo>
                    <a:pt x="43085" y="33134"/>
                  </a:lnTo>
                  <a:lnTo>
                    <a:pt x="81157" y="64330"/>
                  </a:lnTo>
                  <a:lnTo>
                    <a:pt x="118416" y="96657"/>
                  </a:lnTo>
                  <a:lnTo>
                    <a:pt x="154835" y="130105"/>
                  </a:lnTo>
                  <a:lnTo>
                    <a:pt x="190387" y="164664"/>
                  </a:lnTo>
                  <a:lnTo>
                    <a:pt x="224946" y="200216"/>
                  </a:lnTo>
                  <a:lnTo>
                    <a:pt x="258394" y="236635"/>
                  </a:lnTo>
                  <a:lnTo>
                    <a:pt x="290722" y="273894"/>
                  </a:lnTo>
                  <a:lnTo>
                    <a:pt x="321917" y="311966"/>
                  </a:lnTo>
                  <a:lnTo>
                    <a:pt x="351969" y="350825"/>
                  </a:lnTo>
                  <a:lnTo>
                    <a:pt x="380867" y="390444"/>
                  </a:lnTo>
                  <a:lnTo>
                    <a:pt x="408599" y="430796"/>
                  </a:lnTo>
                  <a:lnTo>
                    <a:pt x="435155" y="471855"/>
                  </a:lnTo>
                  <a:lnTo>
                    <a:pt x="460523" y="513593"/>
                  </a:lnTo>
                  <a:lnTo>
                    <a:pt x="484693" y="555984"/>
                  </a:lnTo>
                  <a:lnTo>
                    <a:pt x="507653" y="599002"/>
                  </a:lnTo>
                  <a:lnTo>
                    <a:pt x="529393" y="642619"/>
                  </a:lnTo>
                  <a:lnTo>
                    <a:pt x="549900" y="686809"/>
                  </a:lnTo>
                  <a:lnTo>
                    <a:pt x="569165" y="731545"/>
                  </a:lnTo>
                  <a:lnTo>
                    <a:pt x="587176" y="776800"/>
                  </a:lnTo>
                  <a:lnTo>
                    <a:pt x="603922" y="822548"/>
                  </a:lnTo>
                  <a:lnTo>
                    <a:pt x="619392" y="868763"/>
                  </a:lnTo>
                  <a:lnTo>
                    <a:pt x="633575" y="915416"/>
                  </a:lnTo>
                  <a:lnTo>
                    <a:pt x="646459" y="962482"/>
                  </a:lnTo>
                  <a:lnTo>
                    <a:pt x="658034" y="1009933"/>
                  </a:lnTo>
                  <a:lnTo>
                    <a:pt x="668289" y="1057744"/>
                  </a:lnTo>
                  <a:lnTo>
                    <a:pt x="677213" y="1105887"/>
                  </a:lnTo>
                  <a:lnTo>
                    <a:pt x="684794" y="1154335"/>
                  </a:lnTo>
                  <a:lnTo>
                    <a:pt x="691021" y="1203063"/>
                  </a:lnTo>
                  <a:lnTo>
                    <a:pt x="695884" y="1252042"/>
                  </a:lnTo>
                  <a:lnTo>
                    <a:pt x="699371" y="1301247"/>
                  </a:lnTo>
                  <a:lnTo>
                    <a:pt x="701472" y="1350651"/>
                  </a:lnTo>
                  <a:lnTo>
                    <a:pt x="702174" y="1400227"/>
                  </a:lnTo>
                  <a:lnTo>
                    <a:pt x="701525" y="1448324"/>
                  </a:lnTo>
                  <a:lnTo>
                    <a:pt x="699589" y="1496099"/>
                  </a:lnTo>
                  <a:lnTo>
                    <a:pt x="696382" y="1543537"/>
                  </a:lnTo>
                  <a:lnTo>
                    <a:pt x="691921" y="1590620"/>
                  </a:lnTo>
                  <a:lnTo>
                    <a:pt x="686223" y="1637332"/>
                  </a:lnTo>
                  <a:lnTo>
                    <a:pt x="679304" y="1683656"/>
                  </a:lnTo>
                  <a:lnTo>
                    <a:pt x="671182" y="1729576"/>
                  </a:lnTo>
                  <a:lnTo>
                    <a:pt x="661872" y="1775074"/>
                  </a:lnTo>
                  <a:lnTo>
                    <a:pt x="651392" y="1820135"/>
                  </a:lnTo>
                  <a:lnTo>
                    <a:pt x="639757" y="1864742"/>
                  </a:lnTo>
                  <a:lnTo>
                    <a:pt x="626986" y="1908877"/>
                  </a:lnTo>
                  <a:lnTo>
                    <a:pt x="613093" y="1952525"/>
                  </a:lnTo>
                  <a:lnTo>
                    <a:pt x="598097" y="1995668"/>
                  </a:lnTo>
                  <a:lnTo>
                    <a:pt x="582013" y="2038290"/>
                  </a:lnTo>
                  <a:lnTo>
                    <a:pt x="564859" y="2080374"/>
                  </a:lnTo>
                  <a:lnTo>
                    <a:pt x="546651" y="2121904"/>
                  </a:lnTo>
                  <a:lnTo>
                    <a:pt x="527405" y="2162863"/>
                  </a:lnTo>
                  <a:lnTo>
                    <a:pt x="523784" y="2170077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348816240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Chain Rule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33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1691193" y="1602507"/>
            <a:ext cx="5877501" cy="2277777"/>
            <a:chOff x="457200" y="3949386"/>
            <a:chExt cx="7153008" cy="2772089"/>
          </a:xfrm>
        </p:grpSpPr>
        <p:grpSp>
          <p:nvGrpSpPr>
            <p:cNvPr id="5" name="Group 4"/>
            <p:cNvGrpSpPr/>
            <p:nvPr/>
          </p:nvGrpSpPr>
          <p:grpSpPr>
            <a:xfrm>
              <a:off x="457200" y="3949386"/>
              <a:ext cx="7153008" cy="2772089"/>
              <a:chOff x="457200" y="3490254"/>
              <a:chExt cx="8337738" cy="3231221"/>
            </a:xfrm>
          </p:grpSpPr>
          <p:sp>
            <p:nvSpPr>
              <p:cNvPr id="27" name="TextBox 26"/>
              <p:cNvSpPr txBox="1"/>
              <p:nvPr/>
            </p:nvSpPr>
            <p:spPr>
              <a:xfrm>
                <a:off x="457200" y="3490254"/>
                <a:ext cx="8337738" cy="3231221"/>
              </a:xfrm>
              <a:prstGeom prst="rect">
                <a:avLst/>
              </a:prstGeom>
              <a:solidFill>
                <a:schemeClr val="accent1"/>
              </a:solidFill>
            </p:spPr>
            <p:txBody>
              <a:bodyPr wrap="square" rtlCol="0">
                <a:noAutofit/>
              </a:bodyPr>
              <a:lstStyle/>
              <a:p>
                <a:endParaRPr lang="en-US" sz="2200" b="1" dirty="0"/>
              </a:p>
            </p:txBody>
          </p:sp>
          <p:pic>
            <p:nvPicPr>
              <p:cNvPr id="24" name="Picture 23"/>
              <p:cNvPicPr>
                <a:picLocks noChangeAspect="1"/>
              </p:cNvPicPr>
              <p:nvPr/>
            </p:nvPicPr>
            <p:blipFill rotWithShape="1">
              <a:blip r:embed="rId2"/>
              <a:srcRect t="18443"/>
              <a:stretch/>
            </p:blipFill>
            <p:spPr>
              <a:xfrm>
                <a:off x="1892783" y="3602162"/>
                <a:ext cx="5154386" cy="649364"/>
              </a:xfrm>
              <a:prstGeom prst="rect">
                <a:avLst/>
              </a:prstGeom>
            </p:spPr>
          </p:pic>
          <p:pic>
            <p:nvPicPr>
              <p:cNvPr id="25" name="Picture 24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47216" y="4509046"/>
                <a:ext cx="7503018" cy="2212429"/>
              </a:xfrm>
              <a:prstGeom prst="rect">
                <a:avLst/>
              </a:prstGeom>
              <a:noFill/>
            </p:spPr>
          </p:pic>
        </p:grpSp>
        <p:sp>
          <p:nvSpPr>
            <p:cNvPr id="6" name="Rectangle 5"/>
            <p:cNvSpPr/>
            <p:nvPr/>
          </p:nvSpPr>
          <p:spPr>
            <a:xfrm>
              <a:off x="621362" y="4630900"/>
              <a:ext cx="2130750" cy="59931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600" b="1" dirty="0"/>
                <a:t>Chain Rule:</a:t>
              </a:r>
              <a:endParaRPr lang="en-US" sz="2600" dirty="0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612610" y="4070498"/>
              <a:ext cx="1397376" cy="59931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600" b="1" dirty="0"/>
                <a:t>Given: </a:t>
              </a:r>
              <a:endParaRPr lang="en-US" sz="2600" dirty="0"/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6771404" y="3880283"/>
            <a:ext cx="2668956" cy="2547370"/>
            <a:chOff x="2270760" y="2174240"/>
            <a:chExt cx="4572000" cy="4363720"/>
          </a:xfrm>
        </p:grpSpPr>
        <p:sp>
          <p:nvSpPr>
            <p:cNvPr id="11" name="Connector 10"/>
            <p:cNvSpPr/>
            <p:nvPr/>
          </p:nvSpPr>
          <p:spPr>
            <a:xfrm>
              <a:off x="2270760" y="3761740"/>
              <a:ext cx="822960" cy="822960"/>
            </a:xfrm>
            <a:prstGeom prst="flowChartConnector">
              <a:avLst/>
            </a:prstGeom>
            <a:solidFill>
              <a:srgbClr val="EE6802"/>
            </a:solidFill>
            <a:ln>
              <a:solidFill>
                <a:schemeClr val="accent1">
                  <a:shade val="95000"/>
                  <a:satMod val="10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1200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Arial"/>
                  <a:cs typeface="Arial"/>
                </a:rPr>
                <a:t>u</a:t>
              </a:r>
              <a:r>
                <a:rPr lang="en-US" sz="1200" baseline="-25000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12" name="Connector 11"/>
            <p:cNvSpPr/>
            <p:nvPr/>
          </p:nvSpPr>
          <p:spPr>
            <a:xfrm>
              <a:off x="2895599" y="5715000"/>
              <a:ext cx="822960" cy="822960"/>
            </a:xfrm>
            <a:prstGeom prst="flowChartConnector">
              <a:avLst/>
            </a:prstGeom>
            <a:solidFill>
              <a:srgbClr val="72CEE0"/>
            </a:solidFill>
            <a:ln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1200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Arial"/>
                  <a:cs typeface="Arial"/>
                </a:rPr>
                <a:t>x</a:t>
              </a:r>
              <a:r>
                <a:rPr lang="en-US" sz="1200" baseline="-25000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15" name="Connector 14"/>
            <p:cNvSpPr/>
            <p:nvPr/>
          </p:nvSpPr>
          <p:spPr>
            <a:xfrm>
              <a:off x="4267200" y="2174240"/>
              <a:ext cx="822960" cy="822960"/>
            </a:xfrm>
            <a:prstGeom prst="flowChartConnector">
              <a:avLst/>
            </a:prstGeom>
            <a:solidFill>
              <a:srgbClr val="E0D925"/>
            </a:solidFill>
            <a:ln>
              <a:solidFill>
                <a:schemeClr val="accent1">
                  <a:shade val="95000"/>
                  <a:satMod val="10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1200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Arial"/>
                  <a:cs typeface="Arial"/>
                </a:rPr>
                <a:t>y</a:t>
              </a:r>
              <a:r>
                <a:rPr lang="en-US" sz="1200" baseline="-25000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16" name="Connector 15"/>
            <p:cNvSpPr/>
            <p:nvPr/>
          </p:nvSpPr>
          <p:spPr>
            <a:xfrm>
              <a:off x="3642360" y="3761740"/>
              <a:ext cx="822960" cy="822960"/>
            </a:xfrm>
            <a:prstGeom prst="flowChartConnector">
              <a:avLst/>
            </a:prstGeom>
            <a:solidFill>
              <a:srgbClr val="EE6802"/>
            </a:solidFill>
            <a:ln>
              <a:solidFill>
                <a:schemeClr val="accent1">
                  <a:shade val="95000"/>
                  <a:satMod val="10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1200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Arial"/>
                  <a:cs typeface="Arial"/>
                </a:rPr>
                <a:t>u</a:t>
              </a:r>
              <a:r>
                <a:rPr lang="en-US" sz="1200" baseline="-25000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17" name="Connector 16"/>
            <p:cNvSpPr/>
            <p:nvPr/>
          </p:nvSpPr>
          <p:spPr>
            <a:xfrm>
              <a:off x="6019800" y="3761740"/>
              <a:ext cx="822960" cy="822960"/>
            </a:xfrm>
            <a:prstGeom prst="flowChartConnector">
              <a:avLst/>
            </a:prstGeom>
            <a:solidFill>
              <a:srgbClr val="EE6802"/>
            </a:solidFill>
            <a:ln>
              <a:solidFill>
                <a:schemeClr val="accent1">
                  <a:shade val="95000"/>
                  <a:satMod val="10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1200" dirty="0" err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Arial"/>
                  <a:cs typeface="Arial"/>
                </a:rPr>
                <a:t>u</a:t>
              </a:r>
              <a:r>
                <a:rPr lang="en-US" sz="1200" baseline="-25000" dirty="0" err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Arial"/>
                  <a:cs typeface="Arial"/>
                </a:rPr>
                <a:t>J</a:t>
              </a:r>
              <a:endParaRPr lang="en-US" sz="1200" baseline="-25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endParaRPr>
            </a:p>
          </p:txBody>
        </p:sp>
        <p:sp>
          <p:nvSpPr>
            <p:cNvPr id="18" name="TextBox 17"/>
            <p:cNvSpPr txBox="1">
              <a:spLocks noChangeArrowheads="1"/>
            </p:cNvSpPr>
            <p:nvPr/>
          </p:nvSpPr>
          <p:spPr bwMode="auto">
            <a:xfrm>
              <a:off x="5013959" y="3846746"/>
              <a:ext cx="533400" cy="4745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1200" b="1"/>
                <a:t>…</a:t>
              </a:r>
            </a:p>
          </p:txBody>
        </p:sp>
        <p:cxnSp>
          <p:nvCxnSpPr>
            <p:cNvPr id="21" name="Straight Connector 20"/>
            <p:cNvCxnSpPr>
              <a:stCxn id="11" idx="4"/>
              <a:endCxn id="12" idx="0"/>
            </p:cNvCxnSpPr>
            <p:nvPr/>
          </p:nvCxnSpPr>
          <p:spPr>
            <a:xfrm rot="16200000" flipH="1">
              <a:off x="2429510" y="4837430"/>
              <a:ext cx="1130300" cy="624840"/>
            </a:xfrm>
            <a:prstGeom prst="line">
              <a:avLst/>
            </a:prstGeom>
            <a:ln>
              <a:solidFill>
                <a:schemeClr val="tx1"/>
              </a:solidFill>
              <a:head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>
              <a:stCxn id="16" idx="4"/>
              <a:endCxn id="12" idx="0"/>
            </p:cNvCxnSpPr>
            <p:nvPr/>
          </p:nvCxnSpPr>
          <p:spPr>
            <a:xfrm rot="5400000">
              <a:off x="3115310" y="4776470"/>
              <a:ext cx="1130300" cy="746760"/>
            </a:xfrm>
            <a:prstGeom prst="line">
              <a:avLst/>
            </a:prstGeom>
            <a:ln>
              <a:solidFill>
                <a:schemeClr val="tx1"/>
              </a:solidFill>
              <a:head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>
              <a:stCxn id="17" idx="4"/>
              <a:endCxn id="12" idx="0"/>
            </p:cNvCxnSpPr>
            <p:nvPr/>
          </p:nvCxnSpPr>
          <p:spPr>
            <a:xfrm rot="5400000">
              <a:off x="4304030" y="3587750"/>
              <a:ext cx="1130300" cy="3124200"/>
            </a:xfrm>
            <a:prstGeom prst="line">
              <a:avLst/>
            </a:prstGeom>
            <a:ln>
              <a:solidFill>
                <a:schemeClr val="tx1"/>
              </a:solidFill>
              <a:head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>
              <a:stCxn id="15" idx="4"/>
              <a:endCxn id="11" idx="0"/>
            </p:cNvCxnSpPr>
            <p:nvPr/>
          </p:nvCxnSpPr>
          <p:spPr>
            <a:xfrm rot="5400000">
              <a:off x="3298190" y="2381250"/>
              <a:ext cx="764540" cy="1996440"/>
            </a:xfrm>
            <a:prstGeom prst="line">
              <a:avLst/>
            </a:prstGeom>
            <a:ln>
              <a:solidFill>
                <a:schemeClr val="tx1"/>
              </a:solidFill>
              <a:head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>
              <a:stCxn id="15" idx="4"/>
              <a:endCxn id="16" idx="0"/>
            </p:cNvCxnSpPr>
            <p:nvPr/>
          </p:nvCxnSpPr>
          <p:spPr>
            <a:xfrm rot="5400000">
              <a:off x="3983990" y="3067050"/>
              <a:ext cx="764540" cy="624840"/>
            </a:xfrm>
            <a:prstGeom prst="line">
              <a:avLst/>
            </a:prstGeom>
            <a:ln>
              <a:solidFill>
                <a:schemeClr val="tx1"/>
              </a:solidFill>
              <a:head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>
              <a:stCxn id="15" idx="4"/>
              <a:endCxn id="17" idx="0"/>
            </p:cNvCxnSpPr>
            <p:nvPr/>
          </p:nvCxnSpPr>
          <p:spPr>
            <a:xfrm rot="16200000" flipH="1">
              <a:off x="5172710" y="2503170"/>
              <a:ext cx="764540" cy="1752600"/>
            </a:xfrm>
            <a:prstGeom prst="line">
              <a:avLst/>
            </a:prstGeom>
            <a:ln>
              <a:solidFill>
                <a:schemeClr val="tx1"/>
              </a:solidFill>
              <a:head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7263718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Chain Rule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34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1691193" y="1602507"/>
            <a:ext cx="5877501" cy="2277777"/>
            <a:chOff x="457200" y="3949386"/>
            <a:chExt cx="7153008" cy="2772089"/>
          </a:xfrm>
        </p:grpSpPr>
        <p:grpSp>
          <p:nvGrpSpPr>
            <p:cNvPr id="5" name="Group 4"/>
            <p:cNvGrpSpPr/>
            <p:nvPr/>
          </p:nvGrpSpPr>
          <p:grpSpPr>
            <a:xfrm>
              <a:off x="457200" y="3949386"/>
              <a:ext cx="7153008" cy="2772089"/>
              <a:chOff x="457200" y="3490254"/>
              <a:chExt cx="8337738" cy="3231221"/>
            </a:xfrm>
          </p:grpSpPr>
          <p:sp>
            <p:nvSpPr>
              <p:cNvPr id="27" name="TextBox 26"/>
              <p:cNvSpPr txBox="1"/>
              <p:nvPr/>
            </p:nvSpPr>
            <p:spPr>
              <a:xfrm>
                <a:off x="457200" y="3490254"/>
                <a:ext cx="8337738" cy="3231221"/>
              </a:xfrm>
              <a:prstGeom prst="rect">
                <a:avLst/>
              </a:prstGeom>
              <a:solidFill>
                <a:schemeClr val="accent1"/>
              </a:solidFill>
            </p:spPr>
            <p:txBody>
              <a:bodyPr wrap="square" rtlCol="0">
                <a:noAutofit/>
              </a:bodyPr>
              <a:lstStyle/>
              <a:p>
                <a:endParaRPr lang="en-US" sz="2200" b="1" dirty="0"/>
              </a:p>
            </p:txBody>
          </p:sp>
          <p:pic>
            <p:nvPicPr>
              <p:cNvPr id="24" name="Picture 23"/>
              <p:cNvPicPr>
                <a:picLocks noChangeAspect="1"/>
              </p:cNvPicPr>
              <p:nvPr/>
            </p:nvPicPr>
            <p:blipFill rotWithShape="1">
              <a:blip r:embed="rId2"/>
              <a:srcRect t="18443"/>
              <a:stretch/>
            </p:blipFill>
            <p:spPr>
              <a:xfrm>
                <a:off x="1892783" y="3602162"/>
                <a:ext cx="5154386" cy="649364"/>
              </a:xfrm>
              <a:prstGeom prst="rect">
                <a:avLst/>
              </a:prstGeom>
            </p:spPr>
          </p:pic>
          <p:pic>
            <p:nvPicPr>
              <p:cNvPr id="25" name="Picture 24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47216" y="4509046"/>
                <a:ext cx="7503018" cy="2212429"/>
              </a:xfrm>
              <a:prstGeom prst="rect">
                <a:avLst/>
              </a:prstGeom>
              <a:noFill/>
            </p:spPr>
          </p:pic>
        </p:grpSp>
        <p:sp>
          <p:nvSpPr>
            <p:cNvPr id="6" name="Rectangle 5"/>
            <p:cNvSpPr/>
            <p:nvPr/>
          </p:nvSpPr>
          <p:spPr>
            <a:xfrm>
              <a:off x="621362" y="4630900"/>
              <a:ext cx="2130750" cy="59931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600" b="1" dirty="0"/>
                <a:t>Chain Rule:</a:t>
              </a:r>
              <a:endParaRPr lang="en-US" sz="2600" dirty="0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612610" y="4070498"/>
              <a:ext cx="1397376" cy="59931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600" b="1" dirty="0"/>
                <a:t>Given: </a:t>
              </a:r>
              <a:endParaRPr lang="en-US" sz="2600" dirty="0"/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6771404" y="2990219"/>
            <a:ext cx="2668956" cy="3437435"/>
            <a:chOff x="2270760" y="649532"/>
            <a:chExt cx="4572000" cy="5888428"/>
          </a:xfrm>
        </p:grpSpPr>
        <p:sp>
          <p:nvSpPr>
            <p:cNvPr id="11" name="Connector 10"/>
            <p:cNvSpPr/>
            <p:nvPr/>
          </p:nvSpPr>
          <p:spPr>
            <a:xfrm>
              <a:off x="2270760" y="3761740"/>
              <a:ext cx="822960" cy="822960"/>
            </a:xfrm>
            <a:prstGeom prst="flowChartConnector">
              <a:avLst/>
            </a:prstGeom>
            <a:solidFill>
              <a:srgbClr val="EE6802"/>
            </a:solidFill>
            <a:ln>
              <a:solidFill>
                <a:schemeClr val="accent1">
                  <a:shade val="95000"/>
                  <a:satMod val="10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1200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Arial"/>
                  <a:cs typeface="Arial"/>
                </a:rPr>
                <a:t>u</a:t>
              </a:r>
              <a:r>
                <a:rPr lang="en-US" sz="1200" baseline="-25000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12" name="Connector 11"/>
            <p:cNvSpPr/>
            <p:nvPr/>
          </p:nvSpPr>
          <p:spPr>
            <a:xfrm>
              <a:off x="2895599" y="5715000"/>
              <a:ext cx="822960" cy="822960"/>
            </a:xfrm>
            <a:prstGeom prst="flowChartConnector">
              <a:avLst/>
            </a:prstGeom>
            <a:solidFill>
              <a:srgbClr val="72CEE0"/>
            </a:solidFill>
            <a:ln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1200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Arial"/>
                  <a:cs typeface="Arial"/>
                </a:rPr>
                <a:t>x</a:t>
              </a:r>
              <a:r>
                <a:rPr lang="en-US" sz="1200" baseline="-25000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15" name="Connector 14"/>
            <p:cNvSpPr/>
            <p:nvPr/>
          </p:nvSpPr>
          <p:spPr>
            <a:xfrm>
              <a:off x="5185560" y="649532"/>
              <a:ext cx="822960" cy="822960"/>
            </a:xfrm>
            <a:prstGeom prst="flowChartConnector">
              <a:avLst/>
            </a:prstGeom>
            <a:solidFill>
              <a:srgbClr val="E0D925"/>
            </a:solidFill>
            <a:ln>
              <a:solidFill>
                <a:schemeClr val="accent1">
                  <a:shade val="95000"/>
                  <a:satMod val="10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1200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Arial"/>
                  <a:cs typeface="Arial"/>
                </a:rPr>
                <a:t>y</a:t>
              </a:r>
              <a:r>
                <a:rPr lang="en-US" sz="1200" baseline="-25000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16" name="Connector 15"/>
            <p:cNvSpPr/>
            <p:nvPr/>
          </p:nvSpPr>
          <p:spPr>
            <a:xfrm>
              <a:off x="3642360" y="3761740"/>
              <a:ext cx="822960" cy="822960"/>
            </a:xfrm>
            <a:prstGeom prst="flowChartConnector">
              <a:avLst/>
            </a:prstGeom>
            <a:solidFill>
              <a:srgbClr val="EE6802"/>
            </a:solidFill>
            <a:ln>
              <a:solidFill>
                <a:schemeClr val="accent1">
                  <a:shade val="95000"/>
                  <a:satMod val="10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1200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Arial"/>
                  <a:cs typeface="Arial"/>
                </a:rPr>
                <a:t>u</a:t>
              </a:r>
              <a:r>
                <a:rPr lang="en-US" sz="1200" baseline="-25000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17" name="Connector 16"/>
            <p:cNvSpPr/>
            <p:nvPr/>
          </p:nvSpPr>
          <p:spPr>
            <a:xfrm>
              <a:off x="6019800" y="3761740"/>
              <a:ext cx="822960" cy="822960"/>
            </a:xfrm>
            <a:prstGeom prst="flowChartConnector">
              <a:avLst/>
            </a:prstGeom>
            <a:solidFill>
              <a:srgbClr val="EE6802"/>
            </a:solidFill>
            <a:ln>
              <a:solidFill>
                <a:schemeClr val="accent1">
                  <a:shade val="95000"/>
                  <a:satMod val="10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1200" dirty="0" err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Arial"/>
                  <a:cs typeface="Arial"/>
                </a:rPr>
                <a:t>u</a:t>
              </a:r>
              <a:r>
                <a:rPr lang="en-US" sz="1200" baseline="-25000" dirty="0" err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Arial"/>
                  <a:cs typeface="Arial"/>
                </a:rPr>
                <a:t>J</a:t>
              </a:r>
              <a:endParaRPr lang="en-US" sz="1200" baseline="-25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endParaRPr>
            </a:p>
          </p:txBody>
        </p:sp>
        <p:sp>
          <p:nvSpPr>
            <p:cNvPr id="18" name="TextBox 17"/>
            <p:cNvSpPr txBox="1">
              <a:spLocks noChangeArrowheads="1"/>
            </p:cNvSpPr>
            <p:nvPr/>
          </p:nvSpPr>
          <p:spPr bwMode="auto">
            <a:xfrm>
              <a:off x="5013959" y="3846746"/>
              <a:ext cx="533400" cy="4745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1200" b="1"/>
                <a:t>…</a:t>
              </a:r>
            </a:p>
          </p:txBody>
        </p:sp>
        <p:cxnSp>
          <p:nvCxnSpPr>
            <p:cNvPr id="21" name="Straight Connector 20"/>
            <p:cNvCxnSpPr>
              <a:stCxn id="11" idx="4"/>
              <a:endCxn id="12" idx="0"/>
            </p:cNvCxnSpPr>
            <p:nvPr/>
          </p:nvCxnSpPr>
          <p:spPr>
            <a:xfrm rot="16200000" flipH="1">
              <a:off x="2429510" y="4837430"/>
              <a:ext cx="1130300" cy="624840"/>
            </a:xfrm>
            <a:prstGeom prst="line">
              <a:avLst/>
            </a:prstGeom>
            <a:ln>
              <a:solidFill>
                <a:schemeClr val="tx1"/>
              </a:solidFill>
              <a:head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>
              <a:stCxn id="16" idx="4"/>
              <a:endCxn id="12" idx="0"/>
            </p:cNvCxnSpPr>
            <p:nvPr/>
          </p:nvCxnSpPr>
          <p:spPr>
            <a:xfrm rot="5400000">
              <a:off x="3115310" y="4776470"/>
              <a:ext cx="1130300" cy="746760"/>
            </a:xfrm>
            <a:prstGeom prst="line">
              <a:avLst/>
            </a:prstGeom>
            <a:ln>
              <a:solidFill>
                <a:schemeClr val="tx1"/>
              </a:solidFill>
              <a:head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>
              <a:stCxn id="17" idx="4"/>
              <a:endCxn id="12" idx="0"/>
            </p:cNvCxnSpPr>
            <p:nvPr/>
          </p:nvCxnSpPr>
          <p:spPr>
            <a:xfrm rot="5400000">
              <a:off x="4304030" y="3587750"/>
              <a:ext cx="1130300" cy="3124200"/>
            </a:xfrm>
            <a:prstGeom prst="line">
              <a:avLst/>
            </a:prstGeom>
            <a:ln>
              <a:solidFill>
                <a:schemeClr val="tx1"/>
              </a:solidFill>
              <a:head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>
              <a:stCxn id="15" idx="4"/>
              <a:endCxn id="11" idx="0"/>
            </p:cNvCxnSpPr>
            <p:nvPr/>
          </p:nvCxnSpPr>
          <p:spPr>
            <a:xfrm flipH="1">
              <a:off x="2682240" y="1472492"/>
              <a:ext cx="2914800" cy="2289248"/>
            </a:xfrm>
            <a:prstGeom prst="line">
              <a:avLst/>
            </a:prstGeom>
            <a:ln>
              <a:solidFill>
                <a:schemeClr val="tx1"/>
              </a:solidFill>
              <a:head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>
              <a:stCxn id="29" idx="3"/>
              <a:endCxn id="16" idx="0"/>
            </p:cNvCxnSpPr>
            <p:nvPr/>
          </p:nvCxnSpPr>
          <p:spPr>
            <a:xfrm flipH="1">
              <a:off x="4053840" y="3183406"/>
              <a:ext cx="510959" cy="578334"/>
            </a:xfrm>
            <a:prstGeom prst="line">
              <a:avLst/>
            </a:prstGeom>
            <a:ln>
              <a:solidFill>
                <a:schemeClr val="tx1"/>
              </a:solidFill>
              <a:head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>
              <a:stCxn id="31" idx="4"/>
              <a:endCxn id="17" idx="0"/>
            </p:cNvCxnSpPr>
            <p:nvPr/>
          </p:nvCxnSpPr>
          <p:spPr>
            <a:xfrm>
              <a:off x="6237922" y="3183406"/>
              <a:ext cx="193358" cy="578334"/>
            </a:xfrm>
            <a:prstGeom prst="line">
              <a:avLst/>
            </a:prstGeom>
            <a:ln>
              <a:solidFill>
                <a:schemeClr val="tx1"/>
              </a:solidFill>
              <a:head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Connector 28"/>
          <p:cNvSpPr/>
          <p:nvPr/>
        </p:nvSpPr>
        <p:spPr>
          <a:xfrm>
            <a:off x="8040220" y="4059338"/>
            <a:ext cx="480412" cy="480412"/>
          </a:xfrm>
          <a:prstGeom prst="flowChartConnector">
            <a:avLst/>
          </a:prstGeom>
          <a:solidFill>
            <a:srgbClr val="EE6802"/>
          </a:solidFill>
          <a:ln>
            <a:solidFill>
              <a:schemeClr val="accent1">
                <a:shade val="95000"/>
                <a:satMod val="10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200" baseline="-25000" dirty="0">
              <a:ln>
                <a:solidFill>
                  <a:schemeClr val="tx1"/>
                </a:solidFill>
              </a:ln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31" name="Connector 30"/>
          <p:cNvSpPr/>
          <p:nvPr/>
        </p:nvSpPr>
        <p:spPr>
          <a:xfrm>
            <a:off x="8847073" y="3988983"/>
            <a:ext cx="480412" cy="480412"/>
          </a:xfrm>
          <a:prstGeom prst="flowChartConnector">
            <a:avLst/>
          </a:prstGeom>
          <a:solidFill>
            <a:srgbClr val="EE6802"/>
          </a:solidFill>
          <a:ln>
            <a:solidFill>
              <a:schemeClr val="accent1">
                <a:shade val="95000"/>
                <a:satMod val="10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200" baseline="-25000" dirty="0">
              <a:ln>
                <a:solidFill>
                  <a:schemeClr val="tx1"/>
                </a:solidFill>
              </a:ln>
              <a:solidFill>
                <a:schemeClr val="tx1"/>
              </a:solidFill>
              <a:latin typeface="Arial"/>
              <a:cs typeface="Arial"/>
            </a:endParaRPr>
          </a:p>
        </p:txBody>
      </p:sp>
      <p:cxnSp>
        <p:nvCxnSpPr>
          <p:cNvPr id="34" name="Straight Connector 33"/>
          <p:cNvCxnSpPr>
            <a:stCxn id="15" idx="4"/>
            <a:endCxn id="29" idx="7"/>
          </p:cNvCxnSpPr>
          <p:nvPr/>
        </p:nvCxnSpPr>
        <p:spPr>
          <a:xfrm flipH="1">
            <a:off x="8450277" y="3470631"/>
            <a:ext cx="262880" cy="659063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>
            <a:stCxn id="15" idx="4"/>
            <a:endCxn id="31" idx="0"/>
          </p:cNvCxnSpPr>
          <p:nvPr/>
        </p:nvCxnSpPr>
        <p:spPr>
          <a:xfrm>
            <a:off x="8713157" y="3470631"/>
            <a:ext cx="374122" cy="518353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1981201" y="4539750"/>
            <a:ext cx="2336207" cy="178510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200" b="1" dirty="0"/>
              <a:t>Backpropagation</a:t>
            </a:r>
            <a:r>
              <a:rPr lang="en-US" sz="2200" dirty="0"/>
              <a:t> is just repeated application of the </a:t>
            </a:r>
            <a:r>
              <a:rPr lang="en-US" sz="2200" b="1" dirty="0"/>
              <a:t>chain rule </a:t>
            </a:r>
            <a:r>
              <a:rPr lang="en-US" sz="2200" dirty="0"/>
              <a:t>from Calculus.</a:t>
            </a:r>
          </a:p>
        </p:txBody>
      </p:sp>
    </p:spTree>
    <p:extLst>
      <p:ext uri="{BB962C8B-B14F-4D97-AF65-F5344CB8AC3E}">
        <p14:creationId xmlns:p14="http://schemas.microsoft.com/office/powerpoint/2010/main" val="221169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Neural Network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4" name="Connector 3"/>
          <p:cNvSpPr/>
          <p:nvPr/>
        </p:nvSpPr>
        <p:spPr>
          <a:xfrm>
            <a:off x="2895600" y="5715000"/>
            <a:ext cx="822960" cy="822960"/>
          </a:xfrm>
          <a:prstGeom prst="flowChartConnector">
            <a:avLst/>
          </a:prstGeom>
          <a:solidFill>
            <a:srgbClr val="72CEE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6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x</a:t>
            </a:r>
            <a:r>
              <a:rPr lang="en-US" sz="2600" baseline="-25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6" name="Connector 5"/>
          <p:cNvSpPr/>
          <p:nvPr/>
        </p:nvSpPr>
        <p:spPr>
          <a:xfrm>
            <a:off x="3794760" y="3761740"/>
            <a:ext cx="822960" cy="822960"/>
          </a:xfrm>
          <a:prstGeom prst="flowChartConnector">
            <a:avLst/>
          </a:prstGeom>
          <a:solidFill>
            <a:srgbClr val="EE6802"/>
          </a:solidFill>
          <a:ln>
            <a:solidFill>
              <a:schemeClr val="accent1">
                <a:shade val="95000"/>
                <a:satMod val="10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6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a</a:t>
            </a:r>
            <a:r>
              <a:rPr lang="en-US" sz="2600" baseline="-25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7" name="Connector 6"/>
          <p:cNvSpPr/>
          <p:nvPr/>
        </p:nvSpPr>
        <p:spPr>
          <a:xfrm>
            <a:off x="4419600" y="5715000"/>
            <a:ext cx="822960" cy="822960"/>
          </a:xfrm>
          <a:prstGeom prst="flowChartConnector">
            <a:avLst/>
          </a:prstGeom>
          <a:solidFill>
            <a:srgbClr val="72CEE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6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x</a:t>
            </a:r>
            <a:r>
              <a:rPr lang="en-US" sz="2600" baseline="-25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8" name="Connector 7"/>
          <p:cNvSpPr/>
          <p:nvPr/>
        </p:nvSpPr>
        <p:spPr>
          <a:xfrm>
            <a:off x="6096000" y="5715000"/>
            <a:ext cx="822960" cy="822960"/>
          </a:xfrm>
          <a:prstGeom prst="flowChartConnector">
            <a:avLst/>
          </a:prstGeom>
          <a:solidFill>
            <a:srgbClr val="72CEE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6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x</a:t>
            </a:r>
            <a:r>
              <a:rPr lang="en-US" sz="2600" baseline="-25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9" name="Connector 8"/>
          <p:cNvSpPr/>
          <p:nvPr/>
        </p:nvSpPr>
        <p:spPr>
          <a:xfrm>
            <a:off x="8610600" y="5715000"/>
            <a:ext cx="822960" cy="822960"/>
          </a:xfrm>
          <a:prstGeom prst="flowChartConnector">
            <a:avLst/>
          </a:prstGeom>
          <a:solidFill>
            <a:srgbClr val="72CEE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600" dirty="0" err="1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x</a:t>
            </a:r>
            <a:r>
              <a:rPr lang="en-US" sz="2600" baseline="-25000" dirty="0" err="1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M</a:t>
            </a:r>
            <a:endParaRPr lang="en-US" sz="2600" baseline="-25000" dirty="0">
              <a:ln>
                <a:solidFill>
                  <a:schemeClr val="tx1"/>
                </a:solidFill>
              </a:ln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0" name="Connector 9"/>
          <p:cNvSpPr/>
          <p:nvPr/>
        </p:nvSpPr>
        <p:spPr>
          <a:xfrm>
            <a:off x="5791200" y="2174240"/>
            <a:ext cx="822960" cy="822960"/>
          </a:xfrm>
          <a:prstGeom prst="flowChartConnector">
            <a:avLst/>
          </a:prstGeom>
          <a:solidFill>
            <a:srgbClr val="E0D925"/>
          </a:solidFill>
          <a:ln>
            <a:solidFill>
              <a:schemeClr val="accent1">
                <a:shade val="95000"/>
                <a:satMod val="10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6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y</a:t>
            </a:r>
            <a:endParaRPr lang="en-US" sz="2600" baseline="-25000" dirty="0">
              <a:ln>
                <a:solidFill>
                  <a:schemeClr val="tx1"/>
                </a:solidFill>
              </a:ln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1" name="Connector 10"/>
          <p:cNvSpPr/>
          <p:nvPr/>
        </p:nvSpPr>
        <p:spPr>
          <a:xfrm>
            <a:off x="5166360" y="3761740"/>
            <a:ext cx="822960" cy="822960"/>
          </a:xfrm>
          <a:prstGeom prst="flowChartConnector">
            <a:avLst/>
          </a:prstGeom>
          <a:solidFill>
            <a:srgbClr val="EE6802"/>
          </a:solidFill>
          <a:ln>
            <a:solidFill>
              <a:schemeClr val="accent1">
                <a:shade val="95000"/>
                <a:satMod val="10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6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a</a:t>
            </a:r>
            <a:r>
              <a:rPr lang="en-US" sz="2600" baseline="-25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2" name="Connector 11"/>
          <p:cNvSpPr/>
          <p:nvPr/>
        </p:nvSpPr>
        <p:spPr>
          <a:xfrm>
            <a:off x="7543800" y="3761740"/>
            <a:ext cx="822960" cy="822960"/>
          </a:xfrm>
          <a:prstGeom prst="flowChartConnector">
            <a:avLst/>
          </a:prstGeom>
          <a:solidFill>
            <a:srgbClr val="EE6802"/>
          </a:solidFill>
          <a:ln>
            <a:solidFill>
              <a:schemeClr val="accent1">
                <a:shade val="95000"/>
                <a:satMod val="10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600" dirty="0" err="1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a</a:t>
            </a:r>
            <a:r>
              <a:rPr lang="en-US" sz="2600" baseline="-25000" dirty="0" err="1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D</a:t>
            </a:r>
            <a:endParaRPr lang="en-US" sz="2600" baseline="-25000" dirty="0">
              <a:ln>
                <a:solidFill>
                  <a:schemeClr val="tx1"/>
                </a:solidFill>
              </a:ln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6537960" y="3837941"/>
            <a:ext cx="533400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600" b="1"/>
              <a:t>…</a:t>
            </a:r>
          </a:p>
        </p:txBody>
      </p:sp>
      <p:sp>
        <p:nvSpPr>
          <p:cNvPr id="15" name="TextBox 14"/>
          <p:cNvSpPr txBox="1">
            <a:spLocks noChangeArrowheads="1"/>
          </p:cNvSpPr>
          <p:nvPr/>
        </p:nvSpPr>
        <p:spPr bwMode="auto">
          <a:xfrm>
            <a:off x="7543800" y="5791201"/>
            <a:ext cx="533400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600" b="1"/>
              <a:t>…</a:t>
            </a:r>
          </a:p>
        </p:txBody>
      </p:sp>
      <p:cxnSp>
        <p:nvCxnSpPr>
          <p:cNvPr id="16" name="Straight Connector 15"/>
          <p:cNvCxnSpPr>
            <a:stCxn id="6" idx="4"/>
            <a:endCxn id="4" idx="0"/>
          </p:cNvCxnSpPr>
          <p:nvPr/>
        </p:nvCxnSpPr>
        <p:spPr>
          <a:xfrm rot="5400000">
            <a:off x="3191510" y="4700270"/>
            <a:ext cx="1130300" cy="899160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6" idx="4"/>
            <a:endCxn id="7" idx="0"/>
          </p:cNvCxnSpPr>
          <p:nvPr/>
        </p:nvCxnSpPr>
        <p:spPr>
          <a:xfrm rot="16200000" flipH="1">
            <a:off x="3953510" y="4837430"/>
            <a:ext cx="1130300" cy="624840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6" idx="4"/>
            <a:endCxn id="8" idx="0"/>
          </p:cNvCxnSpPr>
          <p:nvPr/>
        </p:nvCxnSpPr>
        <p:spPr>
          <a:xfrm rot="16200000" flipH="1">
            <a:off x="4791710" y="3999230"/>
            <a:ext cx="1130300" cy="2301240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6" idx="4"/>
            <a:endCxn id="9" idx="0"/>
          </p:cNvCxnSpPr>
          <p:nvPr/>
        </p:nvCxnSpPr>
        <p:spPr>
          <a:xfrm rot="16200000" flipH="1">
            <a:off x="6049010" y="2741930"/>
            <a:ext cx="1130300" cy="4815840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11" idx="4"/>
            <a:endCxn id="7" idx="0"/>
          </p:cNvCxnSpPr>
          <p:nvPr/>
        </p:nvCxnSpPr>
        <p:spPr>
          <a:xfrm rot="5400000">
            <a:off x="4639310" y="4776470"/>
            <a:ext cx="1130300" cy="746760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11" idx="4"/>
            <a:endCxn id="8" idx="0"/>
          </p:cNvCxnSpPr>
          <p:nvPr/>
        </p:nvCxnSpPr>
        <p:spPr>
          <a:xfrm rot="16200000" flipH="1">
            <a:off x="5477510" y="4685030"/>
            <a:ext cx="1130300" cy="929640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11" idx="4"/>
            <a:endCxn id="9" idx="0"/>
          </p:cNvCxnSpPr>
          <p:nvPr/>
        </p:nvCxnSpPr>
        <p:spPr>
          <a:xfrm rot="16200000" flipH="1">
            <a:off x="6734810" y="3427730"/>
            <a:ext cx="1130300" cy="3444240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12" idx="4"/>
            <a:endCxn id="4" idx="0"/>
          </p:cNvCxnSpPr>
          <p:nvPr/>
        </p:nvCxnSpPr>
        <p:spPr>
          <a:xfrm rot="5400000">
            <a:off x="5066030" y="2825750"/>
            <a:ext cx="1130300" cy="4648200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stCxn id="11" idx="4"/>
            <a:endCxn id="4" idx="0"/>
          </p:cNvCxnSpPr>
          <p:nvPr/>
        </p:nvCxnSpPr>
        <p:spPr>
          <a:xfrm rot="5400000">
            <a:off x="3877310" y="4014470"/>
            <a:ext cx="1130300" cy="2270760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12" idx="4"/>
            <a:endCxn id="7" idx="0"/>
          </p:cNvCxnSpPr>
          <p:nvPr/>
        </p:nvCxnSpPr>
        <p:spPr>
          <a:xfrm rot="5400000">
            <a:off x="5828030" y="3587750"/>
            <a:ext cx="1130300" cy="3124200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>
            <a:stCxn id="12" idx="4"/>
            <a:endCxn id="8" idx="0"/>
          </p:cNvCxnSpPr>
          <p:nvPr/>
        </p:nvCxnSpPr>
        <p:spPr>
          <a:xfrm rot="5400000">
            <a:off x="6666230" y="4425950"/>
            <a:ext cx="1130300" cy="1447800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12" idx="4"/>
            <a:endCxn id="9" idx="0"/>
          </p:cNvCxnSpPr>
          <p:nvPr/>
        </p:nvCxnSpPr>
        <p:spPr>
          <a:xfrm rot="16200000" flipH="1">
            <a:off x="7923530" y="4616450"/>
            <a:ext cx="1130300" cy="1066800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>
            <a:stCxn id="10" idx="4"/>
            <a:endCxn id="6" idx="0"/>
          </p:cNvCxnSpPr>
          <p:nvPr/>
        </p:nvCxnSpPr>
        <p:spPr>
          <a:xfrm rot="5400000">
            <a:off x="4822190" y="2381250"/>
            <a:ext cx="764540" cy="1996440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stCxn id="10" idx="4"/>
            <a:endCxn id="11" idx="0"/>
          </p:cNvCxnSpPr>
          <p:nvPr/>
        </p:nvCxnSpPr>
        <p:spPr>
          <a:xfrm rot="5400000">
            <a:off x="5507990" y="3067050"/>
            <a:ext cx="764540" cy="624840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>
            <a:stCxn id="10" idx="4"/>
            <a:endCxn id="12" idx="0"/>
          </p:cNvCxnSpPr>
          <p:nvPr/>
        </p:nvCxnSpPr>
        <p:spPr>
          <a:xfrm rot="16200000" flipH="1">
            <a:off x="6696710" y="2503170"/>
            <a:ext cx="764540" cy="1752600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74"/>
          <p:cNvSpPr txBox="1">
            <a:spLocks noChangeArrowheads="1"/>
          </p:cNvSpPr>
          <p:nvPr/>
        </p:nvSpPr>
        <p:spPr bwMode="auto">
          <a:xfrm>
            <a:off x="1948180" y="2362200"/>
            <a:ext cx="12954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dirty="0"/>
              <a:t>Output</a:t>
            </a:r>
          </a:p>
        </p:txBody>
      </p:sp>
      <p:sp>
        <p:nvSpPr>
          <p:cNvPr id="35" name="TextBox 75"/>
          <p:cNvSpPr txBox="1">
            <a:spLocks noChangeArrowheads="1"/>
          </p:cNvSpPr>
          <p:nvPr/>
        </p:nvSpPr>
        <p:spPr bwMode="auto">
          <a:xfrm>
            <a:off x="1524000" y="5943600"/>
            <a:ext cx="12954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Input</a:t>
            </a:r>
          </a:p>
        </p:txBody>
      </p:sp>
      <p:sp>
        <p:nvSpPr>
          <p:cNvPr id="36" name="TextBox 76"/>
          <p:cNvSpPr txBox="1">
            <a:spLocks noChangeArrowheads="1"/>
          </p:cNvSpPr>
          <p:nvPr/>
        </p:nvSpPr>
        <p:spPr bwMode="auto">
          <a:xfrm>
            <a:off x="1508760" y="3990340"/>
            <a:ext cx="20574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/>
              <a:t>Hidden Layer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E2DE43-7602-4377-802B-66B358265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C1F9A-D6F2-4FE0-99D4-C7BE7FBCA09A}" type="datetime1">
              <a:rPr lang="en-US" smtClean="0"/>
              <a:t>2/10/2025</a:t>
            </a:fld>
            <a:endParaRPr 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E168A7A3-A4C8-4E64-A917-3F9B418FE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</a:p>
        </p:txBody>
      </p:sp>
    </p:spTree>
    <p:extLst>
      <p:ext uri="{BB962C8B-B14F-4D97-AF65-F5344CB8AC3E}">
        <p14:creationId xmlns:p14="http://schemas.microsoft.com/office/powerpoint/2010/main" val="389332660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Neural Network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36</a:t>
            </a:fld>
            <a:endParaRPr lang="en-US"/>
          </a:p>
        </p:txBody>
      </p:sp>
      <p:grpSp>
        <p:nvGrpSpPr>
          <p:cNvPr id="34" name="Group 33"/>
          <p:cNvGrpSpPr/>
          <p:nvPr/>
        </p:nvGrpSpPr>
        <p:grpSpPr>
          <a:xfrm>
            <a:off x="1623310" y="2701705"/>
            <a:ext cx="4626190" cy="2547370"/>
            <a:chOff x="-15240" y="2174240"/>
            <a:chExt cx="7924800" cy="4363720"/>
          </a:xfrm>
        </p:grpSpPr>
        <p:sp>
          <p:nvSpPr>
            <p:cNvPr id="6" name="Connector 5"/>
            <p:cNvSpPr/>
            <p:nvPr/>
          </p:nvSpPr>
          <p:spPr>
            <a:xfrm>
              <a:off x="1371600" y="5715000"/>
              <a:ext cx="822960" cy="822960"/>
            </a:xfrm>
            <a:prstGeom prst="flowChartConnector">
              <a:avLst/>
            </a:prstGeom>
            <a:solidFill>
              <a:srgbClr val="72CEE0"/>
            </a:solidFill>
            <a:ln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1200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Arial"/>
                  <a:cs typeface="Arial"/>
                </a:rPr>
                <a:t>x</a:t>
              </a:r>
              <a:r>
                <a:rPr lang="en-US" sz="1200" baseline="-25000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7" name="Connector 6"/>
            <p:cNvSpPr/>
            <p:nvPr/>
          </p:nvSpPr>
          <p:spPr>
            <a:xfrm>
              <a:off x="2270760" y="3761740"/>
              <a:ext cx="822960" cy="822960"/>
            </a:xfrm>
            <a:prstGeom prst="flowChartConnector">
              <a:avLst/>
            </a:prstGeom>
            <a:solidFill>
              <a:srgbClr val="EE6802"/>
            </a:solidFill>
            <a:ln>
              <a:solidFill>
                <a:schemeClr val="accent1">
                  <a:shade val="95000"/>
                  <a:satMod val="10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1200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Arial"/>
                  <a:cs typeface="Arial"/>
                </a:rPr>
                <a:t>z</a:t>
              </a:r>
              <a:r>
                <a:rPr lang="en-US" sz="1200" baseline="-25000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8" name="Connector 7"/>
            <p:cNvSpPr/>
            <p:nvPr/>
          </p:nvSpPr>
          <p:spPr>
            <a:xfrm>
              <a:off x="2895600" y="5715000"/>
              <a:ext cx="822960" cy="822960"/>
            </a:xfrm>
            <a:prstGeom prst="flowChartConnector">
              <a:avLst/>
            </a:prstGeom>
            <a:solidFill>
              <a:srgbClr val="72CEE0"/>
            </a:solidFill>
            <a:ln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1200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Arial"/>
                  <a:cs typeface="Arial"/>
                </a:rPr>
                <a:t>x</a:t>
              </a:r>
              <a:r>
                <a:rPr lang="en-US" sz="1200" baseline="-25000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9" name="Connector 8"/>
            <p:cNvSpPr/>
            <p:nvPr/>
          </p:nvSpPr>
          <p:spPr>
            <a:xfrm>
              <a:off x="4572000" y="5715000"/>
              <a:ext cx="822960" cy="822960"/>
            </a:xfrm>
            <a:prstGeom prst="flowChartConnector">
              <a:avLst/>
            </a:prstGeom>
            <a:solidFill>
              <a:srgbClr val="72CEE0"/>
            </a:solidFill>
            <a:ln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1200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Arial"/>
                  <a:cs typeface="Arial"/>
                </a:rPr>
                <a:t>x</a:t>
              </a:r>
              <a:r>
                <a:rPr lang="en-US" sz="1200" baseline="-25000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10" name="Connector 9"/>
            <p:cNvSpPr/>
            <p:nvPr/>
          </p:nvSpPr>
          <p:spPr>
            <a:xfrm>
              <a:off x="7086600" y="5715000"/>
              <a:ext cx="822960" cy="822960"/>
            </a:xfrm>
            <a:prstGeom prst="flowChartConnector">
              <a:avLst/>
            </a:prstGeom>
            <a:solidFill>
              <a:srgbClr val="72CEE0"/>
            </a:solidFill>
            <a:ln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1200" dirty="0" err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Arial"/>
                  <a:cs typeface="Arial"/>
                </a:rPr>
                <a:t>x</a:t>
              </a:r>
              <a:r>
                <a:rPr lang="en-US" sz="1200" baseline="-25000" dirty="0" err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Arial"/>
                  <a:cs typeface="Arial"/>
                </a:rPr>
                <a:t>M</a:t>
              </a:r>
              <a:endParaRPr lang="en-US" sz="1200" baseline="-25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endParaRPr>
            </a:p>
          </p:txBody>
        </p:sp>
        <p:sp>
          <p:nvSpPr>
            <p:cNvPr id="11" name="Connector 10"/>
            <p:cNvSpPr/>
            <p:nvPr/>
          </p:nvSpPr>
          <p:spPr>
            <a:xfrm>
              <a:off x="4267200" y="2174240"/>
              <a:ext cx="822960" cy="822960"/>
            </a:xfrm>
            <a:prstGeom prst="flowChartConnector">
              <a:avLst/>
            </a:prstGeom>
            <a:solidFill>
              <a:srgbClr val="E0D925"/>
            </a:solidFill>
            <a:ln>
              <a:solidFill>
                <a:schemeClr val="accent1">
                  <a:shade val="95000"/>
                  <a:satMod val="10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1200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Arial"/>
                  <a:cs typeface="Arial"/>
                </a:rPr>
                <a:t>y</a:t>
              </a:r>
              <a:endParaRPr lang="en-US" sz="1200" baseline="-25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endParaRPr>
            </a:p>
          </p:txBody>
        </p:sp>
        <p:sp>
          <p:nvSpPr>
            <p:cNvPr id="12" name="Connector 11"/>
            <p:cNvSpPr/>
            <p:nvPr/>
          </p:nvSpPr>
          <p:spPr>
            <a:xfrm>
              <a:off x="3642360" y="3761740"/>
              <a:ext cx="822960" cy="822960"/>
            </a:xfrm>
            <a:prstGeom prst="flowChartConnector">
              <a:avLst/>
            </a:prstGeom>
            <a:solidFill>
              <a:srgbClr val="EE6802"/>
            </a:solidFill>
            <a:ln>
              <a:solidFill>
                <a:schemeClr val="accent1">
                  <a:shade val="95000"/>
                  <a:satMod val="10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1200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Arial"/>
                  <a:cs typeface="Arial"/>
                </a:rPr>
                <a:t>z</a:t>
              </a:r>
              <a:r>
                <a:rPr lang="en-US" sz="1200" baseline="-25000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13" name="Connector 12"/>
            <p:cNvSpPr/>
            <p:nvPr/>
          </p:nvSpPr>
          <p:spPr>
            <a:xfrm>
              <a:off x="6019800" y="3761740"/>
              <a:ext cx="822960" cy="822960"/>
            </a:xfrm>
            <a:prstGeom prst="flowChartConnector">
              <a:avLst/>
            </a:prstGeom>
            <a:solidFill>
              <a:srgbClr val="EE6802"/>
            </a:solidFill>
            <a:ln>
              <a:solidFill>
                <a:schemeClr val="accent1">
                  <a:shade val="95000"/>
                  <a:satMod val="10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1200" dirty="0" err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Arial"/>
                  <a:cs typeface="Arial"/>
                </a:rPr>
                <a:t>z</a:t>
              </a:r>
              <a:r>
                <a:rPr lang="en-US" sz="1200" baseline="-25000" dirty="0" err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Arial"/>
                  <a:cs typeface="Arial"/>
                </a:rPr>
                <a:t>D</a:t>
              </a:r>
              <a:endParaRPr lang="en-US" sz="1200" baseline="-25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endParaRPr>
            </a:p>
          </p:txBody>
        </p:sp>
        <p:sp>
          <p:nvSpPr>
            <p:cNvPr id="14" name="TextBox 13"/>
            <p:cNvSpPr txBox="1">
              <a:spLocks noChangeArrowheads="1"/>
            </p:cNvSpPr>
            <p:nvPr/>
          </p:nvSpPr>
          <p:spPr bwMode="auto">
            <a:xfrm>
              <a:off x="5013959" y="3846746"/>
              <a:ext cx="533400" cy="4745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1200" b="1"/>
                <a:t>…</a:t>
              </a:r>
            </a:p>
          </p:txBody>
        </p:sp>
        <p:sp>
          <p:nvSpPr>
            <p:cNvPr id="15" name="TextBox 14"/>
            <p:cNvSpPr txBox="1">
              <a:spLocks noChangeArrowheads="1"/>
            </p:cNvSpPr>
            <p:nvPr/>
          </p:nvSpPr>
          <p:spPr bwMode="auto">
            <a:xfrm>
              <a:off x="6019801" y="5800007"/>
              <a:ext cx="533400" cy="4745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1200" b="1"/>
                <a:t>…</a:t>
              </a:r>
            </a:p>
          </p:txBody>
        </p:sp>
        <p:cxnSp>
          <p:nvCxnSpPr>
            <p:cNvPr id="16" name="Straight Connector 15"/>
            <p:cNvCxnSpPr>
              <a:stCxn id="7" idx="4"/>
              <a:endCxn id="6" idx="0"/>
            </p:cNvCxnSpPr>
            <p:nvPr/>
          </p:nvCxnSpPr>
          <p:spPr>
            <a:xfrm rot="5400000">
              <a:off x="1667510" y="4700270"/>
              <a:ext cx="1130300" cy="899160"/>
            </a:xfrm>
            <a:prstGeom prst="line">
              <a:avLst/>
            </a:prstGeom>
            <a:ln>
              <a:solidFill>
                <a:schemeClr val="tx1"/>
              </a:solidFill>
              <a:head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>
              <a:stCxn id="7" idx="4"/>
              <a:endCxn id="8" idx="0"/>
            </p:cNvCxnSpPr>
            <p:nvPr/>
          </p:nvCxnSpPr>
          <p:spPr>
            <a:xfrm rot="16200000" flipH="1">
              <a:off x="2429510" y="4837430"/>
              <a:ext cx="1130300" cy="624840"/>
            </a:xfrm>
            <a:prstGeom prst="line">
              <a:avLst/>
            </a:prstGeom>
            <a:ln>
              <a:solidFill>
                <a:schemeClr val="tx1"/>
              </a:solidFill>
              <a:head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>
              <a:stCxn id="7" idx="4"/>
              <a:endCxn id="9" idx="0"/>
            </p:cNvCxnSpPr>
            <p:nvPr/>
          </p:nvCxnSpPr>
          <p:spPr>
            <a:xfrm rot="16200000" flipH="1">
              <a:off x="3267710" y="3999230"/>
              <a:ext cx="1130300" cy="2301240"/>
            </a:xfrm>
            <a:prstGeom prst="line">
              <a:avLst/>
            </a:prstGeom>
            <a:ln>
              <a:solidFill>
                <a:schemeClr val="tx1"/>
              </a:solidFill>
              <a:head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>
              <a:stCxn id="7" idx="4"/>
              <a:endCxn id="10" idx="0"/>
            </p:cNvCxnSpPr>
            <p:nvPr/>
          </p:nvCxnSpPr>
          <p:spPr>
            <a:xfrm rot="16200000" flipH="1">
              <a:off x="4525010" y="2741930"/>
              <a:ext cx="1130300" cy="4815840"/>
            </a:xfrm>
            <a:prstGeom prst="line">
              <a:avLst/>
            </a:prstGeom>
            <a:ln>
              <a:solidFill>
                <a:schemeClr val="tx1"/>
              </a:solidFill>
              <a:head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>
              <a:stCxn id="12" idx="4"/>
              <a:endCxn id="8" idx="0"/>
            </p:cNvCxnSpPr>
            <p:nvPr/>
          </p:nvCxnSpPr>
          <p:spPr>
            <a:xfrm rot="5400000">
              <a:off x="3115310" y="4776470"/>
              <a:ext cx="1130300" cy="746760"/>
            </a:xfrm>
            <a:prstGeom prst="line">
              <a:avLst/>
            </a:prstGeom>
            <a:ln>
              <a:solidFill>
                <a:schemeClr val="tx1"/>
              </a:solidFill>
              <a:head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>
              <a:stCxn id="12" idx="4"/>
              <a:endCxn id="9" idx="0"/>
            </p:cNvCxnSpPr>
            <p:nvPr/>
          </p:nvCxnSpPr>
          <p:spPr>
            <a:xfrm rot="16200000" flipH="1">
              <a:off x="3953510" y="4685030"/>
              <a:ext cx="1130300" cy="929640"/>
            </a:xfrm>
            <a:prstGeom prst="line">
              <a:avLst/>
            </a:prstGeom>
            <a:ln>
              <a:solidFill>
                <a:schemeClr val="tx1"/>
              </a:solidFill>
              <a:head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>
              <a:stCxn id="12" idx="4"/>
              <a:endCxn id="10" idx="0"/>
            </p:cNvCxnSpPr>
            <p:nvPr/>
          </p:nvCxnSpPr>
          <p:spPr>
            <a:xfrm rot="16200000" flipH="1">
              <a:off x="5210810" y="3427730"/>
              <a:ext cx="1130300" cy="3444240"/>
            </a:xfrm>
            <a:prstGeom prst="line">
              <a:avLst/>
            </a:prstGeom>
            <a:ln>
              <a:solidFill>
                <a:schemeClr val="tx1"/>
              </a:solidFill>
              <a:head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>
              <a:stCxn id="13" idx="4"/>
              <a:endCxn id="6" idx="0"/>
            </p:cNvCxnSpPr>
            <p:nvPr/>
          </p:nvCxnSpPr>
          <p:spPr>
            <a:xfrm rot="5400000">
              <a:off x="3542030" y="2825750"/>
              <a:ext cx="1130300" cy="4648200"/>
            </a:xfrm>
            <a:prstGeom prst="line">
              <a:avLst/>
            </a:prstGeom>
            <a:ln>
              <a:solidFill>
                <a:schemeClr val="tx1"/>
              </a:solidFill>
              <a:head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>
              <a:stCxn id="12" idx="4"/>
              <a:endCxn id="6" idx="0"/>
            </p:cNvCxnSpPr>
            <p:nvPr/>
          </p:nvCxnSpPr>
          <p:spPr>
            <a:xfrm rot="5400000">
              <a:off x="2353310" y="4014470"/>
              <a:ext cx="1130300" cy="2270760"/>
            </a:xfrm>
            <a:prstGeom prst="line">
              <a:avLst/>
            </a:prstGeom>
            <a:ln>
              <a:solidFill>
                <a:schemeClr val="tx1"/>
              </a:solidFill>
              <a:head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>
              <a:stCxn id="13" idx="4"/>
              <a:endCxn id="8" idx="0"/>
            </p:cNvCxnSpPr>
            <p:nvPr/>
          </p:nvCxnSpPr>
          <p:spPr>
            <a:xfrm rot="5400000">
              <a:off x="4304030" y="3587750"/>
              <a:ext cx="1130300" cy="3124200"/>
            </a:xfrm>
            <a:prstGeom prst="line">
              <a:avLst/>
            </a:prstGeom>
            <a:ln>
              <a:solidFill>
                <a:schemeClr val="tx1"/>
              </a:solidFill>
              <a:head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>
              <a:stCxn id="13" idx="4"/>
              <a:endCxn id="9" idx="0"/>
            </p:cNvCxnSpPr>
            <p:nvPr/>
          </p:nvCxnSpPr>
          <p:spPr>
            <a:xfrm rot="5400000">
              <a:off x="5142230" y="4425950"/>
              <a:ext cx="1130300" cy="1447800"/>
            </a:xfrm>
            <a:prstGeom prst="line">
              <a:avLst/>
            </a:prstGeom>
            <a:ln>
              <a:solidFill>
                <a:schemeClr val="tx1"/>
              </a:solidFill>
              <a:head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>
              <a:stCxn id="13" idx="4"/>
              <a:endCxn id="10" idx="0"/>
            </p:cNvCxnSpPr>
            <p:nvPr/>
          </p:nvCxnSpPr>
          <p:spPr>
            <a:xfrm rot="16200000" flipH="1">
              <a:off x="6399530" y="4616450"/>
              <a:ext cx="1130300" cy="1066800"/>
            </a:xfrm>
            <a:prstGeom prst="line">
              <a:avLst/>
            </a:prstGeom>
            <a:ln>
              <a:solidFill>
                <a:schemeClr val="tx1"/>
              </a:solidFill>
              <a:head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>
              <a:stCxn id="11" idx="4"/>
              <a:endCxn id="7" idx="0"/>
            </p:cNvCxnSpPr>
            <p:nvPr/>
          </p:nvCxnSpPr>
          <p:spPr>
            <a:xfrm rot="5400000">
              <a:off x="3298190" y="2381250"/>
              <a:ext cx="764540" cy="1996440"/>
            </a:xfrm>
            <a:prstGeom prst="line">
              <a:avLst/>
            </a:prstGeom>
            <a:ln>
              <a:solidFill>
                <a:schemeClr val="tx1"/>
              </a:solidFill>
              <a:head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>
              <a:stCxn id="11" idx="4"/>
              <a:endCxn id="12" idx="0"/>
            </p:cNvCxnSpPr>
            <p:nvPr/>
          </p:nvCxnSpPr>
          <p:spPr>
            <a:xfrm rot="5400000">
              <a:off x="3983990" y="3067050"/>
              <a:ext cx="764540" cy="624840"/>
            </a:xfrm>
            <a:prstGeom prst="line">
              <a:avLst/>
            </a:prstGeom>
            <a:ln>
              <a:solidFill>
                <a:schemeClr val="tx1"/>
              </a:solidFill>
              <a:head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>
              <a:stCxn id="11" idx="4"/>
              <a:endCxn id="13" idx="0"/>
            </p:cNvCxnSpPr>
            <p:nvPr/>
          </p:nvCxnSpPr>
          <p:spPr>
            <a:xfrm rot="16200000" flipH="1">
              <a:off x="5172710" y="2503170"/>
              <a:ext cx="764540" cy="1752600"/>
            </a:xfrm>
            <a:prstGeom prst="line">
              <a:avLst/>
            </a:prstGeom>
            <a:ln>
              <a:solidFill>
                <a:schemeClr val="tx1"/>
              </a:solidFill>
              <a:head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74"/>
            <p:cNvSpPr txBox="1">
              <a:spLocks noChangeArrowheads="1"/>
            </p:cNvSpPr>
            <p:nvPr/>
          </p:nvSpPr>
          <p:spPr bwMode="auto">
            <a:xfrm>
              <a:off x="424179" y="2362200"/>
              <a:ext cx="1295400" cy="4745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r>
                <a:rPr lang="en-US" sz="1200" dirty="0"/>
                <a:t>Output</a:t>
              </a:r>
            </a:p>
          </p:txBody>
        </p:sp>
        <p:sp>
          <p:nvSpPr>
            <p:cNvPr id="32" name="TextBox 75"/>
            <p:cNvSpPr txBox="1">
              <a:spLocks noChangeArrowheads="1"/>
            </p:cNvSpPr>
            <p:nvPr/>
          </p:nvSpPr>
          <p:spPr bwMode="auto">
            <a:xfrm>
              <a:off x="1" y="5943600"/>
              <a:ext cx="1295400" cy="4745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1200"/>
                <a:t>Input</a:t>
              </a:r>
            </a:p>
          </p:txBody>
        </p:sp>
        <p:sp>
          <p:nvSpPr>
            <p:cNvPr id="33" name="TextBox 76"/>
            <p:cNvSpPr txBox="1">
              <a:spLocks noChangeArrowheads="1"/>
            </p:cNvSpPr>
            <p:nvPr/>
          </p:nvSpPr>
          <p:spPr bwMode="auto">
            <a:xfrm>
              <a:off x="-15240" y="3990341"/>
              <a:ext cx="2057400" cy="4745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1200" dirty="0"/>
                <a:t>Hidden Layer</a:t>
              </a:r>
            </a:p>
          </p:txBody>
        </p:sp>
      </p:grpSp>
      <p:pic>
        <p:nvPicPr>
          <p:cNvPr id="36" name="Picture 35" descr="latex-image-1.pdf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305"/>
          <a:stretch/>
        </p:blipFill>
        <p:spPr>
          <a:xfrm>
            <a:off x="6905950" y="1715705"/>
            <a:ext cx="3280042" cy="4369336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AF91A1-7851-4B77-BB2E-52CD002A2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A0DF0-14C7-44C1-AD21-1A184E9B33FD}" type="datetime1">
              <a:rPr lang="en-US" smtClean="0"/>
              <a:t>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C808EA-2B98-45E0-8189-C95BC78F81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</a:p>
        </p:txBody>
      </p:sp>
    </p:spTree>
    <p:extLst>
      <p:ext uri="{BB962C8B-B14F-4D97-AF65-F5344CB8AC3E}">
        <p14:creationId xmlns:p14="http://schemas.microsoft.com/office/powerpoint/2010/main" val="162401533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Building a Neural Net</a:t>
            </a:r>
          </a:p>
        </p:txBody>
      </p:sp>
      <p:sp>
        <p:nvSpPr>
          <p:cNvPr id="4" name="Connector 3"/>
          <p:cNvSpPr/>
          <p:nvPr/>
        </p:nvSpPr>
        <p:spPr>
          <a:xfrm>
            <a:off x="3794760" y="5715000"/>
            <a:ext cx="822960" cy="822960"/>
          </a:xfrm>
          <a:prstGeom prst="flowChartConnector">
            <a:avLst/>
          </a:prstGeom>
          <a:solidFill>
            <a:srgbClr val="72CEE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x</a:t>
            </a:r>
            <a:r>
              <a:rPr lang="en-US" baseline="-25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6" name="Connector 5"/>
          <p:cNvSpPr/>
          <p:nvPr/>
        </p:nvSpPr>
        <p:spPr>
          <a:xfrm>
            <a:off x="3794760" y="3761740"/>
            <a:ext cx="822960" cy="822960"/>
          </a:xfrm>
          <a:prstGeom prst="flowChartConnector">
            <a:avLst/>
          </a:prstGeom>
          <a:solidFill>
            <a:srgbClr val="EE6802"/>
          </a:solidFill>
          <a:ln>
            <a:solidFill>
              <a:schemeClr val="accent1">
                <a:shade val="95000"/>
                <a:satMod val="10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a</a:t>
            </a:r>
            <a:r>
              <a:rPr lang="en-US" baseline="-25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7" name="Connector 6"/>
          <p:cNvSpPr/>
          <p:nvPr/>
        </p:nvSpPr>
        <p:spPr>
          <a:xfrm>
            <a:off x="5166360" y="5715000"/>
            <a:ext cx="822960" cy="822960"/>
          </a:xfrm>
          <a:prstGeom prst="flowChartConnector">
            <a:avLst/>
          </a:prstGeom>
          <a:solidFill>
            <a:srgbClr val="72CEE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x</a:t>
            </a:r>
            <a:r>
              <a:rPr lang="en-US" baseline="-25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9" name="Connector 8"/>
          <p:cNvSpPr/>
          <p:nvPr/>
        </p:nvSpPr>
        <p:spPr>
          <a:xfrm>
            <a:off x="7543800" y="5712691"/>
            <a:ext cx="822960" cy="822960"/>
          </a:xfrm>
          <a:prstGeom prst="flowChartConnector">
            <a:avLst/>
          </a:prstGeom>
          <a:solidFill>
            <a:srgbClr val="72CEE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 err="1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x</a:t>
            </a:r>
            <a:r>
              <a:rPr lang="en-US" baseline="-25000" dirty="0" err="1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M</a:t>
            </a:r>
            <a:endParaRPr lang="en-US" baseline="-25000" dirty="0">
              <a:ln>
                <a:solidFill>
                  <a:schemeClr val="tx1"/>
                </a:solidFill>
              </a:ln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0" name="Connector 9"/>
          <p:cNvSpPr/>
          <p:nvPr/>
        </p:nvSpPr>
        <p:spPr>
          <a:xfrm>
            <a:off x="5791200" y="2174240"/>
            <a:ext cx="822960" cy="822960"/>
          </a:xfrm>
          <a:prstGeom prst="flowChartConnector">
            <a:avLst/>
          </a:prstGeom>
          <a:solidFill>
            <a:srgbClr val="E0D925"/>
          </a:solidFill>
          <a:ln>
            <a:solidFill>
              <a:schemeClr val="accent1">
                <a:shade val="95000"/>
                <a:satMod val="10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y</a:t>
            </a:r>
            <a:endParaRPr lang="en-US" baseline="-25000" dirty="0">
              <a:ln>
                <a:solidFill>
                  <a:schemeClr val="tx1"/>
                </a:solidFill>
              </a:ln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1" name="Connector 10"/>
          <p:cNvSpPr/>
          <p:nvPr/>
        </p:nvSpPr>
        <p:spPr>
          <a:xfrm>
            <a:off x="5166360" y="3761740"/>
            <a:ext cx="822960" cy="822960"/>
          </a:xfrm>
          <a:prstGeom prst="flowChartConnector">
            <a:avLst/>
          </a:prstGeom>
          <a:solidFill>
            <a:srgbClr val="EE6802"/>
          </a:solidFill>
          <a:ln>
            <a:solidFill>
              <a:schemeClr val="accent1">
                <a:shade val="95000"/>
                <a:satMod val="10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a</a:t>
            </a:r>
            <a:r>
              <a:rPr lang="en-US" baseline="-25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2" name="Connector 11"/>
          <p:cNvSpPr/>
          <p:nvPr/>
        </p:nvSpPr>
        <p:spPr>
          <a:xfrm>
            <a:off x="7543800" y="3761740"/>
            <a:ext cx="822960" cy="822960"/>
          </a:xfrm>
          <a:prstGeom prst="flowChartConnector">
            <a:avLst/>
          </a:prstGeom>
          <a:solidFill>
            <a:srgbClr val="EE6802"/>
          </a:solidFill>
          <a:ln>
            <a:solidFill>
              <a:schemeClr val="accent1">
                <a:shade val="95000"/>
                <a:satMod val="10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 err="1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a</a:t>
            </a:r>
            <a:r>
              <a:rPr lang="en-US" baseline="-25000" dirty="0" err="1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D</a:t>
            </a:r>
            <a:endParaRPr lang="en-US" baseline="-25000" dirty="0">
              <a:ln>
                <a:solidFill>
                  <a:schemeClr val="tx1"/>
                </a:solidFill>
              </a:ln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6537960" y="3837941"/>
            <a:ext cx="533400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600" b="1"/>
              <a:t>…</a:t>
            </a:r>
          </a:p>
        </p:txBody>
      </p:sp>
      <p:sp>
        <p:nvSpPr>
          <p:cNvPr id="15" name="TextBox 14"/>
          <p:cNvSpPr txBox="1">
            <a:spLocks noChangeArrowheads="1"/>
          </p:cNvSpPr>
          <p:nvPr/>
        </p:nvSpPr>
        <p:spPr bwMode="auto">
          <a:xfrm>
            <a:off x="6614160" y="5821364"/>
            <a:ext cx="533400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600" b="1"/>
              <a:t>…</a:t>
            </a:r>
          </a:p>
        </p:txBody>
      </p:sp>
      <p:cxnSp>
        <p:nvCxnSpPr>
          <p:cNvPr id="16" name="Straight Connector 15"/>
          <p:cNvCxnSpPr>
            <a:stCxn id="6" idx="4"/>
            <a:endCxn id="4" idx="0"/>
          </p:cNvCxnSpPr>
          <p:nvPr/>
        </p:nvCxnSpPr>
        <p:spPr>
          <a:xfrm>
            <a:off x="4206240" y="4584700"/>
            <a:ext cx="0" cy="1130300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11" idx="4"/>
            <a:endCxn id="7" idx="0"/>
          </p:cNvCxnSpPr>
          <p:nvPr/>
        </p:nvCxnSpPr>
        <p:spPr>
          <a:xfrm>
            <a:off x="5577840" y="4584700"/>
            <a:ext cx="0" cy="1130300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12" idx="4"/>
            <a:endCxn id="9" idx="0"/>
          </p:cNvCxnSpPr>
          <p:nvPr/>
        </p:nvCxnSpPr>
        <p:spPr>
          <a:xfrm>
            <a:off x="7955280" y="4584701"/>
            <a:ext cx="0" cy="1127991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>
            <a:stCxn id="10" idx="4"/>
            <a:endCxn id="6" idx="0"/>
          </p:cNvCxnSpPr>
          <p:nvPr/>
        </p:nvCxnSpPr>
        <p:spPr>
          <a:xfrm rot="5400000">
            <a:off x="4822190" y="2381250"/>
            <a:ext cx="764540" cy="1996440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stCxn id="10" idx="4"/>
            <a:endCxn id="11" idx="0"/>
          </p:cNvCxnSpPr>
          <p:nvPr/>
        </p:nvCxnSpPr>
        <p:spPr>
          <a:xfrm rot="5400000">
            <a:off x="5507990" y="3067050"/>
            <a:ext cx="764540" cy="624840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>
            <a:stCxn id="10" idx="4"/>
            <a:endCxn id="12" idx="0"/>
          </p:cNvCxnSpPr>
          <p:nvPr/>
        </p:nvCxnSpPr>
        <p:spPr>
          <a:xfrm rot="16200000" flipH="1">
            <a:off x="6696710" y="2503170"/>
            <a:ext cx="764540" cy="1752600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74"/>
          <p:cNvSpPr txBox="1">
            <a:spLocks noChangeArrowheads="1"/>
          </p:cNvSpPr>
          <p:nvPr/>
        </p:nvSpPr>
        <p:spPr bwMode="auto">
          <a:xfrm>
            <a:off x="1948180" y="2362200"/>
            <a:ext cx="12954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dirty="0"/>
              <a:t>Output</a:t>
            </a:r>
          </a:p>
        </p:txBody>
      </p:sp>
      <p:sp>
        <p:nvSpPr>
          <p:cNvPr id="35" name="TextBox 75"/>
          <p:cNvSpPr txBox="1">
            <a:spLocks noChangeArrowheads="1"/>
          </p:cNvSpPr>
          <p:nvPr/>
        </p:nvSpPr>
        <p:spPr bwMode="auto">
          <a:xfrm>
            <a:off x="1524000" y="5943600"/>
            <a:ext cx="12954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/>
              <a:t>Input</a:t>
            </a:r>
          </a:p>
        </p:txBody>
      </p:sp>
      <p:sp>
        <p:nvSpPr>
          <p:cNvPr id="36" name="TextBox 76"/>
          <p:cNvSpPr txBox="1">
            <a:spLocks noChangeArrowheads="1"/>
          </p:cNvSpPr>
          <p:nvPr/>
        </p:nvSpPr>
        <p:spPr bwMode="auto">
          <a:xfrm>
            <a:off x="1508760" y="3990340"/>
            <a:ext cx="20574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/>
              <a:t>Hidden Layer</a:t>
            </a:r>
          </a:p>
        </p:txBody>
      </p:sp>
      <p:sp>
        <p:nvSpPr>
          <p:cNvPr id="32" name="TextBox 76"/>
          <p:cNvSpPr txBox="1">
            <a:spLocks noChangeArrowheads="1"/>
          </p:cNvSpPr>
          <p:nvPr/>
        </p:nvSpPr>
        <p:spPr bwMode="auto">
          <a:xfrm>
            <a:off x="8763000" y="4295140"/>
            <a:ext cx="20574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/>
              <a:t>D = M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43" name="TextBox 75"/>
          <p:cNvSpPr txBox="1">
            <a:spLocks noChangeArrowheads="1"/>
          </p:cNvSpPr>
          <p:nvPr/>
        </p:nvSpPr>
        <p:spPr bwMode="auto">
          <a:xfrm>
            <a:off x="3659909" y="5033818"/>
            <a:ext cx="454891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dirty="0"/>
              <a:t>1</a:t>
            </a:r>
          </a:p>
        </p:txBody>
      </p:sp>
      <p:sp>
        <p:nvSpPr>
          <p:cNvPr id="44" name="TextBox 75"/>
          <p:cNvSpPr txBox="1">
            <a:spLocks noChangeArrowheads="1"/>
          </p:cNvSpPr>
          <p:nvPr/>
        </p:nvSpPr>
        <p:spPr bwMode="auto">
          <a:xfrm>
            <a:off x="5092931" y="5033818"/>
            <a:ext cx="454891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dirty="0"/>
              <a:t>1</a:t>
            </a:r>
          </a:p>
        </p:txBody>
      </p:sp>
      <p:sp>
        <p:nvSpPr>
          <p:cNvPr id="45" name="TextBox 75"/>
          <p:cNvSpPr txBox="1">
            <a:spLocks noChangeArrowheads="1"/>
          </p:cNvSpPr>
          <p:nvPr/>
        </p:nvSpPr>
        <p:spPr bwMode="auto">
          <a:xfrm>
            <a:off x="7500390" y="5033818"/>
            <a:ext cx="454891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dirty="0"/>
              <a:t>1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F6E42C-24EE-460B-B2DF-F8EFC2382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CCB2B-5137-4A28-9885-379317D941E3}" type="datetime1">
              <a:rPr lang="en-US" smtClean="0"/>
              <a:t>2/10/2025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645208-BC13-4014-8AF0-819A67F85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</a:p>
        </p:txBody>
      </p:sp>
    </p:spTree>
    <p:extLst>
      <p:ext uri="{BB962C8B-B14F-4D97-AF65-F5344CB8AC3E}">
        <p14:creationId xmlns:p14="http://schemas.microsoft.com/office/powerpoint/2010/main" val="511814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9" grpId="0" animBg="1"/>
      <p:bldP spid="15" grpId="0"/>
      <p:bldP spid="35" grpId="0"/>
      <p:bldP spid="32" grpId="0"/>
      <p:bldP spid="43" grpId="0"/>
      <p:bldP spid="44" grpId="0"/>
      <p:bldP spid="45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Building a Neural Net</a:t>
            </a:r>
          </a:p>
        </p:txBody>
      </p:sp>
      <p:sp>
        <p:nvSpPr>
          <p:cNvPr id="4" name="Connector 3"/>
          <p:cNvSpPr/>
          <p:nvPr/>
        </p:nvSpPr>
        <p:spPr>
          <a:xfrm>
            <a:off x="3794760" y="5715000"/>
            <a:ext cx="822960" cy="822960"/>
          </a:xfrm>
          <a:prstGeom prst="flowChartConnector">
            <a:avLst/>
          </a:prstGeom>
          <a:solidFill>
            <a:srgbClr val="72CEE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x</a:t>
            </a:r>
            <a:r>
              <a:rPr lang="en-US" baseline="-25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6" name="Connector 5"/>
          <p:cNvSpPr/>
          <p:nvPr/>
        </p:nvSpPr>
        <p:spPr>
          <a:xfrm>
            <a:off x="3794760" y="3761740"/>
            <a:ext cx="822960" cy="822960"/>
          </a:xfrm>
          <a:prstGeom prst="flowChartConnector">
            <a:avLst/>
          </a:prstGeom>
          <a:solidFill>
            <a:srgbClr val="EE6802"/>
          </a:solidFill>
          <a:ln>
            <a:solidFill>
              <a:schemeClr val="accent1">
                <a:shade val="95000"/>
                <a:satMod val="10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a</a:t>
            </a:r>
            <a:r>
              <a:rPr lang="en-US" baseline="-25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7" name="Connector 6"/>
          <p:cNvSpPr/>
          <p:nvPr/>
        </p:nvSpPr>
        <p:spPr>
          <a:xfrm>
            <a:off x="5166360" y="5715000"/>
            <a:ext cx="822960" cy="822960"/>
          </a:xfrm>
          <a:prstGeom prst="flowChartConnector">
            <a:avLst/>
          </a:prstGeom>
          <a:solidFill>
            <a:srgbClr val="72CEE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x</a:t>
            </a:r>
            <a:r>
              <a:rPr lang="en-US" baseline="-25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9" name="Connector 8"/>
          <p:cNvSpPr/>
          <p:nvPr/>
        </p:nvSpPr>
        <p:spPr>
          <a:xfrm>
            <a:off x="7543800" y="5712691"/>
            <a:ext cx="822960" cy="822960"/>
          </a:xfrm>
          <a:prstGeom prst="flowChartConnector">
            <a:avLst/>
          </a:prstGeom>
          <a:solidFill>
            <a:srgbClr val="72CEE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 err="1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x</a:t>
            </a:r>
            <a:r>
              <a:rPr lang="en-US" baseline="-25000" dirty="0" err="1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M</a:t>
            </a:r>
            <a:endParaRPr lang="en-US" baseline="-25000" dirty="0">
              <a:ln>
                <a:solidFill>
                  <a:schemeClr val="tx1"/>
                </a:solidFill>
              </a:ln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0" name="Connector 9"/>
          <p:cNvSpPr/>
          <p:nvPr/>
        </p:nvSpPr>
        <p:spPr>
          <a:xfrm>
            <a:off x="5791200" y="2174240"/>
            <a:ext cx="822960" cy="822960"/>
          </a:xfrm>
          <a:prstGeom prst="flowChartConnector">
            <a:avLst/>
          </a:prstGeom>
          <a:solidFill>
            <a:srgbClr val="E0D925"/>
          </a:solidFill>
          <a:ln>
            <a:solidFill>
              <a:schemeClr val="accent1">
                <a:shade val="95000"/>
                <a:satMod val="10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y</a:t>
            </a:r>
            <a:endParaRPr lang="en-US" baseline="-25000" dirty="0">
              <a:ln>
                <a:solidFill>
                  <a:schemeClr val="tx1"/>
                </a:solidFill>
              </a:ln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1" name="Connector 10"/>
          <p:cNvSpPr/>
          <p:nvPr/>
        </p:nvSpPr>
        <p:spPr>
          <a:xfrm>
            <a:off x="5166360" y="3761740"/>
            <a:ext cx="822960" cy="822960"/>
          </a:xfrm>
          <a:prstGeom prst="flowChartConnector">
            <a:avLst/>
          </a:prstGeom>
          <a:solidFill>
            <a:srgbClr val="EE6802"/>
          </a:solidFill>
          <a:ln>
            <a:solidFill>
              <a:schemeClr val="accent1">
                <a:shade val="95000"/>
                <a:satMod val="10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a</a:t>
            </a:r>
            <a:r>
              <a:rPr lang="en-US" baseline="-25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2" name="Connector 11"/>
          <p:cNvSpPr/>
          <p:nvPr/>
        </p:nvSpPr>
        <p:spPr>
          <a:xfrm>
            <a:off x="7543800" y="3761740"/>
            <a:ext cx="822960" cy="822960"/>
          </a:xfrm>
          <a:prstGeom prst="flowChartConnector">
            <a:avLst/>
          </a:prstGeom>
          <a:solidFill>
            <a:srgbClr val="EE6802"/>
          </a:solidFill>
          <a:ln>
            <a:solidFill>
              <a:schemeClr val="accent1">
                <a:shade val="95000"/>
                <a:satMod val="10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 err="1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a</a:t>
            </a:r>
            <a:r>
              <a:rPr lang="en-US" baseline="-25000" dirty="0" err="1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D</a:t>
            </a:r>
            <a:endParaRPr lang="en-US" baseline="-25000" dirty="0">
              <a:ln>
                <a:solidFill>
                  <a:schemeClr val="tx1"/>
                </a:solidFill>
              </a:ln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6537960" y="3837941"/>
            <a:ext cx="533400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600" b="1"/>
              <a:t>…</a:t>
            </a:r>
          </a:p>
        </p:txBody>
      </p:sp>
      <p:sp>
        <p:nvSpPr>
          <p:cNvPr id="15" name="TextBox 14"/>
          <p:cNvSpPr txBox="1">
            <a:spLocks noChangeArrowheads="1"/>
          </p:cNvSpPr>
          <p:nvPr/>
        </p:nvSpPr>
        <p:spPr bwMode="auto">
          <a:xfrm>
            <a:off x="6614160" y="5821364"/>
            <a:ext cx="533400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600" b="1"/>
              <a:t>…</a:t>
            </a:r>
          </a:p>
        </p:txBody>
      </p:sp>
      <p:cxnSp>
        <p:nvCxnSpPr>
          <p:cNvPr id="16" name="Straight Connector 15"/>
          <p:cNvCxnSpPr>
            <a:stCxn id="6" idx="4"/>
            <a:endCxn id="4" idx="0"/>
          </p:cNvCxnSpPr>
          <p:nvPr/>
        </p:nvCxnSpPr>
        <p:spPr>
          <a:xfrm>
            <a:off x="4206240" y="4584700"/>
            <a:ext cx="0" cy="1130300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6" idx="4"/>
            <a:endCxn id="7" idx="0"/>
          </p:cNvCxnSpPr>
          <p:nvPr/>
        </p:nvCxnSpPr>
        <p:spPr>
          <a:xfrm>
            <a:off x="4206240" y="4584700"/>
            <a:ext cx="1371600" cy="1130300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6" idx="4"/>
            <a:endCxn id="9" idx="0"/>
          </p:cNvCxnSpPr>
          <p:nvPr/>
        </p:nvCxnSpPr>
        <p:spPr>
          <a:xfrm>
            <a:off x="4206240" y="4584701"/>
            <a:ext cx="3749040" cy="1127991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11" idx="4"/>
            <a:endCxn id="7" idx="0"/>
          </p:cNvCxnSpPr>
          <p:nvPr/>
        </p:nvCxnSpPr>
        <p:spPr>
          <a:xfrm>
            <a:off x="5577840" y="4584700"/>
            <a:ext cx="0" cy="1130300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11" idx="4"/>
            <a:endCxn id="9" idx="0"/>
          </p:cNvCxnSpPr>
          <p:nvPr/>
        </p:nvCxnSpPr>
        <p:spPr>
          <a:xfrm>
            <a:off x="5577840" y="4584701"/>
            <a:ext cx="2377440" cy="1127991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12" idx="4"/>
            <a:endCxn id="4" idx="0"/>
          </p:cNvCxnSpPr>
          <p:nvPr/>
        </p:nvCxnSpPr>
        <p:spPr>
          <a:xfrm flipH="1">
            <a:off x="4206240" y="4584700"/>
            <a:ext cx="3749040" cy="1130300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stCxn id="11" idx="4"/>
            <a:endCxn id="4" idx="0"/>
          </p:cNvCxnSpPr>
          <p:nvPr/>
        </p:nvCxnSpPr>
        <p:spPr>
          <a:xfrm flipH="1">
            <a:off x="4206240" y="4584700"/>
            <a:ext cx="1371600" cy="1130300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12" idx="4"/>
            <a:endCxn id="7" idx="0"/>
          </p:cNvCxnSpPr>
          <p:nvPr/>
        </p:nvCxnSpPr>
        <p:spPr>
          <a:xfrm flipH="1">
            <a:off x="5577840" y="4584700"/>
            <a:ext cx="2377440" cy="1130300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12" idx="4"/>
            <a:endCxn id="9" idx="0"/>
          </p:cNvCxnSpPr>
          <p:nvPr/>
        </p:nvCxnSpPr>
        <p:spPr>
          <a:xfrm>
            <a:off x="7955280" y="4584701"/>
            <a:ext cx="0" cy="1127991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>
            <a:stCxn id="10" idx="4"/>
            <a:endCxn id="6" idx="0"/>
          </p:cNvCxnSpPr>
          <p:nvPr/>
        </p:nvCxnSpPr>
        <p:spPr>
          <a:xfrm rot="5400000">
            <a:off x="4822190" y="2381250"/>
            <a:ext cx="764540" cy="1996440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stCxn id="10" idx="4"/>
            <a:endCxn id="11" idx="0"/>
          </p:cNvCxnSpPr>
          <p:nvPr/>
        </p:nvCxnSpPr>
        <p:spPr>
          <a:xfrm rot="5400000">
            <a:off x="5507990" y="3067050"/>
            <a:ext cx="764540" cy="624840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>
            <a:stCxn id="10" idx="4"/>
            <a:endCxn id="12" idx="0"/>
          </p:cNvCxnSpPr>
          <p:nvPr/>
        </p:nvCxnSpPr>
        <p:spPr>
          <a:xfrm rot="16200000" flipH="1">
            <a:off x="6696710" y="2503170"/>
            <a:ext cx="764540" cy="1752600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74"/>
          <p:cNvSpPr txBox="1">
            <a:spLocks noChangeArrowheads="1"/>
          </p:cNvSpPr>
          <p:nvPr/>
        </p:nvSpPr>
        <p:spPr bwMode="auto">
          <a:xfrm>
            <a:off x="1948180" y="2362200"/>
            <a:ext cx="12954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dirty="0"/>
              <a:t>Output</a:t>
            </a:r>
          </a:p>
        </p:txBody>
      </p:sp>
      <p:sp>
        <p:nvSpPr>
          <p:cNvPr id="35" name="TextBox 75"/>
          <p:cNvSpPr txBox="1">
            <a:spLocks noChangeArrowheads="1"/>
          </p:cNvSpPr>
          <p:nvPr/>
        </p:nvSpPr>
        <p:spPr bwMode="auto">
          <a:xfrm>
            <a:off x="1524000" y="5943600"/>
            <a:ext cx="12954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Input</a:t>
            </a:r>
          </a:p>
        </p:txBody>
      </p:sp>
      <p:sp>
        <p:nvSpPr>
          <p:cNvPr id="36" name="TextBox 76"/>
          <p:cNvSpPr txBox="1">
            <a:spLocks noChangeArrowheads="1"/>
          </p:cNvSpPr>
          <p:nvPr/>
        </p:nvSpPr>
        <p:spPr bwMode="auto">
          <a:xfrm>
            <a:off x="1508760" y="3990340"/>
            <a:ext cx="20574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/>
              <a:t>Hidden Layer</a:t>
            </a:r>
          </a:p>
        </p:txBody>
      </p:sp>
      <p:sp>
        <p:nvSpPr>
          <p:cNvPr id="32" name="TextBox 76"/>
          <p:cNvSpPr txBox="1">
            <a:spLocks noChangeArrowheads="1"/>
          </p:cNvSpPr>
          <p:nvPr/>
        </p:nvSpPr>
        <p:spPr bwMode="auto">
          <a:xfrm>
            <a:off x="8763000" y="4295140"/>
            <a:ext cx="20574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/>
              <a:t>D = M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981016-0F94-40AE-9ACE-BA91847258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0EB10-020F-4662-A2C5-689D83AC2BCA}" type="datetime1">
              <a:rPr lang="en-US" smtClean="0"/>
              <a:t>2/10/2025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FF7EBA7-AC88-414F-A738-2BB43F0D5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</a:p>
        </p:txBody>
      </p:sp>
    </p:spTree>
    <p:extLst>
      <p:ext uri="{BB962C8B-B14F-4D97-AF65-F5344CB8AC3E}">
        <p14:creationId xmlns:p14="http://schemas.microsoft.com/office/powerpoint/2010/main" val="559607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Building a Neural Net</a:t>
            </a:r>
          </a:p>
        </p:txBody>
      </p:sp>
      <p:sp>
        <p:nvSpPr>
          <p:cNvPr id="4" name="Connector 3"/>
          <p:cNvSpPr/>
          <p:nvPr/>
        </p:nvSpPr>
        <p:spPr>
          <a:xfrm>
            <a:off x="3794760" y="5715000"/>
            <a:ext cx="822960" cy="822960"/>
          </a:xfrm>
          <a:prstGeom prst="flowChartConnector">
            <a:avLst/>
          </a:prstGeom>
          <a:solidFill>
            <a:srgbClr val="72CEE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x</a:t>
            </a:r>
            <a:r>
              <a:rPr lang="en-US" baseline="-25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6" name="Connector 5"/>
          <p:cNvSpPr/>
          <p:nvPr/>
        </p:nvSpPr>
        <p:spPr>
          <a:xfrm>
            <a:off x="3794760" y="3761740"/>
            <a:ext cx="822960" cy="822960"/>
          </a:xfrm>
          <a:prstGeom prst="flowChartConnector">
            <a:avLst/>
          </a:prstGeom>
          <a:solidFill>
            <a:srgbClr val="EE6802"/>
          </a:solidFill>
          <a:ln>
            <a:solidFill>
              <a:schemeClr val="accent1">
                <a:shade val="95000"/>
                <a:satMod val="10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a</a:t>
            </a:r>
            <a:r>
              <a:rPr lang="en-US" baseline="-25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7" name="Connector 6"/>
          <p:cNvSpPr/>
          <p:nvPr/>
        </p:nvSpPr>
        <p:spPr>
          <a:xfrm>
            <a:off x="5166360" y="5715000"/>
            <a:ext cx="822960" cy="822960"/>
          </a:xfrm>
          <a:prstGeom prst="flowChartConnector">
            <a:avLst/>
          </a:prstGeom>
          <a:solidFill>
            <a:srgbClr val="72CEE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x</a:t>
            </a:r>
            <a:r>
              <a:rPr lang="en-US" baseline="-25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9" name="Connector 8"/>
          <p:cNvSpPr/>
          <p:nvPr/>
        </p:nvSpPr>
        <p:spPr>
          <a:xfrm>
            <a:off x="7543800" y="5712691"/>
            <a:ext cx="822960" cy="822960"/>
          </a:xfrm>
          <a:prstGeom prst="flowChartConnector">
            <a:avLst/>
          </a:prstGeom>
          <a:solidFill>
            <a:srgbClr val="72CEE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 err="1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x</a:t>
            </a:r>
            <a:r>
              <a:rPr lang="en-US" baseline="-25000" dirty="0" err="1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M</a:t>
            </a:r>
            <a:endParaRPr lang="en-US" baseline="-25000" dirty="0">
              <a:ln>
                <a:solidFill>
                  <a:schemeClr val="tx1"/>
                </a:solidFill>
              </a:ln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0" name="Connector 9"/>
          <p:cNvSpPr/>
          <p:nvPr/>
        </p:nvSpPr>
        <p:spPr>
          <a:xfrm>
            <a:off x="5791200" y="2174240"/>
            <a:ext cx="822960" cy="822960"/>
          </a:xfrm>
          <a:prstGeom prst="flowChartConnector">
            <a:avLst/>
          </a:prstGeom>
          <a:solidFill>
            <a:srgbClr val="E0D925"/>
          </a:solidFill>
          <a:ln>
            <a:solidFill>
              <a:schemeClr val="accent1">
                <a:shade val="95000"/>
                <a:satMod val="10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y</a:t>
            </a:r>
            <a:endParaRPr lang="en-US" baseline="-25000" dirty="0">
              <a:ln>
                <a:solidFill>
                  <a:schemeClr val="tx1"/>
                </a:solidFill>
              </a:ln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1" name="Connector 10"/>
          <p:cNvSpPr/>
          <p:nvPr/>
        </p:nvSpPr>
        <p:spPr>
          <a:xfrm>
            <a:off x="5166360" y="3761740"/>
            <a:ext cx="822960" cy="822960"/>
          </a:xfrm>
          <a:prstGeom prst="flowChartConnector">
            <a:avLst/>
          </a:prstGeom>
          <a:solidFill>
            <a:srgbClr val="EE6802"/>
          </a:solidFill>
          <a:ln>
            <a:solidFill>
              <a:schemeClr val="accent1">
                <a:shade val="95000"/>
                <a:satMod val="10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a</a:t>
            </a:r>
            <a:r>
              <a:rPr lang="en-US" baseline="-25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2" name="Connector 11"/>
          <p:cNvSpPr/>
          <p:nvPr/>
        </p:nvSpPr>
        <p:spPr>
          <a:xfrm>
            <a:off x="7543800" y="3761740"/>
            <a:ext cx="822960" cy="822960"/>
          </a:xfrm>
          <a:prstGeom prst="flowChartConnector">
            <a:avLst/>
          </a:prstGeom>
          <a:solidFill>
            <a:srgbClr val="EE6802"/>
          </a:solidFill>
          <a:ln>
            <a:solidFill>
              <a:schemeClr val="accent1">
                <a:shade val="95000"/>
                <a:satMod val="10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 err="1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a</a:t>
            </a:r>
            <a:r>
              <a:rPr lang="en-US" baseline="-25000" dirty="0" err="1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D</a:t>
            </a:r>
            <a:endParaRPr lang="en-US" baseline="-25000" dirty="0">
              <a:ln>
                <a:solidFill>
                  <a:schemeClr val="tx1"/>
                </a:solidFill>
              </a:ln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6537960" y="3837941"/>
            <a:ext cx="533400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600" b="1"/>
              <a:t>…</a:t>
            </a:r>
          </a:p>
        </p:txBody>
      </p:sp>
      <p:sp>
        <p:nvSpPr>
          <p:cNvPr id="15" name="TextBox 14"/>
          <p:cNvSpPr txBox="1">
            <a:spLocks noChangeArrowheads="1"/>
          </p:cNvSpPr>
          <p:nvPr/>
        </p:nvSpPr>
        <p:spPr bwMode="auto">
          <a:xfrm>
            <a:off x="6614160" y="5821364"/>
            <a:ext cx="533400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600" b="1"/>
              <a:t>…</a:t>
            </a:r>
          </a:p>
        </p:txBody>
      </p:sp>
      <p:cxnSp>
        <p:nvCxnSpPr>
          <p:cNvPr id="16" name="Straight Connector 15"/>
          <p:cNvCxnSpPr>
            <a:stCxn id="6" idx="4"/>
            <a:endCxn id="4" idx="0"/>
          </p:cNvCxnSpPr>
          <p:nvPr/>
        </p:nvCxnSpPr>
        <p:spPr>
          <a:xfrm>
            <a:off x="4206240" y="4584700"/>
            <a:ext cx="0" cy="1130300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6" idx="4"/>
            <a:endCxn id="7" idx="0"/>
          </p:cNvCxnSpPr>
          <p:nvPr/>
        </p:nvCxnSpPr>
        <p:spPr>
          <a:xfrm>
            <a:off x="4206240" y="4584700"/>
            <a:ext cx="1371600" cy="1130300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6" idx="4"/>
            <a:endCxn id="9" idx="0"/>
          </p:cNvCxnSpPr>
          <p:nvPr/>
        </p:nvCxnSpPr>
        <p:spPr>
          <a:xfrm>
            <a:off x="4206240" y="4584701"/>
            <a:ext cx="3749040" cy="1127991"/>
          </a:xfrm>
          <a:prstGeom prst="line">
            <a:avLst/>
          </a:prstGeom>
          <a:ln>
            <a:solidFill>
              <a:srgbClr val="008000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11" idx="4"/>
            <a:endCxn id="7" idx="0"/>
          </p:cNvCxnSpPr>
          <p:nvPr/>
        </p:nvCxnSpPr>
        <p:spPr>
          <a:xfrm>
            <a:off x="5577840" y="4584700"/>
            <a:ext cx="0" cy="1130300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11" idx="4"/>
            <a:endCxn id="9" idx="0"/>
          </p:cNvCxnSpPr>
          <p:nvPr/>
        </p:nvCxnSpPr>
        <p:spPr>
          <a:xfrm>
            <a:off x="5577840" y="4584701"/>
            <a:ext cx="2377440" cy="1127991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12" idx="4"/>
            <a:endCxn id="4" idx="0"/>
          </p:cNvCxnSpPr>
          <p:nvPr/>
        </p:nvCxnSpPr>
        <p:spPr>
          <a:xfrm flipH="1">
            <a:off x="4206240" y="4584700"/>
            <a:ext cx="3749040" cy="1130300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stCxn id="11" idx="4"/>
            <a:endCxn id="4" idx="0"/>
          </p:cNvCxnSpPr>
          <p:nvPr/>
        </p:nvCxnSpPr>
        <p:spPr>
          <a:xfrm flipH="1">
            <a:off x="4206240" y="4584700"/>
            <a:ext cx="1371600" cy="1130300"/>
          </a:xfrm>
          <a:prstGeom prst="line">
            <a:avLst/>
          </a:prstGeom>
          <a:ln>
            <a:solidFill>
              <a:srgbClr val="008000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12" idx="4"/>
            <a:endCxn id="7" idx="0"/>
          </p:cNvCxnSpPr>
          <p:nvPr/>
        </p:nvCxnSpPr>
        <p:spPr>
          <a:xfrm flipH="1">
            <a:off x="5577840" y="4584700"/>
            <a:ext cx="2377440" cy="1130300"/>
          </a:xfrm>
          <a:prstGeom prst="line">
            <a:avLst/>
          </a:prstGeom>
          <a:ln>
            <a:solidFill>
              <a:srgbClr val="008000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12" idx="4"/>
            <a:endCxn id="9" idx="0"/>
          </p:cNvCxnSpPr>
          <p:nvPr/>
        </p:nvCxnSpPr>
        <p:spPr>
          <a:xfrm>
            <a:off x="7955280" y="4584701"/>
            <a:ext cx="0" cy="1127991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>
            <a:stCxn id="10" idx="4"/>
            <a:endCxn id="6" idx="0"/>
          </p:cNvCxnSpPr>
          <p:nvPr/>
        </p:nvCxnSpPr>
        <p:spPr>
          <a:xfrm rot="5400000">
            <a:off x="4822190" y="2381250"/>
            <a:ext cx="764540" cy="1996440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stCxn id="10" idx="4"/>
            <a:endCxn id="11" idx="0"/>
          </p:cNvCxnSpPr>
          <p:nvPr/>
        </p:nvCxnSpPr>
        <p:spPr>
          <a:xfrm rot="5400000">
            <a:off x="5507990" y="3067050"/>
            <a:ext cx="764540" cy="624840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>
            <a:stCxn id="10" idx="4"/>
            <a:endCxn id="12" idx="0"/>
          </p:cNvCxnSpPr>
          <p:nvPr/>
        </p:nvCxnSpPr>
        <p:spPr>
          <a:xfrm rot="16200000" flipH="1">
            <a:off x="6696710" y="2503170"/>
            <a:ext cx="764540" cy="1752600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74"/>
          <p:cNvSpPr txBox="1">
            <a:spLocks noChangeArrowheads="1"/>
          </p:cNvSpPr>
          <p:nvPr/>
        </p:nvSpPr>
        <p:spPr bwMode="auto">
          <a:xfrm>
            <a:off x="1948180" y="2362200"/>
            <a:ext cx="12954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dirty="0"/>
              <a:t>Output</a:t>
            </a:r>
          </a:p>
        </p:txBody>
      </p:sp>
      <p:sp>
        <p:nvSpPr>
          <p:cNvPr id="35" name="TextBox 75"/>
          <p:cNvSpPr txBox="1">
            <a:spLocks noChangeArrowheads="1"/>
          </p:cNvSpPr>
          <p:nvPr/>
        </p:nvSpPr>
        <p:spPr bwMode="auto">
          <a:xfrm>
            <a:off x="1524000" y="5943600"/>
            <a:ext cx="12954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Input</a:t>
            </a:r>
          </a:p>
        </p:txBody>
      </p:sp>
      <p:sp>
        <p:nvSpPr>
          <p:cNvPr id="36" name="TextBox 76"/>
          <p:cNvSpPr txBox="1">
            <a:spLocks noChangeArrowheads="1"/>
          </p:cNvSpPr>
          <p:nvPr/>
        </p:nvSpPr>
        <p:spPr bwMode="auto">
          <a:xfrm>
            <a:off x="1508760" y="3990340"/>
            <a:ext cx="20574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/>
              <a:t>Hidden Layer</a:t>
            </a:r>
          </a:p>
        </p:txBody>
      </p:sp>
      <p:sp>
        <p:nvSpPr>
          <p:cNvPr id="32" name="TextBox 76"/>
          <p:cNvSpPr txBox="1">
            <a:spLocks noChangeArrowheads="1"/>
          </p:cNvSpPr>
          <p:nvPr/>
        </p:nvSpPr>
        <p:spPr bwMode="auto">
          <a:xfrm>
            <a:off x="8763000" y="4295140"/>
            <a:ext cx="20574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/>
              <a:t>D = M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70E162-543F-4D0C-B7C7-3FC69356A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72714-C86C-4952-A058-242B1E7C28BF}" type="datetime1">
              <a:rPr lang="en-US" smtClean="0"/>
              <a:t>2/10/2025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D5DBDD-B6CA-40D4-BFB0-48F955CAC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</a:p>
        </p:txBody>
      </p:sp>
    </p:spTree>
    <p:extLst>
      <p:ext uri="{BB962C8B-B14F-4D97-AF65-F5344CB8AC3E}">
        <p14:creationId xmlns:p14="http://schemas.microsoft.com/office/powerpoint/2010/main" val="206757852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Building a Neural Net</a:t>
            </a:r>
          </a:p>
        </p:txBody>
      </p:sp>
      <p:sp>
        <p:nvSpPr>
          <p:cNvPr id="4" name="Connector 3"/>
          <p:cNvSpPr/>
          <p:nvPr/>
        </p:nvSpPr>
        <p:spPr>
          <a:xfrm>
            <a:off x="2895600" y="5715000"/>
            <a:ext cx="822960" cy="822960"/>
          </a:xfrm>
          <a:prstGeom prst="flowChartConnector">
            <a:avLst/>
          </a:prstGeom>
          <a:solidFill>
            <a:srgbClr val="72CEE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x</a:t>
            </a:r>
            <a:r>
              <a:rPr lang="en-US" baseline="-25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6" name="Connector 5"/>
          <p:cNvSpPr/>
          <p:nvPr/>
        </p:nvSpPr>
        <p:spPr>
          <a:xfrm>
            <a:off x="3794760" y="3761740"/>
            <a:ext cx="822960" cy="822960"/>
          </a:xfrm>
          <a:prstGeom prst="flowChartConnector">
            <a:avLst/>
          </a:prstGeom>
          <a:solidFill>
            <a:srgbClr val="EE6802"/>
          </a:solidFill>
          <a:ln>
            <a:solidFill>
              <a:schemeClr val="accent1">
                <a:shade val="95000"/>
                <a:satMod val="10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a</a:t>
            </a:r>
            <a:r>
              <a:rPr lang="en-US" baseline="-25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7" name="Connector 6"/>
          <p:cNvSpPr/>
          <p:nvPr/>
        </p:nvSpPr>
        <p:spPr>
          <a:xfrm>
            <a:off x="4419600" y="5715000"/>
            <a:ext cx="822960" cy="822960"/>
          </a:xfrm>
          <a:prstGeom prst="flowChartConnector">
            <a:avLst/>
          </a:prstGeom>
          <a:solidFill>
            <a:srgbClr val="72CEE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x</a:t>
            </a:r>
            <a:r>
              <a:rPr lang="en-US" baseline="-25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8" name="Connector 7"/>
          <p:cNvSpPr/>
          <p:nvPr/>
        </p:nvSpPr>
        <p:spPr>
          <a:xfrm>
            <a:off x="6096000" y="5715000"/>
            <a:ext cx="822960" cy="822960"/>
          </a:xfrm>
          <a:prstGeom prst="flowChartConnector">
            <a:avLst/>
          </a:prstGeom>
          <a:solidFill>
            <a:srgbClr val="72CEE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x</a:t>
            </a:r>
            <a:r>
              <a:rPr lang="en-US" baseline="-25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9" name="Connector 8"/>
          <p:cNvSpPr/>
          <p:nvPr/>
        </p:nvSpPr>
        <p:spPr>
          <a:xfrm>
            <a:off x="8610600" y="5715000"/>
            <a:ext cx="822960" cy="822960"/>
          </a:xfrm>
          <a:prstGeom prst="flowChartConnector">
            <a:avLst/>
          </a:prstGeom>
          <a:solidFill>
            <a:srgbClr val="72CEE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 err="1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x</a:t>
            </a:r>
            <a:r>
              <a:rPr lang="en-US" baseline="-25000" dirty="0" err="1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M</a:t>
            </a:r>
            <a:endParaRPr lang="en-US" baseline="-25000" dirty="0">
              <a:ln>
                <a:solidFill>
                  <a:schemeClr val="tx1"/>
                </a:solidFill>
              </a:ln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0" name="Connector 9"/>
          <p:cNvSpPr/>
          <p:nvPr/>
        </p:nvSpPr>
        <p:spPr>
          <a:xfrm>
            <a:off x="5791200" y="2174240"/>
            <a:ext cx="822960" cy="822960"/>
          </a:xfrm>
          <a:prstGeom prst="flowChartConnector">
            <a:avLst/>
          </a:prstGeom>
          <a:solidFill>
            <a:srgbClr val="E0D925"/>
          </a:solidFill>
          <a:ln>
            <a:solidFill>
              <a:schemeClr val="accent1">
                <a:shade val="95000"/>
                <a:satMod val="10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y</a:t>
            </a:r>
            <a:endParaRPr lang="en-US" baseline="-25000" dirty="0">
              <a:ln>
                <a:solidFill>
                  <a:schemeClr val="tx1"/>
                </a:solidFill>
              </a:ln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1" name="Connector 10"/>
          <p:cNvSpPr/>
          <p:nvPr/>
        </p:nvSpPr>
        <p:spPr>
          <a:xfrm>
            <a:off x="5166360" y="3761740"/>
            <a:ext cx="822960" cy="822960"/>
          </a:xfrm>
          <a:prstGeom prst="flowChartConnector">
            <a:avLst/>
          </a:prstGeom>
          <a:solidFill>
            <a:srgbClr val="EE6802"/>
          </a:solidFill>
          <a:ln>
            <a:solidFill>
              <a:schemeClr val="accent1">
                <a:shade val="95000"/>
                <a:satMod val="10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a</a:t>
            </a:r>
            <a:r>
              <a:rPr lang="en-US" baseline="-25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2" name="Connector 11"/>
          <p:cNvSpPr/>
          <p:nvPr/>
        </p:nvSpPr>
        <p:spPr>
          <a:xfrm>
            <a:off x="7543800" y="3761740"/>
            <a:ext cx="822960" cy="822960"/>
          </a:xfrm>
          <a:prstGeom prst="flowChartConnector">
            <a:avLst/>
          </a:prstGeom>
          <a:solidFill>
            <a:srgbClr val="EE6802"/>
          </a:solidFill>
          <a:ln>
            <a:solidFill>
              <a:schemeClr val="accent1">
                <a:shade val="95000"/>
                <a:satMod val="10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 err="1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a</a:t>
            </a:r>
            <a:r>
              <a:rPr lang="en-US" baseline="-25000" dirty="0" err="1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D</a:t>
            </a:r>
            <a:endParaRPr lang="en-US" baseline="-25000" dirty="0">
              <a:ln>
                <a:solidFill>
                  <a:schemeClr val="tx1"/>
                </a:solidFill>
              </a:ln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6537960" y="3837941"/>
            <a:ext cx="533400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600" b="1"/>
              <a:t>…</a:t>
            </a:r>
          </a:p>
        </p:txBody>
      </p:sp>
      <p:sp>
        <p:nvSpPr>
          <p:cNvPr id="15" name="TextBox 14"/>
          <p:cNvSpPr txBox="1">
            <a:spLocks noChangeArrowheads="1"/>
          </p:cNvSpPr>
          <p:nvPr/>
        </p:nvSpPr>
        <p:spPr bwMode="auto">
          <a:xfrm>
            <a:off x="7543800" y="5791201"/>
            <a:ext cx="533400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600" b="1"/>
              <a:t>…</a:t>
            </a:r>
          </a:p>
        </p:txBody>
      </p:sp>
      <p:cxnSp>
        <p:nvCxnSpPr>
          <p:cNvPr id="16" name="Straight Connector 15"/>
          <p:cNvCxnSpPr>
            <a:stCxn id="6" idx="4"/>
            <a:endCxn id="4" idx="0"/>
          </p:cNvCxnSpPr>
          <p:nvPr/>
        </p:nvCxnSpPr>
        <p:spPr>
          <a:xfrm rot="5400000">
            <a:off x="3191510" y="4700270"/>
            <a:ext cx="1130300" cy="899160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6" idx="4"/>
            <a:endCxn id="7" idx="0"/>
          </p:cNvCxnSpPr>
          <p:nvPr/>
        </p:nvCxnSpPr>
        <p:spPr>
          <a:xfrm rot="16200000" flipH="1">
            <a:off x="3953510" y="4837430"/>
            <a:ext cx="1130300" cy="624840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6" idx="4"/>
            <a:endCxn id="8" idx="0"/>
          </p:cNvCxnSpPr>
          <p:nvPr/>
        </p:nvCxnSpPr>
        <p:spPr>
          <a:xfrm rot="16200000" flipH="1">
            <a:off x="4791710" y="3999230"/>
            <a:ext cx="1130300" cy="2301240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6" idx="4"/>
            <a:endCxn id="9" idx="0"/>
          </p:cNvCxnSpPr>
          <p:nvPr/>
        </p:nvCxnSpPr>
        <p:spPr>
          <a:xfrm rot="16200000" flipH="1">
            <a:off x="6049010" y="2741930"/>
            <a:ext cx="1130300" cy="4815840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11" idx="4"/>
            <a:endCxn id="7" idx="0"/>
          </p:cNvCxnSpPr>
          <p:nvPr/>
        </p:nvCxnSpPr>
        <p:spPr>
          <a:xfrm rot="5400000">
            <a:off x="4639310" y="4776470"/>
            <a:ext cx="1130300" cy="746760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11" idx="4"/>
            <a:endCxn id="8" idx="0"/>
          </p:cNvCxnSpPr>
          <p:nvPr/>
        </p:nvCxnSpPr>
        <p:spPr>
          <a:xfrm rot="16200000" flipH="1">
            <a:off x="5477510" y="4685030"/>
            <a:ext cx="1130300" cy="929640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11" idx="4"/>
            <a:endCxn id="9" idx="0"/>
          </p:cNvCxnSpPr>
          <p:nvPr/>
        </p:nvCxnSpPr>
        <p:spPr>
          <a:xfrm rot="16200000" flipH="1">
            <a:off x="6734810" y="3427730"/>
            <a:ext cx="1130300" cy="3444240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12" idx="4"/>
            <a:endCxn id="4" idx="0"/>
          </p:cNvCxnSpPr>
          <p:nvPr/>
        </p:nvCxnSpPr>
        <p:spPr>
          <a:xfrm rot="5400000">
            <a:off x="5066030" y="2825750"/>
            <a:ext cx="1130300" cy="4648200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stCxn id="11" idx="4"/>
            <a:endCxn id="4" idx="0"/>
          </p:cNvCxnSpPr>
          <p:nvPr/>
        </p:nvCxnSpPr>
        <p:spPr>
          <a:xfrm rot="5400000">
            <a:off x="3877310" y="4014470"/>
            <a:ext cx="1130300" cy="2270760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12" idx="4"/>
            <a:endCxn id="7" idx="0"/>
          </p:cNvCxnSpPr>
          <p:nvPr/>
        </p:nvCxnSpPr>
        <p:spPr>
          <a:xfrm rot="5400000">
            <a:off x="5828030" y="3587750"/>
            <a:ext cx="1130300" cy="3124200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>
            <a:stCxn id="12" idx="4"/>
            <a:endCxn id="8" idx="0"/>
          </p:cNvCxnSpPr>
          <p:nvPr/>
        </p:nvCxnSpPr>
        <p:spPr>
          <a:xfrm rot="5400000">
            <a:off x="6666230" y="4425950"/>
            <a:ext cx="1130300" cy="1447800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12" idx="4"/>
            <a:endCxn id="9" idx="0"/>
          </p:cNvCxnSpPr>
          <p:nvPr/>
        </p:nvCxnSpPr>
        <p:spPr>
          <a:xfrm rot="16200000" flipH="1">
            <a:off x="7923530" y="4616450"/>
            <a:ext cx="1130300" cy="1066800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>
            <a:stCxn id="10" idx="4"/>
            <a:endCxn id="6" idx="0"/>
          </p:cNvCxnSpPr>
          <p:nvPr/>
        </p:nvCxnSpPr>
        <p:spPr>
          <a:xfrm rot="5400000">
            <a:off x="4822190" y="2381250"/>
            <a:ext cx="764540" cy="1996440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stCxn id="10" idx="4"/>
            <a:endCxn id="11" idx="0"/>
          </p:cNvCxnSpPr>
          <p:nvPr/>
        </p:nvCxnSpPr>
        <p:spPr>
          <a:xfrm rot="5400000">
            <a:off x="5507990" y="3067050"/>
            <a:ext cx="764540" cy="624840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>
            <a:stCxn id="10" idx="4"/>
            <a:endCxn id="12" idx="0"/>
          </p:cNvCxnSpPr>
          <p:nvPr/>
        </p:nvCxnSpPr>
        <p:spPr>
          <a:xfrm rot="16200000" flipH="1">
            <a:off x="6696710" y="2503170"/>
            <a:ext cx="764540" cy="1752600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74"/>
          <p:cNvSpPr txBox="1">
            <a:spLocks noChangeArrowheads="1"/>
          </p:cNvSpPr>
          <p:nvPr/>
        </p:nvSpPr>
        <p:spPr bwMode="auto">
          <a:xfrm>
            <a:off x="1948180" y="2362200"/>
            <a:ext cx="12954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dirty="0"/>
              <a:t>Output</a:t>
            </a:r>
          </a:p>
        </p:txBody>
      </p:sp>
      <p:sp>
        <p:nvSpPr>
          <p:cNvPr id="35" name="TextBox 75"/>
          <p:cNvSpPr txBox="1">
            <a:spLocks noChangeArrowheads="1"/>
          </p:cNvSpPr>
          <p:nvPr/>
        </p:nvSpPr>
        <p:spPr bwMode="auto">
          <a:xfrm>
            <a:off x="1524000" y="5943600"/>
            <a:ext cx="12954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Input</a:t>
            </a:r>
          </a:p>
        </p:txBody>
      </p:sp>
      <p:sp>
        <p:nvSpPr>
          <p:cNvPr id="36" name="TextBox 76"/>
          <p:cNvSpPr txBox="1">
            <a:spLocks noChangeArrowheads="1"/>
          </p:cNvSpPr>
          <p:nvPr/>
        </p:nvSpPr>
        <p:spPr bwMode="auto">
          <a:xfrm>
            <a:off x="1508760" y="3990340"/>
            <a:ext cx="20574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/>
              <a:t>Hidden Layer</a:t>
            </a:r>
          </a:p>
        </p:txBody>
      </p:sp>
      <p:sp>
        <p:nvSpPr>
          <p:cNvPr id="32" name="TextBox 76"/>
          <p:cNvSpPr txBox="1">
            <a:spLocks noChangeArrowheads="1"/>
          </p:cNvSpPr>
          <p:nvPr/>
        </p:nvSpPr>
        <p:spPr bwMode="auto">
          <a:xfrm>
            <a:off x="8763000" y="4295140"/>
            <a:ext cx="20574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/>
              <a:t>D &lt; M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E1B5A0-A011-45F4-BC0D-9E0061AD4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25A1A-304D-4317-A579-3A602804DB26}" type="datetime1">
              <a:rPr lang="en-US" smtClean="0"/>
              <a:t>2/10/2025</a:t>
            </a:fld>
            <a:endParaRPr 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1EBD9AA4-4391-42B5-8D02-BA6752133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</a:p>
        </p:txBody>
      </p:sp>
    </p:spTree>
    <p:extLst>
      <p:ext uri="{BB962C8B-B14F-4D97-AF65-F5344CB8AC3E}">
        <p14:creationId xmlns:p14="http://schemas.microsoft.com/office/powerpoint/2010/main" val="196672090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Building a Neural Net</a:t>
            </a:r>
          </a:p>
        </p:txBody>
      </p:sp>
      <p:sp>
        <p:nvSpPr>
          <p:cNvPr id="6" name="Connector 5"/>
          <p:cNvSpPr/>
          <p:nvPr/>
        </p:nvSpPr>
        <p:spPr>
          <a:xfrm>
            <a:off x="3794760" y="3761740"/>
            <a:ext cx="822960" cy="822960"/>
          </a:xfrm>
          <a:prstGeom prst="flowChartConnector">
            <a:avLst/>
          </a:prstGeom>
          <a:solidFill>
            <a:srgbClr val="EE6802"/>
          </a:solidFill>
          <a:ln>
            <a:solidFill>
              <a:schemeClr val="accent1">
                <a:shade val="95000"/>
                <a:satMod val="10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x</a:t>
            </a:r>
            <a:r>
              <a:rPr lang="en-US" baseline="-25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10" name="Connector 9"/>
          <p:cNvSpPr/>
          <p:nvPr/>
        </p:nvSpPr>
        <p:spPr>
          <a:xfrm>
            <a:off x="5791200" y="2174240"/>
            <a:ext cx="822960" cy="822960"/>
          </a:xfrm>
          <a:prstGeom prst="flowChartConnector">
            <a:avLst/>
          </a:prstGeom>
          <a:solidFill>
            <a:srgbClr val="E0D925"/>
          </a:solidFill>
          <a:ln>
            <a:solidFill>
              <a:schemeClr val="accent1">
                <a:shade val="95000"/>
                <a:satMod val="10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y</a:t>
            </a:r>
            <a:endParaRPr lang="en-US" baseline="-25000" dirty="0">
              <a:ln>
                <a:solidFill>
                  <a:schemeClr val="tx1"/>
                </a:solidFill>
              </a:ln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1" name="Connector 10"/>
          <p:cNvSpPr/>
          <p:nvPr/>
        </p:nvSpPr>
        <p:spPr>
          <a:xfrm>
            <a:off x="5166360" y="3761740"/>
            <a:ext cx="822960" cy="822960"/>
          </a:xfrm>
          <a:prstGeom prst="flowChartConnector">
            <a:avLst/>
          </a:prstGeom>
          <a:solidFill>
            <a:srgbClr val="EE6802"/>
          </a:solidFill>
          <a:ln>
            <a:solidFill>
              <a:schemeClr val="accent1">
                <a:shade val="95000"/>
                <a:satMod val="10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x</a:t>
            </a:r>
            <a:r>
              <a:rPr lang="en-US" baseline="-25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2" name="Connector 11"/>
          <p:cNvSpPr/>
          <p:nvPr/>
        </p:nvSpPr>
        <p:spPr>
          <a:xfrm>
            <a:off x="7543800" y="3761740"/>
            <a:ext cx="822960" cy="822960"/>
          </a:xfrm>
          <a:prstGeom prst="flowChartConnector">
            <a:avLst/>
          </a:prstGeom>
          <a:solidFill>
            <a:srgbClr val="EE6802"/>
          </a:solidFill>
          <a:ln>
            <a:solidFill>
              <a:schemeClr val="accent1">
                <a:shade val="95000"/>
                <a:satMod val="10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 err="1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x</a:t>
            </a:r>
            <a:r>
              <a:rPr lang="en-US" baseline="-25000" dirty="0" err="1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M</a:t>
            </a:r>
            <a:endParaRPr lang="en-US" baseline="-25000" dirty="0">
              <a:ln>
                <a:solidFill>
                  <a:schemeClr val="tx1"/>
                </a:solidFill>
              </a:ln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6537960" y="3837941"/>
            <a:ext cx="533400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600" b="1"/>
              <a:t>…</a:t>
            </a:r>
          </a:p>
        </p:txBody>
      </p:sp>
      <p:cxnSp>
        <p:nvCxnSpPr>
          <p:cNvPr id="28" name="Straight Connector 27"/>
          <p:cNvCxnSpPr>
            <a:stCxn id="10" idx="4"/>
            <a:endCxn id="6" idx="0"/>
          </p:cNvCxnSpPr>
          <p:nvPr/>
        </p:nvCxnSpPr>
        <p:spPr>
          <a:xfrm rot="5400000">
            <a:off x="4822190" y="2381250"/>
            <a:ext cx="764540" cy="1996440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stCxn id="10" idx="4"/>
            <a:endCxn id="11" idx="0"/>
          </p:cNvCxnSpPr>
          <p:nvPr/>
        </p:nvCxnSpPr>
        <p:spPr>
          <a:xfrm rot="5400000">
            <a:off x="5507990" y="3067050"/>
            <a:ext cx="764540" cy="624840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>
            <a:stCxn id="10" idx="4"/>
            <a:endCxn id="12" idx="0"/>
          </p:cNvCxnSpPr>
          <p:nvPr/>
        </p:nvCxnSpPr>
        <p:spPr>
          <a:xfrm rot="16200000" flipH="1">
            <a:off x="6696710" y="2503170"/>
            <a:ext cx="764540" cy="1752600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74"/>
          <p:cNvSpPr txBox="1">
            <a:spLocks noChangeArrowheads="1"/>
          </p:cNvSpPr>
          <p:nvPr/>
        </p:nvSpPr>
        <p:spPr bwMode="auto">
          <a:xfrm>
            <a:off x="1948180" y="2362200"/>
            <a:ext cx="12954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dirty="0"/>
              <a:t>Output</a:t>
            </a:r>
          </a:p>
        </p:txBody>
      </p:sp>
      <p:sp>
        <p:nvSpPr>
          <p:cNvPr id="36" name="TextBox 76"/>
          <p:cNvSpPr txBox="1">
            <a:spLocks noChangeArrowheads="1"/>
          </p:cNvSpPr>
          <p:nvPr/>
        </p:nvSpPr>
        <p:spPr bwMode="auto">
          <a:xfrm>
            <a:off x="1508760" y="3990340"/>
            <a:ext cx="20574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/>
              <a:t>Features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F1A27F-48ED-4FC3-8C19-9303D3998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65D89-1802-4F91-85E7-E637C5ABAC00}" type="datetime1">
              <a:rPr lang="en-US" smtClean="0"/>
              <a:t>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E273B5-9059-490B-AD30-751056564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</a:p>
        </p:txBody>
      </p:sp>
    </p:spTree>
    <p:extLst>
      <p:ext uri="{BB962C8B-B14F-4D97-AF65-F5344CB8AC3E}">
        <p14:creationId xmlns:p14="http://schemas.microsoft.com/office/powerpoint/2010/main" val="95741440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Boundary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0 hidden layers: linear classifier</a:t>
            </a:r>
          </a:p>
          <a:p>
            <a:pPr lvl="1"/>
            <a:r>
              <a:rPr lang="en-US" dirty="0" err="1"/>
              <a:t>Hyperplanes</a:t>
            </a:r>
            <a:endParaRPr lang="en-US" dirty="0"/>
          </a:p>
        </p:txBody>
      </p:sp>
      <p:sp>
        <p:nvSpPr>
          <p:cNvPr id="5" name="Oval 16"/>
          <p:cNvSpPr>
            <a:spLocks noChangeArrowheads="1"/>
          </p:cNvSpPr>
          <p:nvPr/>
        </p:nvSpPr>
        <p:spPr bwMode="auto">
          <a:xfrm rot="16200000">
            <a:off x="2474119" y="3209131"/>
            <a:ext cx="395288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Line 17"/>
          <p:cNvSpPr>
            <a:spLocks noChangeShapeType="1"/>
          </p:cNvSpPr>
          <p:nvPr/>
        </p:nvSpPr>
        <p:spPr bwMode="auto">
          <a:xfrm rot="16200000">
            <a:off x="2141538" y="3862387"/>
            <a:ext cx="67945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Line 18"/>
          <p:cNvSpPr>
            <a:spLocks noChangeShapeType="1"/>
          </p:cNvSpPr>
          <p:nvPr/>
        </p:nvSpPr>
        <p:spPr bwMode="auto">
          <a:xfrm rot="16200000" flipV="1">
            <a:off x="2522538" y="3862387"/>
            <a:ext cx="67945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Oval 42"/>
          <p:cNvSpPr>
            <a:spLocks noChangeArrowheads="1"/>
          </p:cNvSpPr>
          <p:nvPr/>
        </p:nvSpPr>
        <p:spPr bwMode="auto">
          <a:xfrm rot="16200000">
            <a:off x="2089945" y="4280694"/>
            <a:ext cx="395287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Oval 43"/>
          <p:cNvSpPr>
            <a:spLocks noChangeArrowheads="1"/>
          </p:cNvSpPr>
          <p:nvPr/>
        </p:nvSpPr>
        <p:spPr bwMode="auto">
          <a:xfrm rot="16200000">
            <a:off x="2853533" y="4280694"/>
            <a:ext cx="395287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graphicFrame>
        <p:nvGraphicFramePr>
          <p:cNvPr id="10" name="Object 44"/>
          <p:cNvGraphicFramePr>
            <a:graphicFrameLocks noChangeAspect="1"/>
          </p:cNvGraphicFramePr>
          <p:nvPr/>
        </p:nvGraphicFramePr>
        <p:xfrm>
          <a:off x="2482852" y="3281363"/>
          <a:ext cx="388937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9680" imgH="164880" progId="Equation.3">
                  <p:embed/>
                </p:oleObj>
              </mc:Choice>
              <mc:Fallback>
                <p:oleObj name="Equation" r:id="rId2" imgW="139680" imgH="164880" progId="Equation.3">
                  <p:embed/>
                  <p:pic>
                    <p:nvPicPr>
                      <p:cNvPr id="10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2852" y="3281363"/>
                        <a:ext cx="388937" cy="455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46"/>
          <p:cNvGraphicFramePr>
            <a:graphicFrameLocks noChangeAspect="1"/>
          </p:cNvGraphicFramePr>
          <p:nvPr/>
        </p:nvGraphicFramePr>
        <p:xfrm>
          <a:off x="2100264" y="4214812"/>
          <a:ext cx="422275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2280" imgH="215640" progId="Equation.3">
                  <p:embed/>
                </p:oleObj>
              </mc:Choice>
              <mc:Fallback>
                <p:oleObj name="Equation" r:id="rId4" imgW="152280" imgH="215640" progId="Equation.3">
                  <p:embed/>
                  <p:pic>
                    <p:nvPicPr>
                      <p:cNvPr id="11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0264" y="4214812"/>
                        <a:ext cx="422275" cy="596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47"/>
          <p:cNvGraphicFramePr>
            <a:graphicFrameLocks noChangeAspect="1"/>
          </p:cNvGraphicFramePr>
          <p:nvPr/>
        </p:nvGraphicFramePr>
        <p:xfrm>
          <a:off x="2836863" y="4208462"/>
          <a:ext cx="458788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4880" imgH="215640" progId="Equation.3">
                  <p:embed/>
                </p:oleObj>
              </mc:Choice>
              <mc:Fallback>
                <p:oleObj name="Equation" r:id="rId6" imgW="164880" imgH="215640" progId="Equation.3">
                  <p:embed/>
                  <p:pic>
                    <p:nvPicPr>
                      <p:cNvPr id="12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6863" y="4208462"/>
                        <a:ext cx="458788" cy="596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Group 53"/>
          <p:cNvGrpSpPr>
            <a:grpSpLocks/>
          </p:cNvGrpSpPr>
          <p:nvPr/>
        </p:nvGrpSpPr>
        <p:grpSpPr bwMode="auto">
          <a:xfrm>
            <a:off x="3657600" y="3352800"/>
            <a:ext cx="6477000" cy="1752600"/>
            <a:chOff x="432" y="1536"/>
            <a:chExt cx="4080" cy="1104"/>
          </a:xfrm>
        </p:grpSpPr>
        <p:grpSp>
          <p:nvGrpSpPr>
            <p:cNvPr id="14" name="Group 54"/>
            <p:cNvGrpSpPr>
              <a:grpSpLocks/>
            </p:cNvGrpSpPr>
            <p:nvPr/>
          </p:nvGrpSpPr>
          <p:grpSpPr bwMode="auto">
            <a:xfrm>
              <a:off x="432" y="1536"/>
              <a:ext cx="1056" cy="1104"/>
              <a:chOff x="432" y="1536"/>
              <a:chExt cx="1056" cy="1104"/>
            </a:xfrm>
          </p:grpSpPr>
          <p:sp>
            <p:nvSpPr>
              <p:cNvPr id="21" name="Oval 55"/>
              <p:cNvSpPr>
                <a:spLocks noChangeArrowheads="1"/>
              </p:cNvSpPr>
              <p:nvPr/>
            </p:nvSpPr>
            <p:spPr bwMode="auto">
              <a:xfrm>
                <a:off x="576" y="1680"/>
                <a:ext cx="240" cy="24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" name="Oval 56"/>
              <p:cNvSpPr>
                <a:spLocks noChangeArrowheads="1"/>
              </p:cNvSpPr>
              <p:nvPr/>
            </p:nvSpPr>
            <p:spPr bwMode="auto">
              <a:xfrm>
                <a:off x="1104" y="1680"/>
                <a:ext cx="240" cy="240"/>
              </a:xfrm>
              <a:prstGeom prst="ellipse">
                <a:avLst/>
              </a:prstGeom>
              <a:solidFill>
                <a:schemeClr val="bg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3" name="Oval 57"/>
              <p:cNvSpPr>
                <a:spLocks noChangeArrowheads="1"/>
              </p:cNvSpPr>
              <p:nvPr/>
            </p:nvSpPr>
            <p:spPr bwMode="auto">
              <a:xfrm>
                <a:off x="1104" y="2256"/>
                <a:ext cx="240" cy="24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4" name="Oval 58"/>
              <p:cNvSpPr>
                <a:spLocks noChangeArrowheads="1"/>
              </p:cNvSpPr>
              <p:nvPr/>
            </p:nvSpPr>
            <p:spPr bwMode="auto">
              <a:xfrm>
                <a:off x="576" y="2256"/>
                <a:ext cx="240" cy="240"/>
              </a:xfrm>
              <a:prstGeom prst="ellipse">
                <a:avLst/>
              </a:prstGeom>
              <a:solidFill>
                <a:schemeClr val="bg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5" name="Rectangle 59"/>
              <p:cNvSpPr>
                <a:spLocks noChangeArrowheads="1"/>
              </p:cNvSpPr>
              <p:nvPr/>
            </p:nvSpPr>
            <p:spPr bwMode="auto">
              <a:xfrm>
                <a:off x="432" y="1536"/>
                <a:ext cx="1056" cy="110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15" name="Group 60"/>
            <p:cNvGrpSpPr>
              <a:grpSpLocks/>
            </p:cNvGrpSpPr>
            <p:nvPr/>
          </p:nvGrpSpPr>
          <p:grpSpPr bwMode="auto">
            <a:xfrm>
              <a:off x="1680" y="1536"/>
              <a:ext cx="1488" cy="1104"/>
              <a:chOff x="1728" y="1536"/>
              <a:chExt cx="1488" cy="1104"/>
            </a:xfrm>
          </p:grpSpPr>
          <p:grpSp>
            <p:nvGrpSpPr>
              <p:cNvPr id="17" name="Group 61"/>
              <p:cNvGrpSpPr>
                <a:grpSpLocks/>
              </p:cNvGrpSpPr>
              <p:nvPr/>
            </p:nvGrpSpPr>
            <p:grpSpPr bwMode="auto">
              <a:xfrm>
                <a:off x="1823" y="1778"/>
                <a:ext cx="1247" cy="625"/>
                <a:chOff x="1872" y="1824"/>
                <a:chExt cx="1728" cy="864"/>
              </a:xfrm>
            </p:grpSpPr>
            <p:sp>
              <p:nvSpPr>
                <p:cNvPr id="19" name="AutoShape 62"/>
                <p:cNvSpPr>
                  <a:spLocks noChangeArrowheads="1"/>
                </p:cNvSpPr>
                <p:nvPr/>
              </p:nvSpPr>
              <p:spPr bwMode="auto">
                <a:xfrm>
                  <a:off x="1872" y="1824"/>
                  <a:ext cx="672" cy="480"/>
                </a:xfrm>
                <a:prstGeom prst="moon">
                  <a:avLst>
                    <a:gd name="adj" fmla="val 50000"/>
                  </a:avLst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0" name="AutoShape 63"/>
                <p:cNvSpPr>
                  <a:spLocks noChangeArrowheads="1"/>
                </p:cNvSpPr>
                <p:nvPr/>
              </p:nvSpPr>
              <p:spPr bwMode="auto">
                <a:xfrm flipH="1">
                  <a:off x="2448" y="2064"/>
                  <a:ext cx="1152" cy="624"/>
                </a:xfrm>
                <a:prstGeom prst="moon">
                  <a:avLst>
                    <a:gd name="adj" fmla="val 50000"/>
                  </a:avLst>
                </a:prstGeom>
                <a:solidFill>
                  <a:schemeClr val="bg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18" name="Rectangle 64"/>
              <p:cNvSpPr>
                <a:spLocks noChangeArrowheads="1"/>
              </p:cNvSpPr>
              <p:nvPr/>
            </p:nvSpPr>
            <p:spPr bwMode="auto">
              <a:xfrm>
                <a:off x="1728" y="1536"/>
                <a:ext cx="1488" cy="110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16" name="Rectangle 65"/>
            <p:cNvSpPr>
              <a:spLocks noChangeArrowheads="1"/>
            </p:cNvSpPr>
            <p:nvPr/>
          </p:nvSpPr>
          <p:spPr bwMode="auto">
            <a:xfrm>
              <a:off x="3360" y="1536"/>
              <a:ext cx="1152" cy="110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6" name="Line 66"/>
          <p:cNvSpPr>
            <a:spLocks noChangeShapeType="1"/>
          </p:cNvSpPr>
          <p:nvPr/>
        </p:nvSpPr>
        <p:spPr bwMode="auto">
          <a:xfrm flipV="1">
            <a:off x="3657600" y="3352800"/>
            <a:ext cx="1066800" cy="1295400"/>
          </a:xfrm>
          <a:prstGeom prst="line">
            <a:avLst/>
          </a:prstGeom>
          <a:noFill/>
          <a:ln w="57150" cap="rnd">
            <a:solidFill>
              <a:srgbClr val="FF0000"/>
            </a:solidFill>
            <a:prstDash val="sysDot"/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7" name="Line 67"/>
          <p:cNvSpPr>
            <a:spLocks noChangeShapeType="1"/>
          </p:cNvSpPr>
          <p:nvPr/>
        </p:nvSpPr>
        <p:spPr bwMode="auto">
          <a:xfrm flipV="1">
            <a:off x="6096000" y="3352800"/>
            <a:ext cx="914400" cy="1752600"/>
          </a:xfrm>
          <a:prstGeom prst="line">
            <a:avLst/>
          </a:prstGeom>
          <a:noFill/>
          <a:ln w="57150" cap="rnd">
            <a:solidFill>
              <a:srgbClr val="FF0000"/>
            </a:solidFill>
            <a:prstDash val="sysDot"/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8" name="Line 68"/>
          <p:cNvSpPr>
            <a:spLocks noChangeShapeType="1"/>
          </p:cNvSpPr>
          <p:nvPr/>
        </p:nvSpPr>
        <p:spPr bwMode="auto">
          <a:xfrm>
            <a:off x="8991600" y="3352800"/>
            <a:ext cx="457200" cy="1752600"/>
          </a:xfrm>
          <a:prstGeom prst="line">
            <a:avLst/>
          </a:prstGeom>
          <a:noFill/>
          <a:ln w="57150" cap="rnd">
            <a:solidFill>
              <a:srgbClr val="FF0000"/>
            </a:solidFill>
            <a:prstDash val="sysDot"/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30" name="Date Placeholder 29">
            <a:extLst>
              <a:ext uri="{FF2B5EF4-FFF2-40B4-BE49-F238E27FC236}">
                <a16:creationId xmlns:a16="http://schemas.microsoft.com/office/drawing/2014/main" id="{D6A4351F-145D-46DA-9ED3-7A12F107C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B7772-BBAF-41B9-BB94-3D81923DCED2}" type="datetime1">
              <a:rPr lang="en-US" smtClean="0"/>
              <a:t>2/10/2025</a:t>
            </a:fld>
            <a:endParaRPr lang="en-US"/>
          </a:p>
        </p:txBody>
      </p:sp>
      <p:sp>
        <p:nvSpPr>
          <p:cNvPr id="31" name="Footer Placeholder 30">
            <a:extLst>
              <a:ext uri="{FF2B5EF4-FFF2-40B4-BE49-F238E27FC236}">
                <a16:creationId xmlns:a16="http://schemas.microsoft.com/office/drawing/2014/main" id="{ED27B5E8-AB0C-4F80-B665-5919F1431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</a:p>
        </p:txBody>
      </p:sp>
    </p:spTree>
    <p:extLst>
      <p:ext uri="{BB962C8B-B14F-4D97-AF65-F5344CB8AC3E}">
        <p14:creationId xmlns:p14="http://schemas.microsoft.com/office/powerpoint/2010/main" val="90387266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Boundary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 hidden layer</a:t>
            </a:r>
          </a:p>
          <a:p>
            <a:pPr lvl="1"/>
            <a:r>
              <a:rPr lang="en-US" dirty="0"/>
              <a:t>Boundary of convex region (open or closed) </a:t>
            </a:r>
          </a:p>
          <a:p>
            <a:endParaRPr lang="en-US" dirty="0"/>
          </a:p>
        </p:txBody>
      </p:sp>
      <p:sp>
        <p:nvSpPr>
          <p:cNvPr id="5" name="Oval 24"/>
          <p:cNvSpPr>
            <a:spLocks noChangeArrowheads="1"/>
          </p:cNvSpPr>
          <p:nvPr/>
        </p:nvSpPr>
        <p:spPr bwMode="auto">
          <a:xfrm rot="16200000">
            <a:off x="2318920" y="2956719"/>
            <a:ext cx="395288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Line 25"/>
          <p:cNvSpPr>
            <a:spLocks noChangeShapeType="1"/>
          </p:cNvSpPr>
          <p:nvPr/>
        </p:nvSpPr>
        <p:spPr bwMode="auto">
          <a:xfrm rot="16200000">
            <a:off x="1986339" y="3609975"/>
            <a:ext cx="67945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Line 26"/>
          <p:cNvSpPr>
            <a:spLocks noChangeShapeType="1"/>
          </p:cNvSpPr>
          <p:nvPr/>
        </p:nvSpPr>
        <p:spPr bwMode="auto">
          <a:xfrm rot="16200000" flipV="1">
            <a:off x="2367339" y="3609975"/>
            <a:ext cx="67945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Oval 27"/>
          <p:cNvSpPr>
            <a:spLocks noChangeArrowheads="1"/>
          </p:cNvSpPr>
          <p:nvPr/>
        </p:nvSpPr>
        <p:spPr bwMode="auto">
          <a:xfrm rot="16200000">
            <a:off x="1937921" y="4031457"/>
            <a:ext cx="395287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Oval 28"/>
          <p:cNvSpPr>
            <a:spLocks noChangeArrowheads="1"/>
          </p:cNvSpPr>
          <p:nvPr/>
        </p:nvSpPr>
        <p:spPr bwMode="auto">
          <a:xfrm rot="16200000">
            <a:off x="2699921" y="4031457"/>
            <a:ext cx="395287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Line 35"/>
          <p:cNvSpPr>
            <a:spLocks noChangeShapeType="1"/>
          </p:cNvSpPr>
          <p:nvPr/>
        </p:nvSpPr>
        <p:spPr bwMode="auto">
          <a:xfrm rot="16200000">
            <a:off x="1756152" y="4838700"/>
            <a:ext cx="6794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Line 36"/>
          <p:cNvSpPr>
            <a:spLocks noChangeShapeType="1"/>
          </p:cNvSpPr>
          <p:nvPr/>
        </p:nvSpPr>
        <p:spPr bwMode="auto">
          <a:xfrm rot="16200000" flipV="1">
            <a:off x="2213352" y="4457700"/>
            <a:ext cx="67945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Line 37"/>
          <p:cNvSpPr>
            <a:spLocks noChangeShapeType="1"/>
          </p:cNvSpPr>
          <p:nvPr/>
        </p:nvSpPr>
        <p:spPr bwMode="auto">
          <a:xfrm rot="16200000">
            <a:off x="2137152" y="4457700"/>
            <a:ext cx="67945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Line 38"/>
          <p:cNvSpPr>
            <a:spLocks noChangeShapeType="1"/>
          </p:cNvSpPr>
          <p:nvPr/>
        </p:nvSpPr>
        <p:spPr bwMode="auto">
          <a:xfrm rot="16200000" flipV="1">
            <a:off x="2594352" y="4838700"/>
            <a:ext cx="6794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Oval 39"/>
          <p:cNvSpPr>
            <a:spLocks noChangeArrowheads="1"/>
          </p:cNvSpPr>
          <p:nvPr/>
        </p:nvSpPr>
        <p:spPr bwMode="auto">
          <a:xfrm rot="16200000">
            <a:off x="1934746" y="5107782"/>
            <a:ext cx="395287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Oval 40"/>
          <p:cNvSpPr>
            <a:spLocks noChangeArrowheads="1"/>
          </p:cNvSpPr>
          <p:nvPr/>
        </p:nvSpPr>
        <p:spPr bwMode="auto">
          <a:xfrm rot="16200000">
            <a:off x="2698334" y="5107782"/>
            <a:ext cx="395287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graphicFrame>
        <p:nvGraphicFramePr>
          <p:cNvPr id="16" name="Object 41"/>
          <p:cNvGraphicFramePr>
            <a:graphicFrameLocks noChangeAspect="1"/>
          </p:cNvGraphicFramePr>
          <p:nvPr/>
        </p:nvGraphicFramePr>
        <p:xfrm>
          <a:off x="2327653" y="3028951"/>
          <a:ext cx="388937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39680" imgH="164880" progId="Equation.3">
                  <p:embed/>
                </p:oleObj>
              </mc:Choice>
              <mc:Fallback>
                <p:oleObj name="Equation" r:id="rId3" imgW="139680" imgH="164880" progId="Equation.3">
                  <p:embed/>
                  <p:pic>
                    <p:nvPicPr>
                      <p:cNvPr id="16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7653" y="3028951"/>
                        <a:ext cx="388937" cy="455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42"/>
          <p:cNvGraphicFramePr>
            <a:graphicFrameLocks noChangeAspect="1"/>
          </p:cNvGraphicFramePr>
          <p:nvPr/>
        </p:nvGraphicFramePr>
        <p:xfrm>
          <a:off x="1945065" y="5041900"/>
          <a:ext cx="422275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52280" imgH="215640" progId="Equation.3">
                  <p:embed/>
                </p:oleObj>
              </mc:Choice>
              <mc:Fallback>
                <p:oleObj name="Equation" r:id="rId5" imgW="152280" imgH="215640" progId="Equation.3">
                  <p:embed/>
                  <p:pic>
                    <p:nvPicPr>
                      <p:cNvPr id="17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5065" y="5041900"/>
                        <a:ext cx="422275" cy="596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43"/>
          <p:cNvGraphicFramePr>
            <a:graphicFrameLocks noChangeAspect="1"/>
          </p:cNvGraphicFramePr>
          <p:nvPr/>
        </p:nvGraphicFramePr>
        <p:xfrm>
          <a:off x="2681664" y="5035550"/>
          <a:ext cx="458788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64880" imgH="215640" progId="Equation.3">
                  <p:embed/>
                </p:oleObj>
              </mc:Choice>
              <mc:Fallback>
                <p:oleObj name="Equation" r:id="rId7" imgW="164880" imgH="215640" progId="Equation.3">
                  <p:embed/>
                  <p:pic>
                    <p:nvPicPr>
                      <p:cNvPr id="18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1664" y="5035550"/>
                        <a:ext cx="458788" cy="596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9" name="Group 45"/>
          <p:cNvGrpSpPr>
            <a:grpSpLocks/>
          </p:cNvGrpSpPr>
          <p:nvPr/>
        </p:nvGrpSpPr>
        <p:grpSpPr bwMode="auto">
          <a:xfrm>
            <a:off x="3657600" y="3352800"/>
            <a:ext cx="6477000" cy="1752600"/>
            <a:chOff x="432" y="1536"/>
            <a:chExt cx="4080" cy="1104"/>
          </a:xfrm>
        </p:grpSpPr>
        <p:grpSp>
          <p:nvGrpSpPr>
            <p:cNvPr id="20" name="Group 46"/>
            <p:cNvGrpSpPr>
              <a:grpSpLocks/>
            </p:cNvGrpSpPr>
            <p:nvPr/>
          </p:nvGrpSpPr>
          <p:grpSpPr bwMode="auto">
            <a:xfrm>
              <a:off x="432" y="1536"/>
              <a:ext cx="1056" cy="1104"/>
              <a:chOff x="432" y="1536"/>
              <a:chExt cx="1056" cy="1104"/>
            </a:xfrm>
          </p:grpSpPr>
          <p:sp>
            <p:nvSpPr>
              <p:cNvPr id="27" name="Oval 47"/>
              <p:cNvSpPr>
                <a:spLocks noChangeArrowheads="1"/>
              </p:cNvSpPr>
              <p:nvPr/>
            </p:nvSpPr>
            <p:spPr bwMode="auto">
              <a:xfrm>
                <a:off x="576" y="1680"/>
                <a:ext cx="240" cy="24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8" name="Oval 48"/>
              <p:cNvSpPr>
                <a:spLocks noChangeArrowheads="1"/>
              </p:cNvSpPr>
              <p:nvPr/>
            </p:nvSpPr>
            <p:spPr bwMode="auto">
              <a:xfrm>
                <a:off x="1104" y="1680"/>
                <a:ext cx="240" cy="240"/>
              </a:xfrm>
              <a:prstGeom prst="ellipse">
                <a:avLst/>
              </a:prstGeom>
              <a:solidFill>
                <a:schemeClr val="bg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9" name="Oval 49"/>
              <p:cNvSpPr>
                <a:spLocks noChangeArrowheads="1"/>
              </p:cNvSpPr>
              <p:nvPr/>
            </p:nvSpPr>
            <p:spPr bwMode="auto">
              <a:xfrm>
                <a:off x="1104" y="2256"/>
                <a:ext cx="240" cy="24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0" name="Oval 50"/>
              <p:cNvSpPr>
                <a:spLocks noChangeArrowheads="1"/>
              </p:cNvSpPr>
              <p:nvPr/>
            </p:nvSpPr>
            <p:spPr bwMode="auto">
              <a:xfrm>
                <a:off x="576" y="2256"/>
                <a:ext cx="240" cy="240"/>
              </a:xfrm>
              <a:prstGeom prst="ellipse">
                <a:avLst/>
              </a:prstGeom>
              <a:solidFill>
                <a:schemeClr val="bg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1" name="Rectangle 51"/>
              <p:cNvSpPr>
                <a:spLocks noChangeArrowheads="1"/>
              </p:cNvSpPr>
              <p:nvPr/>
            </p:nvSpPr>
            <p:spPr bwMode="auto">
              <a:xfrm>
                <a:off x="432" y="1536"/>
                <a:ext cx="1056" cy="110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21" name="Group 52"/>
            <p:cNvGrpSpPr>
              <a:grpSpLocks/>
            </p:cNvGrpSpPr>
            <p:nvPr/>
          </p:nvGrpSpPr>
          <p:grpSpPr bwMode="auto">
            <a:xfrm>
              <a:off x="1680" y="1536"/>
              <a:ext cx="1488" cy="1104"/>
              <a:chOff x="1728" y="1536"/>
              <a:chExt cx="1488" cy="1104"/>
            </a:xfrm>
          </p:grpSpPr>
          <p:grpSp>
            <p:nvGrpSpPr>
              <p:cNvPr id="23" name="Group 53"/>
              <p:cNvGrpSpPr>
                <a:grpSpLocks/>
              </p:cNvGrpSpPr>
              <p:nvPr/>
            </p:nvGrpSpPr>
            <p:grpSpPr bwMode="auto">
              <a:xfrm>
                <a:off x="1823" y="1778"/>
                <a:ext cx="1247" cy="625"/>
                <a:chOff x="1872" y="1824"/>
                <a:chExt cx="1728" cy="864"/>
              </a:xfrm>
            </p:grpSpPr>
            <p:sp>
              <p:nvSpPr>
                <p:cNvPr id="25" name="AutoShape 54"/>
                <p:cNvSpPr>
                  <a:spLocks noChangeArrowheads="1"/>
                </p:cNvSpPr>
                <p:nvPr/>
              </p:nvSpPr>
              <p:spPr bwMode="auto">
                <a:xfrm>
                  <a:off x="1872" y="1824"/>
                  <a:ext cx="672" cy="480"/>
                </a:xfrm>
                <a:prstGeom prst="moon">
                  <a:avLst>
                    <a:gd name="adj" fmla="val 50000"/>
                  </a:avLst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6" name="AutoShape 55"/>
                <p:cNvSpPr>
                  <a:spLocks noChangeArrowheads="1"/>
                </p:cNvSpPr>
                <p:nvPr/>
              </p:nvSpPr>
              <p:spPr bwMode="auto">
                <a:xfrm flipH="1">
                  <a:off x="2448" y="2064"/>
                  <a:ext cx="1152" cy="624"/>
                </a:xfrm>
                <a:prstGeom prst="moon">
                  <a:avLst>
                    <a:gd name="adj" fmla="val 50000"/>
                  </a:avLst>
                </a:prstGeom>
                <a:solidFill>
                  <a:schemeClr val="bg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24" name="Rectangle 56"/>
              <p:cNvSpPr>
                <a:spLocks noChangeArrowheads="1"/>
              </p:cNvSpPr>
              <p:nvPr/>
            </p:nvSpPr>
            <p:spPr bwMode="auto">
              <a:xfrm>
                <a:off x="1728" y="1536"/>
                <a:ext cx="1488" cy="110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22" name="Rectangle 57"/>
            <p:cNvSpPr>
              <a:spLocks noChangeArrowheads="1"/>
            </p:cNvSpPr>
            <p:nvPr/>
          </p:nvSpPr>
          <p:spPr bwMode="auto">
            <a:xfrm>
              <a:off x="3360" y="1536"/>
              <a:ext cx="1152" cy="110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32" name="Rectangle 58"/>
          <p:cNvSpPr>
            <a:spLocks noChangeArrowheads="1"/>
          </p:cNvSpPr>
          <p:nvPr/>
        </p:nvSpPr>
        <p:spPr bwMode="auto">
          <a:xfrm rot="2848167">
            <a:off x="4152900" y="3314700"/>
            <a:ext cx="685800" cy="1828800"/>
          </a:xfrm>
          <a:prstGeom prst="rect">
            <a:avLst/>
          </a:prstGeom>
          <a:noFill/>
          <a:ln w="57150" cap="rnd">
            <a:solidFill>
              <a:srgbClr val="FF0000"/>
            </a:solidFill>
            <a:prstDash val="sysDot"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3" name="Freeform 59"/>
          <p:cNvSpPr>
            <a:spLocks/>
          </p:cNvSpPr>
          <p:nvPr/>
        </p:nvSpPr>
        <p:spPr bwMode="auto">
          <a:xfrm>
            <a:off x="6388100" y="3352800"/>
            <a:ext cx="558800" cy="1752600"/>
          </a:xfrm>
          <a:custGeom>
            <a:avLst/>
            <a:gdLst/>
            <a:ahLst/>
            <a:cxnLst>
              <a:cxn ang="0">
                <a:pos x="344" y="0"/>
              </a:cxn>
              <a:cxn ang="0">
                <a:pos x="8" y="384"/>
              </a:cxn>
              <a:cxn ang="0">
                <a:pos x="296" y="912"/>
              </a:cxn>
              <a:cxn ang="0">
                <a:pos x="344" y="1104"/>
              </a:cxn>
            </a:cxnLst>
            <a:rect l="0" t="0" r="r" b="b"/>
            <a:pathLst>
              <a:path w="352" h="1104">
                <a:moveTo>
                  <a:pt x="344" y="0"/>
                </a:moveTo>
                <a:cubicBezTo>
                  <a:pt x="180" y="116"/>
                  <a:pt x="16" y="232"/>
                  <a:pt x="8" y="384"/>
                </a:cubicBezTo>
                <a:cubicBezTo>
                  <a:pt x="0" y="536"/>
                  <a:pt x="240" y="792"/>
                  <a:pt x="296" y="912"/>
                </a:cubicBezTo>
                <a:cubicBezTo>
                  <a:pt x="352" y="1032"/>
                  <a:pt x="348" y="1068"/>
                  <a:pt x="344" y="1104"/>
                </a:cubicBezTo>
              </a:path>
            </a:pathLst>
          </a:custGeom>
          <a:noFill/>
          <a:ln w="57150" cap="rnd" cmpd="sng">
            <a:solidFill>
              <a:srgbClr val="FF0000"/>
            </a:solidFill>
            <a:prstDash val="sysDot"/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4" name="Freeform 60"/>
          <p:cNvSpPr>
            <a:spLocks/>
          </p:cNvSpPr>
          <p:nvPr/>
        </p:nvSpPr>
        <p:spPr bwMode="auto">
          <a:xfrm>
            <a:off x="8915400" y="3352800"/>
            <a:ext cx="533400" cy="1752600"/>
          </a:xfrm>
          <a:custGeom>
            <a:avLst/>
            <a:gdLst/>
            <a:ahLst/>
            <a:cxnLst>
              <a:cxn ang="0">
                <a:pos x="336" y="0"/>
              </a:cxn>
              <a:cxn ang="0">
                <a:pos x="96" y="384"/>
              </a:cxn>
              <a:cxn ang="0">
                <a:pos x="96" y="864"/>
              </a:cxn>
              <a:cxn ang="0">
                <a:pos x="0" y="1104"/>
              </a:cxn>
            </a:cxnLst>
            <a:rect l="0" t="0" r="r" b="b"/>
            <a:pathLst>
              <a:path w="336" h="1104">
                <a:moveTo>
                  <a:pt x="336" y="0"/>
                </a:moveTo>
                <a:cubicBezTo>
                  <a:pt x="236" y="120"/>
                  <a:pt x="136" y="240"/>
                  <a:pt x="96" y="384"/>
                </a:cubicBezTo>
                <a:cubicBezTo>
                  <a:pt x="56" y="528"/>
                  <a:pt x="112" y="744"/>
                  <a:pt x="96" y="864"/>
                </a:cubicBezTo>
                <a:cubicBezTo>
                  <a:pt x="80" y="984"/>
                  <a:pt x="40" y="1044"/>
                  <a:pt x="0" y="1104"/>
                </a:cubicBezTo>
              </a:path>
            </a:pathLst>
          </a:custGeom>
          <a:noFill/>
          <a:ln w="57150" cap="rnd" cmpd="sng">
            <a:solidFill>
              <a:srgbClr val="FF0000"/>
            </a:solidFill>
            <a:prstDash val="sysDot"/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36" name="Date Placeholder 35">
            <a:extLst>
              <a:ext uri="{FF2B5EF4-FFF2-40B4-BE49-F238E27FC236}">
                <a16:creationId xmlns:a16="http://schemas.microsoft.com/office/drawing/2014/main" id="{B71DF4C8-5146-4735-802E-36F5AF65C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ED546-6C3F-4C47-9D31-D8ECDFCB4C53}" type="datetime1">
              <a:rPr lang="en-US" smtClean="0"/>
              <a:t>2/10/2025</a:t>
            </a:fld>
            <a:endParaRPr lang="en-US"/>
          </a:p>
        </p:txBody>
      </p:sp>
      <p:sp>
        <p:nvSpPr>
          <p:cNvPr id="37" name="Footer Placeholder 36">
            <a:extLst>
              <a:ext uri="{FF2B5EF4-FFF2-40B4-BE49-F238E27FC236}">
                <a16:creationId xmlns:a16="http://schemas.microsoft.com/office/drawing/2014/main" id="{29CF2235-298B-4A9C-AF3D-53F6C8576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</a:p>
        </p:txBody>
      </p:sp>
    </p:spTree>
    <p:extLst>
      <p:ext uri="{BB962C8B-B14F-4D97-AF65-F5344CB8AC3E}">
        <p14:creationId xmlns:p14="http://schemas.microsoft.com/office/powerpoint/2010/main" val="209306633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Boundary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77977" y="2133601"/>
            <a:ext cx="6291498" cy="3931920"/>
          </a:xfrm>
        </p:spPr>
        <p:txBody>
          <a:bodyPr/>
          <a:lstStyle/>
          <a:p>
            <a:r>
              <a:rPr lang="en-US" dirty="0"/>
              <a:t>2 hidden layers</a:t>
            </a:r>
          </a:p>
          <a:p>
            <a:pPr lvl="1"/>
            <a:r>
              <a:rPr lang="en-US" dirty="0"/>
              <a:t>Combinations of convex regions </a:t>
            </a:r>
          </a:p>
          <a:p>
            <a:endParaRPr lang="en-US" dirty="0"/>
          </a:p>
        </p:txBody>
      </p:sp>
      <p:grpSp>
        <p:nvGrpSpPr>
          <p:cNvPr id="5" name="Group 2"/>
          <p:cNvGrpSpPr>
            <a:grpSpLocks/>
          </p:cNvGrpSpPr>
          <p:nvPr/>
        </p:nvGrpSpPr>
        <p:grpSpPr bwMode="auto">
          <a:xfrm>
            <a:off x="3657600" y="3197225"/>
            <a:ext cx="6477000" cy="1752600"/>
            <a:chOff x="432" y="1536"/>
            <a:chExt cx="4080" cy="1104"/>
          </a:xfrm>
        </p:grpSpPr>
        <p:grpSp>
          <p:nvGrpSpPr>
            <p:cNvPr id="6" name="Group 3"/>
            <p:cNvGrpSpPr>
              <a:grpSpLocks/>
            </p:cNvGrpSpPr>
            <p:nvPr/>
          </p:nvGrpSpPr>
          <p:grpSpPr bwMode="auto">
            <a:xfrm>
              <a:off x="432" y="1536"/>
              <a:ext cx="1056" cy="1104"/>
              <a:chOff x="432" y="1536"/>
              <a:chExt cx="1056" cy="1104"/>
            </a:xfrm>
          </p:grpSpPr>
          <p:sp>
            <p:nvSpPr>
              <p:cNvPr id="13" name="Oval 4"/>
              <p:cNvSpPr>
                <a:spLocks noChangeArrowheads="1"/>
              </p:cNvSpPr>
              <p:nvPr/>
            </p:nvSpPr>
            <p:spPr bwMode="auto">
              <a:xfrm>
                <a:off x="576" y="1680"/>
                <a:ext cx="240" cy="24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" name="Oval 5"/>
              <p:cNvSpPr>
                <a:spLocks noChangeArrowheads="1"/>
              </p:cNvSpPr>
              <p:nvPr/>
            </p:nvSpPr>
            <p:spPr bwMode="auto">
              <a:xfrm>
                <a:off x="1104" y="1680"/>
                <a:ext cx="240" cy="240"/>
              </a:xfrm>
              <a:prstGeom prst="ellipse">
                <a:avLst/>
              </a:prstGeom>
              <a:solidFill>
                <a:schemeClr val="bg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" name="Oval 6"/>
              <p:cNvSpPr>
                <a:spLocks noChangeArrowheads="1"/>
              </p:cNvSpPr>
              <p:nvPr/>
            </p:nvSpPr>
            <p:spPr bwMode="auto">
              <a:xfrm>
                <a:off x="1104" y="2256"/>
                <a:ext cx="240" cy="24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" name="Oval 7"/>
              <p:cNvSpPr>
                <a:spLocks noChangeArrowheads="1"/>
              </p:cNvSpPr>
              <p:nvPr/>
            </p:nvSpPr>
            <p:spPr bwMode="auto">
              <a:xfrm>
                <a:off x="576" y="2256"/>
                <a:ext cx="240" cy="240"/>
              </a:xfrm>
              <a:prstGeom prst="ellipse">
                <a:avLst/>
              </a:prstGeom>
              <a:solidFill>
                <a:schemeClr val="bg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7" name="Rectangle 8"/>
              <p:cNvSpPr>
                <a:spLocks noChangeArrowheads="1"/>
              </p:cNvSpPr>
              <p:nvPr/>
            </p:nvSpPr>
            <p:spPr bwMode="auto">
              <a:xfrm>
                <a:off x="432" y="1536"/>
                <a:ext cx="1056" cy="110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7" name="Group 9"/>
            <p:cNvGrpSpPr>
              <a:grpSpLocks/>
            </p:cNvGrpSpPr>
            <p:nvPr/>
          </p:nvGrpSpPr>
          <p:grpSpPr bwMode="auto">
            <a:xfrm>
              <a:off x="1680" y="1536"/>
              <a:ext cx="1488" cy="1104"/>
              <a:chOff x="1728" y="1536"/>
              <a:chExt cx="1488" cy="1104"/>
            </a:xfrm>
          </p:grpSpPr>
          <p:grpSp>
            <p:nvGrpSpPr>
              <p:cNvPr id="9" name="Group 10"/>
              <p:cNvGrpSpPr>
                <a:grpSpLocks/>
              </p:cNvGrpSpPr>
              <p:nvPr/>
            </p:nvGrpSpPr>
            <p:grpSpPr bwMode="auto">
              <a:xfrm>
                <a:off x="1823" y="1778"/>
                <a:ext cx="1247" cy="625"/>
                <a:chOff x="1872" y="1824"/>
                <a:chExt cx="1728" cy="864"/>
              </a:xfrm>
            </p:grpSpPr>
            <p:sp>
              <p:nvSpPr>
                <p:cNvPr id="11" name="AutoShape 11"/>
                <p:cNvSpPr>
                  <a:spLocks noChangeArrowheads="1"/>
                </p:cNvSpPr>
                <p:nvPr/>
              </p:nvSpPr>
              <p:spPr bwMode="auto">
                <a:xfrm>
                  <a:off x="1872" y="1824"/>
                  <a:ext cx="672" cy="480"/>
                </a:xfrm>
                <a:prstGeom prst="moon">
                  <a:avLst>
                    <a:gd name="adj" fmla="val 50000"/>
                  </a:avLst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" name="AutoShape 12"/>
                <p:cNvSpPr>
                  <a:spLocks noChangeArrowheads="1"/>
                </p:cNvSpPr>
                <p:nvPr/>
              </p:nvSpPr>
              <p:spPr bwMode="auto">
                <a:xfrm flipH="1">
                  <a:off x="2448" y="2064"/>
                  <a:ext cx="1152" cy="624"/>
                </a:xfrm>
                <a:prstGeom prst="moon">
                  <a:avLst>
                    <a:gd name="adj" fmla="val 50000"/>
                  </a:avLst>
                </a:prstGeom>
                <a:solidFill>
                  <a:schemeClr val="bg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10" name="Rectangle 13"/>
              <p:cNvSpPr>
                <a:spLocks noChangeArrowheads="1"/>
              </p:cNvSpPr>
              <p:nvPr/>
            </p:nvSpPr>
            <p:spPr bwMode="auto">
              <a:xfrm>
                <a:off x="1728" y="1536"/>
                <a:ext cx="1488" cy="110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8" name="Rectangle 14"/>
            <p:cNvSpPr>
              <a:spLocks noChangeArrowheads="1"/>
            </p:cNvSpPr>
            <p:nvPr/>
          </p:nvSpPr>
          <p:spPr bwMode="auto">
            <a:xfrm>
              <a:off x="3360" y="1536"/>
              <a:ext cx="1152" cy="110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8" name="Rectangle 15"/>
          <p:cNvSpPr>
            <a:spLocks noChangeArrowheads="1"/>
          </p:cNvSpPr>
          <p:nvPr/>
        </p:nvSpPr>
        <p:spPr bwMode="auto">
          <a:xfrm rot="2545265">
            <a:off x="3810000" y="4187825"/>
            <a:ext cx="533400" cy="685800"/>
          </a:xfrm>
          <a:prstGeom prst="rect">
            <a:avLst/>
          </a:prstGeom>
          <a:noFill/>
          <a:ln w="57150" cap="rnd">
            <a:solidFill>
              <a:srgbClr val="FF0000"/>
            </a:solidFill>
            <a:prstDash val="sysDot"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" name="Rectangle 16"/>
          <p:cNvSpPr>
            <a:spLocks noChangeArrowheads="1"/>
          </p:cNvSpPr>
          <p:nvPr/>
        </p:nvSpPr>
        <p:spPr bwMode="auto">
          <a:xfrm rot="19054735" flipH="1">
            <a:off x="4648200" y="3273425"/>
            <a:ext cx="533400" cy="685800"/>
          </a:xfrm>
          <a:prstGeom prst="rect">
            <a:avLst/>
          </a:prstGeom>
          <a:noFill/>
          <a:ln w="57150" cap="rnd">
            <a:solidFill>
              <a:srgbClr val="FF0000"/>
            </a:solidFill>
            <a:prstDash val="sysDot"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" name="Freeform 17"/>
          <p:cNvSpPr>
            <a:spLocks/>
          </p:cNvSpPr>
          <p:nvPr/>
        </p:nvSpPr>
        <p:spPr bwMode="auto">
          <a:xfrm>
            <a:off x="6367463" y="3706814"/>
            <a:ext cx="1543050" cy="1050925"/>
          </a:xfrm>
          <a:custGeom>
            <a:avLst/>
            <a:gdLst/>
            <a:ahLst/>
            <a:cxnLst>
              <a:cxn ang="0">
                <a:pos x="157" y="0"/>
              </a:cxn>
              <a:cxn ang="0">
                <a:pos x="95" y="10"/>
              </a:cxn>
              <a:cxn ang="0">
                <a:pos x="74" y="41"/>
              </a:cxn>
              <a:cxn ang="0">
                <a:pos x="12" y="93"/>
              </a:cxn>
              <a:cxn ang="0">
                <a:pos x="22" y="176"/>
              </a:cxn>
              <a:cxn ang="0">
                <a:pos x="157" y="207"/>
              </a:cxn>
              <a:cxn ang="0">
                <a:pos x="281" y="300"/>
              </a:cxn>
              <a:cxn ang="0">
                <a:pos x="271" y="352"/>
              </a:cxn>
              <a:cxn ang="0">
                <a:pos x="126" y="414"/>
              </a:cxn>
              <a:cxn ang="0">
                <a:pos x="64" y="476"/>
              </a:cxn>
              <a:cxn ang="0">
                <a:pos x="22" y="538"/>
              </a:cxn>
              <a:cxn ang="0">
                <a:pos x="54" y="662"/>
              </a:cxn>
              <a:cxn ang="0">
                <a:pos x="405" y="621"/>
              </a:cxn>
              <a:cxn ang="0">
                <a:pos x="674" y="579"/>
              </a:cxn>
              <a:cxn ang="0">
                <a:pos x="757" y="559"/>
              </a:cxn>
              <a:cxn ang="0">
                <a:pos x="798" y="548"/>
              </a:cxn>
              <a:cxn ang="0">
                <a:pos x="922" y="445"/>
              </a:cxn>
              <a:cxn ang="0">
                <a:pos x="953" y="414"/>
              </a:cxn>
              <a:cxn ang="0">
                <a:pos x="922" y="217"/>
              </a:cxn>
              <a:cxn ang="0">
                <a:pos x="798" y="155"/>
              </a:cxn>
              <a:cxn ang="0">
                <a:pos x="767" y="135"/>
              </a:cxn>
              <a:cxn ang="0">
                <a:pos x="509" y="41"/>
              </a:cxn>
              <a:cxn ang="0">
                <a:pos x="385" y="21"/>
              </a:cxn>
              <a:cxn ang="0">
                <a:pos x="281" y="0"/>
              </a:cxn>
              <a:cxn ang="0">
                <a:pos x="157" y="0"/>
              </a:cxn>
            </a:cxnLst>
            <a:rect l="0" t="0" r="r" b="b"/>
            <a:pathLst>
              <a:path w="972" h="662">
                <a:moveTo>
                  <a:pt x="157" y="0"/>
                </a:moveTo>
                <a:cubicBezTo>
                  <a:pt x="136" y="3"/>
                  <a:pt x="114" y="1"/>
                  <a:pt x="95" y="10"/>
                </a:cubicBezTo>
                <a:cubicBezTo>
                  <a:pt x="84" y="16"/>
                  <a:pt x="82" y="31"/>
                  <a:pt x="74" y="41"/>
                </a:cubicBezTo>
                <a:cubicBezTo>
                  <a:pt x="49" y="71"/>
                  <a:pt x="42" y="72"/>
                  <a:pt x="12" y="93"/>
                </a:cubicBezTo>
                <a:cubicBezTo>
                  <a:pt x="15" y="121"/>
                  <a:pt x="5" y="154"/>
                  <a:pt x="22" y="176"/>
                </a:cubicBezTo>
                <a:cubicBezTo>
                  <a:pt x="22" y="176"/>
                  <a:pt x="130" y="198"/>
                  <a:pt x="157" y="207"/>
                </a:cubicBezTo>
                <a:cubicBezTo>
                  <a:pt x="204" y="238"/>
                  <a:pt x="242" y="261"/>
                  <a:pt x="281" y="300"/>
                </a:cubicBezTo>
                <a:cubicBezTo>
                  <a:pt x="278" y="317"/>
                  <a:pt x="277" y="335"/>
                  <a:pt x="271" y="352"/>
                </a:cubicBezTo>
                <a:cubicBezTo>
                  <a:pt x="251" y="406"/>
                  <a:pt x="172" y="398"/>
                  <a:pt x="126" y="414"/>
                </a:cubicBezTo>
                <a:cubicBezTo>
                  <a:pt x="105" y="435"/>
                  <a:pt x="85" y="455"/>
                  <a:pt x="64" y="476"/>
                </a:cubicBezTo>
                <a:cubicBezTo>
                  <a:pt x="46" y="494"/>
                  <a:pt x="22" y="538"/>
                  <a:pt x="22" y="538"/>
                </a:cubicBezTo>
                <a:cubicBezTo>
                  <a:pt x="3" y="596"/>
                  <a:pt x="0" y="627"/>
                  <a:pt x="54" y="662"/>
                </a:cubicBezTo>
                <a:cubicBezTo>
                  <a:pt x="172" y="651"/>
                  <a:pt x="286" y="630"/>
                  <a:pt x="405" y="621"/>
                </a:cubicBezTo>
                <a:cubicBezTo>
                  <a:pt x="494" y="598"/>
                  <a:pt x="583" y="589"/>
                  <a:pt x="674" y="579"/>
                </a:cubicBezTo>
                <a:cubicBezTo>
                  <a:pt x="702" y="572"/>
                  <a:pt x="729" y="566"/>
                  <a:pt x="757" y="559"/>
                </a:cubicBezTo>
                <a:cubicBezTo>
                  <a:pt x="771" y="556"/>
                  <a:pt x="798" y="548"/>
                  <a:pt x="798" y="548"/>
                </a:cubicBezTo>
                <a:cubicBezTo>
                  <a:pt x="884" y="491"/>
                  <a:pt x="842" y="525"/>
                  <a:pt x="922" y="445"/>
                </a:cubicBezTo>
                <a:cubicBezTo>
                  <a:pt x="932" y="435"/>
                  <a:pt x="953" y="414"/>
                  <a:pt x="953" y="414"/>
                </a:cubicBezTo>
                <a:cubicBezTo>
                  <a:pt x="972" y="360"/>
                  <a:pt x="972" y="260"/>
                  <a:pt x="922" y="217"/>
                </a:cubicBezTo>
                <a:cubicBezTo>
                  <a:pt x="873" y="175"/>
                  <a:pt x="856" y="175"/>
                  <a:pt x="798" y="155"/>
                </a:cubicBezTo>
                <a:cubicBezTo>
                  <a:pt x="786" y="151"/>
                  <a:pt x="778" y="140"/>
                  <a:pt x="767" y="135"/>
                </a:cubicBezTo>
                <a:cubicBezTo>
                  <a:pt x="692" y="98"/>
                  <a:pt x="592" y="56"/>
                  <a:pt x="509" y="41"/>
                </a:cubicBezTo>
                <a:cubicBezTo>
                  <a:pt x="468" y="34"/>
                  <a:pt x="426" y="28"/>
                  <a:pt x="385" y="21"/>
                </a:cubicBezTo>
                <a:cubicBezTo>
                  <a:pt x="317" y="10"/>
                  <a:pt x="337" y="14"/>
                  <a:pt x="281" y="0"/>
                </a:cubicBezTo>
                <a:cubicBezTo>
                  <a:pt x="184" y="12"/>
                  <a:pt x="225" y="17"/>
                  <a:pt x="157" y="0"/>
                </a:cubicBezTo>
                <a:close/>
              </a:path>
            </a:pathLst>
          </a:custGeom>
          <a:noFill/>
          <a:ln w="57150" cap="rnd" cmpd="sng">
            <a:solidFill>
              <a:srgbClr val="FF0000"/>
            </a:solidFill>
            <a:prstDash val="sysDot"/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" name="Freeform 18"/>
          <p:cNvSpPr>
            <a:spLocks/>
          </p:cNvSpPr>
          <p:nvPr/>
        </p:nvSpPr>
        <p:spPr bwMode="auto">
          <a:xfrm>
            <a:off x="8455025" y="3525839"/>
            <a:ext cx="628650" cy="644525"/>
          </a:xfrm>
          <a:custGeom>
            <a:avLst/>
            <a:gdLst/>
            <a:ahLst/>
            <a:cxnLst>
              <a:cxn ang="0">
                <a:pos x="104" y="0"/>
              </a:cxn>
              <a:cxn ang="0">
                <a:pos x="83" y="31"/>
              </a:cxn>
              <a:cxn ang="0">
                <a:pos x="21" y="93"/>
              </a:cxn>
              <a:cxn ang="0">
                <a:pos x="73" y="238"/>
              </a:cxn>
              <a:cxn ang="0">
                <a:pos x="94" y="373"/>
              </a:cxn>
              <a:cxn ang="0">
                <a:pos x="156" y="404"/>
              </a:cxn>
              <a:cxn ang="0">
                <a:pos x="228" y="393"/>
              </a:cxn>
              <a:cxn ang="0">
                <a:pos x="280" y="300"/>
              </a:cxn>
              <a:cxn ang="0">
                <a:pos x="290" y="259"/>
              </a:cxn>
              <a:cxn ang="0">
                <a:pos x="352" y="217"/>
              </a:cxn>
              <a:cxn ang="0">
                <a:pos x="301" y="42"/>
              </a:cxn>
              <a:cxn ang="0">
                <a:pos x="259" y="52"/>
              </a:cxn>
              <a:cxn ang="0">
                <a:pos x="218" y="114"/>
              </a:cxn>
              <a:cxn ang="0">
                <a:pos x="176" y="104"/>
              </a:cxn>
              <a:cxn ang="0">
                <a:pos x="145" y="31"/>
              </a:cxn>
              <a:cxn ang="0">
                <a:pos x="114" y="21"/>
              </a:cxn>
              <a:cxn ang="0">
                <a:pos x="104" y="0"/>
              </a:cxn>
            </a:cxnLst>
            <a:rect l="0" t="0" r="r" b="b"/>
            <a:pathLst>
              <a:path w="396" h="406">
                <a:moveTo>
                  <a:pt x="104" y="0"/>
                </a:moveTo>
                <a:cubicBezTo>
                  <a:pt x="97" y="10"/>
                  <a:pt x="91" y="22"/>
                  <a:pt x="83" y="31"/>
                </a:cubicBezTo>
                <a:cubicBezTo>
                  <a:pt x="64" y="53"/>
                  <a:pt x="21" y="93"/>
                  <a:pt x="21" y="93"/>
                </a:cubicBezTo>
                <a:cubicBezTo>
                  <a:pt x="0" y="157"/>
                  <a:pt x="20" y="202"/>
                  <a:pt x="73" y="238"/>
                </a:cubicBezTo>
                <a:cubicBezTo>
                  <a:pt x="87" y="281"/>
                  <a:pt x="79" y="330"/>
                  <a:pt x="94" y="373"/>
                </a:cubicBezTo>
                <a:cubicBezTo>
                  <a:pt x="98" y="386"/>
                  <a:pt x="145" y="400"/>
                  <a:pt x="156" y="404"/>
                </a:cubicBezTo>
                <a:cubicBezTo>
                  <a:pt x="180" y="400"/>
                  <a:pt x="208" y="406"/>
                  <a:pt x="228" y="393"/>
                </a:cubicBezTo>
                <a:cubicBezTo>
                  <a:pt x="251" y="378"/>
                  <a:pt x="271" y="329"/>
                  <a:pt x="280" y="300"/>
                </a:cubicBezTo>
                <a:cubicBezTo>
                  <a:pt x="284" y="286"/>
                  <a:pt x="281" y="270"/>
                  <a:pt x="290" y="259"/>
                </a:cubicBezTo>
                <a:cubicBezTo>
                  <a:pt x="306" y="240"/>
                  <a:pt x="352" y="217"/>
                  <a:pt x="352" y="217"/>
                </a:cubicBezTo>
                <a:cubicBezTo>
                  <a:pt x="396" y="131"/>
                  <a:pt x="393" y="72"/>
                  <a:pt x="301" y="42"/>
                </a:cubicBezTo>
                <a:cubicBezTo>
                  <a:pt x="287" y="45"/>
                  <a:pt x="270" y="43"/>
                  <a:pt x="259" y="52"/>
                </a:cubicBezTo>
                <a:cubicBezTo>
                  <a:pt x="240" y="68"/>
                  <a:pt x="218" y="114"/>
                  <a:pt x="218" y="114"/>
                </a:cubicBezTo>
                <a:cubicBezTo>
                  <a:pt x="204" y="111"/>
                  <a:pt x="188" y="112"/>
                  <a:pt x="176" y="104"/>
                </a:cubicBezTo>
                <a:cubicBezTo>
                  <a:pt x="137" y="78"/>
                  <a:pt x="172" y="64"/>
                  <a:pt x="145" y="31"/>
                </a:cubicBezTo>
                <a:cubicBezTo>
                  <a:pt x="138" y="23"/>
                  <a:pt x="123" y="28"/>
                  <a:pt x="114" y="21"/>
                </a:cubicBezTo>
                <a:cubicBezTo>
                  <a:pt x="108" y="16"/>
                  <a:pt x="107" y="7"/>
                  <a:pt x="104" y="0"/>
                </a:cubicBezTo>
                <a:close/>
              </a:path>
            </a:pathLst>
          </a:custGeom>
          <a:noFill/>
          <a:ln w="57150" cap="rnd" cmpd="sng">
            <a:solidFill>
              <a:srgbClr val="FF0000"/>
            </a:solidFill>
            <a:prstDash val="sysDot"/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" name="Freeform 19"/>
          <p:cNvSpPr>
            <a:spLocks/>
          </p:cNvSpPr>
          <p:nvPr/>
        </p:nvSpPr>
        <p:spPr bwMode="auto">
          <a:xfrm>
            <a:off x="8932864" y="3641726"/>
            <a:ext cx="1100137" cy="1311275"/>
          </a:xfrm>
          <a:custGeom>
            <a:avLst/>
            <a:gdLst/>
            <a:ahLst/>
            <a:cxnLst>
              <a:cxn ang="0">
                <a:pos x="248" y="641"/>
              </a:cxn>
              <a:cxn ang="0">
                <a:pos x="268" y="393"/>
              </a:cxn>
              <a:cxn ang="0">
                <a:pos x="237" y="196"/>
              </a:cxn>
              <a:cxn ang="0">
                <a:pos x="258" y="82"/>
              </a:cxn>
              <a:cxn ang="0">
                <a:pos x="289" y="51"/>
              </a:cxn>
              <a:cxn ang="0">
                <a:pos x="351" y="31"/>
              </a:cxn>
              <a:cxn ang="0">
                <a:pos x="382" y="41"/>
              </a:cxn>
              <a:cxn ang="0">
                <a:pos x="424" y="165"/>
              </a:cxn>
              <a:cxn ang="0">
                <a:pos x="455" y="186"/>
              </a:cxn>
              <a:cxn ang="0">
                <a:pos x="537" y="103"/>
              </a:cxn>
              <a:cxn ang="0">
                <a:pos x="579" y="41"/>
              </a:cxn>
              <a:cxn ang="0">
                <a:pos x="589" y="10"/>
              </a:cxn>
              <a:cxn ang="0">
                <a:pos x="651" y="51"/>
              </a:cxn>
              <a:cxn ang="0">
                <a:pos x="693" y="144"/>
              </a:cxn>
              <a:cxn ang="0">
                <a:pos x="662" y="217"/>
              </a:cxn>
              <a:cxn ang="0">
                <a:pos x="599" y="279"/>
              </a:cxn>
              <a:cxn ang="0">
                <a:pos x="630" y="403"/>
              </a:cxn>
              <a:cxn ang="0">
                <a:pos x="662" y="475"/>
              </a:cxn>
              <a:cxn ang="0">
                <a:pos x="682" y="538"/>
              </a:cxn>
              <a:cxn ang="0">
                <a:pos x="620" y="672"/>
              </a:cxn>
              <a:cxn ang="0">
                <a:pos x="320" y="806"/>
              </a:cxn>
              <a:cxn ang="0">
                <a:pos x="186" y="806"/>
              </a:cxn>
              <a:cxn ang="0">
                <a:pos x="20" y="703"/>
              </a:cxn>
              <a:cxn ang="0">
                <a:pos x="51" y="548"/>
              </a:cxn>
              <a:cxn ang="0">
                <a:pos x="155" y="631"/>
              </a:cxn>
              <a:cxn ang="0">
                <a:pos x="248" y="641"/>
              </a:cxn>
            </a:cxnLst>
            <a:rect l="0" t="0" r="r" b="b"/>
            <a:pathLst>
              <a:path w="693" h="826">
                <a:moveTo>
                  <a:pt x="248" y="641"/>
                </a:moveTo>
                <a:cubicBezTo>
                  <a:pt x="297" y="558"/>
                  <a:pt x="303" y="492"/>
                  <a:pt x="268" y="393"/>
                </a:cubicBezTo>
                <a:cubicBezTo>
                  <a:pt x="261" y="323"/>
                  <a:pt x="255" y="263"/>
                  <a:pt x="237" y="196"/>
                </a:cubicBezTo>
                <a:cubicBezTo>
                  <a:pt x="242" y="158"/>
                  <a:pt x="237" y="114"/>
                  <a:pt x="258" y="82"/>
                </a:cubicBezTo>
                <a:cubicBezTo>
                  <a:pt x="266" y="70"/>
                  <a:pt x="276" y="58"/>
                  <a:pt x="289" y="51"/>
                </a:cubicBezTo>
                <a:cubicBezTo>
                  <a:pt x="308" y="41"/>
                  <a:pt x="351" y="31"/>
                  <a:pt x="351" y="31"/>
                </a:cubicBezTo>
                <a:cubicBezTo>
                  <a:pt x="361" y="34"/>
                  <a:pt x="376" y="32"/>
                  <a:pt x="382" y="41"/>
                </a:cubicBezTo>
                <a:cubicBezTo>
                  <a:pt x="401" y="67"/>
                  <a:pt x="412" y="131"/>
                  <a:pt x="424" y="165"/>
                </a:cubicBezTo>
                <a:cubicBezTo>
                  <a:pt x="428" y="177"/>
                  <a:pt x="445" y="179"/>
                  <a:pt x="455" y="186"/>
                </a:cubicBezTo>
                <a:cubicBezTo>
                  <a:pt x="505" y="170"/>
                  <a:pt x="511" y="146"/>
                  <a:pt x="537" y="103"/>
                </a:cubicBezTo>
                <a:cubicBezTo>
                  <a:pt x="550" y="82"/>
                  <a:pt x="579" y="41"/>
                  <a:pt x="579" y="41"/>
                </a:cubicBezTo>
                <a:cubicBezTo>
                  <a:pt x="582" y="31"/>
                  <a:pt x="579" y="15"/>
                  <a:pt x="589" y="10"/>
                </a:cubicBezTo>
                <a:cubicBezTo>
                  <a:pt x="609" y="0"/>
                  <a:pt x="646" y="46"/>
                  <a:pt x="651" y="51"/>
                </a:cubicBezTo>
                <a:cubicBezTo>
                  <a:pt x="663" y="84"/>
                  <a:pt x="681" y="111"/>
                  <a:pt x="693" y="144"/>
                </a:cubicBezTo>
                <a:cubicBezTo>
                  <a:pt x="684" y="178"/>
                  <a:pt x="685" y="191"/>
                  <a:pt x="662" y="217"/>
                </a:cubicBezTo>
                <a:cubicBezTo>
                  <a:pt x="642" y="239"/>
                  <a:pt x="599" y="279"/>
                  <a:pt x="599" y="279"/>
                </a:cubicBezTo>
                <a:cubicBezTo>
                  <a:pt x="577" y="348"/>
                  <a:pt x="565" y="359"/>
                  <a:pt x="630" y="403"/>
                </a:cubicBezTo>
                <a:cubicBezTo>
                  <a:pt x="661" y="449"/>
                  <a:pt x="645" y="418"/>
                  <a:pt x="662" y="475"/>
                </a:cubicBezTo>
                <a:cubicBezTo>
                  <a:pt x="668" y="496"/>
                  <a:pt x="682" y="538"/>
                  <a:pt x="682" y="538"/>
                </a:cubicBezTo>
                <a:cubicBezTo>
                  <a:pt x="670" y="585"/>
                  <a:pt x="647" y="632"/>
                  <a:pt x="620" y="672"/>
                </a:cubicBezTo>
                <a:cubicBezTo>
                  <a:pt x="584" y="821"/>
                  <a:pt x="454" y="799"/>
                  <a:pt x="320" y="806"/>
                </a:cubicBezTo>
                <a:cubicBezTo>
                  <a:pt x="263" y="816"/>
                  <a:pt x="245" y="826"/>
                  <a:pt x="186" y="806"/>
                </a:cubicBezTo>
                <a:cubicBezTo>
                  <a:pt x="128" y="786"/>
                  <a:pt x="76" y="731"/>
                  <a:pt x="20" y="703"/>
                </a:cubicBezTo>
                <a:cubicBezTo>
                  <a:pt x="0" y="642"/>
                  <a:pt x="6" y="593"/>
                  <a:pt x="51" y="548"/>
                </a:cubicBezTo>
                <a:cubicBezTo>
                  <a:pt x="132" y="564"/>
                  <a:pt x="93" y="544"/>
                  <a:pt x="155" y="631"/>
                </a:cubicBezTo>
                <a:cubicBezTo>
                  <a:pt x="173" y="656"/>
                  <a:pt x="217" y="641"/>
                  <a:pt x="248" y="641"/>
                </a:cubicBezTo>
                <a:close/>
              </a:path>
            </a:pathLst>
          </a:custGeom>
          <a:noFill/>
          <a:ln w="57150" cap="rnd" cmpd="sng">
            <a:solidFill>
              <a:srgbClr val="FF0000"/>
            </a:solidFill>
            <a:prstDash val="sysDot"/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20"/>
          <p:cNvSpPr>
            <a:spLocks/>
          </p:cNvSpPr>
          <p:nvPr/>
        </p:nvSpPr>
        <p:spPr bwMode="auto">
          <a:xfrm>
            <a:off x="9525000" y="4187825"/>
            <a:ext cx="279400" cy="446088"/>
          </a:xfrm>
          <a:custGeom>
            <a:avLst/>
            <a:gdLst/>
            <a:ahLst/>
            <a:cxnLst>
              <a:cxn ang="0">
                <a:pos x="31" y="51"/>
              </a:cxn>
              <a:cxn ang="0">
                <a:pos x="0" y="124"/>
              </a:cxn>
              <a:cxn ang="0">
                <a:pos x="114" y="258"/>
              </a:cxn>
              <a:cxn ang="0">
                <a:pos x="145" y="279"/>
              </a:cxn>
              <a:cxn ang="0">
                <a:pos x="176" y="217"/>
              </a:cxn>
              <a:cxn ang="0">
                <a:pos x="73" y="0"/>
              </a:cxn>
              <a:cxn ang="0">
                <a:pos x="42" y="20"/>
              </a:cxn>
              <a:cxn ang="0">
                <a:pos x="31" y="51"/>
              </a:cxn>
            </a:cxnLst>
            <a:rect l="0" t="0" r="r" b="b"/>
            <a:pathLst>
              <a:path w="176" h="281">
                <a:moveTo>
                  <a:pt x="31" y="51"/>
                </a:moveTo>
                <a:cubicBezTo>
                  <a:pt x="29" y="55"/>
                  <a:pt x="0" y="112"/>
                  <a:pt x="0" y="124"/>
                </a:cubicBezTo>
                <a:cubicBezTo>
                  <a:pt x="0" y="193"/>
                  <a:pt x="54" y="239"/>
                  <a:pt x="114" y="258"/>
                </a:cubicBezTo>
                <a:cubicBezTo>
                  <a:pt x="124" y="265"/>
                  <a:pt x="133" y="281"/>
                  <a:pt x="145" y="279"/>
                </a:cubicBezTo>
                <a:cubicBezTo>
                  <a:pt x="160" y="276"/>
                  <a:pt x="173" y="228"/>
                  <a:pt x="176" y="217"/>
                </a:cubicBezTo>
                <a:cubicBezTo>
                  <a:pt x="166" y="134"/>
                  <a:pt x="147" y="48"/>
                  <a:pt x="73" y="0"/>
                </a:cubicBezTo>
                <a:cubicBezTo>
                  <a:pt x="63" y="7"/>
                  <a:pt x="50" y="11"/>
                  <a:pt x="42" y="20"/>
                </a:cubicBezTo>
                <a:cubicBezTo>
                  <a:pt x="35" y="28"/>
                  <a:pt x="31" y="51"/>
                  <a:pt x="31" y="51"/>
                </a:cubicBezTo>
                <a:close/>
              </a:path>
            </a:pathLst>
          </a:custGeom>
          <a:noFill/>
          <a:ln w="57150" cap="rnd" cmpd="sng">
            <a:solidFill>
              <a:srgbClr val="FF0000"/>
            </a:solidFill>
            <a:prstDash val="sysDot"/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25" name="Group 23"/>
          <p:cNvGrpSpPr>
            <a:grpSpLocks/>
          </p:cNvGrpSpPr>
          <p:nvPr/>
        </p:nvGrpSpPr>
        <p:grpSpPr bwMode="auto">
          <a:xfrm rot="16200000">
            <a:off x="621330" y="3117850"/>
            <a:ext cx="3619500" cy="1295400"/>
            <a:chOff x="1200" y="1200"/>
            <a:chExt cx="3072" cy="816"/>
          </a:xfrm>
        </p:grpSpPr>
        <p:sp>
          <p:nvSpPr>
            <p:cNvPr id="26" name="Oval 24"/>
            <p:cNvSpPr>
              <a:spLocks noChangeArrowheads="1"/>
            </p:cNvSpPr>
            <p:nvPr/>
          </p:nvSpPr>
          <p:spPr bwMode="auto">
            <a:xfrm>
              <a:off x="3936" y="1440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Line 25"/>
            <p:cNvSpPr>
              <a:spLocks noChangeShapeType="1"/>
            </p:cNvSpPr>
            <p:nvPr/>
          </p:nvSpPr>
          <p:spPr bwMode="auto">
            <a:xfrm>
              <a:off x="3360" y="1392"/>
              <a:ext cx="576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Line 26"/>
            <p:cNvSpPr>
              <a:spLocks noChangeShapeType="1"/>
            </p:cNvSpPr>
            <p:nvPr/>
          </p:nvSpPr>
          <p:spPr bwMode="auto">
            <a:xfrm flipV="1">
              <a:off x="3360" y="1632"/>
              <a:ext cx="576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Oval 27"/>
            <p:cNvSpPr>
              <a:spLocks noChangeArrowheads="1"/>
            </p:cNvSpPr>
            <p:nvPr/>
          </p:nvSpPr>
          <p:spPr bwMode="auto">
            <a:xfrm>
              <a:off x="3024" y="1200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Oval 28"/>
            <p:cNvSpPr>
              <a:spLocks noChangeArrowheads="1"/>
            </p:cNvSpPr>
            <p:nvPr/>
          </p:nvSpPr>
          <p:spPr bwMode="auto">
            <a:xfrm>
              <a:off x="3024" y="1680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Line 29"/>
            <p:cNvSpPr>
              <a:spLocks noChangeShapeType="1"/>
            </p:cNvSpPr>
            <p:nvPr/>
          </p:nvSpPr>
          <p:spPr bwMode="auto">
            <a:xfrm>
              <a:off x="2448" y="1344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Line 30"/>
            <p:cNvSpPr>
              <a:spLocks noChangeShapeType="1"/>
            </p:cNvSpPr>
            <p:nvPr/>
          </p:nvSpPr>
          <p:spPr bwMode="auto">
            <a:xfrm flipV="1">
              <a:off x="2448" y="1392"/>
              <a:ext cx="576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Line 31"/>
            <p:cNvSpPr>
              <a:spLocks noChangeShapeType="1"/>
            </p:cNvSpPr>
            <p:nvPr/>
          </p:nvSpPr>
          <p:spPr bwMode="auto">
            <a:xfrm>
              <a:off x="2448" y="1344"/>
              <a:ext cx="576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Line 32"/>
            <p:cNvSpPr>
              <a:spLocks noChangeShapeType="1"/>
            </p:cNvSpPr>
            <p:nvPr/>
          </p:nvSpPr>
          <p:spPr bwMode="auto">
            <a:xfrm flipV="1">
              <a:off x="2448" y="1872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Oval 33"/>
            <p:cNvSpPr>
              <a:spLocks noChangeArrowheads="1"/>
            </p:cNvSpPr>
            <p:nvPr/>
          </p:nvSpPr>
          <p:spPr bwMode="auto">
            <a:xfrm>
              <a:off x="2112" y="1200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Oval 34"/>
            <p:cNvSpPr>
              <a:spLocks noChangeArrowheads="1"/>
            </p:cNvSpPr>
            <p:nvPr/>
          </p:nvSpPr>
          <p:spPr bwMode="auto">
            <a:xfrm>
              <a:off x="2112" y="1680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Line 35"/>
            <p:cNvSpPr>
              <a:spLocks noChangeShapeType="1"/>
            </p:cNvSpPr>
            <p:nvPr/>
          </p:nvSpPr>
          <p:spPr bwMode="auto">
            <a:xfrm>
              <a:off x="1536" y="1344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Line 36"/>
            <p:cNvSpPr>
              <a:spLocks noChangeShapeType="1"/>
            </p:cNvSpPr>
            <p:nvPr/>
          </p:nvSpPr>
          <p:spPr bwMode="auto">
            <a:xfrm flipV="1">
              <a:off x="1536" y="1392"/>
              <a:ext cx="576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Line 37"/>
            <p:cNvSpPr>
              <a:spLocks noChangeShapeType="1"/>
            </p:cNvSpPr>
            <p:nvPr/>
          </p:nvSpPr>
          <p:spPr bwMode="auto">
            <a:xfrm>
              <a:off x="1536" y="1344"/>
              <a:ext cx="576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Line 38"/>
            <p:cNvSpPr>
              <a:spLocks noChangeShapeType="1"/>
            </p:cNvSpPr>
            <p:nvPr/>
          </p:nvSpPr>
          <p:spPr bwMode="auto">
            <a:xfrm flipV="1">
              <a:off x="1536" y="1872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Oval 39"/>
            <p:cNvSpPr>
              <a:spLocks noChangeArrowheads="1"/>
            </p:cNvSpPr>
            <p:nvPr/>
          </p:nvSpPr>
          <p:spPr bwMode="auto">
            <a:xfrm>
              <a:off x="1200" y="1200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Oval 40"/>
            <p:cNvSpPr>
              <a:spLocks noChangeArrowheads="1"/>
            </p:cNvSpPr>
            <p:nvPr/>
          </p:nvSpPr>
          <p:spPr bwMode="auto">
            <a:xfrm>
              <a:off x="1200" y="1680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aphicFrame>
        <p:nvGraphicFramePr>
          <p:cNvPr id="43" name="Object 41"/>
          <p:cNvGraphicFramePr>
            <a:graphicFrameLocks noChangeAspect="1"/>
          </p:cNvGraphicFramePr>
          <p:nvPr/>
        </p:nvGraphicFramePr>
        <p:xfrm>
          <a:off x="2242169" y="1957388"/>
          <a:ext cx="388937" cy="455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9680" imgH="164880" progId="Equation.3">
                  <p:embed/>
                </p:oleObj>
              </mc:Choice>
              <mc:Fallback>
                <p:oleObj name="Equation" r:id="rId2" imgW="139680" imgH="164880" progId="Equation.3">
                  <p:embed/>
                  <p:pic>
                    <p:nvPicPr>
                      <p:cNvPr id="43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2169" y="1957388"/>
                        <a:ext cx="388937" cy="4556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Object 42"/>
          <p:cNvGraphicFramePr>
            <a:graphicFrameLocks noChangeAspect="1"/>
          </p:cNvGraphicFramePr>
          <p:nvPr/>
        </p:nvGraphicFramePr>
        <p:xfrm>
          <a:off x="1859581" y="5041900"/>
          <a:ext cx="422275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2280" imgH="215640" progId="Equation.3">
                  <p:embed/>
                </p:oleObj>
              </mc:Choice>
              <mc:Fallback>
                <p:oleObj name="Equation" r:id="rId4" imgW="152280" imgH="215640" progId="Equation.3">
                  <p:embed/>
                  <p:pic>
                    <p:nvPicPr>
                      <p:cNvPr id="44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9581" y="5041900"/>
                        <a:ext cx="422275" cy="596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Object 43"/>
          <p:cNvGraphicFramePr>
            <a:graphicFrameLocks noChangeAspect="1"/>
          </p:cNvGraphicFramePr>
          <p:nvPr/>
        </p:nvGraphicFramePr>
        <p:xfrm>
          <a:off x="2596180" y="5035550"/>
          <a:ext cx="458788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4880" imgH="215640" progId="Equation.3">
                  <p:embed/>
                </p:oleObj>
              </mc:Choice>
              <mc:Fallback>
                <p:oleObj name="Equation" r:id="rId6" imgW="164880" imgH="215640" progId="Equation.3">
                  <p:embed/>
                  <p:pic>
                    <p:nvPicPr>
                      <p:cNvPr id="45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6180" y="5035550"/>
                        <a:ext cx="458788" cy="596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44</a:t>
            </a:fld>
            <a:endParaRPr lang="en-US"/>
          </a:p>
        </p:txBody>
      </p:sp>
      <p:sp>
        <p:nvSpPr>
          <p:cNvPr id="46" name="Date Placeholder 45">
            <a:extLst>
              <a:ext uri="{FF2B5EF4-FFF2-40B4-BE49-F238E27FC236}">
                <a16:creationId xmlns:a16="http://schemas.microsoft.com/office/drawing/2014/main" id="{FBF29B48-0646-4F61-8659-ACEE70E5A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39310-A755-40FB-BEEF-41304B369E59}" type="datetime1">
              <a:rPr lang="en-US" smtClean="0"/>
              <a:t>2/10/2025</a:t>
            </a:fld>
            <a:endParaRPr lang="en-US"/>
          </a:p>
        </p:txBody>
      </p:sp>
      <p:sp>
        <p:nvSpPr>
          <p:cNvPr id="47" name="Footer Placeholder 46">
            <a:extLst>
              <a:ext uri="{FF2B5EF4-FFF2-40B4-BE49-F238E27FC236}">
                <a16:creationId xmlns:a16="http://schemas.microsoft.com/office/drawing/2014/main" id="{AE927C5B-029F-41AC-B981-B84F6B6F6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</a:p>
        </p:txBody>
      </p:sp>
    </p:spTree>
    <p:extLst>
      <p:ext uri="{BB962C8B-B14F-4D97-AF65-F5344CB8AC3E}">
        <p14:creationId xmlns:p14="http://schemas.microsoft.com/office/powerpoint/2010/main" val="242273057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Multi-Class Output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45</a:t>
            </a:fld>
            <a:endParaRPr lang="en-US"/>
          </a:p>
        </p:txBody>
      </p:sp>
      <p:sp>
        <p:nvSpPr>
          <p:cNvPr id="4" name="Connector 3"/>
          <p:cNvSpPr/>
          <p:nvPr/>
        </p:nvSpPr>
        <p:spPr>
          <a:xfrm>
            <a:off x="2895600" y="5715000"/>
            <a:ext cx="822960" cy="822960"/>
          </a:xfrm>
          <a:prstGeom prst="flowChartConnector">
            <a:avLst/>
          </a:prstGeom>
          <a:solidFill>
            <a:srgbClr val="72CEE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6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x</a:t>
            </a:r>
            <a:r>
              <a:rPr lang="en-US" sz="2600" baseline="-25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6" name="Connector 5"/>
          <p:cNvSpPr/>
          <p:nvPr/>
        </p:nvSpPr>
        <p:spPr>
          <a:xfrm>
            <a:off x="3794760" y="3761740"/>
            <a:ext cx="822960" cy="822960"/>
          </a:xfrm>
          <a:prstGeom prst="flowChartConnector">
            <a:avLst/>
          </a:prstGeom>
          <a:solidFill>
            <a:srgbClr val="EE6802"/>
          </a:solidFill>
          <a:ln>
            <a:solidFill>
              <a:schemeClr val="accent1">
                <a:shade val="95000"/>
                <a:satMod val="10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6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a</a:t>
            </a:r>
            <a:r>
              <a:rPr lang="en-US" sz="2600" baseline="-25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7" name="Connector 6"/>
          <p:cNvSpPr/>
          <p:nvPr/>
        </p:nvSpPr>
        <p:spPr>
          <a:xfrm>
            <a:off x="4419600" y="5715000"/>
            <a:ext cx="822960" cy="822960"/>
          </a:xfrm>
          <a:prstGeom prst="flowChartConnector">
            <a:avLst/>
          </a:prstGeom>
          <a:solidFill>
            <a:srgbClr val="72CEE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6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x</a:t>
            </a:r>
            <a:r>
              <a:rPr lang="en-US" sz="2600" baseline="-25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8" name="Connector 7"/>
          <p:cNvSpPr/>
          <p:nvPr/>
        </p:nvSpPr>
        <p:spPr>
          <a:xfrm>
            <a:off x="6096000" y="5715000"/>
            <a:ext cx="822960" cy="822960"/>
          </a:xfrm>
          <a:prstGeom prst="flowChartConnector">
            <a:avLst/>
          </a:prstGeom>
          <a:solidFill>
            <a:srgbClr val="72CEE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6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x</a:t>
            </a:r>
            <a:r>
              <a:rPr lang="en-US" sz="2600" baseline="-25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9" name="Connector 8"/>
          <p:cNvSpPr/>
          <p:nvPr/>
        </p:nvSpPr>
        <p:spPr>
          <a:xfrm>
            <a:off x="8610600" y="5715000"/>
            <a:ext cx="822960" cy="822960"/>
          </a:xfrm>
          <a:prstGeom prst="flowChartConnector">
            <a:avLst/>
          </a:prstGeom>
          <a:solidFill>
            <a:srgbClr val="72CEE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600" dirty="0" err="1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x</a:t>
            </a:r>
            <a:r>
              <a:rPr lang="en-US" sz="2600" baseline="-25000" dirty="0" err="1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M</a:t>
            </a:r>
            <a:endParaRPr lang="en-US" sz="2600" baseline="-25000" dirty="0">
              <a:ln>
                <a:solidFill>
                  <a:schemeClr val="tx1"/>
                </a:solidFill>
              </a:ln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0" name="Connector 9"/>
          <p:cNvSpPr/>
          <p:nvPr/>
        </p:nvSpPr>
        <p:spPr>
          <a:xfrm>
            <a:off x="4419601" y="2174240"/>
            <a:ext cx="822960" cy="822960"/>
          </a:xfrm>
          <a:prstGeom prst="flowChartConnector">
            <a:avLst/>
          </a:prstGeom>
          <a:solidFill>
            <a:srgbClr val="E0D925"/>
          </a:solidFill>
          <a:ln>
            <a:solidFill>
              <a:schemeClr val="accent1">
                <a:shade val="95000"/>
                <a:satMod val="10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6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y</a:t>
            </a:r>
            <a:r>
              <a:rPr lang="en-US" sz="2600" baseline="-25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11" name="Connector 10"/>
          <p:cNvSpPr/>
          <p:nvPr/>
        </p:nvSpPr>
        <p:spPr>
          <a:xfrm>
            <a:off x="5166360" y="3761740"/>
            <a:ext cx="822960" cy="822960"/>
          </a:xfrm>
          <a:prstGeom prst="flowChartConnector">
            <a:avLst/>
          </a:prstGeom>
          <a:solidFill>
            <a:srgbClr val="EE6802"/>
          </a:solidFill>
          <a:ln>
            <a:solidFill>
              <a:schemeClr val="accent1">
                <a:shade val="95000"/>
                <a:satMod val="10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6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a</a:t>
            </a:r>
            <a:r>
              <a:rPr lang="en-US" sz="2600" baseline="-25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2" name="Connector 11"/>
          <p:cNvSpPr/>
          <p:nvPr/>
        </p:nvSpPr>
        <p:spPr>
          <a:xfrm>
            <a:off x="7543800" y="3761740"/>
            <a:ext cx="822960" cy="822960"/>
          </a:xfrm>
          <a:prstGeom prst="flowChartConnector">
            <a:avLst/>
          </a:prstGeom>
          <a:solidFill>
            <a:srgbClr val="EE6802"/>
          </a:solidFill>
          <a:ln>
            <a:solidFill>
              <a:schemeClr val="accent1">
                <a:shade val="95000"/>
                <a:satMod val="10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600" dirty="0" err="1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a</a:t>
            </a:r>
            <a:r>
              <a:rPr lang="en-US" sz="2600" baseline="-25000" dirty="0" err="1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D</a:t>
            </a:r>
            <a:endParaRPr lang="en-US" sz="2600" baseline="-25000" dirty="0">
              <a:ln>
                <a:solidFill>
                  <a:schemeClr val="tx1"/>
                </a:solidFill>
              </a:ln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6537960" y="3837941"/>
            <a:ext cx="533400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600" b="1"/>
              <a:t>…</a:t>
            </a:r>
          </a:p>
        </p:txBody>
      </p:sp>
      <p:sp>
        <p:nvSpPr>
          <p:cNvPr id="15" name="TextBox 14"/>
          <p:cNvSpPr txBox="1">
            <a:spLocks noChangeArrowheads="1"/>
          </p:cNvSpPr>
          <p:nvPr/>
        </p:nvSpPr>
        <p:spPr bwMode="auto">
          <a:xfrm>
            <a:off x="7543800" y="5791201"/>
            <a:ext cx="533400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600" b="1"/>
              <a:t>…</a:t>
            </a:r>
          </a:p>
        </p:txBody>
      </p:sp>
      <p:cxnSp>
        <p:nvCxnSpPr>
          <p:cNvPr id="16" name="Straight Connector 15"/>
          <p:cNvCxnSpPr>
            <a:stCxn id="6" idx="4"/>
            <a:endCxn id="4" idx="0"/>
          </p:cNvCxnSpPr>
          <p:nvPr/>
        </p:nvCxnSpPr>
        <p:spPr>
          <a:xfrm rot="5400000">
            <a:off x="3191510" y="4700270"/>
            <a:ext cx="1130300" cy="899160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6" idx="4"/>
            <a:endCxn id="7" idx="0"/>
          </p:cNvCxnSpPr>
          <p:nvPr/>
        </p:nvCxnSpPr>
        <p:spPr>
          <a:xfrm rot="16200000" flipH="1">
            <a:off x="3953510" y="4837430"/>
            <a:ext cx="1130300" cy="624840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6" idx="4"/>
            <a:endCxn id="8" idx="0"/>
          </p:cNvCxnSpPr>
          <p:nvPr/>
        </p:nvCxnSpPr>
        <p:spPr>
          <a:xfrm rot="16200000" flipH="1">
            <a:off x="4791710" y="3999230"/>
            <a:ext cx="1130300" cy="2301240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6" idx="4"/>
            <a:endCxn id="9" idx="0"/>
          </p:cNvCxnSpPr>
          <p:nvPr/>
        </p:nvCxnSpPr>
        <p:spPr>
          <a:xfrm rot="16200000" flipH="1">
            <a:off x="6049010" y="2741930"/>
            <a:ext cx="1130300" cy="4815840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11" idx="4"/>
            <a:endCxn id="7" idx="0"/>
          </p:cNvCxnSpPr>
          <p:nvPr/>
        </p:nvCxnSpPr>
        <p:spPr>
          <a:xfrm rot="5400000">
            <a:off x="4639310" y="4776470"/>
            <a:ext cx="1130300" cy="746760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11" idx="4"/>
            <a:endCxn id="8" idx="0"/>
          </p:cNvCxnSpPr>
          <p:nvPr/>
        </p:nvCxnSpPr>
        <p:spPr>
          <a:xfrm rot="16200000" flipH="1">
            <a:off x="5477510" y="4685030"/>
            <a:ext cx="1130300" cy="929640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11" idx="4"/>
            <a:endCxn id="9" idx="0"/>
          </p:cNvCxnSpPr>
          <p:nvPr/>
        </p:nvCxnSpPr>
        <p:spPr>
          <a:xfrm rot="16200000" flipH="1">
            <a:off x="6734810" y="3427730"/>
            <a:ext cx="1130300" cy="3444240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12" idx="4"/>
            <a:endCxn id="4" idx="0"/>
          </p:cNvCxnSpPr>
          <p:nvPr/>
        </p:nvCxnSpPr>
        <p:spPr>
          <a:xfrm rot="5400000">
            <a:off x="5066030" y="2825750"/>
            <a:ext cx="1130300" cy="4648200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stCxn id="11" idx="4"/>
            <a:endCxn id="4" idx="0"/>
          </p:cNvCxnSpPr>
          <p:nvPr/>
        </p:nvCxnSpPr>
        <p:spPr>
          <a:xfrm rot="5400000">
            <a:off x="3877310" y="4014470"/>
            <a:ext cx="1130300" cy="2270760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12" idx="4"/>
            <a:endCxn id="7" idx="0"/>
          </p:cNvCxnSpPr>
          <p:nvPr/>
        </p:nvCxnSpPr>
        <p:spPr>
          <a:xfrm rot="5400000">
            <a:off x="5828030" y="3587750"/>
            <a:ext cx="1130300" cy="3124200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>
            <a:stCxn id="12" idx="4"/>
            <a:endCxn id="8" idx="0"/>
          </p:cNvCxnSpPr>
          <p:nvPr/>
        </p:nvCxnSpPr>
        <p:spPr>
          <a:xfrm rot="5400000">
            <a:off x="6666230" y="4425950"/>
            <a:ext cx="1130300" cy="1447800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12" idx="4"/>
            <a:endCxn id="9" idx="0"/>
          </p:cNvCxnSpPr>
          <p:nvPr/>
        </p:nvCxnSpPr>
        <p:spPr>
          <a:xfrm rot="16200000" flipH="1">
            <a:off x="7923530" y="4616450"/>
            <a:ext cx="1130300" cy="1066800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>
            <a:stCxn id="10" idx="4"/>
            <a:endCxn id="6" idx="0"/>
          </p:cNvCxnSpPr>
          <p:nvPr/>
        </p:nvCxnSpPr>
        <p:spPr>
          <a:xfrm rot="5400000">
            <a:off x="4136391" y="3067051"/>
            <a:ext cx="764540" cy="624841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stCxn id="10" idx="4"/>
            <a:endCxn id="11" idx="0"/>
          </p:cNvCxnSpPr>
          <p:nvPr/>
        </p:nvCxnSpPr>
        <p:spPr>
          <a:xfrm rot="16200000" flipH="1">
            <a:off x="4822190" y="3006091"/>
            <a:ext cx="764540" cy="746759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>
            <a:stCxn id="10" idx="4"/>
            <a:endCxn id="12" idx="0"/>
          </p:cNvCxnSpPr>
          <p:nvPr/>
        </p:nvCxnSpPr>
        <p:spPr>
          <a:xfrm rot="16200000" flipH="1">
            <a:off x="6010910" y="1817371"/>
            <a:ext cx="764540" cy="3124199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74"/>
          <p:cNvSpPr txBox="1">
            <a:spLocks noChangeArrowheads="1"/>
          </p:cNvSpPr>
          <p:nvPr/>
        </p:nvSpPr>
        <p:spPr bwMode="auto">
          <a:xfrm>
            <a:off x="1948180" y="2362200"/>
            <a:ext cx="12954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dirty="0"/>
              <a:t>Output</a:t>
            </a:r>
          </a:p>
        </p:txBody>
      </p:sp>
      <p:sp>
        <p:nvSpPr>
          <p:cNvPr id="35" name="TextBox 75"/>
          <p:cNvSpPr txBox="1">
            <a:spLocks noChangeArrowheads="1"/>
          </p:cNvSpPr>
          <p:nvPr/>
        </p:nvSpPr>
        <p:spPr bwMode="auto">
          <a:xfrm>
            <a:off x="1524000" y="5943600"/>
            <a:ext cx="12954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Input</a:t>
            </a:r>
          </a:p>
        </p:txBody>
      </p:sp>
      <p:sp>
        <p:nvSpPr>
          <p:cNvPr id="36" name="TextBox 76"/>
          <p:cNvSpPr txBox="1">
            <a:spLocks noChangeArrowheads="1"/>
          </p:cNvSpPr>
          <p:nvPr/>
        </p:nvSpPr>
        <p:spPr bwMode="auto">
          <a:xfrm>
            <a:off x="1508760" y="3990340"/>
            <a:ext cx="20574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Hidden Layer</a:t>
            </a:r>
          </a:p>
        </p:txBody>
      </p:sp>
      <p:sp>
        <p:nvSpPr>
          <p:cNvPr id="40" name="Connector 39"/>
          <p:cNvSpPr/>
          <p:nvPr/>
        </p:nvSpPr>
        <p:spPr>
          <a:xfrm>
            <a:off x="6659880" y="2107565"/>
            <a:ext cx="822960" cy="822960"/>
          </a:xfrm>
          <a:prstGeom prst="flowChartConnector">
            <a:avLst/>
          </a:prstGeom>
          <a:solidFill>
            <a:srgbClr val="E0D925"/>
          </a:solidFill>
          <a:ln>
            <a:solidFill>
              <a:schemeClr val="accent1">
                <a:shade val="95000"/>
                <a:satMod val="10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600" dirty="0" err="1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y</a:t>
            </a:r>
            <a:r>
              <a:rPr lang="en-US" sz="2600" baseline="-25000" dirty="0" err="1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K</a:t>
            </a:r>
            <a:endParaRPr lang="en-US" sz="2600" baseline="-25000" dirty="0">
              <a:ln>
                <a:solidFill>
                  <a:schemeClr val="tx1"/>
                </a:solidFill>
              </a:ln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42" name="TextBox 12"/>
          <p:cNvSpPr txBox="1">
            <a:spLocks noChangeArrowheads="1"/>
          </p:cNvSpPr>
          <p:nvPr/>
        </p:nvSpPr>
        <p:spPr bwMode="auto">
          <a:xfrm>
            <a:off x="5689600" y="2209801"/>
            <a:ext cx="533400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600" b="1" dirty="0"/>
              <a:t>…</a:t>
            </a:r>
          </a:p>
        </p:txBody>
      </p:sp>
      <p:cxnSp>
        <p:nvCxnSpPr>
          <p:cNvPr id="52" name="Straight Connector 51"/>
          <p:cNvCxnSpPr/>
          <p:nvPr/>
        </p:nvCxnSpPr>
        <p:spPr>
          <a:xfrm>
            <a:off x="7071360" y="2930528"/>
            <a:ext cx="883920" cy="831213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/>
          <p:nvPr/>
        </p:nvCxnSpPr>
        <p:spPr>
          <a:xfrm rot="10800000" flipV="1">
            <a:off x="5577839" y="2931320"/>
            <a:ext cx="1494316" cy="830422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/>
          <p:nvPr/>
        </p:nvCxnSpPr>
        <p:spPr>
          <a:xfrm rot="10800000" flipV="1">
            <a:off x="4206242" y="2931320"/>
            <a:ext cx="2865915" cy="830420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34757B-11E3-4E2A-9FC1-44F039F38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C0286-A857-4CB5-A884-CB2AF285A241}" type="datetime1">
              <a:rPr lang="en-US" smtClean="0"/>
              <a:t>2/10/2025</a:t>
            </a:fld>
            <a:endParaRPr 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101984E1-641E-4555-88C8-FA1417EED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</a:p>
        </p:txBody>
      </p:sp>
    </p:spTree>
    <p:extLst>
      <p:ext uri="{BB962C8B-B14F-4D97-AF65-F5344CB8AC3E}">
        <p14:creationId xmlns:p14="http://schemas.microsoft.com/office/powerpoint/2010/main" val="2085915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  <p:bldP spid="42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Multi-Class Output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46</a:t>
            </a:fld>
            <a:endParaRPr lang="en-US"/>
          </a:p>
        </p:txBody>
      </p:sp>
      <p:sp>
        <p:nvSpPr>
          <p:cNvPr id="4" name="Connector 3"/>
          <p:cNvSpPr/>
          <p:nvPr/>
        </p:nvSpPr>
        <p:spPr>
          <a:xfrm>
            <a:off x="2895600" y="5715000"/>
            <a:ext cx="822960" cy="822960"/>
          </a:xfrm>
          <a:prstGeom prst="flowChartConnector">
            <a:avLst/>
          </a:prstGeom>
          <a:solidFill>
            <a:srgbClr val="72CEE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6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x</a:t>
            </a:r>
            <a:r>
              <a:rPr lang="en-US" sz="2600" baseline="-25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6" name="Connector 5"/>
          <p:cNvSpPr/>
          <p:nvPr/>
        </p:nvSpPr>
        <p:spPr>
          <a:xfrm>
            <a:off x="3794760" y="3761740"/>
            <a:ext cx="822960" cy="822960"/>
          </a:xfrm>
          <a:prstGeom prst="flowChartConnector">
            <a:avLst/>
          </a:prstGeom>
          <a:solidFill>
            <a:srgbClr val="EE6802"/>
          </a:solidFill>
          <a:ln>
            <a:solidFill>
              <a:schemeClr val="accent1">
                <a:shade val="95000"/>
                <a:satMod val="10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6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a</a:t>
            </a:r>
            <a:r>
              <a:rPr lang="en-US" sz="2600" baseline="-25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7" name="Connector 6"/>
          <p:cNvSpPr/>
          <p:nvPr/>
        </p:nvSpPr>
        <p:spPr>
          <a:xfrm>
            <a:off x="4419600" y="5715000"/>
            <a:ext cx="822960" cy="822960"/>
          </a:xfrm>
          <a:prstGeom prst="flowChartConnector">
            <a:avLst/>
          </a:prstGeom>
          <a:solidFill>
            <a:srgbClr val="72CEE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6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x</a:t>
            </a:r>
            <a:r>
              <a:rPr lang="en-US" sz="2600" baseline="-25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8" name="Connector 7"/>
          <p:cNvSpPr/>
          <p:nvPr/>
        </p:nvSpPr>
        <p:spPr>
          <a:xfrm>
            <a:off x="6096000" y="5715000"/>
            <a:ext cx="822960" cy="822960"/>
          </a:xfrm>
          <a:prstGeom prst="flowChartConnector">
            <a:avLst/>
          </a:prstGeom>
          <a:solidFill>
            <a:srgbClr val="72CEE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6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x</a:t>
            </a:r>
            <a:r>
              <a:rPr lang="en-US" sz="2600" baseline="-25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9" name="Connector 8"/>
          <p:cNvSpPr/>
          <p:nvPr/>
        </p:nvSpPr>
        <p:spPr>
          <a:xfrm>
            <a:off x="8610600" y="5715000"/>
            <a:ext cx="822960" cy="822960"/>
          </a:xfrm>
          <a:prstGeom prst="flowChartConnector">
            <a:avLst/>
          </a:prstGeom>
          <a:solidFill>
            <a:srgbClr val="72CEE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600" dirty="0" err="1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x</a:t>
            </a:r>
            <a:r>
              <a:rPr lang="en-US" sz="2600" baseline="-25000" dirty="0" err="1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M</a:t>
            </a:r>
            <a:endParaRPr lang="en-US" sz="2600" baseline="-25000" dirty="0">
              <a:ln>
                <a:solidFill>
                  <a:schemeClr val="tx1"/>
                </a:solidFill>
              </a:ln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0" name="Connector 9"/>
          <p:cNvSpPr/>
          <p:nvPr/>
        </p:nvSpPr>
        <p:spPr>
          <a:xfrm>
            <a:off x="4419601" y="2174240"/>
            <a:ext cx="822960" cy="822960"/>
          </a:xfrm>
          <a:prstGeom prst="flowChartConnector">
            <a:avLst/>
          </a:prstGeom>
          <a:solidFill>
            <a:srgbClr val="E0D925"/>
          </a:solidFill>
          <a:ln>
            <a:solidFill>
              <a:schemeClr val="accent1">
                <a:shade val="95000"/>
                <a:satMod val="10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6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y</a:t>
            </a:r>
            <a:r>
              <a:rPr lang="en-US" sz="2600" baseline="-25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11" name="Connector 10"/>
          <p:cNvSpPr/>
          <p:nvPr/>
        </p:nvSpPr>
        <p:spPr>
          <a:xfrm>
            <a:off x="5166360" y="3761740"/>
            <a:ext cx="822960" cy="822960"/>
          </a:xfrm>
          <a:prstGeom prst="flowChartConnector">
            <a:avLst/>
          </a:prstGeom>
          <a:solidFill>
            <a:srgbClr val="EE6802"/>
          </a:solidFill>
          <a:ln>
            <a:solidFill>
              <a:schemeClr val="accent1">
                <a:shade val="95000"/>
                <a:satMod val="10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6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a</a:t>
            </a:r>
            <a:r>
              <a:rPr lang="en-US" sz="2600" baseline="-25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2" name="Connector 11"/>
          <p:cNvSpPr/>
          <p:nvPr/>
        </p:nvSpPr>
        <p:spPr>
          <a:xfrm>
            <a:off x="7543800" y="3761740"/>
            <a:ext cx="822960" cy="822960"/>
          </a:xfrm>
          <a:prstGeom prst="flowChartConnector">
            <a:avLst/>
          </a:prstGeom>
          <a:solidFill>
            <a:srgbClr val="EE6802"/>
          </a:solidFill>
          <a:ln>
            <a:solidFill>
              <a:schemeClr val="accent1">
                <a:shade val="95000"/>
                <a:satMod val="10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600" dirty="0" err="1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a</a:t>
            </a:r>
            <a:r>
              <a:rPr lang="en-US" sz="2600" baseline="-25000" dirty="0" err="1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D</a:t>
            </a:r>
            <a:endParaRPr lang="en-US" sz="2600" baseline="-25000" dirty="0">
              <a:ln>
                <a:solidFill>
                  <a:schemeClr val="tx1"/>
                </a:solidFill>
              </a:ln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6537960" y="3837941"/>
            <a:ext cx="533400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600" b="1"/>
              <a:t>…</a:t>
            </a:r>
          </a:p>
        </p:txBody>
      </p:sp>
      <p:sp>
        <p:nvSpPr>
          <p:cNvPr id="15" name="TextBox 14"/>
          <p:cNvSpPr txBox="1">
            <a:spLocks noChangeArrowheads="1"/>
          </p:cNvSpPr>
          <p:nvPr/>
        </p:nvSpPr>
        <p:spPr bwMode="auto">
          <a:xfrm>
            <a:off x="7543800" y="5791201"/>
            <a:ext cx="533400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600" b="1"/>
              <a:t>…</a:t>
            </a:r>
          </a:p>
        </p:txBody>
      </p:sp>
      <p:cxnSp>
        <p:nvCxnSpPr>
          <p:cNvPr id="16" name="Straight Connector 15"/>
          <p:cNvCxnSpPr>
            <a:stCxn id="6" idx="4"/>
            <a:endCxn id="4" idx="0"/>
          </p:cNvCxnSpPr>
          <p:nvPr/>
        </p:nvCxnSpPr>
        <p:spPr>
          <a:xfrm rot="5400000">
            <a:off x="3191510" y="4700270"/>
            <a:ext cx="1130300" cy="899160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6" idx="4"/>
            <a:endCxn id="7" idx="0"/>
          </p:cNvCxnSpPr>
          <p:nvPr/>
        </p:nvCxnSpPr>
        <p:spPr>
          <a:xfrm rot="16200000" flipH="1">
            <a:off x="3953510" y="4837430"/>
            <a:ext cx="1130300" cy="624840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6" idx="4"/>
            <a:endCxn id="8" idx="0"/>
          </p:cNvCxnSpPr>
          <p:nvPr/>
        </p:nvCxnSpPr>
        <p:spPr>
          <a:xfrm rot="16200000" flipH="1">
            <a:off x="4791710" y="3999230"/>
            <a:ext cx="1130300" cy="2301240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6" idx="4"/>
            <a:endCxn id="9" idx="0"/>
          </p:cNvCxnSpPr>
          <p:nvPr/>
        </p:nvCxnSpPr>
        <p:spPr>
          <a:xfrm rot="16200000" flipH="1">
            <a:off x="6049010" y="2741930"/>
            <a:ext cx="1130300" cy="4815840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11" idx="4"/>
            <a:endCxn id="7" idx="0"/>
          </p:cNvCxnSpPr>
          <p:nvPr/>
        </p:nvCxnSpPr>
        <p:spPr>
          <a:xfrm rot="5400000">
            <a:off x="4639310" y="4776470"/>
            <a:ext cx="1130300" cy="746760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11" idx="4"/>
            <a:endCxn id="8" idx="0"/>
          </p:cNvCxnSpPr>
          <p:nvPr/>
        </p:nvCxnSpPr>
        <p:spPr>
          <a:xfrm rot="16200000" flipH="1">
            <a:off x="5477510" y="4685030"/>
            <a:ext cx="1130300" cy="929640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11" idx="4"/>
            <a:endCxn id="9" idx="0"/>
          </p:cNvCxnSpPr>
          <p:nvPr/>
        </p:nvCxnSpPr>
        <p:spPr>
          <a:xfrm rot="16200000" flipH="1">
            <a:off x="6734810" y="3427730"/>
            <a:ext cx="1130300" cy="3444240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12" idx="4"/>
            <a:endCxn id="4" idx="0"/>
          </p:cNvCxnSpPr>
          <p:nvPr/>
        </p:nvCxnSpPr>
        <p:spPr>
          <a:xfrm rot="5400000">
            <a:off x="5066030" y="2825750"/>
            <a:ext cx="1130300" cy="4648200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stCxn id="11" idx="4"/>
            <a:endCxn id="4" idx="0"/>
          </p:cNvCxnSpPr>
          <p:nvPr/>
        </p:nvCxnSpPr>
        <p:spPr>
          <a:xfrm rot="5400000">
            <a:off x="3877310" y="4014470"/>
            <a:ext cx="1130300" cy="2270760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12" idx="4"/>
            <a:endCxn id="7" idx="0"/>
          </p:cNvCxnSpPr>
          <p:nvPr/>
        </p:nvCxnSpPr>
        <p:spPr>
          <a:xfrm rot="5400000">
            <a:off x="5828030" y="3587750"/>
            <a:ext cx="1130300" cy="3124200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>
            <a:stCxn id="12" idx="4"/>
            <a:endCxn id="8" idx="0"/>
          </p:cNvCxnSpPr>
          <p:nvPr/>
        </p:nvCxnSpPr>
        <p:spPr>
          <a:xfrm rot="5400000">
            <a:off x="6666230" y="4425950"/>
            <a:ext cx="1130300" cy="1447800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12" idx="4"/>
            <a:endCxn id="9" idx="0"/>
          </p:cNvCxnSpPr>
          <p:nvPr/>
        </p:nvCxnSpPr>
        <p:spPr>
          <a:xfrm rot="16200000" flipH="1">
            <a:off x="7923530" y="4616450"/>
            <a:ext cx="1130300" cy="1066800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>
            <a:stCxn id="10" idx="4"/>
            <a:endCxn id="6" idx="0"/>
          </p:cNvCxnSpPr>
          <p:nvPr/>
        </p:nvCxnSpPr>
        <p:spPr>
          <a:xfrm rot="5400000">
            <a:off x="4136391" y="3067051"/>
            <a:ext cx="764540" cy="624841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stCxn id="10" idx="4"/>
            <a:endCxn id="11" idx="0"/>
          </p:cNvCxnSpPr>
          <p:nvPr/>
        </p:nvCxnSpPr>
        <p:spPr>
          <a:xfrm rot="16200000" flipH="1">
            <a:off x="4822190" y="3006091"/>
            <a:ext cx="764540" cy="746759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>
            <a:stCxn id="10" idx="4"/>
            <a:endCxn id="12" idx="0"/>
          </p:cNvCxnSpPr>
          <p:nvPr/>
        </p:nvCxnSpPr>
        <p:spPr>
          <a:xfrm rot="16200000" flipH="1">
            <a:off x="6010910" y="1817371"/>
            <a:ext cx="764540" cy="3124199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74"/>
          <p:cNvSpPr txBox="1">
            <a:spLocks noChangeArrowheads="1"/>
          </p:cNvSpPr>
          <p:nvPr/>
        </p:nvSpPr>
        <p:spPr bwMode="auto">
          <a:xfrm>
            <a:off x="1948180" y="2362200"/>
            <a:ext cx="12954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dirty="0"/>
              <a:t>Output</a:t>
            </a:r>
          </a:p>
        </p:txBody>
      </p:sp>
      <p:sp>
        <p:nvSpPr>
          <p:cNvPr id="35" name="TextBox 75"/>
          <p:cNvSpPr txBox="1">
            <a:spLocks noChangeArrowheads="1"/>
          </p:cNvSpPr>
          <p:nvPr/>
        </p:nvSpPr>
        <p:spPr bwMode="auto">
          <a:xfrm>
            <a:off x="1524000" y="5943600"/>
            <a:ext cx="12954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Input</a:t>
            </a:r>
          </a:p>
        </p:txBody>
      </p:sp>
      <p:sp>
        <p:nvSpPr>
          <p:cNvPr id="36" name="TextBox 76"/>
          <p:cNvSpPr txBox="1">
            <a:spLocks noChangeArrowheads="1"/>
          </p:cNvSpPr>
          <p:nvPr/>
        </p:nvSpPr>
        <p:spPr bwMode="auto">
          <a:xfrm>
            <a:off x="1508760" y="3990340"/>
            <a:ext cx="20574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Hidden Layer</a:t>
            </a:r>
          </a:p>
        </p:txBody>
      </p:sp>
      <p:sp>
        <p:nvSpPr>
          <p:cNvPr id="40" name="Connector 39"/>
          <p:cNvSpPr/>
          <p:nvPr/>
        </p:nvSpPr>
        <p:spPr>
          <a:xfrm>
            <a:off x="6659880" y="2107565"/>
            <a:ext cx="822960" cy="822960"/>
          </a:xfrm>
          <a:prstGeom prst="flowChartConnector">
            <a:avLst/>
          </a:prstGeom>
          <a:solidFill>
            <a:srgbClr val="E0D925"/>
          </a:solidFill>
          <a:ln>
            <a:solidFill>
              <a:schemeClr val="accent1">
                <a:shade val="95000"/>
                <a:satMod val="10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600" dirty="0" err="1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y</a:t>
            </a:r>
            <a:r>
              <a:rPr lang="en-US" sz="2600" baseline="-25000" dirty="0" err="1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K</a:t>
            </a:r>
            <a:endParaRPr lang="en-US" sz="2600" baseline="-25000" dirty="0">
              <a:ln>
                <a:solidFill>
                  <a:schemeClr val="tx1"/>
                </a:solidFill>
              </a:ln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42" name="TextBox 12"/>
          <p:cNvSpPr txBox="1">
            <a:spLocks noChangeArrowheads="1"/>
          </p:cNvSpPr>
          <p:nvPr/>
        </p:nvSpPr>
        <p:spPr bwMode="auto">
          <a:xfrm>
            <a:off x="5689600" y="2209801"/>
            <a:ext cx="533400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600" b="1" dirty="0"/>
              <a:t>…</a:t>
            </a:r>
          </a:p>
        </p:txBody>
      </p:sp>
      <p:cxnSp>
        <p:nvCxnSpPr>
          <p:cNvPr id="52" name="Straight Connector 51"/>
          <p:cNvCxnSpPr/>
          <p:nvPr/>
        </p:nvCxnSpPr>
        <p:spPr>
          <a:xfrm>
            <a:off x="7071360" y="2930528"/>
            <a:ext cx="883920" cy="831213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/>
          <p:nvPr/>
        </p:nvCxnSpPr>
        <p:spPr>
          <a:xfrm rot="10800000" flipV="1">
            <a:off x="5577839" y="2931320"/>
            <a:ext cx="1494316" cy="830422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/>
          <p:nvPr/>
        </p:nvCxnSpPr>
        <p:spPr>
          <a:xfrm rot="10800000" flipV="1">
            <a:off x="4206242" y="2931320"/>
            <a:ext cx="2865915" cy="830420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34757B-11E3-4E2A-9FC1-44F039F38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C0286-A857-4CB5-A884-CB2AF285A241}" type="datetime1">
              <a:rPr lang="en-US" smtClean="0"/>
              <a:t>2/10/2025</a:t>
            </a:fld>
            <a:endParaRPr 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101984E1-641E-4555-88C8-FA1417EED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</a:p>
        </p:txBody>
      </p:sp>
    </p:spTree>
    <p:extLst>
      <p:ext uri="{BB962C8B-B14F-4D97-AF65-F5344CB8AC3E}">
        <p14:creationId xmlns:p14="http://schemas.microsoft.com/office/powerpoint/2010/main" val="183821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  <p:bldP spid="42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Deeper Networks</a:t>
            </a:r>
          </a:p>
        </p:txBody>
      </p:sp>
      <p:sp>
        <p:nvSpPr>
          <p:cNvPr id="45" name="Content Placeholder 4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47</a:t>
            </a:fld>
            <a:endParaRPr lang="en-US" dirty="0"/>
          </a:p>
        </p:txBody>
      </p:sp>
      <p:sp>
        <p:nvSpPr>
          <p:cNvPr id="17" name="Connector 16"/>
          <p:cNvSpPr/>
          <p:nvPr/>
        </p:nvSpPr>
        <p:spPr>
          <a:xfrm>
            <a:off x="4557291" y="5825518"/>
            <a:ext cx="450150" cy="450150"/>
          </a:xfrm>
          <a:prstGeom prst="flowChartConnector">
            <a:avLst/>
          </a:prstGeom>
          <a:solidFill>
            <a:srgbClr val="72CEE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x</a:t>
            </a:r>
            <a:r>
              <a:rPr lang="en-US" sz="1000" baseline="-25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19" name="Connector 18"/>
          <p:cNvSpPr/>
          <p:nvPr/>
        </p:nvSpPr>
        <p:spPr>
          <a:xfrm>
            <a:off x="5390902" y="5825518"/>
            <a:ext cx="450150" cy="450150"/>
          </a:xfrm>
          <a:prstGeom prst="flowChartConnector">
            <a:avLst/>
          </a:prstGeom>
          <a:solidFill>
            <a:srgbClr val="72CEE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x</a:t>
            </a:r>
            <a:r>
              <a:rPr lang="en-US" sz="1000" baseline="-25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20" name="Connector 19"/>
          <p:cNvSpPr/>
          <p:nvPr/>
        </p:nvSpPr>
        <p:spPr>
          <a:xfrm>
            <a:off x="6307875" y="5825518"/>
            <a:ext cx="450150" cy="450150"/>
          </a:xfrm>
          <a:prstGeom prst="flowChartConnector">
            <a:avLst/>
          </a:prstGeom>
          <a:solidFill>
            <a:srgbClr val="72CEE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x</a:t>
            </a:r>
            <a:r>
              <a:rPr lang="en-US" sz="1000" baseline="-25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21" name="Connector 20"/>
          <p:cNvSpPr/>
          <p:nvPr/>
        </p:nvSpPr>
        <p:spPr>
          <a:xfrm>
            <a:off x="7683333" y="5825518"/>
            <a:ext cx="450150" cy="450150"/>
          </a:xfrm>
          <a:prstGeom prst="flowChartConnector">
            <a:avLst/>
          </a:prstGeom>
          <a:solidFill>
            <a:srgbClr val="72CEE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000" dirty="0" err="1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x</a:t>
            </a:r>
            <a:r>
              <a:rPr lang="en-US" sz="1000" baseline="-25000" dirty="0" err="1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M</a:t>
            </a:r>
            <a:endParaRPr lang="en-US" sz="1000" baseline="-25000" dirty="0">
              <a:ln>
                <a:solidFill>
                  <a:schemeClr val="tx1"/>
                </a:solidFill>
              </a:ln>
              <a:solidFill>
                <a:schemeClr val="tx1"/>
              </a:solidFill>
              <a:latin typeface="Arial"/>
              <a:cs typeface="Arial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C787215-B2D1-45AB-A10E-8E5557707581}"/>
              </a:ext>
            </a:extLst>
          </p:cNvPr>
          <p:cNvGrpSpPr/>
          <p:nvPr/>
        </p:nvGrpSpPr>
        <p:grpSpPr>
          <a:xfrm>
            <a:off x="3798706" y="3888763"/>
            <a:ext cx="4109703" cy="2308019"/>
            <a:chOff x="2274705" y="3888762"/>
            <a:chExt cx="4109703" cy="2308019"/>
          </a:xfrm>
        </p:grpSpPr>
        <p:sp>
          <p:nvSpPr>
            <p:cNvPr id="18" name="Connector 17"/>
            <p:cNvSpPr/>
            <p:nvPr/>
          </p:nvSpPr>
          <p:spPr>
            <a:xfrm>
              <a:off x="3525122" y="4757107"/>
              <a:ext cx="450150" cy="450150"/>
            </a:xfrm>
            <a:prstGeom prst="flowChartConnector">
              <a:avLst/>
            </a:prstGeom>
            <a:solidFill>
              <a:srgbClr val="EE6802"/>
            </a:solidFill>
            <a:ln>
              <a:solidFill>
                <a:schemeClr val="accent1">
                  <a:shade val="95000"/>
                  <a:satMod val="10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1000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Arial"/>
                  <a:cs typeface="Arial"/>
                </a:rPr>
                <a:t>a</a:t>
              </a:r>
              <a:r>
                <a:rPr lang="en-US" sz="1000" baseline="-25000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22" name="Connector 21"/>
            <p:cNvSpPr/>
            <p:nvPr/>
          </p:nvSpPr>
          <p:spPr>
            <a:xfrm>
              <a:off x="4617152" y="3888762"/>
              <a:ext cx="450150" cy="450150"/>
            </a:xfrm>
            <a:prstGeom prst="flowChartConnector">
              <a:avLst/>
            </a:prstGeom>
            <a:solidFill>
              <a:srgbClr val="E0D925"/>
            </a:solidFill>
            <a:ln>
              <a:solidFill>
                <a:schemeClr val="accent1">
                  <a:shade val="95000"/>
                  <a:satMod val="10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1000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Arial"/>
                  <a:cs typeface="Arial"/>
                </a:rPr>
                <a:t>y</a:t>
              </a:r>
              <a:endParaRPr lang="en-US" sz="1000" baseline="-25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endParaRPr>
            </a:p>
          </p:txBody>
        </p:sp>
        <p:sp>
          <p:nvSpPr>
            <p:cNvPr id="23" name="Connector 22"/>
            <p:cNvSpPr/>
            <p:nvPr/>
          </p:nvSpPr>
          <p:spPr>
            <a:xfrm>
              <a:off x="4275372" y="4757107"/>
              <a:ext cx="450150" cy="450150"/>
            </a:xfrm>
            <a:prstGeom prst="flowChartConnector">
              <a:avLst/>
            </a:prstGeom>
            <a:solidFill>
              <a:srgbClr val="EE6802"/>
            </a:solidFill>
            <a:ln>
              <a:solidFill>
                <a:schemeClr val="accent1">
                  <a:shade val="95000"/>
                  <a:satMod val="10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1000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Arial"/>
                  <a:cs typeface="Arial"/>
                </a:rPr>
                <a:t>a</a:t>
              </a:r>
              <a:r>
                <a:rPr lang="en-US" sz="1000" baseline="-25000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24" name="Connector 23"/>
            <p:cNvSpPr/>
            <p:nvPr/>
          </p:nvSpPr>
          <p:spPr>
            <a:xfrm>
              <a:off x="5575805" y="4757107"/>
              <a:ext cx="450150" cy="450150"/>
            </a:xfrm>
            <a:prstGeom prst="flowChartConnector">
              <a:avLst/>
            </a:prstGeom>
            <a:solidFill>
              <a:srgbClr val="EE6802"/>
            </a:solidFill>
            <a:ln>
              <a:solidFill>
                <a:schemeClr val="accent1">
                  <a:shade val="95000"/>
                  <a:satMod val="10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1000" dirty="0" err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Arial"/>
                  <a:cs typeface="Arial"/>
                </a:rPr>
                <a:t>a</a:t>
              </a:r>
              <a:r>
                <a:rPr lang="en-US" sz="1000" baseline="-25000" dirty="0" err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Arial"/>
                  <a:cs typeface="Arial"/>
                </a:rPr>
                <a:t>D</a:t>
              </a:r>
              <a:endParaRPr lang="en-US" sz="1000" baseline="-25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endParaRPr>
            </a:p>
          </p:txBody>
        </p:sp>
        <p:sp>
          <p:nvSpPr>
            <p:cNvPr id="25" name="TextBox 24"/>
            <p:cNvSpPr txBox="1">
              <a:spLocks noChangeArrowheads="1"/>
            </p:cNvSpPr>
            <p:nvPr/>
          </p:nvSpPr>
          <p:spPr bwMode="auto">
            <a:xfrm>
              <a:off x="5025621" y="4810271"/>
              <a:ext cx="291764" cy="246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1000" b="1" dirty="0"/>
                <a:t>…</a:t>
              </a:r>
            </a:p>
          </p:txBody>
        </p:sp>
        <p:sp>
          <p:nvSpPr>
            <p:cNvPr id="26" name="TextBox 25"/>
            <p:cNvSpPr txBox="1">
              <a:spLocks noChangeArrowheads="1"/>
            </p:cNvSpPr>
            <p:nvPr/>
          </p:nvSpPr>
          <p:spPr bwMode="auto">
            <a:xfrm>
              <a:off x="5575805" y="5878682"/>
              <a:ext cx="291764" cy="246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1000" b="1"/>
                <a:t>…</a:t>
              </a:r>
            </a:p>
          </p:txBody>
        </p:sp>
        <p:cxnSp>
          <p:nvCxnSpPr>
            <p:cNvPr id="27" name="Straight Connector 26"/>
            <p:cNvCxnSpPr>
              <a:stCxn id="18" idx="4"/>
              <a:endCxn id="17" idx="0"/>
            </p:cNvCxnSpPr>
            <p:nvPr/>
          </p:nvCxnSpPr>
          <p:spPr>
            <a:xfrm rot="5400000">
              <a:off x="3195151" y="5270472"/>
              <a:ext cx="618261" cy="491831"/>
            </a:xfrm>
            <a:prstGeom prst="line">
              <a:avLst/>
            </a:prstGeom>
            <a:ln>
              <a:solidFill>
                <a:schemeClr val="tx1"/>
              </a:solidFill>
              <a:head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>
              <a:stCxn id="18" idx="4"/>
              <a:endCxn id="19" idx="0"/>
            </p:cNvCxnSpPr>
            <p:nvPr/>
          </p:nvCxnSpPr>
          <p:spPr>
            <a:xfrm rot="16200000" flipH="1">
              <a:off x="3611956" y="5345497"/>
              <a:ext cx="618261" cy="341781"/>
            </a:xfrm>
            <a:prstGeom prst="line">
              <a:avLst/>
            </a:prstGeom>
            <a:ln>
              <a:solidFill>
                <a:schemeClr val="tx1"/>
              </a:solidFill>
              <a:head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>
              <a:stCxn id="18" idx="4"/>
              <a:endCxn id="20" idx="0"/>
            </p:cNvCxnSpPr>
            <p:nvPr/>
          </p:nvCxnSpPr>
          <p:spPr>
            <a:xfrm rot="16200000" flipH="1">
              <a:off x="4070442" y="4887011"/>
              <a:ext cx="618261" cy="1258753"/>
            </a:xfrm>
            <a:prstGeom prst="line">
              <a:avLst/>
            </a:prstGeom>
            <a:ln>
              <a:solidFill>
                <a:schemeClr val="tx1"/>
              </a:solidFill>
              <a:head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>
              <a:stCxn id="18" idx="4"/>
              <a:endCxn id="21" idx="0"/>
            </p:cNvCxnSpPr>
            <p:nvPr/>
          </p:nvCxnSpPr>
          <p:spPr>
            <a:xfrm rot="16200000" flipH="1">
              <a:off x="4758172" y="4199282"/>
              <a:ext cx="618261" cy="2634211"/>
            </a:xfrm>
            <a:prstGeom prst="line">
              <a:avLst/>
            </a:prstGeom>
            <a:ln>
              <a:solidFill>
                <a:schemeClr val="tx1"/>
              </a:solidFill>
              <a:head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>
              <a:stCxn id="23" idx="4"/>
              <a:endCxn id="19" idx="0"/>
            </p:cNvCxnSpPr>
            <p:nvPr/>
          </p:nvCxnSpPr>
          <p:spPr>
            <a:xfrm rot="5400000">
              <a:off x="3987081" y="5312153"/>
              <a:ext cx="618261" cy="408469"/>
            </a:xfrm>
            <a:prstGeom prst="line">
              <a:avLst/>
            </a:prstGeom>
            <a:ln>
              <a:solidFill>
                <a:schemeClr val="tx1"/>
              </a:solidFill>
              <a:head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>
              <a:stCxn id="23" idx="4"/>
              <a:endCxn id="20" idx="0"/>
            </p:cNvCxnSpPr>
            <p:nvPr/>
          </p:nvCxnSpPr>
          <p:spPr>
            <a:xfrm rot="16200000" flipH="1">
              <a:off x="4445567" y="5262136"/>
              <a:ext cx="618261" cy="508503"/>
            </a:xfrm>
            <a:prstGeom prst="line">
              <a:avLst/>
            </a:prstGeom>
            <a:ln>
              <a:solidFill>
                <a:schemeClr val="tx1"/>
              </a:solidFill>
              <a:head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>
              <a:stCxn id="23" idx="4"/>
              <a:endCxn id="21" idx="0"/>
            </p:cNvCxnSpPr>
            <p:nvPr/>
          </p:nvCxnSpPr>
          <p:spPr>
            <a:xfrm rot="16200000" flipH="1">
              <a:off x="5133297" y="4574407"/>
              <a:ext cx="618261" cy="1883961"/>
            </a:xfrm>
            <a:prstGeom prst="line">
              <a:avLst/>
            </a:prstGeom>
            <a:ln>
              <a:solidFill>
                <a:schemeClr val="tx1"/>
              </a:solidFill>
              <a:head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>
              <a:stCxn id="24" idx="4"/>
              <a:endCxn id="17" idx="0"/>
            </p:cNvCxnSpPr>
            <p:nvPr/>
          </p:nvCxnSpPr>
          <p:spPr>
            <a:xfrm rot="5400000">
              <a:off x="4220492" y="4245130"/>
              <a:ext cx="618261" cy="2542514"/>
            </a:xfrm>
            <a:prstGeom prst="line">
              <a:avLst/>
            </a:prstGeom>
            <a:ln>
              <a:solidFill>
                <a:schemeClr val="tx1"/>
              </a:solidFill>
              <a:head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>
              <a:stCxn id="23" idx="4"/>
              <a:endCxn id="17" idx="0"/>
            </p:cNvCxnSpPr>
            <p:nvPr/>
          </p:nvCxnSpPr>
          <p:spPr>
            <a:xfrm rot="5400000">
              <a:off x="3570276" y="4895347"/>
              <a:ext cx="618261" cy="1242081"/>
            </a:xfrm>
            <a:prstGeom prst="line">
              <a:avLst/>
            </a:prstGeom>
            <a:ln>
              <a:solidFill>
                <a:schemeClr val="tx1"/>
              </a:solidFill>
              <a:head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>
              <a:stCxn id="24" idx="4"/>
              <a:endCxn id="19" idx="0"/>
            </p:cNvCxnSpPr>
            <p:nvPr/>
          </p:nvCxnSpPr>
          <p:spPr>
            <a:xfrm rot="5400000">
              <a:off x="4637298" y="4661936"/>
              <a:ext cx="618261" cy="1708903"/>
            </a:xfrm>
            <a:prstGeom prst="line">
              <a:avLst/>
            </a:prstGeom>
            <a:ln>
              <a:solidFill>
                <a:schemeClr val="tx1"/>
              </a:solidFill>
              <a:head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>
              <a:stCxn id="24" idx="4"/>
              <a:endCxn id="20" idx="0"/>
            </p:cNvCxnSpPr>
            <p:nvPr/>
          </p:nvCxnSpPr>
          <p:spPr>
            <a:xfrm rot="5400000">
              <a:off x="5095784" y="5120422"/>
              <a:ext cx="618261" cy="791931"/>
            </a:xfrm>
            <a:prstGeom prst="line">
              <a:avLst/>
            </a:prstGeom>
            <a:ln>
              <a:solidFill>
                <a:schemeClr val="tx1"/>
              </a:solidFill>
              <a:head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>
              <a:stCxn id="24" idx="4"/>
              <a:endCxn id="21" idx="0"/>
            </p:cNvCxnSpPr>
            <p:nvPr/>
          </p:nvCxnSpPr>
          <p:spPr>
            <a:xfrm rot="16200000" flipH="1">
              <a:off x="5783513" y="5224623"/>
              <a:ext cx="618261" cy="583528"/>
            </a:xfrm>
            <a:prstGeom prst="line">
              <a:avLst/>
            </a:prstGeom>
            <a:ln>
              <a:solidFill>
                <a:schemeClr val="tx1"/>
              </a:solidFill>
              <a:head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>
              <a:stCxn id="22" idx="4"/>
              <a:endCxn id="18" idx="0"/>
            </p:cNvCxnSpPr>
            <p:nvPr/>
          </p:nvCxnSpPr>
          <p:spPr>
            <a:xfrm rot="5400000">
              <a:off x="4087115" y="4001994"/>
              <a:ext cx="418195" cy="1092031"/>
            </a:xfrm>
            <a:prstGeom prst="line">
              <a:avLst/>
            </a:prstGeom>
            <a:ln>
              <a:solidFill>
                <a:schemeClr val="tx1"/>
              </a:solidFill>
              <a:head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>
              <a:stCxn id="22" idx="4"/>
              <a:endCxn id="23" idx="0"/>
            </p:cNvCxnSpPr>
            <p:nvPr/>
          </p:nvCxnSpPr>
          <p:spPr>
            <a:xfrm rot="5400000">
              <a:off x="4462240" y="4377119"/>
              <a:ext cx="418195" cy="341781"/>
            </a:xfrm>
            <a:prstGeom prst="line">
              <a:avLst/>
            </a:prstGeom>
            <a:ln>
              <a:solidFill>
                <a:schemeClr val="tx1"/>
              </a:solidFill>
              <a:head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>
              <a:stCxn id="22" idx="4"/>
              <a:endCxn id="24" idx="0"/>
            </p:cNvCxnSpPr>
            <p:nvPr/>
          </p:nvCxnSpPr>
          <p:spPr>
            <a:xfrm rot="16200000" flipH="1">
              <a:off x="5112456" y="4068683"/>
              <a:ext cx="418195" cy="958653"/>
            </a:xfrm>
            <a:prstGeom prst="line">
              <a:avLst/>
            </a:prstGeom>
            <a:ln>
              <a:solidFill>
                <a:schemeClr val="tx1"/>
              </a:solidFill>
              <a:head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74"/>
            <p:cNvSpPr txBox="1">
              <a:spLocks noChangeArrowheads="1"/>
            </p:cNvSpPr>
            <p:nvPr/>
          </p:nvSpPr>
          <p:spPr bwMode="auto">
            <a:xfrm>
              <a:off x="2515062" y="3991573"/>
              <a:ext cx="708569" cy="246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r>
                <a:rPr lang="en-US" sz="1000" dirty="0"/>
                <a:t>Output</a:t>
              </a:r>
            </a:p>
          </p:txBody>
        </p:sp>
        <p:sp>
          <p:nvSpPr>
            <p:cNvPr id="43" name="TextBox 75"/>
            <p:cNvSpPr txBox="1">
              <a:spLocks noChangeArrowheads="1"/>
            </p:cNvSpPr>
            <p:nvPr/>
          </p:nvSpPr>
          <p:spPr bwMode="auto">
            <a:xfrm>
              <a:off x="2283041" y="5950560"/>
              <a:ext cx="708569" cy="246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1000"/>
                <a:t>Input</a:t>
              </a:r>
            </a:p>
          </p:txBody>
        </p:sp>
        <p:sp>
          <p:nvSpPr>
            <p:cNvPr id="44" name="TextBox 76"/>
            <p:cNvSpPr txBox="1">
              <a:spLocks noChangeArrowheads="1"/>
            </p:cNvSpPr>
            <p:nvPr/>
          </p:nvSpPr>
          <p:spPr bwMode="auto">
            <a:xfrm>
              <a:off x="2274705" y="4882148"/>
              <a:ext cx="1125375" cy="246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1000" dirty="0"/>
                <a:t>Hidden Layer 1</a:t>
              </a:r>
            </a:p>
          </p:txBody>
        </p: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3F1957-B25D-4EA2-BF18-3B4480959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7E3F4-46F7-4F45-A7C1-C2E88DDC71EF}" type="datetime1">
              <a:rPr lang="en-US" smtClean="0"/>
              <a:t>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B5ACB2-FFFA-4B25-AC35-A0AB881BB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</a:p>
        </p:txBody>
      </p:sp>
    </p:spTree>
    <p:extLst>
      <p:ext uri="{BB962C8B-B14F-4D97-AF65-F5344CB8AC3E}">
        <p14:creationId xmlns:p14="http://schemas.microsoft.com/office/powerpoint/2010/main" val="264987548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Deeper Networks</a:t>
            </a:r>
          </a:p>
        </p:txBody>
      </p:sp>
      <p:sp>
        <p:nvSpPr>
          <p:cNvPr id="67" name="Content Placeholder 4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48</a:t>
            </a:fld>
            <a:endParaRPr lang="en-US"/>
          </a:p>
        </p:txBody>
      </p:sp>
      <p:sp>
        <p:nvSpPr>
          <p:cNvPr id="17" name="Connector 16"/>
          <p:cNvSpPr/>
          <p:nvPr/>
        </p:nvSpPr>
        <p:spPr>
          <a:xfrm>
            <a:off x="4557291" y="5825518"/>
            <a:ext cx="450150" cy="450150"/>
          </a:xfrm>
          <a:prstGeom prst="flowChartConnector">
            <a:avLst/>
          </a:prstGeom>
          <a:solidFill>
            <a:srgbClr val="72CEE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x</a:t>
            </a:r>
            <a:r>
              <a:rPr lang="en-US" sz="1000" baseline="-25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18" name="Connector 17"/>
          <p:cNvSpPr/>
          <p:nvPr/>
        </p:nvSpPr>
        <p:spPr>
          <a:xfrm>
            <a:off x="5049122" y="4757107"/>
            <a:ext cx="450150" cy="450150"/>
          </a:xfrm>
          <a:prstGeom prst="flowChartConnector">
            <a:avLst/>
          </a:prstGeom>
          <a:solidFill>
            <a:srgbClr val="EE6802"/>
          </a:solidFill>
          <a:ln>
            <a:solidFill>
              <a:schemeClr val="accent1">
                <a:shade val="95000"/>
                <a:satMod val="10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a</a:t>
            </a:r>
            <a:r>
              <a:rPr lang="en-US" sz="1000" baseline="-25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19" name="Connector 18"/>
          <p:cNvSpPr/>
          <p:nvPr/>
        </p:nvSpPr>
        <p:spPr>
          <a:xfrm>
            <a:off x="5390902" y="5825518"/>
            <a:ext cx="450150" cy="450150"/>
          </a:xfrm>
          <a:prstGeom prst="flowChartConnector">
            <a:avLst/>
          </a:prstGeom>
          <a:solidFill>
            <a:srgbClr val="72CEE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x</a:t>
            </a:r>
            <a:r>
              <a:rPr lang="en-US" sz="1000" baseline="-25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20" name="Connector 19"/>
          <p:cNvSpPr/>
          <p:nvPr/>
        </p:nvSpPr>
        <p:spPr>
          <a:xfrm>
            <a:off x="6307875" y="5825518"/>
            <a:ext cx="450150" cy="450150"/>
          </a:xfrm>
          <a:prstGeom prst="flowChartConnector">
            <a:avLst/>
          </a:prstGeom>
          <a:solidFill>
            <a:srgbClr val="72CEE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x</a:t>
            </a:r>
            <a:r>
              <a:rPr lang="en-US" sz="1000" baseline="-25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21" name="Connector 20"/>
          <p:cNvSpPr/>
          <p:nvPr/>
        </p:nvSpPr>
        <p:spPr>
          <a:xfrm>
            <a:off x="7683333" y="5825518"/>
            <a:ext cx="450150" cy="450150"/>
          </a:xfrm>
          <a:prstGeom prst="flowChartConnector">
            <a:avLst/>
          </a:prstGeom>
          <a:solidFill>
            <a:srgbClr val="72CEE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000" dirty="0" err="1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x</a:t>
            </a:r>
            <a:r>
              <a:rPr lang="en-US" sz="1000" baseline="-25000" dirty="0" err="1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M</a:t>
            </a:r>
            <a:endParaRPr lang="en-US" sz="1000" baseline="-25000" dirty="0">
              <a:ln>
                <a:solidFill>
                  <a:schemeClr val="tx1"/>
                </a:solidFill>
              </a:ln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23" name="Connector 22"/>
          <p:cNvSpPr/>
          <p:nvPr/>
        </p:nvSpPr>
        <p:spPr>
          <a:xfrm>
            <a:off x="5799372" y="4757107"/>
            <a:ext cx="450150" cy="450150"/>
          </a:xfrm>
          <a:prstGeom prst="flowChartConnector">
            <a:avLst/>
          </a:prstGeom>
          <a:solidFill>
            <a:srgbClr val="EE6802"/>
          </a:solidFill>
          <a:ln>
            <a:solidFill>
              <a:schemeClr val="accent1">
                <a:shade val="95000"/>
                <a:satMod val="10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a</a:t>
            </a:r>
            <a:r>
              <a:rPr lang="en-US" sz="1000" baseline="-25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24" name="Connector 23"/>
          <p:cNvSpPr/>
          <p:nvPr/>
        </p:nvSpPr>
        <p:spPr>
          <a:xfrm>
            <a:off x="7099805" y="4757107"/>
            <a:ext cx="450150" cy="450150"/>
          </a:xfrm>
          <a:prstGeom prst="flowChartConnector">
            <a:avLst/>
          </a:prstGeom>
          <a:solidFill>
            <a:srgbClr val="EE6802"/>
          </a:solidFill>
          <a:ln>
            <a:solidFill>
              <a:schemeClr val="accent1">
                <a:shade val="95000"/>
                <a:satMod val="10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000" dirty="0" err="1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a</a:t>
            </a:r>
            <a:r>
              <a:rPr lang="en-US" sz="1000" baseline="-25000" dirty="0" err="1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D</a:t>
            </a:r>
            <a:endParaRPr lang="en-US" sz="1000" baseline="-25000" dirty="0">
              <a:ln>
                <a:solidFill>
                  <a:schemeClr val="tx1"/>
                </a:solidFill>
              </a:ln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25" name="TextBox 24"/>
          <p:cNvSpPr txBox="1">
            <a:spLocks noChangeArrowheads="1"/>
          </p:cNvSpPr>
          <p:nvPr/>
        </p:nvSpPr>
        <p:spPr bwMode="auto">
          <a:xfrm>
            <a:off x="6549621" y="4810271"/>
            <a:ext cx="291764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000" b="1" dirty="0"/>
              <a:t>…</a:t>
            </a: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7099805" y="5878682"/>
            <a:ext cx="291764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000" b="1"/>
              <a:t>…</a:t>
            </a:r>
          </a:p>
        </p:txBody>
      </p:sp>
      <p:cxnSp>
        <p:nvCxnSpPr>
          <p:cNvPr id="27" name="Straight Connector 26"/>
          <p:cNvCxnSpPr>
            <a:stCxn id="18" idx="4"/>
            <a:endCxn id="17" idx="0"/>
          </p:cNvCxnSpPr>
          <p:nvPr/>
        </p:nvCxnSpPr>
        <p:spPr>
          <a:xfrm rot="5400000">
            <a:off x="4719152" y="5270473"/>
            <a:ext cx="618261" cy="491831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>
            <a:stCxn id="18" idx="4"/>
            <a:endCxn id="19" idx="0"/>
          </p:cNvCxnSpPr>
          <p:nvPr/>
        </p:nvCxnSpPr>
        <p:spPr>
          <a:xfrm rot="16200000" flipH="1">
            <a:off x="5135957" y="5345498"/>
            <a:ext cx="618261" cy="341781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stCxn id="18" idx="4"/>
            <a:endCxn id="20" idx="0"/>
          </p:cNvCxnSpPr>
          <p:nvPr/>
        </p:nvCxnSpPr>
        <p:spPr>
          <a:xfrm rot="16200000" flipH="1">
            <a:off x="5594443" y="4887012"/>
            <a:ext cx="618261" cy="1258753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>
            <a:stCxn id="18" idx="4"/>
            <a:endCxn id="21" idx="0"/>
          </p:cNvCxnSpPr>
          <p:nvPr/>
        </p:nvCxnSpPr>
        <p:spPr>
          <a:xfrm rot="16200000" flipH="1">
            <a:off x="6282173" y="4199283"/>
            <a:ext cx="618261" cy="2634211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stCxn id="23" idx="4"/>
            <a:endCxn id="19" idx="0"/>
          </p:cNvCxnSpPr>
          <p:nvPr/>
        </p:nvCxnSpPr>
        <p:spPr>
          <a:xfrm rot="5400000">
            <a:off x="5511082" y="5312154"/>
            <a:ext cx="618261" cy="408469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>
            <a:stCxn id="23" idx="4"/>
            <a:endCxn id="20" idx="0"/>
          </p:cNvCxnSpPr>
          <p:nvPr/>
        </p:nvCxnSpPr>
        <p:spPr>
          <a:xfrm rot="16200000" flipH="1">
            <a:off x="5969568" y="5262137"/>
            <a:ext cx="618261" cy="508503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stCxn id="23" idx="4"/>
            <a:endCxn id="21" idx="0"/>
          </p:cNvCxnSpPr>
          <p:nvPr/>
        </p:nvCxnSpPr>
        <p:spPr>
          <a:xfrm rot="16200000" flipH="1">
            <a:off x="6657298" y="4574408"/>
            <a:ext cx="618261" cy="1883961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>
            <a:stCxn id="24" idx="4"/>
            <a:endCxn id="17" idx="0"/>
          </p:cNvCxnSpPr>
          <p:nvPr/>
        </p:nvCxnSpPr>
        <p:spPr>
          <a:xfrm rot="5400000">
            <a:off x="5744493" y="4245130"/>
            <a:ext cx="618261" cy="2542514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stCxn id="23" idx="4"/>
            <a:endCxn id="17" idx="0"/>
          </p:cNvCxnSpPr>
          <p:nvPr/>
        </p:nvCxnSpPr>
        <p:spPr>
          <a:xfrm rot="5400000">
            <a:off x="5094277" y="4895348"/>
            <a:ext cx="618261" cy="1242081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>
            <a:stCxn id="24" idx="4"/>
            <a:endCxn id="19" idx="0"/>
          </p:cNvCxnSpPr>
          <p:nvPr/>
        </p:nvCxnSpPr>
        <p:spPr>
          <a:xfrm rot="5400000">
            <a:off x="6161299" y="4661937"/>
            <a:ext cx="618261" cy="1708903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>
            <a:stCxn id="24" idx="4"/>
            <a:endCxn id="20" idx="0"/>
          </p:cNvCxnSpPr>
          <p:nvPr/>
        </p:nvCxnSpPr>
        <p:spPr>
          <a:xfrm rot="5400000">
            <a:off x="6619785" y="5120423"/>
            <a:ext cx="618261" cy="791931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>
            <a:stCxn id="24" idx="4"/>
            <a:endCxn id="21" idx="0"/>
          </p:cNvCxnSpPr>
          <p:nvPr/>
        </p:nvCxnSpPr>
        <p:spPr>
          <a:xfrm rot="16200000" flipH="1">
            <a:off x="7307514" y="5224623"/>
            <a:ext cx="618261" cy="583528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75"/>
          <p:cNvSpPr txBox="1">
            <a:spLocks noChangeArrowheads="1"/>
          </p:cNvSpPr>
          <p:nvPr/>
        </p:nvSpPr>
        <p:spPr bwMode="auto">
          <a:xfrm>
            <a:off x="3807042" y="5950561"/>
            <a:ext cx="708569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 sz="1000"/>
              <a:t>Input</a:t>
            </a:r>
          </a:p>
        </p:txBody>
      </p:sp>
      <p:sp>
        <p:nvSpPr>
          <p:cNvPr id="44" name="TextBox 76"/>
          <p:cNvSpPr txBox="1">
            <a:spLocks noChangeArrowheads="1"/>
          </p:cNvSpPr>
          <p:nvPr/>
        </p:nvSpPr>
        <p:spPr bwMode="auto">
          <a:xfrm>
            <a:off x="3798706" y="4882149"/>
            <a:ext cx="1125375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 sz="1000" dirty="0"/>
              <a:t>Hidden Layer 1</a:t>
            </a:r>
          </a:p>
        </p:txBody>
      </p:sp>
      <p:sp>
        <p:nvSpPr>
          <p:cNvPr id="45" name="Connector 44"/>
          <p:cNvSpPr/>
          <p:nvPr/>
        </p:nvSpPr>
        <p:spPr>
          <a:xfrm>
            <a:off x="5057458" y="3700384"/>
            <a:ext cx="450150" cy="450150"/>
          </a:xfrm>
          <a:prstGeom prst="flowChartConnector">
            <a:avLst/>
          </a:prstGeom>
          <a:solidFill>
            <a:srgbClr val="EE6802"/>
          </a:solidFill>
          <a:ln>
            <a:solidFill>
              <a:schemeClr val="accent1">
                <a:shade val="95000"/>
                <a:satMod val="10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b</a:t>
            </a:r>
            <a:r>
              <a:rPr lang="en-US" sz="1000" baseline="-25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46" name="Connector 45"/>
          <p:cNvSpPr/>
          <p:nvPr/>
        </p:nvSpPr>
        <p:spPr>
          <a:xfrm>
            <a:off x="6149488" y="2832039"/>
            <a:ext cx="450150" cy="450150"/>
          </a:xfrm>
          <a:prstGeom prst="flowChartConnector">
            <a:avLst/>
          </a:prstGeom>
          <a:solidFill>
            <a:srgbClr val="E0D925"/>
          </a:solidFill>
          <a:ln>
            <a:solidFill>
              <a:schemeClr val="accent1">
                <a:shade val="95000"/>
                <a:satMod val="10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y</a:t>
            </a:r>
            <a:endParaRPr lang="en-US" sz="1000" baseline="-25000" dirty="0">
              <a:ln>
                <a:solidFill>
                  <a:schemeClr val="tx1"/>
                </a:solidFill>
              </a:ln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47" name="Connector 46"/>
          <p:cNvSpPr/>
          <p:nvPr/>
        </p:nvSpPr>
        <p:spPr>
          <a:xfrm>
            <a:off x="5807708" y="3700384"/>
            <a:ext cx="450150" cy="450150"/>
          </a:xfrm>
          <a:prstGeom prst="flowChartConnector">
            <a:avLst/>
          </a:prstGeom>
          <a:solidFill>
            <a:srgbClr val="EE6802"/>
          </a:solidFill>
          <a:ln>
            <a:solidFill>
              <a:schemeClr val="accent1">
                <a:shade val="95000"/>
                <a:satMod val="10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b</a:t>
            </a:r>
            <a:r>
              <a:rPr lang="en-US" sz="1000" baseline="-25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48" name="Connector 47"/>
          <p:cNvSpPr/>
          <p:nvPr/>
        </p:nvSpPr>
        <p:spPr>
          <a:xfrm>
            <a:off x="7089185" y="3700384"/>
            <a:ext cx="450150" cy="450150"/>
          </a:xfrm>
          <a:prstGeom prst="flowChartConnector">
            <a:avLst/>
          </a:prstGeom>
          <a:solidFill>
            <a:srgbClr val="EE6802"/>
          </a:solidFill>
          <a:ln>
            <a:solidFill>
              <a:schemeClr val="accent1">
                <a:shade val="95000"/>
                <a:satMod val="10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000" dirty="0" err="1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b</a:t>
            </a:r>
            <a:r>
              <a:rPr lang="en-US" sz="1000" baseline="-25000" dirty="0" err="1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E</a:t>
            </a:r>
            <a:endParaRPr lang="en-US" sz="1000" baseline="-25000" dirty="0">
              <a:ln>
                <a:solidFill>
                  <a:schemeClr val="tx1"/>
                </a:solidFill>
              </a:ln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49" name="TextBox 48"/>
          <p:cNvSpPr txBox="1">
            <a:spLocks noChangeArrowheads="1"/>
          </p:cNvSpPr>
          <p:nvPr/>
        </p:nvSpPr>
        <p:spPr bwMode="auto">
          <a:xfrm>
            <a:off x="6557957" y="3753548"/>
            <a:ext cx="291764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000" b="1" dirty="0"/>
              <a:t>…</a:t>
            </a:r>
          </a:p>
        </p:txBody>
      </p:sp>
      <p:cxnSp>
        <p:nvCxnSpPr>
          <p:cNvPr id="50" name="Straight Connector 49"/>
          <p:cNvCxnSpPr>
            <a:stCxn id="45" idx="4"/>
            <a:endCxn id="18" idx="0"/>
          </p:cNvCxnSpPr>
          <p:nvPr/>
        </p:nvCxnSpPr>
        <p:spPr>
          <a:xfrm flipH="1">
            <a:off x="5274197" y="4150535"/>
            <a:ext cx="8336" cy="606573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>
            <a:stCxn id="45" idx="4"/>
            <a:endCxn id="23" idx="0"/>
          </p:cNvCxnSpPr>
          <p:nvPr/>
        </p:nvCxnSpPr>
        <p:spPr>
          <a:xfrm>
            <a:off x="5282533" y="4150535"/>
            <a:ext cx="741914" cy="606573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>
            <a:stCxn id="45" idx="4"/>
            <a:endCxn id="24" idx="0"/>
          </p:cNvCxnSpPr>
          <p:nvPr/>
        </p:nvCxnSpPr>
        <p:spPr>
          <a:xfrm>
            <a:off x="5282534" y="4150535"/>
            <a:ext cx="2042347" cy="606573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>
            <a:stCxn id="47" idx="4"/>
            <a:endCxn id="23" idx="0"/>
          </p:cNvCxnSpPr>
          <p:nvPr/>
        </p:nvCxnSpPr>
        <p:spPr>
          <a:xfrm flipH="1">
            <a:off x="6024447" y="4150535"/>
            <a:ext cx="8336" cy="606573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>
            <a:stCxn id="47" idx="4"/>
            <a:endCxn id="24" idx="0"/>
          </p:cNvCxnSpPr>
          <p:nvPr/>
        </p:nvCxnSpPr>
        <p:spPr>
          <a:xfrm>
            <a:off x="6032784" y="4150535"/>
            <a:ext cx="1292097" cy="606573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>
            <a:stCxn id="48" idx="4"/>
            <a:endCxn id="18" idx="0"/>
          </p:cNvCxnSpPr>
          <p:nvPr/>
        </p:nvCxnSpPr>
        <p:spPr>
          <a:xfrm flipH="1">
            <a:off x="5274198" y="4150535"/>
            <a:ext cx="2040063" cy="606573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>
            <a:stCxn id="47" idx="4"/>
            <a:endCxn id="18" idx="0"/>
          </p:cNvCxnSpPr>
          <p:nvPr/>
        </p:nvCxnSpPr>
        <p:spPr>
          <a:xfrm flipH="1">
            <a:off x="5274197" y="4150535"/>
            <a:ext cx="758586" cy="606573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>
            <a:stCxn id="48" idx="4"/>
            <a:endCxn id="23" idx="0"/>
          </p:cNvCxnSpPr>
          <p:nvPr/>
        </p:nvCxnSpPr>
        <p:spPr>
          <a:xfrm flipH="1">
            <a:off x="6024448" y="4150535"/>
            <a:ext cx="1289813" cy="606573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>
            <a:stCxn id="48" idx="4"/>
            <a:endCxn id="24" idx="0"/>
          </p:cNvCxnSpPr>
          <p:nvPr/>
        </p:nvCxnSpPr>
        <p:spPr>
          <a:xfrm>
            <a:off x="7314260" y="4150535"/>
            <a:ext cx="10620" cy="606573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>
            <a:stCxn id="46" idx="4"/>
          </p:cNvCxnSpPr>
          <p:nvPr/>
        </p:nvCxnSpPr>
        <p:spPr>
          <a:xfrm rot="5400000">
            <a:off x="5619452" y="2945272"/>
            <a:ext cx="418195" cy="1092031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>
            <a:stCxn id="46" idx="4"/>
          </p:cNvCxnSpPr>
          <p:nvPr/>
        </p:nvCxnSpPr>
        <p:spPr>
          <a:xfrm rot="5400000">
            <a:off x="5994577" y="3320397"/>
            <a:ext cx="418195" cy="341781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>
            <a:stCxn id="46" idx="4"/>
          </p:cNvCxnSpPr>
          <p:nvPr/>
        </p:nvCxnSpPr>
        <p:spPr>
          <a:xfrm rot="16200000" flipH="1">
            <a:off x="6644793" y="3011961"/>
            <a:ext cx="418195" cy="958653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74"/>
          <p:cNvSpPr txBox="1">
            <a:spLocks noChangeArrowheads="1"/>
          </p:cNvSpPr>
          <p:nvPr/>
        </p:nvSpPr>
        <p:spPr bwMode="auto">
          <a:xfrm>
            <a:off x="4047399" y="2934851"/>
            <a:ext cx="708569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sz="1000" dirty="0"/>
              <a:t>Output</a:t>
            </a:r>
          </a:p>
        </p:txBody>
      </p:sp>
      <p:sp>
        <p:nvSpPr>
          <p:cNvPr id="66" name="TextBox 76"/>
          <p:cNvSpPr txBox="1">
            <a:spLocks noChangeArrowheads="1"/>
          </p:cNvSpPr>
          <p:nvPr/>
        </p:nvSpPr>
        <p:spPr bwMode="auto">
          <a:xfrm>
            <a:off x="3807042" y="3825426"/>
            <a:ext cx="1125375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 sz="1000" dirty="0"/>
              <a:t>Hidden Layer 2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2A8FA4-55C6-430A-81DE-FA4092F8D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440B9-00BB-4B10-BB77-7C949D89E13E}" type="datetime1">
              <a:rPr lang="en-US" smtClean="0"/>
              <a:t>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979521-C40A-4E85-B07C-9D3B0B331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</a:p>
        </p:txBody>
      </p:sp>
    </p:spTree>
    <p:extLst>
      <p:ext uri="{BB962C8B-B14F-4D97-AF65-F5344CB8AC3E}">
        <p14:creationId xmlns:p14="http://schemas.microsoft.com/office/powerpoint/2010/main" val="151827627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Deeper Networks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49</a:t>
            </a:fld>
            <a:endParaRPr lang="en-US"/>
          </a:p>
        </p:txBody>
      </p:sp>
      <p:sp>
        <p:nvSpPr>
          <p:cNvPr id="17" name="Connector 16"/>
          <p:cNvSpPr/>
          <p:nvPr/>
        </p:nvSpPr>
        <p:spPr>
          <a:xfrm>
            <a:off x="4557291" y="5825518"/>
            <a:ext cx="450150" cy="450150"/>
          </a:xfrm>
          <a:prstGeom prst="flowChartConnector">
            <a:avLst/>
          </a:prstGeom>
          <a:solidFill>
            <a:srgbClr val="72CEE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x</a:t>
            </a:r>
            <a:r>
              <a:rPr lang="en-US" sz="1000" baseline="-25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18" name="Connector 17"/>
          <p:cNvSpPr/>
          <p:nvPr/>
        </p:nvSpPr>
        <p:spPr>
          <a:xfrm>
            <a:off x="5049122" y="4757107"/>
            <a:ext cx="450150" cy="450150"/>
          </a:xfrm>
          <a:prstGeom prst="flowChartConnector">
            <a:avLst/>
          </a:prstGeom>
          <a:solidFill>
            <a:srgbClr val="EE6802"/>
          </a:solidFill>
          <a:ln>
            <a:solidFill>
              <a:schemeClr val="accent1">
                <a:shade val="95000"/>
                <a:satMod val="10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a</a:t>
            </a:r>
            <a:r>
              <a:rPr lang="en-US" sz="1000" baseline="-25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19" name="Connector 18"/>
          <p:cNvSpPr/>
          <p:nvPr/>
        </p:nvSpPr>
        <p:spPr>
          <a:xfrm>
            <a:off x="5390902" y="5825518"/>
            <a:ext cx="450150" cy="450150"/>
          </a:xfrm>
          <a:prstGeom prst="flowChartConnector">
            <a:avLst/>
          </a:prstGeom>
          <a:solidFill>
            <a:srgbClr val="72CEE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x</a:t>
            </a:r>
            <a:r>
              <a:rPr lang="en-US" sz="1000" baseline="-25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20" name="Connector 19"/>
          <p:cNvSpPr/>
          <p:nvPr/>
        </p:nvSpPr>
        <p:spPr>
          <a:xfrm>
            <a:off x="6307875" y="5825518"/>
            <a:ext cx="450150" cy="450150"/>
          </a:xfrm>
          <a:prstGeom prst="flowChartConnector">
            <a:avLst/>
          </a:prstGeom>
          <a:solidFill>
            <a:srgbClr val="72CEE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x</a:t>
            </a:r>
            <a:r>
              <a:rPr lang="en-US" sz="1000" baseline="-25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21" name="Connector 20"/>
          <p:cNvSpPr/>
          <p:nvPr/>
        </p:nvSpPr>
        <p:spPr>
          <a:xfrm>
            <a:off x="7683333" y="5825518"/>
            <a:ext cx="450150" cy="450150"/>
          </a:xfrm>
          <a:prstGeom prst="flowChartConnector">
            <a:avLst/>
          </a:prstGeom>
          <a:solidFill>
            <a:srgbClr val="72CEE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000" dirty="0" err="1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x</a:t>
            </a:r>
            <a:r>
              <a:rPr lang="en-US" sz="1000" baseline="-25000" dirty="0" err="1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M</a:t>
            </a:r>
            <a:endParaRPr lang="en-US" sz="1000" baseline="-25000" dirty="0">
              <a:ln>
                <a:solidFill>
                  <a:schemeClr val="tx1"/>
                </a:solidFill>
              </a:ln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23" name="Connector 22"/>
          <p:cNvSpPr/>
          <p:nvPr/>
        </p:nvSpPr>
        <p:spPr>
          <a:xfrm>
            <a:off x="5799372" y="4757107"/>
            <a:ext cx="450150" cy="450150"/>
          </a:xfrm>
          <a:prstGeom prst="flowChartConnector">
            <a:avLst/>
          </a:prstGeom>
          <a:solidFill>
            <a:srgbClr val="EE6802"/>
          </a:solidFill>
          <a:ln>
            <a:solidFill>
              <a:schemeClr val="accent1">
                <a:shade val="95000"/>
                <a:satMod val="10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a</a:t>
            </a:r>
            <a:r>
              <a:rPr lang="en-US" sz="1000" baseline="-25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24" name="Connector 23"/>
          <p:cNvSpPr/>
          <p:nvPr/>
        </p:nvSpPr>
        <p:spPr>
          <a:xfrm>
            <a:off x="7099805" y="4757107"/>
            <a:ext cx="450150" cy="450150"/>
          </a:xfrm>
          <a:prstGeom prst="flowChartConnector">
            <a:avLst/>
          </a:prstGeom>
          <a:solidFill>
            <a:srgbClr val="EE6802"/>
          </a:solidFill>
          <a:ln>
            <a:solidFill>
              <a:schemeClr val="accent1">
                <a:shade val="95000"/>
                <a:satMod val="10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000" dirty="0" err="1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a</a:t>
            </a:r>
            <a:r>
              <a:rPr lang="en-US" sz="1000" baseline="-25000" dirty="0" err="1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D</a:t>
            </a:r>
            <a:endParaRPr lang="en-US" sz="1000" baseline="-25000" dirty="0">
              <a:ln>
                <a:solidFill>
                  <a:schemeClr val="tx1"/>
                </a:solidFill>
              </a:ln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25" name="TextBox 24"/>
          <p:cNvSpPr txBox="1">
            <a:spLocks noChangeArrowheads="1"/>
          </p:cNvSpPr>
          <p:nvPr/>
        </p:nvSpPr>
        <p:spPr bwMode="auto">
          <a:xfrm>
            <a:off x="6549621" y="4810271"/>
            <a:ext cx="291764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000" b="1" dirty="0"/>
              <a:t>…</a:t>
            </a: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7099805" y="5878682"/>
            <a:ext cx="291764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000" b="1"/>
              <a:t>…</a:t>
            </a:r>
          </a:p>
        </p:txBody>
      </p:sp>
      <p:cxnSp>
        <p:nvCxnSpPr>
          <p:cNvPr id="27" name="Straight Connector 26"/>
          <p:cNvCxnSpPr>
            <a:stCxn id="18" idx="4"/>
            <a:endCxn id="17" idx="0"/>
          </p:cNvCxnSpPr>
          <p:nvPr/>
        </p:nvCxnSpPr>
        <p:spPr>
          <a:xfrm rot="5400000">
            <a:off x="4719152" y="5270473"/>
            <a:ext cx="618261" cy="491831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>
            <a:stCxn id="18" idx="4"/>
            <a:endCxn id="19" idx="0"/>
          </p:cNvCxnSpPr>
          <p:nvPr/>
        </p:nvCxnSpPr>
        <p:spPr>
          <a:xfrm rot="16200000" flipH="1">
            <a:off x="5135957" y="5345498"/>
            <a:ext cx="618261" cy="341781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stCxn id="18" idx="4"/>
            <a:endCxn id="20" idx="0"/>
          </p:cNvCxnSpPr>
          <p:nvPr/>
        </p:nvCxnSpPr>
        <p:spPr>
          <a:xfrm rot="16200000" flipH="1">
            <a:off x="5594443" y="4887012"/>
            <a:ext cx="618261" cy="1258753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>
            <a:stCxn id="18" idx="4"/>
            <a:endCxn id="21" idx="0"/>
          </p:cNvCxnSpPr>
          <p:nvPr/>
        </p:nvCxnSpPr>
        <p:spPr>
          <a:xfrm rot="16200000" flipH="1">
            <a:off x="6282173" y="4199283"/>
            <a:ext cx="618261" cy="2634211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stCxn id="23" idx="4"/>
            <a:endCxn id="19" idx="0"/>
          </p:cNvCxnSpPr>
          <p:nvPr/>
        </p:nvCxnSpPr>
        <p:spPr>
          <a:xfrm rot="5400000">
            <a:off x="5511082" y="5312154"/>
            <a:ext cx="618261" cy="408469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>
            <a:stCxn id="23" idx="4"/>
            <a:endCxn id="20" idx="0"/>
          </p:cNvCxnSpPr>
          <p:nvPr/>
        </p:nvCxnSpPr>
        <p:spPr>
          <a:xfrm rot="16200000" flipH="1">
            <a:off x="5969568" y="5262137"/>
            <a:ext cx="618261" cy="508503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stCxn id="23" idx="4"/>
            <a:endCxn id="21" idx="0"/>
          </p:cNvCxnSpPr>
          <p:nvPr/>
        </p:nvCxnSpPr>
        <p:spPr>
          <a:xfrm rot="16200000" flipH="1">
            <a:off x="6657298" y="4574408"/>
            <a:ext cx="618261" cy="1883961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>
            <a:stCxn id="24" idx="4"/>
            <a:endCxn id="17" idx="0"/>
          </p:cNvCxnSpPr>
          <p:nvPr/>
        </p:nvCxnSpPr>
        <p:spPr>
          <a:xfrm rot="5400000">
            <a:off x="5744493" y="4245130"/>
            <a:ext cx="618261" cy="2542514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stCxn id="23" idx="4"/>
            <a:endCxn id="17" idx="0"/>
          </p:cNvCxnSpPr>
          <p:nvPr/>
        </p:nvCxnSpPr>
        <p:spPr>
          <a:xfrm rot="5400000">
            <a:off x="5094277" y="4895348"/>
            <a:ext cx="618261" cy="1242081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>
            <a:stCxn id="24" idx="4"/>
            <a:endCxn id="19" idx="0"/>
          </p:cNvCxnSpPr>
          <p:nvPr/>
        </p:nvCxnSpPr>
        <p:spPr>
          <a:xfrm rot="5400000">
            <a:off x="6161299" y="4661937"/>
            <a:ext cx="618261" cy="1708903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>
            <a:stCxn id="24" idx="4"/>
            <a:endCxn id="20" idx="0"/>
          </p:cNvCxnSpPr>
          <p:nvPr/>
        </p:nvCxnSpPr>
        <p:spPr>
          <a:xfrm rot="5400000">
            <a:off x="6619785" y="5120423"/>
            <a:ext cx="618261" cy="791931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>
            <a:stCxn id="24" idx="4"/>
            <a:endCxn id="21" idx="0"/>
          </p:cNvCxnSpPr>
          <p:nvPr/>
        </p:nvCxnSpPr>
        <p:spPr>
          <a:xfrm rot="16200000" flipH="1">
            <a:off x="7307514" y="5224623"/>
            <a:ext cx="618261" cy="583528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75"/>
          <p:cNvSpPr txBox="1">
            <a:spLocks noChangeArrowheads="1"/>
          </p:cNvSpPr>
          <p:nvPr/>
        </p:nvSpPr>
        <p:spPr bwMode="auto">
          <a:xfrm>
            <a:off x="3807042" y="5950561"/>
            <a:ext cx="708569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 sz="1000"/>
              <a:t>Input</a:t>
            </a:r>
          </a:p>
        </p:txBody>
      </p:sp>
      <p:sp>
        <p:nvSpPr>
          <p:cNvPr id="44" name="TextBox 76"/>
          <p:cNvSpPr txBox="1">
            <a:spLocks noChangeArrowheads="1"/>
          </p:cNvSpPr>
          <p:nvPr/>
        </p:nvSpPr>
        <p:spPr bwMode="auto">
          <a:xfrm>
            <a:off x="3798706" y="4882149"/>
            <a:ext cx="1125375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 sz="1000" dirty="0"/>
              <a:t>Hidden Layer 1</a:t>
            </a:r>
          </a:p>
        </p:txBody>
      </p:sp>
      <p:sp>
        <p:nvSpPr>
          <p:cNvPr id="45" name="Connector 44"/>
          <p:cNvSpPr/>
          <p:nvPr/>
        </p:nvSpPr>
        <p:spPr>
          <a:xfrm>
            <a:off x="5057458" y="3700384"/>
            <a:ext cx="450150" cy="450150"/>
          </a:xfrm>
          <a:prstGeom prst="flowChartConnector">
            <a:avLst/>
          </a:prstGeom>
          <a:solidFill>
            <a:srgbClr val="EE6802"/>
          </a:solidFill>
          <a:ln>
            <a:solidFill>
              <a:schemeClr val="accent1">
                <a:shade val="95000"/>
                <a:satMod val="10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b</a:t>
            </a:r>
            <a:r>
              <a:rPr lang="en-US" sz="1000" baseline="-25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47" name="Connector 46"/>
          <p:cNvSpPr/>
          <p:nvPr/>
        </p:nvSpPr>
        <p:spPr>
          <a:xfrm>
            <a:off x="5807708" y="3700384"/>
            <a:ext cx="450150" cy="450150"/>
          </a:xfrm>
          <a:prstGeom prst="flowChartConnector">
            <a:avLst/>
          </a:prstGeom>
          <a:solidFill>
            <a:srgbClr val="EE6802"/>
          </a:solidFill>
          <a:ln>
            <a:solidFill>
              <a:schemeClr val="accent1">
                <a:shade val="95000"/>
                <a:satMod val="10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b</a:t>
            </a:r>
            <a:r>
              <a:rPr lang="en-US" sz="1000" baseline="-25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48" name="Connector 47"/>
          <p:cNvSpPr/>
          <p:nvPr/>
        </p:nvSpPr>
        <p:spPr>
          <a:xfrm>
            <a:off x="7089185" y="3700384"/>
            <a:ext cx="450150" cy="450150"/>
          </a:xfrm>
          <a:prstGeom prst="flowChartConnector">
            <a:avLst/>
          </a:prstGeom>
          <a:solidFill>
            <a:srgbClr val="EE6802"/>
          </a:solidFill>
          <a:ln>
            <a:solidFill>
              <a:schemeClr val="accent1">
                <a:shade val="95000"/>
                <a:satMod val="10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000" dirty="0" err="1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b</a:t>
            </a:r>
            <a:r>
              <a:rPr lang="en-US" sz="1000" baseline="-25000" dirty="0" err="1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E</a:t>
            </a:r>
            <a:endParaRPr lang="en-US" sz="1000" baseline="-25000" dirty="0">
              <a:ln>
                <a:solidFill>
                  <a:schemeClr val="tx1"/>
                </a:solidFill>
              </a:ln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49" name="TextBox 48"/>
          <p:cNvSpPr txBox="1">
            <a:spLocks noChangeArrowheads="1"/>
          </p:cNvSpPr>
          <p:nvPr/>
        </p:nvSpPr>
        <p:spPr bwMode="auto">
          <a:xfrm>
            <a:off x="6557957" y="3753548"/>
            <a:ext cx="291764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000" b="1" dirty="0"/>
              <a:t>…</a:t>
            </a:r>
          </a:p>
        </p:txBody>
      </p:sp>
      <p:cxnSp>
        <p:nvCxnSpPr>
          <p:cNvPr id="50" name="Straight Connector 49"/>
          <p:cNvCxnSpPr>
            <a:stCxn id="45" idx="4"/>
            <a:endCxn id="18" idx="0"/>
          </p:cNvCxnSpPr>
          <p:nvPr/>
        </p:nvCxnSpPr>
        <p:spPr>
          <a:xfrm flipH="1">
            <a:off x="5274197" y="4150535"/>
            <a:ext cx="8336" cy="606573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>
            <a:stCxn id="45" idx="4"/>
            <a:endCxn id="23" idx="0"/>
          </p:cNvCxnSpPr>
          <p:nvPr/>
        </p:nvCxnSpPr>
        <p:spPr>
          <a:xfrm>
            <a:off x="5282533" y="4150535"/>
            <a:ext cx="741914" cy="606573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>
            <a:stCxn id="45" idx="4"/>
            <a:endCxn id="24" idx="0"/>
          </p:cNvCxnSpPr>
          <p:nvPr/>
        </p:nvCxnSpPr>
        <p:spPr>
          <a:xfrm>
            <a:off x="5282534" y="4150535"/>
            <a:ext cx="2042347" cy="606573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>
            <a:stCxn id="47" idx="4"/>
            <a:endCxn id="23" idx="0"/>
          </p:cNvCxnSpPr>
          <p:nvPr/>
        </p:nvCxnSpPr>
        <p:spPr>
          <a:xfrm flipH="1">
            <a:off x="6024447" y="4150535"/>
            <a:ext cx="8336" cy="606573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>
            <a:stCxn id="47" idx="4"/>
            <a:endCxn id="24" idx="0"/>
          </p:cNvCxnSpPr>
          <p:nvPr/>
        </p:nvCxnSpPr>
        <p:spPr>
          <a:xfrm>
            <a:off x="6032784" y="4150535"/>
            <a:ext cx="1292097" cy="606573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>
            <a:stCxn id="48" idx="4"/>
            <a:endCxn id="18" idx="0"/>
          </p:cNvCxnSpPr>
          <p:nvPr/>
        </p:nvCxnSpPr>
        <p:spPr>
          <a:xfrm flipH="1">
            <a:off x="5274198" y="4150535"/>
            <a:ext cx="2040063" cy="606573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>
            <a:stCxn id="47" idx="4"/>
            <a:endCxn id="18" idx="0"/>
          </p:cNvCxnSpPr>
          <p:nvPr/>
        </p:nvCxnSpPr>
        <p:spPr>
          <a:xfrm flipH="1">
            <a:off x="5274197" y="4150535"/>
            <a:ext cx="758586" cy="606573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>
            <a:stCxn id="48" idx="4"/>
            <a:endCxn id="23" idx="0"/>
          </p:cNvCxnSpPr>
          <p:nvPr/>
        </p:nvCxnSpPr>
        <p:spPr>
          <a:xfrm flipH="1">
            <a:off x="6024448" y="4150535"/>
            <a:ext cx="1289813" cy="606573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>
            <a:stCxn id="48" idx="4"/>
            <a:endCxn id="24" idx="0"/>
          </p:cNvCxnSpPr>
          <p:nvPr/>
        </p:nvCxnSpPr>
        <p:spPr>
          <a:xfrm>
            <a:off x="7314260" y="4150535"/>
            <a:ext cx="10620" cy="606573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76"/>
          <p:cNvSpPr txBox="1">
            <a:spLocks noChangeArrowheads="1"/>
          </p:cNvSpPr>
          <p:nvPr/>
        </p:nvSpPr>
        <p:spPr bwMode="auto">
          <a:xfrm>
            <a:off x="3807042" y="3825426"/>
            <a:ext cx="1125375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 sz="1000" dirty="0"/>
              <a:t>Hidden Layer 2</a:t>
            </a:r>
          </a:p>
        </p:txBody>
      </p:sp>
      <p:sp>
        <p:nvSpPr>
          <p:cNvPr id="53" name="Connector 52"/>
          <p:cNvSpPr/>
          <p:nvPr/>
        </p:nvSpPr>
        <p:spPr>
          <a:xfrm>
            <a:off x="5047055" y="2643661"/>
            <a:ext cx="450150" cy="450150"/>
          </a:xfrm>
          <a:prstGeom prst="flowChartConnector">
            <a:avLst/>
          </a:prstGeom>
          <a:solidFill>
            <a:srgbClr val="EE6802"/>
          </a:solidFill>
          <a:ln>
            <a:solidFill>
              <a:schemeClr val="accent1">
                <a:shade val="95000"/>
                <a:satMod val="10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c</a:t>
            </a:r>
            <a:r>
              <a:rPr lang="en-US" sz="1000" baseline="-25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56" name="Connector 55"/>
          <p:cNvSpPr/>
          <p:nvPr/>
        </p:nvSpPr>
        <p:spPr>
          <a:xfrm>
            <a:off x="6139085" y="1775316"/>
            <a:ext cx="450150" cy="450150"/>
          </a:xfrm>
          <a:prstGeom prst="flowChartConnector">
            <a:avLst/>
          </a:prstGeom>
          <a:solidFill>
            <a:srgbClr val="E0D925"/>
          </a:solidFill>
          <a:ln>
            <a:solidFill>
              <a:schemeClr val="accent1">
                <a:shade val="95000"/>
                <a:satMod val="10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y</a:t>
            </a:r>
            <a:endParaRPr lang="en-US" sz="1000" baseline="-25000" dirty="0">
              <a:ln>
                <a:solidFill>
                  <a:schemeClr val="tx1"/>
                </a:solidFill>
              </a:ln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61" name="Connector 60"/>
          <p:cNvSpPr/>
          <p:nvPr/>
        </p:nvSpPr>
        <p:spPr>
          <a:xfrm>
            <a:off x="5797305" y="2643661"/>
            <a:ext cx="450150" cy="450150"/>
          </a:xfrm>
          <a:prstGeom prst="flowChartConnector">
            <a:avLst/>
          </a:prstGeom>
          <a:solidFill>
            <a:srgbClr val="EE6802"/>
          </a:solidFill>
          <a:ln>
            <a:solidFill>
              <a:schemeClr val="accent1">
                <a:shade val="95000"/>
                <a:satMod val="10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c</a:t>
            </a:r>
            <a:r>
              <a:rPr lang="en-US" sz="1000" baseline="-25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67" name="Connector 66"/>
          <p:cNvSpPr/>
          <p:nvPr/>
        </p:nvSpPr>
        <p:spPr>
          <a:xfrm>
            <a:off x="7078782" y="2643661"/>
            <a:ext cx="450150" cy="450150"/>
          </a:xfrm>
          <a:prstGeom prst="flowChartConnector">
            <a:avLst/>
          </a:prstGeom>
          <a:solidFill>
            <a:srgbClr val="EE6802"/>
          </a:solidFill>
          <a:ln>
            <a:solidFill>
              <a:schemeClr val="accent1">
                <a:shade val="95000"/>
                <a:satMod val="10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000" dirty="0" err="1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c</a:t>
            </a:r>
            <a:r>
              <a:rPr lang="en-US" sz="1000" baseline="-25000" dirty="0" err="1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F</a:t>
            </a:r>
            <a:endParaRPr lang="en-US" sz="1000" baseline="-25000" dirty="0">
              <a:ln>
                <a:solidFill>
                  <a:schemeClr val="tx1"/>
                </a:solidFill>
              </a:ln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68" name="TextBox 67"/>
          <p:cNvSpPr txBox="1">
            <a:spLocks noChangeArrowheads="1"/>
          </p:cNvSpPr>
          <p:nvPr/>
        </p:nvSpPr>
        <p:spPr bwMode="auto">
          <a:xfrm>
            <a:off x="6547554" y="2696825"/>
            <a:ext cx="291764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000" b="1" dirty="0"/>
              <a:t>…</a:t>
            </a:r>
          </a:p>
        </p:txBody>
      </p:sp>
      <p:cxnSp>
        <p:nvCxnSpPr>
          <p:cNvPr id="69" name="Straight Connector 68"/>
          <p:cNvCxnSpPr>
            <a:stCxn id="53" idx="4"/>
          </p:cNvCxnSpPr>
          <p:nvPr/>
        </p:nvCxnSpPr>
        <p:spPr>
          <a:xfrm flipH="1">
            <a:off x="5263794" y="3093812"/>
            <a:ext cx="8336" cy="606573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>
            <a:stCxn id="53" idx="4"/>
          </p:cNvCxnSpPr>
          <p:nvPr/>
        </p:nvCxnSpPr>
        <p:spPr>
          <a:xfrm>
            <a:off x="5272130" y="3093812"/>
            <a:ext cx="741914" cy="606573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/>
          <p:cNvCxnSpPr>
            <a:stCxn id="53" idx="4"/>
          </p:cNvCxnSpPr>
          <p:nvPr/>
        </p:nvCxnSpPr>
        <p:spPr>
          <a:xfrm>
            <a:off x="5272131" y="3093812"/>
            <a:ext cx="2042347" cy="606573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>
            <a:stCxn id="61" idx="4"/>
          </p:cNvCxnSpPr>
          <p:nvPr/>
        </p:nvCxnSpPr>
        <p:spPr>
          <a:xfrm flipH="1">
            <a:off x="6014044" y="3093812"/>
            <a:ext cx="8336" cy="606573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/>
          <p:cNvCxnSpPr>
            <a:stCxn id="61" idx="4"/>
          </p:cNvCxnSpPr>
          <p:nvPr/>
        </p:nvCxnSpPr>
        <p:spPr>
          <a:xfrm>
            <a:off x="6022381" y="3093812"/>
            <a:ext cx="1292097" cy="606573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>
            <a:stCxn id="67" idx="4"/>
          </p:cNvCxnSpPr>
          <p:nvPr/>
        </p:nvCxnSpPr>
        <p:spPr>
          <a:xfrm flipH="1">
            <a:off x="5263795" y="3093812"/>
            <a:ext cx="2040063" cy="606573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/>
          <p:cNvCxnSpPr>
            <a:stCxn id="61" idx="4"/>
          </p:cNvCxnSpPr>
          <p:nvPr/>
        </p:nvCxnSpPr>
        <p:spPr>
          <a:xfrm flipH="1">
            <a:off x="5263794" y="3093812"/>
            <a:ext cx="758586" cy="606573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/>
          <p:cNvCxnSpPr>
            <a:stCxn id="67" idx="4"/>
          </p:cNvCxnSpPr>
          <p:nvPr/>
        </p:nvCxnSpPr>
        <p:spPr>
          <a:xfrm flipH="1">
            <a:off x="6014045" y="3093812"/>
            <a:ext cx="1289813" cy="606573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/>
          <p:cNvCxnSpPr>
            <a:stCxn id="67" idx="4"/>
          </p:cNvCxnSpPr>
          <p:nvPr/>
        </p:nvCxnSpPr>
        <p:spPr>
          <a:xfrm>
            <a:off x="7303857" y="3093812"/>
            <a:ext cx="10620" cy="606573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>
            <a:stCxn id="56" idx="4"/>
          </p:cNvCxnSpPr>
          <p:nvPr/>
        </p:nvCxnSpPr>
        <p:spPr>
          <a:xfrm rot="5400000">
            <a:off x="5609049" y="1888549"/>
            <a:ext cx="418195" cy="1092031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>
            <a:stCxn id="56" idx="4"/>
          </p:cNvCxnSpPr>
          <p:nvPr/>
        </p:nvCxnSpPr>
        <p:spPr>
          <a:xfrm rot="5400000">
            <a:off x="5984174" y="2263674"/>
            <a:ext cx="418195" cy="341781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/>
          <p:cNvCxnSpPr>
            <a:stCxn id="56" idx="4"/>
          </p:cNvCxnSpPr>
          <p:nvPr/>
        </p:nvCxnSpPr>
        <p:spPr>
          <a:xfrm rot="16200000" flipH="1">
            <a:off x="6634390" y="1955238"/>
            <a:ext cx="418195" cy="958653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74"/>
          <p:cNvSpPr txBox="1">
            <a:spLocks noChangeArrowheads="1"/>
          </p:cNvSpPr>
          <p:nvPr/>
        </p:nvSpPr>
        <p:spPr bwMode="auto">
          <a:xfrm>
            <a:off x="4036996" y="1878128"/>
            <a:ext cx="708569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sz="1000" dirty="0"/>
              <a:t>Output</a:t>
            </a:r>
          </a:p>
        </p:txBody>
      </p:sp>
      <p:sp>
        <p:nvSpPr>
          <p:cNvPr id="82" name="TextBox 76"/>
          <p:cNvSpPr txBox="1">
            <a:spLocks noChangeArrowheads="1"/>
          </p:cNvSpPr>
          <p:nvPr/>
        </p:nvSpPr>
        <p:spPr bwMode="auto">
          <a:xfrm>
            <a:off x="3796639" y="2768703"/>
            <a:ext cx="1125375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 sz="1000" dirty="0"/>
              <a:t>Hidden Layer 3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00C3CBF-BF38-486F-B34A-060702AB8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6BBBB-235F-47CF-B2E1-440CDDA1318B}" type="datetime1">
              <a:rPr lang="en-US" smtClean="0"/>
              <a:t>2/10/2025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AFF50F8-D2B3-4708-A148-28035A697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</a:p>
        </p:txBody>
      </p:sp>
    </p:spTree>
    <p:extLst>
      <p:ext uri="{BB962C8B-B14F-4D97-AF65-F5344CB8AC3E}">
        <p14:creationId xmlns:p14="http://schemas.microsoft.com/office/powerpoint/2010/main" val="366726297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3FCAC73-3A74-A16E-3D05-D77E00C80C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D13CE7-26EC-5266-9C48-D27F674659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2E8A5-503F-4B72-8B7B-4B1A02F61809}" type="datetime1">
              <a:rPr lang="en-US" smtClean="0"/>
              <a:t>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F69421-CF61-3456-9441-C94E2495C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99336B-F05F-3F83-FB5D-2F83E4C56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50</a:t>
            </a:fld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D834BA64-E090-0DCA-4847-C9D699656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Deeper Networks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31FD1C5-FD55-86D0-E930-0AD46C5F56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8575" y="1471128"/>
            <a:ext cx="4514850" cy="4701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311971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B6DF9BB-10EE-19A7-29E2-0BE5F4DDCA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6705600" cy="45259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8F4FA3-BC2E-93C2-52A7-601D4929A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AB2C7-2CBA-4502-84C3-44AFE0C96515}" type="datetime1">
              <a:rPr lang="en-US" smtClean="0"/>
              <a:t>2/10/2025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8FE31D-70F1-DF98-575B-134CC81DC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47BF23-BDE3-2488-A2C6-684A60BE9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51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677DC3D-C7EB-F112-D556-B6DF3BC16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pic>
        <p:nvPicPr>
          <p:cNvPr id="1028" name="Picture 4" descr="Backpropagation Process in Deep Neural Network">
            <a:extLst>
              <a:ext uri="{FF2B5EF4-FFF2-40B4-BE49-F238E27FC236}">
                <a16:creationId xmlns:a16="http://schemas.microsoft.com/office/drawing/2014/main" id="{B205D3BB-190B-3989-5E2D-0B4878FE6D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7600" y="2209800"/>
            <a:ext cx="4445000" cy="266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8059C47-1CA4-32EE-4A5D-9A5FC4AEFA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1798637"/>
            <a:ext cx="5143500" cy="3705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32655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C05B1B6A-B01A-F34D-7A69-F418C5C1FE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b="22025"/>
          <a:stretch/>
        </p:blipFill>
        <p:spPr>
          <a:xfrm>
            <a:off x="76200" y="609600"/>
            <a:ext cx="6858000" cy="5479294"/>
          </a:xfr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8F4FA3-BC2E-93C2-52A7-601D4929A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AB2C7-2CBA-4502-84C3-44AFE0C96515}" type="datetime1">
              <a:rPr lang="en-US" smtClean="0"/>
              <a:t>2/10/2025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8FE31D-70F1-DF98-575B-134CC81DC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47BF23-BDE3-2488-A2C6-684A60BE9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52</a:t>
            </a:fld>
            <a:endParaRPr lang="en-US"/>
          </a:p>
        </p:txBody>
      </p:sp>
      <p:pic>
        <p:nvPicPr>
          <p:cNvPr id="1028" name="Picture 4" descr="Backpropagation Process in Deep Neural Network">
            <a:extLst>
              <a:ext uri="{FF2B5EF4-FFF2-40B4-BE49-F238E27FC236}">
                <a16:creationId xmlns:a16="http://schemas.microsoft.com/office/drawing/2014/main" id="{B205D3BB-190B-3989-5E2D-0B4878FE6D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7600" y="2209800"/>
            <a:ext cx="4445000" cy="266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91568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8F4FA3-BC2E-93C2-52A7-601D4929A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AB2C7-2CBA-4502-84C3-44AFE0C96515}" type="datetime1">
              <a:rPr lang="en-US" smtClean="0"/>
              <a:t>2/10/2025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8FE31D-70F1-DF98-575B-134CC81DC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47BF23-BDE3-2488-A2C6-684A60BE9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53</a:t>
            </a:fld>
            <a:endParaRPr lang="en-US"/>
          </a:p>
        </p:txBody>
      </p:sp>
      <p:pic>
        <p:nvPicPr>
          <p:cNvPr id="1028" name="Picture 4" descr="Backpropagation Process in Deep Neural Network">
            <a:extLst>
              <a:ext uri="{FF2B5EF4-FFF2-40B4-BE49-F238E27FC236}">
                <a16:creationId xmlns:a16="http://schemas.microsoft.com/office/drawing/2014/main" id="{B205D3BB-190B-3989-5E2D-0B4878FE6D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7600" y="2209800"/>
            <a:ext cx="4445000" cy="266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5EF4F0-DCE5-5463-4635-1BA538BB2C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46DE71B-4AB2-935B-9A26-7E70B719F7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53264"/>
            <a:ext cx="6033980" cy="3833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56119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AC548B8-B241-7AB2-B2AD-F0931ADF9D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1000" y="331787"/>
            <a:ext cx="4800600" cy="6066693"/>
          </a:xfr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8F4FA3-BC2E-93C2-52A7-601D4929A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AB2C7-2CBA-4502-84C3-44AFE0C96515}" type="datetime1">
              <a:rPr lang="en-US" smtClean="0"/>
              <a:t>2/10/2025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8FE31D-70F1-DF98-575B-134CC81DC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47BF23-BDE3-2488-A2C6-684A60BE9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54</a:t>
            </a:fld>
            <a:endParaRPr lang="en-US"/>
          </a:p>
        </p:txBody>
      </p:sp>
      <p:pic>
        <p:nvPicPr>
          <p:cNvPr id="1028" name="Picture 4" descr="Backpropagation Process in Deep Neural Network">
            <a:extLst>
              <a:ext uri="{FF2B5EF4-FFF2-40B4-BE49-F238E27FC236}">
                <a16:creationId xmlns:a16="http://schemas.microsoft.com/office/drawing/2014/main" id="{B205D3BB-190B-3989-5E2D-0B4878FE6D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7600" y="2209800"/>
            <a:ext cx="4445000" cy="266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764771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8F4FA3-BC2E-93C2-52A7-601D4929A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AB2C7-2CBA-4502-84C3-44AFE0C96515}" type="datetime1">
              <a:rPr lang="en-US" smtClean="0"/>
              <a:t>2/10/2025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8FE31D-70F1-DF98-575B-134CC81DC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47BF23-BDE3-2488-A2C6-684A60BE9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55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677DC3D-C7EB-F112-D556-B6DF3BC16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pic>
        <p:nvPicPr>
          <p:cNvPr id="1028" name="Picture 4" descr="Backpropagation Process in Deep Neural Network">
            <a:extLst>
              <a:ext uri="{FF2B5EF4-FFF2-40B4-BE49-F238E27FC236}">
                <a16:creationId xmlns:a16="http://schemas.microsoft.com/office/drawing/2014/main" id="{B205D3BB-190B-3989-5E2D-0B4878FE6D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7600" y="2209800"/>
            <a:ext cx="4445000" cy="266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2C98DE4-6D95-33BE-DC25-4696D13141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1615282"/>
            <a:ext cx="6514670" cy="3856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063343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F08AA0F-AF50-E28F-5C1E-F5FE52F323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795560"/>
            <a:ext cx="6657975" cy="4324350"/>
          </a:xfr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8F4FA3-BC2E-93C2-52A7-601D4929A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AB2C7-2CBA-4502-84C3-44AFE0C96515}" type="datetime1">
              <a:rPr lang="en-US" smtClean="0"/>
              <a:t>2/10/2025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8FE31D-70F1-DF98-575B-134CC81DC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47BF23-BDE3-2488-A2C6-684A60BE9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56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677DC3D-C7EB-F112-D556-B6DF3BC16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pic>
        <p:nvPicPr>
          <p:cNvPr id="1028" name="Picture 4" descr="Backpropagation Process in Deep Neural Network">
            <a:extLst>
              <a:ext uri="{FF2B5EF4-FFF2-40B4-BE49-F238E27FC236}">
                <a16:creationId xmlns:a16="http://schemas.microsoft.com/office/drawing/2014/main" id="{B205D3BB-190B-3989-5E2D-0B4878FE6D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7600" y="2209800"/>
            <a:ext cx="4445000" cy="266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682304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8DD9C97-FBA6-9F10-AD30-1D726A8BE2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400" y="336841"/>
            <a:ext cx="4953000" cy="6246284"/>
          </a:xfr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8F4FA3-BC2E-93C2-52A7-601D4929A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AB2C7-2CBA-4502-84C3-44AFE0C96515}" type="datetime1">
              <a:rPr lang="en-US" smtClean="0"/>
              <a:t>2/10/2025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8FE31D-70F1-DF98-575B-134CC81DC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47BF23-BDE3-2488-A2C6-684A60BE9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57</a:t>
            </a:fld>
            <a:endParaRPr lang="en-US"/>
          </a:p>
        </p:txBody>
      </p:sp>
      <p:pic>
        <p:nvPicPr>
          <p:cNvPr id="1028" name="Picture 4" descr="Backpropagation Process in Deep Neural Network">
            <a:extLst>
              <a:ext uri="{FF2B5EF4-FFF2-40B4-BE49-F238E27FC236}">
                <a16:creationId xmlns:a16="http://schemas.microsoft.com/office/drawing/2014/main" id="{B205D3BB-190B-3989-5E2D-0B4878FE6D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7600" y="2209800"/>
            <a:ext cx="4445000" cy="266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152506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8F4FA3-BC2E-93C2-52A7-601D4929A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AB2C7-2CBA-4502-84C3-44AFE0C96515}" type="datetime1">
              <a:rPr lang="en-US" smtClean="0"/>
              <a:t>2/10/2025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8FE31D-70F1-DF98-575B-134CC81DC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47BF23-BDE3-2488-A2C6-684A60BE9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58</a:t>
            </a:fld>
            <a:endParaRPr lang="en-US"/>
          </a:p>
        </p:txBody>
      </p:sp>
      <p:pic>
        <p:nvPicPr>
          <p:cNvPr id="1028" name="Picture 4" descr="Backpropagation Process in Deep Neural Network">
            <a:extLst>
              <a:ext uri="{FF2B5EF4-FFF2-40B4-BE49-F238E27FC236}">
                <a16:creationId xmlns:a16="http://schemas.microsoft.com/office/drawing/2014/main" id="{B205D3BB-190B-3989-5E2D-0B4878FE6D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7600" y="2209800"/>
            <a:ext cx="4445000" cy="266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A0B0740-8C6D-AE4B-DAC5-B91141B780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699" y="228600"/>
            <a:ext cx="7079259" cy="624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350063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8F4FA3-BC2E-93C2-52A7-601D4929A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AB2C7-2CBA-4502-84C3-44AFE0C96515}" type="datetime1">
              <a:rPr lang="en-US" smtClean="0"/>
              <a:t>2/10/2025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8FE31D-70F1-DF98-575B-134CC81DC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47BF23-BDE3-2488-A2C6-684A60BE9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59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677DC3D-C7EB-F112-D556-B6DF3BC16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pic>
        <p:nvPicPr>
          <p:cNvPr id="1028" name="Picture 4" descr="Backpropagation Process in Deep Neural Network">
            <a:extLst>
              <a:ext uri="{FF2B5EF4-FFF2-40B4-BE49-F238E27FC236}">
                <a16:creationId xmlns:a16="http://schemas.microsoft.com/office/drawing/2014/main" id="{B205D3BB-190B-3989-5E2D-0B4878FE6D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7600" y="2209800"/>
            <a:ext cx="4445000" cy="266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B1CC250-DBF2-580A-B4E9-8B77D97C6D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51" y="1981200"/>
            <a:ext cx="7685461" cy="39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548037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C6AAB9F-6C4A-0913-CE32-1B964DC24B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Chapter 5, Deep learning book by MIT</a:t>
            </a:r>
          </a:p>
          <a:p>
            <a:r>
              <a:rPr lang="en-US" dirty="0"/>
              <a:t>Chapter 4, Neural Networks and Learning Machines, </a:t>
            </a:r>
            <a:r>
              <a:rPr lang="en-US" dirty="0" err="1"/>
              <a:t>Haykin</a:t>
            </a:r>
            <a:endParaRPr lang="en-US" dirty="0"/>
          </a:p>
          <a:p>
            <a:r>
              <a:rPr lang="en-US" dirty="0"/>
              <a:t>Chapter 5, Pattern Recognition and Machine Learning, Bishop</a:t>
            </a:r>
          </a:p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3C93B8-E574-59A6-B990-0E2A78A16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AB2C7-2CBA-4502-84C3-44AFE0C96515}" type="datetime1">
              <a:rPr lang="en-US" smtClean="0"/>
              <a:t>2/10/2025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2555AC-956B-1908-B19C-BF3F8851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ED023C-340C-4507-C03A-8CBA084BA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60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CE09BC7-C023-D8D5-22CC-C600622FF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406237451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1152" y="2866672"/>
            <a:ext cx="7886700" cy="606423"/>
          </a:xfrm>
        </p:spPr>
        <p:txBody>
          <a:bodyPr>
            <a:noAutofit/>
          </a:bodyPr>
          <a:lstStyle/>
          <a:p>
            <a:pPr algn="ctr"/>
            <a:r>
              <a:rPr lang="en-US" sz="7200" dirty="0"/>
              <a:t>Thank You </a:t>
            </a:r>
            <a:r>
              <a:rPr lang="en-US" sz="7200" dirty="0">
                <a:sym typeface="Wingdings" panose="05000000000000000000" pitchFamily="2" charset="2"/>
              </a:rPr>
              <a:t> </a:t>
            </a:r>
            <a:endParaRPr lang="en-US" sz="7200" dirty="0"/>
          </a:p>
        </p:txBody>
      </p:sp>
      <p:sp>
        <p:nvSpPr>
          <p:cNvPr id="4" name="Rectangle 3"/>
          <p:cNvSpPr/>
          <p:nvPr/>
        </p:nvSpPr>
        <p:spPr>
          <a:xfrm>
            <a:off x="1726676" y="762000"/>
            <a:ext cx="8484124" cy="140459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12F37-302F-42F2-9029-E364DD370268}" type="slidenum">
              <a:rPr lang="en-US" smtClean="0"/>
              <a:t>61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062AA-C9DD-4385-B101-10BDC6A3EB96}" type="datetime1">
              <a:rPr lang="en-US" smtClean="0"/>
              <a:t>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03314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19999</TotalTime>
  <Words>2065</Words>
  <Application>Microsoft Office PowerPoint</Application>
  <PresentationFormat>Widescreen</PresentationFormat>
  <Paragraphs>577</Paragraphs>
  <Slides>61</Slides>
  <Notes>12</Notes>
  <HiddenSlides>0</HiddenSlides>
  <MMClips>0</MMClips>
  <ScaleCrop>false</ScaleCrop>
  <HeadingPairs>
    <vt:vector size="8" baseType="variant">
      <vt:variant>
        <vt:lpstr>Fonts Used</vt:lpstr>
      </vt:variant>
      <vt:variant>
        <vt:i4>17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80" baseType="lpstr">
      <vt:lpstr>Arial</vt:lpstr>
      <vt:lpstr>Arial</vt:lpstr>
      <vt:lpstr>Arial MT</vt:lpstr>
      <vt:lpstr>Calibri</vt:lpstr>
      <vt:lpstr>Cambria Math</vt:lpstr>
      <vt:lpstr>CMBX10</vt:lpstr>
      <vt:lpstr>CMBX12</vt:lpstr>
      <vt:lpstr>CMMI10</vt:lpstr>
      <vt:lpstr>CMMI7</vt:lpstr>
      <vt:lpstr>CMR10</vt:lpstr>
      <vt:lpstr>CMTI10</vt:lpstr>
      <vt:lpstr>Frutiger-Bold</vt:lpstr>
      <vt:lpstr>Tahoma</vt:lpstr>
      <vt:lpstr>Times New Roman</vt:lpstr>
      <vt:lpstr>TimesTen-Italic</vt:lpstr>
      <vt:lpstr>TimesTen-Roman</vt:lpstr>
      <vt:lpstr>Wingdings</vt:lpstr>
      <vt:lpstr>Office Theme</vt:lpstr>
      <vt:lpstr>Equation</vt:lpstr>
      <vt:lpstr>PowerPoint Presentation</vt:lpstr>
      <vt:lpstr>Goals</vt:lpstr>
      <vt:lpstr>Recap of Previous Lecture</vt:lpstr>
      <vt:lpstr>PowerPoint Presentation</vt:lpstr>
      <vt:lpstr>PowerPoint Presentation</vt:lpstr>
      <vt:lpstr>Rosenblatt's perceptron model</vt:lpstr>
      <vt:lpstr>Rosenblatt's perceptron model</vt:lpstr>
      <vt:lpstr>Today’s Lecture</vt:lpstr>
      <vt:lpstr>ANN: Multi-Layer Perceptron</vt:lpstr>
      <vt:lpstr>Artificial Neural Network</vt:lpstr>
      <vt:lpstr>Artificial Neural Network</vt:lpstr>
      <vt:lpstr>Neural Network</vt:lpstr>
      <vt:lpstr>Neural Network</vt:lpstr>
      <vt:lpstr>Neural Network</vt:lpstr>
      <vt:lpstr>Neural Network</vt:lpstr>
      <vt:lpstr>Neural Network</vt:lpstr>
      <vt:lpstr>Neural Network</vt:lpstr>
      <vt:lpstr>Neural Network</vt:lpstr>
      <vt:lpstr>Neural Network</vt:lpstr>
      <vt:lpstr>Neural Network</vt:lpstr>
      <vt:lpstr>Neural Network</vt:lpstr>
      <vt:lpstr>Backpropagation algorithm</vt:lpstr>
      <vt:lpstr>Backpropagation algorithm</vt:lpstr>
      <vt:lpstr>Backpropagation algorithm</vt:lpstr>
      <vt:lpstr>Backpropagation algorithm</vt:lpstr>
      <vt:lpstr>Backpropagation algorithm</vt:lpstr>
      <vt:lpstr>Backpropagation algorithm</vt:lpstr>
      <vt:lpstr>Backpropagation algorithm</vt:lpstr>
      <vt:lpstr>Backpropagation algorithm</vt:lpstr>
      <vt:lpstr>Backpropagation algorithm</vt:lpstr>
      <vt:lpstr>Backpropagation algorithm</vt:lpstr>
      <vt:lpstr>activations</vt:lpstr>
      <vt:lpstr>Chain Rule</vt:lpstr>
      <vt:lpstr>Chain Rule</vt:lpstr>
      <vt:lpstr>Neural Network</vt:lpstr>
      <vt:lpstr>Neural Network</vt:lpstr>
      <vt:lpstr>Building a Neural Net</vt:lpstr>
      <vt:lpstr>Building a Neural Net</vt:lpstr>
      <vt:lpstr>Building a Neural Net</vt:lpstr>
      <vt:lpstr>Building a Neural Net</vt:lpstr>
      <vt:lpstr>Building a Neural Net</vt:lpstr>
      <vt:lpstr>Decision Boundary</vt:lpstr>
      <vt:lpstr>Decision Boundary</vt:lpstr>
      <vt:lpstr>Decision Boundary</vt:lpstr>
      <vt:lpstr>Multi-Class Output</vt:lpstr>
      <vt:lpstr>Multi-Class Output</vt:lpstr>
      <vt:lpstr>Deeper Networks</vt:lpstr>
      <vt:lpstr>Deeper Networks</vt:lpstr>
      <vt:lpstr>Deeper Networks</vt:lpstr>
      <vt:lpstr>Deeper Networks</vt:lpstr>
      <vt:lpstr>Example</vt:lpstr>
      <vt:lpstr>PowerPoint Presentation</vt:lpstr>
      <vt:lpstr>PowerPoint Presentation</vt:lpstr>
      <vt:lpstr>PowerPoint Presentation</vt:lpstr>
      <vt:lpstr>Example</vt:lpstr>
      <vt:lpstr>Example</vt:lpstr>
      <vt:lpstr>PowerPoint Presentation</vt:lpstr>
      <vt:lpstr>PowerPoint Presentation</vt:lpstr>
      <vt:lpstr>Example</vt:lpstr>
      <vt:lpstr>References</vt:lpstr>
      <vt:lpstr>Thank You 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AKHTAR JAMIL</dc:creator>
  <cp:lastModifiedBy>akhtar jamil</cp:lastModifiedBy>
  <cp:revision>1360</cp:revision>
  <dcterms:created xsi:type="dcterms:W3CDTF">2006-08-16T00:00:00Z</dcterms:created>
  <dcterms:modified xsi:type="dcterms:W3CDTF">2025-02-10T09:57:45Z</dcterms:modified>
</cp:coreProperties>
</file>