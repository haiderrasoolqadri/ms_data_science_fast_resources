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7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8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9.xml" ContentType="application/vnd.openxmlformats-officedocument.presentationml.notesSlide+xml"/>
  <Override PartName="/ppt/tags/tag25.xml" ContentType="application/vnd.openxmlformats-officedocument.presentationml.tags+xml"/>
  <Override PartName="/ppt/notesSlides/notesSlide20.xml" ContentType="application/vnd.openxmlformats-officedocument.presentationml.notesSlide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2"/>
  </p:notesMasterIdLst>
  <p:sldIdLst>
    <p:sldId id="443" r:id="rId2"/>
    <p:sldId id="421" r:id="rId3"/>
    <p:sldId id="270" r:id="rId4"/>
    <p:sldId id="1299" r:id="rId5"/>
    <p:sldId id="357" r:id="rId6"/>
    <p:sldId id="358" r:id="rId7"/>
    <p:sldId id="359" r:id="rId8"/>
    <p:sldId id="360" r:id="rId9"/>
    <p:sldId id="361" r:id="rId10"/>
    <p:sldId id="362" r:id="rId11"/>
    <p:sldId id="363" r:id="rId12"/>
    <p:sldId id="364" r:id="rId13"/>
    <p:sldId id="365" r:id="rId14"/>
    <p:sldId id="376" r:id="rId15"/>
    <p:sldId id="366" r:id="rId16"/>
    <p:sldId id="290" r:id="rId17"/>
    <p:sldId id="291" r:id="rId18"/>
    <p:sldId id="1300" r:id="rId19"/>
    <p:sldId id="347" r:id="rId20"/>
    <p:sldId id="1301" r:id="rId21"/>
    <p:sldId id="261" r:id="rId22"/>
    <p:sldId id="1302" r:id="rId23"/>
    <p:sldId id="302" r:id="rId24"/>
    <p:sldId id="262" r:id="rId25"/>
    <p:sldId id="305" r:id="rId26"/>
    <p:sldId id="1305" r:id="rId27"/>
    <p:sldId id="1303" r:id="rId28"/>
    <p:sldId id="1304" r:id="rId29"/>
    <p:sldId id="1298" r:id="rId30"/>
    <p:sldId id="41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A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62" autoAdjust="0"/>
    <p:restoredTop sz="94660"/>
  </p:normalViewPr>
  <p:slideViewPr>
    <p:cSldViewPr>
      <p:cViewPr varScale="1">
        <p:scale>
          <a:sx n="72" d="100"/>
          <a:sy n="72" d="100"/>
        </p:scale>
        <p:origin x="121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28C82-CA69-4C24-80B0-668ACBAF35BA}" type="datetimeFigureOut">
              <a:rPr lang="en-US" smtClean="0"/>
              <a:pPr/>
              <a:t>3/17/2022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D1793F-0F1D-49B1-A0BA-855CC243B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D1793F-0F1D-49B1-A0BA-855CC243B45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00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CC52ADC-536B-4B55-87EA-05622FB0B7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F026E58-5309-42AA-90CC-B16AD9775B0A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85E082CB-67B0-48DE-9A91-3FD1508E03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E48266E7-41E1-4C15-8CF0-4FD69EE26D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First introduced in COLT-92 by Boser, Guyon and Vapnik</a:t>
            </a:r>
          </a:p>
          <a:p>
            <a:r>
              <a:rPr lang="en-US" altLang="zh-CN">
                <a:ea typeface="SimSun" panose="02010600030101010101" pitchFamily="2" charset="-122"/>
              </a:rPr>
              <a:t>COLT = computational learning theory</a:t>
            </a:r>
          </a:p>
          <a:p>
            <a:pPr lvl="2"/>
            <a:r>
              <a:rPr lang="en-US" altLang="zh-CN">
                <a:ea typeface="SimSun" panose="02010600030101010101" pitchFamily="2" charset="-122"/>
              </a:rPr>
              <a:t>B. Scholkopf et al. ICANN 96. 47-52.</a:t>
            </a:r>
          </a:p>
          <a:p>
            <a:endParaRPr lang="en-US" altLang="zh-CN">
              <a:ea typeface="SimSun" panose="02010600030101010101" pitchFamily="2" charset="-122"/>
            </a:endParaRPr>
          </a:p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40EAC74-68C5-4230-ADFB-7FB950C44D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6D1DAB-210C-4ED4-9430-6FC9B9DD59CD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91842" name="Rectangle 2">
            <a:extLst>
              <a:ext uri="{FF2B5EF4-FFF2-40B4-BE49-F238E27FC236}">
                <a16:creationId xmlns:a16="http://schemas.microsoft.com/office/drawing/2014/main" id="{C16E7ED7-D6EA-4ACE-9548-260481122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ECF64CED-30E2-422A-99D5-9A7BD6B99F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2DB5C33-DFB9-4288-8382-8673E9CC63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530D22-9334-428C-B103-4DA67C806F26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292866" name="Rectangle 2">
            <a:extLst>
              <a:ext uri="{FF2B5EF4-FFF2-40B4-BE49-F238E27FC236}">
                <a16:creationId xmlns:a16="http://schemas.microsoft.com/office/drawing/2014/main" id="{974B34AB-59A3-4B1B-99A8-72002BFF72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B28C1E07-6255-411D-9368-29364227B4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E277A03-2716-42A7-BAD2-F49A574760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6AE35A-E3F4-4A19-888A-B9B686B7F9AE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293890" name="Rectangle 2">
            <a:extLst>
              <a:ext uri="{FF2B5EF4-FFF2-40B4-BE49-F238E27FC236}">
                <a16:creationId xmlns:a16="http://schemas.microsoft.com/office/drawing/2014/main" id="{02FE217C-8E49-41F5-8B1E-70360C8807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C3FDDF58-913E-4E2E-AE58-3E78F70C7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BD4C7FD-9ADE-4275-9254-F5C9755B59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AE72C82-9A9C-4BC0-8AB3-0A2B151ADD9B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294914" name="Rectangle 2">
            <a:extLst>
              <a:ext uri="{FF2B5EF4-FFF2-40B4-BE49-F238E27FC236}">
                <a16:creationId xmlns:a16="http://schemas.microsoft.com/office/drawing/2014/main" id="{A21B4929-7E3A-45B8-9ABA-60C748119D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6B0B75E0-EAE5-48F6-BC03-708D586E52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0DC82A5A-D8AA-40B8-B098-9C7901B002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5771E7-E72F-4C08-85EE-AFE857F02503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295938" name="Rectangle 2">
            <a:extLst>
              <a:ext uri="{FF2B5EF4-FFF2-40B4-BE49-F238E27FC236}">
                <a16:creationId xmlns:a16="http://schemas.microsoft.com/office/drawing/2014/main" id="{01C145D1-5A65-469D-8211-B5599A3A02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A2EFA836-A505-4F96-A998-6F87732C4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E1B9927-E11E-4907-8085-37CEF7CE8C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0E22EE-6FA0-4ED4-8D8A-0EB18849AD6D}" type="slidenum">
              <a:rPr lang="zh-CN" altLang="en-US"/>
              <a:pPr/>
              <a:t>10</a:t>
            </a:fld>
            <a:endParaRPr lang="en-US" altLang="zh-CN"/>
          </a:p>
        </p:txBody>
      </p:sp>
      <p:sp>
        <p:nvSpPr>
          <p:cNvPr id="296962" name="Rectangle 2">
            <a:extLst>
              <a:ext uri="{FF2B5EF4-FFF2-40B4-BE49-F238E27FC236}">
                <a16:creationId xmlns:a16="http://schemas.microsoft.com/office/drawing/2014/main" id="{A849F24F-C3B5-447B-9E62-BE93142E1B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6168FB2B-C47E-4FA5-9888-93141E9187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C5CD06C-D01E-433C-9AEF-85B66520A7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077841B-6749-470D-980A-F3B7BE74C941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297986" name="Rectangle 2">
            <a:extLst>
              <a:ext uri="{FF2B5EF4-FFF2-40B4-BE49-F238E27FC236}">
                <a16:creationId xmlns:a16="http://schemas.microsoft.com/office/drawing/2014/main" id="{ED6920D0-A7BF-4075-AAC4-AC8C27689C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2034BDCB-76CA-4EEB-B63B-EF0C2B754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003E6C7-3559-4BE9-B14D-AC3F6F0906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788204-DFFD-44DB-9C1A-26D018578A57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299010" name="Rectangle 2">
            <a:extLst>
              <a:ext uri="{FF2B5EF4-FFF2-40B4-BE49-F238E27FC236}">
                <a16:creationId xmlns:a16="http://schemas.microsoft.com/office/drawing/2014/main" id="{4385DF53-9522-49F8-A750-8E712F887F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CAB7CD39-4398-4F05-B7B6-3DD700EFF4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C75EDFD-2138-44DB-A59A-EF05D3651C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9F519DB-4D65-471F-850F-4B684C23C1DE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300034" name="Rectangle 2">
            <a:extLst>
              <a:ext uri="{FF2B5EF4-FFF2-40B4-BE49-F238E27FC236}">
                <a16:creationId xmlns:a16="http://schemas.microsoft.com/office/drawing/2014/main" id="{A5BD3A03-1457-4C77-A025-2F7F473AF1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F398054B-1A8D-450C-8DA7-BE47EBD6E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849C170-1F02-4984-BDAE-74B7E38379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B9CDB58-DD8E-4F97-A428-0F34F8EFBFC7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353282" name="Rectangle 2">
            <a:extLst>
              <a:ext uri="{FF2B5EF4-FFF2-40B4-BE49-F238E27FC236}">
                <a16:creationId xmlns:a16="http://schemas.microsoft.com/office/drawing/2014/main" id="{86CFBF23-4232-408E-A53E-A5360B7363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3283" name="Rectangle 3">
            <a:extLst>
              <a:ext uri="{FF2B5EF4-FFF2-40B4-BE49-F238E27FC236}">
                <a16:creationId xmlns:a16="http://schemas.microsoft.com/office/drawing/2014/main" id="{BF40C0F9-4DEC-4172-8225-80599D632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6885B12-E44B-46D4-98A8-94BC257DD7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26F54F-5997-47A9-A732-98E49F7A1B05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301058" name="Rectangle 2">
            <a:extLst>
              <a:ext uri="{FF2B5EF4-FFF2-40B4-BE49-F238E27FC236}">
                <a16:creationId xmlns:a16="http://schemas.microsoft.com/office/drawing/2014/main" id="{A737C502-4104-4DDC-A8DE-A9BBF919B6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9EFA80B7-07F0-432E-B030-0C69CD174F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C72FD6CE-1369-49CA-8F16-65CA1A6FEA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AD7371-3E6E-45A1-BFC1-D81ACA60EA99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B81DD205-9F90-4B9B-99EA-8786D5F6D2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38E64C25-815C-43B6-B351-8685D59F5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CH" altLang="en-PK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A171F60-3448-4F23-8FC9-BF765584FE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15F8E4-2502-4944-BBE8-E8D5AC72B58A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71010" name="Rectangle 2">
            <a:extLst>
              <a:ext uri="{FF2B5EF4-FFF2-40B4-BE49-F238E27FC236}">
                <a16:creationId xmlns:a16="http://schemas.microsoft.com/office/drawing/2014/main" id="{CB39611C-38F3-4ADC-9643-333BA76215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586AA75B-FC00-4AD0-A59B-99A361B9A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CH" altLang="en-PK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36C228E5-2117-4647-9465-FBD37A0132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C0B197F-620F-45E0-923F-7B2BD8D24FA0}" type="slidenum">
              <a:rPr lang="zh-CN" altLang="en-US"/>
              <a:pPr/>
              <a:t>19</a:t>
            </a:fld>
            <a:endParaRPr lang="en-US" altLang="zh-CN"/>
          </a:p>
        </p:txBody>
      </p:sp>
      <p:sp>
        <p:nvSpPr>
          <p:cNvPr id="308226" name="Rectangle 2">
            <a:extLst>
              <a:ext uri="{FF2B5EF4-FFF2-40B4-BE49-F238E27FC236}">
                <a16:creationId xmlns:a16="http://schemas.microsoft.com/office/drawing/2014/main" id="{30570ECE-6792-4EDF-A855-A5910972A1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660EE084-3647-430F-A148-2156AD3961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4A0B8B46-113A-4E07-9AA1-17E98E5DAE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A3463B8-4987-417B-86DE-66DA31C0A61D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76130" name="Rectangle 2">
            <a:extLst>
              <a:ext uri="{FF2B5EF4-FFF2-40B4-BE49-F238E27FC236}">
                <a16:creationId xmlns:a16="http://schemas.microsoft.com/office/drawing/2014/main" id="{D4524A06-A8C9-4CA1-8C17-152A404035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561532FE-BBF4-4142-95E3-A83925CE43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CH" altLang="en-PK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9C1EF280-8002-48D5-ADC2-A14D6BB225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DDFF53B-7941-491A-B9A5-EDAE6C689FB2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82274" name="Rectangle 2">
            <a:extLst>
              <a:ext uri="{FF2B5EF4-FFF2-40B4-BE49-F238E27FC236}">
                <a16:creationId xmlns:a16="http://schemas.microsoft.com/office/drawing/2014/main" id="{90A9EF16-9ECB-4905-88B4-1BE52BB849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F7CCA86B-CF4D-459F-9F0D-56C2EC8A4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So, if change internal points, no effect on the decision boundary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707CEBF-E916-42DF-BBED-DAEF516E33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98C184-C866-4095-85CA-5D14C09D8EB4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A5080952-ECEE-40F1-92BD-74CCE5007B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2B0A4957-7E99-40C2-91BB-43DF9CAFA0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D48E9D8-E06D-4F14-9A57-DCAB21C26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BEEEE4-82D5-4C0B-903D-90C80DCF333D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311298" name="Rectangle 2">
            <a:extLst>
              <a:ext uri="{FF2B5EF4-FFF2-40B4-BE49-F238E27FC236}">
                <a16:creationId xmlns:a16="http://schemas.microsoft.com/office/drawing/2014/main" id="{1B21DBC6-3417-4EE0-A810-CFC0E591AF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8EBF0E64-36DB-405F-90C5-ACD8B760D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SimSun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492875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8F0A274-5F67-459E-90EF-C36CF02B7C03}" type="datetime1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92875"/>
            <a:ext cx="2895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477000"/>
            <a:ext cx="2133600" cy="365125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FBCE9-25A6-4D5C-B901-F07078CFAB46}" type="datetime1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609601"/>
            <a:ext cx="8229600" cy="838200"/>
          </a:xfrm>
        </p:spPr>
        <p:txBody>
          <a:bodyPr>
            <a:noAutofit/>
          </a:bodyPr>
          <a:lstStyle>
            <a:lvl1pPr>
              <a:defRPr sz="3600" b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457200"/>
            <a:ext cx="9128760" cy="76200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517199"/>
            <a:ext cx="9128760" cy="45719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14352-1B41-473B-811B-61BBD5020B41}" type="datetime1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28B7D-845D-4ED5-9830-AB0051028A2B}" type="datetime1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88C1D-2A60-4AF8-A79B-40B2CB12E16B}" type="datetime1">
              <a:rPr lang="en-US" smtClean="0"/>
              <a:t>3/17/2022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4DF140-65CB-4713-B097-E725AA407EB6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524000"/>
            <a:ext cx="82296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D34CA-F0E1-4472-954B-D3DD7DD534AC}" type="datetime1">
              <a:rPr lang="en-US" smtClean="0"/>
              <a:t>3/17/2022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F1B2-7C4B-4839-98CE-78D947FE2198}" type="datetime1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7CFC7-F3D1-4495-A486-00AD0065595B}" type="datetime1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6B15E-5FDF-46DC-8E0E-5524760242A1}" type="datetime1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BE044-66AE-4718-90FE-F01C1BD25E3B}" type="datetime1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8800"/>
            <a:ext cx="8229600" cy="4297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361CB8AC-9BC8-45BD-9A38-CCEF7595A079}" type="datetime1">
              <a:rPr lang="en-US" smtClean="0"/>
              <a:t>3/17/2022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77000"/>
            <a:ext cx="2895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Presented by    Dr. AKHTAR JAMIL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477000"/>
            <a:ext cx="21336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4.xml"/><Relationship Id="rId12" Type="http://schemas.openxmlformats.org/officeDocument/2006/relationships/image" Target="../media/image8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7.png"/><Relationship Id="rId5" Type="http://schemas.openxmlformats.org/officeDocument/2006/relationships/tags" Target="../tags/tag5.xml"/><Relationship Id="rId10" Type="http://schemas.openxmlformats.org/officeDocument/2006/relationships/image" Target="../media/image6.png"/><Relationship Id="rId4" Type="http://schemas.openxmlformats.org/officeDocument/2006/relationships/tags" Target="../tags/tag4.xml"/><Relationship Id="rId9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8.xml"/><Relationship Id="rId7" Type="http://schemas.openxmlformats.org/officeDocument/2006/relationships/image" Target="../media/image10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notesSlide" Target="../notesSlides/notesSlide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15.xml"/><Relationship Id="rId7" Type="http://schemas.openxmlformats.org/officeDocument/2006/relationships/image" Target="../media/image18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21.png"/><Relationship Id="rId4" Type="http://schemas.openxmlformats.org/officeDocument/2006/relationships/tags" Target="../tags/tag16.xml"/><Relationship Id="rId9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" Type="http://schemas.openxmlformats.org/officeDocument/2006/relationships/tags" Target="../tags/tag18.xml"/><Relationship Id="rId16" Type="http://schemas.openxmlformats.org/officeDocument/2006/relationships/image" Target="../media/image27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image" Target="../media/image22.png"/><Relationship Id="rId5" Type="http://schemas.openxmlformats.org/officeDocument/2006/relationships/tags" Target="../tags/tag21.xml"/><Relationship Id="rId15" Type="http://schemas.openxmlformats.org/officeDocument/2006/relationships/image" Target="../media/image26.png"/><Relationship Id="rId10" Type="http://schemas.openxmlformats.org/officeDocument/2006/relationships/notesSlide" Target="../notesSlides/notesSlide19.xml"/><Relationship Id="rId4" Type="http://schemas.openxmlformats.org/officeDocument/2006/relationships/tags" Target="../tags/tag20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3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B3137-4BC2-4B86-8D00-BB8F5A9893E9}" type="datetime1">
              <a:rPr lang="en-US" smtClean="0"/>
              <a:t>3/17/2022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Presented by    Dr. AKHTAR JAMIL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0" y="928670"/>
            <a:ext cx="4953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0" i="0" dirty="0">
                <a:solidFill>
                  <a:srgbClr val="0099CC"/>
                </a:solidFill>
                <a:effectLst/>
                <a:latin typeface="arial" panose="020B0604020202020204" pitchFamily="34" charset="0"/>
              </a:rPr>
              <a:t>The National University of Computer and Emerging Sciences</a:t>
            </a:r>
            <a:endParaRPr lang="en-US" sz="2000" b="1" dirty="0">
              <a:solidFill>
                <a:srgbClr val="0099CC"/>
              </a:solidFill>
            </a:endParaRPr>
          </a:p>
        </p:txBody>
      </p:sp>
      <p:sp>
        <p:nvSpPr>
          <p:cNvPr id="9" name="AutoShape 8"/>
          <p:cNvSpPr>
            <a:spLocks noChangeArrowheads="1"/>
          </p:cNvSpPr>
          <p:nvPr/>
        </p:nvSpPr>
        <p:spPr bwMode="auto">
          <a:xfrm>
            <a:off x="876300" y="2589241"/>
            <a:ext cx="7391399" cy="838201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45791" dir="3378596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spcBef>
                <a:spcPct val="50000"/>
              </a:spcBef>
            </a:pPr>
            <a:r>
              <a:rPr lang="en-US" sz="3200" dirty="0">
                <a:solidFill>
                  <a:schemeClr val="bg1"/>
                </a:solidFill>
              </a:rPr>
              <a:t>Support Vector Machine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028700" y="4829633"/>
            <a:ext cx="7086600" cy="8617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sz="2000" b="1" dirty="0" err="1">
                <a:solidFill>
                  <a:srgbClr val="002060"/>
                </a:solidFill>
                <a:latin typeface="Arial" charset="0"/>
              </a:rPr>
              <a:t>Dr.</a:t>
            </a: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 Akhtar Jamil</a:t>
            </a:r>
          </a:p>
          <a:p>
            <a:pPr algn="ctr">
              <a:spcBef>
                <a:spcPct val="50000"/>
              </a:spcBef>
            </a:pPr>
            <a:r>
              <a:rPr lang="en-GB" sz="2000" b="1" dirty="0">
                <a:solidFill>
                  <a:srgbClr val="002060"/>
                </a:solidFill>
                <a:latin typeface="Arial" charset="0"/>
              </a:rPr>
              <a:t>Department of Computer Science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900341"/>
            <a:ext cx="73913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Machine Learning for Data Science 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</p:txBody>
      </p:sp>
      <p:pic>
        <p:nvPicPr>
          <p:cNvPr id="4098" name="Picture 2" descr="National University of Computer and Emerging Sciences - Wikipedia">
            <a:extLst>
              <a:ext uri="{FF2B5EF4-FFF2-40B4-BE49-F238E27FC236}">
                <a16:creationId xmlns:a16="http://schemas.microsoft.com/office/drawing/2014/main" id="{E0F510F5-0228-44A0-926A-4D4211F68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5802"/>
            <a:ext cx="1864889" cy="186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953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Review of Previous Lecture</a:t>
            </a:r>
          </a:p>
          <a:p>
            <a:r>
              <a:rPr lang="en-US" dirty="0">
                <a:solidFill>
                  <a:srgbClr val="00B050"/>
                </a:solidFill>
              </a:rPr>
              <a:t>Today’s Lecture</a:t>
            </a:r>
          </a:p>
          <a:p>
            <a:pPr lvl="1"/>
            <a:r>
              <a:rPr lang="en-US" dirty="0"/>
              <a:t>Support Vector Machine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C9568-9216-4D23-B81E-0FEA7F8A5D35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</p:spTree>
    <p:extLst>
      <p:ext uri="{BB962C8B-B14F-4D97-AF65-F5344CB8AC3E}">
        <p14:creationId xmlns:p14="http://schemas.microsoft.com/office/powerpoint/2010/main" val="4075359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6F769-71AA-4CD7-8491-2AEC9945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C8170-E005-4A89-B00E-C535A0E3BF97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F1ED6-1916-4AB8-83BE-D3FCE4943C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915D9A-100D-40AD-A921-A35E4FE536C9}" type="slidenum">
              <a:rPr lang="zh-CN" altLang="en-US"/>
              <a:pPr/>
              <a:t>3</a:t>
            </a:fld>
            <a:endParaRPr lang="en-US" altLang="zh-CN"/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CF4420F5-7859-4622-BCB2-22E752B8E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History of SVM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98F35123-DF03-477B-A2F8-1A59EDC650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SVM is </a:t>
            </a:r>
            <a:r>
              <a:rPr lang="en-US" altLang="zh-TW" dirty="0">
                <a:ea typeface="新細明體" panose="02020500000000000000" pitchFamily="18" charset="-120"/>
              </a:rPr>
              <a:t>a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statistical machine learning </a:t>
            </a:r>
            <a:r>
              <a:rPr lang="en-US" altLang="zh-CN" dirty="0">
                <a:ea typeface="SimSun" panose="02010600030101010101" pitchFamily="2" charset="-122"/>
              </a:rPr>
              <a:t>method introduced in 1992 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SVM becomes popular because of its </a:t>
            </a:r>
            <a:r>
              <a:rPr lang="en-US" altLang="zh-CN" dirty="0">
                <a:solidFill>
                  <a:srgbClr val="00B050"/>
                </a:solidFill>
                <a:ea typeface="SimSun" panose="02010600030101010101" pitchFamily="2" charset="-122"/>
              </a:rPr>
              <a:t>success in handwritten digit recognition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1.1% test error rate for SVM. This is the same as the error rates of a carefully constructed neural network, </a:t>
            </a:r>
            <a:r>
              <a:rPr lang="en-US" altLang="zh-CN" dirty="0" err="1">
                <a:ea typeface="SimSun" panose="02010600030101010101" pitchFamily="2" charset="-122"/>
              </a:rPr>
              <a:t>LeNet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SVM is now regarded as an important example of “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kernel methods</a:t>
            </a:r>
            <a:r>
              <a:rPr lang="en-US" altLang="zh-CN" dirty="0">
                <a:ea typeface="SimSun" panose="02010600030101010101" pitchFamily="2" charset="-122"/>
              </a:rPr>
              <a:t>”, </a:t>
            </a:r>
            <a:r>
              <a:rPr lang="en-US" altLang="zh-TW" dirty="0">
                <a:ea typeface="新細明體" panose="02020500000000000000" pitchFamily="18" charset="-120"/>
              </a:rPr>
              <a:t>one of the </a:t>
            </a:r>
            <a:r>
              <a:rPr lang="en-US" altLang="zh-TW" dirty="0">
                <a:solidFill>
                  <a:schemeClr val="hlink"/>
                </a:solidFill>
                <a:ea typeface="新細明體" panose="02020500000000000000" pitchFamily="18" charset="-120"/>
              </a:rPr>
              <a:t>key</a:t>
            </a:r>
            <a:r>
              <a:rPr lang="en-US" altLang="zh-CN" dirty="0">
                <a:solidFill>
                  <a:schemeClr val="hlink"/>
                </a:solidFill>
                <a:ea typeface="SimSun" panose="02010600030101010101" pitchFamily="2" charset="-122"/>
              </a:rPr>
              <a:t> area in machine learning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8402C68-393E-4D27-AF23-F31ACF5B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160C32-62BC-49C6-AAFF-4B20891C5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Ten-Roman"/>
              </a:rPr>
              <a:t>T</a:t>
            </a:r>
            <a:r>
              <a:rPr lang="en-US" b="0" i="0" u="none" strike="noStrike" baseline="0" dirty="0">
                <a:latin typeface="TimesTen-Roman"/>
              </a:rPr>
              <a:t>he support vector machine is a </a:t>
            </a:r>
            <a:r>
              <a:rPr lang="en-US" b="0" i="0" u="none" strike="noStrike" baseline="0" dirty="0">
                <a:solidFill>
                  <a:srgbClr val="00B0F0"/>
                </a:solidFill>
                <a:latin typeface="TimesTen-Roman"/>
              </a:rPr>
              <a:t>binary learning machine</a:t>
            </a:r>
          </a:p>
          <a:p>
            <a:pPr algn="l"/>
            <a:r>
              <a:rPr lang="en-US" b="0" i="1" u="none" strike="noStrike" baseline="0" dirty="0">
                <a:solidFill>
                  <a:srgbClr val="FF0000"/>
                </a:solidFill>
                <a:latin typeface="TimesTen-Italic"/>
              </a:rPr>
              <a:t>Given a training sample, the support vector machine constructs a hyperplane as the decision surface in such a way that the margin of separation between positive and negative examples is maximized.</a:t>
            </a:r>
            <a:endParaRPr lang="en-US" b="0" i="0" u="none" strike="noStrike" baseline="0" dirty="0">
              <a:solidFill>
                <a:srgbClr val="FF0000"/>
              </a:solidFill>
              <a:latin typeface="TimesTen-Italic"/>
            </a:endParaRPr>
          </a:p>
          <a:p>
            <a:pPr algn="l"/>
            <a:r>
              <a:rPr lang="en-US" dirty="0">
                <a:latin typeface="TimesTen-Roman"/>
              </a:rPr>
              <a:t>Can be extended for nonlinearly </a:t>
            </a:r>
            <a:r>
              <a:rPr lang="en-US" b="0" i="0" u="none" strike="noStrike" baseline="0" dirty="0">
                <a:latin typeface="TimesTen-Roman"/>
              </a:rPr>
              <a:t>separable patterns.</a:t>
            </a: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8E4C56-3A03-478F-A42D-296F31FF0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89B6-067E-462B-8D0A-2F6A391BEDF7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B2E7FA-ABA5-4781-BFFC-F7B9B21B0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10A85A-C07C-4F4E-8043-EEF074A9A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27DEDA-2055-418E-97AF-DB5926590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Support Vector Machine</a:t>
            </a:r>
          </a:p>
        </p:txBody>
      </p:sp>
    </p:spTree>
    <p:extLst>
      <p:ext uri="{BB962C8B-B14F-4D97-AF65-F5344CB8AC3E}">
        <p14:creationId xmlns:p14="http://schemas.microsoft.com/office/powerpoint/2010/main" val="240942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Date Placeholder 51">
            <a:extLst>
              <a:ext uri="{FF2B5EF4-FFF2-40B4-BE49-F238E27FC236}">
                <a16:creationId xmlns:a16="http://schemas.microsoft.com/office/drawing/2014/main" id="{1439E4DD-2477-4DD7-B3CA-00DFE350C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2FA54-F96D-4BB7-AB3F-0824D3BD9F05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D6EE9DAD-29EA-4D0F-9F35-1DDB4BAF2D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B4AB31-AD57-4AD0-A247-8F2426926F16}" type="slidenum">
              <a:rPr lang="zh-CN" altLang="en-US"/>
              <a:pPr/>
              <a:t>5</a:t>
            </a:fld>
            <a:endParaRPr lang="en-US" altLang="zh-CN"/>
          </a:p>
        </p:txBody>
      </p:sp>
      <p:sp>
        <p:nvSpPr>
          <p:cNvPr id="276482" name="Rectangle 2">
            <a:extLst>
              <a:ext uri="{FF2B5EF4-FFF2-40B4-BE49-F238E27FC236}">
                <a16:creationId xmlns:a16="http://schemas.microsoft.com/office/drawing/2014/main" id="{A1E102C1-0DBC-4DBE-B386-3089316BC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zh-CN" altLang="en-US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ea typeface="SimSun" panose="02010600030101010101" pitchFamily="2" charset="-122"/>
              </a:rPr>
              <a:t>Linear Classifiers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0A002DAC-5E03-4530-A0B6-A32E51C28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76484" name="Line 4">
            <a:extLst>
              <a:ext uri="{FF2B5EF4-FFF2-40B4-BE49-F238E27FC236}">
                <a16:creationId xmlns:a16="http://schemas.microsoft.com/office/drawing/2014/main" id="{CBC4249A-3D80-4716-BD52-EF3A256B751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5" name="Text Box 5">
            <a:extLst>
              <a:ext uri="{FF2B5EF4-FFF2-40B4-BE49-F238E27FC236}">
                <a16:creationId xmlns:a16="http://schemas.microsoft.com/office/drawing/2014/main" id="{AA1D43C6-5589-4E39-9DE3-3A149341F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76488" name="Line 8">
            <a:extLst>
              <a:ext uri="{FF2B5EF4-FFF2-40B4-BE49-F238E27FC236}">
                <a16:creationId xmlns:a16="http://schemas.microsoft.com/office/drawing/2014/main" id="{B33EB461-7142-41F6-A06B-915936C8ACD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89" name="Text Box 9">
            <a:extLst>
              <a:ext uri="{FF2B5EF4-FFF2-40B4-BE49-F238E27FC236}">
                <a16:creationId xmlns:a16="http://schemas.microsoft.com/office/drawing/2014/main" id="{D3B2DEAB-6E80-4B1F-B0B3-F6498347F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76490" name="Text Box 10">
            <a:extLst>
              <a:ext uri="{FF2B5EF4-FFF2-40B4-BE49-F238E27FC236}">
                <a16:creationId xmlns:a16="http://schemas.microsoft.com/office/drawing/2014/main" id="{D4CE5833-6FC6-42D8-B98A-13758A0C7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76491" name="Oval 11">
            <a:extLst>
              <a:ext uri="{FF2B5EF4-FFF2-40B4-BE49-F238E27FC236}">
                <a16:creationId xmlns:a16="http://schemas.microsoft.com/office/drawing/2014/main" id="{8556AED2-E2D3-4432-8DEE-806DF29122F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492" name="Oval 12">
            <a:extLst>
              <a:ext uri="{FF2B5EF4-FFF2-40B4-BE49-F238E27FC236}">
                <a16:creationId xmlns:a16="http://schemas.microsoft.com/office/drawing/2014/main" id="{0F2DC46A-42F6-4836-B20D-6C3BCECEF22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493" name="Line 13">
            <a:extLst>
              <a:ext uri="{FF2B5EF4-FFF2-40B4-BE49-F238E27FC236}">
                <a16:creationId xmlns:a16="http://schemas.microsoft.com/office/drawing/2014/main" id="{3155F6BD-3F93-445B-A51B-003AF3FB196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494" name="Line 14">
            <a:extLst>
              <a:ext uri="{FF2B5EF4-FFF2-40B4-BE49-F238E27FC236}">
                <a16:creationId xmlns:a16="http://schemas.microsoft.com/office/drawing/2014/main" id="{3658D6A5-9496-43D4-81DE-CA30CD5C73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495" name="Oval 15">
            <a:extLst>
              <a:ext uri="{FF2B5EF4-FFF2-40B4-BE49-F238E27FC236}">
                <a16:creationId xmlns:a16="http://schemas.microsoft.com/office/drawing/2014/main" id="{07FA92CA-C388-4C00-B065-BC79B21707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496" name="Oval 16">
            <a:extLst>
              <a:ext uri="{FF2B5EF4-FFF2-40B4-BE49-F238E27FC236}">
                <a16:creationId xmlns:a16="http://schemas.microsoft.com/office/drawing/2014/main" id="{248D1B8C-EED0-49A9-A068-297DBA097D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497" name="Oval 17">
            <a:extLst>
              <a:ext uri="{FF2B5EF4-FFF2-40B4-BE49-F238E27FC236}">
                <a16:creationId xmlns:a16="http://schemas.microsoft.com/office/drawing/2014/main" id="{28AEB796-8EAD-4CC7-A522-DA225ACF8A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498" name="Oval 18">
            <a:extLst>
              <a:ext uri="{FF2B5EF4-FFF2-40B4-BE49-F238E27FC236}">
                <a16:creationId xmlns:a16="http://schemas.microsoft.com/office/drawing/2014/main" id="{CD16D652-FDB7-4A2B-8F5A-B3C97FC8D8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499" name="Oval 19">
            <a:extLst>
              <a:ext uri="{FF2B5EF4-FFF2-40B4-BE49-F238E27FC236}">
                <a16:creationId xmlns:a16="http://schemas.microsoft.com/office/drawing/2014/main" id="{E0468F5A-EF88-4E9F-A6FD-BEE2FA6E35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0" name="Oval 20">
            <a:extLst>
              <a:ext uri="{FF2B5EF4-FFF2-40B4-BE49-F238E27FC236}">
                <a16:creationId xmlns:a16="http://schemas.microsoft.com/office/drawing/2014/main" id="{519D41E1-C0E1-4B78-ACED-C1C84D2C2D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1" name="Oval 21">
            <a:extLst>
              <a:ext uri="{FF2B5EF4-FFF2-40B4-BE49-F238E27FC236}">
                <a16:creationId xmlns:a16="http://schemas.microsoft.com/office/drawing/2014/main" id="{B0911958-12A7-43B7-941E-54DBF80844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2" name="Oval 22">
            <a:extLst>
              <a:ext uri="{FF2B5EF4-FFF2-40B4-BE49-F238E27FC236}">
                <a16:creationId xmlns:a16="http://schemas.microsoft.com/office/drawing/2014/main" id="{69A7F6E9-1E36-4366-8B12-7B470D1417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3" name="Oval 23">
            <a:extLst>
              <a:ext uri="{FF2B5EF4-FFF2-40B4-BE49-F238E27FC236}">
                <a16:creationId xmlns:a16="http://schemas.microsoft.com/office/drawing/2014/main" id="{1B67B4EB-B36B-4D84-BE14-B2AB868C8A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4" name="Oval 24">
            <a:extLst>
              <a:ext uri="{FF2B5EF4-FFF2-40B4-BE49-F238E27FC236}">
                <a16:creationId xmlns:a16="http://schemas.microsoft.com/office/drawing/2014/main" id="{39112A9D-2B65-4041-86FA-A0AC3C6F61E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5" name="Oval 25">
            <a:extLst>
              <a:ext uri="{FF2B5EF4-FFF2-40B4-BE49-F238E27FC236}">
                <a16:creationId xmlns:a16="http://schemas.microsoft.com/office/drawing/2014/main" id="{033D95D6-C679-459A-ADB1-1D7199953E4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6" name="Oval 26">
            <a:extLst>
              <a:ext uri="{FF2B5EF4-FFF2-40B4-BE49-F238E27FC236}">
                <a16:creationId xmlns:a16="http://schemas.microsoft.com/office/drawing/2014/main" id="{04D99DF4-5953-4ABE-86AD-5C14A4904E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7" name="Oval 27">
            <a:extLst>
              <a:ext uri="{FF2B5EF4-FFF2-40B4-BE49-F238E27FC236}">
                <a16:creationId xmlns:a16="http://schemas.microsoft.com/office/drawing/2014/main" id="{46E0BF4C-91F4-44BE-84BD-97CD96205B1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8" name="Oval 28">
            <a:extLst>
              <a:ext uri="{FF2B5EF4-FFF2-40B4-BE49-F238E27FC236}">
                <a16:creationId xmlns:a16="http://schemas.microsoft.com/office/drawing/2014/main" id="{3F61992E-13A9-4A7A-94A8-E769761AEE5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09" name="Oval 29">
            <a:extLst>
              <a:ext uri="{FF2B5EF4-FFF2-40B4-BE49-F238E27FC236}">
                <a16:creationId xmlns:a16="http://schemas.microsoft.com/office/drawing/2014/main" id="{FB43876D-78F5-4046-9CAE-61066A3E2AC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0" name="Oval 30">
            <a:extLst>
              <a:ext uri="{FF2B5EF4-FFF2-40B4-BE49-F238E27FC236}">
                <a16:creationId xmlns:a16="http://schemas.microsoft.com/office/drawing/2014/main" id="{91DB0B41-2190-4032-9205-38C147F2AFF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1" name="Oval 31">
            <a:extLst>
              <a:ext uri="{FF2B5EF4-FFF2-40B4-BE49-F238E27FC236}">
                <a16:creationId xmlns:a16="http://schemas.microsoft.com/office/drawing/2014/main" id="{6EA1140D-16AB-41E2-9058-58BA8829CFA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2" name="Oval 32">
            <a:extLst>
              <a:ext uri="{FF2B5EF4-FFF2-40B4-BE49-F238E27FC236}">
                <a16:creationId xmlns:a16="http://schemas.microsoft.com/office/drawing/2014/main" id="{E31324BD-3AD2-482E-B0C4-421F761ACCC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3" name="Oval 33">
            <a:extLst>
              <a:ext uri="{FF2B5EF4-FFF2-40B4-BE49-F238E27FC236}">
                <a16:creationId xmlns:a16="http://schemas.microsoft.com/office/drawing/2014/main" id="{324ECE3D-0295-4B5B-BDAD-94309D0411A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4" name="Oval 34">
            <a:extLst>
              <a:ext uri="{FF2B5EF4-FFF2-40B4-BE49-F238E27FC236}">
                <a16:creationId xmlns:a16="http://schemas.microsoft.com/office/drawing/2014/main" id="{5EDD674E-8CFE-4392-8337-768DB25FCE8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5" name="Oval 35">
            <a:extLst>
              <a:ext uri="{FF2B5EF4-FFF2-40B4-BE49-F238E27FC236}">
                <a16:creationId xmlns:a16="http://schemas.microsoft.com/office/drawing/2014/main" id="{C5D9A2F0-2880-4ED0-8BBA-3CB72949869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6" name="Oval 36">
            <a:extLst>
              <a:ext uri="{FF2B5EF4-FFF2-40B4-BE49-F238E27FC236}">
                <a16:creationId xmlns:a16="http://schemas.microsoft.com/office/drawing/2014/main" id="{D3661CE9-2461-45F9-B604-79D25D59D86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7" name="Oval 37">
            <a:extLst>
              <a:ext uri="{FF2B5EF4-FFF2-40B4-BE49-F238E27FC236}">
                <a16:creationId xmlns:a16="http://schemas.microsoft.com/office/drawing/2014/main" id="{1F2906EB-DFD2-406B-B784-6DB6F87361B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8" name="Oval 38">
            <a:extLst>
              <a:ext uri="{FF2B5EF4-FFF2-40B4-BE49-F238E27FC236}">
                <a16:creationId xmlns:a16="http://schemas.microsoft.com/office/drawing/2014/main" id="{9E613043-5068-4B35-8BDA-07507C7C6E8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19" name="Oval 39">
            <a:extLst>
              <a:ext uri="{FF2B5EF4-FFF2-40B4-BE49-F238E27FC236}">
                <a16:creationId xmlns:a16="http://schemas.microsoft.com/office/drawing/2014/main" id="{30E4BA35-DD9D-4CD7-B148-0960949E561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0" name="Oval 40">
            <a:extLst>
              <a:ext uri="{FF2B5EF4-FFF2-40B4-BE49-F238E27FC236}">
                <a16:creationId xmlns:a16="http://schemas.microsoft.com/office/drawing/2014/main" id="{5221AE55-353D-4AAE-AF9F-392E9CE2BEB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1" name="Oval 41">
            <a:extLst>
              <a:ext uri="{FF2B5EF4-FFF2-40B4-BE49-F238E27FC236}">
                <a16:creationId xmlns:a16="http://schemas.microsoft.com/office/drawing/2014/main" id="{CEDD1F7A-A51D-430E-9509-E2B1CB96514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2" name="Oval 42">
            <a:extLst>
              <a:ext uri="{FF2B5EF4-FFF2-40B4-BE49-F238E27FC236}">
                <a16:creationId xmlns:a16="http://schemas.microsoft.com/office/drawing/2014/main" id="{8C9BEBA3-DB87-445B-AC41-130343EAB9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3" name="Oval 43">
            <a:extLst>
              <a:ext uri="{FF2B5EF4-FFF2-40B4-BE49-F238E27FC236}">
                <a16:creationId xmlns:a16="http://schemas.microsoft.com/office/drawing/2014/main" id="{01BC0BD8-FA33-41D7-9E2D-DC3504DDE1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4" name="Oval 44">
            <a:extLst>
              <a:ext uri="{FF2B5EF4-FFF2-40B4-BE49-F238E27FC236}">
                <a16:creationId xmlns:a16="http://schemas.microsoft.com/office/drawing/2014/main" id="{9AC93656-E7B8-48A5-AC7E-ABFEE2D589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5" name="Oval 45">
            <a:extLst>
              <a:ext uri="{FF2B5EF4-FFF2-40B4-BE49-F238E27FC236}">
                <a16:creationId xmlns:a16="http://schemas.microsoft.com/office/drawing/2014/main" id="{5912484E-CB2D-4FEB-9A42-3C0FE35A739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6" name="Oval 46">
            <a:extLst>
              <a:ext uri="{FF2B5EF4-FFF2-40B4-BE49-F238E27FC236}">
                <a16:creationId xmlns:a16="http://schemas.microsoft.com/office/drawing/2014/main" id="{21F88DB8-2ACF-400A-BCB5-EAFC6D4F1EF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7" name="Oval 47">
            <a:extLst>
              <a:ext uri="{FF2B5EF4-FFF2-40B4-BE49-F238E27FC236}">
                <a16:creationId xmlns:a16="http://schemas.microsoft.com/office/drawing/2014/main" id="{4832D586-022E-4D3D-B657-C7EE474130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8" name="Oval 48">
            <a:extLst>
              <a:ext uri="{FF2B5EF4-FFF2-40B4-BE49-F238E27FC236}">
                <a16:creationId xmlns:a16="http://schemas.microsoft.com/office/drawing/2014/main" id="{BFFD7391-A086-432A-B1A6-0439C14F0A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29" name="Text Box 49">
            <a:extLst>
              <a:ext uri="{FF2B5EF4-FFF2-40B4-BE49-F238E27FC236}">
                <a16:creationId xmlns:a16="http://schemas.microsoft.com/office/drawing/2014/main" id="{A2EA8953-1AAD-4550-B32A-2185BFC68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76530" name="Text Box 50">
            <a:extLst>
              <a:ext uri="{FF2B5EF4-FFF2-40B4-BE49-F238E27FC236}">
                <a16:creationId xmlns:a16="http://schemas.microsoft.com/office/drawing/2014/main" id="{9FA9D65E-D1E7-436B-83AA-146663FD2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76531" name="Text Box 51">
            <a:extLst>
              <a:ext uri="{FF2B5EF4-FFF2-40B4-BE49-F238E27FC236}">
                <a16:creationId xmlns:a16="http://schemas.microsoft.com/office/drawing/2014/main" id="{CC0081B5-E3F2-410C-A32B-2B58F9F73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How would you classify this data?</a:t>
            </a:r>
          </a:p>
        </p:txBody>
      </p:sp>
      <p:sp>
        <p:nvSpPr>
          <p:cNvPr id="276532" name="Text Box 52">
            <a:extLst>
              <a:ext uri="{FF2B5EF4-FFF2-40B4-BE49-F238E27FC236}">
                <a16:creationId xmlns:a16="http://schemas.microsoft.com/office/drawing/2014/main" id="{0C49B893-FBFE-455C-ABF7-6302DB865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414338"/>
            <a:ext cx="1693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ea typeface="SimSun" panose="02010600030101010101" pitchFamily="2" charset="-122"/>
              </a:rPr>
              <a:t>Estimation:</a:t>
            </a:r>
          </a:p>
        </p:txBody>
      </p:sp>
      <p:sp>
        <p:nvSpPr>
          <p:cNvPr id="276533" name="Text Box 53">
            <a:extLst>
              <a:ext uri="{FF2B5EF4-FFF2-40B4-BE49-F238E27FC236}">
                <a16:creationId xmlns:a16="http://schemas.microsoft.com/office/drawing/2014/main" id="{46925538-DF13-4245-ABB7-F8781AC77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2166938"/>
            <a:ext cx="24812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b="1">
                <a:ea typeface="SimSun" panose="02010600030101010101" pitchFamily="2" charset="-122"/>
              </a:rPr>
              <a:t>w</a:t>
            </a:r>
            <a:r>
              <a:rPr lang="en-US" altLang="zh-CN">
                <a:ea typeface="SimSun" panose="02010600030101010101" pitchFamily="2" charset="-122"/>
              </a:rPr>
              <a:t>: weight vector</a:t>
            </a:r>
          </a:p>
          <a:p>
            <a:r>
              <a:rPr lang="en-US" altLang="zh-CN" b="1">
                <a:ea typeface="SimSun" panose="02010600030101010101" pitchFamily="2" charset="-122"/>
              </a:rPr>
              <a:t>x</a:t>
            </a:r>
            <a:r>
              <a:rPr lang="en-US" altLang="zh-CN">
                <a:ea typeface="SimSun" panose="02010600030101010101" pitchFamily="2" charset="-122"/>
              </a:rPr>
              <a:t>: data vector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5FF54C-EBBE-417D-A184-0B7C9153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e Placeholder 52">
            <a:extLst>
              <a:ext uri="{FF2B5EF4-FFF2-40B4-BE49-F238E27FC236}">
                <a16:creationId xmlns:a16="http://schemas.microsoft.com/office/drawing/2014/main" id="{8AA04030-0390-46FF-B892-6D21FBDB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E429-268B-439B-869E-ACF4DE7DDB99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D5510773-D47A-4E47-B9C5-3C0266B00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4AB72A-665A-428A-990C-DA7DE594131A}" type="slidenum">
              <a:rPr lang="zh-CN" altLang="en-US"/>
              <a:pPr/>
              <a:t>6</a:t>
            </a:fld>
            <a:endParaRPr lang="en-US" altLang="zh-CN"/>
          </a:p>
        </p:txBody>
      </p:sp>
      <p:sp>
        <p:nvSpPr>
          <p:cNvPr id="277506" name="Rectangle 2">
            <a:extLst>
              <a:ext uri="{FF2B5EF4-FFF2-40B4-BE49-F238E27FC236}">
                <a16:creationId xmlns:a16="http://schemas.microsoft.com/office/drawing/2014/main" id="{E035C562-190D-4A49-91D4-4446343D8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zh-CN" altLang="en-US">
                <a:ea typeface="SimSun" panose="02010600030101010101" pitchFamily="2" charset="-122"/>
              </a:rPr>
              <a:t> </a:t>
            </a:r>
            <a:r>
              <a:rPr lang="en-US" altLang="zh-CN">
                <a:ea typeface="SimSun" panose="02010600030101010101" pitchFamily="2" charset="-122"/>
              </a:rPr>
              <a:t>Linear Classifiers</a:t>
            </a: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9AF73B13-1584-4241-B68E-54C18B321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77508" name="Line 4">
            <a:extLst>
              <a:ext uri="{FF2B5EF4-FFF2-40B4-BE49-F238E27FC236}">
                <a16:creationId xmlns:a16="http://schemas.microsoft.com/office/drawing/2014/main" id="{AEA6C2AC-C290-4CB4-8FCC-BBEC0F075E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09" name="Text Box 5">
            <a:extLst>
              <a:ext uri="{FF2B5EF4-FFF2-40B4-BE49-F238E27FC236}">
                <a16:creationId xmlns:a16="http://schemas.microsoft.com/office/drawing/2014/main" id="{8D8AFC4A-DAC3-45B7-8644-56D644E93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77512" name="Line 8">
            <a:extLst>
              <a:ext uri="{FF2B5EF4-FFF2-40B4-BE49-F238E27FC236}">
                <a16:creationId xmlns:a16="http://schemas.microsoft.com/office/drawing/2014/main" id="{9C8C5493-2C4A-4C3E-9130-368FC7BB8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13" name="Text Box 9">
            <a:extLst>
              <a:ext uri="{FF2B5EF4-FFF2-40B4-BE49-F238E27FC236}">
                <a16:creationId xmlns:a16="http://schemas.microsoft.com/office/drawing/2014/main" id="{F6390C13-58E6-43C9-8615-5384DD8FC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77514" name="Text Box 10">
            <a:extLst>
              <a:ext uri="{FF2B5EF4-FFF2-40B4-BE49-F238E27FC236}">
                <a16:creationId xmlns:a16="http://schemas.microsoft.com/office/drawing/2014/main" id="{FD9DEF73-4CBB-4F21-A8AF-98F544852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77515" name="Oval 11">
            <a:extLst>
              <a:ext uri="{FF2B5EF4-FFF2-40B4-BE49-F238E27FC236}">
                <a16:creationId xmlns:a16="http://schemas.microsoft.com/office/drawing/2014/main" id="{396B14EE-23DC-452F-A1C1-6863DAA30E9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16" name="Oval 12">
            <a:extLst>
              <a:ext uri="{FF2B5EF4-FFF2-40B4-BE49-F238E27FC236}">
                <a16:creationId xmlns:a16="http://schemas.microsoft.com/office/drawing/2014/main" id="{F9968BE8-4149-49BB-B336-B8DE858258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17" name="Line 13">
            <a:extLst>
              <a:ext uri="{FF2B5EF4-FFF2-40B4-BE49-F238E27FC236}">
                <a16:creationId xmlns:a16="http://schemas.microsoft.com/office/drawing/2014/main" id="{9109F23F-8990-4ABE-805F-24E1E2941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7518" name="Line 14">
            <a:extLst>
              <a:ext uri="{FF2B5EF4-FFF2-40B4-BE49-F238E27FC236}">
                <a16:creationId xmlns:a16="http://schemas.microsoft.com/office/drawing/2014/main" id="{5A8BBCD9-AD15-4FFB-A2C2-3F925CA648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7519" name="Oval 15">
            <a:extLst>
              <a:ext uri="{FF2B5EF4-FFF2-40B4-BE49-F238E27FC236}">
                <a16:creationId xmlns:a16="http://schemas.microsoft.com/office/drawing/2014/main" id="{3F54A962-FB79-4D6A-B0F5-96AB4B9827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0" name="Oval 16">
            <a:extLst>
              <a:ext uri="{FF2B5EF4-FFF2-40B4-BE49-F238E27FC236}">
                <a16:creationId xmlns:a16="http://schemas.microsoft.com/office/drawing/2014/main" id="{F3B285FD-465C-4601-8F09-EF3C0C0375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1" name="Oval 17">
            <a:extLst>
              <a:ext uri="{FF2B5EF4-FFF2-40B4-BE49-F238E27FC236}">
                <a16:creationId xmlns:a16="http://schemas.microsoft.com/office/drawing/2014/main" id="{6339F252-9D9F-4C66-A2C2-FDDBE35D08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2" name="Oval 18">
            <a:extLst>
              <a:ext uri="{FF2B5EF4-FFF2-40B4-BE49-F238E27FC236}">
                <a16:creationId xmlns:a16="http://schemas.microsoft.com/office/drawing/2014/main" id="{FA200A26-F4F1-41E9-9149-3C4A5BA432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3" name="Oval 19">
            <a:extLst>
              <a:ext uri="{FF2B5EF4-FFF2-40B4-BE49-F238E27FC236}">
                <a16:creationId xmlns:a16="http://schemas.microsoft.com/office/drawing/2014/main" id="{6695EB9D-B069-4888-B605-B6C75A282F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4" name="Oval 20">
            <a:extLst>
              <a:ext uri="{FF2B5EF4-FFF2-40B4-BE49-F238E27FC236}">
                <a16:creationId xmlns:a16="http://schemas.microsoft.com/office/drawing/2014/main" id="{70D3D1FD-995B-4C10-880F-A4103161B8D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5" name="Oval 21">
            <a:extLst>
              <a:ext uri="{FF2B5EF4-FFF2-40B4-BE49-F238E27FC236}">
                <a16:creationId xmlns:a16="http://schemas.microsoft.com/office/drawing/2014/main" id="{D83219E8-733E-4486-BB6C-1763359970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6" name="Oval 22">
            <a:extLst>
              <a:ext uri="{FF2B5EF4-FFF2-40B4-BE49-F238E27FC236}">
                <a16:creationId xmlns:a16="http://schemas.microsoft.com/office/drawing/2014/main" id="{D42BBD6D-46F0-4650-8E97-BFD4E5B37D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7" name="Oval 23">
            <a:extLst>
              <a:ext uri="{FF2B5EF4-FFF2-40B4-BE49-F238E27FC236}">
                <a16:creationId xmlns:a16="http://schemas.microsoft.com/office/drawing/2014/main" id="{1B8261C8-D99B-430D-AF49-3D1F032B2A4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8" name="Oval 24">
            <a:extLst>
              <a:ext uri="{FF2B5EF4-FFF2-40B4-BE49-F238E27FC236}">
                <a16:creationId xmlns:a16="http://schemas.microsoft.com/office/drawing/2014/main" id="{625377DB-590C-4AAE-9FC3-8687C17A46F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29" name="Oval 25">
            <a:extLst>
              <a:ext uri="{FF2B5EF4-FFF2-40B4-BE49-F238E27FC236}">
                <a16:creationId xmlns:a16="http://schemas.microsoft.com/office/drawing/2014/main" id="{7E18FA29-BCEE-423D-A954-A6C08510AF5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0" name="Oval 26">
            <a:extLst>
              <a:ext uri="{FF2B5EF4-FFF2-40B4-BE49-F238E27FC236}">
                <a16:creationId xmlns:a16="http://schemas.microsoft.com/office/drawing/2014/main" id="{7E18FEF0-6B2B-4BE4-8C13-B2FB031D68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1" name="Oval 27">
            <a:extLst>
              <a:ext uri="{FF2B5EF4-FFF2-40B4-BE49-F238E27FC236}">
                <a16:creationId xmlns:a16="http://schemas.microsoft.com/office/drawing/2014/main" id="{937202C4-769B-41F0-9A55-A9CF31D079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2" name="Oval 28">
            <a:extLst>
              <a:ext uri="{FF2B5EF4-FFF2-40B4-BE49-F238E27FC236}">
                <a16:creationId xmlns:a16="http://schemas.microsoft.com/office/drawing/2014/main" id="{0814FA48-A59D-4A5F-88CB-0D2ACFAFFF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3" name="Oval 29">
            <a:extLst>
              <a:ext uri="{FF2B5EF4-FFF2-40B4-BE49-F238E27FC236}">
                <a16:creationId xmlns:a16="http://schemas.microsoft.com/office/drawing/2014/main" id="{E8BFF79D-B198-4E37-8B33-E79612F7C3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4" name="Oval 30">
            <a:extLst>
              <a:ext uri="{FF2B5EF4-FFF2-40B4-BE49-F238E27FC236}">
                <a16:creationId xmlns:a16="http://schemas.microsoft.com/office/drawing/2014/main" id="{AFF31F41-141A-45CE-9D8E-3467BD1831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5" name="Oval 31">
            <a:extLst>
              <a:ext uri="{FF2B5EF4-FFF2-40B4-BE49-F238E27FC236}">
                <a16:creationId xmlns:a16="http://schemas.microsoft.com/office/drawing/2014/main" id="{5A028375-B695-4174-917D-AA455686958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6" name="Oval 32">
            <a:extLst>
              <a:ext uri="{FF2B5EF4-FFF2-40B4-BE49-F238E27FC236}">
                <a16:creationId xmlns:a16="http://schemas.microsoft.com/office/drawing/2014/main" id="{106A140F-0582-4616-9F4D-3F4BE7DF1F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7" name="Oval 33">
            <a:extLst>
              <a:ext uri="{FF2B5EF4-FFF2-40B4-BE49-F238E27FC236}">
                <a16:creationId xmlns:a16="http://schemas.microsoft.com/office/drawing/2014/main" id="{A6169020-4DB5-4DC3-836D-62A0D0F37D6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8" name="Oval 34">
            <a:extLst>
              <a:ext uri="{FF2B5EF4-FFF2-40B4-BE49-F238E27FC236}">
                <a16:creationId xmlns:a16="http://schemas.microsoft.com/office/drawing/2014/main" id="{354E355F-A84D-4FED-84B0-A5D3EAFFEBF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39" name="Oval 35">
            <a:extLst>
              <a:ext uri="{FF2B5EF4-FFF2-40B4-BE49-F238E27FC236}">
                <a16:creationId xmlns:a16="http://schemas.microsoft.com/office/drawing/2014/main" id="{1C27D524-DEC0-4A10-86B9-3E6C3B5CEED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0" name="Oval 36">
            <a:extLst>
              <a:ext uri="{FF2B5EF4-FFF2-40B4-BE49-F238E27FC236}">
                <a16:creationId xmlns:a16="http://schemas.microsoft.com/office/drawing/2014/main" id="{7D90C67E-7123-4216-805A-B218C168CE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1" name="Oval 37">
            <a:extLst>
              <a:ext uri="{FF2B5EF4-FFF2-40B4-BE49-F238E27FC236}">
                <a16:creationId xmlns:a16="http://schemas.microsoft.com/office/drawing/2014/main" id="{0862F56D-D3D5-49C0-A19D-0DD958FCC8A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2" name="Oval 38">
            <a:extLst>
              <a:ext uri="{FF2B5EF4-FFF2-40B4-BE49-F238E27FC236}">
                <a16:creationId xmlns:a16="http://schemas.microsoft.com/office/drawing/2014/main" id="{4B0A12C5-1073-45D1-8942-2071EF223E6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3" name="Oval 39">
            <a:extLst>
              <a:ext uri="{FF2B5EF4-FFF2-40B4-BE49-F238E27FC236}">
                <a16:creationId xmlns:a16="http://schemas.microsoft.com/office/drawing/2014/main" id="{C274275D-FD87-4C6F-B09C-747B1C766B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4" name="Oval 40">
            <a:extLst>
              <a:ext uri="{FF2B5EF4-FFF2-40B4-BE49-F238E27FC236}">
                <a16:creationId xmlns:a16="http://schemas.microsoft.com/office/drawing/2014/main" id="{70F05AD8-0D7D-445C-99FF-8DFACC8F42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5" name="Oval 41">
            <a:extLst>
              <a:ext uri="{FF2B5EF4-FFF2-40B4-BE49-F238E27FC236}">
                <a16:creationId xmlns:a16="http://schemas.microsoft.com/office/drawing/2014/main" id="{B4C23A50-804B-4C4B-8897-E4A7B8DF65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6" name="Oval 42">
            <a:extLst>
              <a:ext uri="{FF2B5EF4-FFF2-40B4-BE49-F238E27FC236}">
                <a16:creationId xmlns:a16="http://schemas.microsoft.com/office/drawing/2014/main" id="{7E062359-BC53-4241-AF44-E69D8287D8C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7" name="Oval 43">
            <a:extLst>
              <a:ext uri="{FF2B5EF4-FFF2-40B4-BE49-F238E27FC236}">
                <a16:creationId xmlns:a16="http://schemas.microsoft.com/office/drawing/2014/main" id="{0D1004B4-638A-402B-BAD8-3F77DE425E9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8" name="Oval 44">
            <a:extLst>
              <a:ext uri="{FF2B5EF4-FFF2-40B4-BE49-F238E27FC236}">
                <a16:creationId xmlns:a16="http://schemas.microsoft.com/office/drawing/2014/main" id="{B2E7B652-9DB5-41D7-A167-2CC52A3E4F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49" name="Oval 45">
            <a:extLst>
              <a:ext uri="{FF2B5EF4-FFF2-40B4-BE49-F238E27FC236}">
                <a16:creationId xmlns:a16="http://schemas.microsoft.com/office/drawing/2014/main" id="{94083996-DD81-43E2-A960-358FD41376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50" name="Oval 46">
            <a:extLst>
              <a:ext uri="{FF2B5EF4-FFF2-40B4-BE49-F238E27FC236}">
                <a16:creationId xmlns:a16="http://schemas.microsoft.com/office/drawing/2014/main" id="{1C3BAFD0-D1AA-4F1D-BB9A-FF0DA91896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51" name="Oval 47">
            <a:extLst>
              <a:ext uri="{FF2B5EF4-FFF2-40B4-BE49-F238E27FC236}">
                <a16:creationId xmlns:a16="http://schemas.microsoft.com/office/drawing/2014/main" id="{C92B5543-3EC7-43BC-9583-5FD769CEEAA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52" name="Oval 48">
            <a:extLst>
              <a:ext uri="{FF2B5EF4-FFF2-40B4-BE49-F238E27FC236}">
                <a16:creationId xmlns:a16="http://schemas.microsoft.com/office/drawing/2014/main" id="{B9BB972D-4F32-437E-95F8-46F55E39458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7553" name="Text Box 49">
            <a:extLst>
              <a:ext uri="{FF2B5EF4-FFF2-40B4-BE49-F238E27FC236}">
                <a16:creationId xmlns:a16="http://schemas.microsoft.com/office/drawing/2014/main" id="{11C4ED21-BC8F-4EC5-9678-C690F3136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77554" name="Line 50">
            <a:extLst>
              <a:ext uri="{FF2B5EF4-FFF2-40B4-BE49-F238E27FC236}">
                <a16:creationId xmlns:a16="http://schemas.microsoft.com/office/drawing/2014/main" id="{AEF3D3E0-F587-41AF-9A7D-F7DA87C4873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2209800"/>
            <a:ext cx="312420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7555" name="Text Box 51">
            <a:extLst>
              <a:ext uri="{FF2B5EF4-FFF2-40B4-BE49-F238E27FC236}">
                <a16:creationId xmlns:a16="http://schemas.microsoft.com/office/drawing/2014/main" id="{87B6A7AB-E968-4EE2-B9C1-837835EFB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77556" name="Text Box 52">
            <a:extLst>
              <a:ext uri="{FF2B5EF4-FFF2-40B4-BE49-F238E27FC236}">
                <a16:creationId xmlns:a16="http://schemas.microsoft.com/office/drawing/2014/main" id="{F9C4FD2A-32CC-4125-9CD8-2C231D201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How would you classify this data?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4068FD-407F-48B8-AC7B-7758E927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e Placeholder 52">
            <a:extLst>
              <a:ext uri="{FF2B5EF4-FFF2-40B4-BE49-F238E27FC236}">
                <a16:creationId xmlns:a16="http://schemas.microsoft.com/office/drawing/2014/main" id="{D26E7C28-6C0D-426E-9BDB-B338D898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B7C0B-2B3C-454F-A704-2A73FF99666F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9612BAE7-3275-4EC4-A8CE-7EE3B38712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3E5533-4CF1-47C5-82D2-FD4D35E64118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278530" name="Rectangle 2">
            <a:extLst>
              <a:ext uri="{FF2B5EF4-FFF2-40B4-BE49-F238E27FC236}">
                <a16:creationId xmlns:a16="http://schemas.microsoft.com/office/drawing/2014/main" id="{DF170A65-68F6-4F66-A60D-BA77E1FEBB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zh-CN" altLang="en-US">
                <a:ea typeface="SimSun" panose="02010600030101010101" pitchFamily="2" charset="-122"/>
              </a:rPr>
              <a:t> </a:t>
            </a:r>
            <a:r>
              <a:rPr lang="en-US" altLang="zh-CN">
                <a:ea typeface="SimSun" panose="02010600030101010101" pitchFamily="2" charset="-122"/>
              </a:rPr>
              <a:t>Linear Classifiers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0B2A0164-BF96-43CA-9575-A910B1E42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78532" name="Line 4">
            <a:extLst>
              <a:ext uri="{FF2B5EF4-FFF2-40B4-BE49-F238E27FC236}">
                <a16:creationId xmlns:a16="http://schemas.microsoft.com/office/drawing/2014/main" id="{D6DAFD79-67C3-4B2F-8BBB-7705E37FF7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33" name="Text Box 5">
            <a:extLst>
              <a:ext uri="{FF2B5EF4-FFF2-40B4-BE49-F238E27FC236}">
                <a16:creationId xmlns:a16="http://schemas.microsoft.com/office/drawing/2014/main" id="{B3F36682-F933-4EC7-A459-62B294A25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78536" name="Line 8">
            <a:extLst>
              <a:ext uri="{FF2B5EF4-FFF2-40B4-BE49-F238E27FC236}">
                <a16:creationId xmlns:a16="http://schemas.microsoft.com/office/drawing/2014/main" id="{8254F889-9484-4B14-AAC9-14C0F225E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37" name="Text Box 9">
            <a:extLst>
              <a:ext uri="{FF2B5EF4-FFF2-40B4-BE49-F238E27FC236}">
                <a16:creationId xmlns:a16="http://schemas.microsoft.com/office/drawing/2014/main" id="{58A04B2C-90AB-4052-BC34-4725B0B51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78538" name="Text Box 10">
            <a:extLst>
              <a:ext uri="{FF2B5EF4-FFF2-40B4-BE49-F238E27FC236}">
                <a16:creationId xmlns:a16="http://schemas.microsoft.com/office/drawing/2014/main" id="{4198A629-4615-411A-9BB4-2F5E3C4F1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78539" name="Oval 11">
            <a:extLst>
              <a:ext uri="{FF2B5EF4-FFF2-40B4-BE49-F238E27FC236}">
                <a16:creationId xmlns:a16="http://schemas.microsoft.com/office/drawing/2014/main" id="{3392348D-A84F-44A7-8685-524764BAB5C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0" name="Oval 12">
            <a:extLst>
              <a:ext uri="{FF2B5EF4-FFF2-40B4-BE49-F238E27FC236}">
                <a16:creationId xmlns:a16="http://schemas.microsoft.com/office/drawing/2014/main" id="{E91B0639-866D-4946-A99C-8F3BC40C411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1" name="Line 13">
            <a:extLst>
              <a:ext uri="{FF2B5EF4-FFF2-40B4-BE49-F238E27FC236}">
                <a16:creationId xmlns:a16="http://schemas.microsoft.com/office/drawing/2014/main" id="{3598E538-C188-4398-80BE-B53713B64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8542" name="Line 14">
            <a:extLst>
              <a:ext uri="{FF2B5EF4-FFF2-40B4-BE49-F238E27FC236}">
                <a16:creationId xmlns:a16="http://schemas.microsoft.com/office/drawing/2014/main" id="{DDF13D98-9218-4768-9C33-7A0CC28953D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8543" name="Oval 15">
            <a:extLst>
              <a:ext uri="{FF2B5EF4-FFF2-40B4-BE49-F238E27FC236}">
                <a16:creationId xmlns:a16="http://schemas.microsoft.com/office/drawing/2014/main" id="{8234DC99-9C78-4108-8EE4-C0041817C9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4" name="Oval 16">
            <a:extLst>
              <a:ext uri="{FF2B5EF4-FFF2-40B4-BE49-F238E27FC236}">
                <a16:creationId xmlns:a16="http://schemas.microsoft.com/office/drawing/2014/main" id="{8BF29DC3-B483-41A0-9055-9664578C93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5" name="Oval 17">
            <a:extLst>
              <a:ext uri="{FF2B5EF4-FFF2-40B4-BE49-F238E27FC236}">
                <a16:creationId xmlns:a16="http://schemas.microsoft.com/office/drawing/2014/main" id="{9C1ABC0C-E37D-41F8-BA08-BBAC8693F8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6" name="Oval 18">
            <a:extLst>
              <a:ext uri="{FF2B5EF4-FFF2-40B4-BE49-F238E27FC236}">
                <a16:creationId xmlns:a16="http://schemas.microsoft.com/office/drawing/2014/main" id="{7FF063C9-8E98-4AE9-B3C7-934245551A1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7" name="Oval 19">
            <a:extLst>
              <a:ext uri="{FF2B5EF4-FFF2-40B4-BE49-F238E27FC236}">
                <a16:creationId xmlns:a16="http://schemas.microsoft.com/office/drawing/2014/main" id="{8FD2F83E-8C30-4902-ADF0-1D7769B1005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8" name="Oval 20">
            <a:extLst>
              <a:ext uri="{FF2B5EF4-FFF2-40B4-BE49-F238E27FC236}">
                <a16:creationId xmlns:a16="http://schemas.microsoft.com/office/drawing/2014/main" id="{A9531254-4D4B-4A14-B810-3E9EB7D3618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49" name="Oval 21">
            <a:extLst>
              <a:ext uri="{FF2B5EF4-FFF2-40B4-BE49-F238E27FC236}">
                <a16:creationId xmlns:a16="http://schemas.microsoft.com/office/drawing/2014/main" id="{BF54AA44-25AE-4691-827B-3D3D4648FC3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0" name="Oval 22">
            <a:extLst>
              <a:ext uri="{FF2B5EF4-FFF2-40B4-BE49-F238E27FC236}">
                <a16:creationId xmlns:a16="http://schemas.microsoft.com/office/drawing/2014/main" id="{F11497B0-E0BC-4CAA-A624-1F9613DE6B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1" name="Oval 23">
            <a:extLst>
              <a:ext uri="{FF2B5EF4-FFF2-40B4-BE49-F238E27FC236}">
                <a16:creationId xmlns:a16="http://schemas.microsoft.com/office/drawing/2014/main" id="{76D13A6A-BA87-438E-806D-CCB58A8A5FC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2" name="Oval 24">
            <a:extLst>
              <a:ext uri="{FF2B5EF4-FFF2-40B4-BE49-F238E27FC236}">
                <a16:creationId xmlns:a16="http://schemas.microsoft.com/office/drawing/2014/main" id="{A9B5C668-E1CA-4C80-9F6D-E6C93D760D1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3" name="Oval 25">
            <a:extLst>
              <a:ext uri="{FF2B5EF4-FFF2-40B4-BE49-F238E27FC236}">
                <a16:creationId xmlns:a16="http://schemas.microsoft.com/office/drawing/2014/main" id="{EA313AE8-BD16-4990-B0DC-B4A683C7D9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4" name="Oval 26">
            <a:extLst>
              <a:ext uri="{FF2B5EF4-FFF2-40B4-BE49-F238E27FC236}">
                <a16:creationId xmlns:a16="http://schemas.microsoft.com/office/drawing/2014/main" id="{9DCE0369-60F5-4215-9841-F9A80C29363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5" name="Oval 27">
            <a:extLst>
              <a:ext uri="{FF2B5EF4-FFF2-40B4-BE49-F238E27FC236}">
                <a16:creationId xmlns:a16="http://schemas.microsoft.com/office/drawing/2014/main" id="{A428B40C-C196-4E38-B83C-564515B61D6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6" name="Oval 28">
            <a:extLst>
              <a:ext uri="{FF2B5EF4-FFF2-40B4-BE49-F238E27FC236}">
                <a16:creationId xmlns:a16="http://schemas.microsoft.com/office/drawing/2014/main" id="{0286C784-CCF7-493B-9089-6D83DD017A5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7" name="Oval 29">
            <a:extLst>
              <a:ext uri="{FF2B5EF4-FFF2-40B4-BE49-F238E27FC236}">
                <a16:creationId xmlns:a16="http://schemas.microsoft.com/office/drawing/2014/main" id="{191D3C30-D4F4-4378-8817-A828E9DA25D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8" name="Oval 30">
            <a:extLst>
              <a:ext uri="{FF2B5EF4-FFF2-40B4-BE49-F238E27FC236}">
                <a16:creationId xmlns:a16="http://schemas.microsoft.com/office/drawing/2014/main" id="{7929B494-09F9-4DE6-9158-176284FC48F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59" name="Oval 31">
            <a:extLst>
              <a:ext uri="{FF2B5EF4-FFF2-40B4-BE49-F238E27FC236}">
                <a16:creationId xmlns:a16="http://schemas.microsoft.com/office/drawing/2014/main" id="{47537AF3-0A08-48FF-A8E4-368FEE73270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0" name="Oval 32">
            <a:extLst>
              <a:ext uri="{FF2B5EF4-FFF2-40B4-BE49-F238E27FC236}">
                <a16:creationId xmlns:a16="http://schemas.microsoft.com/office/drawing/2014/main" id="{526218DF-3A66-4CA4-A310-17F1FCB3575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1" name="Oval 33">
            <a:extLst>
              <a:ext uri="{FF2B5EF4-FFF2-40B4-BE49-F238E27FC236}">
                <a16:creationId xmlns:a16="http://schemas.microsoft.com/office/drawing/2014/main" id="{8CBBE136-4FC7-41E0-8D00-980C9B6130A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2" name="Oval 34">
            <a:extLst>
              <a:ext uri="{FF2B5EF4-FFF2-40B4-BE49-F238E27FC236}">
                <a16:creationId xmlns:a16="http://schemas.microsoft.com/office/drawing/2014/main" id="{67085347-396C-4869-8D73-FBD992AB9EC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3" name="Oval 35">
            <a:extLst>
              <a:ext uri="{FF2B5EF4-FFF2-40B4-BE49-F238E27FC236}">
                <a16:creationId xmlns:a16="http://schemas.microsoft.com/office/drawing/2014/main" id="{E8AF65D9-F553-4F53-BC82-8D9F0325B4B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4" name="Oval 36">
            <a:extLst>
              <a:ext uri="{FF2B5EF4-FFF2-40B4-BE49-F238E27FC236}">
                <a16:creationId xmlns:a16="http://schemas.microsoft.com/office/drawing/2014/main" id="{8EF85077-7173-4AB2-A284-0B0847F17FE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5" name="Oval 37">
            <a:extLst>
              <a:ext uri="{FF2B5EF4-FFF2-40B4-BE49-F238E27FC236}">
                <a16:creationId xmlns:a16="http://schemas.microsoft.com/office/drawing/2014/main" id="{FE415807-3075-4B5E-9815-5E6A3AD4C19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6" name="Oval 38">
            <a:extLst>
              <a:ext uri="{FF2B5EF4-FFF2-40B4-BE49-F238E27FC236}">
                <a16:creationId xmlns:a16="http://schemas.microsoft.com/office/drawing/2014/main" id="{A10E2CAA-9725-42B7-A17E-D825B335A59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7" name="Oval 39">
            <a:extLst>
              <a:ext uri="{FF2B5EF4-FFF2-40B4-BE49-F238E27FC236}">
                <a16:creationId xmlns:a16="http://schemas.microsoft.com/office/drawing/2014/main" id="{520B8F12-CE78-4B7C-9A07-AF440EE675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8" name="Oval 40">
            <a:extLst>
              <a:ext uri="{FF2B5EF4-FFF2-40B4-BE49-F238E27FC236}">
                <a16:creationId xmlns:a16="http://schemas.microsoft.com/office/drawing/2014/main" id="{18E48AD0-D188-42D9-9AF9-B54878F9C42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69" name="Oval 41">
            <a:extLst>
              <a:ext uri="{FF2B5EF4-FFF2-40B4-BE49-F238E27FC236}">
                <a16:creationId xmlns:a16="http://schemas.microsoft.com/office/drawing/2014/main" id="{36069125-98A3-42F9-895E-51F62983F0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0" name="Oval 42">
            <a:extLst>
              <a:ext uri="{FF2B5EF4-FFF2-40B4-BE49-F238E27FC236}">
                <a16:creationId xmlns:a16="http://schemas.microsoft.com/office/drawing/2014/main" id="{325B26B0-DA32-4586-AD04-7C66ACA2F9B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1" name="Oval 43">
            <a:extLst>
              <a:ext uri="{FF2B5EF4-FFF2-40B4-BE49-F238E27FC236}">
                <a16:creationId xmlns:a16="http://schemas.microsoft.com/office/drawing/2014/main" id="{8B2B8443-DDD6-4B8F-B4BE-BE73132F56C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2" name="Oval 44">
            <a:extLst>
              <a:ext uri="{FF2B5EF4-FFF2-40B4-BE49-F238E27FC236}">
                <a16:creationId xmlns:a16="http://schemas.microsoft.com/office/drawing/2014/main" id="{83F55478-B1F8-42D5-9C06-7273BF9556F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3" name="Oval 45">
            <a:extLst>
              <a:ext uri="{FF2B5EF4-FFF2-40B4-BE49-F238E27FC236}">
                <a16:creationId xmlns:a16="http://schemas.microsoft.com/office/drawing/2014/main" id="{AE1422E9-904E-4F8F-A2F2-7B36D822EB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4" name="Oval 46">
            <a:extLst>
              <a:ext uri="{FF2B5EF4-FFF2-40B4-BE49-F238E27FC236}">
                <a16:creationId xmlns:a16="http://schemas.microsoft.com/office/drawing/2014/main" id="{54EE1A0B-161E-4E7C-8839-982A0910BFA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5" name="Oval 47">
            <a:extLst>
              <a:ext uri="{FF2B5EF4-FFF2-40B4-BE49-F238E27FC236}">
                <a16:creationId xmlns:a16="http://schemas.microsoft.com/office/drawing/2014/main" id="{CBE7E49B-0E79-45D3-B8A1-6BE982EC284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6" name="Oval 48">
            <a:extLst>
              <a:ext uri="{FF2B5EF4-FFF2-40B4-BE49-F238E27FC236}">
                <a16:creationId xmlns:a16="http://schemas.microsoft.com/office/drawing/2014/main" id="{4C6E3D12-31A8-43DB-9C8B-D93AE570F4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8577" name="Text Box 49">
            <a:extLst>
              <a:ext uri="{FF2B5EF4-FFF2-40B4-BE49-F238E27FC236}">
                <a16:creationId xmlns:a16="http://schemas.microsoft.com/office/drawing/2014/main" id="{780FE2BE-C035-4ECD-9C6C-4D4113D0CA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78578" name="Line 50">
            <a:extLst>
              <a:ext uri="{FF2B5EF4-FFF2-40B4-BE49-F238E27FC236}">
                <a16:creationId xmlns:a16="http://schemas.microsoft.com/office/drawing/2014/main" id="{AC32FBED-6EC9-42EA-8BCD-36F073341F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362200"/>
            <a:ext cx="4038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8579" name="Text Box 51">
            <a:extLst>
              <a:ext uri="{FF2B5EF4-FFF2-40B4-BE49-F238E27FC236}">
                <a16:creationId xmlns:a16="http://schemas.microsoft.com/office/drawing/2014/main" id="{23510DA6-4912-4214-97C4-EE00CC5E6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78580" name="Text Box 52">
            <a:extLst>
              <a:ext uri="{FF2B5EF4-FFF2-40B4-BE49-F238E27FC236}">
                <a16:creationId xmlns:a16="http://schemas.microsoft.com/office/drawing/2014/main" id="{6F706471-44D3-4755-A614-467A19967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How would you classify this data?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465DCF1-5AD5-41ED-9E91-ACABB93D6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Date Placeholder 52">
            <a:extLst>
              <a:ext uri="{FF2B5EF4-FFF2-40B4-BE49-F238E27FC236}">
                <a16:creationId xmlns:a16="http://schemas.microsoft.com/office/drawing/2014/main" id="{9EBC1230-043F-441E-B146-F12A6140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4ED32-4059-4F95-8B16-9CDEB9778CF4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4" name="Slide Number Placeholder 53">
            <a:extLst>
              <a:ext uri="{FF2B5EF4-FFF2-40B4-BE49-F238E27FC236}">
                <a16:creationId xmlns:a16="http://schemas.microsoft.com/office/drawing/2014/main" id="{A2DCF29C-A4BE-4F58-9296-102D306FD3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81291F-C78C-4738-97DF-7AE3DCEF1864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279554" name="Rectangle 2">
            <a:extLst>
              <a:ext uri="{FF2B5EF4-FFF2-40B4-BE49-F238E27FC236}">
                <a16:creationId xmlns:a16="http://schemas.microsoft.com/office/drawing/2014/main" id="{24F1197B-F2ED-4459-900C-0343375BB7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zh-CN" altLang="en-US">
                <a:ea typeface="SimSun" panose="02010600030101010101" pitchFamily="2" charset="-122"/>
              </a:rPr>
              <a:t> </a:t>
            </a:r>
            <a:r>
              <a:rPr lang="en-US" altLang="zh-CN">
                <a:ea typeface="SimSun" panose="02010600030101010101" pitchFamily="2" charset="-122"/>
              </a:rPr>
              <a:t>Linear Classifiers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A2875214-E284-4387-BD90-3F2DD9185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79556" name="Line 4">
            <a:extLst>
              <a:ext uri="{FF2B5EF4-FFF2-40B4-BE49-F238E27FC236}">
                <a16:creationId xmlns:a16="http://schemas.microsoft.com/office/drawing/2014/main" id="{622B255B-0EFC-4277-87B5-0A7D363D0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557" name="Text Box 5">
            <a:extLst>
              <a:ext uri="{FF2B5EF4-FFF2-40B4-BE49-F238E27FC236}">
                <a16:creationId xmlns:a16="http://schemas.microsoft.com/office/drawing/2014/main" id="{D9547226-AC04-4CBC-B001-752F680696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79560" name="Line 8">
            <a:extLst>
              <a:ext uri="{FF2B5EF4-FFF2-40B4-BE49-F238E27FC236}">
                <a16:creationId xmlns:a16="http://schemas.microsoft.com/office/drawing/2014/main" id="{20CC2D10-F359-47A1-9DAA-FE98EFBF6EF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561" name="Text Box 9">
            <a:extLst>
              <a:ext uri="{FF2B5EF4-FFF2-40B4-BE49-F238E27FC236}">
                <a16:creationId xmlns:a16="http://schemas.microsoft.com/office/drawing/2014/main" id="{594E70FF-EEE2-4278-9401-0DC91CB2A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79562" name="Text Box 10">
            <a:extLst>
              <a:ext uri="{FF2B5EF4-FFF2-40B4-BE49-F238E27FC236}">
                <a16:creationId xmlns:a16="http://schemas.microsoft.com/office/drawing/2014/main" id="{945259BA-7AB7-45C2-92C5-E9EAA4A05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79563" name="Oval 11">
            <a:extLst>
              <a:ext uri="{FF2B5EF4-FFF2-40B4-BE49-F238E27FC236}">
                <a16:creationId xmlns:a16="http://schemas.microsoft.com/office/drawing/2014/main" id="{B3402B81-7E8E-42CC-9B14-3ADBC6F8A2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64" name="Oval 12">
            <a:extLst>
              <a:ext uri="{FF2B5EF4-FFF2-40B4-BE49-F238E27FC236}">
                <a16:creationId xmlns:a16="http://schemas.microsoft.com/office/drawing/2014/main" id="{9C733521-FFD0-48D0-AE06-57BCAFA8245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65" name="Line 13">
            <a:extLst>
              <a:ext uri="{FF2B5EF4-FFF2-40B4-BE49-F238E27FC236}">
                <a16:creationId xmlns:a16="http://schemas.microsoft.com/office/drawing/2014/main" id="{8DB1E385-C96B-46BA-82C9-A5D968AB7B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9566" name="Line 14">
            <a:extLst>
              <a:ext uri="{FF2B5EF4-FFF2-40B4-BE49-F238E27FC236}">
                <a16:creationId xmlns:a16="http://schemas.microsoft.com/office/drawing/2014/main" id="{3631A273-466F-4461-9F8C-A3775ECE3C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9567" name="Oval 15">
            <a:extLst>
              <a:ext uri="{FF2B5EF4-FFF2-40B4-BE49-F238E27FC236}">
                <a16:creationId xmlns:a16="http://schemas.microsoft.com/office/drawing/2014/main" id="{5433C29E-675B-4DA8-8126-9FB1B8D48B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68" name="Oval 16">
            <a:extLst>
              <a:ext uri="{FF2B5EF4-FFF2-40B4-BE49-F238E27FC236}">
                <a16:creationId xmlns:a16="http://schemas.microsoft.com/office/drawing/2014/main" id="{0517178C-26E4-42C6-98B7-EB879094C8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69" name="Oval 17">
            <a:extLst>
              <a:ext uri="{FF2B5EF4-FFF2-40B4-BE49-F238E27FC236}">
                <a16:creationId xmlns:a16="http://schemas.microsoft.com/office/drawing/2014/main" id="{D54032B5-37DD-4C4B-B3F5-16004AA29E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0" name="Oval 18">
            <a:extLst>
              <a:ext uri="{FF2B5EF4-FFF2-40B4-BE49-F238E27FC236}">
                <a16:creationId xmlns:a16="http://schemas.microsoft.com/office/drawing/2014/main" id="{0FE18E38-744D-4A3C-8C9F-E4E62D458A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1" name="Oval 19">
            <a:extLst>
              <a:ext uri="{FF2B5EF4-FFF2-40B4-BE49-F238E27FC236}">
                <a16:creationId xmlns:a16="http://schemas.microsoft.com/office/drawing/2014/main" id="{3BC4B886-AB4E-4C4C-83EB-8CFCDCDA7E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2" name="Oval 20">
            <a:extLst>
              <a:ext uri="{FF2B5EF4-FFF2-40B4-BE49-F238E27FC236}">
                <a16:creationId xmlns:a16="http://schemas.microsoft.com/office/drawing/2014/main" id="{3F5C0C96-EAAF-4137-A607-B7D3E3CE63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3" name="Oval 21">
            <a:extLst>
              <a:ext uri="{FF2B5EF4-FFF2-40B4-BE49-F238E27FC236}">
                <a16:creationId xmlns:a16="http://schemas.microsoft.com/office/drawing/2014/main" id="{3A8B9505-9215-467B-9A87-6B99B14EEF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4" name="Oval 22">
            <a:extLst>
              <a:ext uri="{FF2B5EF4-FFF2-40B4-BE49-F238E27FC236}">
                <a16:creationId xmlns:a16="http://schemas.microsoft.com/office/drawing/2014/main" id="{130B08BB-41E8-49CE-8C35-CEB5F746A1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5" name="Oval 23">
            <a:extLst>
              <a:ext uri="{FF2B5EF4-FFF2-40B4-BE49-F238E27FC236}">
                <a16:creationId xmlns:a16="http://schemas.microsoft.com/office/drawing/2014/main" id="{35BF99A1-8F46-4801-9690-5150318265C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6" name="Oval 24">
            <a:extLst>
              <a:ext uri="{FF2B5EF4-FFF2-40B4-BE49-F238E27FC236}">
                <a16:creationId xmlns:a16="http://schemas.microsoft.com/office/drawing/2014/main" id="{71A463AF-8984-4605-92A7-F3F7A6475A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7" name="Oval 25">
            <a:extLst>
              <a:ext uri="{FF2B5EF4-FFF2-40B4-BE49-F238E27FC236}">
                <a16:creationId xmlns:a16="http://schemas.microsoft.com/office/drawing/2014/main" id="{BFE37671-F00C-4CEA-92EC-F888BF31B7B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8" name="Oval 26">
            <a:extLst>
              <a:ext uri="{FF2B5EF4-FFF2-40B4-BE49-F238E27FC236}">
                <a16:creationId xmlns:a16="http://schemas.microsoft.com/office/drawing/2014/main" id="{3BE5D455-7B63-4F8D-A115-F05AF1E8B06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79" name="Oval 27">
            <a:extLst>
              <a:ext uri="{FF2B5EF4-FFF2-40B4-BE49-F238E27FC236}">
                <a16:creationId xmlns:a16="http://schemas.microsoft.com/office/drawing/2014/main" id="{5A0E2072-54ED-4A66-8E6C-8F4ADD6088B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0" name="Oval 28">
            <a:extLst>
              <a:ext uri="{FF2B5EF4-FFF2-40B4-BE49-F238E27FC236}">
                <a16:creationId xmlns:a16="http://schemas.microsoft.com/office/drawing/2014/main" id="{06216089-511B-4B1E-8A4C-E30E6A18FA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1" name="Oval 29">
            <a:extLst>
              <a:ext uri="{FF2B5EF4-FFF2-40B4-BE49-F238E27FC236}">
                <a16:creationId xmlns:a16="http://schemas.microsoft.com/office/drawing/2014/main" id="{5BE8DB6C-E7E3-46EF-8FF1-1FA47E6D95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2" name="Oval 30">
            <a:extLst>
              <a:ext uri="{FF2B5EF4-FFF2-40B4-BE49-F238E27FC236}">
                <a16:creationId xmlns:a16="http://schemas.microsoft.com/office/drawing/2014/main" id="{8B9962E7-758F-46AD-8FE4-CE0E480BEBB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3" name="Oval 31">
            <a:extLst>
              <a:ext uri="{FF2B5EF4-FFF2-40B4-BE49-F238E27FC236}">
                <a16:creationId xmlns:a16="http://schemas.microsoft.com/office/drawing/2014/main" id="{882354B4-C4ED-43A9-BA5B-DB91E9893F2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4" name="Oval 32">
            <a:extLst>
              <a:ext uri="{FF2B5EF4-FFF2-40B4-BE49-F238E27FC236}">
                <a16:creationId xmlns:a16="http://schemas.microsoft.com/office/drawing/2014/main" id="{38B160A8-1373-49F3-A732-1FE16E99FB1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5" name="Oval 33">
            <a:extLst>
              <a:ext uri="{FF2B5EF4-FFF2-40B4-BE49-F238E27FC236}">
                <a16:creationId xmlns:a16="http://schemas.microsoft.com/office/drawing/2014/main" id="{F538AEA6-DFC9-431E-95D9-E148784FB03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6" name="Oval 34">
            <a:extLst>
              <a:ext uri="{FF2B5EF4-FFF2-40B4-BE49-F238E27FC236}">
                <a16:creationId xmlns:a16="http://schemas.microsoft.com/office/drawing/2014/main" id="{B6D2E15F-22AE-408F-958D-E450D694304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7" name="Oval 35">
            <a:extLst>
              <a:ext uri="{FF2B5EF4-FFF2-40B4-BE49-F238E27FC236}">
                <a16:creationId xmlns:a16="http://schemas.microsoft.com/office/drawing/2014/main" id="{17703141-E479-47A8-8A27-15E8BE0BBB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8" name="Oval 36">
            <a:extLst>
              <a:ext uri="{FF2B5EF4-FFF2-40B4-BE49-F238E27FC236}">
                <a16:creationId xmlns:a16="http://schemas.microsoft.com/office/drawing/2014/main" id="{B2FF4671-17F1-4B7A-AD8C-716A4B86A0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89" name="Oval 37">
            <a:extLst>
              <a:ext uri="{FF2B5EF4-FFF2-40B4-BE49-F238E27FC236}">
                <a16:creationId xmlns:a16="http://schemas.microsoft.com/office/drawing/2014/main" id="{C27051C9-22A2-471E-9B44-E07A8C5C52F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0" name="Oval 38">
            <a:extLst>
              <a:ext uri="{FF2B5EF4-FFF2-40B4-BE49-F238E27FC236}">
                <a16:creationId xmlns:a16="http://schemas.microsoft.com/office/drawing/2014/main" id="{B682CCA2-E8F1-4D05-86F5-4BB86A34C4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1" name="Oval 39">
            <a:extLst>
              <a:ext uri="{FF2B5EF4-FFF2-40B4-BE49-F238E27FC236}">
                <a16:creationId xmlns:a16="http://schemas.microsoft.com/office/drawing/2014/main" id="{C34C6AB3-DBB5-4B4C-A14A-0D144D54CE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2" name="Oval 40">
            <a:extLst>
              <a:ext uri="{FF2B5EF4-FFF2-40B4-BE49-F238E27FC236}">
                <a16:creationId xmlns:a16="http://schemas.microsoft.com/office/drawing/2014/main" id="{2EAA7D15-FAF1-4E66-A1A6-C6780370A91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3" name="Oval 41">
            <a:extLst>
              <a:ext uri="{FF2B5EF4-FFF2-40B4-BE49-F238E27FC236}">
                <a16:creationId xmlns:a16="http://schemas.microsoft.com/office/drawing/2014/main" id="{05ECD965-0C82-4CAD-9D95-CF947A17382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4" name="Oval 42">
            <a:extLst>
              <a:ext uri="{FF2B5EF4-FFF2-40B4-BE49-F238E27FC236}">
                <a16:creationId xmlns:a16="http://schemas.microsoft.com/office/drawing/2014/main" id="{5C942813-3203-4163-B6B0-8984F804355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5" name="Oval 43">
            <a:extLst>
              <a:ext uri="{FF2B5EF4-FFF2-40B4-BE49-F238E27FC236}">
                <a16:creationId xmlns:a16="http://schemas.microsoft.com/office/drawing/2014/main" id="{EA3A7F09-10D0-4694-98F3-62F53932711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6" name="Oval 44">
            <a:extLst>
              <a:ext uri="{FF2B5EF4-FFF2-40B4-BE49-F238E27FC236}">
                <a16:creationId xmlns:a16="http://schemas.microsoft.com/office/drawing/2014/main" id="{3AB94766-F716-4467-A7AD-8B69E3D8D34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7" name="Oval 45">
            <a:extLst>
              <a:ext uri="{FF2B5EF4-FFF2-40B4-BE49-F238E27FC236}">
                <a16:creationId xmlns:a16="http://schemas.microsoft.com/office/drawing/2014/main" id="{7690CC17-FE20-4037-B206-F2E8DBAD2C2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8" name="Oval 46">
            <a:extLst>
              <a:ext uri="{FF2B5EF4-FFF2-40B4-BE49-F238E27FC236}">
                <a16:creationId xmlns:a16="http://schemas.microsoft.com/office/drawing/2014/main" id="{492B2915-C686-4644-A583-EACAB539E48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599" name="Oval 47">
            <a:extLst>
              <a:ext uri="{FF2B5EF4-FFF2-40B4-BE49-F238E27FC236}">
                <a16:creationId xmlns:a16="http://schemas.microsoft.com/office/drawing/2014/main" id="{3DE8E2C6-2F03-4BDB-ADAB-4AE1A02BE51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600" name="Oval 48">
            <a:extLst>
              <a:ext uri="{FF2B5EF4-FFF2-40B4-BE49-F238E27FC236}">
                <a16:creationId xmlns:a16="http://schemas.microsoft.com/office/drawing/2014/main" id="{64774ABD-9AEB-48B8-8AC2-BC26A2E5B0A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9601" name="Text Box 49">
            <a:extLst>
              <a:ext uri="{FF2B5EF4-FFF2-40B4-BE49-F238E27FC236}">
                <a16:creationId xmlns:a16="http://schemas.microsoft.com/office/drawing/2014/main" id="{92A1E271-E94C-4797-AF77-597C61F75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79602" name="Line 50">
            <a:extLst>
              <a:ext uri="{FF2B5EF4-FFF2-40B4-BE49-F238E27FC236}">
                <a16:creationId xmlns:a16="http://schemas.microsoft.com/office/drawing/2014/main" id="{DEC50E33-AA28-4E42-918D-E740EF415C7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1676400"/>
            <a:ext cx="144780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9603" name="Text Box 51">
            <a:extLst>
              <a:ext uri="{FF2B5EF4-FFF2-40B4-BE49-F238E27FC236}">
                <a16:creationId xmlns:a16="http://schemas.microsoft.com/office/drawing/2014/main" id="{AA194C37-86A4-4BAC-A1A7-F94A5D587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79604" name="Text Box 52">
            <a:extLst>
              <a:ext uri="{FF2B5EF4-FFF2-40B4-BE49-F238E27FC236}">
                <a16:creationId xmlns:a16="http://schemas.microsoft.com/office/drawing/2014/main" id="{77B3FB0F-C632-468E-9A84-746C7D48A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352800"/>
            <a:ext cx="2209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How would you classify this data?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503A72-2DD8-4E39-975F-D0A25A8C3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Date Placeholder 60">
            <a:extLst>
              <a:ext uri="{FF2B5EF4-FFF2-40B4-BE49-F238E27FC236}">
                <a16:creationId xmlns:a16="http://schemas.microsoft.com/office/drawing/2014/main" id="{7E9CD769-62D6-4801-A16D-DB2F7792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F2DA-2C20-476E-B3CE-DB43A3EAB0EA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62" name="Slide Number Placeholder 61">
            <a:extLst>
              <a:ext uri="{FF2B5EF4-FFF2-40B4-BE49-F238E27FC236}">
                <a16:creationId xmlns:a16="http://schemas.microsoft.com/office/drawing/2014/main" id="{FA06DF6B-E4A1-4DAF-8D7A-188FC74820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D1A8EC5-D108-44D5-BB90-96D13AFE6AD5}" type="slidenum">
              <a:rPr lang="zh-CN" altLang="en-US"/>
              <a:pPr/>
              <a:t>9</a:t>
            </a:fld>
            <a:endParaRPr lang="en-US" altLang="zh-CN"/>
          </a:p>
        </p:txBody>
      </p:sp>
      <p:sp>
        <p:nvSpPr>
          <p:cNvPr id="280578" name="Rectangle 2">
            <a:extLst>
              <a:ext uri="{FF2B5EF4-FFF2-40B4-BE49-F238E27FC236}">
                <a16:creationId xmlns:a16="http://schemas.microsoft.com/office/drawing/2014/main" id="{E0537D3F-FC49-43FA-9039-02767F2B7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zh-CN" altLang="en-US">
                <a:ea typeface="SimSun" panose="02010600030101010101" pitchFamily="2" charset="-122"/>
              </a:rPr>
              <a:t> </a:t>
            </a:r>
            <a:r>
              <a:rPr lang="en-US" altLang="zh-CN">
                <a:ea typeface="SimSun" panose="02010600030101010101" pitchFamily="2" charset="-122"/>
              </a:rPr>
              <a:t>Linear Classifiers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69928F1B-857C-4BE4-9413-DB6F850A79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80580" name="Line 4">
            <a:extLst>
              <a:ext uri="{FF2B5EF4-FFF2-40B4-BE49-F238E27FC236}">
                <a16:creationId xmlns:a16="http://schemas.microsoft.com/office/drawing/2014/main" id="{05E11855-D7D9-4C3E-B94C-F84450B95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81" name="Text Box 5">
            <a:extLst>
              <a:ext uri="{FF2B5EF4-FFF2-40B4-BE49-F238E27FC236}">
                <a16:creationId xmlns:a16="http://schemas.microsoft.com/office/drawing/2014/main" id="{EECABE97-8125-4919-9382-8E2AA217B2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80584" name="Line 8">
            <a:extLst>
              <a:ext uri="{FF2B5EF4-FFF2-40B4-BE49-F238E27FC236}">
                <a16:creationId xmlns:a16="http://schemas.microsoft.com/office/drawing/2014/main" id="{7C10B6AC-219D-4AAD-988B-45BD45EAF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85" name="Text Box 9">
            <a:extLst>
              <a:ext uri="{FF2B5EF4-FFF2-40B4-BE49-F238E27FC236}">
                <a16:creationId xmlns:a16="http://schemas.microsoft.com/office/drawing/2014/main" id="{2913EBC5-8663-4195-9890-9BBA2F0D5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80586" name="Text Box 10">
            <a:extLst>
              <a:ext uri="{FF2B5EF4-FFF2-40B4-BE49-F238E27FC236}">
                <a16:creationId xmlns:a16="http://schemas.microsoft.com/office/drawing/2014/main" id="{5EE14B19-E852-4F16-9F13-A72370C04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80587" name="Oval 11">
            <a:extLst>
              <a:ext uri="{FF2B5EF4-FFF2-40B4-BE49-F238E27FC236}">
                <a16:creationId xmlns:a16="http://schemas.microsoft.com/office/drawing/2014/main" id="{C56D8357-83B7-4277-A1AD-2E7E60B604A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88" name="Oval 12">
            <a:extLst>
              <a:ext uri="{FF2B5EF4-FFF2-40B4-BE49-F238E27FC236}">
                <a16:creationId xmlns:a16="http://schemas.microsoft.com/office/drawing/2014/main" id="{879988F2-503B-403B-BB7B-2AE5A1CD95C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89" name="Line 13">
            <a:extLst>
              <a:ext uri="{FF2B5EF4-FFF2-40B4-BE49-F238E27FC236}">
                <a16:creationId xmlns:a16="http://schemas.microsoft.com/office/drawing/2014/main" id="{22673C2C-507F-40EC-A027-BD8BDB8530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0590" name="Line 14">
            <a:extLst>
              <a:ext uri="{FF2B5EF4-FFF2-40B4-BE49-F238E27FC236}">
                <a16:creationId xmlns:a16="http://schemas.microsoft.com/office/drawing/2014/main" id="{732E3249-637B-4F9B-9B8C-3E54676CAD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591" name="Oval 15">
            <a:extLst>
              <a:ext uri="{FF2B5EF4-FFF2-40B4-BE49-F238E27FC236}">
                <a16:creationId xmlns:a16="http://schemas.microsoft.com/office/drawing/2014/main" id="{CCCA8E12-0FCD-4AB2-9C81-CC882B1959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2" name="Oval 16">
            <a:extLst>
              <a:ext uri="{FF2B5EF4-FFF2-40B4-BE49-F238E27FC236}">
                <a16:creationId xmlns:a16="http://schemas.microsoft.com/office/drawing/2014/main" id="{F7D85736-9FD4-4C2B-A1B4-E560B4BF1F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3" name="Oval 17">
            <a:extLst>
              <a:ext uri="{FF2B5EF4-FFF2-40B4-BE49-F238E27FC236}">
                <a16:creationId xmlns:a16="http://schemas.microsoft.com/office/drawing/2014/main" id="{BDF9CA02-DA72-4193-93A8-4409B1AA0D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4" name="Oval 18">
            <a:extLst>
              <a:ext uri="{FF2B5EF4-FFF2-40B4-BE49-F238E27FC236}">
                <a16:creationId xmlns:a16="http://schemas.microsoft.com/office/drawing/2014/main" id="{898D0E5D-1DBB-455D-A4E2-8FBFA96147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5" name="Oval 19">
            <a:extLst>
              <a:ext uri="{FF2B5EF4-FFF2-40B4-BE49-F238E27FC236}">
                <a16:creationId xmlns:a16="http://schemas.microsoft.com/office/drawing/2014/main" id="{E4C4CADF-2041-4C75-ACED-A8122F4F21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6" name="Oval 20">
            <a:extLst>
              <a:ext uri="{FF2B5EF4-FFF2-40B4-BE49-F238E27FC236}">
                <a16:creationId xmlns:a16="http://schemas.microsoft.com/office/drawing/2014/main" id="{3935168F-56A4-44F2-BDE8-1516FBD495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7" name="Oval 21">
            <a:extLst>
              <a:ext uri="{FF2B5EF4-FFF2-40B4-BE49-F238E27FC236}">
                <a16:creationId xmlns:a16="http://schemas.microsoft.com/office/drawing/2014/main" id="{BBA1947F-58F1-40E7-BBBF-6CF21ACA34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8" name="Oval 22">
            <a:extLst>
              <a:ext uri="{FF2B5EF4-FFF2-40B4-BE49-F238E27FC236}">
                <a16:creationId xmlns:a16="http://schemas.microsoft.com/office/drawing/2014/main" id="{6E882FDD-29AE-43A2-9382-CEF42B6E9D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599" name="Oval 23">
            <a:extLst>
              <a:ext uri="{FF2B5EF4-FFF2-40B4-BE49-F238E27FC236}">
                <a16:creationId xmlns:a16="http://schemas.microsoft.com/office/drawing/2014/main" id="{0CFC4033-F033-4612-B3F4-DED92B1B7D6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0" name="Oval 24">
            <a:extLst>
              <a:ext uri="{FF2B5EF4-FFF2-40B4-BE49-F238E27FC236}">
                <a16:creationId xmlns:a16="http://schemas.microsoft.com/office/drawing/2014/main" id="{98C33457-3047-4542-B5BC-CB5818503AD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1" name="Oval 25">
            <a:extLst>
              <a:ext uri="{FF2B5EF4-FFF2-40B4-BE49-F238E27FC236}">
                <a16:creationId xmlns:a16="http://schemas.microsoft.com/office/drawing/2014/main" id="{615F6191-5830-48A2-A6F4-D1312BAB6CE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2" name="Oval 26">
            <a:extLst>
              <a:ext uri="{FF2B5EF4-FFF2-40B4-BE49-F238E27FC236}">
                <a16:creationId xmlns:a16="http://schemas.microsoft.com/office/drawing/2014/main" id="{931E8923-ECF8-4106-8EE3-150231572B2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3" name="Oval 27">
            <a:extLst>
              <a:ext uri="{FF2B5EF4-FFF2-40B4-BE49-F238E27FC236}">
                <a16:creationId xmlns:a16="http://schemas.microsoft.com/office/drawing/2014/main" id="{4C7ACF14-11B0-4956-AAB8-1EA72545A97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4" name="Oval 28">
            <a:extLst>
              <a:ext uri="{FF2B5EF4-FFF2-40B4-BE49-F238E27FC236}">
                <a16:creationId xmlns:a16="http://schemas.microsoft.com/office/drawing/2014/main" id="{04CBE5DC-3F19-41F5-ACBC-0718437BBB8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5" name="Oval 29">
            <a:extLst>
              <a:ext uri="{FF2B5EF4-FFF2-40B4-BE49-F238E27FC236}">
                <a16:creationId xmlns:a16="http://schemas.microsoft.com/office/drawing/2014/main" id="{28FA5532-F238-4479-A786-6E4CA1EE767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6" name="Oval 30">
            <a:extLst>
              <a:ext uri="{FF2B5EF4-FFF2-40B4-BE49-F238E27FC236}">
                <a16:creationId xmlns:a16="http://schemas.microsoft.com/office/drawing/2014/main" id="{947EC89F-4262-404F-A6FD-A28EE45C87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7" name="Oval 31">
            <a:extLst>
              <a:ext uri="{FF2B5EF4-FFF2-40B4-BE49-F238E27FC236}">
                <a16:creationId xmlns:a16="http://schemas.microsoft.com/office/drawing/2014/main" id="{5DCD0CCE-7A9C-4DFF-ADD8-5965B6EAF14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8" name="Oval 32">
            <a:extLst>
              <a:ext uri="{FF2B5EF4-FFF2-40B4-BE49-F238E27FC236}">
                <a16:creationId xmlns:a16="http://schemas.microsoft.com/office/drawing/2014/main" id="{DE66ACA8-24F1-495C-BD22-FDE069D9308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09" name="Oval 33">
            <a:extLst>
              <a:ext uri="{FF2B5EF4-FFF2-40B4-BE49-F238E27FC236}">
                <a16:creationId xmlns:a16="http://schemas.microsoft.com/office/drawing/2014/main" id="{46D33AED-D670-424A-8186-4BD7AADF7EA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0" name="Oval 34">
            <a:extLst>
              <a:ext uri="{FF2B5EF4-FFF2-40B4-BE49-F238E27FC236}">
                <a16:creationId xmlns:a16="http://schemas.microsoft.com/office/drawing/2014/main" id="{DC962242-D383-4A9F-930E-0A88D0EE9FF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1" name="Oval 35">
            <a:extLst>
              <a:ext uri="{FF2B5EF4-FFF2-40B4-BE49-F238E27FC236}">
                <a16:creationId xmlns:a16="http://schemas.microsoft.com/office/drawing/2014/main" id="{DA5061A0-A0C1-4ADE-BDA5-C2A28B78E23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2" name="Oval 36">
            <a:extLst>
              <a:ext uri="{FF2B5EF4-FFF2-40B4-BE49-F238E27FC236}">
                <a16:creationId xmlns:a16="http://schemas.microsoft.com/office/drawing/2014/main" id="{6D838B5B-D60F-49AB-A579-96017315FF8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3" name="Oval 37">
            <a:extLst>
              <a:ext uri="{FF2B5EF4-FFF2-40B4-BE49-F238E27FC236}">
                <a16:creationId xmlns:a16="http://schemas.microsoft.com/office/drawing/2014/main" id="{4E95E59B-DA8B-49A0-B955-12AF2D20E42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4" name="Oval 38">
            <a:extLst>
              <a:ext uri="{FF2B5EF4-FFF2-40B4-BE49-F238E27FC236}">
                <a16:creationId xmlns:a16="http://schemas.microsoft.com/office/drawing/2014/main" id="{4183FEAB-A89E-4C19-817E-F270D10DAAB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5" name="Oval 39">
            <a:extLst>
              <a:ext uri="{FF2B5EF4-FFF2-40B4-BE49-F238E27FC236}">
                <a16:creationId xmlns:a16="http://schemas.microsoft.com/office/drawing/2014/main" id="{863E16AA-0F14-421A-9C98-1B2935A6A92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6" name="Oval 40">
            <a:extLst>
              <a:ext uri="{FF2B5EF4-FFF2-40B4-BE49-F238E27FC236}">
                <a16:creationId xmlns:a16="http://schemas.microsoft.com/office/drawing/2014/main" id="{7DFB7E04-2FC7-4958-BEB6-612BD52F01C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7" name="Oval 41">
            <a:extLst>
              <a:ext uri="{FF2B5EF4-FFF2-40B4-BE49-F238E27FC236}">
                <a16:creationId xmlns:a16="http://schemas.microsoft.com/office/drawing/2014/main" id="{7B91935A-2D43-41E4-A711-9AAC0D77825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8" name="Oval 42">
            <a:extLst>
              <a:ext uri="{FF2B5EF4-FFF2-40B4-BE49-F238E27FC236}">
                <a16:creationId xmlns:a16="http://schemas.microsoft.com/office/drawing/2014/main" id="{1195B69B-73FE-4074-B63A-EB8FE3FC4F1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19" name="Oval 43">
            <a:extLst>
              <a:ext uri="{FF2B5EF4-FFF2-40B4-BE49-F238E27FC236}">
                <a16:creationId xmlns:a16="http://schemas.microsoft.com/office/drawing/2014/main" id="{B7DA17C5-D8AB-4D41-A0D7-76DAE468DC3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20" name="Oval 44">
            <a:extLst>
              <a:ext uri="{FF2B5EF4-FFF2-40B4-BE49-F238E27FC236}">
                <a16:creationId xmlns:a16="http://schemas.microsoft.com/office/drawing/2014/main" id="{DC35613B-015F-4A91-9CFB-7DE375E674A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21" name="Oval 45">
            <a:extLst>
              <a:ext uri="{FF2B5EF4-FFF2-40B4-BE49-F238E27FC236}">
                <a16:creationId xmlns:a16="http://schemas.microsoft.com/office/drawing/2014/main" id="{C1DCD04D-BFBF-40FE-BDA3-AEB8A075894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22" name="Oval 46">
            <a:extLst>
              <a:ext uri="{FF2B5EF4-FFF2-40B4-BE49-F238E27FC236}">
                <a16:creationId xmlns:a16="http://schemas.microsoft.com/office/drawing/2014/main" id="{94935EBB-66D9-4CB3-94CB-924A363D484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23" name="Oval 47">
            <a:extLst>
              <a:ext uri="{FF2B5EF4-FFF2-40B4-BE49-F238E27FC236}">
                <a16:creationId xmlns:a16="http://schemas.microsoft.com/office/drawing/2014/main" id="{0E7377F1-EB74-45C2-B1C8-CE29602358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24" name="Oval 48">
            <a:extLst>
              <a:ext uri="{FF2B5EF4-FFF2-40B4-BE49-F238E27FC236}">
                <a16:creationId xmlns:a16="http://schemas.microsoft.com/office/drawing/2014/main" id="{2D21BD8B-64B9-4739-9604-E4026ED826D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0625" name="Text Box 49">
            <a:extLst>
              <a:ext uri="{FF2B5EF4-FFF2-40B4-BE49-F238E27FC236}">
                <a16:creationId xmlns:a16="http://schemas.microsoft.com/office/drawing/2014/main" id="{F0EA513D-0304-4B27-AFFB-B50FFB3868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80626" name="Line 50">
            <a:extLst>
              <a:ext uri="{FF2B5EF4-FFF2-40B4-BE49-F238E27FC236}">
                <a16:creationId xmlns:a16="http://schemas.microsoft.com/office/drawing/2014/main" id="{93FBDF8B-C7F5-4589-AE84-6FE1234F79E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1676400"/>
            <a:ext cx="1447800" cy="4038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27" name="Text Box 51">
            <a:extLst>
              <a:ext uri="{FF2B5EF4-FFF2-40B4-BE49-F238E27FC236}">
                <a16:creationId xmlns:a16="http://schemas.microsoft.com/office/drawing/2014/main" id="{CC0723E6-35E2-4102-ADB3-B2DF0C4D8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80628" name="Text Box 52">
            <a:extLst>
              <a:ext uri="{FF2B5EF4-FFF2-40B4-BE49-F238E27FC236}">
                <a16:creationId xmlns:a16="http://schemas.microsoft.com/office/drawing/2014/main" id="{D4F8E099-D73C-4730-A00A-06067E3A1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352800"/>
            <a:ext cx="22098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Any of these would be fine..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endParaRPr lang="en-US" altLang="zh-CN" sz="2000">
              <a:ea typeface="SimSun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..but which is best?</a:t>
            </a:r>
          </a:p>
        </p:txBody>
      </p:sp>
      <p:sp>
        <p:nvSpPr>
          <p:cNvPr id="280629" name="Line 53">
            <a:extLst>
              <a:ext uri="{FF2B5EF4-FFF2-40B4-BE49-F238E27FC236}">
                <a16:creationId xmlns:a16="http://schemas.microsoft.com/office/drawing/2014/main" id="{AB59FAB1-DFCE-4772-8435-2F60966BDA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362200"/>
            <a:ext cx="4038600" cy="2590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30" name="Line 54">
            <a:extLst>
              <a:ext uri="{FF2B5EF4-FFF2-40B4-BE49-F238E27FC236}">
                <a16:creationId xmlns:a16="http://schemas.microsoft.com/office/drawing/2014/main" id="{6D481A6C-7556-40EE-84C3-FD0EF225A0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2209800"/>
            <a:ext cx="3124200" cy="3048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31" name="Line 55">
            <a:extLst>
              <a:ext uri="{FF2B5EF4-FFF2-40B4-BE49-F238E27FC236}">
                <a16:creationId xmlns:a16="http://schemas.microsoft.com/office/drawing/2014/main" id="{BD303794-B152-4F80-AC45-28E62064D8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2438400"/>
            <a:ext cx="4800600" cy="2209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32" name="Line 56">
            <a:extLst>
              <a:ext uri="{FF2B5EF4-FFF2-40B4-BE49-F238E27FC236}">
                <a16:creationId xmlns:a16="http://schemas.microsoft.com/office/drawing/2014/main" id="{55510775-85DF-44C5-A97B-812AE2E842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209800"/>
            <a:ext cx="381000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33" name="Line 57">
            <a:extLst>
              <a:ext uri="{FF2B5EF4-FFF2-40B4-BE49-F238E27FC236}">
                <a16:creationId xmlns:a16="http://schemas.microsoft.com/office/drawing/2014/main" id="{8C5D6848-87AB-4849-A927-26F9E6F7BB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1905000"/>
            <a:ext cx="3886200" cy="3352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34" name="Line 58">
            <a:extLst>
              <a:ext uri="{FF2B5EF4-FFF2-40B4-BE49-F238E27FC236}">
                <a16:creationId xmlns:a16="http://schemas.microsoft.com/office/drawing/2014/main" id="{3DBEA189-18A9-4FC6-9BC9-A27EF24D339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1752600"/>
            <a:ext cx="3429000" cy="3352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35" name="Line 59">
            <a:extLst>
              <a:ext uri="{FF2B5EF4-FFF2-40B4-BE49-F238E27FC236}">
                <a16:creationId xmlns:a16="http://schemas.microsoft.com/office/drawing/2014/main" id="{EA51DD3A-541F-42C4-8FEF-D5F267D317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2133600"/>
            <a:ext cx="2743200" cy="3505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0636" name="Line 60">
            <a:extLst>
              <a:ext uri="{FF2B5EF4-FFF2-40B4-BE49-F238E27FC236}">
                <a16:creationId xmlns:a16="http://schemas.microsoft.com/office/drawing/2014/main" id="{FE8966B1-A55E-422D-9CC1-3AEAE400D0E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62200" y="2209800"/>
            <a:ext cx="4114800" cy="2819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6CC74A-78EC-4E40-85C8-6397ACF0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ate Placeholder 56">
            <a:extLst>
              <a:ext uri="{FF2B5EF4-FFF2-40B4-BE49-F238E27FC236}">
                <a16:creationId xmlns:a16="http://schemas.microsoft.com/office/drawing/2014/main" id="{F217B27A-D35B-4A52-8E2D-694505A5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BB9C6-5DAE-456D-BDF7-AF3BE20710AD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8" name="Slide Number Placeholder 57">
            <a:extLst>
              <a:ext uri="{FF2B5EF4-FFF2-40B4-BE49-F238E27FC236}">
                <a16:creationId xmlns:a16="http://schemas.microsoft.com/office/drawing/2014/main" id="{C8C09DB7-E42E-4FF2-9E8C-1EA50162D3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510F58-0479-43E4-B0B7-74078FA71EE0}" type="slidenum">
              <a:rPr lang="zh-CN" altLang="en-US"/>
              <a:pPr/>
              <a:t>10</a:t>
            </a:fld>
            <a:endParaRPr lang="en-US" altLang="zh-CN"/>
          </a:p>
        </p:txBody>
      </p:sp>
      <p:grpSp>
        <p:nvGrpSpPr>
          <p:cNvPr id="281602" name="Group 2">
            <a:extLst>
              <a:ext uri="{FF2B5EF4-FFF2-40B4-BE49-F238E27FC236}">
                <a16:creationId xmlns:a16="http://schemas.microsoft.com/office/drawing/2014/main" id="{A3933F80-0E48-4C3D-9CDD-81673C5F1E95}"/>
              </a:ext>
            </a:extLst>
          </p:cNvPr>
          <p:cNvGrpSpPr>
            <a:grpSpLocks/>
          </p:cNvGrpSpPr>
          <p:nvPr/>
        </p:nvGrpSpPr>
        <p:grpSpPr bwMode="auto">
          <a:xfrm rot="-4217956">
            <a:off x="1205707" y="4075906"/>
            <a:ext cx="5562600" cy="1587"/>
            <a:chOff x="960" y="3888"/>
            <a:chExt cx="3504" cy="0"/>
          </a:xfrm>
        </p:grpSpPr>
        <p:sp>
          <p:nvSpPr>
            <p:cNvPr id="281603" name="Line 3">
              <a:extLst>
                <a:ext uri="{FF2B5EF4-FFF2-40B4-BE49-F238E27FC236}">
                  <a16:creationId xmlns:a16="http://schemas.microsoft.com/office/drawing/2014/main" id="{7BAC4B49-05DA-4DAB-A2ED-804DACDD2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888"/>
              <a:ext cx="3408" cy="0"/>
            </a:xfrm>
            <a:prstGeom prst="line">
              <a:avLst/>
            </a:prstGeom>
            <a:noFill/>
            <a:ln w="1047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281604" name="Line 4">
              <a:extLst>
                <a:ext uri="{FF2B5EF4-FFF2-40B4-BE49-F238E27FC236}">
                  <a16:creationId xmlns:a16="http://schemas.microsoft.com/office/drawing/2014/main" id="{7C85A732-D54A-4C68-A169-6B34C74DC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888"/>
              <a:ext cx="35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281605" name="Rectangle 5">
            <a:extLst>
              <a:ext uri="{FF2B5EF4-FFF2-40B4-BE49-F238E27FC236}">
                <a16:creationId xmlns:a16="http://schemas.microsoft.com/office/drawing/2014/main" id="{3A37CF38-64E5-45CD-850C-4CA33D4003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Classifier Margin</a:t>
            </a:r>
          </a:p>
        </p:txBody>
      </p:sp>
      <p:sp>
        <p:nvSpPr>
          <p:cNvPr id="281606" name="Rectangle 6">
            <a:extLst>
              <a:ext uri="{FF2B5EF4-FFF2-40B4-BE49-F238E27FC236}">
                <a16:creationId xmlns:a16="http://schemas.microsoft.com/office/drawing/2014/main" id="{3C62ECE2-79F0-4806-ABEC-DE58601A5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81607" name="Line 7">
            <a:extLst>
              <a:ext uri="{FF2B5EF4-FFF2-40B4-BE49-F238E27FC236}">
                <a16:creationId xmlns:a16="http://schemas.microsoft.com/office/drawing/2014/main" id="{2A449672-6281-40A8-ADA8-9DA2D71EA9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08" name="Text Box 8">
            <a:extLst>
              <a:ext uri="{FF2B5EF4-FFF2-40B4-BE49-F238E27FC236}">
                <a16:creationId xmlns:a16="http://schemas.microsoft.com/office/drawing/2014/main" id="{D2AC0A35-1565-47FD-901E-D5ACB8182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81611" name="Line 11">
            <a:extLst>
              <a:ext uri="{FF2B5EF4-FFF2-40B4-BE49-F238E27FC236}">
                <a16:creationId xmlns:a16="http://schemas.microsoft.com/office/drawing/2014/main" id="{08D727E3-9631-4E22-9D20-B325360D556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12" name="Text Box 12">
            <a:extLst>
              <a:ext uri="{FF2B5EF4-FFF2-40B4-BE49-F238E27FC236}">
                <a16:creationId xmlns:a16="http://schemas.microsoft.com/office/drawing/2014/main" id="{7387CB60-A322-4DB3-A92E-037A412FD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81613" name="Text Box 13">
            <a:extLst>
              <a:ext uri="{FF2B5EF4-FFF2-40B4-BE49-F238E27FC236}">
                <a16:creationId xmlns:a16="http://schemas.microsoft.com/office/drawing/2014/main" id="{09BAD51E-DCD3-452E-AB5A-44C28CAB7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81614" name="Oval 14">
            <a:extLst>
              <a:ext uri="{FF2B5EF4-FFF2-40B4-BE49-F238E27FC236}">
                <a16:creationId xmlns:a16="http://schemas.microsoft.com/office/drawing/2014/main" id="{443D6003-8FDE-4664-B264-BF7B3619E6F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15" name="Oval 15">
            <a:extLst>
              <a:ext uri="{FF2B5EF4-FFF2-40B4-BE49-F238E27FC236}">
                <a16:creationId xmlns:a16="http://schemas.microsoft.com/office/drawing/2014/main" id="{C93B38F5-35AC-48A9-BACA-523AD08C35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16" name="Line 16">
            <a:extLst>
              <a:ext uri="{FF2B5EF4-FFF2-40B4-BE49-F238E27FC236}">
                <a16:creationId xmlns:a16="http://schemas.microsoft.com/office/drawing/2014/main" id="{90BD51EC-A771-4B55-A173-C79C020BB7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1617" name="Line 17">
            <a:extLst>
              <a:ext uri="{FF2B5EF4-FFF2-40B4-BE49-F238E27FC236}">
                <a16:creationId xmlns:a16="http://schemas.microsoft.com/office/drawing/2014/main" id="{0473A5EC-7CB5-4538-8378-4EB269E60A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1618" name="Oval 18">
            <a:extLst>
              <a:ext uri="{FF2B5EF4-FFF2-40B4-BE49-F238E27FC236}">
                <a16:creationId xmlns:a16="http://schemas.microsoft.com/office/drawing/2014/main" id="{AA4E1A96-0573-46FF-A8C9-F810B1FC0A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19" name="Oval 19">
            <a:extLst>
              <a:ext uri="{FF2B5EF4-FFF2-40B4-BE49-F238E27FC236}">
                <a16:creationId xmlns:a16="http://schemas.microsoft.com/office/drawing/2014/main" id="{0CDED1B4-F465-42FB-83A8-2C0F1D541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0" name="Oval 20">
            <a:extLst>
              <a:ext uri="{FF2B5EF4-FFF2-40B4-BE49-F238E27FC236}">
                <a16:creationId xmlns:a16="http://schemas.microsoft.com/office/drawing/2014/main" id="{0F080C9D-949E-47CB-B741-68668E3F4C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1" name="Oval 21">
            <a:extLst>
              <a:ext uri="{FF2B5EF4-FFF2-40B4-BE49-F238E27FC236}">
                <a16:creationId xmlns:a16="http://schemas.microsoft.com/office/drawing/2014/main" id="{305272F7-2BFA-424F-89C6-B58848C38C7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2" name="Oval 22">
            <a:extLst>
              <a:ext uri="{FF2B5EF4-FFF2-40B4-BE49-F238E27FC236}">
                <a16:creationId xmlns:a16="http://schemas.microsoft.com/office/drawing/2014/main" id="{E81F122D-D144-4BAC-AA83-5C8706251D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3" name="Oval 23">
            <a:extLst>
              <a:ext uri="{FF2B5EF4-FFF2-40B4-BE49-F238E27FC236}">
                <a16:creationId xmlns:a16="http://schemas.microsoft.com/office/drawing/2014/main" id="{04C9ADA4-0C6C-4D9E-B5F7-A0301F1065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4" name="Oval 24">
            <a:extLst>
              <a:ext uri="{FF2B5EF4-FFF2-40B4-BE49-F238E27FC236}">
                <a16:creationId xmlns:a16="http://schemas.microsoft.com/office/drawing/2014/main" id="{CCB56FF2-28CE-4C26-B062-A6D550B0C8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5" name="Oval 25">
            <a:extLst>
              <a:ext uri="{FF2B5EF4-FFF2-40B4-BE49-F238E27FC236}">
                <a16:creationId xmlns:a16="http://schemas.microsoft.com/office/drawing/2014/main" id="{589BE743-5E4D-43AF-B040-3EA78F9586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6" name="Oval 26">
            <a:extLst>
              <a:ext uri="{FF2B5EF4-FFF2-40B4-BE49-F238E27FC236}">
                <a16:creationId xmlns:a16="http://schemas.microsoft.com/office/drawing/2014/main" id="{C950F096-F3ED-4723-86FD-6CB8669903B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7" name="Oval 27">
            <a:extLst>
              <a:ext uri="{FF2B5EF4-FFF2-40B4-BE49-F238E27FC236}">
                <a16:creationId xmlns:a16="http://schemas.microsoft.com/office/drawing/2014/main" id="{6FF66E5D-5DD1-4902-BACD-2411EFFB208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8" name="Oval 28">
            <a:extLst>
              <a:ext uri="{FF2B5EF4-FFF2-40B4-BE49-F238E27FC236}">
                <a16:creationId xmlns:a16="http://schemas.microsoft.com/office/drawing/2014/main" id="{F9F929C7-07B7-4BB8-8315-07CC2156AAD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29" name="Oval 29">
            <a:extLst>
              <a:ext uri="{FF2B5EF4-FFF2-40B4-BE49-F238E27FC236}">
                <a16:creationId xmlns:a16="http://schemas.microsoft.com/office/drawing/2014/main" id="{AB1420D1-0A89-444B-A178-303975F4EF1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0" name="Oval 30">
            <a:extLst>
              <a:ext uri="{FF2B5EF4-FFF2-40B4-BE49-F238E27FC236}">
                <a16:creationId xmlns:a16="http://schemas.microsoft.com/office/drawing/2014/main" id="{92F449EE-5CE8-43D4-8F87-34AD83C060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1" name="Oval 31">
            <a:extLst>
              <a:ext uri="{FF2B5EF4-FFF2-40B4-BE49-F238E27FC236}">
                <a16:creationId xmlns:a16="http://schemas.microsoft.com/office/drawing/2014/main" id="{78C69E84-8EA2-4951-9A96-1D7A552D0D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2" name="Oval 32">
            <a:extLst>
              <a:ext uri="{FF2B5EF4-FFF2-40B4-BE49-F238E27FC236}">
                <a16:creationId xmlns:a16="http://schemas.microsoft.com/office/drawing/2014/main" id="{F2149DEF-B7E0-4F8B-B9F9-551ACCDCDF3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3" name="Oval 33">
            <a:extLst>
              <a:ext uri="{FF2B5EF4-FFF2-40B4-BE49-F238E27FC236}">
                <a16:creationId xmlns:a16="http://schemas.microsoft.com/office/drawing/2014/main" id="{B2DF42E4-92C0-46C6-A3CB-6EB1EF75502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4" name="Oval 34">
            <a:extLst>
              <a:ext uri="{FF2B5EF4-FFF2-40B4-BE49-F238E27FC236}">
                <a16:creationId xmlns:a16="http://schemas.microsoft.com/office/drawing/2014/main" id="{21C6CFB6-71C9-4E2B-AC67-AA7EF932015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5" name="Oval 35">
            <a:extLst>
              <a:ext uri="{FF2B5EF4-FFF2-40B4-BE49-F238E27FC236}">
                <a16:creationId xmlns:a16="http://schemas.microsoft.com/office/drawing/2014/main" id="{DE16B799-4A93-4604-9555-C5A0860EA33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6" name="Oval 36">
            <a:extLst>
              <a:ext uri="{FF2B5EF4-FFF2-40B4-BE49-F238E27FC236}">
                <a16:creationId xmlns:a16="http://schemas.microsoft.com/office/drawing/2014/main" id="{0F8BCCAB-89FE-43A7-809B-D028A8EC496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7" name="Oval 37">
            <a:extLst>
              <a:ext uri="{FF2B5EF4-FFF2-40B4-BE49-F238E27FC236}">
                <a16:creationId xmlns:a16="http://schemas.microsoft.com/office/drawing/2014/main" id="{76E28E53-3A78-4770-9F3A-374CC5786CB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8" name="Oval 38">
            <a:extLst>
              <a:ext uri="{FF2B5EF4-FFF2-40B4-BE49-F238E27FC236}">
                <a16:creationId xmlns:a16="http://schemas.microsoft.com/office/drawing/2014/main" id="{7397C63F-40E5-4D53-8DDC-48F00606EB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39" name="Oval 39">
            <a:extLst>
              <a:ext uri="{FF2B5EF4-FFF2-40B4-BE49-F238E27FC236}">
                <a16:creationId xmlns:a16="http://schemas.microsoft.com/office/drawing/2014/main" id="{91215348-9540-459B-9CFE-04513D0A446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0" name="Oval 40">
            <a:extLst>
              <a:ext uri="{FF2B5EF4-FFF2-40B4-BE49-F238E27FC236}">
                <a16:creationId xmlns:a16="http://schemas.microsoft.com/office/drawing/2014/main" id="{3EAECABA-8EEF-4FEF-9B43-12C0C983B97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1" name="Oval 41">
            <a:extLst>
              <a:ext uri="{FF2B5EF4-FFF2-40B4-BE49-F238E27FC236}">
                <a16:creationId xmlns:a16="http://schemas.microsoft.com/office/drawing/2014/main" id="{0B6BD298-34C0-4C4A-BC75-40E4FDECAF6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2" name="Oval 42">
            <a:extLst>
              <a:ext uri="{FF2B5EF4-FFF2-40B4-BE49-F238E27FC236}">
                <a16:creationId xmlns:a16="http://schemas.microsoft.com/office/drawing/2014/main" id="{BB33F97E-37C2-4205-BB23-1B25A6E3B69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3" name="Oval 43">
            <a:extLst>
              <a:ext uri="{FF2B5EF4-FFF2-40B4-BE49-F238E27FC236}">
                <a16:creationId xmlns:a16="http://schemas.microsoft.com/office/drawing/2014/main" id="{0EF20CC0-6BE5-45E9-8E5C-9CC464C347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4" name="Oval 44">
            <a:extLst>
              <a:ext uri="{FF2B5EF4-FFF2-40B4-BE49-F238E27FC236}">
                <a16:creationId xmlns:a16="http://schemas.microsoft.com/office/drawing/2014/main" id="{277B085B-ECA4-4500-80EA-7B1FD70F1F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5" name="Oval 45">
            <a:extLst>
              <a:ext uri="{FF2B5EF4-FFF2-40B4-BE49-F238E27FC236}">
                <a16:creationId xmlns:a16="http://schemas.microsoft.com/office/drawing/2014/main" id="{E6D3DB7D-ACF4-4E29-B86D-ACEE7382128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6" name="Oval 46">
            <a:extLst>
              <a:ext uri="{FF2B5EF4-FFF2-40B4-BE49-F238E27FC236}">
                <a16:creationId xmlns:a16="http://schemas.microsoft.com/office/drawing/2014/main" id="{51CC7CF0-1138-41EF-A660-5B8CB641E81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7" name="Oval 47">
            <a:extLst>
              <a:ext uri="{FF2B5EF4-FFF2-40B4-BE49-F238E27FC236}">
                <a16:creationId xmlns:a16="http://schemas.microsoft.com/office/drawing/2014/main" id="{08D3FAA7-A200-4173-B0D7-C32D2B745BC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8" name="Oval 48">
            <a:extLst>
              <a:ext uri="{FF2B5EF4-FFF2-40B4-BE49-F238E27FC236}">
                <a16:creationId xmlns:a16="http://schemas.microsoft.com/office/drawing/2014/main" id="{411C229D-3612-43E2-A12D-E308F9D85D7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49" name="Oval 49">
            <a:extLst>
              <a:ext uri="{FF2B5EF4-FFF2-40B4-BE49-F238E27FC236}">
                <a16:creationId xmlns:a16="http://schemas.microsoft.com/office/drawing/2014/main" id="{8AC35622-DD3F-4A76-93D0-522F5E0D89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50" name="Oval 50">
            <a:extLst>
              <a:ext uri="{FF2B5EF4-FFF2-40B4-BE49-F238E27FC236}">
                <a16:creationId xmlns:a16="http://schemas.microsoft.com/office/drawing/2014/main" id="{C5CA0A3B-3A86-4D65-BEFA-C2E7C5B91C1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51" name="Oval 51">
            <a:extLst>
              <a:ext uri="{FF2B5EF4-FFF2-40B4-BE49-F238E27FC236}">
                <a16:creationId xmlns:a16="http://schemas.microsoft.com/office/drawing/2014/main" id="{28B6B63F-CC71-402F-8046-8F34D68D570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1652" name="Text Box 52">
            <a:extLst>
              <a:ext uri="{FF2B5EF4-FFF2-40B4-BE49-F238E27FC236}">
                <a16:creationId xmlns:a16="http://schemas.microsoft.com/office/drawing/2014/main" id="{573E2FB6-DFBD-4B61-A79A-8C68C38F0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81653" name="Text Box 53">
            <a:extLst>
              <a:ext uri="{FF2B5EF4-FFF2-40B4-BE49-F238E27FC236}">
                <a16:creationId xmlns:a16="http://schemas.microsoft.com/office/drawing/2014/main" id="{5EB8BCE0-BC03-4420-B7B5-BE70411CB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81654" name="Text Box 54">
            <a:extLst>
              <a:ext uri="{FF2B5EF4-FFF2-40B4-BE49-F238E27FC236}">
                <a16:creationId xmlns:a16="http://schemas.microsoft.com/office/drawing/2014/main" id="{FA3978DA-3130-44AD-8507-60BB1ECCD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286000"/>
            <a:ext cx="2743200" cy="301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>
                <a:ea typeface="SimSun" panose="02010600030101010101" pitchFamily="2" charset="-122"/>
              </a:rPr>
              <a:t>Define the </a:t>
            </a:r>
            <a:r>
              <a:rPr lang="en-US" altLang="zh-CN">
                <a:solidFill>
                  <a:schemeClr val="hlink"/>
                </a:solidFill>
                <a:ea typeface="SimSun" panose="02010600030101010101" pitchFamily="2" charset="-122"/>
              </a:rPr>
              <a:t>margin</a:t>
            </a:r>
            <a:r>
              <a:rPr lang="en-US" altLang="zh-CN">
                <a:ea typeface="SimSun" panose="02010600030101010101" pitchFamily="2" charset="-122"/>
              </a:rPr>
              <a:t> of a linear classifier as the width that the boundary could be increased by </a:t>
            </a:r>
            <a:r>
              <a:rPr lang="en-US" altLang="zh-CN">
                <a:solidFill>
                  <a:schemeClr val="hlink"/>
                </a:solidFill>
                <a:ea typeface="SimSun" panose="02010600030101010101" pitchFamily="2" charset="-122"/>
              </a:rPr>
              <a:t>before hitting a datapoint.</a:t>
            </a:r>
          </a:p>
        </p:txBody>
      </p:sp>
      <p:sp>
        <p:nvSpPr>
          <p:cNvPr id="281655" name="Line 55">
            <a:extLst>
              <a:ext uri="{FF2B5EF4-FFF2-40B4-BE49-F238E27FC236}">
                <a16:creationId xmlns:a16="http://schemas.microsoft.com/office/drawing/2014/main" id="{F45B8010-2BCE-4A60-8F00-D3BF565039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62400" y="4495800"/>
            <a:ext cx="25146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81656" name="Line 56">
            <a:extLst>
              <a:ext uri="{FF2B5EF4-FFF2-40B4-BE49-F238E27FC236}">
                <a16:creationId xmlns:a16="http://schemas.microsoft.com/office/drawing/2014/main" id="{3CE6A2BF-CC4F-4304-B72D-44246C85FF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19600" y="2895600"/>
            <a:ext cx="2057400" cy="1828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050EDC0-0877-4911-ADE4-8F0C016B6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A779AC0F-0752-46AF-8E70-924A1613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C4E00-8343-45C0-99F0-76FADCFFBDCF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4D95BFDC-DE00-4C83-85DD-F73A93C34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3014A28-1F56-48D7-9CC2-3C00FCB7EBB7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282626" name="Line 2">
            <a:extLst>
              <a:ext uri="{FF2B5EF4-FFF2-40B4-BE49-F238E27FC236}">
                <a16:creationId xmlns:a16="http://schemas.microsoft.com/office/drawing/2014/main" id="{BA5CCE06-1CFF-4AEE-99A5-DF0C90CD248E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239838" y="4076700"/>
            <a:ext cx="541020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2627" name="Line 3">
            <a:extLst>
              <a:ext uri="{FF2B5EF4-FFF2-40B4-BE49-F238E27FC236}">
                <a16:creationId xmlns:a16="http://schemas.microsoft.com/office/drawing/2014/main" id="{4E1E2313-4821-4D7B-B841-5B15C0160651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163638" y="40767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2628" name="Rectangle 4">
            <a:extLst>
              <a:ext uri="{FF2B5EF4-FFF2-40B4-BE49-F238E27FC236}">
                <a16:creationId xmlns:a16="http://schemas.microsoft.com/office/drawing/2014/main" id="{E3461B70-74F8-4D15-97F2-5B1CEBADAB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Maximum Margin</a:t>
            </a:r>
          </a:p>
        </p:txBody>
      </p:sp>
      <p:sp>
        <p:nvSpPr>
          <p:cNvPr id="282629" name="Rectangle 5">
            <a:extLst>
              <a:ext uri="{FF2B5EF4-FFF2-40B4-BE49-F238E27FC236}">
                <a16:creationId xmlns:a16="http://schemas.microsoft.com/office/drawing/2014/main" id="{83E2168D-D75C-4722-A06A-95DB029D4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82630" name="Line 6">
            <a:extLst>
              <a:ext uri="{FF2B5EF4-FFF2-40B4-BE49-F238E27FC236}">
                <a16:creationId xmlns:a16="http://schemas.microsoft.com/office/drawing/2014/main" id="{362689E2-718C-4B52-967C-F3B232D118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2631" name="Text Box 7">
            <a:extLst>
              <a:ext uri="{FF2B5EF4-FFF2-40B4-BE49-F238E27FC236}">
                <a16:creationId xmlns:a16="http://schemas.microsoft.com/office/drawing/2014/main" id="{36E99687-926B-4ABF-AED1-85D97A83D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82634" name="Line 10">
            <a:extLst>
              <a:ext uri="{FF2B5EF4-FFF2-40B4-BE49-F238E27FC236}">
                <a16:creationId xmlns:a16="http://schemas.microsoft.com/office/drawing/2014/main" id="{E4BBE2B9-2A0B-4725-97CB-55D9C94925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2635" name="Text Box 11">
            <a:extLst>
              <a:ext uri="{FF2B5EF4-FFF2-40B4-BE49-F238E27FC236}">
                <a16:creationId xmlns:a16="http://schemas.microsoft.com/office/drawing/2014/main" id="{EFF8982B-3D92-4739-933D-CD2416CCC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82636" name="Text Box 12">
            <a:extLst>
              <a:ext uri="{FF2B5EF4-FFF2-40B4-BE49-F238E27FC236}">
                <a16:creationId xmlns:a16="http://schemas.microsoft.com/office/drawing/2014/main" id="{60D1EF3E-61DB-46E1-9542-51E4D0BC2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82637" name="Oval 13">
            <a:extLst>
              <a:ext uri="{FF2B5EF4-FFF2-40B4-BE49-F238E27FC236}">
                <a16:creationId xmlns:a16="http://schemas.microsoft.com/office/drawing/2014/main" id="{32B91658-50C1-4D62-BB29-9496052A08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38" name="Oval 14">
            <a:extLst>
              <a:ext uri="{FF2B5EF4-FFF2-40B4-BE49-F238E27FC236}">
                <a16:creationId xmlns:a16="http://schemas.microsoft.com/office/drawing/2014/main" id="{F8416570-E853-462B-A855-09AAB0C0F10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39" name="Line 15">
            <a:extLst>
              <a:ext uri="{FF2B5EF4-FFF2-40B4-BE49-F238E27FC236}">
                <a16:creationId xmlns:a16="http://schemas.microsoft.com/office/drawing/2014/main" id="{1435BC71-1944-47EA-9CED-D8DCE576D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2640" name="Line 16">
            <a:extLst>
              <a:ext uri="{FF2B5EF4-FFF2-40B4-BE49-F238E27FC236}">
                <a16:creationId xmlns:a16="http://schemas.microsoft.com/office/drawing/2014/main" id="{046B07FD-BC19-4B6C-B305-4795D179B5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2641" name="Oval 17">
            <a:extLst>
              <a:ext uri="{FF2B5EF4-FFF2-40B4-BE49-F238E27FC236}">
                <a16:creationId xmlns:a16="http://schemas.microsoft.com/office/drawing/2014/main" id="{DB3B3A64-F278-4F7F-B09D-706B5E90CD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2" name="Oval 18">
            <a:extLst>
              <a:ext uri="{FF2B5EF4-FFF2-40B4-BE49-F238E27FC236}">
                <a16:creationId xmlns:a16="http://schemas.microsoft.com/office/drawing/2014/main" id="{1B6FDA2D-4A69-4190-B61C-4095A5B6B86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3" name="Oval 19">
            <a:extLst>
              <a:ext uri="{FF2B5EF4-FFF2-40B4-BE49-F238E27FC236}">
                <a16:creationId xmlns:a16="http://schemas.microsoft.com/office/drawing/2014/main" id="{11B4C62E-572B-4017-8B64-C8596EA655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4" name="Oval 20">
            <a:extLst>
              <a:ext uri="{FF2B5EF4-FFF2-40B4-BE49-F238E27FC236}">
                <a16:creationId xmlns:a16="http://schemas.microsoft.com/office/drawing/2014/main" id="{59FB9388-DB20-4D18-B8CC-9FA2DC50DD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5" name="Oval 21">
            <a:extLst>
              <a:ext uri="{FF2B5EF4-FFF2-40B4-BE49-F238E27FC236}">
                <a16:creationId xmlns:a16="http://schemas.microsoft.com/office/drawing/2014/main" id="{A58B7D7E-2E32-409B-ADBC-C0236009D1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6" name="Oval 22">
            <a:extLst>
              <a:ext uri="{FF2B5EF4-FFF2-40B4-BE49-F238E27FC236}">
                <a16:creationId xmlns:a16="http://schemas.microsoft.com/office/drawing/2014/main" id="{75220433-5E90-43D3-BE9E-CC141A40C45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7" name="Oval 23">
            <a:extLst>
              <a:ext uri="{FF2B5EF4-FFF2-40B4-BE49-F238E27FC236}">
                <a16:creationId xmlns:a16="http://schemas.microsoft.com/office/drawing/2014/main" id="{73AFAF3D-8FFB-4452-A022-B372273ED2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8" name="Oval 24">
            <a:extLst>
              <a:ext uri="{FF2B5EF4-FFF2-40B4-BE49-F238E27FC236}">
                <a16:creationId xmlns:a16="http://schemas.microsoft.com/office/drawing/2014/main" id="{12FFE9E9-2A8F-4340-9306-BB09FF50BE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49" name="Oval 25">
            <a:extLst>
              <a:ext uri="{FF2B5EF4-FFF2-40B4-BE49-F238E27FC236}">
                <a16:creationId xmlns:a16="http://schemas.microsoft.com/office/drawing/2014/main" id="{47699A19-BB93-42C4-8188-E871805C3E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0" name="Oval 26">
            <a:extLst>
              <a:ext uri="{FF2B5EF4-FFF2-40B4-BE49-F238E27FC236}">
                <a16:creationId xmlns:a16="http://schemas.microsoft.com/office/drawing/2014/main" id="{B9DC73F7-CDB9-4FD9-BBB6-17F6A0B67AC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1" name="Oval 27">
            <a:extLst>
              <a:ext uri="{FF2B5EF4-FFF2-40B4-BE49-F238E27FC236}">
                <a16:creationId xmlns:a16="http://schemas.microsoft.com/office/drawing/2014/main" id="{FD8EE5D5-7294-407D-8DDA-39528DDECD1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2" name="Oval 28">
            <a:extLst>
              <a:ext uri="{FF2B5EF4-FFF2-40B4-BE49-F238E27FC236}">
                <a16:creationId xmlns:a16="http://schemas.microsoft.com/office/drawing/2014/main" id="{8F2E6D3C-9E07-4230-B93B-C0D1E94112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3" name="Oval 29">
            <a:extLst>
              <a:ext uri="{FF2B5EF4-FFF2-40B4-BE49-F238E27FC236}">
                <a16:creationId xmlns:a16="http://schemas.microsoft.com/office/drawing/2014/main" id="{E8B54E9C-2D56-4CD4-AB5C-A6123D0C18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4" name="Oval 30">
            <a:extLst>
              <a:ext uri="{FF2B5EF4-FFF2-40B4-BE49-F238E27FC236}">
                <a16:creationId xmlns:a16="http://schemas.microsoft.com/office/drawing/2014/main" id="{274B87CB-44FC-4DAC-A13F-38FC67827D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5" name="Oval 31">
            <a:extLst>
              <a:ext uri="{FF2B5EF4-FFF2-40B4-BE49-F238E27FC236}">
                <a16:creationId xmlns:a16="http://schemas.microsoft.com/office/drawing/2014/main" id="{1982CDC0-4810-41AE-AC55-C4188F5CA59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6" name="Oval 32">
            <a:extLst>
              <a:ext uri="{FF2B5EF4-FFF2-40B4-BE49-F238E27FC236}">
                <a16:creationId xmlns:a16="http://schemas.microsoft.com/office/drawing/2014/main" id="{0B6357FA-7BDA-4E2E-B21C-540AC163DB8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7" name="Oval 33">
            <a:extLst>
              <a:ext uri="{FF2B5EF4-FFF2-40B4-BE49-F238E27FC236}">
                <a16:creationId xmlns:a16="http://schemas.microsoft.com/office/drawing/2014/main" id="{4ED922C0-8F5F-44D7-A366-B7A3D40EF05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8" name="Oval 34">
            <a:extLst>
              <a:ext uri="{FF2B5EF4-FFF2-40B4-BE49-F238E27FC236}">
                <a16:creationId xmlns:a16="http://schemas.microsoft.com/office/drawing/2014/main" id="{49E397C3-DFBE-40BD-AC0B-5F656C33AC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59" name="Oval 35">
            <a:extLst>
              <a:ext uri="{FF2B5EF4-FFF2-40B4-BE49-F238E27FC236}">
                <a16:creationId xmlns:a16="http://schemas.microsoft.com/office/drawing/2014/main" id="{EA278758-6AE9-4B12-AD2D-AFE3B9B3B4F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0" name="Oval 36">
            <a:extLst>
              <a:ext uri="{FF2B5EF4-FFF2-40B4-BE49-F238E27FC236}">
                <a16:creationId xmlns:a16="http://schemas.microsoft.com/office/drawing/2014/main" id="{4FA1D02A-E643-4A92-9E37-5D1C1EC2B96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1" name="Oval 37">
            <a:extLst>
              <a:ext uri="{FF2B5EF4-FFF2-40B4-BE49-F238E27FC236}">
                <a16:creationId xmlns:a16="http://schemas.microsoft.com/office/drawing/2014/main" id="{8E1C96EB-5923-4D32-A867-02753C649B0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2" name="Oval 38">
            <a:extLst>
              <a:ext uri="{FF2B5EF4-FFF2-40B4-BE49-F238E27FC236}">
                <a16:creationId xmlns:a16="http://schemas.microsoft.com/office/drawing/2014/main" id="{5657E193-D74F-4BCE-B041-324AE4D3D3A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3" name="Oval 39">
            <a:extLst>
              <a:ext uri="{FF2B5EF4-FFF2-40B4-BE49-F238E27FC236}">
                <a16:creationId xmlns:a16="http://schemas.microsoft.com/office/drawing/2014/main" id="{9D988537-3B4E-4FCD-96E9-CDD4ABEEB1C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4" name="Oval 40">
            <a:extLst>
              <a:ext uri="{FF2B5EF4-FFF2-40B4-BE49-F238E27FC236}">
                <a16:creationId xmlns:a16="http://schemas.microsoft.com/office/drawing/2014/main" id="{1394128B-74FE-4795-8317-A46563EF23F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5" name="Oval 41">
            <a:extLst>
              <a:ext uri="{FF2B5EF4-FFF2-40B4-BE49-F238E27FC236}">
                <a16:creationId xmlns:a16="http://schemas.microsoft.com/office/drawing/2014/main" id="{9B06B539-A6B9-454E-BA3D-FFF4A27B2BD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6" name="Oval 42">
            <a:extLst>
              <a:ext uri="{FF2B5EF4-FFF2-40B4-BE49-F238E27FC236}">
                <a16:creationId xmlns:a16="http://schemas.microsoft.com/office/drawing/2014/main" id="{550CFE59-8400-4149-AA62-F049177BCAE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7" name="Oval 43">
            <a:extLst>
              <a:ext uri="{FF2B5EF4-FFF2-40B4-BE49-F238E27FC236}">
                <a16:creationId xmlns:a16="http://schemas.microsoft.com/office/drawing/2014/main" id="{920577B5-968D-45C3-9C26-CFAABA40DA2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8" name="Oval 44">
            <a:extLst>
              <a:ext uri="{FF2B5EF4-FFF2-40B4-BE49-F238E27FC236}">
                <a16:creationId xmlns:a16="http://schemas.microsoft.com/office/drawing/2014/main" id="{0A6B5D7A-5A3B-4085-A26C-8824AB2311E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69" name="Oval 45">
            <a:extLst>
              <a:ext uri="{FF2B5EF4-FFF2-40B4-BE49-F238E27FC236}">
                <a16:creationId xmlns:a16="http://schemas.microsoft.com/office/drawing/2014/main" id="{3BEF50F3-03BD-4F60-B4AE-A0B318971EC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70" name="Oval 46">
            <a:extLst>
              <a:ext uri="{FF2B5EF4-FFF2-40B4-BE49-F238E27FC236}">
                <a16:creationId xmlns:a16="http://schemas.microsoft.com/office/drawing/2014/main" id="{2C526614-DE2C-4F40-BE28-85BF1D352D6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71" name="Oval 47">
            <a:extLst>
              <a:ext uri="{FF2B5EF4-FFF2-40B4-BE49-F238E27FC236}">
                <a16:creationId xmlns:a16="http://schemas.microsoft.com/office/drawing/2014/main" id="{0365CD9F-38AA-4004-A5D1-E9A79348CC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72" name="Oval 48">
            <a:extLst>
              <a:ext uri="{FF2B5EF4-FFF2-40B4-BE49-F238E27FC236}">
                <a16:creationId xmlns:a16="http://schemas.microsoft.com/office/drawing/2014/main" id="{AD187E1A-D2A0-4ED2-BD52-AD75B8DA968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73" name="Oval 49">
            <a:extLst>
              <a:ext uri="{FF2B5EF4-FFF2-40B4-BE49-F238E27FC236}">
                <a16:creationId xmlns:a16="http://schemas.microsoft.com/office/drawing/2014/main" id="{2262481E-F350-4CE6-BDC1-5815E5AF0AE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74" name="Oval 50">
            <a:extLst>
              <a:ext uri="{FF2B5EF4-FFF2-40B4-BE49-F238E27FC236}">
                <a16:creationId xmlns:a16="http://schemas.microsoft.com/office/drawing/2014/main" id="{6DE8DE09-BCE9-4002-9320-B53597310F0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2675" name="Text Box 51">
            <a:extLst>
              <a:ext uri="{FF2B5EF4-FFF2-40B4-BE49-F238E27FC236}">
                <a16:creationId xmlns:a16="http://schemas.microsoft.com/office/drawing/2014/main" id="{8ECFA48E-BA4A-4DD7-B4F5-70B2641654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82676" name="Text Box 52">
            <a:extLst>
              <a:ext uri="{FF2B5EF4-FFF2-40B4-BE49-F238E27FC236}">
                <a16:creationId xmlns:a16="http://schemas.microsoft.com/office/drawing/2014/main" id="{87CFB9DA-10AA-4C8A-B2B2-3336420E2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82677" name="Text Box 53">
            <a:extLst>
              <a:ext uri="{FF2B5EF4-FFF2-40B4-BE49-F238E27FC236}">
                <a16:creationId xmlns:a16="http://schemas.microsoft.com/office/drawing/2014/main" id="{EF24B257-5D4F-4EB6-9D0E-27F12DF59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286000"/>
            <a:ext cx="2743200" cy="392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>
                <a:ea typeface="SimSun" panose="02010600030101010101" pitchFamily="2" charset="-122"/>
              </a:rPr>
              <a:t>The </a:t>
            </a:r>
            <a:r>
              <a:rPr lang="en-US" altLang="zh-CN">
                <a:solidFill>
                  <a:schemeClr val="hlink"/>
                </a:solidFill>
                <a:ea typeface="SimSun" panose="02010600030101010101" pitchFamily="2" charset="-122"/>
              </a:rPr>
              <a:t>maximum margin linear classifier</a:t>
            </a:r>
            <a:r>
              <a:rPr lang="en-US" altLang="zh-CN">
                <a:ea typeface="SimSun" panose="02010600030101010101" pitchFamily="2" charset="-122"/>
              </a:rPr>
              <a:t> is the linear classifier with the, um, maximum margin.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>
                <a:ea typeface="SimSun" panose="02010600030101010101" pitchFamily="2" charset="-122"/>
              </a:rPr>
              <a:t>This is the simplest kind of SVM (Called an LSVM)</a:t>
            </a:r>
          </a:p>
        </p:txBody>
      </p:sp>
      <p:sp>
        <p:nvSpPr>
          <p:cNvPr id="282678" name="AutoShape 54">
            <a:extLst>
              <a:ext uri="{FF2B5EF4-FFF2-40B4-BE49-F238E27FC236}">
                <a16:creationId xmlns:a16="http://schemas.microsoft.com/office/drawing/2014/main" id="{89B22936-76B9-4DDB-9320-984BEE05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5" y="6097588"/>
            <a:ext cx="1758950" cy="381000"/>
          </a:xfrm>
          <a:prstGeom prst="wedgeRectCallout">
            <a:avLst>
              <a:gd name="adj1" fmla="val 64713"/>
              <a:gd name="adj2" fmla="val -862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Linear SVM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83508A0-E920-467E-85A2-9A466970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Date Placeholder 61">
            <a:extLst>
              <a:ext uri="{FF2B5EF4-FFF2-40B4-BE49-F238E27FC236}">
                <a16:creationId xmlns:a16="http://schemas.microsoft.com/office/drawing/2014/main" id="{276F3913-F872-4FD8-8E1C-2F1D6BB09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CE0-1029-42AA-A285-E64159EDEDF9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058DE352-145E-4C7C-9EFF-13456C738E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9E43D1-9150-4B23-BFD6-952F38862E5D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283650" name="Line 2">
            <a:extLst>
              <a:ext uri="{FF2B5EF4-FFF2-40B4-BE49-F238E27FC236}">
                <a16:creationId xmlns:a16="http://schemas.microsoft.com/office/drawing/2014/main" id="{C0088BB7-9797-4FBD-BA40-882D01E6B32E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239838" y="4076700"/>
            <a:ext cx="541020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3651" name="Line 3">
            <a:extLst>
              <a:ext uri="{FF2B5EF4-FFF2-40B4-BE49-F238E27FC236}">
                <a16:creationId xmlns:a16="http://schemas.microsoft.com/office/drawing/2014/main" id="{1846A573-52C2-41D0-A6F7-255A65C5EFB9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163638" y="40767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3652" name="Rectangle 4">
            <a:extLst>
              <a:ext uri="{FF2B5EF4-FFF2-40B4-BE49-F238E27FC236}">
                <a16:creationId xmlns:a16="http://schemas.microsoft.com/office/drawing/2014/main" id="{E2283C86-16BF-48CB-A324-95B8D2CDC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648200" cy="685800"/>
          </a:xfrm>
        </p:spPr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Maximum Margin</a:t>
            </a:r>
          </a:p>
        </p:txBody>
      </p:sp>
      <p:sp>
        <p:nvSpPr>
          <p:cNvPr id="283653" name="Rectangle 5">
            <a:extLst>
              <a:ext uri="{FF2B5EF4-FFF2-40B4-BE49-F238E27FC236}">
                <a16:creationId xmlns:a16="http://schemas.microsoft.com/office/drawing/2014/main" id="{FDC28BBE-CE1F-4292-9367-78253E5FA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776288"/>
            <a:ext cx="1600200" cy="654050"/>
          </a:xfrm>
          <a:prstGeom prst="rect">
            <a:avLst/>
          </a:prstGeom>
          <a:solidFill>
            <a:srgbClr val="FFCCF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3600" i="1">
                <a:ea typeface="SimSun" panose="02010600030101010101" pitchFamily="2" charset="-122"/>
              </a:rPr>
              <a:t>f </a:t>
            </a:r>
            <a:r>
              <a:rPr lang="en-US" altLang="zh-CN" sz="2000">
                <a:ea typeface="SimSun" panose="02010600030101010101" pitchFamily="2" charset="-122"/>
              </a:rPr>
              <a:t>        </a:t>
            </a:r>
          </a:p>
        </p:txBody>
      </p:sp>
      <p:sp>
        <p:nvSpPr>
          <p:cNvPr id="283654" name="Line 6">
            <a:extLst>
              <a:ext uri="{FF2B5EF4-FFF2-40B4-BE49-F238E27FC236}">
                <a16:creationId xmlns:a16="http://schemas.microsoft.com/office/drawing/2014/main" id="{BE035227-2E9D-4C96-8CB0-299FA6D6CD8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3655" name="Text Box 7">
            <a:extLst>
              <a:ext uri="{FF2B5EF4-FFF2-40B4-BE49-F238E27FC236}">
                <a16:creationId xmlns:a16="http://schemas.microsoft.com/office/drawing/2014/main" id="{6258AE55-D220-4E63-BEB2-F93118268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762000"/>
            <a:ext cx="609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 i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83658" name="Line 10">
            <a:extLst>
              <a:ext uri="{FF2B5EF4-FFF2-40B4-BE49-F238E27FC236}">
                <a16:creationId xmlns:a16="http://schemas.microsoft.com/office/drawing/2014/main" id="{BF4460D9-1195-4A4F-A3AE-ABF51DDA6E9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1066800"/>
            <a:ext cx="137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3659" name="Text Box 11">
            <a:extLst>
              <a:ext uri="{FF2B5EF4-FFF2-40B4-BE49-F238E27FC236}">
                <a16:creationId xmlns:a16="http://schemas.microsoft.com/office/drawing/2014/main" id="{86202B4D-98A2-436B-8EA9-29151A263C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8382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</a:pPr>
            <a:r>
              <a:rPr lang="en-US" altLang="zh-CN" sz="3200">
                <a:ea typeface="SimSun" panose="02010600030101010101" pitchFamily="2" charset="-122"/>
              </a:rPr>
              <a:t>y</a:t>
            </a:r>
            <a:r>
              <a:rPr lang="en-US" altLang="zh-CN" sz="3200" baseline="30000">
                <a:ea typeface="SimSun" panose="02010600030101010101" pitchFamily="2" charset="-122"/>
              </a:rPr>
              <a:t>est</a:t>
            </a:r>
          </a:p>
        </p:txBody>
      </p:sp>
      <p:sp>
        <p:nvSpPr>
          <p:cNvPr id="283660" name="Text Box 12">
            <a:extLst>
              <a:ext uri="{FF2B5EF4-FFF2-40B4-BE49-F238E27FC236}">
                <a16:creationId xmlns:a16="http://schemas.microsoft.com/office/drawing/2014/main" id="{9928A6B1-D5AE-4DE9-8758-009D5C121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83661" name="Oval 13">
            <a:extLst>
              <a:ext uri="{FF2B5EF4-FFF2-40B4-BE49-F238E27FC236}">
                <a16:creationId xmlns:a16="http://schemas.microsoft.com/office/drawing/2014/main" id="{FEAC797F-70A7-4F14-8E80-277D4A7E339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2" name="Oval 14">
            <a:extLst>
              <a:ext uri="{FF2B5EF4-FFF2-40B4-BE49-F238E27FC236}">
                <a16:creationId xmlns:a16="http://schemas.microsoft.com/office/drawing/2014/main" id="{ED8F05B9-28FB-45C4-BDF1-5E5DF0BBE58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3" name="Line 15">
            <a:extLst>
              <a:ext uri="{FF2B5EF4-FFF2-40B4-BE49-F238E27FC236}">
                <a16:creationId xmlns:a16="http://schemas.microsoft.com/office/drawing/2014/main" id="{C82B3BA1-8421-4B32-803D-26CA66F56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3664" name="Line 16">
            <a:extLst>
              <a:ext uri="{FF2B5EF4-FFF2-40B4-BE49-F238E27FC236}">
                <a16:creationId xmlns:a16="http://schemas.microsoft.com/office/drawing/2014/main" id="{3E695134-49C3-44F9-BF98-E3E50ECB6A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3665" name="Oval 17">
            <a:extLst>
              <a:ext uri="{FF2B5EF4-FFF2-40B4-BE49-F238E27FC236}">
                <a16:creationId xmlns:a16="http://schemas.microsoft.com/office/drawing/2014/main" id="{56C8B918-1746-4765-A056-B3E325E2E4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6" name="Oval 18">
            <a:extLst>
              <a:ext uri="{FF2B5EF4-FFF2-40B4-BE49-F238E27FC236}">
                <a16:creationId xmlns:a16="http://schemas.microsoft.com/office/drawing/2014/main" id="{2E566749-4BE3-41F2-B906-ECE57E80F1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7" name="Oval 19">
            <a:extLst>
              <a:ext uri="{FF2B5EF4-FFF2-40B4-BE49-F238E27FC236}">
                <a16:creationId xmlns:a16="http://schemas.microsoft.com/office/drawing/2014/main" id="{A8C7E21D-EF77-47BA-9812-0B921651F3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8" name="Oval 20">
            <a:extLst>
              <a:ext uri="{FF2B5EF4-FFF2-40B4-BE49-F238E27FC236}">
                <a16:creationId xmlns:a16="http://schemas.microsoft.com/office/drawing/2014/main" id="{F6DB49AC-79A9-4B69-B20E-4C079A08A8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69" name="Oval 21">
            <a:extLst>
              <a:ext uri="{FF2B5EF4-FFF2-40B4-BE49-F238E27FC236}">
                <a16:creationId xmlns:a16="http://schemas.microsoft.com/office/drawing/2014/main" id="{839510D0-D9AB-40D3-BCC5-239730F2CD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0" name="Oval 22">
            <a:extLst>
              <a:ext uri="{FF2B5EF4-FFF2-40B4-BE49-F238E27FC236}">
                <a16:creationId xmlns:a16="http://schemas.microsoft.com/office/drawing/2014/main" id="{FC00B30C-77DA-4B2B-9EBC-6DB41F3F49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1" name="Oval 23">
            <a:extLst>
              <a:ext uri="{FF2B5EF4-FFF2-40B4-BE49-F238E27FC236}">
                <a16:creationId xmlns:a16="http://schemas.microsoft.com/office/drawing/2014/main" id="{299120D1-7A9D-4CA8-8664-7F38DE8697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2" name="Oval 24">
            <a:extLst>
              <a:ext uri="{FF2B5EF4-FFF2-40B4-BE49-F238E27FC236}">
                <a16:creationId xmlns:a16="http://schemas.microsoft.com/office/drawing/2014/main" id="{90D25DDB-CC9A-4F36-8F7A-187583B439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3" name="Oval 25">
            <a:extLst>
              <a:ext uri="{FF2B5EF4-FFF2-40B4-BE49-F238E27FC236}">
                <a16:creationId xmlns:a16="http://schemas.microsoft.com/office/drawing/2014/main" id="{6EDDEA53-AA97-4B54-92A3-30E1A27FE34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4" name="Oval 26">
            <a:extLst>
              <a:ext uri="{FF2B5EF4-FFF2-40B4-BE49-F238E27FC236}">
                <a16:creationId xmlns:a16="http://schemas.microsoft.com/office/drawing/2014/main" id="{A137A0B0-A461-4BEC-A218-DDD82D534F5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5" name="Oval 27">
            <a:extLst>
              <a:ext uri="{FF2B5EF4-FFF2-40B4-BE49-F238E27FC236}">
                <a16:creationId xmlns:a16="http://schemas.microsoft.com/office/drawing/2014/main" id="{4BA404C0-431A-460E-86CC-7198C1089E8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6" name="Oval 28">
            <a:extLst>
              <a:ext uri="{FF2B5EF4-FFF2-40B4-BE49-F238E27FC236}">
                <a16:creationId xmlns:a16="http://schemas.microsoft.com/office/drawing/2014/main" id="{E4CD84E3-5C81-49A8-8F0B-28FA2362579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7" name="Oval 29">
            <a:extLst>
              <a:ext uri="{FF2B5EF4-FFF2-40B4-BE49-F238E27FC236}">
                <a16:creationId xmlns:a16="http://schemas.microsoft.com/office/drawing/2014/main" id="{3FAF1868-4F31-40D4-9815-A1BB1D1113C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8" name="Oval 30">
            <a:extLst>
              <a:ext uri="{FF2B5EF4-FFF2-40B4-BE49-F238E27FC236}">
                <a16:creationId xmlns:a16="http://schemas.microsoft.com/office/drawing/2014/main" id="{6AA55764-34C6-42A3-A407-07F2B36EDC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79" name="Oval 31">
            <a:extLst>
              <a:ext uri="{FF2B5EF4-FFF2-40B4-BE49-F238E27FC236}">
                <a16:creationId xmlns:a16="http://schemas.microsoft.com/office/drawing/2014/main" id="{B2D91BC5-6628-4ECF-B1CC-4032B5A75D1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0" name="Oval 32">
            <a:extLst>
              <a:ext uri="{FF2B5EF4-FFF2-40B4-BE49-F238E27FC236}">
                <a16:creationId xmlns:a16="http://schemas.microsoft.com/office/drawing/2014/main" id="{BCCB74E4-8A0A-4F09-950B-F182CD6057D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1" name="Oval 33">
            <a:extLst>
              <a:ext uri="{FF2B5EF4-FFF2-40B4-BE49-F238E27FC236}">
                <a16:creationId xmlns:a16="http://schemas.microsoft.com/office/drawing/2014/main" id="{FB27BE24-309B-4526-BEDF-62783234196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2" name="Oval 34">
            <a:extLst>
              <a:ext uri="{FF2B5EF4-FFF2-40B4-BE49-F238E27FC236}">
                <a16:creationId xmlns:a16="http://schemas.microsoft.com/office/drawing/2014/main" id="{93975610-AE38-43BD-8799-050447824BD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3" name="Oval 35">
            <a:extLst>
              <a:ext uri="{FF2B5EF4-FFF2-40B4-BE49-F238E27FC236}">
                <a16:creationId xmlns:a16="http://schemas.microsoft.com/office/drawing/2014/main" id="{33628F23-6891-4DFC-97DE-038F176F69F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4" name="Oval 36">
            <a:extLst>
              <a:ext uri="{FF2B5EF4-FFF2-40B4-BE49-F238E27FC236}">
                <a16:creationId xmlns:a16="http://schemas.microsoft.com/office/drawing/2014/main" id="{9C32DF18-7197-4D2B-9AC3-BBD5FC7108D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5" name="Oval 37">
            <a:extLst>
              <a:ext uri="{FF2B5EF4-FFF2-40B4-BE49-F238E27FC236}">
                <a16:creationId xmlns:a16="http://schemas.microsoft.com/office/drawing/2014/main" id="{AA8301B4-0E63-483D-899B-6E4FF6403D2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6" name="Oval 38">
            <a:extLst>
              <a:ext uri="{FF2B5EF4-FFF2-40B4-BE49-F238E27FC236}">
                <a16:creationId xmlns:a16="http://schemas.microsoft.com/office/drawing/2014/main" id="{915066D1-96F6-4A1E-AFFC-5390A0AEB15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7" name="Oval 39">
            <a:extLst>
              <a:ext uri="{FF2B5EF4-FFF2-40B4-BE49-F238E27FC236}">
                <a16:creationId xmlns:a16="http://schemas.microsoft.com/office/drawing/2014/main" id="{FDD96110-1C54-469B-900D-58D05D0804A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8" name="Oval 40">
            <a:extLst>
              <a:ext uri="{FF2B5EF4-FFF2-40B4-BE49-F238E27FC236}">
                <a16:creationId xmlns:a16="http://schemas.microsoft.com/office/drawing/2014/main" id="{92DC8140-D20A-46E3-AA0E-53CEBFBDE02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89" name="Oval 41">
            <a:extLst>
              <a:ext uri="{FF2B5EF4-FFF2-40B4-BE49-F238E27FC236}">
                <a16:creationId xmlns:a16="http://schemas.microsoft.com/office/drawing/2014/main" id="{9FC1D8F2-5D7A-4817-92C9-18CE5B8AC7C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0" name="Oval 42">
            <a:extLst>
              <a:ext uri="{FF2B5EF4-FFF2-40B4-BE49-F238E27FC236}">
                <a16:creationId xmlns:a16="http://schemas.microsoft.com/office/drawing/2014/main" id="{DB0DEE93-8B7E-43A2-B128-59007C12180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1" name="Oval 43">
            <a:extLst>
              <a:ext uri="{FF2B5EF4-FFF2-40B4-BE49-F238E27FC236}">
                <a16:creationId xmlns:a16="http://schemas.microsoft.com/office/drawing/2014/main" id="{261B0C0E-5A54-4FCE-B29E-9BB602E77ED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2" name="Oval 44">
            <a:extLst>
              <a:ext uri="{FF2B5EF4-FFF2-40B4-BE49-F238E27FC236}">
                <a16:creationId xmlns:a16="http://schemas.microsoft.com/office/drawing/2014/main" id="{55694F78-EC8E-4D5C-A900-EF6428CF68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3" name="Oval 45">
            <a:extLst>
              <a:ext uri="{FF2B5EF4-FFF2-40B4-BE49-F238E27FC236}">
                <a16:creationId xmlns:a16="http://schemas.microsoft.com/office/drawing/2014/main" id="{A9229960-EFB0-4985-ABC3-8634852E2B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4" name="Oval 46">
            <a:extLst>
              <a:ext uri="{FF2B5EF4-FFF2-40B4-BE49-F238E27FC236}">
                <a16:creationId xmlns:a16="http://schemas.microsoft.com/office/drawing/2014/main" id="{E7105FB2-1F2E-4D8F-A219-09426C879C4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5" name="Oval 47">
            <a:extLst>
              <a:ext uri="{FF2B5EF4-FFF2-40B4-BE49-F238E27FC236}">
                <a16:creationId xmlns:a16="http://schemas.microsoft.com/office/drawing/2014/main" id="{3F0CAC1C-E7FC-4587-9652-6E21186EDA6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6" name="Oval 48">
            <a:extLst>
              <a:ext uri="{FF2B5EF4-FFF2-40B4-BE49-F238E27FC236}">
                <a16:creationId xmlns:a16="http://schemas.microsoft.com/office/drawing/2014/main" id="{5563D5FF-9578-4CAD-912D-77E99ED16F0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7" name="Oval 49">
            <a:extLst>
              <a:ext uri="{FF2B5EF4-FFF2-40B4-BE49-F238E27FC236}">
                <a16:creationId xmlns:a16="http://schemas.microsoft.com/office/drawing/2014/main" id="{B00626EB-1FA5-4B2C-B7E1-5E17639E05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8" name="Oval 50">
            <a:extLst>
              <a:ext uri="{FF2B5EF4-FFF2-40B4-BE49-F238E27FC236}">
                <a16:creationId xmlns:a16="http://schemas.microsoft.com/office/drawing/2014/main" id="{1FAE0016-DA9A-44D5-82D9-E74ABA8C591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3699" name="Text Box 51">
            <a:extLst>
              <a:ext uri="{FF2B5EF4-FFF2-40B4-BE49-F238E27FC236}">
                <a16:creationId xmlns:a16="http://schemas.microsoft.com/office/drawing/2014/main" id="{81D807CD-9B8F-4816-97C9-700A501EE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>
                <a:ea typeface="SimSun" panose="02010600030101010101" pitchFamily="2" charset="-122"/>
              </a:rPr>
              <a:t>f</a:t>
            </a:r>
            <a:r>
              <a:rPr lang="en-US" altLang="zh-CN" sz="2000" i="1">
                <a:ea typeface="SimSun" panose="02010600030101010101" pitchFamily="2" charset="-122"/>
              </a:rPr>
              <a:t>(</a:t>
            </a:r>
            <a:r>
              <a:rPr lang="en-US" altLang="zh-CN" sz="2000" b="1" i="1">
                <a:ea typeface="SimSun" panose="02010600030101010101" pitchFamily="2" charset="-122"/>
              </a:rPr>
              <a:t>x</a:t>
            </a:r>
            <a:r>
              <a:rPr lang="en-US" altLang="zh-CN" sz="2000" i="1">
                <a:ea typeface="SimSun" panose="02010600030101010101" pitchFamily="2" charset="-122"/>
              </a:rPr>
              <a:t>,</a:t>
            </a:r>
            <a:r>
              <a:rPr lang="en-US" altLang="zh-CN" sz="2000" b="1" i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>
                <a:ea typeface="SimSun" panose="02010600030101010101" pitchFamily="2" charset="-122"/>
              </a:rPr>
              <a:t>) = sign(</a:t>
            </a:r>
            <a:r>
              <a:rPr lang="en-US" altLang="zh-CN" sz="2000" b="1" i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>
                <a:ea typeface="SimSun" panose="02010600030101010101" pitchFamily="2" charset="-122"/>
              </a:rPr>
              <a:t>. x</a:t>
            </a:r>
            <a:r>
              <a:rPr lang="en-US" altLang="zh-CN" sz="2000" i="1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>
                <a:ea typeface="SimSun" panose="02010600030101010101" pitchFamily="2" charset="-122"/>
              </a:rPr>
              <a:t>+ </a:t>
            </a:r>
            <a:r>
              <a:rPr lang="en-US" altLang="zh-CN" sz="2000" i="1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83700" name="Text Box 52">
            <a:extLst>
              <a:ext uri="{FF2B5EF4-FFF2-40B4-BE49-F238E27FC236}">
                <a16:creationId xmlns:a16="http://schemas.microsoft.com/office/drawing/2014/main" id="{1F376354-687F-43E0-84B1-988ADF943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83701" name="Text Box 53">
            <a:extLst>
              <a:ext uri="{FF2B5EF4-FFF2-40B4-BE49-F238E27FC236}">
                <a16:creationId xmlns:a16="http://schemas.microsoft.com/office/drawing/2014/main" id="{2641587B-15FE-499D-A342-5E4724464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286000"/>
            <a:ext cx="2743200" cy="392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>
                <a:ea typeface="SimSun" panose="02010600030101010101" pitchFamily="2" charset="-122"/>
              </a:rPr>
              <a:t>The </a:t>
            </a:r>
            <a:r>
              <a:rPr lang="en-US" altLang="zh-CN">
                <a:solidFill>
                  <a:schemeClr val="hlink"/>
                </a:solidFill>
                <a:ea typeface="SimSun" panose="02010600030101010101" pitchFamily="2" charset="-122"/>
              </a:rPr>
              <a:t>maximum margin linear classifier</a:t>
            </a:r>
            <a:r>
              <a:rPr lang="en-US" altLang="zh-CN">
                <a:ea typeface="SimSun" panose="02010600030101010101" pitchFamily="2" charset="-122"/>
              </a:rPr>
              <a:t> is the linear classifier with the, um, maximum margin.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>
                <a:ea typeface="SimSun" panose="02010600030101010101" pitchFamily="2" charset="-122"/>
              </a:rPr>
              <a:t>This is the simplest kind of SVM (Called an LSVM)</a:t>
            </a:r>
          </a:p>
        </p:txBody>
      </p:sp>
      <p:sp>
        <p:nvSpPr>
          <p:cNvPr id="283702" name="Text Box 54">
            <a:extLst>
              <a:ext uri="{FF2B5EF4-FFF2-40B4-BE49-F238E27FC236}">
                <a16:creationId xmlns:a16="http://schemas.microsoft.com/office/drawing/2014/main" id="{C075363C-CF7F-4E92-AF12-72602842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3675063"/>
            <a:ext cx="21209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solidFill>
                  <a:srgbClr val="00CC00"/>
                </a:solidFill>
                <a:ea typeface="SimSun" panose="02010600030101010101" pitchFamily="2" charset="-122"/>
              </a:rPr>
              <a:t>Support Vectors </a:t>
            </a:r>
            <a:r>
              <a:rPr lang="en-US" altLang="zh-CN" sz="2000">
                <a:ea typeface="SimSun" panose="02010600030101010101" pitchFamily="2" charset="-122"/>
              </a:rPr>
              <a:t>are those datapoints that the margin pushes up against</a:t>
            </a:r>
          </a:p>
        </p:txBody>
      </p:sp>
      <p:sp>
        <p:nvSpPr>
          <p:cNvPr id="283703" name="Freeform 55">
            <a:extLst>
              <a:ext uri="{FF2B5EF4-FFF2-40B4-BE49-F238E27FC236}">
                <a16:creationId xmlns:a16="http://schemas.microsoft.com/office/drawing/2014/main" id="{BAF13E12-FE35-4299-8B16-8128280E0CC9}"/>
              </a:ext>
            </a:extLst>
          </p:cNvPr>
          <p:cNvSpPr>
            <a:spLocks/>
          </p:cNvSpPr>
          <p:nvPr/>
        </p:nvSpPr>
        <p:spPr bwMode="auto">
          <a:xfrm>
            <a:off x="2112963" y="3725863"/>
            <a:ext cx="1708150" cy="155575"/>
          </a:xfrm>
          <a:custGeom>
            <a:avLst/>
            <a:gdLst>
              <a:gd name="T0" fmla="*/ 0 w 1076"/>
              <a:gd name="T1" fmla="*/ 98 h 98"/>
              <a:gd name="T2" fmla="*/ 104 w 1076"/>
              <a:gd name="T3" fmla="*/ 39 h 98"/>
              <a:gd name="T4" fmla="*/ 212 w 1076"/>
              <a:gd name="T5" fmla="*/ 0 h 98"/>
              <a:gd name="T6" fmla="*/ 326 w 1076"/>
              <a:gd name="T7" fmla="*/ 11 h 98"/>
              <a:gd name="T8" fmla="*/ 386 w 1076"/>
              <a:gd name="T9" fmla="*/ 39 h 98"/>
              <a:gd name="T10" fmla="*/ 386 w 1076"/>
              <a:gd name="T11" fmla="*/ 39 h 98"/>
              <a:gd name="T12" fmla="*/ 511 w 1076"/>
              <a:gd name="T13" fmla="*/ 82 h 98"/>
              <a:gd name="T14" fmla="*/ 989 w 1076"/>
              <a:gd name="T15" fmla="*/ 55 h 98"/>
              <a:gd name="T16" fmla="*/ 1076 w 1076"/>
              <a:gd name="T17" fmla="*/ 4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76" h="98">
                <a:moveTo>
                  <a:pt x="0" y="98"/>
                </a:moveTo>
                <a:cubicBezTo>
                  <a:pt x="38" y="87"/>
                  <a:pt x="66" y="53"/>
                  <a:pt x="104" y="39"/>
                </a:cubicBezTo>
                <a:cubicBezTo>
                  <a:pt x="132" y="9"/>
                  <a:pt x="172" y="6"/>
                  <a:pt x="212" y="0"/>
                </a:cubicBezTo>
                <a:cubicBezTo>
                  <a:pt x="262" y="3"/>
                  <a:pt x="286" y="0"/>
                  <a:pt x="326" y="11"/>
                </a:cubicBezTo>
                <a:lnTo>
                  <a:pt x="386" y="39"/>
                </a:lnTo>
                <a:cubicBezTo>
                  <a:pt x="386" y="39"/>
                  <a:pt x="386" y="39"/>
                  <a:pt x="386" y="39"/>
                </a:cubicBezTo>
                <a:cubicBezTo>
                  <a:pt x="428" y="52"/>
                  <a:pt x="469" y="69"/>
                  <a:pt x="511" y="82"/>
                </a:cubicBezTo>
                <a:cubicBezTo>
                  <a:pt x="670" y="74"/>
                  <a:pt x="829" y="60"/>
                  <a:pt x="989" y="55"/>
                </a:cubicBezTo>
                <a:cubicBezTo>
                  <a:pt x="1017" y="51"/>
                  <a:pt x="1048" y="44"/>
                  <a:pt x="1076" y="44"/>
                </a:cubicBezTo>
              </a:path>
            </a:pathLst>
          </a:custGeom>
          <a:noFill/>
          <a:ln w="38100" cap="flat" cmpd="sng">
            <a:solidFill>
              <a:srgbClr val="00CC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3704" name="Freeform 56">
            <a:extLst>
              <a:ext uri="{FF2B5EF4-FFF2-40B4-BE49-F238E27FC236}">
                <a16:creationId xmlns:a16="http://schemas.microsoft.com/office/drawing/2014/main" id="{2E0C64FE-7A27-4E19-8B65-85C62A7879E2}"/>
              </a:ext>
            </a:extLst>
          </p:cNvPr>
          <p:cNvSpPr>
            <a:spLocks/>
          </p:cNvSpPr>
          <p:nvPr/>
        </p:nvSpPr>
        <p:spPr bwMode="auto">
          <a:xfrm>
            <a:off x="2079625" y="3317875"/>
            <a:ext cx="2293938" cy="485775"/>
          </a:xfrm>
          <a:custGeom>
            <a:avLst/>
            <a:gdLst>
              <a:gd name="T0" fmla="*/ 0 w 1445"/>
              <a:gd name="T1" fmla="*/ 306 h 306"/>
              <a:gd name="T2" fmla="*/ 16 w 1445"/>
              <a:gd name="T3" fmla="*/ 301 h 306"/>
              <a:gd name="T4" fmla="*/ 27 w 1445"/>
              <a:gd name="T5" fmla="*/ 268 h 306"/>
              <a:gd name="T6" fmla="*/ 48 w 1445"/>
              <a:gd name="T7" fmla="*/ 236 h 306"/>
              <a:gd name="T8" fmla="*/ 125 w 1445"/>
              <a:gd name="T9" fmla="*/ 171 h 306"/>
              <a:gd name="T10" fmla="*/ 228 w 1445"/>
              <a:gd name="T11" fmla="*/ 105 h 306"/>
              <a:gd name="T12" fmla="*/ 298 w 1445"/>
              <a:gd name="T13" fmla="*/ 73 h 306"/>
              <a:gd name="T14" fmla="*/ 635 w 1445"/>
              <a:gd name="T15" fmla="*/ 2 h 306"/>
              <a:gd name="T16" fmla="*/ 1043 w 1445"/>
              <a:gd name="T17" fmla="*/ 18 h 306"/>
              <a:gd name="T18" fmla="*/ 1119 w 1445"/>
              <a:gd name="T19" fmla="*/ 40 h 306"/>
              <a:gd name="T20" fmla="*/ 1217 w 1445"/>
              <a:gd name="T21" fmla="*/ 84 h 306"/>
              <a:gd name="T22" fmla="*/ 1336 w 1445"/>
              <a:gd name="T23" fmla="*/ 132 h 306"/>
              <a:gd name="T24" fmla="*/ 1445 w 1445"/>
              <a:gd name="T25" fmla="*/ 165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45" h="306">
                <a:moveTo>
                  <a:pt x="0" y="306"/>
                </a:moveTo>
                <a:cubicBezTo>
                  <a:pt x="5" y="304"/>
                  <a:pt x="12" y="305"/>
                  <a:pt x="16" y="301"/>
                </a:cubicBezTo>
                <a:cubicBezTo>
                  <a:pt x="24" y="293"/>
                  <a:pt x="21" y="278"/>
                  <a:pt x="27" y="268"/>
                </a:cubicBezTo>
                <a:cubicBezTo>
                  <a:pt x="33" y="257"/>
                  <a:pt x="41" y="247"/>
                  <a:pt x="48" y="236"/>
                </a:cubicBezTo>
                <a:cubicBezTo>
                  <a:pt x="58" y="221"/>
                  <a:pt x="117" y="177"/>
                  <a:pt x="125" y="171"/>
                </a:cubicBezTo>
                <a:cubicBezTo>
                  <a:pt x="159" y="146"/>
                  <a:pt x="186" y="117"/>
                  <a:pt x="228" y="105"/>
                </a:cubicBezTo>
                <a:cubicBezTo>
                  <a:pt x="249" y="91"/>
                  <a:pt x="273" y="79"/>
                  <a:pt x="298" y="73"/>
                </a:cubicBezTo>
                <a:cubicBezTo>
                  <a:pt x="394" y="11"/>
                  <a:pt x="526" y="10"/>
                  <a:pt x="635" y="2"/>
                </a:cubicBezTo>
                <a:cubicBezTo>
                  <a:pt x="773" y="5"/>
                  <a:pt x="907" y="0"/>
                  <a:pt x="1043" y="18"/>
                </a:cubicBezTo>
                <a:cubicBezTo>
                  <a:pt x="1068" y="27"/>
                  <a:pt x="1093" y="34"/>
                  <a:pt x="1119" y="40"/>
                </a:cubicBezTo>
                <a:cubicBezTo>
                  <a:pt x="1150" y="63"/>
                  <a:pt x="1183" y="68"/>
                  <a:pt x="1217" y="84"/>
                </a:cubicBezTo>
                <a:cubicBezTo>
                  <a:pt x="1257" y="104"/>
                  <a:pt x="1293" y="119"/>
                  <a:pt x="1336" y="132"/>
                </a:cubicBezTo>
                <a:cubicBezTo>
                  <a:pt x="1370" y="142"/>
                  <a:pt x="1410" y="165"/>
                  <a:pt x="1445" y="165"/>
                </a:cubicBezTo>
              </a:path>
            </a:pathLst>
          </a:custGeom>
          <a:noFill/>
          <a:ln w="38100" cap="flat" cmpd="sng">
            <a:solidFill>
              <a:srgbClr val="00CC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3705" name="Freeform 57">
            <a:extLst>
              <a:ext uri="{FF2B5EF4-FFF2-40B4-BE49-F238E27FC236}">
                <a16:creationId xmlns:a16="http://schemas.microsoft.com/office/drawing/2014/main" id="{F1CDB777-60B7-4D9F-9DD2-7C3BC30051B9}"/>
              </a:ext>
            </a:extLst>
          </p:cNvPr>
          <p:cNvSpPr>
            <a:spLocks/>
          </p:cNvSpPr>
          <p:nvPr/>
        </p:nvSpPr>
        <p:spPr bwMode="auto">
          <a:xfrm>
            <a:off x="2105025" y="3994150"/>
            <a:ext cx="1733550" cy="449263"/>
          </a:xfrm>
          <a:custGeom>
            <a:avLst/>
            <a:gdLst>
              <a:gd name="T0" fmla="*/ 0 w 1092"/>
              <a:gd name="T1" fmla="*/ 0 h 283"/>
              <a:gd name="T2" fmla="*/ 130 w 1092"/>
              <a:gd name="T3" fmla="*/ 54 h 283"/>
              <a:gd name="T4" fmla="*/ 326 w 1092"/>
              <a:gd name="T5" fmla="*/ 147 h 283"/>
              <a:gd name="T6" fmla="*/ 397 w 1092"/>
              <a:gd name="T7" fmla="*/ 174 h 283"/>
              <a:gd name="T8" fmla="*/ 527 w 1092"/>
              <a:gd name="T9" fmla="*/ 217 h 283"/>
              <a:gd name="T10" fmla="*/ 1092 w 1092"/>
              <a:gd name="T11" fmla="*/ 272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283">
                <a:moveTo>
                  <a:pt x="0" y="0"/>
                </a:moveTo>
                <a:cubicBezTo>
                  <a:pt x="47" y="9"/>
                  <a:pt x="84" y="40"/>
                  <a:pt x="130" y="54"/>
                </a:cubicBezTo>
                <a:cubicBezTo>
                  <a:pt x="184" y="96"/>
                  <a:pt x="261" y="129"/>
                  <a:pt x="326" y="147"/>
                </a:cubicBezTo>
                <a:cubicBezTo>
                  <a:pt x="348" y="162"/>
                  <a:pt x="373" y="163"/>
                  <a:pt x="397" y="174"/>
                </a:cubicBezTo>
                <a:cubicBezTo>
                  <a:pt x="439" y="193"/>
                  <a:pt x="481" y="209"/>
                  <a:pt x="527" y="217"/>
                </a:cubicBezTo>
                <a:cubicBezTo>
                  <a:pt x="704" y="283"/>
                  <a:pt x="907" y="272"/>
                  <a:pt x="1092" y="272"/>
                </a:cubicBezTo>
              </a:path>
            </a:pathLst>
          </a:custGeom>
          <a:noFill/>
          <a:ln w="38100" cap="flat" cmpd="sng">
            <a:solidFill>
              <a:srgbClr val="00CC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3706" name="Oval 58">
            <a:extLst>
              <a:ext uri="{FF2B5EF4-FFF2-40B4-BE49-F238E27FC236}">
                <a16:creationId xmlns:a16="http://schemas.microsoft.com/office/drawing/2014/main" id="{ADFC2204-3B84-4E36-82EE-7204C7C7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3579813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3707" name="Oval 59">
            <a:extLst>
              <a:ext uri="{FF2B5EF4-FFF2-40B4-BE49-F238E27FC236}">
                <a16:creationId xmlns:a16="http://schemas.microsoft.com/office/drawing/2014/main" id="{01F5A5D3-602A-461A-BA91-3869858E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3689350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3708" name="Oval 60">
            <a:extLst>
              <a:ext uri="{FF2B5EF4-FFF2-40B4-BE49-F238E27FC236}">
                <a16:creationId xmlns:a16="http://schemas.microsoft.com/office/drawing/2014/main" id="{BA27930F-6E72-4BD4-8FB4-EB878CF31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13" y="4384675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3709" name="AutoShape 61">
            <a:extLst>
              <a:ext uri="{FF2B5EF4-FFF2-40B4-BE49-F238E27FC236}">
                <a16:creationId xmlns:a16="http://schemas.microsoft.com/office/drawing/2014/main" id="{16E7071E-2337-407B-8CAB-D2046A270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1825" y="6097588"/>
            <a:ext cx="1758950" cy="381000"/>
          </a:xfrm>
          <a:prstGeom prst="wedgeRectCallout">
            <a:avLst>
              <a:gd name="adj1" fmla="val 64713"/>
              <a:gd name="adj2" fmla="val -86250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Linear SVM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96B67BB-F326-4268-9EF5-5CCA99892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6DD9C9A6-7A0C-477B-B6A3-819060AF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A3207-F959-4E65-B13D-FD513B1148F8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156CC166-7F0B-4BF7-842B-E6D582FA97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EA6AA3B-3003-41CA-85CF-B15E753F43A7}" type="slidenum">
              <a:rPr lang="zh-CN" altLang="en-US"/>
              <a:pPr/>
              <a:t>13</a:t>
            </a:fld>
            <a:endParaRPr lang="en-US" altLang="zh-CN"/>
          </a:p>
        </p:txBody>
      </p:sp>
      <p:sp>
        <p:nvSpPr>
          <p:cNvPr id="284674" name="Line 2">
            <a:extLst>
              <a:ext uri="{FF2B5EF4-FFF2-40B4-BE49-F238E27FC236}">
                <a16:creationId xmlns:a16="http://schemas.microsoft.com/office/drawing/2014/main" id="{FFED8E33-234D-4C8A-B866-733426509041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239838" y="4076700"/>
            <a:ext cx="541020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4675" name="Line 3">
            <a:extLst>
              <a:ext uri="{FF2B5EF4-FFF2-40B4-BE49-F238E27FC236}">
                <a16:creationId xmlns:a16="http://schemas.microsoft.com/office/drawing/2014/main" id="{2228EC0B-9692-411D-AADC-CD7DDA7E7000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163638" y="4076700"/>
            <a:ext cx="5562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4676" name="Rectangle 4">
            <a:extLst>
              <a:ext uri="{FF2B5EF4-FFF2-40B4-BE49-F238E27FC236}">
                <a16:creationId xmlns:a16="http://schemas.microsoft.com/office/drawing/2014/main" id="{F2C3610A-AC39-41C4-BF08-AC91C3401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Why Maximum Margin?</a:t>
            </a:r>
          </a:p>
        </p:txBody>
      </p:sp>
      <p:sp>
        <p:nvSpPr>
          <p:cNvPr id="284677" name="Text Box 5">
            <a:extLst>
              <a:ext uri="{FF2B5EF4-FFF2-40B4-BE49-F238E27FC236}">
                <a16:creationId xmlns:a16="http://schemas.microsoft.com/office/drawing/2014/main" id="{C388153F-22EF-4411-AB4D-BC3EB7BD1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05000"/>
            <a:ext cx="1905000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84678" name="Oval 6">
            <a:extLst>
              <a:ext uri="{FF2B5EF4-FFF2-40B4-BE49-F238E27FC236}">
                <a16:creationId xmlns:a16="http://schemas.microsoft.com/office/drawing/2014/main" id="{32C721CA-F663-4BAB-B71F-B6D14483EEE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915194" y="2056606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79" name="Oval 7">
            <a:extLst>
              <a:ext uri="{FF2B5EF4-FFF2-40B4-BE49-F238E27FC236}">
                <a16:creationId xmlns:a16="http://schemas.microsoft.com/office/drawing/2014/main" id="{1CA5DCBE-C54D-4C3F-B3D0-A0CCF8184D7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915988" y="2513012"/>
            <a:ext cx="50800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0" name="Line 8">
            <a:extLst>
              <a:ext uri="{FF2B5EF4-FFF2-40B4-BE49-F238E27FC236}">
                <a16:creationId xmlns:a16="http://schemas.microsoft.com/office/drawing/2014/main" id="{C0440202-424B-4D32-8089-224E89D75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2098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681" name="Line 9">
            <a:extLst>
              <a:ext uri="{FF2B5EF4-FFF2-40B4-BE49-F238E27FC236}">
                <a16:creationId xmlns:a16="http://schemas.microsoft.com/office/drawing/2014/main" id="{7E315977-9FBC-48C1-9528-8765CA9A2B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5562600"/>
            <a:ext cx="36576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4682" name="Oval 10">
            <a:extLst>
              <a:ext uri="{FF2B5EF4-FFF2-40B4-BE49-F238E27FC236}">
                <a16:creationId xmlns:a16="http://schemas.microsoft.com/office/drawing/2014/main" id="{AED03993-D0AC-4B3D-BC65-902BC0B8F8E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17925" y="5032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3" name="Oval 11">
            <a:extLst>
              <a:ext uri="{FF2B5EF4-FFF2-40B4-BE49-F238E27FC236}">
                <a16:creationId xmlns:a16="http://schemas.microsoft.com/office/drawing/2014/main" id="{A28E45D8-001A-467A-B05C-A13168F3B9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486025" y="3903663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4" name="Oval 12">
            <a:extLst>
              <a:ext uri="{FF2B5EF4-FFF2-40B4-BE49-F238E27FC236}">
                <a16:creationId xmlns:a16="http://schemas.microsoft.com/office/drawing/2014/main" id="{737AB0CB-4298-46C4-A2E6-5AD92C64B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340225" y="28146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5" name="Oval 13">
            <a:extLst>
              <a:ext uri="{FF2B5EF4-FFF2-40B4-BE49-F238E27FC236}">
                <a16:creationId xmlns:a16="http://schemas.microsoft.com/office/drawing/2014/main" id="{99952340-EF0C-4596-9E31-0973BEA98A1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03725" y="3635375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6" name="Oval 14">
            <a:extLst>
              <a:ext uri="{FF2B5EF4-FFF2-40B4-BE49-F238E27FC236}">
                <a16:creationId xmlns:a16="http://schemas.microsoft.com/office/drawing/2014/main" id="{A390B76A-880C-4519-AA5A-97BD2A8D9B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09950" y="2663825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7" name="Oval 15">
            <a:extLst>
              <a:ext uri="{FF2B5EF4-FFF2-40B4-BE49-F238E27FC236}">
                <a16:creationId xmlns:a16="http://schemas.microsoft.com/office/drawing/2014/main" id="{E4E02BCD-2E87-4F89-B2E8-51E50B5A257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86200" y="3733800"/>
            <a:ext cx="5397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8" name="Oval 16">
            <a:extLst>
              <a:ext uri="{FF2B5EF4-FFF2-40B4-BE49-F238E27FC236}">
                <a16:creationId xmlns:a16="http://schemas.microsoft.com/office/drawing/2014/main" id="{9A86F56B-F4ED-478F-B104-AEA055FC8A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8000" y="3124200"/>
            <a:ext cx="60325" cy="587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89" name="Oval 17">
            <a:extLst>
              <a:ext uri="{FF2B5EF4-FFF2-40B4-BE49-F238E27FC236}">
                <a16:creationId xmlns:a16="http://schemas.microsoft.com/office/drawing/2014/main" id="{3D4BCC76-17E0-4608-B926-994CEC491D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05400" y="4114800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0" name="Oval 18">
            <a:extLst>
              <a:ext uri="{FF2B5EF4-FFF2-40B4-BE49-F238E27FC236}">
                <a16:creationId xmlns:a16="http://schemas.microsoft.com/office/drawing/2014/main" id="{7BD7358D-A353-403C-A44A-885D76C42B5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87788" y="4443413"/>
            <a:ext cx="5397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1" name="Oval 19">
            <a:extLst>
              <a:ext uri="{FF2B5EF4-FFF2-40B4-BE49-F238E27FC236}">
                <a16:creationId xmlns:a16="http://schemas.microsoft.com/office/drawing/2014/main" id="{9923100D-F8FC-45EA-B628-0F2F27C7474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6003925" y="32289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2" name="Oval 20">
            <a:extLst>
              <a:ext uri="{FF2B5EF4-FFF2-40B4-BE49-F238E27FC236}">
                <a16:creationId xmlns:a16="http://schemas.microsoft.com/office/drawing/2014/main" id="{F6226AA2-365D-4382-BBC2-2AF07825A1A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295900" y="4545013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3" name="Oval 21">
            <a:extLst>
              <a:ext uri="{FF2B5EF4-FFF2-40B4-BE49-F238E27FC236}">
                <a16:creationId xmlns:a16="http://schemas.microsoft.com/office/drawing/2014/main" id="{BA6D28B7-4208-4D29-AB5B-FE9FF9E6D05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24200" y="2667000"/>
            <a:ext cx="6032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4" name="Oval 22">
            <a:extLst>
              <a:ext uri="{FF2B5EF4-FFF2-40B4-BE49-F238E27FC236}">
                <a16:creationId xmlns:a16="http://schemas.microsoft.com/office/drawing/2014/main" id="{59C4FFC8-2642-4591-9022-811A8CFFC97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711700" y="3584575"/>
            <a:ext cx="603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5" name="Oval 23">
            <a:extLst>
              <a:ext uri="{FF2B5EF4-FFF2-40B4-BE49-F238E27FC236}">
                <a16:creationId xmlns:a16="http://schemas.microsoft.com/office/drawing/2014/main" id="{3F1633B9-6051-47DE-A8C2-D8624BBAE9F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867400" y="4495800"/>
            <a:ext cx="60325" cy="476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6" name="Oval 24">
            <a:extLst>
              <a:ext uri="{FF2B5EF4-FFF2-40B4-BE49-F238E27FC236}">
                <a16:creationId xmlns:a16="http://schemas.microsoft.com/office/drawing/2014/main" id="{D9C974E2-7BF8-4160-A7C4-93A0D3DAD3D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4675" y="3640138"/>
            <a:ext cx="60325" cy="476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7" name="Oval 25">
            <a:extLst>
              <a:ext uri="{FF2B5EF4-FFF2-40B4-BE49-F238E27FC236}">
                <a16:creationId xmlns:a16="http://schemas.microsoft.com/office/drawing/2014/main" id="{FB6B4C0E-8B1F-4193-9B3E-7AF5F9D580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67150" y="3057525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8" name="Oval 26">
            <a:extLst>
              <a:ext uri="{FF2B5EF4-FFF2-40B4-BE49-F238E27FC236}">
                <a16:creationId xmlns:a16="http://schemas.microsoft.com/office/drawing/2014/main" id="{009D81A3-201B-4557-9CB4-AC55C770823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6231" y="5242719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699" name="Oval 27">
            <a:extLst>
              <a:ext uri="{FF2B5EF4-FFF2-40B4-BE49-F238E27FC236}">
                <a16:creationId xmlns:a16="http://schemas.microsoft.com/office/drawing/2014/main" id="{649B6A31-1BA9-48F5-B825-8A660DD470D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4675" y="40989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0" name="Oval 28">
            <a:extLst>
              <a:ext uri="{FF2B5EF4-FFF2-40B4-BE49-F238E27FC236}">
                <a16:creationId xmlns:a16="http://schemas.microsoft.com/office/drawing/2014/main" id="{54E0D5A7-64DF-4907-8AF6-DE370384E13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43400" y="2393950"/>
            <a:ext cx="47625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1" name="Oval 29">
            <a:extLst>
              <a:ext uri="{FF2B5EF4-FFF2-40B4-BE49-F238E27FC236}">
                <a16:creationId xmlns:a16="http://schemas.microsoft.com/office/drawing/2014/main" id="{BE4D0903-A145-4287-9E31-511EDD78EEF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304632" y="4144169"/>
            <a:ext cx="58737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2" name="Oval 30">
            <a:extLst>
              <a:ext uri="{FF2B5EF4-FFF2-40B4-BE49-F238E27FC236}">
                <a16:creationId xmlns:a16="http://schemas.microsoft.com/office/drawing/2014/main" id="{D31DA5B8-B65B-456C-B553-DEF9241B09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370388" y="407987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3" name="Oval 31">
            <a:extLst>
              <a:ext uri="{FF2B5EF4-FFF2-40B4-BE49-F238E27FC236}">
                <a16:creationId xmlns:a16="http://schemas.microsoft.com/office/drawing/2014/main" id="{E71C6A70-10F9-4456-8185-CD925BFF02C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619750" y="3365500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4" name="Oval 32">
            <a:extLst>
              <a:ext uri="{FF2B5EF4-FFF2-40B4-BE49-F238E27FC236}">
                <a16:creationId xmlns:a16="http://schemas.microsoft.com/office/drawing/2014/main" id="{1F5A4DE7-41F7-4362-91D4-5C11FD1EE3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87688" y="2346325"/>
            <a:ext cx="47625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5" name="Oval 33">
            <a:extLst>
              <a:ext uri="{FF2B5EF4-FFF2-40B4-BE49-F238E27FC236}">
                <a16:creationId xmlns:a16="http://schemas.microsoft.com/office/drawing/2014/main" id="{8F42F3AB-3E5F-47E7-9575-731BEFF739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60975" y="32734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6" name="Oval 34">
            <a:extLst>
              <a:ext uri="{FF2B5EF4-FFF2-40B4-BE49-F238E27FC236}">
                <a16:creationId xmlns:a16="http://schemas.microsoft.com/office/drawing/2014/main" id="{4C96B7A6-05F1-4818-AEAD-703D7FFB0CA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17307" y="4718844"/>
            <a:ext cx="58737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7" name="Oval 35">
            <a:extLst>
              <a:ext uri="{FF2B5EF4-FFF2-40B4-BE49-F238E27FC236}">
                <a16:creationId xmlns:a16="http://schemas.microsoft.com/office/drawing/2014/main" id="{FF47FDDA-0FFD-4E17-A9B3-C48F3A36DB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98057" y="3534569"/>
            <a:ext cx="58737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8" name="Oval 36">
            <a:extLst>
              <a:ext uri="{FF2B5EF4-FFF2-40B4-BE49-F238E27FC236}">
                <a16:creationId xmlns:a16="http://schemas.microsoft.com/office/drawing/2014/main" id="{1532B3D2-CA44-4436-9B18-EF44FFAE524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651375" y="5254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09" name="Oval 37">
            <a:extLst>
              <a:ext uri="{FF2B5EF4-FFF2-40B4-BE49-F238E27FC236}">
                <a16:creationId xmlns:a16="http://schemas.microsoft.com/office/drawing/2014/main" id="{F541896D-C407-4303-AD14-4E7A36159F9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46575" y="4873625"/>
            <a:ext cx="47625" cy="53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10" name="Oval 38">
            <a:extLst>
              <a:ext uri="{FF2B5EF4-FFF2-40B4-BE49-F238E27FC236}">
                <a16:creationId xmlns:a16="http://schemas.microsoft.com/office/drawing/2014/main" id="{4B2FC7B2-947D-4C7D-A36F-4A5572DE7D4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17019" y="3736181"/>
            <a:ext cx="58738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11" name="Oval 39">
            <a:extLst>
              <a:ext uri="{FF2B5EF4-FFF2-40B4-BE49-F238E27FC236}">
                <a16:creationId xmlns:a16="http://schemas.microsoft.com/office/drawing/2014/main" id="{5A93C2DC-975F-4501-9CBD-25ADA89A2F2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713163" y="2776537"/>
            <a:ext cx="50800" cy="539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12" name="Oval 40">
            <a:extLst>
              <a:ext uri="{FF2B5EF4-FFF2-40B4-BE49-F238E27FC236}">
                <a16:creationId xmlns:a16="http://schemas.microsoft.com/office/drawing/2014/main" id="{75908E74-3759-4740-8541-93C25AE0B2B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56101" y="4364037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13" name="Oval 41">
            <a:extLst>
              <a:ext uri="{FF2B5EF4-FFF2-40B4-BE49-F238E27FC236}">
                <a16:creationId xmlns:a16="http://schemas.microsoft.com/office/drawing/2014/main" id="{C142EC20-9F6D-445F-A796-BCC453804CF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504282" y="3082131"/>
            <a:ext cx="58738" cy="603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14" name="Oval 42">
            <a:extLst>
              <a:ext uri="{FF2B5EF4-FFF2-40B4-BE49-F238E27FC236}">
                <a16:creationId xmlns:a16="http://schemas.microsoft.com/office/drawing/2014/main" id="{D856DC0A-F3EE-4D32-86D6-02EDE2F4B6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937794" y="5049044"/>
            <a:ext cx="55563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15" name="Oval 43">
            <a:extLst>
              <a:ext uri="{FF2B5EF4-FFF2-40B4-BE49-F238E27FC236}">
                <a16:creationId xmlns:a16="http://schemas.microsoft.com/office/drawing/2014/main" id="{B9FF584D-53B5-4FC2-9FC2-75320495337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303838" y="4756150"/>
            <a:ext cx="50800" cy="60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4716" name="Text Box 44">
            <a:extLst>
              <a:ext uri="{FF2B5EF4-FFF2-40B4-BE49-F238E27FC236}">
                <a16:creationId xmlns:a16="http://schemas.microsoft.com/office/drawing/2014/main" id="{B5B0F435-A84E-48C7-8D67-1BBC829A6F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676400"/>
            <a:ext cx="3200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 i="1" dirty="0">
                <a:ea typeface="SimSun" panose="02010600030101010101" pitchFamily="2" charset="-122"/>
              </a:rPr>
              <a:t>f</a:t>
            </a:r>
            <a:r>
              <a:rPr lang="en-US" altLang="zh-CN" sz="2000" i="1" dirty="0">
                <a:ea typeface="SimSun" panose="02010600030101010101" pitchFamily="2" charset="-122"/>
              </a:rPr>
              <a:t>(</a:t>
            </a:r>
            <a:r>
              <a:rPr lang="en-US" altLang="zh-CN" sz="2000" b="1" i="1" dirty="0" err="1">
                <a:ea typeface="SimSun" panose="02010600030101010101" pitchFamily="2" charset="-122"/>
              </a:rPr>
              <a:t>x</a:t>
            </a:r>
            <a:r>
              <a:rPr lang="en-US" altLang="zh-CN" sz="2000" i="1" dirty="0" err="1">
                <a:ea typeface="SimSun" panose="02010600030101010101" pitchFamily="2" charset="-122"/>
              </a:rPr>
              <a:t>,</a:t>
            </a:r>
            <a:r>
              <a:rPr lang="en-US" altLang="zh-CN" sz="2000" b="1" i="1" dirty="0" err="1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i="1" dirty="0" err="1">
                <a:solidFill>
                  <a:srgbClr val="00CC00"/>
                </a:solidFill>
                <a:ea typeface="SimSun" panose="02010600030101010101" pitchFamily="2" charset="-122"/>
              </a:rPr>
              <a:t>,b</a:t>
            </a:r>
            <a:r>
              <a:rPr lang="en-US" altLang="zh-CN" sz="2000" i="1" dirty="0">
                <a:ea typeface="SimSun" panose="02010600030101010101" pitchFamily="2" charset="-122"/>
              </a:rPr>
              <a:t>) = sign(</a:t>
            </a:r>
            <a:r>
              <a:rPr lang="en-US" altLang="zh-CN" sz="2000" b="1" i="1" dirty="0">
                <a:solidFill>
                  <a:srgbClr val="00CC00"/>
                </a:solidFill>
                <a:ea typeface="SimSun" panose="02010600030101010101" pitchFamily="2" charset="-122"/>
              </a:rPr>
              <a:t>w</a:t>
            </a:r>
            <a:r>
              <a:rPr lang="en-US" altLang="zh-CN" sz="2000" b="1" i="1" dirty="0">
                <a:ea typeface="SimSun" panose="02010600030101010101" pitchFamily="2" charset="-122"/>
              </a:rPr>
              <a:t>. x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 </a:t>
            </a:r>
            <a:r>
              <a:rPr lang="en-US" altLang="zh-CN" sz="2000" i="1" dirty="0">
                <a:ea typeface="SimSun" panose="02010600030101010101" pitchFamily="2" charset="-122"/>
              </a:rPr>
              <a:t>+ </a:t>
            </a:r>
            <a:r>
              <a:rPr lang="en-US" altLang="zh-CN" sz="2000" i="1" dirty="0">
                <a:solidFill>
                  <a:srgbClr val="00CC00"/>
                </a:solidFill>
                <a:ea typeface="SimSun" panose="02010600030101010101" pitchFamily="2" charset="-122"/>
              </a:rPr>
              <a:t>b</a:t>
            </a:r>
            <a:r>
              <a:rPr lang="en-US" altLang="zh-CN" sz="2000" i="1" dirty="0">
                <a:ea typeface="SimSun" panose="02010600030101010101" pitchFamily="2" charset="-122"/>
              </a:rPr>
              <a:t>)</a:t>
            </a:r>
          </a:p>
        </p:txBody>
      </p:sp>
      <p:sp>
        <p:nvSpPr>
          <p:cNvPr id="284717" name="Text Box 45">
            <a:extLst>
              <a:ext uri="{FF2B5EF4-FFF2-40B4-BE49-F238E27FC236}">
                <a16:creationId xmlns:a16="http://schemas.microsoft.com/office/drawing/2014/main" id="{73EAB88B-F1A8-4129-B9BB-14E81329E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24384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84718" name="Text Box 46">
            <a:extLst>
              <a:ext uri="{FF2B5EF4-FFF2-40B4-BE49-F238E27FC236}">
                <a16:creationId xmlns:a16="http://schemas.microsoft.com/office/drawing/2014/main" id="{90A89C03-A4BB-4AB0-9FDC-CA937CA93A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286000"/>
            <a:ext cx="27432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dirty="0">
                <a:ea typeface="SimSun" panose="02010600030101010101" pitchFamily="2" charset="-122"/>
              </a:rPr>
              <a:t>The </a:t>
            </a:r>
            <a:r>
              <a:rPr lang="en-US" altLang="zh-CN" dirty="0">
                <a:solidFill>
                  <a:schemeClr val="hlink"/>
                </a:solidFill>
                <a:ea typeface="SimSun" panose="02010600030101010101" pitchFamily="2" charset="-122"/>
              </a:rPr>
              <a:t>maximum margin linear classifier</a:t>
            </a:r>
            <a:r>
              <a:rPr lang="en-US" altLang="zh-CN" dirty="0">
                <a:ea typeface="SimSun" panose="02010600030101010101" pitchFamily="2" charset="-122"/>
              </a:rPr>
              <a:t> is the linear classifier with the, maximum margin for better classification.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dirty="0">
                <a:ea typeface="SimSun" panose="02010600030101010101" pitchFamily="2" charset="-122"/>
              </a:rPr>
              <a:t>This is the simplest kind of SVM (Called an LSVM)</a:t>
            </a:r>
          </a:p>
        </p:txBody>
      </p:sp>
      <p:sp>
        <p:nvSpPr>
          <p:cNvPr id="284719" name="Text Box 47">
            <a:extLst>
              <a:ext uri="{FF2B5EF4-FFF2-40B4-BE49-F238E27FC236}">
                <a16:creationId xmlns:a16="http://schemas.microsoft.com/office/drawing/2014/main" id="{C06C0EFD-CEF3-4D60-9645-A7E71E089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038" y="3675063"/>
            <a:ext cx="2120900" cy="1920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solidFill>
                  <a:srgbClr val="00CC00"/>
                </a:solidFill>
                <a:ea typeface="SimSun" panose="02010600030101010101" pitchFamily="2" charset="-122"/>
              </a:rPr>
              <a:t>Support Vectors </a:t>
            </a:r>
            <a:r>
              <a:rPr lang="en-US" altLang="zh-CN" sz="2000">
                <a:ea typeface="SimSun" panose="02010600030101010101" pitchFamily="2" charset="-122"/>
              </a:rPr>
              <a:t>are those datapoints that the margin pushes up against</a:t>
            </a:r>
          </a:p>
        </p:txBody>
      </p:sp>
      <p:sp>
        <p:nvSpPr>
          <p:cNvPr id="284720" name="Freeform 48">
            <a:extLst>
              <a:ext uri="{FF2B5EF4-FFF2-40B4-BE49-F238E27FC236}">
                <a16:creationId xmlns:a16="http://schemas.microsoft.com/office/drawing/2014/main" id="{A6A07870-0875-4460-8544-F01D4F1CC413}"/>
              </a:ext>
            </a:extLst>
          </p:cNvPr>
          <p:cNvSpPr>
            <a:spLocks/>
          </p:cNvSpPr>
          <p:nvPr/>
        </p:nvSpPr>
        <p:spPr bwMode="auto">
          <a:xfrm>
            <a:off x="2112963" y="3725863"/>
            <a:ext cx="1708150" cy="155575"/>
          </a:xfrm>
          <a:custGeom>
            <a:avLst/>
            <a:gdLst>
              <a:gd name="T0" fmla="*/ 0 w 1076"/>
              <a:gd name="T1" fmla="*/ 98 h 98"/>
              <a:gd name="T2" fmla="*/ 104 w 1076"/>
              <a:gd name="T3" fmla="*/ 39 h 98"/>
              <a:gd name="T4" fmla="*/ 212 w 1076"/>
              <a:gd name="T5" fmla="*/ 0 h 98"/>
              <a:gd name="T6" fmla="*/ 326 w 1076"/>
              <a:gd name="T7" fmla="*/ 11 h 98"/>
              <a:gd name="T8" fmla="*/ 386 w 1076"/>
              <a:gd name="T9" fmla="*/ 39 h 98"/>
              <a:gd name="T10" fmla="*/ 386 w 1076"/>
              <a:gd name="T11" fmla="*/ 39 h 98"/>
              <a:gd name="T12" fmla="*/ 511 w 1076"/>
              <a:gd name="T13" fmla="*/ 82 h 98"/>
              <a:gd name="T14" fmla="*/ 989 w 1076"/>
              <a:gd name="T15" fmla="*/ 55 h 98"/>
              <a:gd name="T16" fmla="*/ 1076 w 1076"/>
              <a:gd name="T17" fmla="*/ 44 h 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76" h="98">
                <a:moveTo>
                  <a:pt x="0" y="98"/>
                </a:moveTo>
                <a:cubicBezTo>
                  <a:pt x="38" y="87"/>
                  <a:pt x="66" y="53"/>
                  <a:pt x="104" y="39"/>
                </a:cubicBezTo>
                <a:cubicBezTo>
                  <a:pt x="132" y="9"/>
                  <a:pt x="172" y="6"/>
                  <a:pt x="212" y="0"/>
                </a:cubicBezTo>
                <a:cubicBezTo>
                  <a:pt x="262" y="3"/>
                  <a:pt x="286" y="0"/>
                  <a:pt x="326" y="11"/>
                </a:cubicBezTo>
                <a:lnTo>
                  <a:pt x="386" y="39"/>
                </a:lnTo>
                <a:cubicBezTo>
                  <a:pt x="386" y="39"/>
                  <a:pt x="386" y="39"/>
                  <a:pt x="386" y="39"/>
                </a:cubicBezTo>
                <a:cubicBezTo>
                  <a:pt x="428" y="52"/>
                  <a:pt x="469" y="69"/>
                  <a:pt x="511" y="82"/>
                </a:cubicBezTo>
                <a:cubicBezTo>
                  <a:pt x="670" y="74"/>
                  <a:pt x="829" y="60"/>
                  <a:pt x="989" y="55"/>
                </a:cubicBezTo>
                <a:cubicBezTo>
                  <a:pt x="1017" y="51"/>
                  <a:pt x="1048" y="44"/>
                  <a:pt x="1076" y="44"/>
                </a:cubicBezTo>
              </a:path>
            </a:pathLst>
          </a:custGeom>
          <a:noFill/>
          <a:ln w="38100" cap="flat" cmpd="sng">
            <a:solidFill>
              <a:srgbClr val="00CC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4721" name="Freeform 49">
            <a:extLst>
              <a:ext uri="{FF2B5EF4-FFF2-40B4-BE49-F238E27FC236}">
                <a16:creationId xmlns:a16="http://schemas.microsoft.com/office/drawing/2014/main" id="{D4606DA0-F0DA-4A19-9159-971AA5EE190E}"/>
              </a:ext>
            </a:extLst>
          </p:cNvPr>
          <p:cNvSpPr>
            <a:spLocks/>
          </p:cNvSpPr>
          <p:nvPr/>
        </p:nvSpPr>
        <p:spPr bwMode="auto">
          <a:xfrm>
            <a:off x="2079625" y="3317875"/>
            <a:ext cx="2293938" cy="485775"/>
          </a:xfrm>
          <a:custGeom>
            <a:avLst/>
            <a:gdLst>
              <a:gd name="T0" fmla="*/ 0 w 1445"/>
              <a:gd name="T1" fmla="*/ 306 h 306"/>
              <a:gd name="T2" fmla="*/ 16 w 1445"/>
              <a:gd name="T3" fmla="*/ 301 h 306"/>
              <a:gd name="T4" fmla="*/ 27 w 1445"/>
              <a:gd name="T5" fmla="*/ 268 h 306"/>
              <a:gd name="T6" fmla="*/ 48 w 1445"/>
              <a:gd name="T7" fmla="*/ 236 h 306"/>
              <a:gd name="T8" fmla="*/ 125 w 1445"/>
              <a:gd name="T9" fmla="*/ 171 h 306"/>
              <a:gd name="T10" fmla="*/ 228 w 1445"/>
              <a:gd name="T11" fmla="*/ 105 h 306"/>
              <a:gd name="T12" fmla="*/ 298 w 1445"/>
              <a:gd name="T13" fmla="*/ 73 h 306"/>
              <a:gd name="T14" fmla="*/ 635 w 1445"/>
              <a:gd name="T15" fmla="*/ 2 h 306"/>
              <a:gd name="T16" fmla="*/ 1043 w 1445"/>
              <a:gd name="T17" fmla="*/ 18 h 306"/>
              <a:gd name="T18" fmla="*/ 1119 w 1445"/>
              <a:gd name="T19" fmla="*/ 40 h 306"/>
              <a:gd name="T20" fmla="*/ 1217 w 1445"/>
              <a:gd name="T21" fmla="*/ 84 h 306"/>
              <a:gd name="T22" fmla="*/ 1336 w 1445"/>
              <a:gd name="T23" fmla="*/ 132 h 306"/>
              <a:gd name="T24" fmla="*/ 1445 w 1445"/>
              <a:gd name="T25" fmla="*/ 165 h 3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45" h="306">
                <a:moveTo>
                  <a:pt x="0" y="306"/>
                </a:moveTo>
                <a:cubicBezTo>
                  <a:pt x="5" y="304"/>
                  <a:pt x="12" y="305"/>
                  <a:pt x="16" y="301"/>
                </a:cubicBezTo>
                <a:cubicBezTo>
                  <a:pt x="24" y="293"/>
                  <a:pt x="21" y="278"/>
                  <a:pt x="27" y="268"/>
                </a:cubicBezTo>
                <a:cubicBezTo>
                  <a:pt x="33" y="257"/>
                  <a:pt x="41" y="247"/>
                  <a:pt x="48" y="236"/>
                </a:cubicBezTo>
                <a:cubicBezTo>
                  <a:pt x="58" y="221"/>
                  <a:pt x="117" y="177"/>
                  <a:pt x="125" y="171"/>
                </a:cubicBezTo>
                <a:cubicBezTo>
                  <a:pt x="159" y="146"/>
                  <a:pt x="186" y="117"/>
                  <a:pt x="228" y="105"/>
                </a:cubicBezTo>
                <a:cubicBezTo>
                  <a:pt x="249" y="91"/>
                  <a:pt x="273" y="79"/>
                  <a:pt x="298" y="73"/>
                </a:cubicBezTo>
                <a:cubicBezTo>
                  <a:pt x="394" y="11"/>
                  <a:pt x="526" y="10"/>
                  <a:pt x="635" y="2"/>
                </a:cubicBezTo>
                <a:cubicBezTo>
                  <a:pt x="773" y="5"/>
                  <a:pt x="907" y="0"/>
                  <a:pt x="1043" y="18"/>
                </a:cubicBezTo>
                <a:cubicBezTo>
                  <a:pt x="1068" y="27"/>
                  <a:pt x="1093" y="34"/>
                  <a:pt x="1119" y="40"/>
                </a:cubicBezTo>
                <a:cubicBezTo>
                  <a:pt x="1150" y="63"/>
                  <a:pt x="1183" y="68"/>
                  <a:pt x="1217" y="84"/>
                </a:cubicBezTo>
                <a:cubicBezTo>
                  <a:pt x="1257" y="104"/>
                  <a:pt x="1293" y="119"/>
                  <a:pt x="1336" y="132"/>
                </a:cubicBezTo>
                <a:cubicBezTo>
                  <a:pt x="1370" y="142"/>
                  <a:pt x="1410" y="165"/>
                  <a:pt x="1445" y="165"/>
                </a:cubicBezTo>
              </a:path>
            </a:pathLst>
          </a:custGeom>
          <a:noFill/>
          <a:ln w="38100" cap="flat" cmpd="sng">
            <a:solidFill>
              <a:srgbClr val="00CC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4722" name="Freeform 50">
            <a:extLst>
              <a:ext uri="{FF2B5EF4-FFF2-40B4-BE49-F238E27FC236}">
                <a16:creationId xmlns:a16="http://schemas.microsoft.com/office/drawing/2014/main" id="{BF441D06-7C71-4059-966D-2A5D83D9FA19}"/>
              </a:ext>
            </a:extLst>
          </p:cNvPr>
          <p:cNvSpPr>
            <a:spLocks/>
          </p:cNvSpPr>
          <p:nvPr/>
        </p:nvSpPr>
        <p:spPr bwMode="auto">
          <a:xfrm>
            <a:off x="2105025" y="3994150"/>
            <a:ext cx="1733550" cy="449263"/>
          </a:xfrm>
          <a:custGeom>
            <a:avLst/>
            <a:gdLst>
              <a:gd name="T0" fmla="*/ 0 w 1092"/>
              <a:gd name="T1" fmla="*/ 0 h 283"/>
              <a:gd name="T2" fmla="*/ 130 w 1092"/>
              <a:gd name="T3" fmla="*/ 54 h 283"/>
              <a:gd name="T4" fmla="*/ 326 w 1092"/>
              <a:gd name="T5" fmla="*/ 147 h 283"/>
              <a:gd name="T6" fmla="*/ 397 w 1092"/>
              <a:gd name="T7" fmla="*/ 174 h 283"/>
              <a:gd name="T8" fmla="*/ 527 w 1092"/>
              <a:gd name="T9" fmla="*/ 217 h 283"/>
              <a:gd name="T10" fmla="*/ 1092 w 1092"/>
              <a:gd name="T11" fmla="*/ 272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283">
                <a:moveTo>
                  <a:pt x="0" y="0"/>
                </a:moveTo>
                <a:cubicBezTo>
                  <a:pt x="47" y="9"/>
                  <a:pt x="84" y="40"/>
                  <a:pt x="130" y="54"/>
                </a:cubicBezTo>
                <a:cubicBezTo>
                  <a:pt x="184" y="96"/>
                  <a:pt x="261" y="129"/>
                  <a:pt x="326" y="147"/>
                </a:cubicBezTo>
                <a:cubicBezTo>
                  <a:pt x="348" y="162"/>
                  <a:pt x="373" y="163"/>
                  <a:pt x="397" y="174"/>
                </a:cubicBezTo>
                <a:cubicBezTo>
                  <a:pt x="439" y="193"/>
                  <a:pt x="481" y="209"/>
                  <a:pt x="527" y="217"/>
                </a:cubicBezTo>
                <a:cubicBezTo>
                  <a:pt x="704" y="283"/>
                  <a:pt x="907" y="272"/>
                  <a:pt x="1092" y="272"/>
                </a:cubicBezTo>
              </a:path>
            </a:pathLst>
          </a:custGeom>
          <a:noFill/>
          <a:ln w="38100" cap="flat" cmpd="sng">
            <a:solidFill>
              <a:srgbClr val="00CC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4723" name="Oval 51">
            <a:extLst>
              <a:ext uri="{FF2B5EF4-FFF2-40B4-BE49-F238E27FC236}">
                <a16:creationId xmlns:a16="http://schemas.microsoft.com/office/drawing/2014/main" id="{A9AAE191-26FD-40BC-B86C-2D0C4AEAF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3579813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4" name="Oval 52">
            <a:extLst>
              <a:ext uri="{FF2B5EF4-FFF2-40B4-BE49-F238E27FC236}">
                <a16:creationId xmlns:a16="http://schemas.microsoft.com/office/drawing/2014/main" id="{F13AC86C-EDB6-4FA9-80E3-525CD2AA29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4925" y="3689350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5" name="Oval 53">
            <a:extLst>
              <a:ext uri="{FF2B5EF4-FFF2-40B4-BE49-F238E27FC236}">
                <a16:creationId xmlns:a16="http://schemas.microsoft.com/office/drawing/2014/main" id="{CBDE100E-F21C-40E7-914C-ABF952BCD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3813" y="4384675"/>
            <a:ext cx="152400" cy="152400"/>
          </a:xfrm>
          <a:prstGeom prst="ellipse">
            <a:avLst/>
          </a:prstGeom>
          <a:noFill/>
          <a:ln w="38100">
            <a:solidFill>
              <a:srgbClr val="00CC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4726" name="Text Box 54">
            <a:extLst>
              <a:ext uri="{FF2B5EF4-FFF2-40B4-BE49-F238E27FC236}">
                <a16:creationId xmlns:a16="http://schemas.microsoft.com/office/drawing/2014/main" id="{1605E2DC-A91F-4CC2-B517-E3136BC91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2125" y="1406525"/>
            <a:ext cx="3365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endParaRPr lang="zh-CN" altLang="en-US" sz="2000">
              <a:ea typeface="SimSun" panose="02010600030101010101" pitchFamily="2" charset="-122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4FEB883-343F-46D5-9DA2-6349E2C9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Date Placeholder 54">
            <a:extLst>
              <a:ext uri="{FF2B5EF4-FFF2-40B4-BE49-F238E27FC236}">
                <a16:creationId xmlns:a16="http://schemas.microsoft.com/office/drawing/2014/main" id="{A3FE0FE7-BE4A-4E6A-A655-9882684F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ADD47A-6552-4EAE-9028-41D5AF6099A3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6" name="Slide Number Placeholder 55">
            <a:extLst>
              <a:ext uri="{FF2B5EF4-FFF2-40B4-BE49-F238E27FC236}">
                <a16:creationId xmlns:a16="http://schemas.microsoft.com/office/drawing/2014/main" id="{3F2AC39F-3F00-4618-90CD-A6068917DA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84BFDF7-8D34-4717-95D9-65893F5B801D}" type="slidenum">
              <a:rPr lang="zh-CN" altLang="en-US"/>
              <a:pPr/>
              <a:t>14</a:t>
            </a:fld>
            <a:endParaRPr lang="en-US" altLang="zh-CN"/>
          </a:p>
        </p:txBody>
      </p:sp>
      <p:sp>
        <p:nvSpPr>
          <p:cNvPr id="352260" name="Rectangle 4">
            <a:extLst>
              <a:ext uri="{FF2B5EF4-FFF2-40B4-BE49-F238E27FC236}">
                <a16:creationId xmlns:a16="http://schemas.microsoft.com/office/drawing/2014/main" id="{BC4FF6E8-8A1D-49AD-A708-01B3510E5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" y="921139"/>
            <a:ext cx="80295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1pPr>
            <a:lvl2pPr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2pPr>
            <a:lvl3pPr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3pPr>
            <a:lvl4pPr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4pPr>
            <a:lvl5pPr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ea typeface="SimSun" panose="02010600030101010101" pitchFamily="2" charset="-122"/>
              </a:rPr>
              <a:t>How to calculate the distance from a point to a line?</a:t>
            </a:r>
          </a:p>
        </p:txBody>
      </p:sp>
      <p:sp>
        <p:nvSpPr>
          <p:cNvPr id="352261" name="Rectangle 5">
            <a:extLst>
              <a:ext uri="{FF2B5EF4-FFF2-40B4-BE49-F238E27FC236}">
                <a16:creationId xmlns:a16="http://schemas.microsoft.com/office/drawing/2014/main" id="{131D0D56-FDF4-4DCB-85FC-AE917A90C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013" y="5145438"/>
            <a:ext cx="8040688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174625" indent="-1746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454025" indent="-16510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742950" indent="-174625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031875" indent="-174625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1258888" indent="-112713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1716088" indent="-11271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173288" indent="-11271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2630488" indent="-11271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087688" indent="-112713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r>
              <a:rPr lang="en-US" altLang="zh-CN" dirty="0">
                <a:ea typeface="SimSun" panose="02010600030101010101" pitchFamily="2" charset="-122"/>
              </a:rPr>
              <a:t>In our case, w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*x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+w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*x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+b=0, 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thus, </a:t>
            </a:r>
            <a:r>
              <a:rPr lang="en-US" altLang="zh-CN" b="1" dirty="0">
                <a:ea typeface="SimSun" panose="02010600030101010101" pitchFamily="2" charset="-122"/>
              </a:rPr>
              <a:t>w</a:t>
            </a:r>
            <a:r>
              <a:rPr lang="en-US" altLang="zh-CN" dirty="0">
                <a:ea typeface="SimSun" panose="02010600030101010101" pitchFamily="2" charset="-122"/>
              </a:rPr>
              <a:t>=(w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,w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),</a:t>
            </a:r>
            <a:r>
              <a:rPr lang="en-US" altLang="zh-CN" b="1" dirty="0">
                <a:ea typeface="SimSun" panose="02010600030101010101" pitchFamily="2" charset="-122"/>
              </a:rPr>
              <a:t> x</a:t>
            </a:r>
            <a:r>
              <a:rPr lang="en-US" altLang="zh-CN" dirty="0">
                <a:ea typeface="SimSun" panose="02010600030101010101" pitchFamily="2" charset="-122"/>
              </a:rPr>
              <a:t>=(x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,x</a:t>
            </a:r>
            <a:r>
              <a:rPr lang="en-US" altLang="zh-CN" baseline="-25000" dirty="0">
                <a:ea typeface="SimSun" panose="02010600030101010101" pitchFamily="2" charset="-122"/>
              </a:rPr>
              <a:t>2</a:t>
            </a:r>
            <a:r>
              <a:rPr lang="en-US" altLang="zh-CN" dirty="0">
                <a:ea typeface="SimSun" panose="02010600030101010101" pitchFamily="2" charset="-122"/>
              </a:rPr>
              <a:t>)</a:t>
            </a:r>
          </a:p>
          <a:p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352262" name="Line 6">
            <a:extLst>
              <a:ext uri="{FF2B5EF4-FFF2-40B4-BE49-F238E27FC236}">
                <a16:creationId xmlns:a16="http://schemas.microsoft.com/office/drawing/2014/main" id="{F9BC0BFE-7A4F-45D3-8824-92F809E74BD3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912938" y="3390900"/>
            <a:ext cx="377825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2263" name="Line 7">
            <a:extLst>
              <a:ext uri="{FF2B5EF4-FFF2-40B4-BE49-F238E27FC236}">
                <a16:creationId xmlns:a16="http://schemas.microsoft.com/office/drawing/2014/main" id="{29F03C02-F6AB-48F1-8673-D2784E8F682D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858963" y="3390900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2264" name="Text Box 8">
            <a:extLst>
              <a:ext uri="{FF2B5EF4-FFF2-40B4-BE49-F238E27FC236}">
                <a16:creationId xmlns:a16="http://schemas.microsoft.com/office/drawing/2014/main" id="{76D838DA-A5E8-47D6-9335-796F6EA7C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873250"/>
            <a:ext cx="1584325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1800" dirty="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1800" dirty="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352265" name="Oval 9">
            <a:extLst>
              <a:ext uri="{FF2B5EF4-FFF2-40B4-BE49-F238E27FC236}">
                <a16:creationId xmlns:a16="http://schemas.microsoft.com/office/drawing/2014/main" id="{91C35E81-3404-4400-ACAA-D80D7FF086A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1287462" y="1974851"/>
            <a:ext cx="4127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66" name="Oval 10">
            <a:extLst>
              <a:ext uri="{FF2B5EF4-FFF2-40B4-BE49-F238E27FC236}">
                <a16:creationId xmlns:a16="http://schemas.microsoft.com/office/drawing/2014/main" id="{43AD2C23-1856-41EC-835A-EF187BF6ABE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1287462" y="2295526"/>
            <a:ext cx="34925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67" name="Line 11">
            <a:extLst>
              <a:ext uri="{FF2B5EF4-FFF2-40B4-BE49-F238E27FC236}">
                <a16:creationId xmlns:a16="http://schemas.microsoft.com/office/drawing/2014/main" id="{1B910184-922E-4BEC-9F40-EF7C88E897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15240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2268" name="Line 12">
            <a:extLst>
              <a:ext uri="{FF2B5EF4-FFF2-40B4-BE49-F238E27FC236}">
                <a16:creationId xmlns:a16="http://schemas.microsoft.com/office/drawing/2014/main" id="{974E541D-09E8-45A6-8881-5BD9A42C609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49525" y="4429125"/>
            <a:ext cx="304165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2269" name="Oval 13">
            <a:extLst>
              <a:ext uri="{FF2B5EF4-FFF2-40B4-BE49-F238E27FC236}">
                <a16:creationId xmlns:a16="http://schemas.microsoft.com/office/drawing/2014/main" id="{2F4098DB-40E1-4F8A-915A-B75984E880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13150" y="4059238"/>
            <a:ext cx="50800" cy="33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0" name="Oval 14">
            <a:extLst>
              <a:ext uri="{FF2B5EF4-FFF2-40B4-BE49-F238E27FC236}">
                <a16:creationId xmlns:a16="http://schemas.microsoft.com/office/drawing/2014/main" id="{7F298EAE-7B8F-477D-9E10-2D9C4C9080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89213" y="3270250"/>
            <a:ext cx="50800" cy="333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1" name="Oval 15">
            <a:extLst>
              <a:ext uri="{FF2B5EF4-FFF2-40B4-BE49-F238E27FC236}">
                <a16:creationId xmlns:a16="http://schemas.microsoft.com/office/drawing/2014/main" id="{BEFF7AC2-05AF-4CED-A45D-788D834713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30675" y="2509838"/>
            <a:ext cx="50800" cy="3333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2" name="Oval 16">
            <a:extLst>
              <a:ext uri="{FF2B5EF4-FFF2-40B4-BE49-F238E27FC236}">
                <a16:creationId xmlns:a16="http://schemas.microsoft.com/office/drawing/2014/main" id="{D033581D-147D-4DF8-9EBD-4BEEE6BFFD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4650" y="3082925"/>
            <a:ext cx="49213" cy="33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3" name="Oval 17">
            <a:extLst>
              <a:ext uri="{FF2B5EF4-FFF2-40B4-BE49-F238E27FC236}">
                <a16:creationId xmlns:a16="http://schemas.microsoft.com/office/drawing/2014/main" id="{72210039-1565-4B38-83F0-91AC997131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57563" y="2403475"/>
            <a:ext cx="50800" cy="365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4" name="Oval 18">
            <a:extLst>
              <a:ext uri="{FF2B5EF4-FFF2-40B4-BE49-F238E27FC236}">
                <a16:creationId xmlns:a16="http://schemas.microsoft.com/office/drawing/2014/main" id="{918470CB-9589-4BB5-82D5-0D5F7BB491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54438" y="3151188"/>
            <a:ext cx="44450" cy="3333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5" name="Oval 19">
            <a:extLst>
              <a:ext uri="{FF2B5EF4-FFF2-40B4-BE49-F238E27FC236}">
                <a16:creationId xmlns:a16="http://schemas.microsoft.com/office/drawing/2014/main" id="{433D7513-2AC1-49B4-83C0-4ECEF7458C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55938" y="2725738"/>
            <a:ext cx="50800" cy="41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6" name="Oval 20">
            <a:extLst>
              <a:ext uri="{FF2B5EF4-FFF2-40B4-BE49-F238E27FC236}">
                <a16:creationId xmlns:a16="http://schemas.microsoft.com/office/drawing/2014/main" id="{63D6BB21-F707-47F5-A54B-52466D12C2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767263" y="3417888"/>
            <a:ext cx="50800" cy="34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7" name="Oval 21">
            <a:extLst>
              <a:ext uri="{FF2B5EF4-FFF2-40B4-BE49-F238E27FC236}">
                <a16:creationId xmlns:a16="http://schemas.microsoft.com/office/drawing/2014/main" id="{E36EAEF4-D5AE-4626-8C1F-220B7B2C28C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754438" y="3646488"/>
            <a:ext cx="46037" cy="33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8" name="Oval 22">
            <a:extLst>
              <a:ext uri="{FF2B5EF4-FFF2-40B4-BE49-F238E27FC236}">
                <a16:creationId xmlns:a16="http://schemas.microsoft.com/office/drawing/2014/main" id="{9FF2A6F0-3F7E-444F-ACA9-92BD303C056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514975" y="2798763"/>
            <a:ext cx="49213" cy="34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79" name="Oval 23">
            <a:extLst>
              <a:ext uri="{FF2B5EF4-FFF2-40B4-BE49-F238E27FC236}">
                <a16:creationId xmlns:a16="http://schemas.microsoft.com/office/drawing/2014/main" id="{3B83DCBB-48F2-49C4-9020-58726DD0DDE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926013" y="3717925"/>
            <a:ext cx="50800" cy="34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0" name="Oval 24">
            <a:extLst>
              <a:ext uri="{FF2B5EF4-FFF2-40B4-BE49-F238E27FC236}">
                <a16:creationId xmlns:a16="http://schemas.microsoft.com/office/drawing/2014/main" id="{E2DD3159-33CE-4A2C-8C7F-F9E997B942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9438" y="2406650"/>
            <a:ext cx="50800" cy="349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1" name="Oval 25">
            <a:extLst>
              <a:ext uri="{FF2B5EF4-FFF2-40B4-BE49-F238E27FC236}">
                <a16:creationId xmlns:a16="http://schemas.microsoft.com/office/drawing/2014/main" id="{A49A7AF6-53A6-4571-AC35-0E2FB285FAE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440238" y="3046413"/>
            <a:ext cx="50800" cy="365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2" name="Oval 26">
            <a:extLst>
              <a:ext uri="{FF2B5EF4-FFF2-40B4-BE49-F238E27FC236}">
                <a16:creationId xmlns:a16="http://schemas.microsoft.com/office/drawing/2014/main" id="{3FB318C5-CE81-4139-95B8-BE5CB5328AE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400675" y="3683000"/>
            <a:ext cx="50800" cy="33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3" name="Oval 27">
            <a:extLst>
              <a:ext uri="{FF2B5EF4-FFF2-40B4-BE49-F238E27FC236}">
                <a16:creationId xmlns:a16="http://schemas.microsoft.com/office/drawing/2014/main" id="{91BD2612-42DE-4C8E-898C-1A65A4B20F0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11500" y="3086100"/>
            <a:ext cx="50800" cy="333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4" name="Oval 28">
            <a:extLst>
              <a:ext uri="{FF2B5EF4-FFF2-40B4-BE49-F238E27FC236}">
                <a16:creationId xmlns:a16="http://schemas.microsoft.com/office/drawing/2014/main" id="{19AB6918-4B0D-4C34-81F3-4451FB2712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740944" y="2675732"/>
            <a:ext cx="33337" cy="44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5" name="Oval 29">
            <a:extLst>
              <a:ext uri="{FF2B5EF4-FFF2-40B4-BE49-F238E27FC236}">
                <a16:creationId xmlns:a16="http://schemas.microsoft.com/office/drawing/2014/main" id="{5F6C8C8D-162A-48C7-9E16-31CBE2A25FA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964781" y="4201319"/>
            <a:ext cx="39688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6" name="Oval 30">
            <a:extLst>
              <a:ext uri="{FF2B5EF4-FFF2-40B4-BE49-F238E27FC236}">
                <a16:creationId xmlns:a16="http://schemas.microsoft.com/office/drawing/2014/main" id="{1FC10A8C-2887-4FF3-BC61-8D667715030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15469" y="3402807"/>
            <a:ext cx="33337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7" name="Oval 31">
            <a:extLst>
              <a:ext uri="{FF2B5EF4-FFF2-40B4-BE49-F238E27FC236}">
                <a16:creationId xmlns:a16="http://schemas.microsoft.com/office/drawing/2014/main" id="{A29BBA7E-D6E9-4D2D-B77F-0C92352E1392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37025" y="2211388"/>
            <a:ext cx="33337" cy="460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8" name="Oval 32">
            <a:extLst>
              <a:ext uri="{FF2B5EF4-FFF2-40B4-BE49-F238E27FC236}">
                <a16:creationId xmlns:a16="http://schemas.microsoft.com/office/drawing/2014/main" id="{E6FC2735-18F8-4744-B8BD-98789197F4F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937125" y="3433763"/>
            <a:ext cx="4127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89" name="Oval 33">
            <a:extLst>
              <a:ext uri="{FF2B5EF4-FFF2-40B4-BE49-F238E27FC236}">
                <a16:creationId xmlns:a16="http://schemas.microsoft.com/office/drawing/2014/main" id="{7B3E6BC4-2AB7-4513-99C6-AFA93715B60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159250" y="3389313"/>
            <a:ext cx="33337" cy="460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0" name="Oval 34">
            <a:extLst>
              <a:ext uri="{FF2B5EF4-FFF2-40B4-BE49-F238E27FC236}">
                <a16:creationId xmlns:a16="http://schemas.microsoft.com/office/drawing/2014/main" id="{FC010054-553A-4B63-927A-2CF56C6ECD3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198269" y="28900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1" name="Oval 35">
            <a:extLst>
              <a:ext uri="{FF2B5EF4-FFF2-40B4-BE49-F238E27FC236}">
                <a16:creationId xmlns:a16="http://schemas.microsoft.com/office/drawing/2014/main" id="{8AE92E34-DAEF-49ED-85F4-DAF90990499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093244" y="2177257"/>
            <a:ext cx="33337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2" name="Oval 36">
            <a:extLst>
              <a:ext uri="{FF2B5EF4-FFF2-40B4-BE49-F238E27FC236}">
                <a16:creationId xmlns:a16="http://schemas.microsoft.com/office/drawing/2014/main" id="{C861428D-43E7-403B-B6CC-6BED10EC823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899819" y="28265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3" name="Oval 37">
            <a:extLst>
              <a:ext uri="{FF2B5EF4-FFF2-40B4-BE49-F238E27FC236}">
                <a16:creationId xmlns:a16="http://schemas.microsoft.com/office/drawing/2014/main" id="{AB4A856C-71A8-4499-83D7-6998E3B80CC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782344" y="3836194"/>
            <a:ext cx="3968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4" name="Oval 38">
            <a:extLst>
              <a:ext uri="{FF2B5EF4-FFF2-40B4-BE49-F238E27FC236}">
                <a16:creationId xmlns:a16="http://schemas.microsoft.com/office/drawing/2014/main" id="{8CD85580-821A-41E7-9556-BA9D299DC66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434556" y="3009107"/>
            <a:ext cx="41275" cy="492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5" name="Oval 39">
            <a:extLst>
              <a:ext uri="{FF2B5EF4-FFF2-40B4-BE49-F238E27FC236}">
                <a16:creationId xmlns:a16="http://schemas.microsoft.com/office/drawing/2014/main" id="{CEB0DFD0-278A-4D30-99B7-4F7302A74FE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393406" y="42108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6" name="Oval 40">
            <a:extLst>
              <a:ext uri="{FF2B5EF4-FFF2-40B4-BE49-F238E27FC236}">
                <a16:creationId xmlns:a16="http://schemas.microsoft.com/office/drawing/2014/main" id="{69D7F4E9-CF31-415C-8B82-8118BF8D60F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139406" y="39441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7" name="Oval 41">
            <a:extLst>
              <a:ext uri="{FF2B5EF4-FFF2-40B4-BE49-F238E27FC236}">
                <a16:creationId xmlns:a16="http://schemas.microsoft.com/office/drawing/2014/main" id="{5A336F77-342D-4ECB-8EFA-8DCC43F54DA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868612" y="3149601"/>
            <a:ext cx="41275" cy="44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8" name="Oval 42">
            <a:extLst>
              <a:ext uri="{FF2B5EF4-FFF2-40B4-BE49-F238E27FC236}">
                <a16:creationId xmlns:a16="http://schemas.microsoft.com/office/drawing/2014/main" id="{3F91BBF4-7576-44A4-A744-AEFD23A27C0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613150" y="2479676"/>
            <a:ext cx="34925" cy="44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299" name="Oval 43">
            <a:extLst>
              <a:ext uri="{FF2B5EF4-FFF2-40B4-BE49-F238E27FC236}">
                <a16:creationId xmlns:a16="http://schemas.microsoft.com/office/drawing/2014/main" id="{AFF2F7FB-9896-4623-8CBA-161DB224F20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148137" y="3587751"/>
            <a:ext cx="349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300" name="Oval 44">
            <a:extLst>
              <a:ext uri="{FF2B5EF4-FFF2-40B4-BE49-F238E27FC236}">
                <a16:creationId xmlns:a16="http://schemas.microsoft.com/office/drawing/2014/main" id="{10B6F0FD-2BDA-4BD5-85C7-8C0E3BDC8EF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608262" y="2692401"/>
            <a:ext cx="4127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301" name="Oval 45">
            <a:extLst>
              <a:ext uri="{FF2B5EF4-FFF2-40B4-BE49-F238E27FC236}">
                <a16:creationId xmlns:a16="http://schemas.microsoft.com/office/drawing/2014/main" id="{2D62D3CB-79FD-4D3A-9FE2-15DB87AC7CB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800475" y="4065588"/>
            <a:ext cx="38100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302" name="Oval 46">
            <a:extLst>
              <a:ext uri="{FF2B5EF4-FFF2-40B4-BE49-F238E27FC236}">
                <a16:creationId xmlns:a16="http://schemas.microsoft.com/office/drawing/2014/main" id="{375C1FF4-91BA-4280-AD61-DBA9A63EE10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936331" y="3861595"/>
            <a:ext cx="34925" cy="49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2303" name="Line 47">
            <a:extLst>
              <a:ext uri="{FF2B5EF4-FFF2-40B4-BE49-F238E27FC236}">
                <a16:creationId xmlns:a16="http://schemas.microsoft.com/office/drawing/2014/main" id="{166CCF51-C709-44AD-8007-22FA23E7457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2743200"/>
            <a:ext cx="762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2304" name="Text Box 48">
            <a:extLst>
              <a:ext uri="{FF2B5EF4-FFF2-40B4-BE49-F238E27FC236}">
                <a16:creationId xmlns:a16="http://schemas.microsoft.com/office/drawing/2014/main" id="{C38DF347-5596-4E83-A87E-90465438B3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3622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352305" name="Text Box 49">
            <a:extLst>
              <a:ext uri="{FF2B5EF4-FFF2-40B4-BE49-F238E27FC236}">
                <a16:creationId xmlns:a16="http://schemas.microsoft.com/office/drawing/2014/main" id="{273F1C9C-B74C-4B6E-AC4F-5C9CD3ED2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1336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>
                <a:ea typeface="SimSun" panose="02010600030101010101" pitchFamily="2" charset="-122"/>
              </a:rPr>
              <a:t>wx </a:t>
            </a:r>
            <a:r>
              <a:rPr lang="en-US" altLang="zh-CN" sz="2800">
                <a:ea typeface="SimSun" panose="02010600030101010101" pitchFamily="2" charset="-122"/>
              </a:rPr>
              <a:t>+b = 0</a:t>
            </a:r>
          </a:p>
        </p:txBody>
      </p:sp>
      <p:sp>
        <p:nvSpPr>
          <p:cNvPr id="352307" name="Line 51">
            <a:extLst>
              <a:ext uri="{FF2B5EF4-FFF2-40B4-BE49-F238E27FC236}">
                <a16:creationId xmlns:a16="http://schemas.microsoft.com/office/drawing/2014/main" id="{20DD230F-BD63-4DD8-BA79-E00786AF61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91000" y="2438400"/>
            <a:ext cx="1143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2308" name="Text Box 52">
            <a:extLst>
              <a:ext uri="{FF2B5EF4-FFF2-40B4-BE49-F238E27FC236}">
                <a16:creationId xmlns:a16="http://schemas.microsoft.com/office/drawing/2014/main" id="{1CDB946B-3100-4521-ADCB-2901A756D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048000"/>
            <a:ext cx="2438400" cy="1323975"/>
          </a:xfrm>
          <a:prstGeom prst="rect">
            <a:avLst/>
          </a:prstGeom>
          <a:noFill/>
          <a:ln w="12700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latin typeface="Tahoma" panose="020B0604030504040204" pitchFamily="34" charset="0"/>
                <a:ea typeface="SimSun" panose="02010600030101010101" pitchFamily="2" charset="-122"/>
              </a:rPr>
              <a:t>X</a:t>
            </a:r>
            <a:r>
              <a:rPr lang="en-US" altLang="zh-CN" sz="2000">
                <a:latin typeface="Tahoma" panose="020B0604030504040204" pitchFamily="34" charset="0"/>
                <a:ea typeface="SimSun" panose="02010600030101010101" pitchFamily="2" charset="-122"/>
              </a:rPr>
              <a:t> – Vector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latin typeface="Tahoma" panose="020B0604030504040204" pitchFamily="34" charset="0"/>
                <a:ea typeface="SimSun" panose="02010600030101010101" pitchFamily="2" charset="-122"/>
              </a:rPr>
              <a:t>W</a:t>
            </a:r>
            <a:r>
              <a:rPr lang="en-US" altLang="zh-CN" sz="2000">
                <a:latin typeface="Tahoma" panose="020B0604030504040204" pitchFamily="34" charset="0"/>
                <a:ea typeface="SimSun" panose="02010600030101010101" pitchFamily="2" charset="-122"/>
              </a:rPr>
              <a:t> – Normal Vector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latin typeface="Tahoma" panose="020B0604030504040204" pitchFamily="34" charset="0"/>
                <a:ea typeface="SimSun" panose="02010600030101010101" pitchFamily="2" charset="-122"/>
              </a:rPr>
              <a:t>b  – Scale Value</a:t>
            </a:r>
          </a:p>
        </p:txBody>
      </p:sp>
      <p:sp>
        <p:nvSpPr>
          <p:cNvPr id="352309" name="Line 53">
            <a:extLst>
              <a:ext uri="{FF2B5EF4-FFF2-40B4-BE49-F238E27FC236}">
                <a16:creationId xmlns:a16="http://schemas.microsoft.com/office/drawing/2014/main" id="{9ABDC604-7B0B-4A8E-B69D-A1A165A9C9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71600" y="3429000"/>
            <a:ext cx="1295400" cy="990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2310" name="Line 54">
            <a:extLst>
              <a:ext uri="{FF2B5EF4-FFF2-40B4-BE49-F238E27FC236}">
                <a16:creationId xmlns:a16="http://schemas.microsoft.com/office/drawing/2014/main" id="{9F2779FB-E5C2-4C31-860A-F84BDC337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4419600"/>
            <a:ext cx="381000" cy="30480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352311" name="Text Box 55">
            <a:extLst>
              <a:ext uri="{FF2B5EF4-FFF2-40B4-BE49-F238E27FC236}">
                <a16:creationId xmlns:a16="http://schemas.microsoft.com/office/drawing/2014/main" id="{22204B44-D79F-4780-9CEC-2006D3CD7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2004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latin typeface="Tahoma" panose="020B0604030504040204" pitchFamily="34" charset="0"/>
                <a:ea typeface="SimSun" panose="02010600030101010101" pitchFamily="2" charset="-122"/>
              </a:rPr>
              <a:t>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279449-6BE2-46C1-83EA-DFDB5292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Date Placeholder 53">
            <a:extLst>
              <a:ext uri="{FF2B5EF4-FFF2-40B4-BE49-F238E27FC236}">
                <a16:creationId xmlns:a16="http://schemas.microsoft.com/office/drawing/2014/main" id="{F314612B-D072-4BC7-BAE7-35BEDA5E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A4409-CAF7-41C8-BB0D-084CEFB3C655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55" name="Slide Number Placeholder 54">
            <a:extLst>
              <a:ext uri="{FF2B5EF4-FFF2-40B4-BE49-F238E27FC236}">
                <a16:creationId xmlns:a16="http://schemas.microsoft.com/office/drawing/2014/main" id="{118B2E6A-17D4-4140-8911-286FBDB7BB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FA605F8-949F-4D1D-AA39-F958892C9F10}" type="slidenum">
              <a:rPr lang="zh-CN" altLang="en-US"/>
              <a:pPr/>
              <a:t>15</a:t>
            </a:fld>
            <a:endParaRPr lang="en-US" altLang="zh-CN"/>
          </a:p>
        </p:txBody>
      </p:sp>
      <p:sp>
        <p:nvSpPr>
          <p:cNvPr id="285698" name="Rectangle 2">
            <a:extLst>
              <a:ext uri="{FF2B5EF4-FFF2-40B4-BE49-F238E27FC236}">
                <a16:creationId xmlns:a16="http://schemas.microsoft.com/office/drawing/2014/main" id="{31788C9C-C2F7-4862-9C22-E4E6EEBB6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750" y="264273"/>
            <a:ext cx="8229600" cy="838200"/>
          </a:xfrm>
        </p:spPr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Estimate the Margin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EA84C370-F77E-4E88-AF07-BC6A3865D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38638"/>
            <a:ext cx="8040688" cy="923925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What is the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distance expression </a:t>
            </a:r>
            <a:r>
              <a:rPr lang="en-US" altLang="zh-CN" dirty="0">
                <a:ea typeface="SimSun" panose="02010600030101010101" pitchFamily="2" charset="-122"/>
              </a:rPr>
              <a:t>for a point </a:t>
            </a:r>
            <a:r>
              <a:rPr lang="en-US" altLang="zh-CN" b="1" dirty="0">
                <a:ea typeface="SimSun" panose="02010600030101010101" pitchFamily="2" charset="-122"/>
              </a:rPr>
              <a:t>x</a:t>
            </a:r>
            <a:r>
              <a:rPr lang="en-US" altLang="zh-CN" dirty="0">
                <a:ea typeface="SimSun" panose="02010600030101010101" pitchFamily="2" charset="-122"/>
              </a:rPr>
              <a:t> to a line </a:t>
            </a:r>
            <a:r>
              <a:rPr lang="en-US" altLang="zh-CN" b="1" dirty="0" err="1">
                <a:ea typeface="SimSun" panose="02010600030101010101" pitchFamily="2" charset="-122"/>
              </a:rPr>
              <a:t>wx</a:t>
            </a:r>
            <a:r>
              <a:rPr lang="en-US" altLang="zh-CN" dirty="0" err="1">
                <a:ea typeface="SimSun" panose="02010600030101010101" pitchFamily="2" charset="-122"/>
              </a:rPr>
              <a:t>+b</a:t>
            </a:r>
            <a:r>
              <a:rPr lang="en-US" altLang="zh-CN" dirty="0">
                <a:ea typeface="SimSun" panose="02010600030101010101" pitchFamily="2" charset="-122"/>
              </a:rPr>
              <a:t>= 0?</a:t>
            </a:r>
          </a:p>
          <a:p>
            <a:endParaRPr lang="zh-CN" altLang="en-US" dirty="0">
              <a:ea typeface="SimSun" panose="02010600030101010101" pitchFamily="2" charset="-122"/>
            </a:endParaRPr>
          </a:p>
        </p:txBody>
      </p:sp>
      <p:sp>
        <p:nvSpPr>
          <p:cNvPr id="285700" name="Line 4">
            <a:extLst>
              <a:ext uri="{FF2B5EF4-FFF2-40B4-BE49-F238E27FC236}">
                <a16:creationId xmlns:a16="http://schemas.microsoft.com/office/drawing/2014/main" id="{2F21324E-059D-4899-BD35-4E7ADB0EBB2A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989138" y="2705100"/>
            <a:ext cx="3778250" cy="0"/>
          </a:xfrm>
          <a:prstGeom prst="line">
            <a:avLst/>
          </a:prstGeom>
          <a:noFill/>
          <a:ln w="36195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5701" name="Line 5">
            <a:extLst>
              <a:ext uri="{FF2B5EF4-FFF2-40B4-BE49-F238E27FC236}">
                <a16:creationId xmlns:a16="http://schemas.microsoft.com/office/drawing/2014/main" id="{EB18EFD4-0B0D-4EE6-9FE6-A9E21D5299B3}"/>
              </a:ext>
            </a:extLst>
          </p:cNvPr>
          <p:cNvSpPr>
            <a:spLocks noChangeShapeType="1"/>
          </p:cNvSpPr>
          <p:nvPr/>
        </p:nvSpPr>
        <p:spPr bwMode="auto">
          <a:xfrm rot="-3472419">
            <a:off x="1935163" y="2705100"/>
            <a:ext cx="388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5702" name="Text Box 6">
            <a:extLst>
              <a:ext uri="{FF2B5EF4-FFF2-40B4-BE49-F238E27FC236}">
                <a16:creationId xmlns:a16="http://schemas.microsoft.com/office/drawing/2014/main" id="{13DAA774-1F28-4E56-BAAA-F6BF8CB7B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187450"/>
            <a:ext cx="1584325" cy="779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1800">
                <a:ea typeface="SimSun" panose="02010600030101010101" pitchFamily="2" charset="-122"/>
              </a:rPr>
              <a:t>denotes +1</a:t>
            </a:r>
          </a:p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1800">
                <a:ea typeface="SimSun" panose="02010600030101010101" pitchFamily="2" charset="-122"/>
              </a:rPr>
              <a:t>denotes -1</a:t>
            </a:r>
          </a:p>
        </p:txBody>
      </p:sp>
      <p:sp>
        <p:nvSpPr>
          <p:cNvPr id="285703" name="Oval 7">
            <a:extLst>
              <a:ext uri="{FF2B5EF4-FFF2-40B4-BE49-F238E27FC236}">
                <a16:creationId xmlns:a16="http://schemas.microsoft.com/office/drawing/2014/main" id="{90F21ED6-4F21-4DA1-ADE1-8AF176CCEAB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1363662" y="1289051"/>
            <a:ext cx="4127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04" name="Oval 8">
            <a:extLst>
              <a:ext uri="{FF2B5EF4-FFF2-40B4-BE49-F238E27FC236}">
                <a16:creationId xmlns:a16="http://schemas.microsoft.com/office/drawing/2014/main" id="{ECBE8620-4505-49CC-A08A-1FD1C34B88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1363662" y="1609726"/>
            <a:ext cx="34925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05" name="Line 9">
            <a:extLst>
              <a:ext uri="{FF2B5EF4-FFF2-40B4-BE49-F238E27FC236}">
                <a16:creationId xmlns:a16="http://schemas.microsoft.com/office/drawing/2014/main" id="{9FD2F1BF-1D7F-4825-8278-0ED28235418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838200"/>
            <a:ext cx="0" cy="35052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5706" name="Line 10">
            <a:extLst>
              <a:ext uri="{FF2B5EF4-FFF2-40B4-BE49-F238E27FC236}">
                <a16:creationId xmlns:a16="http://schemas.microsoft.com/office/drawing/2014/main" id="{B1BA4640-A3EE-4C57-A872-2185A6BE93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25725" y="3743325"/>
            <a:ext cx="304165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5707" name="Oval 11">
            <a:extLst>
              <a:ext uri="{FF2B5EF4-FFF2-40B4-BE49-F238E27FC236}">
                <a16:creationId xmlns:a16="http://schemas.microsoft.com/office/drawing/2014/main" id="{26CF3771-0E18-4CAD-82D6-D9A36B6C99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89350" y="3373438"/>
            <a:ext cx="50800" cy="33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08" name="Oval 12">
            <a:extLst>
              <a:ext uri="{FF2B5EF4-FFF2-40B4-BE49-F238E27FC236}">
                <a16:creationId xmlns:a16="http://schemas.microsoft.com/office/drawing/2014/main" id="{FF6C8EEA-DEBB-46A7-9B9F-F46009C949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5413" y="2584450"/>
            <a:ext cx="50800" cy="333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09" name="Oval 13">
            <a:extLst>
              <a:ext uri="{FF2B5EF4-FFF2-40B4-BE49-F238E27FC236}">
                <a16:creationId xmlns:a16="http://schemas.microsoft.com/office/drawing/2014/main" id="{1502437F-D6CC-42EA-BCA7-B636C33CAD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06875" y="1824038"/>
            <a:ext cx="50800" cy="3333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0" name="Oval 14">
            <a:extLst>
              <a:ext uri="{FF2B5EF4-FFF2-40B4-BE49-F238E27FC236}">
                <a16:creationId xmlns:a16="http://schemas.microsoft.com/office/drawing/2014/main" id="{7CAC6C7C-A4C9-47DE-856E-33EE35C89F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60850" y="2397125"/>
            <a:ext cx="49213" cy="33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1" name="Oval 15">
            <a:extLst>
              <a:ext uri="{FF2B5EF4-FFF2-40B4-BE49-F238E27FC236}">
                <a16:creationId xmlns:a16="http://schemas.microsoft.com/office/drawing/2014/main" id="{4812E220-E369-417C-87D9-070EE0262B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433763" y="1717675"/>
            <a:ext cx="50800" cy="36513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2" name="Oval 16">
            <a:extLst>
              <a:ext uri="{FF2B5EF4-FFF2-40B4-BE49-F238E27FC236}">
                <a16:creationId xmlns:a16="http://schemas.microsoft.com/office/drawing/2014/main" id="{30F23BA7-5DD4-46C9-AE36-162656B3711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30638" y="2465388"/>
            <a:ext cx="44450" cy="33337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3" name="Oval 17">
            <a:extLst>
              <a:ext uri="{FF2B5EF4-FFF2-40B4-BE49-F238E27FC236}">
                <a16:creationId xmlns:a16="http://schemas.microsoft.com/office/drawing/2014/main" id="{49DA68D3-B65B-4EF9-B6DE-4A02C98C1D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132138" y="2039938"/>
            <a:ext cx="50800" cy="41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4" name="Oval 18">
            <a:extLst>
              <a:ext uri="{FF2B5EF4-FFF2-40B4-BE49-F238E27FC236}">
                <a16:creationId xmlns:a16="http://schemas.microsoft.com/office/drawing/2014/main" id="{27E053EF-0A74-44A2-9609-C054CCE831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43463" y="2732088"/>
            <a:ext cx="50800" cy="34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5" name="Oval 19">
            <a:extLst>
              <a:ext uri="{FF2B5EF4-FFF2-40B4-BE49-F238E27FC236}">
                <a16:creationId xmlns:a16="http://schemas.microsoft.com/office/drawing/2014/main" id="{4206B6F8-6D64-4AE9-9995-735FF36BAC27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830638" y="2960688"/>
            <a:ext cx="46037" cy="3333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6" name="Oval 20">
            <a:extLst>
              <a:ext uri="{FF2B5EF4-FFF2-40B4-BE49-F238E27FC236}">
                <a16:creationId xmlns:a16="http://schemas.microsoft.com/office/drawing/2014/main" id="{FC002BE6-7DCC-49E6-8373-E39AA329119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591175" y="2112963"/>
            <a:ext cx="49213" cy="34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7" name="Oval 21">
            <a:extLst>
              <a:ext uri="{FF2B5EF4-FFF2-40B4-BE49-F238E27FC236}">
                <a16:creationId xmlns:a16="http://schemas.microsoft.com/office/drawing/2014/main" id="{41C23F39-660A-43ED-B8CE-C8DB0C0DCB4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002213" y="3032125"/>
            <a:ext cx="50800" cy="34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8" name="Oval 22">
            <a:extLst>
              <a:ext uri="{FF2B5EF4-FFF2-40B4-BE49-F238E27FC236}">
                <a16:creationId xmlns:a16="http://schemas.microsoft.com/office/drawing/2014/main" id="{AF46AA78-1713-4FE2-A6D5-2C84694447E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95638" y="1720850"/>
            <a:ext cx="50800" cy="3492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19" name="Oval 23">
            <a:extLst>
              <a:ext uri="{FF2B5EF4-FFF2-40B4-BE49-F238E27FC236}">
                <a16:creationId xmlns:a16="http://schemas.microsoft.com/office/drawing/2014/main" id="{8E058FDE-8131-4C77-92AE-A2B2FEC4497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4516438" y="2360613"/>
            <a:ext cx="50800" cy="365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0" name="Oval 24">
            <a:extLst>
              <a:ext uri="{FF2B5EF4-FFF2-40B4-BE49-F238E27FC236}">
                <a16:creationId xmlns:a16="http://schemas.microsoft.com/office/drawing/2014/main" id="{D7E89BEF-4ACF-4C08-97C2-A1BB537EAD3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5476875" y="2997200"/>
            <a:ext cx="50800" cy="333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1" name="Oval 25">
            <a:extLst>
              <a:ext uri="{FF2B5EF4-FFF2-40B4-BE49-F238E27FC236}">
                <a16:creationId xmlns:a16="http://schemas.microsoft.com/office/drawing/2014/main" id="{075F7F3E-605F-4EA8-A3AA-0AD2067FE64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1118274">
            <a:off x="3187700" y="2400300"/>
            <a:ext cx="50800" cy="333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2" name="Oval 26">
            <a:extLst>
              <a:ext uri="{FF2B5EF4-FFF2-40B4-BE49-F238E27FC236}">
                <a16:creationId xmlns:a16="http://schemas.microsoft.com/office/drawing/2014/main" id="{5D7A0765-F809-4036-BA8C-FC327149F40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817144" y="1989932"/>
            <a:ext cx="33337" cy="44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3" name="Oval 27">
            <a:extLst>
              <a:ext uri="{FF2B5EF4-FFF2-40B4-BE49-F238E27FC236}">
                <a16:creationId xmlns:a16="http://schemas.microsoft.com/office/drawing/2014/main" id="{ED78F9FA-26AF-46AD-A063-D39A567D429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040981" y="3515519"/>
            <a:ext cx="39688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4" name="Oval 28">
            <a:extLst>
              <a:ext uri="{FF2B5EF4-FFF2-40B4-BE49-F238E27FC236}">
                <a16:creationId xmlns:a16="http://schemas.microsoft.com/office/drawing/2014/main" id="{F5EC68EF-772D-488F-8303-29BFC1DBBB0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91669" y="2717007"/>
            <a:ext cx="33337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5" name="Oval 29">
            <a:extLst>
              <a:ext uri="{FF2B5EF4-FFF2-40B4-BE49-F238E27FC236}">
                <a16:creationId xmlns:a16="http://schemas.microsoft.com/office/drawing/2014/main" id="{DA8A6CBA-3037-4B7A-91D9-12FBEB18EF8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213225" y="1525588"/>
            <a:ext cx="33337" cy="46038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6" name="Oval 30">
            <a:extLst>
              <a:ext uri="{FF2B5EF4-FFF2-40B4-BE49-F238E27FC236}">
                <a16:creationId xmlns:a16="http://schemas.microsoft.com/office/drawing/2014/main" id="{26DB8CF1-650B-49F2-84C3-5456ED143F3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013325" y="2747963"/>
            <a:ext cx="4127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7" name="Oval 31">
            <a:extLst>
              <a:ext uri="{FF2B5EF4-FFF2-40B4-BE49-F238E27FC236}">
                <a16:creationId xmlns:a16="http://schemas.microsoft.com/office/drawing/2014/main" id="{C904CE8A-97A8-4253-B05E-F88A9E30DB1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235450" y="2703513"/>
            <a:ext cx="33337" cy="4603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8" name="Oval 32">
            <a:extLst>
              <a:ext uri="{FF2B5EF4-FFF2-40B4-BE49-F238E27FC236}">
                <a16:creationId xmlns:a16="http://schemas.microsoft.com/office/drawing/2014/main" id="{A68F83AC-9C7A-4B3A-9F69-FD99E1F06C5E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5274469" y="22042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29" name="Oval 33">
            <a:extLst>
              <a:ext uri="{FF2B5EF4-FFF2-40B4-BE49-F238E27FC236}">
                <a16:creationId xmlns:a16="http://schemas.microsoft.com/office/drawing/2014/main" id="{8B91F784-7E15-4472-866D-D403E7DE8DC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3169444" y="1491457"/>
            <a:ext cx="33337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0" name="Oval 34">
            <a:extLst>
              <a:ext uri="{FF2B5EF4-FFF2-40B4-BE49-F238E27FC236}">
                <a16:creationId xmlns:a16="http://schemas.microsoft.com/office/drawing/2014/main" id="{B1B99574-3F10-4400-AEE2-47483C44473D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976019" y="21407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1" name="Oval 35">
            <a:extLst>
              <a:ext uri="{FF2B5EF4-FFF2-40B4-BE49-F238E27FC236}">
                <a16:creationId xmlns:a16="http://schemas.microsoft.com/office/drawing/2014/main" id="{C19544DE-B4C4-4DC3-833C-71297FB60BF6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895381">
            <a:off x="4858544" y="3150394"/>
            <a:ext cx="3968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2" name="Oval 36">
            <a:extLst>
              <a:ext uri="{FF2B5EF4-FFF2-40B4-BE49-F238E27FC236}">
                <a16:creationId xmlns:a16="http://schemas.microsoft.com/office/drawing/2014/main" id="{A64603E0-3DD8-426D-BEAA-440943FD67C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510756" y="2323307"/>
            <a:ext cx="41275" cy="49212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3" name="Oval 37">
            <a:extLst>
              <a:ext uri="{FF2B5EF4-FFF2-40B4-BE49-F238E27FC236}">
                <a16:creationId xmlns:a16="http://schemas.microsoft.com/office/drawing/2014/main" id="{56008536-F0CC-400F-ACE4-7B8B8501D1E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469606" y="35250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4" name="Oval 38">
            <a:extLst>
              <a:ext uri="{FF2B5EF4-FFF2-40B4-BE49-F238E27FC236}">
                <a16:creationId xmlns:a16="http://schemas.microsoft.com/office/drawing/2014/main" id="{BEB72671-7570-4DA8-ACA7-1A2C4020DEFF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215606" y="3258344"/>
            <a:ext cx="33338" cy="444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5" name="Oval 39">
            <a:extLst>
              <a:ext uri="{FF2B5EF4-FFF2-40B4-BE49-F238E27FC236}">
                <a16:creationId xmlns:a16="http://schemas.microsoft.com/office/drawing/2014/main" id="{51AC9E8E-D899-4D90-ABA4-E647117A1E2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944812" y="2463801"/>
            <a:ext cx="41275" cy="44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6" name="Oval 40">
            <a:extLst>
              <a:ext uri="{FF2B5EF4-FFF2-40B4-BE49-F238E27FC236}">
                <a16:creationId xmlns:a16="http://schemas.microsoft.com/office/drawing/2014/main" id="{10B1471B-4473-497C-BA3D-57B1A1F964A5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689350" y="1793876"/>
            <a:ext cx="34925" cy="4445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7" name="Oval 41">
            <a:extLst>
              <a:ext uri="{FF2B5EF4-FFF2-40B4-BE49-F238E27FC236}">
                <a16:creationId xmlns:a16="http://schemas.microsoft.com/office/drawing/2014/main" id="{9C37A372-07BC-48CB-89A5-45E167B0682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4224337" y="2901951"/>
            <a:ext cx="34925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8" name="Oval 42">
            <a:extLst>
              <a:ext uri="{FF2B5EF4-FFF2-40B4-BE49-F238E27FC236}">
                <a16:creationId xmlns:a16="http://schemas.microsoft.com/office/drawing/2014/main" id="{6E4CE530-02AE-4C6B-833F-25412BF92C6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2684462" y="2006601"/>
            <a:ext cx="41275" cy="5080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39" name="Oval 43">
            <a:extLst>
              <a:ext uri="{FF2B5EF4-FFF2-40B4-BE49-F238E27FC236}">
                <a16:creationId xmlns:a16="http://schemas.microsoft.com/office/drawing/2014/main" id="{0CE48A13-F965-48BE-B28E-D647D51612D3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3876675" y="3379788"/>
            <a:ext cx="38100" cy="508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40" name="Oval 44">
            <a:extLst>
              <a:ext uri="{FF2B5EF4-FFF2-40B4-BE49-F238E27FC236}">
                <a16:creationId xmlns:a16="http://schemas.microsoft.com/office/drawing/2014/main" id="{336360C5-4CE9-44E5-B379-80F9696D31CC}"/>
              </a:ext>
            </a:extLst>
          </p:cNvPr>
          <p:cNvSpPr>
            <a:spLocks noChangeAspect="1" noChangeArrowheads="1"/>
          </p:cNvSpPr>
          <p:nvPr/>
        </p:nvSpPr>
        <p:spPr bwMode="auto">
          <a:xfrm rot="4777107">
            <a:off x="5012531" y="3175795"/>
            <a:ext cx="34925" cy="4921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5741" name="Line 45">
            <a:extLst>
              <a:ext uri="{FF2B5EF4-FFF2-40B4-BE49-F238E27FC236}">
                <a16:creationId xmlns:a16="http://schemas.microsoft.com/office/drawing/2014/main" id="{8AA3A02C-75C4-448C-9D76-3B159CDEDD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2057400"/>
            <a:ext cx="7620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5742" name="Text Box 46">
            <a:extLst>
              <a:ext uri="{FF2B5EF4-FFF2-40B4-BE49-F238E27FC236}">
                <a16:creationId xmlns:a16="http://schemas.microsoft.com/office/drawing/2014/main" id="{D2C3473A-34C7-4751-820A-F8F7A0EE4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676400"/>
            <a:ext cx="457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ea typeface="SimSun" panose="02010600030101010101" pitchFamily="2" charset="-122"/>
              </a:rPr>
              <a:t>x</a:t>
            </a:r>
          </a:p>
        </p:txBody>
      </p:sp>
      <p:sp>
        <p:nvSpPr>
          <p:cNvPr id="285743" name="Text Box 47">
            <a:extLst>
              <a:ext uri="{FF2B5EF4-FFF2-40B4-BE49-F238E27FC236}">
                <a16:creationId xmlns:a16="http://schemas.microsoft.com/office/drawing/2014/main" id="{1A812574-AF37-458D-8A82-0F2A31FB98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4478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buClr>
                <a:schemeClr val="tx1"/>
              </a:buClr>
            </a:pPr>
            <a:r>
              <a:rPr lang="en-US" altLang="zh-CN" sz="2800" b="1">
                <a:ea typeface="SimSun" panose="02010600030101010101" pitchFamily="2" charset="-122"/>
              </a:rPr>
              <a:t>wx </a:t>
            </a:r>
            <a:r>
              <a:rPr lang="en-US" altLang="zh-CN" sz="2800">
                <a:ea typeface="SimSun" panose="02010600030101010101" pitchFamily="2" charset="-122"/>
              </a:rPr>
              <a:t>+b = 0</a:t>
            </a:r>
          </a:p>
        </p:txBody>
      </p:sp>
      <p:graphicFrame>
        <p:nvGraphicFramePr>
          <p:cNvPr id="285744" name="Object 48">
            <a:extLst>
              <a:ext uri="{FF2B5EF4-FFF2-40B4-BE49-F238E27FC236}">
                <a16:creationId xmlns:a16="http://schemas.microsoft.com/office/drawing/2014/main" id="{7A831EFF-B906-47F3-B4DE-22DD64449B7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27300" y="5213350"/>
          <a:ext cx="378460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Equation" r:id="rId4" imgW="1549080" imgH="495000" progId="Equation.DSMT4">
                  <p:embed/>
                </p:oleObj>
              </mc:Choice>
              <mc:Fallback>
                <p:oleObj name="Equation" r:id="rId4" imgW="1549080" imgH="495000" progId="Equation.DSMT4">
                  <p:embed/>
                  <p:pic>
                    <p:nvPicPr>
                      <p:cNvPr id="285744" name="Object 48">
                        <a:extLst>
                          <a:ext uri="{FF2B5EF4-FFF2-40B4-BE49-F238E27FC236}">
                            <a16:creationId xmlns:a16="http://schemas.microsoft.com/office/drawing/2014/main" id="{7A831EFF-B906-47F3-B4DE-22DD64449B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7300" y="5213350"/>
                        <a:ext cx="378460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5745" name="Line 49">
            <a:extLst>
              <a:ext uri="{FF2B5EF4-FFF2-40B4-BE49-F238E27FC236}">
                <a16:creationId xmlns:a16="http://schemas.microsoft.com/office/drawing/2014/main" id="{E4DECFB0-9FF1-439B-8415-CD535576DB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67200" y="1752600"/>
            <a:ext cx="1143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5746" name="Text Box 50">
            <a:extLst>
              <a:ext uri="{FF2B5EF4-FFF2-40B4-BE49-F238E27FC236}">
                <a16:creationId xmlns:a16="http://schemas.microsoft.com/office/drawing/2014/main" id="{17C1DFF6-4044-4E6D-8695-92928C4A4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362200"/>
            <a:ext cx="2438400" cy="1323975"/>
          </a:xfrm>
          <a:prstGeom prst="rect">
            <a:avLst/>
          </a:prstGeom>
          <a:noFill/>
          <a:ln w="12700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latin typeface="Tahoma" panose="020B0604030504040204" pitchFamily="34" charset="0"/>
                <a:ea typeface="SimSun" panose="02010600030101010101" pitchFamily="2" charset="-122"/>
              </a:rPr>
              <a:t>X</a:t>
            </a:r>
            <a:r>
              <a:rPr lang="en-US" altLang="zh-CN" sz="2000">
                <a:latin typeface="Tahoma" panose="020B0604030504040204" pitchFamily="34" charset="0"/>
                <a:ea typeface="SimSun" panose="02010600030101010101" pitchFamily="2" charset="-122"/>
              </a:rPr>
              <a:t> – Vector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latin typeface="Tahoma" panose="020B0604030504040204" pitchFamily="34" charset="0"/>
                <a:ea typeface="SimSun" panose="02010600030101010101" pitchFamily="2" charset="-122"/>
              </a:rPr>
              <a:t>W</a:t>
            </a:r>
            <a:r>
              <a:rPr lang="en-US" altLang="zh-CN" sz="2000">
                <a:latin typeface="Tahoma" panose="020B0604030504040204" pitchFamily="34" charset="0"/>
                <a:ea typeface="SimSun" panose="02010600030101010101" pitchFamily="2" charset="-122"/>
              </a:rPr>
              <a:t> – Normal Vector</a:t>
            </a:r>
          </a:p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>
                <a:latin typeface="Tahoma" panose="020B0604030504040204" pitchFamily="34" charset="0"/>
                <a:ea typeface="SimSun" panose="02010600030101010101" pitchFamily="2" charset="-122"/>
              </a:rPr>
              <a:t>b  – Scale Value</a:t>
            </a:r>
          </a:p>
        </p:txBody>
      </p:sp>
      <p:sp>
        <p:nvSpPr>
          <p:cNvPr id="285747" name="Line 51">
            <a:extLst>
              <a:ext uri="{FF2B5EF4-FFF2-40B4-BE49-F238E27FC236}">
                <a16:creationId xmlns:a16="http://schemas.microsoft.com/office/drawing/2014/main" id="{2F758C6C-2F96-41BD-AECC-75AFF71CCCC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47800" y="2743200"/>
            <a:ext cx="1295400" cy="99060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5748" name="Line 52">
            <a:extLst>
              <a:ext uri="{FF2B5EF4-FFF2-40B4-BE49-F238E27FC236}">
                <a16:creationId xmlns:a16="http://schemas.microsoft.com/office/drawing/2014/main" id="{CA92E4AF-E695-4C73-92B1-36B8228B6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733800"/>
            <a:ext cx="381000" cy="304800"/>
          </a:xfrm>
          <a:prstGeom prst="line">
            <a:avLst/>
          </a:prstGeom>
          <a:noFill/>
          <a:ln w="38100">
            <a:solidFill>
              <a:schemeClr val="tx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85749" name="Text Box 53">
            <a:extLst>
              <a:ext uri="{FF2B5EF4-FFF2-40B4-BE49-F238E27FC236}">
                <a16:creationId xmlns:a16="http://schemas.microsoft.com/office/drawing/2014/main" id="{EDAA239E-9397-4808-81EF-EBB9A1F48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514600"/>
            <a:ext cx="381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>
                <a:schemeClr val="tx1"/>
              </a:buClr>
            </a:pPr>
            <a:r>
              <a:rPr lang="en-US" altLang="zh-CN" sz="2000" b="1">
                <a:latin typeface="Tahoma" panose="020B0604030504040204" pitchFamily="34" charset="0"/>
                <a:ea typeface="SimSun" panose="02010600030101010101" pitchFamily="2" charset="-122"/>
              </a:rPr>
              <a:t>W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DAFBB4-9023-4D2C-90CF-587B8CB4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B1FA4140-37B2-4FF5-A5FD-4435B70C6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2AC0D-9414-45E8-AC5B-CF0A69E1E2C1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7E547B4-CC95-4E5B-9DE6-D9552C60CC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685A185-9F78-445D-BE69-BA56AEBD9AF4}" type="slidenum">
              <a:rPr lang="zh-CN" altLang="en-US"/>
              <a:pPr/>
              <a:t>16</a:t>
            </a:fld>
            <a:endParaRPr lang="en-US" altLang="zh-CN"/>
          </a:p>
        </p:txBody>
      </p:sp>
      <p:sp>
        <p:nvSpPr>
          <p:cNvPr id="154626" name="Rectangle 1026">
            <a:extLst>
              <a:ext uri="{FF2B5EF4-FFF2-40B4-BE49-F238E27FC236}">
                <a16:creationId xmlns:a16="http://schemas.microsoft.com/office/drawing/2014/main" id="{43C88F2F-F769-41E4-A858-128CF0CE3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0757" y="415923"/>
            <a:ext cx="8229600" cy="838200"/>
          </a:xfrm>
        </p:spPr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Large-margin Decision Boundary</a:t>
            </a:r>
          </a:p>
        </p:txBody>
      </p:sp>
      <p:sp>
        <p:nvSpPr>
          <p:cNvPr id="154627" name="Rectangle 1027">
            <a:extLst>
              <a:ext uri="{FF2B5EF4-FFF2-40B4-BE49-F238E27FC236}">
                <a16:creationId xmlns:a16="http://schemas.microsoft.com/office/drawing/2014/main" id="{6ADE9062-BD8A-44AE-91F8-9711ECE590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261782"/>
            <a:ext cx="8229600" cy="2083595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a typeface="SimSun" panose="02010600030101010101" pitchFamily="2" charset="-122"/>
              </a:rPr>
              <a:t>The </a:t>
            </a:r>
            <a:r>
              <a:rPr lang="en-US" altLang="zh-CN" sz="2400" dirty="0">
                <a:solidFill>
                  <a:srgbClr val="FF0000"/>
                </a:solidFill>
                <a:ea typeface="SimSun" panose="02010600030101010101" pitchFamily="2" charset="-122"/>
              </a:rPr>
              <a:t>decision boundary should be as far away </a:t>
            </a:r>
            <a:r>
              <a:rPr lang="en-US" altLang="zh-CN" sz="2400" dirty="0">
                <a:ea typeface="SimSun" panose="02010600030101010101" pitchFamily="2" charset="-122"/>
              </a:rPr>
              <a:t>from the data of both classes as possible</a:t>
            </a:r>
          </a:p>
          <a:p>
            <a:pPr lvl="1"/>
            <a:r>
              <a:rPr lang="en-US" altLang="zh-CN" sz="2000" dirty="0">
                <a:ea typeface="SimSun" panose="02010600030101010101" pitchFamily="2" charset="-122"/>
              </a:rPr>
              <a:t>We should </a:t>
            </a:r>
            <a:r>
              <a:rPr lang="en-US" altLang="zh-CN" sz="2000" dirty="0">
                <a:solidFill>
                  <a:srgbClr val="FF0000"/>
                </a:solidFill>
                <a:ea typeface="SimSun" panose="02010600030101010101" pitchFamily="2" charset="-122"/>
              </a:rPr>
              <a:t>maximize the margin, </a:t>
            </a:r>
            <a:r>
              <a:rPr lang="en-US" altLang="zh-CN" sz="2000" i="1" dirty="0">
                <a:solidFill>
                  <a:srgbClr val="FF0000"/>
                </a:solidFill>
                <a:ea typeface="SimSun" panose="02010600030101010101" pitchFamily="2" charset="-122"/>
              </a:rPr>
              <a:t>m</a:t>
            </a:r>
            <a:endParaRPr lang="en-US" altLang="zh-CN" sz="2000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154628" name="Line 1028">
            <a:extLst>
              <a:ext uri="{FF2B5EF4-FFF2-40B4-BE49-F238E27FC236}">
                <a16:creationId xmlns:a16="http://schemas.microsoft.com/office/drawing/2014/main" id="{238E4959-BC08-4D75-865D-59C40B498A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2667000"/>
            <a:ext cx="0" cy="32004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29" name="Line 1029">
            <a:extLst>
              <a:ext uri="{FF2B5EF4-FFF2-40B4-BE49-F238E27FC236}">
                <a16:creationId xmlns:a16="http://schemas.microsoft.com/office/drawing/2014/main" id="{B596523F-FA53-40CD-AD22-9935BB10ED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8200" y="5867400"/>
            <a:ext cx="30480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30" name="Oval 1030">
            <a:extLst>
              <a:ext uri="{FF2B5EF4-FFF2-40B4-BE49-F238E27FC236}">
                <a16:creationId xmlns:a16="http://schemas.microsoft.com/office/drawing/2014/main" id="{C2FC9B6C-1EAD-403F-AFDC-8FA17D377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276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1" name="Oval 1031">
            <a:extLst>
              <a:ext uri="{FF2B5EF4-FFF2-40B4-BE49-F238E27FC236}">
                <a16:creationId xmlns:a16="http://schemas.microsoft.com/office/drawing/2014/main" id="{33DB0B86-E588-4B32-8308-5518476278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8862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2" name="Oval 1032">
            <a:extLst>
              <a:ext uri="{FF2B5EF4-FFF2-40B4-BE49-F238E27FC236}">
                <a16:creationId xmlns:a16="http://schemas.microsoft.com/office/drawing/2014/main" id="{C1591214-6A1F-48E6-A1AD-979623F4E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1148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3" name="Oval 1033">
            <a:extLst>
              <a:ext uri="{FF2B5EF4-FFF2-40B4-BE49-F238E27FC236}">
                <a16:creationId xmlns:a16="http://schemas.microsoft.com/office/drawing/2014/main" id="{4BEC23C8-7588-4DEE-A0FA-08D53F6E4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4290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4" name="Oval 1034">
            <a:extLst>
              <a:ext uri="{FF2B5EF4-FFF2-40B4-BE49-F238E27FC236}">
                <a16:creationId xmlns:a16="http://schemas.microsoft.com/office/drawing/2014/main" id="{0D59B0A0-A2AA-4A3E-9826-C312AF966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419600"/>
            <a:ext cx="152400" cy="1524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5" name="Rectangle 1035">
            <a:extLst>
              <a:ext uri="{FF2B5EF4-FFF2-40B4-BE49-F238E27FC236}">
                <a16:creationId xmlns:a16="http://schemas.microsoft.com/office/drawing/2014/main" id="{12CE5CCF-AA48-4F6D-9B23-25E113D67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3434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6" name="Rectangle 1036">
            <a:extLst>
              <a:ext uri="{FF2B5EF4-FFF2-40B4-BE49-F238E27FC236}">
                <a16:creationId xmlns:a16="http://schemas.microsoft.com/office/drawing/2014/main" id="{0C0F83FC-8DB3-4E81-9E74-E6DA57687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800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7" name="Rectangle 1037">
            <a:extLst>
              <a:ext uri="{FF2B5EF4-FFF2-40B4-BE49-F238E27FC236}">
                <a16:creationId xmlns:a16="http://schemas.microsoft.com/office/drawing/2014/main" id="{FC2147C7-8EB7-4B27-8E2A-989A8717A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52578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8" name="Rectangle 1038">
            <a:extLst>
              <a:ext uri="{FF2B5EF4-FFF2-40B4-BE49-F238E27FC236}">
                <a16:creationId xmlns:a16="http://schemas.microsoft.com/office/drawing/2014/main" id="{C8B9126B-F4C5-49FA-9ECC-E12C687FF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800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39" name="Rectangle 1039">
            <a:extLst>
              <a:ext uri="{FF2B5EF4-FFF2-40B4-BE49-F238E27FC236}">
                <a16:creationId xmlns:a16="http://schemas.microsoft.com/office/drawing/2014/main" id="{5C02FA01-6553-4F90-83E5-734D638C4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181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40" name="Rectangle 1040">
            <a:extLst>
              <a:ext uri="{FF2B5EF4-FFF2-40B4-BE49-F238E27FC236}">
                <a16:creationId xmlns:a16="http://schemas.microsoft.com/office/drawing/2014/main" id="{CD1CC57E-0C23-431A-B359-13D18B80E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038600"/>
            <a:ext cx="152400" cy="1524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4641" name="Text Box 1041">
            <a:extLst>
              <a:ext uri="{FF2B5EF4-FFF2-40B4-BE49-F238E27FC236}">
                <a16:creationId xmlns:a16="http://schemas.microsoft.com/office/drawing/2014/main" id="{B9C8CD52-A975-40BC-8AFF-7B14BA336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83213"/>
            <a:ext cx="971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SimSun" panose="02010600030101010101" pitchFamily="2" charset="-122"/>
              </a:rPr>
              <a:t>Class 1</a:t>
            </a:r>
          </a:p>
        </p:txBody>
      </p:sp>
      <p:sp>
        <p:nvSpPr>
          <p:cNvPr id="154642" name="Text Box 1042">
            <a:extLst>
              <a:ext uri="{FF2B5EF4-FFF2-40B4-BE49-F238E27FC236}">
                <a16:creationId xmlns:a16="http://schemas.microsoft.com/office/drawing/2014/main" id="{E92BC7A5-EB1F-4C7E-90F1-7CCD9E86F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191000"/>
            <a:ext cx="971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SimSun" panose="02010600030101010101" pitchFamily="2" charset="-122"/>
              </a:rPr>
              <a:t>Class 2</a:t>
            </a:r>
          </a:p>
        </p:txBody>
      </p:sp>
      <p:sp>
        <p:nvSpPr>
          <p:cNvPr id="154644" name="Line 1044">
            <a:extLst>
              <a:ext uri="{FF2B5EF4-FFF2-40B4-BE49-F238E27FC236}">
                <a16:creationId xmlns:a16="http://schemas.microsoft.com/office/drawing/2014/main" id="{C75AE85E-822D-462C-B2A4-9009A091FF4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2895600"/>
            <a:ext cx="2514600" cy="25146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45" name="Line 1045">
            <a:extLst>
              <a:ext uri="{FF2B5EF4-FFF2-40B4-BE49-F238E27FC236}">
                <a16:creationId xmlns:a16="http://schemas.microsoft.com/office/drawing/2014/main" id="{2ACC16C5-672E-43D5-93D4-2648AAC08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276600"/>
            <a:ext cx="2971800" cy="2971800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46" name="Line 1046">
            <a:extLst>
              <a:ext uri="{FF2B5EF4-FFF2-40B4-BE49-F238E27FC236}">
                <a16:creationId xmlns:a16="http://schemas.microsoft.com/office/drawing/2014/main" id="{B6AC021D-1AB8-4686-91E2-B57C5BE904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590800"/>
            <a:ext cx="3886200" cy="3886200"/>
          </a:xfrm>
          <a:prstGeom prst="line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54651" name="Picture 1051">
            <a:extLst>
              <a:ext uri="{FF2B5EF4-FFF2-40B4-BE49-F238E27FC236}">
                <a16:creationId xmlns:a16="http://schemas.microsoft.com/office/drawing/2014/main" id="{CAB2E426-2136-4003-8302-1E7C381CED83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943600"/>
            <a:ext cx="20574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654" name="Picture 1054">
            <a:extLst>
              <a:ext uri="{FF2B5EF4-FFF2-40B4-BE49-F238E27FC236}">
                <a16:creationId xmlns:a16="http://schemas.microsoft.com/office/drawing/2014/main" id="{430BA454-BD3A-406D-8192-08E79F7AD696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4800600"/>
            <a:ext cx="2039938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656" name="Picture 1056">
            <a:extLst>
              <a:ext uri="{FF2B5EF4-FFF2-40B4-BE49-F238E27FC236}">
                <a16:creationId xmlns:a16="http://schemas.microsoft.com/office/drawing/2014/main" id="{AE196339-8669-461A-AD74-135AE2ADDF18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6019800"/>
            <a:ext cx="2308225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4658" name="Line 1058">
            <a:extLst>
              <a:ext uri="{FF2B5EF4-FFF2-40B4-BE49-F238E27FC236}">
                <a16:creationId xmlns:a16="http://schemas.microsoft.com/office/drawing/2014/main" id="{81FF252B-5675-493B-9E06-2D7EBE5BEA2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2800" y="5057775"/>
            <a:ext cx="723900" cy="733425"/>
          </a:xfrm>
          <a:prstGeom prst="line">
            <a:avLst/>
          </a:prstGeom>
          <a:noFill/>
          <a:ln w="25400">
            <a:solidFill>
              <a:srgbClr val="FF00FF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54659" name="Picture 1059">
            <a:extLst>
              <a:ext uri="{FF2B5EF4-FFF2-40B4-BE49-F238E27FC236}">
                <a16:creationId xmlns:a16="http://schemas.microsoft.com/office/drawing/2014/main" id="{48493F7A-B930-4360-8C5D-505929155DB6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3276600"/>
            <a:ext cx="175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4660" name="Text Box 1060">
            <a:extLst>
              <a:ext uri="{FF2B5EF4-FFF2-40B4-BE49-F238E27FC236}">
                <a16:creationId xmlns:a16="http://schemas.microsoft.com/office/drawing/2014/main" id="{076C5FE4-02E6-40A8-A4B7-9C857AD05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181600"/>
            <a:ext cx="439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rgbClr val="CC00CC"/>
                </a:solidFill>
                <a:ea typeface="SimSun" panose="02010600030101010101" pitchFamily="2" charset="-122"/>
              </a:rPr>
              <a:t>m</a:t>
            </a:r>
          </a:p>
        </p:txBody>
      </p:sp>
      <p:sp>
        <p:nvSpPr>
          <p:cNvPr id="154661" name="Line 1061">
            <a:extLst>
              <a:ext uri="{FF2B5EF4-FFF2-40B4-BE49-F238E27FC236}">
                <a16:creationId xmlns:a16="http://schemas.microsoft.com/office/drawing/2014/main" id="{1F73C515-B00C-4510-A2B4-9EA99B2929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3276600"/>
            <a:ext cx="1600200" cy="1676400"/>
          </a:xfrm>
          <a:prstGeom prst="line">
            <a:avLst/>
          </a:prstGeom>
          <a:noFill/>
          <a:ln w="25400">
            <a:solidFill>
              <a:srgbClr val="993366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54663" name="Picture 1063">
            <a:extLst>
              <a:ext uri="{FF2B5EF4-FFF2-40B4-BE49-F238E27FC236}">
                <a16:creationId xmlns:a16="http://schemas.microsoft.com/office/drawing/2014/main" id="{67A31BEE-8F9E-45D2-A70C-49B23BEEBA38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124200"/>
            <a:ext cx="284163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4664" name="Line 1064">
            <a:extLst>
              <a:ext uri="{FF2B5EF4-FFF2-40B4-BE49-F238E27FC236}">
                <a16:creationId xmlns:a16="http://schemas.microsoft.com/office/drawing/2014/main" id="{F24199A0-D226-448C-83DC-C05B30990F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86200" y="4800600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4665" name="Line 1065">
            <a:extLst>
              <a:ext uri="{FF2B5EF4-FFF2-40B4-BE49-F238E27FC236}">
                <a16:creationId xmlns:a16="http://schemas.microsoft.com/office/drawing/2014/main" id="{58E0A29B-652D-4AC7-9810-FBEE363F5E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5334000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60A558A-A21E-46CC-98AF-7A9365A0E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FC87B9-78EF-49F6-9EAA-D64F7AE3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D8FAC-387F-411D-8B25-5F77599BE433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8A51DC-34D1-4177-8C4D-BF07BF16C2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F994E0-F100-4B15-837B-E2C85A9AFFCF}" type="slidenum">
              <a:rPr lang="zh-CN" altLang="en-US"/>
              <a:pPr/>
              <a:t>17</a:t>
            </a:fld>
            <a:endParaRPr lang="en-US" altLang="zh-CN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F4E3ABCC-1C50-4360-A543-A3AA711173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Finding the Decision Boundary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86A72291-D29B-49C5-B76E-305EE301A2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Let {</a:t>
            </a:r>
            <a:r>
              <a:rPr lang="en-US" altLang="zh-CN" i="1" dirty="0">
                <a:ea typeface="SimSun" panose="02010600030101010101" pitchFamily="2" charset="-122"/>
              </a:rPr>
              <a:t>x</a:t>
            </a:r>
            <a:r>
              <a:rPr lang="en-US" altLang="zh-CN" baseline="-25000" dirty="0">
                <a:ea typeface="SimSun" panose="02010600030101010101" pitchFamily="2" charset="-122"/>
              </a:rPr>
              <a:t>1</a:t>
            </a:r>
            <a:r>
              <a:rPr lang="en-US" altLang="zh-CN" dirty="0">
                <a:ea typeface="SimSun" panose="02010600030101010101" pitchFamily="2" charset="-122"/>
              </a:rPr>
              <a:t>, ..., </a:t>
            </a:r>
            <a:r>
              <a:rPr lang="en-US" altLang="zh-CN" i="1" dirty="0" err="1">
                <a:ea typeface="SimSun" panose="02010600030101010101" pitchFamily="2" charset="-122"/>
              </a:rPr>
              <a:t>x</a:t>
            </a:r>
            <a:r>
              <a:rPr lang="en-US" altLang="zh-CN" baseline="-25000" dirty="0" err="1">
                <a:ea typeface="SimSun" panose="02010600030101010101" pitchFamily="2" charset="-122"/>
              </a:rPr>
              <a:t>n</a:t>
            </a:r>
            <a:r>
              <a:rPr lang="en-US" altLang="zh-CN" dirty="0">
                <a:ea typeface="SimSun" panose="02010600030101010101" pitchFamily="2" charset="-122"/>
              </a:rPr>
              <a:t>} be our data set and let </a:t>
            </a:r>
            <a:r>
              <a:rPr lang="en-US" altLang="zh-CN" i="1" dirty="0" err="1">
                <a:ea typeface="SimSun" panose="02010600030101010101" pitchFamily="2" charset="-122"/>
              </a:rPr>
              <a:t>y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Î</a:t>
            </a:r>
            <a:r>
              <a:rPr lang="en-US" altLang="zh-CN" dirty="0">
                <a:ea typeface="SimSun" panose="02010600030101010101" pitchFamily="2" charset="-122"/>
              </a:rPr>
              <a:t>   {1,-1} be the class label of </a:t>
            </a:r>
            <a:r>
              <a:rPr lang="en-US" altLang="zh-CN" i="1" dirty="0">
                <a:ea typeface="SimSun" panose="02010600030101010101" pitchFamily="2" charset="-122"/>
              </a:rPr>
              <a:t>x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endParaRPr lang="en-US" altLang="zh-CN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The decision boundary should classify all points correctly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Þ</a:t>
            </a:r>
            <a:endParaRPr lang="en-US" altLang="zh-CN" dirty="0">
              <a:ea typeface="SimSun" panose="02010600030101010101" pitchFamily="2" charset="-122"/>
            </a:endParaRPr>
          </a:p>
          <a:p>
            <a:r>
              <a:rPr lang="en-US" altLang="zh-CN" dirty="0">
                <a:ea typeface="SimSun" panose="02010600030101010101" pitchFamily="2" charset="-122"/>
              </a:rPr>
              <a:t>The decision boundary can be found by solving the following </a:t>
            </a:r>
            <a:r>
              <a:rPr lang="en-US" altLang="zh-CN" dirty="0">
                <a:solidFill>
                  <a:srgbClr val="00B0F0"/>
                </a:solidFill>
                <a:ea typeface="SimSun" panose="02010600030101010101" pitchFamily="2" charset="-122"/>
              </a:rPr>
              <a:t>constrained optimization problem</a:t>
            </a: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</p:txBody>
      </p:sp>
      <p:pic>
        <p:nvPicPr>
          <p:cNvPr id="156678" name="Picture 6">
            <a:extLst>
              <a:ext uri="{FF2B5EF4-FFF2-40B4-BE49-F238E27FC236}">
                <a16:creationId xmlns:a16="http://schemas.microsoft.com/office/drawing/2014/main" id="{4A3CEABF-2ABF-435B-B51B-F47CB9D25FE7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035300"/>
            <a:ext cx="3962400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6681" name="Picture 9">
            <a:extLst>
              <a:ext uri="{FF2B5EF4-FFF2-40B4-BE49-F238E27FC236}">
                <a16:creationId xmlns:a16="http://schemas.microsoft.com/office/drawing/2014/main" id="{D523DA9C-678B-4937-9E91-155EE833A554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656" y="4769644"/>
            <a:ext cx="2554288" cy="68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6683" name="Picture 11">
            <a:extLst>
              <a:ext uri="{FF2B5EF4-FFF2-40B4-BE49-F238E27FC236}">
                <a16:creationId xmlns:a16="http://schemas.microsoft.com/office/drawing/2014/main" id="{F2E604FD-D321-4BA5-A2B9-06E018FBF498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5607844"/>
            <a:ext cx="5638800" cy="39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550932-C882-4403-97B9-97450542F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F0267C-EB4A-45C9-9520-5FFB5129C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b="0" i="0" u="none" strike="noStrike" baseline="0" dirty="0">
                <a:latin typeface="TimesTen-Roman"/>
              </a:rPr>
              <a:t>Solve the </a:t>
            </a:r>
            <a:r>
              <a:rPr lang="en-US" b="0" i="0" u="none" strike="noStrike" baseline="0" dirty="0">
                <a:solidFill>
                  <a:srgbClr val="7030A0"/>
                </a:solidFill>
                <a:latin typeface="TimesTen-Roman"/>
              </a:rPr>
              <a:t>constrained-optimization problem </a:t>
            </a:r>
            <a:r>
              <a:rPr lang="en-US" b="0" i="0" u="none" strike="noStrike" baseline="0" dirty="0">
                <a:latin typeface="TimesTen-Roman"/>
              </a:rPr>
              <a:t>by using the 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imesTen-Italic"/>
              </a:rPr>
              <a:t>method of Lagrange multipliers</a:t>
            </a:r>
            <a:endParaRPr lang="en-US" b="0" i="0" u="none" strike="noStrike" baseline="0" dirty="0">
              <a:solidFill>
                <a:srgbClr val="FF0000"/>
              </a:solidFill>
              <a:latin typeface="TimesTen-Roman"/>
            </a:endParaRPr>
          </a:p>
          <a:p>
            <a:pPr algn="l"/>
            <a:r>
              <a:rPr lang="en-US" b="0" i="0" u="none" strike="noStrike" baseline="0" dirty="0">
                <a:latin typeface="TimesTen-Roman"/>
              </a:rPr>
              <a:t>First, we construct the </a:t>
            </a:r>
            <a:r>
              <a:rPr lang="en-US" b="0" i="1" u="none" strike="noStrike" baseline="0" dirty="0" err="1">
                <a:solidFill>
                  <a:srgbClr val="FF0000"/>
                </a:solidFill>
                <a:latin typeface="TimesTen-Italic"/>
              </a:rPr>
              <a:t>Lagrangian</a:t>
            </a:r>
            <a:r>
              <a:rPr lang="en-US" b="0" i="1" u="none" strike="noStrike" baseline="0" dirty="0">
                <a:solidFill>
                  <a:srgbClr val="FF0000"/>
                </a:solidFill>
                <a:latin typeface="TimesTen-Italic"/>
              </a:rPr>
              <a:t> function</a:t>
            </a:r>
            <a:endParaRPr lang="en-US" b="0" i="0" u="none" strike="noStrike" baseline="0" dirty="0">
              <a:solidFill>
                <a:srgbClr val="FF0000"/>
              </a:solidFill>
              <a:latin typeface="TimesTen-Roman"/>
            </a:endParaRPr>
          </a:p>
          <a:p>
            <a:endParaRPr lang="en-US" sz="40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AFB446-731D-47DA-9E51-3C257F8F3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40D79-1462-42F3-B190-3F47EE76BA3B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E272E-3020-4150-A58D-2C940AEE2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49467-8E19-4044-9E24-19013D9C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B801E87-3640-4B37-8DC4-AABC89FC0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ea typeface="SimSun" panose="02010600030101010101" pitchFamily="2" charset="-122"/>
              </a:rPr>
              <a:t>The Dual Problem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575A11-F37F-46E9-B38D-550FCF316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374" y="3429000"/>
            <a:ext cx="6076950" cy="101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482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636EFF8-4C36-42B3-8CE8-9D941CD53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3C041-F0BC-41AB-9FDC-6D83AE32EE4B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41F9F0-C3F5-489C-AA38-701CECD5B8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118737-39EF-4033-8789-C5B4F3E50F68}" type="slidenum">
              <a:rPr lang="zh-CN" altLang="en-US"/>
              <a:pPr/>
              <a:t>19</a:t>
            </a:fld>
            <a:endParaRPr lang="en-US" altLang="zh-CN"/>
          </a:p>
        </p:txBody>
      </p:sp>
      <p:pic>
        <p:nvPicPr>
          <p:cNvPr id="262154" name="Picture 2058">
            <a:extLst>
              <a:ext uri="{FF2B5EF4-FFF2-40B4-BE49-F238E27FC236}">
                <a16:creationId xmlns:a16="http://schemas.microsoft.com/office/drawing/2014/main" id="{A7497AC8-8C2D-46A5-BCC1-3CA3B876759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588" y="4956175"/>
            <a:ext cx="5330825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2146" name="Rectangle 2050">
            <a:extLst>
              <a:ext uri="{FF2B5EF4-FFF2-40B4-BE49-F238E27FC236}">
                <a16:creationId xmlns:a16="http://schemas.microsoft.com/office/drawing/2014/main" id="{70EFC5BF-C3F1-412D-B308-F56EEF0F4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800" dirty="0">
                <a:ea typeface="SimSun" panose="02010600030101010101" pitchFamily="2" charset="-122"/>
              </a:rPr>
              <a:t>The Dual Problem</a:t>
            </a:r>
          </a:p>
        </p:txBody>
      </p:sp>
      <p:sp>
        <p:nvSpPr>
          <p:cNvPr id="262147" name="Rectangle 2051">
            <a:extLst>
              <a:ext uri="{FF2B5EF4-FFF2-40B4-BE49-F238E27FC236}">
                <a16:creationId xmlns:a16="http://schemas.microsoft.com/office/drawing/2014/main" id="{3A9658AE-8677-4C8C-BA51-C9A997D54A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The new objective function is in </a:t>
            </a:r>
            <a:r>
              <a:rPr lang="en-US" altLang="zh-CN" dirty="0">
                <a:solidFill>
                  <a:srgbClr val="7030A0"/>
                </a:solidFill>
                <a:ea typeface="SimSun" panose="02010600030101010101" pitchFamily="2" charset="-122"/>
              </a:rPr>
              <a:t>terms of </a:t>
            </a:r>
            <a:r>
              <a:rPr lang="en-US" altLang="zh-CN" dirty="0">
                <a:solidFill>
                  <a:srgbClr val="7030A0"/>
                </a:solidFill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 dirty="0">
                <a:solidFill>
                  <a:srgbClr val="7030A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7030A0"/>
                </a:solidFill>
                <a:ea typeface="SimSun" panose="02010600030101010101" pitchFamily="2" charset="-122"/>
              </a:rPr>
              <a:t> only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It is known as the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dual problem</a:t>
            </a:r>
            <a:r>
              <a:rPr lang="en-US" altLang="zh-CN" dirty="0">
                <a:ea typeface="SimSun" panose="02010600030101010101" pitchFamily="2" charset="-122"/>
              </a:rPr>
              <a:t>: if we know </a:t>
            </a:r>
            <a:r>
              <a:rPr lang="en-US" altLang="zh-CN" b="1" dirty="0">
                <a:ea typeface="SimSun" panose="02010600030101010101" pitchFamily="2" charset="-122"/>
              </a:rPr>
              <a:t>w</a:t>
            </a:r>
            <a:r>
              <a:rPr lang="en-US" altLang="zh-CN" dirty="0">
                <a:ea typeface="SimSun" panose="02010600030101010101" pitchFamily="2" charset="-122"/>
              </a:rPr>
              <a:t>, we know all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; if we know all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, we know </a:t>
            </a:r>
            <a:r>
              <a:rPr lang="en-US" altLang="zh-CN" b="1" dirty="0">
                <a:ea typeface="SimSun" panose="02010600030101010101" pitchFamily="2" charset="-122"/>
              </a:rPr>
              <a:t>w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The </a:t>
            </a:r>
            <a:r>
              <a:rPr lang="en-US" altLang="zh-CN" dirty="0">
                <a:solidFill>
                  <a:srgbClr val="00B050"/>
                </a:solidFill>
                <a:ea typeface="SimSun" panose="02010600030101010101" pitchFamily="2" charset="-122"/>
              </a:rPr>
              <a:t>objective function </a:t>
            </a:r>
            <a:r>
              <a:rPr lang="en-US" altLang="zh-CN" dirty="0">
                <a:ea typeface="SimSun" panose="02010600030101010101" pitchFamily="2" charset="-122"/>
              </a:rPr>
              <a:t>of the dual problem needs to be maximized</a:t>
            </a:r>
          </a:p>
        </p:txBody>
      </p:sp>
      <p:pic>
        <p:nvPicPr>
          <p:cNvPr id="262149" name="Picture 2053">
            <a:extLst>
              <a:ext uri="{FF2B5EF4-FFF2-40B4-BE49-F238E27FC236}">
                <a16:creationId xmlns:a16="http://schemas.microsoft.com/office/drawing/2014/main" id="{36781EDB-DAC4-47BC-9653-F19007CFCD6B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951647"/>
            <a:ext cx="7315200" cy="93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62152" name="AutoShape 2056">
            <a:extLst>
              <a:ext uri="{FF2B5EF4-FFF2-40B4-BE49-F238E27FC236}">
                <a16:creationId xmlns:a16="http://schemas.microsoft.com/office/drawing/2014/main" id="{2FD5406D-B1CE-464E-8EC6-012AD24302AB}"/>
              </a:ext>
            </a:extLst>
          </p:cNvPr>
          <p:cNvSpPr>
            <a:spLocks noChangeArrowheads="1"/>
          </p:cNvSpPr>
          <p:nvPr/>
        </p:nvSpPr>
        <p:spPr bwMode="auto">
          <a:xfrm rot="-7243134">
            <a:off x="2895600" y="5486400"/>
            <a:ext cx="228600" cy="381000"/>
          </a:xfrm>
          <a:prstGeom prst="downArrow">
            <a:avLst>
              <a:gd name="adj1" fmla="val 50000"/>
              <a:gd name="adj2" fmla="val 41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2153" name="AutoShape 2057">
            <a:extLst>
              <a:ext uri="{FF2B5EF4-FFF2-40B4-BE49-F238E27FC236}">
                <a16:creationId xmlns:a16="http://schemas.microsoft.com/office/drawing/2014/main" id="{BD5F61EF-E571-427B-8A31-5EBB2D83DF7C}"/>
              </a:ext>
            </a:extLst>
          </p:cNvPr>
          <p:cNvSpPr>
            <a:spLocks noChangeArrowheads="1"/>
          </p:cNvSpPr>
          <p:nvPr/>
        </p:nvSpPr>
        <p:spPr bwMode="auto">
          <a:xfrm rot="-15229533">
            <a:off x="6553200" y="5181600"/>
            <a:ext cx="304800" cy="914400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60D95B-A4B9-41DF-89DE-0F95E437C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B34057-B04E-4020-8F3A-3E9F685CB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2400" b="0" i="1" u="none" strike="noStrike" baseline="0" dirty="0">
                <a:latin typeface="TimesTen-Italic"/>
              </a:rPr>
              <a:t>Given the training sample </a:t>
            </a:r>
            <a:r>
              <a:rPr lang="en-US" sz="2400" b="0" i="0" u="none" strike="noStrike" baseline="0" dirty="0">
                <a:latin typeface="MathematicalPi-One"/>
              </a:rPr>
              <a:t> </a:t>
            </a:r>
            <a:r>
              <a:rPr lang="en-US" sz="2400" b="0" i="0" u="none" strike="noStrike" baseline="0" dirty="0">
                <a:latin typeface="TimesTen-Roman"/>
              </a:rPr>
              <a:t>{</a:t>
            </a:r>
            <a:r>
              <a:rPr lang="en-US" sz="2400" b="1" i="1" u="none" strike="noStrike" baseline="0" dirty="0">
                <a:latin typeface="TimesTen-BoldItalic"/>
              </a:rPr>
              <a:t>x</a:t>
            </a:r>
            <a:r>
              <a:rPr lang="en-US" sz="2400" b="0" i="1" u="none" strike="noStrike" baseline="0" dirty="0">
                <a:latin typeface="TimesTen-Italic"/>
              </a:rPr>
              <a:t>i</a:t>
            </a:r>
            <a:r>
              <a:rPr lang="en-US" sz="2400" b="0" i="0" u="none" strike="noStrike" baseline="0" dirty="0">
                <a:latin typeface="TimesTen-Roman"/>
              </a:rPr>
              <a:t>, </a:t>
            </a:r>
            <a:r>
              <a:rPr lang="en-US" sz="2400" b="0" i="1" u="none" strike="noStrike" baseline="0" dirty="0">
                <a:latin typeface="TimesTen-Italic"/>
              </a:rPr>
              <a:t>di</a:t>
            </a:r>
            <a:r>
              <a:rPr lang="en-US" sz="2400" b="0" i="0" u="none" strike="noStrike" baseline="0" dirty="0">
                <a:latin typeface="TimesTen-Roman"/>
              </a:rPr>
              <a:t>}</a:t>
            </a:r>
            <a:r>
              <a:rPr lang="en-US" sz="2400" i="1" dirty="0">
                <a:latin typeface="TimesTen-Italic"/>
              </a:rPr>
              <a:t> </a:t>
            </a:r>
            <a:r>
              <a:rPr lang="en-US" sz="2400" b="0" i="1" u="none" strike="noStrike" baseline="0" dirty="0">
                <a:latin typeface="TimesTen-Italic"/>
              </a:rPr>
              <a:t>find the </a:t>
            </a:r>
            <a:r>
              <a:rPr lang="en-US" sz="2400" b="0" i="1" u="none" strike="noStrike" baseline="0" dirty="0">
                <a:solidFill>
                  <a:srgbClr val="00B050"/>
                </a:solidFill>
                <a:latin typeface="TimesTen-Italic"/>
              </a:rPr>
              <a:t>Lagrange multipliers that maximize the objective function</a:t>
            </a:r>
            <a:r>
              <a:rPr lang="en-US" sz="2400" b="0" i="1" u="none" strike="noStrike" baseline="0" dirty="0">
                <a:latin typeface="TimesTen-Italic"/>
              </a:rPr>
              <a:t>.</a:t>
            </a:r>
          </a:p>
          <a:p>
            <a:pPr algn="l"/>
            <a:r>
              <a:rPr lang="en-US" sz="2400" i="1" dirty="0">
                <a:latin typeface="TimesTen-Italic"/>
              </a:rPr>
              <a:t>Using Lagrange multipliers we can find </a:t>
            </a:r>
            <a:r>
              <a:rPr lang="en-US" sz="2400" i="1" dirty="0">
                <a:solidFill>
                  <a:srgbClr val="FF0000"/>
                </a:solidFill>
                <a:latin typeface="TimesTen-Italic"/>
              </a:rPr>
              <a:t>optimal weights</a:t>
            </a:r>
            <a:r>
              <a:rPr lang="en-US" sz="2400" i="1" dirty="0">
                <a:latin typeface="TimesTen-Italic"/>
              </a:rPr>
              <a:t>:</a:t>
            </a:r>
            <a:endParaRPr lang="en-US" sz="2400" b="0" i="0" u="none" strike="noStrike" baseline="0" dirty="0">
              <a:latin typeface="TimesTen-Italic"/>
            </a:endParaRP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B866C8-B1BC-46D4-BFF0-41B2AE85C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045DD-B97C-47E7-80BD-2D7A62CE3CBC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387A4-29ED-4663-BF68-8B8E85896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5F16CA-529B-4773-81B1-B6A71243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C638992-73B0-4E75-B8A5-D28C14E13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ea typeface="SimSun" panose="02010600030101010101" pitchFamily="2" charset="-122"/>
              </a:rPr>
              <a:t>The Dual Problem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EBD4FD-3425-49B9-9C39-E9692867E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344863"/>
            <a:ext cx="607695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8628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9641CB-1040-43D0-81D6-E4829D1B2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C523-5DAA-463E-81AB-D64AB33907D5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84596-D981-476A-AD16-D7ECB2884E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7E7AE97-4EAC-4EE4-B225-0C37D86CA7A0}" type="slidenum">
              <a:rPr lang="zh-CN" altLang="en-US"/>
              <a:pPr/>
              <a:t>21</a:t>
            </a:fld>
            <a:endParaRPr lang="en-US" altLang="zh-CN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DE5022A3-C2CD-44C7-A0CA-18D35D029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Characteristics of the Solution</a:t>
            </a:r>
          </a:p>
        </p:txBody>
      </p:sp>
      <p:sp>
        <p:nvSpPr>
          <p:cNvPr id="104478" name="Rectangle 30">
            <a:extLst>
              <a:ext uri="{FF2B5EF4-FFF2-40B4-BE49-F238E27FC236}">
                <a16:creationId xmlns:a16="http://schemas.microsoft.com/office/drawing/2014/main" id="{A939F581-D492-4A6D-860C-4401B52AB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143000"/>
            <a:ext cx="8077200" cy="5410200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Many of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the </a:t>
            </a:r>
            <a:r>
              <a:rPr lang="en-US" altLang="zh-CN" dirty="0">
                <a:solidFill>
                  <a:srgbClr val="FF0000"/>
                </a:solidFill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ea typeface="SimSun" panose="02010600030101010101" pitchFamily="2" charset="-122"/>
              </a:rPr>
              <a:t>i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 are zero</a:t>
            </a:r>
          </a:p>
          <a:p>
            <a:pPr lvl="1"/>
            <a:r>
              <a:rPr lang="en-US" altLang="zh-CN" b="1" dirty="0">
                <a:ea typeface="SimSun" panose="02010600030101010101" pitchFamily="2" charset="-122"/>
              </a:rPr>
              <a:t>w</a:t>
            </a:r>
            <a:r>
              <a:rPr lang="en-US" altLang="zh-CN" dirty="0">
                <a:ea typeface="SimSun" panose="02010600030101010101" pitchFamily="2" charset="-122"/>
              </a:rPr>
              <a:t> is a linear combination of a small number of data points</a:t>
            </a:r>
          </a:p>
          <a:p>
            <a:endParaRPr lang="en-US" altLang="zh-CN" sz="2300" b="1" dirty="0">
              <a:ea typeface="SimSun" panose="02010600030101010101" pitchFamily="2" charset="-122"/>
            </a:endParaRPr>
          </a:p>
          <a:p>
            <a:r>
              <a:rPr lang="en-US" altLang="zh-CN" sz="2300" b="1" dirty="0">
                <a:ea typeface="SimSun" panose="02010600030101010101" pitchFamily="2" charset="-122"/>
              </a:rPr>
              <a:t>x</a:t>
            </a:r>
            <a:r>
              <a:rPr lang="en-US" altLang="zh-CN" sz="2300" baseline="-25000" dirty="0">
                <a:ea typeface="SimSun" panose="02010600030101010101" pitchFamily="2" charset="-122"/>
              </a:rPr>
              <a:t>i</a:t>
            </a:r>
            <a:r>
              <a:rPr lang="en-US" altLang="zh-CN" sz="2300" dirty="0">
                <a:ea typeface="SimSun" panose="02010600030101010101" pitchFamily="2" charset="-122"/>
              </a:rPr>
              <a:t> with non-zero </a:t>
            </a:r>
            <a:r>
              <a:rPr lang="en-US" altLang="zh-CN" sz="2300" dirty="0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sz="2300" baseline="-25000" dirty="0">
                <a:ea typeface="SimSun" panose="02010600030101010101" pitchFamily="2" charset="-122"/>
              </a:rPr>
              <a:t>i</a:t>
            </a:r>
            <a:r>
              <a:rPr lang="en-US" altLang="zh-CN" sz="2300" dirty="0">
                <a:ea typeface="SimSun" panose="02010600030101010101" pitchFamily="2" charset="-122"/>
              </a:rPr>
              <a:t> are called </a:t>
            </a:r>
            <a:r>
              <a:rPr lang="en-US" altLang="zh-CN" sz="2300" dirty="0">
                <a:solidFill>
                  <a:srgbClr val="00B0F0"/>
                </a:solidFill>
                <a:ea typeface="SimSun" panose="02010600030101010101" pitchFamily="2" charset="-122"/>
              </a:rPr>
              <a:t>support vectors (SV)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The decision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boundary is determined only by the SV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Let </a:t>
            </a:r>
            <a:r>
              <a:rPr lang="en-US" altLang="zh-CN" i="1" dirty="0" err="1">
                <a:ea typeface="SimSun" panose="02010600030101010101" pitchFamily="2" charset="-122"/>
              </a:rPr>
              <a:t>t</a:t>
            </a:r>
            <a:r>
              <a:rPr lang="en-US" altLang="zh-CN" baseline="-25000" dirty="0" err="1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 (</a:t>
            </a:r>
            <a:r>
              <a:rPr lang="en-US" altLang="zh-CN" i="1" dirty="0">
                <a:ea typeface="SimSun" panose="02010600030101010101" pitchFamily="2" charset="-122"/>
              </a:rPr>
              <a:t>j</a:t>
            </a:r>
            <a:r>
              <a:rPr lang="en-US" altLang="zh-CN" dirty="0">
                <a:ea typeface="SimSun" panose="02010600030101010101" pitchFamily="2" charset="-122"/>
              </a:rPr>
              <a:t>=1, ..., </a:t>
            </a:r>
            <a:r>
              <a:rPr lang="en-US" altLang="zh-CN" i="1" dirty="0">
                <a:ea typeface="SimSun" panose="02010600030101010101" pitchFamily="2" charset="-122"/>
              </a:rPr>
              <a:t>s</a:t>
            </a:r>
            <a:r>
              <a:rPr lang="en-US" altLang="zh-CN" dirty="0">
                <a:ea typeface="SimSun" panose="02010600030101010101" pitchFamily="2" charset="-122"/>
              </a:rPr>
              <a:t>) be the indices of the support vectors. We can write</a:t>
            </a:r>
            <a:endParaRPr lang="en-US" altLang="zh-CN" i="1" dirty="0">
              <a:ea typeface="SimSun" panose="02010600030101010101" pitchFamily="2" charset="-122"/>
            </a:endParaRPr>
          </a:p>
        </p:txBody>
      </p:sp>
      <p:pic>
        <p:nvPicPr>
          <p:cNvPr id="104486" name="Picture 38">
            <a:extLst>
              <a:ext uri="{FF2B5EF4-FFF2-40B4-BE49-F238E27FC236}">
                <a16:creationId xmlns:a16="http://schemas.microsoft.com/office/drawing/2014/main" id="{A75BC1FC-3724-4CD8-9388-93256CCFDF4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296" y="4832006"/>
            <a:ext cx="4275541" cy="586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4487" name="Picture 39">
            <a:extLst>
              <a:ext uri="{FF2B5EF4-FFF2-40B4-BE49-F238E27FC236}">
                <a16:creationId xmlns:a16="http://schemas.microsoft.com/office/drawing/2014/main" id="{337E7694-087B-4744-AC8A-28699AD9AA0B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5685183"/>
            <a:ext cx="47879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5684CD-0AFA-4821-ABDA-99C996693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5F57FA-C8D8-443D-A6D0-A1753EFF0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For testing with a new data </a:t>
            </a:r>
            <a:r>
              <a:rPr lang="en-US" altLang="zh-CN" b="1" dirty="0">
                <a:ea typeface="SimSun" panose="02010600030101010101" pitchFamily="2" charset="-122"/>
              </a:rPr>
              <a:t>z</a:t>
            </a:r>
            <a:endParaRPr lang="en-US" altLang="zh-CN" sz="1000" dirty="0">
              <a:ea typeface="SimSun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anose="02010600030101010101" pitchFamily="2" charset="-122"/>
              </a:rPr>
              <a:t>Compute  and classify </a:t>
            </a:r>
            <a:r>
              <a:rPr lang="en-US" altLang="zh-CN" b="1" dirty="0">
                <a:ea typeface="SimSun" panose="02010600030101010101" pitchFamily="2" charset="-122"/>
              </a:rPr>
              <a:t>z</a:t>
            </a:r>
            <a:r>
              <a:rPr lang="en-US" altLang="zh-CN" dirty="0">
                <a:ea typeface="SimSun" panose="02010600030101010101" pitchFamily="2" charset="-122"/>
              </a:rPr>
              <a:t> as class 1 if the sum is positive, and class 2 otherwise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885F14-A2B3-4E16-AC8F-AED36653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43408-BE45-45D0-ACFB-DDF21CAE0EB7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E0398-BE0E-4632-A16C-34AF1FAA6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5009C-CED3-4209-B5D9-06F77EF0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CBFD6A4-F12C-47F0-B82D-4EBD5DB7A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Characteristics of the Solution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56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DDCF4F18-E7E2-4428-BA55-912FD065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5341A-B0C1-4157-91EE-C1B92872FB07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6F11F71E-56B1-4C79-87F4-C5166C8145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07B44F-D2F6-413A-AA4A-C78EA02C63AA}" type="slidenum">
              <a:rPr lang="zh-CN" altLang="en-US"/>
              <a:pPr/>
              <a:t>23</a:t>
            </a:fld>
            <a:endParaRPr lang="en-US" altLang="zh-CN"/>
          </a:p>
        </p:txBody>
      </p:sp>
      <p:sp>
        <p:nvSpPr>
          <p:cNvPr id="180280" name="Text Box 56">
            <a:extLst>
              <a:ext uri="{FF2B5EF4-FFF2-40B4-BE49-F238E27FC236}">
                <a16:creationId xmlns:a16="http://schemas.microsoft.com/office/drawing/2014/main" id="{6072F714-4A5B-45DE-A9BB-1671B9C43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495800"/>
            <a:ext cx="1135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6</a:t>
            </a:r>
            <a:r>
              <a:rPr lang="en-US" altLang="zh-CN">
                <a:ea typeface="SimSun" panose="02010600030101010101" pitchFamily="2" charset="-122"/>
              </a:rPr>
              <a:t>=1.4</a:t>
            </a:r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8B536178-3351-4E36-A7BC-D29845A28A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A Geometrical Interpretation</a:t>
            </a:r>
          </a:p>
        </p:txBody>
      </p:sp>
      <p:sp>
        <p:nvSpPr>
          <p:cNvPr id="180246" name="Line 22">
            <a:extLst>
              <a:ext uri="{FF2B5EF4-FFF2-40B4-BE49-F238E27FC236}">
                <a16:creationId xmlns:a16="http://schemas.microsoft.com/office/drawing/2014/main" id="{A2BECE56-AC25-439E-B209-9B06496DD8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1611313"/>
            <a:ext cx="0" cy="427990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0247" name="Line 23">
            <a:extLst>
              <a:ext uri="{FF2B5EF4-FFF2-40B4-BE49-F238E27FC236}">
                <a16:creationId xmlns:a16="http://schemas.microsoft.com/office/drawing/2014/main" id="{D0473356-2D42-4DED-97E0-DE14B45FE2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5891213"/>
            <a:ext cx="4076700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0248" name="Oval 24">
            <a:extLst>
              <a:ext uri="{FF2B5EF4-FFF2-40B4-BE49-F238E27FC236}">
                <a16:creationId xmlns:a16="http://schemas.microsoft.com/office/drawing/2014/main" id="{FC4C2938-75EB-4836-9556-BEBCDFD1C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1925" y="2427288"/>
            <a:ext cx="2032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49" name="Oval 25">
            <a:extLst>
              <a:ext uri="{FF2B5EF4-FFF2-40B4-BE49-F238E27FC236}">
                <a16:creationId xmlns:a16="http://schemas.microsoft.com/office/drawing/2014/main" id="{3DC608D1-F4B6-4D37-AAB2-241F266AD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276600"/>
            <a:ext cx="204788" cy="2047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0" name="Oval 26">
            <a:extLst>
              <a:ext uri="{FF2B5EF4-FFF2-40B4-BE49-F238E27FC236}">
                <a16:creationId xmlns:a16="http://schemas.microsoft.com/office/drawing/2014/main" id="{E49479A6-F32F-4532-AB3B-B4DB6DC99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9088" y="3548063"/>
            <a:ext cx="2032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1" name="Oval 27">
            <a:extLst>
              <a:ext uri="{FF2B5EF4-FFF2-40B4-BE49-F238E27FC236}">
                <a16:creationId xmlns:a16="http://schemas.microsoft.com/office/drawing/2014/main" id="{4A1FABBB-9493-4790-B59E-A03A7FC8B7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9150" y="2630488"/>
            <a:ext cx="204788" cy="2047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2" name="Oval 28">
            <a:extLst>
              <a:ext uri="{FF2B5EF4-FFF2-40B4-BE49-F238E27FC236}">
                <a16:creationId xmlns:a16="http://schemas.microsoft.com/office/drawing/2014/main" id="{28DA804A-124A-4EE8-9104-FAB93DC73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4713" y="3956050"/>
            <a:ext cx="203200" cy="203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3" name="Rectangle 29">
            <a:extLst>
              <a:ext uri="{FF2B5EF4-FFF2-40B4-BE49-F238E27FC236}">
                <a16:creationId xmlns:a16="http://schemas.microsoft.com/office/drawing/2014/main" id="{C93DEB45-651A-42F2-8768-E2F3F41E2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038600"/>
            <a:ext cx="203200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4" name="Rectangle 30">
            <a:extLst>
              <a:ext uri="{FF2B5EF4-FFF2-40B4-BE49-F238E27FC236}">
                <a16:creationId xmlns:a16="http://schemas.microsoft.com/office/drawing/2014/main" id="{BD72D46D-91C2-43A3-A56E-33E0F9347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419600"/>
            <a:ext cx="204788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5" name="Rectangle 31">
            <a:extLst>
              <a:ext uri="{FF2B5EF4-FFF2-40B4-BE49-F238E27FC236}">
                <a16:creationId xmlns:a16="http://schemas.microsoft.com/office/drawing/2014/main" id="{271D5EA3-EF71-493B-A33A-F6EBB894A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4350" y="5076825"/>
            <a:ext cx="203200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7" name="Rectangle 33">
            <a:extLst>
              <a:ext uri="{FF2B5EF4-FFF2-40B4-BE49-F238E27FC236}">
                <a16:creationId xmlns:a16="http://schemas.microsoft.com/office/drawing/2014/main" id="{8D43B0EE-AE46-4380-A0BC-1EC871B1C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4975225"/>
            <a:ext cx="204787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8" name="Rectangle 34">
            <a:extLst>
              <a:ext uri="{FF2B5EF4-FFF2-40B4-BE49-F238E27FC236}">
                <a16:creationId xmlns:a16="http://schemas.microsoft.com/office/drawing/2014/main" id="{7DCFDEC8-06A3-4BD4-B817-248A3CE30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175" y="3446463"/>
            <a:ext cx="203200" cy="203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59" name="Text Box 35">
            <a:extLst>
              <a:ext uri="{FF2B5EF4-FFF2-40B4-BE49-F238E27FC236}">
                <a16:creationId xmlns:a16="http://schemas.microsoft.com/office/drawing/2014/main" id="{0A489703-826D-4689-A127-973C83ADB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486400"/>
            <a:ext cx="971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SimSun" panose="02010600030101010101" pitchFamily="2" charset="-122"/>
              </a:rPr>
              <a:t>Class 1</a:t>
            </a:r>
          </a:p>
        </p:txBody>
      </p:sp>
      <p:sp>
        <p:nvSpPr>
          <p:cNvPr id="180260" name="Text Box 36">
            <a:extLst>
              <a:ext uri="{FF2B5EF4-FFF2-40B4-BE49-F238E27FC236}">
                <a16:creationId xmlns:a16="http://schemas.microsoft.com/office/drawing/2014/main" id="{59CA2055-85BA-4FF6-A553-0619CA1A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1447800"/>
            <a:ext cx="971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000">
                <a:ea typeface="SimSun" panose="02010600030101010101" pitchFamily="2" charset="-122"/>
              </a:rPr>
              <a:t>Class 2</a:t>
            </a:r>
          </a:p>
        </p:txBody>
      </p:sp>
      <p:sp>
        <p:nvSpPr>
          <p:cNvPr id="180261" name="Line 37">
            <a:extLst>
              <a:ext uri="{FF2B5EF4-FFF2-40B4-BE49-F238E27FC236}">
                <a16:creationId xmlns:a16="http://schemas.microsoft.com/office/drawing/2014/main" id="{EBB8FD47-A6C2-4D2F-A817-200E0FE4C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46363" y="1917700"/>
            <a:ext cx="3363912" cy="3362325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0262" name="Line 38">
            <a:extLst>
              <a:ext uri="{FF2B5EF4-FFF2-40B4-BE49-F238E27FC236}">
                <a16:creationId xmlns:a16="http://schemas.microsoft.com/office/drawing/2014/main" id="{BA109F99-573B-415E-9F69-2EA2EDF1EC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0800" y="2427288"/>
            <a:ext cx="3632200" cy="3590925"/>
          </a:xfrm>
          <a:prstGeom prst="line">
            <a:avLst/>
          </a:prstGeom>
          <a:noFill/>
          <a:ln w="38100">
            <a:solidFill>
              <a:schemeClr val="folHlink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80263" name="Line 39">
            <a:extLst>
              <a:ext uri="{FF2B5EF4-FFF2-40B4-BE49-F238E27FC236}">
                <a16:creationId xmlns:a16="http://schemas.microsoft.com/office/drawing/2014/main" id="{9992BED6-EDB0-4261-9C46-98BE0F7AD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20800" y="1509713"/>
            <a:ext cx="4165600" cy="4129087"/>
          </a:xfrm>
          <a:prstGeom prst="line">
            <a:avLst/>
          </a:prstGeom>
          <a:noFill/>
          <a:ln w="38100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80264" name="Picture 40">
            <a:extLst>
              <a:ext uri="{FF2B5EF4-FFF2-40B4-BE49-F238E27FC236}">
                <a16:creationId xmlns:a16="http://schemas.microsoft.com/office/drawing/2014/main" id="{BE5E517C-9DC5-4B04-80BA-5F29A754340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410200"/>
            <a:ext cx="1905000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0265" name="Picture 41">
            <a:extLst>
              <a:ext uri="{FF2B5EF4-FFF2-40B4-BE49-F238E27FC236}">
                <a16:creationId xmlns:a16="http://schemas.microsoft.com/office/drawing/2014/main" id="{AC9E571E-BEFB-40E5-87EA-CC83383F4E88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800600"/>
            <a:ext cx="1828800" cy="344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0266" name="Picture 42">
            <a:extLst>
              <a:ext uri="{FF2B5EF4-FFF2-40B4-BE49-F238E27FC236}">
                <a16:creationId xmlns:a16="http://schemas.microsoft.com/office/drawing/2014/main" id="{380ED0DA-8B25-4F83-B2CB-906765E3E7BF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5943600"/>
            <a:ext cx="2133600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70" name="Line 46">
            <a:extLst>
              <a:ext uri="{FF2B5EF4-FFF2-40B4-BE49-F238E27FC236}">
                <a16:creationId xmlns:a16="http://schemas.microsoft.com/office/drawing/2014/main" id="{798C5319-4193-40EA-8F06-874678D51B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9563" y="2427288"/>
            <a:ext cx="2141537" cy="2241550"/>
          </a:xfrm>
          <a:prstGeom prst="line">
            <a:avLst/>
          </a:prstGeom>
          <a:noFill/>
          <a:ln w="25400">
            <a:solidFill>
              <a:srgbClr val="993366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/>
          </a:p>
        </p:txBody>
      </p:sp>
      <p:pic>
        <p:nvPicPr>
          <p:cNvPr id="180271" name="Picture 47">
            <a:extLst>
              <a:ext uri="{FF2B5EF4-FFF2-40B4-BE49-F238E27FC236}">
                <a16:creationId xmlns:a16="http://schemas.microsoft.com/office/drawing/2014/main" id="{09087B8F-822A-4007-90DE-8C276C7B2052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971800"/>
            <a:ext cx="38100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75" name="Text Box 51">
            <a:extLst>
              <a:ext uri="{FF2B5EF4-FFF2-40B4-BE49-F238E27FC236}">
                <a16:creationId xmlns:a16="http://schemas.microsoft.com/office/drawing/2014/main" id="{3EFB948A-46C1-40C0-B759-D318808BC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886200"/>
            <a:ext cx="1135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1</a:t>
            </a:r>
            <a:r>
              <a:rPr lang="en-US" altLang="zh-CN">
                <a:ea typeface="SimSun" panose="02010600030101010101" pitchFamily="2" charset="-122"/>
              </a:rPr>
              <a:t>=0.8</a:t>
            </a:r>
          </a:p>
        </p:txBody>
      </p:sp>
      <p:sp>
        <p:nvSpPr>
          <p:cNvPr id="180276" name="Text Box 52">
            <a:extLst>
              <a:ext uri="{FF2B5EF4-FFF2-40B4-BE49-F238E27FC236}">
                <a16:creationId xmlns:a16="http://schemas.microsoft.com/office/drawing/2014/main" id="{E1FA33FF-EAC9-41D2-948C-F602BE4EB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124200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2</a:t>
            </a:r>
            <a:r>
              <a:rPr lang="en-US" altLang="zh-CN"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180277" name="Text Box 53">
            <a:extLst>
              <a:ext uri="{FF2B5EF4-FFF2-40B4-BE49-F238E27FC236}">
                <a16:creationId xmlns:a16="http://schemas.microsoft.com/office/drawing/2014/main" id="{1E5179F7-4477-4A7A-8BB7-7BD98EC78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257800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3</a:t>
            </a:r>
            <a:r>
              <a:rPr lang="en-US" altLang="zh-CN"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180278" name="Text Box 54">
            <a:extLst>
              <a:ext uri="{FF2B5EF4-FFF2-40B4-BE49-F238E27FC236}">
                <a16:creationId xmlns:a16="http://schemas.microsoft.com/office/drawing/2014/main" id="{1BF7C67B-0FC4-4C09-A33B-56A853C5F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4114800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4</a:t>
            </a:r>
            <a:r>
              <a:rPr lang="en-US" altLang="zh-CN"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180279" name="Text Box 55">
            <a:extLst>
              <a:ext uri="{FF2B5EF4-FFF2-40B4-BE49-F238E27FC236}">
                <a16:creationId xmlns:a16="http://schemas.microsoft.com/office/drawing/2014/main" id="{780E7BA0-F390-4BD5-B89D-A940E2F9A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276600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5</a:t>
            </a:r>
            <a:r>
              <a:rPr lang="en-US" altLang="zh-CN"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180282" name="Text Box 58">
            <a:extLst>
              <a:ext uri="{FF2B5EF4-FFF2-40B4-BE49-F238E27FC236}">
                <a16:creationId xmlns:a16="http://schemas.microsoft.com/office/drawing/2014/main" id="{61CEA2B0-5AD7-476D-B6E5-CA41403C9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895600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7</a:t>
            </a:r>
            <a:r>
              <a:rPr lang="en-US" altLang="zh-CN"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180283" name="Text Box 59">
            <a:extLst>
              <a:ext uri="{FF2B5EF4-FFF2-40B4-BE49-F238E27FC236}">
                <a16:creationId xmlns:a16="http://schemas.microsoft.com/office/drawing/2014/main" id="{F73D6435-6E25-4739-8EB6-D6E3F70831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209800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8</a:t>
            </a:r>
            <a:r>
              <a:rPr lang="en-US" altLang="zh-CN">
                <a:ea typeface="SimSun" panose="02010600030101010101" pitchFamily="2" charset="-122"/>
              </a:rPr>
              <a:t>=0.6</a:t>
            </a:r>
          </a:p>
        </p:txBody>
      </p:sp>
      <p:sp>
        <p:nvSpPr>
          <p:cNvPr id="180284" name="Text Box 60">
            <a:extLst>
              <a:ext uri="{FF2B5EF4-FFF2-40B4-BE49-F238E27FC236}">
                <a16:creationId xmlns:a16="http://schemas.microsoft.com/office/drawing/2014/main" id="{6C8BA057-0446-4725-8585-B84490D18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029200"/>
            <a:ext cx="876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9</a:t>
            </a:r>
            <a:r>
              <a:rPr lang="en-US" altLang="zh-CN"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180285" name="Text Box 61">
            <a:extLst>
              <a:ext uri="{FF2B5EF4-FFF2-40B4-BE49-F238E27FC236}">
                <a16:creationId xmlns:a16="http://schemas.microsoft.com/office/drawing/2014/main" id="{5AB074E4-B346-46CC-89F5-36525E4C53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057400"/>
            <a:ext cx="9874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Symbol" panose="05050102010706020507" pitchFamily="18" charset="2"/>
                <a:ea typeface="SimSun" panose="02010600030101010101" pitchFamily="2" charset="-122"/>
              </a:rPr>
              <a:t>a</a:t>
            </a:r>
            <a:r>
              <a:rPr lang="en-US" altLang="zh-CN" baseline="-25000">
                <a:ea typeface="SimSun" panose="02010600030101010101" pitchFamily="2" charset="-122"/>
              </a:rPr>
              <a:t>10</a:t>
            </a:r>
            <a:r>
              <a:rPr lang="en-US" altLang="zh-CN">
                <a:ea typeface="SimSun" panose="02010600030101010101" pitchFamily="2" charset="-122"/>
              </a:rPr>
              <a:t>=0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3833A9-941C-40A0-B55C-D48A1ECC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2A68BDCF-3F78-4077-A6B8-6578E799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7C33D-1659-4247-A63E-91350748B451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34" name="Slide Number Placeholder 33">
            <a:extLst>
              <a:ext uri="{FF2B5EF4-FFF2-40B4-BE49-F238E27FC236}">
                <a16:creationId xmlns:a16="http://schemas.microsoft.com/office/drawing/2014/main" id="{36475CDE-9E15-4E42-85EB-B8D63CE643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420E8C-4531-410D-BFC7-11065567CE4D}" type="slidenum">
              <a:rPr lang="zh-CN" altLang="en-US"/>
              <a:pPr/>
              <a:t>24</a:t>
            </a:fld>
            <a:endParaRPr lang="en-US" altLang="zh-CN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47B3B84C-1E43-4EB6-8351-6A093327CB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174" y="476295"/>
            <a:ext cx="8229600" cy="838200"/>
          </a:xfrm>
        </p:spPr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Allowing errors in our solutions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4A9698BC-A15B-47EA-93DE-BEA1BAA162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4009" y="1282007"/>
            <a:ext cx="8252791" cy="2562507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a typeface="SimSun" panose="02010600030101010101" pitchFamily="2" charset="-122"/>
              </a:rPr>
              <a:t>We allow “error” </a:t>
            </a:r>
            <a:r>
              <a:rPr lang="en-US" altLang="zh-CN" sz="2400" dirty="0">
                <a:latin typeface="Symbol" panose="05050102010706020507" pitchFamily="18" charset="2"/>
                <a:ea typeface="SimSun" panose="02010600030101010101" pitchFamily="2" charset="-122"/>
              </a:rPr>
              <a:t>x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a typeface="SimSun" panose="02010600030101010101" pitchFamily="2" charset="-122"/>
              </a:rPr>
              <a:t> in classification; it is based on the output of the discriminant function </a:t>
            </a:r>
            <a:r>
              <a:rPr lang="en-US" altLang="zh-CN" sz="2400" b="1" dirty="0" err="1">
                <a:ea typeface="SimSun" panose="02010600030101010101" pitchFamily="2" charset="-122"/>
              </a:rPr>
              <a:t>w</a:t>
            </a:r>
            <a:r>
              <a:rPr lang="en-US" altLang="zh-CN" sz="2400" baseline="30000" dirty="0" err="1">
                <a:ea typeface="SimSun" panose="02010600030101010101" pitchFamily="2" charset="-122"/>
              </a:rPr>
              <a:t>T</a:t>
            </a:r>
            <a:r>
              <a:rPr lang="en-US" altLang="zh-CN" sz="2400" b="1" dirty="0" err="1">
                <a:ea typeface="SimSun" panose="02010600030101010101" pitchFamily="2" charset="-122"/>
              </a:rPr>
              <a:t>x</a:t>
            </a:r>
            <a:r>
              <a:rPr lang="en-US" altLang="zh-CN" sz="2400" dirty="0" err="1">
                <a:ea typeface="SimSun" panose="02010600030101010101" pitchFamily="2" charset="-122"/>
              </a:rPr>
              <a:t>+b</a:t>
            </a:r>
            <a:endParaRPr lang="en-US" altLang="zh-CN" sz="2400" dirty="0">
              <a:ea typeface="SimSun" panose="02010600030101010101" pitchFamily="2" charset="-122"/>
            </a:endParaRPr>
          </a:p>
          <a:p>
            <a:r>
              <a:rPr lang="en-US" altLang="zh-CN" sz="2400" dirty="0">
                <a:ea typeface="SimSun" panose="02010600030101010101" pitchFamily="2" charset="-122"/>
              </a:rPr>
              <a:t> </a:t>
            </a:r>
            <a:r>
              <a:rPr lang="en-US" altLang="zh-CN" sz="2400" dirty="0">
                <a:latin typeface="Symbol" panose="05050102010706020507" pitchFamily="18" charset="2"/>
                <a:ea typeface="SimSun" panose="02010600030101010101" pitchFamily="2" charset="-122"/>
              </a:rPr>
              <a:t>x</a:t>
            </a:r>
            <a:r>
              <a:rPr lang="en-US" altLang="zh-CN" sz="2400" baseline="-25000" dirty="0">
                <a:ea typeface="SimSun" panose="02010600030101010101" pitchFamily="2" charset="-122"/>
              </a:rPr>
              <a:t>i</a:t>
            </a:r>
            <a:r>
              <a:rPr lang="en-US" altLang="zh-CN" sz="2400" dirty="0">
                <a:ea typeface="SimSun" panose="02010600030101010101" pitchFamily="2" charset="-122"/>
              </a:rPr>
              <a:t> approximates the number of misclassified samples</a:t>
            </a:r>
          </a:p>
        </p:txBody>
      </p:sp>
      <p:grpSp>
        <p:nvGrpSpPr>
          <p:cNvPr id="106542" name="Group 46">
            <a:extLst>
              <a:ext uri="{FF2B5EF4-FFF2-40B4-BE49-F238E27FC236}">
                <a16:creationId xmlns:a16="http://schemas.microsoft.com/office/drawing/2014/main" id="{2DFCD620-DB03-4273-BABB-DD43630379A2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2482850"/>
            <a:ext cx="5943600" cy="4070350"/>
            <a:chOff x="1008" y="1056"/>
            <a:chExt cx="4416" cy="3024"/>
          </a:xfrm>
        </p:grpSpPr>
        <p:sp>
          <p:nvSpPr>
            <p:cNvPr id="106502" name="Line 6">
              <a:extLst>
                <a:ext uri="{FF2B5EF4-FFF2-40B4-BE49-F238E27FC236}">
                  <a16:creationId xmlns:a16="http://schemas.microsoft.com/office/drawing/2014/main" id="{822F37FD-9572-49AD-BCCD-DDBF98FD4E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1128"/>
              <a:ext cx="0" cy="26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6503" name="Line 7">
              <a:extLst>
                <a:ext uri="{FF2B5EF4-FFF2-40B4-BE49-F238E27FC236}">
                  <a16:creationId xmlns:a16="http://schemas.microsoft.com/office/drawing/2014/main" id="{7F27E7C5-D52F-477F-9ADD-ECDD6BFD00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44" y="3824"/>
              <a:ext cx="25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6504" name="Oval 8">
              <a:extLst>
                <a:ext uri="{FF2B5EF4-FFF2-40B4-BE49-F238E27FC236}">
                  <a16:creationId xmlns:a16="http://schemas.microsoft.com/office/drawing/2014/main" id="{0ED5E66F-8FBA-4A58-A162-E54325022F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8" y="1642"/>
              <a:ext cx="128" cy="1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05" name="Oval 9">
              <a:extLst>
                <a:ext uri="{FF2B5EF4-FFF2-40B4-BE49-F238E27FC236}">
                  <a16:creationId xmlns:a16="http://schemas.microsoft.com/office/drawing/2014/main" id="{193BED6B-C4FD-4319-96DE-FD1FC06CE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1344"/>
              <a:ext cx="129" cy="12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06" name="Oval 10">
              <a:extLst>
                <a:ext uri="{FF2B5EF4-FFF2-40B4-BE49-F238E27FC236}">
                  <a16:creationId xmlns:a16="http://schemas.microsoft.com/office/drawing/2014/main" id="{85C909E9-DD9D-4C12-8436-044D9789C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2496"/>
              <a:ext cx="128" cy="1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07" name="Oval 11">
              <a:extLst>
                <a:ext uri="{FF2B5EF4-FFF2-40B4-BE49-F238E27FC236}">
                  <a16:creationId xmlns:a16="http://schemas.microsoft.com/office/drawing/2014/main" id="{49CC6290-9701-4FE9-89C6-0EE71345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728"/>
              <a:ext cx="129" cy="12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08" name="Oval 12">
              <a:extLst>
                <a:ext uri="{FF2B5EF4-FFF2-40B4-BE49-F238E27FC236}">
                  <a16:creationId xmlns:a16="http://schemas.microsoft.com/office/drawing/2014/main" id="{C12C49BD-4D79-47DF-A336-51C1DA72D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064"/>
              <a:ext cx="128" cy="12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09" name="Rectangle 13">
              <a:extLst>
                <a:ext uri="{FF2B5EF4-FFF2-40B4-BE49-F238E27FC236}">
                  <a16:creationId xmlns:a16="http://schemas.microsoft.com/office/drawing/2014/main" id="{6D654E46-4E47-4568-B684-021E2AEFB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57"/>
              <a:ext cx="128" cy="12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10" name="Rectangle 14">
              <a:extLst>
                <a:ext uri="{FF2B5EF4-FFF2-40B4-BE49-F238E27FC236}">
                  <a16:creationId xmlns:a16="http://schemas.microsoft.com/office/drawing/2014/main" id="{EAC1616D-22FC-4810-AC8D-66464EA03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448"/>
              <a:ext cx="129" cy="12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11" name="Rectangle 15">
              <a:extLst>
                <a:ext uri="{FF2B5EF4-FFF2-40B4-BE49-F238E27FC236}">
                  <a16:creationId xmlns:a16="http://schemas.microsoft.com/office/drawing/2014/main" id="{4EAE4197-4382-4DE5-8C33-8E4A7DDBB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928"/>
              <a:ext cx="128" cy="12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12" name="Rectangle 16">
              <a:extLst>
                <a:ext uri="{FF2B5EF4-FFF2-40B4-BE49-F238E27FC236}">
                  <a16:creationId xmlns:a16="http://schemas.microsoft.com/office/drawing/2014/main" id="{546E1307-F3EF-4070-BA2A-3303AD1DE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3247"/>
              <a:ext cx="129" cy="12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13" name="Rectangle 17">
              <a:extLst>
                <a:ext uri="{FF2B5EF4-FFF2-40B4-BE49-F238E27FC236}">
                  <a16:creationId xmlns:a16="http://schemas.microsoft.com/office/drawing/2014/main" id="{9918AD86-0A2E-495F-9A81-457C516A3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832"/>
              <a:ext cx="128" cy="128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514" name="Text Box 18">
              <a:extLst>
                <a:ext uri="{FF2B5EF4-FFF2-40B4-BE49-F238E27FC236}">
                  <a16:creationId xmlns:a16="http://schemas.microsoft.com/office/drawing/2014/main" id="{5531073B-FF68-4658-B61E-A0EF950D3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569"/>
              <a:ext cx="722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SimSun" panose="02010600030101010101" pitchFamily="2" charset="-122"/>
                </a:rPr>
                <a:t>Class 1</a:t>
              </a:r>
            </a:p>
          </p:txBody>
        </p:sp>
        <p:sp>
          <p:nvSpPr>
            <p:cNvPr id="106515" name="Text Box 19">
              <a:extLst>
                <a:ext uri="{FF2B5EF4-FFF2-40B4-BE49-F238E27FC236}">
                  <a16:creationId xmlns:a16="http://schemas.microsoft.com/office/drawing/2014/main" id="{06471824-8A7F-40D0-8013-378476778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488"/>
              <a:ext cx="721" cy="2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>
                  <a:ea typeface="SimSun" panose="02010600030101010101" pitchFamily="2" charset="-122"/>
                </a:rPr>
                <a:t>Class 2</a:t>
              </a:r>
            </a:p>
          </p:txBody>
        </p:sp>
        <p:sp>
          <p:nvSpPr>
            <p:cNvPr id="106516" name="Line 20">
              <a:extLst>
                <a:ext uri="{FF2B5EF4-FFF2-40B4-BE49-F238E27FC236}">
                  <a16:creationId xmlns:a16="http://schemas.microsoft.com/office/drawing/2014/main" id="{C2D2D10F-2CE6-4511-93FD-3938C663C0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056"/>
              <a:ext cx="2119" cy="2118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6517" name="Line 21">
              <a:extLst>
                <a:ext uri="{FF2B5EF4-FFF2-40B4-BE49-F238E27FC236}">
                  <a16:creationId xmlns:a16="http://schemas.microsoft.com/office/drawing/2014/main" id="{62B8E81D-04A1-4625-8CE1-7CFF945ED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1728"/>
              <a:ext cx="2288" cy="2262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6518" name="Line 22">
              <a:extLst>
                <a:ext uri="{FF2B5EF4-FFF2-40B4-BE49-F238E27FC236}">
                  <a16:creationId xmlns:a16="http://schemas.microsoft.com/office/drawing/2014/main" id="{6578EC8E-B8E3-4E47-9330-2895ABD71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8" y="1064"/>
              <a:ext cx="2624" cy="2601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106519" name="Picture 23">
              <a:extLst>
                <a:ext uri="{FF2B5EF4-FFF2-40B4-BE49-F238E27FC236}">
                  <a16:creationId xmlns:a16="http://schemas.microsoft.com/office/drawing/2014/main" id="{1F9BEC4B-23C9-49B1-83A5-453F31ACD50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1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6" y="3521"/>
              <a:ext cx="1200" cy="2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6520" name="Picture 24">
              <a:extLst>
                <a:ext uri="{FF2B5EF4-FFF2-40B4-BE49-F238E27FC236}">
                  <a16:creationId xmlns:a16="http://schemas.microsoft.com/office/drawing/2014/main" id="{FE759140-9A0B-4560-85E9-2E44D6D9394E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3137"/>
              <a:ext cx="1152" cy="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6521" name="Picture 25">
              <a:extLst>
                <a:ext uri="{FF2B5EF4-FFF2-40B4-BE49-F238E27FC236}">
                  <a16:creationId xmlns:a16="http://schemas.microsoft.com/office/drawing/2014/main" id="{DF55558C-4FD6-44FF-BE45-DBA5F0361575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16" y="3857"/>
              <a:ext cx="1344" cy="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6522" name="Line 26">
              <a:extLst>
                <a:ext uri="{FF2B5EF4-FFF2-40B4-BE49-F238E27FC236}">
                  <a16:creationId xmlns:a16="http://schemas.microsoft.com/office/drawing/2014/main" id="{F2496ABC-2728-4B05-823E-EBC59BA69A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71" y="1642"/>
              <a:ext cx="1349" cy="141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106523" name="Picture 27">
              <a:extLst>
                <a:ext uri="{FF2B5EF4-FFF2-40B4-BE49-F238E27FC236}">
                  <a16:creationId xmlns:a16="http://schemas.microsoft.com/office/drawing/2014/main" id="{879D8A50-C272-493D-A8DA-57A0FF67B13A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1968"/>
              <a:ext cx="240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6533" name="Line 37">
              <a:extLst>
                <a:ext uri="{FF2B5EF4-FFF2-40B4-BE49-F238E27FC236}">
                  <a16:creationId xmlns:a16="http://schemas.microsoft.com/office/drawing/2014/main" id="{AD08F88B-40BE-42A4-A9B1-6EBD817E72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21" y="2554"/>
              <a:ext cx="768" cy="768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106534" name="Picture 38">
              <a:extLst>
                <a:ext uri="{FF2B5EF4-FFF2-40B4-BE49-F238E27FC236}">
                  <a16:creationId xmlns:a16="http://schemas.microsoft.com/office/drawing/2014/main" id="{F143AF5D-0616-4ECF-82B0-7CED7DCEDC04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5"/>
              </p:custDataLst>
            </p:nvPr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6" y="2976"/>
              <a:ext cx="190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6536" name="Picture 40">
              <a:extLst>
                <a:ext uri="{FF2B5EF4-FFF2-40B4-BE49-F238E27FC236}">
                  <a16:creationId xmlns:a16="http://schemas.microsoft.com/office/drawing/2014/main" id="{46E3EA6C-9FEC-4557-8245-AFDA54E374B2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6"/>
              </p:custDataLst>
            </p:nvPr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7" y="2592"/>
              <a:ext cx="199" cy="1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6537" name="Line 41">
              <a:extLst>
                <a:ext uri="{FF2B5EF4-FFF2-40B4-BE49-F238E27FC236}">
                  <a16:creationId xmlns:a16="http://schemas.microsoft.com/office/drawing/2014/main" id="{D6C7FB03-3939-4176-AFC2-369C78555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96" y="1429"/>
              <a:ext cx="374" cy="347"/>
            </a:xfrm>
            <a:prstGeom prst="line">
              <a:avLst/>
            </a:prstGeom>
            <a:noFill/>
            <a:ln w="25400">
              <a:solidFill>
                <a:srgbClr val="FF00FF"/>
              </a:solidFill>
              <a:miter lim="800000"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pic>
          <p:nvPicPr>
            <p:cNvPr id="106540" name="Picture 44">
              <a:extLst>
                <a:ext uri="{FF2B5EF4-FFF2-40B4-BE49-F238E27FC236}">
                  <a16:creationId xmlns:a16="http://schemas.microsoft.com/office/drawing/2014/main" id="{BEDC0FB0-42B2-45D8-B7F0-DAEE42B7FBA1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7"/>
              </p:custDataLst>
            </p:nvPr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30" y="1802"/>
              <a:ext cx="221" cy="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6541" name="Picture 45">
              <a:extLst>
                <a:ext uri="{FF2B5EF4-FFF2-40B4-BE49-F238E27FC236}">
                  <a16:creationId xmlns:a16="http://schemas.microsoft.com/office/drawing/2014/main" id="{DBE74D8C-6949-443F-A6B1-FC03146B1E7D}"/>
                </a:ext>
              </a:extLst>
            </p:cNvPr>
            <p:cNvPicPr>
              <a:picLocks noChangeAspect="1" noChangeArrowheads="1"/>
            </p:cNvPicPr>
            <p:nvPr>
              <p:custDataLst>
                <p:tags r:id="rId8"/>
              </p:custDataLst>
            </p:nvPr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89" y="1373"/>
              <a:ext cx="215" cy="27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C5A7BD-FF81-4C60-A66D-AA2AE9023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7858257-3A01-43FF-898F-6A90BC4B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B5BA8F-616D-4269-B44D-13ADEB0E806A}" type="datetime1">
              <a:rPr lang="en-US" altLang="zh-CN" smtClean="0"/>
              <a:t>3/17/2022</a:t>
            </a:fld>
            <a:endParaRPr lang="en-US" altLang="zh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5FBFE-5998-434B-A1A3-3982B14E0A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A222CA-B4E2-4A1D-A5A8-B6679861C7AE}" type="slidenum">
              <a:rPr lang="zh-CN" altLang="en-US"/>
              <a:pPr/>
              <a:t>25</a:t>
            </a:fld>
            <a:endParaRPr lang="en-US" altLang="zh-CN"/>
          </a:p>
        </p:txBody>
      </p:sp>
      <p:sp>
        <p:nvSpPr>
          <p:cNvPr id="185346" name="Rectangle 2">
            <a:extLst>
              <a:ext uri="{FF2B5EF4-FFF2-40B4-BE49-F238E27FC236}">
                <a16:creationId xmlns:a16="http://schemas.microsoft.com/office/drawing/2014/main" id="{F9DD320E-227B-4CC7-98DB-13E8997B7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Soft Margin Hyperplane</a:t>
            </a:r>
          </a:p>
        </p:txBody>
      </p:sp>
      <p:sp>
        <p:nvSpPr>
          <p:cNvPr id="185347" name="Rectangle 3">
            <a:extLst>
              <a:ext uri="{FF2B5EF4-FFF2-40B4-BE49-F238E27FC236}">
                <a16:creationId xmlns:a16="http://schemas.microsoft.com/office/drawing/2014/main" id="{42F39290-0513-4404-9B58-5634EE5F1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SimSun" panose="02010600030101010101" pitchFamily="2" charset="-122"/>
              </a:rPr>
              <a:t>If we minimize </a:t>
            </a:r>
            <a:r>
              <a:rPr lang="en-US" altLang="zh-CN" dirty="0" err="1">
                <a:latin typeface="Symbol" panose="05050102010706020507" pitchFamily="18" charset="2"/>
                <a:ea typeface="SimSun" panose="02010600030101010101" pitchFamily="2" charset="-122"/>
              </a:rPr>
              <a:t>å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 err="1">
                <a:latin typeface="Symbol" panose="05050102010706020507" pitchFamily="18" charset="2"/>
                <a:ea typeface="SimSun" panose="02010600030101010101" pitchFamily="2" charset="-122"/>
              </a:rPr>
              <a:t>x</a:t>
            </a:r>
            <a:r>
              <a:rPr lang="en-US" altLang="zh-CN" baseline="-25000" dirty="0" err="1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,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x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can be computed by</a:t>
            </a: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x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are “</a:t>
            </a:r>
            <a:r>
              <a:rPr lang="en-US" altLang="zh-CN" dirty="0">
                <a:solidFill>
                  <a:srgbClr val="00B0F0"/>
                </a:solidFill>
                <a:ea typeface="SimSun" panose="02010600030101010101" pitchFamily="2" charset="-122"/>
              </a:rPr>
              <a:t>slack variables</a:t>
            </a:r>
            <a:r>
              <a:rPr lang="en-US" altLang="zh-CN" dirty="0">
                <a:ea typeface="SimSun" panose="02010600030101010101" pitchFamily="2" charset="-122"/>
              </a:rPr>
              <a:t>” in optimization</a:t>
            </a:r>
          </a:p>
          <a:p>
            <a:pPr lvl="1"/>
            <a:r>
              <a:rPr lang="en-US" altLang="zh-CN" dirty="0">
                <a:ea typeface="SimSun" panose="02010600030101010101" pitchFamily="2" charset="-122"/>
              </a:rPr>
              <a:t>Note that </a:t>
            </a:r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x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=0 if there is no error for </a:t>
            </a:r>
            <a:r>
              <a:rPr lang="en-US" altLang="zh-CN" b="1" dirty="0">
                <a:ea typeface="SimSun" panose="02010600030101010101" pitchFamily="2" charset="-122"/>
              </a:rPr>
              <a:t>x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endParaRPr lang="en-US" altLang="zh-CN" dirty="0">
              <a:ea typeface="SimSun" panose="02010600030101010101" pitchFamily="2" charset="-122"/>
            </a:endParaRPr>
          </a:p>
          <a:p>
            <a:pPr lvl="1"/>
            <a:r>
              <a:rPr lang="en-US" altLang="zh-CN" dirty="0">
                <a:latin typeface="Symbol" panose="05050102010706020507" pitchFamily="18" charset="2"/>
                <a:ea typeface="SimSun" panose="02010600030101010101" pitchFamily="2" charset="-122"/>
              </a:rPr>
              <a:t>x</a:t>
            </a:r>
            <a:r>
              <a:rPr lang="en-US" altLang="zh-CN" baseline="-25000" dirty="0">
                <a:ea typeface="SimSun" panose="02010600030101010101" pitchFamily="2" charset="-122"/>
              </a:rPr>
              <a:t>i</a:t>
            </a:r>
            <a:r>
              <a:rPr lang="en-US" altLang="zh-CN" dirty="0">
                <a:ea typeface="SimSun" panose="02010600030101010101" pitchFamily="2" charset="-122"/>
              </a:rPr>
              <a:t> is an upper bound of the number of errors</a:t>
            </a:r>
          </a:p>
          <a:p>
            <a:r>
              <a:rPr lang="en-US" altLang="zh-CN" dirty="0">
                <a:ea typeface="SimSun" panose="02010600030101010101" pitchFamily="2" charset="-122"/>
              </a:rPr>
              <a:t>We want to minimize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 sz="1000" i="1" dirty="0">
                <a:ea typeface="SimSun" panose="02010600030101010101" pitchFamily="2" charset="-122"/>
              </a:rPr>
              <a:t> </a:t>
            </a:r>
          </a:p>
          <a:p>
            <a:pPr lvl="1"/>
            <a:r>
              <a:rPr lang="en-US" altLang="zh-CN" i="1" dirty="0">
                <a:ea typeface="SimSun" panose="02010600030101010101" pitchFamily="2" charset="-122"/>
              </a:rPr>
              <a:t>C</a:t>
            </a:r>
            <a:r>
              <a:rPr lang="en-US" altLang="zh-CN" dirty="0">
                <a:ea typeface="SimSun" panose="02010600030101010101" pitchFamily="2" charset="-122"/>
              </a:rPr>
              <a:t> :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tradeoff parameter between error and margin</a:t>
            </a:r>
          </a:p>
        </p:txBody>
      </p:sp>
      <p:pic>
        <p:nvPicPr>
          <p:cNvPr id="185349" name="Picture 5">
            <a:extLst>
              <a:ext uri="{FF2B5EF4-FFF2-40B4-BE49-F238E27FC236}">
                <a16:creationId xmlns:a16="http://schemas.microsoft.com/office/drawing/2014/main" id="{A0985161-7411-4657-809F-990182246916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125664"/>
            <a:ext cx="4157662" cy="1160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246CF-41C4-455A-A278-E62BF7B20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871" y="5029201"/>
            <a:ext cx="3157330" cy="60015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B5C6EE-2CC3-443C-95DC-543940552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F6790C7-E1CF-43A9-83E7-4D9E9CB965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PK" i="1" smtClean="0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0&lt;</m:t>
                    </m:r>
                    <m:sSub>
                      <m:sSubPr>
                        <m:ctrlPr>
                          <a:rPr lang="en-PK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𝜉</m:t>
                        </m:r>
                      </m:e>
                      <m:sub>
                        <m:r>
                          <a:rPr lang="en-PK" i="1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PK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≤</m:t>
                    </m:r>
                    <m:r>
                      <a:rPr lang="en-PK" i="1"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dirty="0">
                    <a:latin typeface="TimesTen-Roman"/>
                  </a:rPr>
                  <a:t>then data point falls inside the boundary but on the </a:t>
                </a:r>
                <a:r>
                  <a:rPr lang="en-US" dirty="0">
                    <a:solidFill>
                      <a:srgbClr val="FF0000"/>
                    </a:solidFill>
                    <a:latin typeface="TimesTen-Roman"/>
                  </a:rPr>
                  <a:t>correct side of the hyperplane</a:t>
                </a:r>
                <a:r>
                  <a:rPr lang="en-US" dirty="0">
                    <a:latin typeface="TimesTen-Roman"/>
                  </a:rPr>
                  <a:t>.</a:t>
                </a:r>
              </a:p>
              <a:p>
                <a:r>
                  <a:rPr lang="en-US" dirty="0">
                    <a:effectLst/>
                    <a:ea typeface="Calibri" panose="020F0502020204030204" pitchFamily="34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PK" i="1" smtClean="0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PK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𝜉</m:t>
                        </m:r>
                      </m:e>
                      <m:sub>
                        <m:r>
                          <a:rPr lang="en-PK" i="1">
                            <a:solidFill>
                              <a:srgbClr val="00B0F0"/>
                            </a:solidFill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&gt;</m:t>
                    </m:r>
                    <m:r>
                      <a:rPr lang="en-PK" i="1">
                        <a:solidFill>
                          <a:srgbClr val="00B0F0"/>
                        </a:solidFill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 </a:t>
                </a:r>
                <a:r>
                  <a:rPr lang="en-US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</a:rPr>
                  <a:t>then data point </a:t>
                </a:r>
                <a:r>
                  <a:rPr lang="en-US" b="0" i="0" u="none" strike="noStrike" baseline="0" dirty="0">
                    <a:latin typeface="TimesTen-Roman"/>
                  </a:rPr>
                  <a:t>falls on the </a:t>
                </a:r>
                <a:r>
                  <a:rPr lang="en-US" b="0" i="0" u="none" strike="noStrike" baseline="0" dirty="0">
                    <a:solidFill>
                      <a:srgbClr val="00B0F0"/>
                    </a:solidFill>
                    <a:latin typeface="TimesTen-Roman"/>
                  </a:rPr>
                  <a:t>wrong side of the hyperplane</a:t>
                </a:r>
                <a:r>
                  <a:rPr lang="en-US" b="0" i="0" u="none" strike="noStrike" baseline="0" dirty="0">
                    <a:latin typeface="TimesTen-Roman"/>
                  </a:rPr>
                  <a:t>.</a:t>
                </a:r>
              </a:p>
              <a:p>
                <a:pPr algn="l"/>
                <a:endParaRPr lang="en-PK" dirty="0">
                  <a:effectLst/>
                  <a:latin typeface="Calibri" panose="020F0502020204030204" pitchFamily="34" charset="0"/>
                  <a:ea typeface="Calibri" panose="020F0502020204030204" pitchFamily="34" charset="0"/>
                </a:endParaRPr>
              </a:p>
              <a:p>
                <a:endParaRPr lang="en-US" sz="40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F6790C7-E1CF-43A9-83E7-4D9E9CB965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752" r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A92CB-620B-4D40-B1C3-FE079013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A12E1-01DD-43CF-8DF1-FC1576C4AE2A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AC630-21F7-40B7-B55D-DC5F316B0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FDB8F-659D-4683-A89A-04D5ADCE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EA0673B-54FE-4FD1-9930-17E2D7EA0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Soft Margin Hyperplane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44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A1FBBF-A8D9-4F16-82A9-9098756F0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The </a:t>
            </a:r>
            <a:r>
              <a:rPr lang="en-US" altLang="zh-CN" dirty="0">
                <a:solidFill>
                  <a:srgbClr val="FF0000"/>
                </a:solidFill>
                <a:ea typeface="SimSun" panose="02010600030101010101" pitchFamily="2" charset="-122"/>
              </a:rPr>
              <a:t>optimization problem becomes</a:t>
            </a:r>
          </a:p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6D999A-7EE4-49E2-9DEE-0FBB5B1E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56C5F-8C23-473F-B338-EE7EDB6C0238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4BF93-8BD1-4A75-A49B-19F87619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8E86E-F574-45DE-9F2C-33E9AD00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04E1CB-799F-433D-916B-988C50CB8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Soft Margin Hyperplane</a:t>
            </a:r>
            <a:endParaRPr lang="en-US" dirty="0"/>
          </a:p>
        </p:txBody>
      </p:sp>
      <p:pic>
        <p:nvPicPr>
          <p:cNvPr id="8" name="Picture 12">
            <a:extLst>
              <a:ext uri="{FF2B5EF4-FFF2-40B4-BE49-F238E27FC236}">
                <a16:creationId xmlns:a16="http://schemas.microsoft.com/office/drawing/2014/main" id="{EB1F91D4-0AFE-48F3-B80F-EF87D11922A0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593" y="3429000"/>
            <a:ext cx="798020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8DD082-9E8F-4236-B0A1-FCAAEFBB04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2381354"/>
            <a:ext cx="6210586" cy="67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762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50FF7-F0EF-4A15-AC1F-96E402BB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2DA6F-D9C4-441D-B806-EBB854FE3FB2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3863B-3D4A-407E-AB92-D3B8C3907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5B899-A470-4BD3-95F0-88A484CF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1806E54-6DE7-443E-AD27-F3988E555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SimSun" panose="02010600030101010101" pitchFamily="2" charset="-122"/>
              </a:rPr>
              <a:t>Soft Margin Hyperplane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8132676-54EA-4BFB-9F7D-B5DA74EC43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79" y="2953339"/>
            <a:ext cx="9155157" cy="1841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26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451F11-1A79-4878-BD6B-B8BF6260D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6, Neural Networks and Learning Machines, </a:t>
            </a:r>
            <a:r>
              <a:rPr lang="en-US"/>
              <a:t>Haykin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EEBDF-F450-4AF4-95A3-68599D5C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CE432-4810-4A25-B32D-0680D99DA640}" type="datetime1">
              <a:rPr lang="en-US" smtClean="0"/>
              <a:t>3/17/2022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6F7A3-02D5-41C8-ADB7-8F7C7610C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9EA51-16FA-41F5-85A5-C2E2510B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E980EE-E49A-432C-9A0E-21147F213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41741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52" y="2866671"/>
            <a:ext cx="7886700" cy="606423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Thank You </a:t>
            </a:r>
            <a:r>
              <a:rPr lang="en-US" sz="7200" dirty="0">
                <a:sym typeface="Wingdings" panose="05000000000000000000" pitchFamily="2" charset="2"/>
              </a:rPr>
              <a:t> </a:t>
            </a:r>
            <a:endParaRPr lang="en-US" sz="7200" dirty="0"/>
          </a:p>
        </p:txBody>
      </p:sp>
      <p:sp>
        <p:nvSpPr>
          <p:cNvPr id="4" name="Rectangle 3"/>
          <p:cNvSpPr/>
          <p:nvPr/>
        </p:nvSpPr>
        <p:spPr>
          <a:xfrm>
            <a:off x="202676" y="762000"/>
            <a:ext cx="8484124" cy="14045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12F37-302F-42F2-9029-E364DD370268}" type="slidenum">
              <a:rPr lang="en-US" smtClean="0"/>
              <a:t>30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A7392-48F4-4CAC-9AC2-B5ABCB7E736C}" type="datetime1">
              <a:rPr lang="en-US" smtClean="0"/>
              <a:t>3/17/2022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Presented by    Dr. AKHTAR JAMIL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314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0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3"/>
  <p:tag name="PICTUREFILESIZE" val="489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2"/>
  <p:tag name="PICTUREFILESIZE" val="429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-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38"/>
  <p:tag name="PICTUREFILESIZE" val="463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m = \frac{2}{||\mathbf{w}||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92"/>
  <p:tag name="PICTUREFILESIZE" val="442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7"/>
  <p:tag name="PICTUREFILESIZE" val="89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 y_i ( \mathbf{w}^T \mathbf{x}_i + b) \geq 1, \qquad \forall i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241"/>
  <p:tag name="PICTUREFILESIZE" val="1088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box{Minimize } \frac 12 ||\mathbf{w}||^2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61"/>
  <p:tag name="PICTUREFILESIZE" val="836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box{ subject to } y_i ( \mathbf{w}^T \mathbf{x}_i + b) \geq 1 \qquad \forall i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340"/>
  <p:tag name="PICTUREFILESIZE" val="1579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box{subject to } \alpha_i \geq 0, \qquad \sum_{i=1}^n \alpha_i y_i = 0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ALLOWFONTSUBSTITUTION" val="False"/>
  <p:tag name="BITMAPFORMAT" val="pngmono"/>
  <p:tag name="ORIGWIDTH" val="344"/>
  <p:tag name="PICTUREFILESIZE" val="18199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&#10;\begin{document}&#10;\[&#10;\mbox{max. } W(\boldsymbol{\alpha}) = \sum_{i=1}^n \alpha_i - \frac 12 \sum_{i=1,j=1}^n \alpha_i \alpha_j y_i y_j &#10;\mathbf{x}_i^T \mathbf{x}_j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446"/>
  <p:tag name="PICTUREFILESIZE" val="3007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&#10;\mathbf{w} = \sum_{j=1}^s \alpha_{t_j} y_{t_j} \mathbf{x}_{t_j}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182"/>
  <p:tag name="PICTUREFILESIZE" val="948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&#10;\mathbf{w}^T \mathbf{z} + b &#10;=&#10;\sum_{j=1}^s \alpha_{t_j} y_{t_j} \bigl( \mathbf{x}_{t_j}^T \mathbf{z} \bigr) + b&#10;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312"/>
  <p:tag name="PICTUREFILESIZE" val="1614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0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3"/>
  <p:tag name="PICTUREFILESIZE" val="489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2"/>
  <p:tag name="PICTUREFILESIZE" val="429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-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38"/>
  <p:tag name="PICTUREFILESIZE" val="463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7"/>
  <p:tag name="PICTUREFILESIZE" val="89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0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3"/>
  <p:tag name="PICTUREFILESIZE" val="489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22"/>
  <p:tag name="PICTUREFILESIZE" val="429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^T \mathbf{x} + b = -1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38"/>
  <p:tag name="PICTUREFILESIZE" val="463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&#10;\mathbf{w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7"/>
  <p:tag name="PICTUREFILESIZE" val="89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xi_i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15"/>
  <p:tag name="PICTUREFILESIZE" val="1428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athbf{x}_i 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18"/>
  <p:tag name="PICTUREFILESIZE" val="126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mathbf{x}_j 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06"/>
  <p:tag name="BOXFONT" val="10"/>
  <p:tag name="BOXWRAP" val="False"/>
  <p:tag name="WORKAROUNDTRANSPARENCYBUG" val="False"/>
  <p:tag name="BITMAPFORMAT" val="pngmono"/>
  <p:tag name="DEBUGINTERACTIVE" val="True"/>
  <p:tag name="ORIGWIDTH" val="20"/>
  <p:tag name="PICTUREFILESIZE" val="133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\xi_j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51"/>
  <p:tag name="BOXFONT" val="10"/>
  <p:tag name="BOXWRAP" val="False"/>
  <p:tag name="WORKAROUNDTRANSPARENCYBUG" val="False"/>
  <p:tag name="BITMAPFORMAT" val="pngmono"/>
  <p:tag name="DEBUGINTERACTIVE" val="True"/>
  <p:tag name="ORIGWIDTH" val="17"/>
  <p:tag name="PICTUREFILESIZE" val="154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begin{document}&#10;\[&#10;\begin{cases}&#10;\mathbf{w}^T \mathbf{x}_i + b \geq 1 - \xi_i    &amp; y_i = 1\\&#10;\mathbf{w}^T \mathbf{x}_i + b \leq -1 + \xi_i    &amp; y_i = -1\\&#10;\xi_i \geq 0 &amp; \forall i&#10;\end{cases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1"/>
  <p:tag name="BOXFONT" val="10"/>
  <p:tag name="BOXWRAP" val="False"/>
  <p:tag name="WORKAROUNDTRANSPARENCYBUG" val="False"/>
  <p:tag name="BITMAPFORMAT" val="pngmono"/>
  <p:tag name="DEBUGINTERACTIVE" val="True"/>
  <p:tag name="ORIGWIDTH" val="301"/>
  <p:tag name="PICTUREFILESIZE" val="2818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$ \mbox{subject to }&#10;y_i (\mathbf{w}^T \mathbf{x}_i + b) \geq 1 - \xi_i, \quad&#10;\xi_i \geq 0 $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381"/>
  <p:tag name="BOXFONT" val="10"/>
  <p:tag name="BOXWRAP" val="False"/>
  <p:tag name="WORKAROUNDTRANSPARENCYBUG" val="False"/>
  <p:tag name="BITMAPFORMAT" val="pngmono"/>
  <p:tag name="DEBUGINTERACTIVE" val="True"/>
  <p:tag name="ORIGWIDTH" val="403"/>
  <p:tag name="PICTUREFILESIZE" val="1896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17489</TotalTime>
  <Words>1464</Words>
  <Application>Microsoft Office PowerPoint</Application>
  <PresentationFormat>On-screen Show (4:3)</PresentationFormat>
  <Paragraphs>304</Paragraphs>
  <Slides>30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Arial</vt:lpstr>
      <vt:lpstr>Arial</vt:lpstr>
      <vt:lpstr>Calibri</vt:lpstr>
      <vt:lpstr>Cambria Math</vt:lpstr>
      <vt:lpstr>MathematicalPi-One</vt:lpstr>
      <vt:lpstr>Symbol</vt:lpstr>
      <vt:lpstr>Tahoma</vt:lpstr>
      <vt:lpstr>TimesTen-BoldItalic</vt:lpstr>
      <vt:lpstr>TimesTen-Italic</vt:lpstr>
      <vt:lpstr>TimesTen-Roman</vt:lpstr>
      <vt:lpstr>Wingdings</vt:lpstr>
      <vt:lpstr>Office Theme</vt:lpstr>
      <vt:lpstr>Equation</vt:lpstr>
      <vt:lpstr>PowerPoint Presentation</vt:lpstr>
      <vt:lpstr>Goals</vt:lpstr>
      <vt:lpstr>History of SVM</vt:lpstr>
      <vt:lpstr>Support Vector Machine</vt:lpstr>
      <vt:lpstr> Linear Classifiers</vt:lpstr>
      <vt:lpstr> Linear Classifiers</vt:lpstr>
      <vt:lpstr> Linear Classifiers</vt:lpstr>
      <vt:lpstr> Linear Classifiers</vt:lpstr>
      <vt:lpstr> Linear Classifiers</vt:lpstr>
      <vt:lpstr>Classifier Margin</vt:lpstr>
      <vt:lpstr>Maximum Margin</vt:lpstr>
      <vt:lpstr>Maximum Margin</vt:lpstr>
      <vt:lpstr>Why Maximum Margin?</vt:lpstr>
      <vt:lpstr>PowerPoint Presentation</vt:lpstr>
      <vt:lpstr>Estimate the Margin</vt:lpstr>
      <vt:lpstr>Large-margin Decision Boundary</vt:lpstr>
      <vt:lpstr>Finding the Decision Boundary</vt:lpstr>
      <vt:lpstr>The Dual Problem</vt:lpstr>
      <vt:lpstr>The Dual Problem</vt:lpstr>
      <vt:lpstr>The Dual Problem</vt:lpstr>
      <vt:lpstr>Characteristics of the Solution</vt:lpstr>
      <vt:lpstr>Characteristics of the Solution</vt:lpstr>
      <vt:lpstr>A Geometrical Interpretation</vt:lpstr>
      <vt:lpstr>Allowing errors in our solutions</vt:lpstr>
      <vt:lpstr>Soft Margin Hyperplane</vt:lpstr>
      <vt:lpstr>Soft Margin Hyperplane</vt:lpstr>
      <vt:lpstr>Soft Margin Hyperplane</vt:lpstr>
      <vt:lpstr>Soft Margin Hyperplane</vt:lpstr>
      <vt:lpstr>References</vt:lpstr>
      <vt:lpstr>Thank You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AKHTAR JAMIL</dc:creator>
  <cp:lastModifiedBy>Akhtar JAMIL</cp:lastModifiedBy>
  <cp:revision>1618</cp:revision>
  <dcterms:created xsi:type="dcterms:W3CDTF">2006-08-16T00:00:00Z</dcterms:created>
  <dcterms:modified xsi:type="dcterms:W3CDTF">2022-03-17T06:45:22Z</dcterms:modified>
</cp:coreProperties>
</file>