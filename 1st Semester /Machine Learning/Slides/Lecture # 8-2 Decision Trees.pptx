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32"/>
  </p:notesMasterIdLst>
  <p:sldIdLst>
    <p:sldId id="443" r:id="rId2"/>
    <p:sldId id="421" r:id="rId3"/>
    <p:sldId id="1299" r:id="rId4"/>
    <p:sldId id="264" r:id="rId5"/>
    <p:sldId id="1300" r:id="rId6"/>
    <p:sldId id="1302" r:id="rId7"/>
    <p:sldId id="1301" r:id="rId8"/>
    <p:sldId id="376" r:id="rId9"/>
    <p:sldId id="435" r:id="rId10"/>
    <p:sldId id="286" r:id="rId11"/>
    <p:sldId id="1304" r:id="rId12"/>
    <p:sldId id="293" r:id="rId13"/>
    <p:sldId id="294" r:id="rId14"/>
    <p:sldId id="295" r:id="rId15"/>
    <p:sldId id="296" r:id="rId16"/>
    <p:sldId id="297" r:id="rId17"/>
    <p:sldId id="290" r:id="rId18"/>
    <p:sldId id="292" r:id="rId19"/>
    <p:sldId id="1307" r:id="rId20"/>
    <p:sldId id="1308" r:id="rId21"/>
    <p:sldId id="1309" r:id="rId22"/>
    <p:sldId id="1306" r:id="rId23"/>
    <p:sldId id="1311" r:id="rId24"/>
    <p:sldId id="1312" r:id="rId25"/>
    <p:sldId id="1313" r:id="rId26"/>
    <p:sldId id="1314" r:id="rId27"/>
    <p:sldId id="1315" r:id="rId28"/>
    <p:sldId id="1316" r:id="rId29"/>
    <p:sldId id="1298" r:id="rId30"/>
    <p:sldId id="415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A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62" autoAdjust="0"/>
    <p:restoredTop sz="94660"/>
  </p:normalViewPr>
  <p:slideViewPr>
    <p:cSldViewPr>
      <p:cViewPr varScale="1">
        <p:scale>
          <a:sx n="72" d="100"/>
          <a:sy n="72" d="100"/>
        </p:scale>
        <p:origin x="121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3/30/2022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92875"/>
            <a:ext cx="21336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7EE8E72-DB05-4F25-921E-8373A995D12D}" type="datetime1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77000"/>
            <a:ext cx="21336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609601"/>
            <a:ext cx="82296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457200"/>
            <a:ext cx="9128760" cy="7620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517199"/>
            <a:ext cx="91287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D146-60E0-42B3-B050-79D997995FD0}" type="datetime1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2045-6CAE-4DAE-8FFC-092811B27E2C}" type="datetime1">
              <a:rPr lang="en-US" smtClean="0"/>
              <a:t>3/30/2022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854E2-7C77-47AD-978C-A10F19BCD4EF}" type="datetime1">
              <a:rPr lang="en-US" smtClean="0"/>
              <a:t>3/30/2022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D691A-3BE9-406A-BB8C-B3BB24D9470B}" type="datetime1">
              <a:rPr lang="en-US" smtClean="0"/>
              <a:t>3/30/2022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524000"/>
            <a:ext cx="82296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7FECC-5824-4FCE-BFF7-CED6C57E07CF}" type="datetime1">
              <a:rPr lang="en-US" smtClean="0"/>
              <a:t>3/30/2022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ECDCD-E4C5-4930-A27B-99FAF7D39B37}" type="datetime1">
              <a:rPr lang="en-US" smtClean="0"/>
              <a:t>3/30/2022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71D15-B244-40C6-A276-85EA812108C8}" type="datetime1">
              <a:rPr lang="en-US" smtClean="0"/>
              <a:t>3/30/2022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D161-9528-45B1-A429-B6D972A56A25}" type="datetime1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B8BC2-373E-492A-ACB3-8076CE7139D5}" type="datetime1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12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94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206">
              <a:spcBef>
                <a:spcPts val="49"/>
              </a:spcBef>
            </a:pPr>
            <a:r>
              <a:rPr lang="en-US" spc="-9"/>
              <a:t>Presented by    Dr. AKHTAR JAMIL </a:t>
            </a:r>
            <a:endParaRPr lang="en-US" spc="-9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94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206">
              <a:spcBef>
                <a:spcPts val="49"/>
              </a:spcBef>
            </a:pPr>
            <a:fld id="{E1295DC8-1591-40A2-9512-5E7737C537DC}" type="datetime1">
              <a:rPr lang="en-US" spc="-9" smtClean="0"/>
              <a:t>3/30/2022</a:t>
            </a:fld>
            <a:endParaRPr lang="en-US" spc="-9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3619">
              <a:spcBef>
                <a:spcPts val="40"/>
              </a:spcBef>
            </a:pPr>
            <a:fld id="{81D60167-4931-47E6-BA6A-407CBD079E47}" type="slidenum">
              <a:rPr lang="en-PK" smtClean="0"/>
              <a:pPr marL="33619">
                <a:spcBef>
                  <a:spcPts val="40"/>
                </a:spcBef>
              </a:pPr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00795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5763" y="1426563"/>
            <a:ext cx="723247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94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206">
              <a:spcBef>
                <a:spcPts val="49"/>
              </a:spcBef>
            </a:pPr>
            <a:r>
              <a:rPr lang="en-US" spc="-9"/>
              <a:t>Presented by    Dr. AKHTAR JAMIL </a:t>
            </a:r>
            <a:endParaRPr lang="en-US" spc="-9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94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206">
              <a:spcBef>
                <a:spcPts val="49"/>
              </a:spcBef>
            </a:pPr>
            <a:fld id="{44EE0444-E892-4EAC-BBE6-25BDF100A93C}" type="datetime1">
              <a:rPr lang="en-US" spc="-9" smtClean="0"/>
              <a:t>3/30/2022</a:t>
            </a:fld>
            <a:endParaRPr lang="en-US" spc="-9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3619">
              <a:spcBef>
                <a:spcPts val="40"/>
              </a:spcBef>
            </a:pPr>
            <a:fld id="{81D60167-4931-47E6-BA6A-407CBD079E47}" type="slidenum">
              <a:rPr lang="en-PK" smtClean="0"/>
              <a:pPr marL="33619">
                <a:spcBef>
                  <a:spcPts val="40"/>
                </a:spcBef>
              </a:pPr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81833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8800"/>
            <a:ext cx="82296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325285C9-B633-43E6-BFFE-60FAA2493F9F}" type="datetime1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77000"/>
            <a:ext cx="2895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77000"/>
            <a:ext cx="2133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cs229.stanford.edu/notes2021spring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581400" y="928670"/>
            <a:ext cx="495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0" i="0" dirty="0">
                <a:solidFill>
                  <a:srgbClr val="0099CC"/>
                </a:solidFill>
                <a:effectLst/>
                <a:latin typeface="arial" panose="020B0604020202020204" pitchFamily="34" charset="0"/>
              </a:rPr>
              <a:t>The National University of Computer and Emerging Sciences</a:t>
            </a:r>
            <a:endParaRPr lang="en-US" sz="2000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876300" y="2589241"/>
            <a:ext cx="73913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Decision Trees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028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 err="1">
                <a:solidFill>
                  <a:srgbClr val="002060"/>
                </a:solidFill>
                <a:latin typeface="Arial" charset="0"/>
              </a:rPr>
              <a:t>Dr.</a:t>
            </a: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 Akhtar Jamil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Computer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" y="3900341"/>
            <a:ext cx="73913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Machine Learning for Data Science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35802"/>
            <a:ext cx="1864889" cy="1864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CE3A62-5C29-499E-8256-FBD552D3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33370-80AC-4E9D-9FF9-D81426488D70}" type="datetime1">
              <a:rPr lang="en-US" smtClean="0"/>
              <a:t>3/30/2022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808BEE6-F8F4-4A24-8FF4-E33955C7B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0B18DA6-C312-4A10-95C0-9292A7C8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5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Review of Previous Lecture</a:t>
            </a:r>
          </a:p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dirty="0"/>
              <a:t>Decision Trees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402D7-A97B-483B-B162-D01C3F959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3F08E-A05B-4A5C-BEC7-0CF9B928A8E4}" type="datetime1">
              <a:rPr lang="en-US" smtClean="0"/>
              <a:t>3/30/2022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73A54A-7D4E-437F-83F7-634F4507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AEB498-E246-4877-A681-DE3891A30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5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194C91-D20A-4354-A5DD-19A49A909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Problem: Given the following information of a customer, decide whether the bank should assign a loan or not</a:t>
            </a:r>
          </a:p>
          <a:p>
            <a:r>
              <a:rPr lang="en-US" sz="2400" dirty="0">
                <a:solidFill>
                  <a:srgbClr val="FF0000"/>
                </a:solidFill>
              </a:rPr>
              <a:t>Classes: Safe or Risky</a:t>
            </a:r>
          </a:p>
          <a:p>
            <a:r>
              <a:rPr lang="en-US" sz="2400" spc="-13" dirty="0">
                <a:solidFill>
                  <a:srgbClr val="002060"/>
                </a:solidFill>
                <a:latin typeface="Calibri"/>
                <a:cs typeface="Calibri"/>
              </a:rPr>
              <a:t>Features: Credit</a:t>
            </a:r>
            <a:r>
              <a:rPr lang="en-US" sz="2400" spc="-49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n-US" sz="2400" spc="-13" dirty="0">
                <a:solidFill>
                  <a:srgbClr val="002060"/>
                </a:solidFill>
                <a:latin typeface="Calibri"/>
                <a:cs typeface="Calibri"/>
              </a:rPr>
              <a:t>History, Income, </a:t>
            </a:r>
            <a:r>
              <a:rPr lang="en-US" sz="2400" spc="-44" dirty="0">
                <a:solidFill>
                  <a:srgbClr val="002060"/>
                </a:solidFill>
                <a:latin typeface="Calibri"/>
                <a:cs typeface="Calibri"/>
              </a:rPr>
              <a:t>Term, </a:t>
            </a:r>
            <a:r>
              <a:rPr lang="en-US" sz="2400" spc="-18" dirty="0">
                <a:solidFill>
                  <a:srgbClr val="002060"/>
                </a:solidFill>
                <a:latin typeface="Calibri"/>
                <a:cs typeface="Calibri"/>
              </a:rPr>
              <a:t>Personal</a:t>
            </a:r>
            <a:r>
              <a:rPr lang="en-US" sz="2400" spc="-44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n-US" sz="2400" spc="-18" dirty="0">
                <a:solidFill>
                  <a:srgbClr val="002060"/>
                </a:solidFill>
                <a:latin typeface="Calibri"/>
                <a:cs typeface="Calibri"/>
              </a:rPr>
              <a:t>Info</a:t>
            </a:r>
            <a:endParaRPr lang="en-US" sz="2400" dirty="0">
              <a:solidFill>
                <a:srgbClr val="002060"/>
              </a:solidFill>
              <a:latin typeface="Calibri"/>
              <a:cs typeface="Calibri"/>
            </a:endParaRPr>
          </a:p>
          <a:p>
            <a:endParaRPr lang="en-US" sz="2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3D657CC-0922-498F-BE35-B1417A0D1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E8CAE5ED-8F89-49EC-A6B0-99B96C12F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914457"/>
              </p:ext>
            </p:extLst>
          </p:nvPr>
        </p:nvGraphicFramePr>
        <p:xfrm>
          <a:off x="5181600" y="3276600"/>
          <a:ext cx="3293505" cy="3217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3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003">
                <a:tc>
                  <a:txBody>
                    <a:bodyPr/>
                    <a:lstStyle/>
                    <a:p>
                      <a:pPr marL="0" marR="24765" indent="0" algn="l">
                        <a:lnSpc>
                          <a:spcPct val="100000"/>
                        </a:lnSpc>
                        <a:spcBef>
                          <a:spcPts val="235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334" marB="0"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143510" indent="0" algn="l">
                        <a:lnSpc>
                          <a:spcPct val="100000"/>
                        </a:lnSpc>
                        <a:spcBef>
                          <a:spcPts val="235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334" marB="0"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22225" indent="0" algn="l">
                        <a:lnSpc>
                          <a:spcPct val="100000"/>
                        </a:lnSpc>
                        <a:spcBef>
                          <a:spcPts val="235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Income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334" marB="0"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35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334" marB="0">
                    <a:solidFill>
                      <a:srgbClr val="B000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786">
                <a:tc>
                  <a:txBody>
                    <a:bodyPr/>
                    <a:lstStyle/>
                    <a:p>
                      <a:pPr marL="0" marR="24130" indent="0" algn="l">
                        <a:lnSpc>
                          <a:spcPct val="100000"/>
                        </a:lnSpc>
                        <a:spcBef>
                          <a:spcPts val="16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excellent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929" marB="0">
                    <a:lnL w="9525">
                      <a:solidFill>
                        <a:srgbClr val="B0007E"/>
                      </a:solidFill>
                      <a:prstDash val="solid"/>
                    </a:lnL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16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929" marB="0"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2225" indent="0" algn="l">
                        <a:lnSpc>
                          <a:spcPct val="100000"/>
                        </a:lnSpc>
                        <a:spcBef>
                          <a:spcPts val="16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929" marB="0"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16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safe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929" marB="0">
                    <a:lnR w="9525">
                      <a:solidFill>
                        <a:srgbClr val="B0007E"/>
                      </a:solidFill>
                      <a:prstDash val="solid"/>
                    </a:lnR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340">
                <a:tc>
                  <a:txBody>
                    <a:bodyPr/>
                    <a:lstStyle/>
                    <a:p>
                      <a:pPr marL="0" marR="24765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fair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2159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low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risky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340">
                <a:tc>
                  <a:txBody>
                    <a:bodyPr/>
                    <a:lstStyle/>
                    <a:p>
                      <a:pPr marL="0" marR="24765" indent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fair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2225" indent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safe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340">
                <a:tc>
                  <a:txBody>
                    <a:bodyPr/>
                    <a:lstStyle/>
                    <a:p>
                      <a:pPr marL="0" marR="24765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poor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22225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risky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340">
                <a:tc>
                  <a:txBody>
                    <a:bodyPr/>
                    <a:lstStyle/>
                    <a:p>
                      <a:pPr marL="0" marR="2413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excellent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2159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low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risky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marL="0" marR="24765" indent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fair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1590" indent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low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safe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340">
                <a:tc>
                  <a:txBody>
                    <a:bodyPr/>
                    <a:lstStyle/>
                    <a:p>
                      <a:pPr marL="0" marR="24765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poor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22225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risky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340">
                <a:tc>
                  <a:txBody>
                    <a:bodyPr/>
                    <a:lstStyle/>
                    <a:p>
                      <a:pPr marL="0" marR="24765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poor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159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low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safe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340">
                <a:tc>
                  <a:txBody>
                    <a:bodyPr/>
                    <a:lstStyle/>
                    <a:p>
                      <a:pPr marL="0" marR="24765" indent="0" algn="l"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fair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213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21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2225" indent="0" algn="l"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21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safe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5213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D40828-3682-4518-985B-7D75F564A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BF6DC-EFD2-402D-86B8-76687BE806EC}" type="datetime1">
              <a:rPr lang="en-US" smtClean="0"/>
              <a:t>3/30/2022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2C1CF2B-96EC-46E1-AD49-9DEAFF02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CD0E37-A3EE-465B-800F-5BFDF8A55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89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5904" y="685317"/>
            <a:ext cx="6634078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lang="en-US" dirty="0"/>
              <a:t>Motivation</a:t>
            </a:r>
            <a:endParaRPr spc="-22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0588FD1-0126-4FBC-A674-419B8C47C7A4}"/>
              </a:ext>
            </a:extLst>
          </p:cNvPr>
          <p:cNvGrpSpPr/>
          <p:nvPr/>
        </p:nvGrpSpPr>
        <p:grpSpPr>
          <a:xfrm>
            <a:off x="685800" y="2201979"/>
            <a:ext cx="6254237" cy="3848419"/>
            <a:chOff x="679963" y="2266638"/>
            <a:chExt cx="4880688" cy="3114188"/>
          </a:xfrm>
        </p:grpSpPr>
        <p:sp>
          <p:nvSpPr>
            <p:cNvPr id="3" name="object 3"/>
            <p:cNvSpPr txBox="1"/>
            <p:nvPr/>
          </p:nvSpPr>
          <p:spPr>
            <a:xfrm>
              <a:off x="2087201" y="2266638"/>
              <a:ext cx="561415" cy="231968"/>
            </a:xfrm>
            <a:prstGeom prst="rect">
              <a:avLst/>
            </a:prstGeom>
            <a:solidFill>
              <a:srgbClr val="5D5555"/>
            </a:solidFill>
            <a:ln w="18856">
              <a:solidFill>
                <a:srgbClr val="2E2A2A"/>
              </a:solidFill>
            </a:ln>
          </p:spPr>
          <p:txBody>
            <a:bodyPr vert="horz" wrap="square" lIns="0" tIns="54909" rIns="0" bIns="0" rtlCol="0">
              <a:spAutoFit/>
            </a:bodyPr>
            <a:lstStyle/>
            <a:p>
              <a:pPr marL="135598">
                <a:spcBef>
                  <a:spcPts val="432"/>
                </a:spcBef>
              </a:pPr>
              <a:r>
                <a:rPr sz="1147" spc="4" dirty="0">
                  <a:solidFill>
                    <a:srgbClr val="FFFFFF"/>
                  </a:solidFill>
                  <a:latin typeface="Calibri"/>
                  <a:cs typeface="Calibri"/>
                </a:rPr>
                <a:t>Start</a:t>
              </a:r>
              <a:endParaRPr sz="1147">
                <a:latin typeface="Calibri"/>
                <a:cs typeface="Calibri"/>
              </a:endParaRPr>
            </a:p>
          </p:txBody>
        </p:sp>
        <p:grpSp>
          <p:nvGrpSpPr>
            <p:cNvPr id="4" name="object 4"/>
            <p:cNvGrpSpPr/>
            <p:nvPr/>
          </p:nvGrpSpPr>
          <p:grpSpPr>
            <a:xfrm>
              <a:off x="679963" y="2571323"/>
              <a:ext cx="2354916" cy="1305485"/>
              <a:chOff x="618224" y="2914166"/>
              <a:chExt cx="2668905" cy="1479550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1785084" y="3274575"/>
                <a:ext cx="1492250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492250" h="362585">
                    <a:moveTo>
                      <a:pt x="746103" y="0"/>
                    </a:moveTo>
                    <a:lnTo>
                      <a:pt x="0" y="181070"/>
                    </a:lnTo>
                    <a:lnTo>
                      <a:pt x="746103" y="362139"/>
                    </a:lnTo>
                    <a:lnTo>
                      <a:pt x="1492206" y="181070"/>
                    </a:lnTo>
                    <a:lnTo>
                      <a:pt x="746103" y="0"/>
                    </a:lnTo>
                    <a:close/>
                  </a:path>
                </a:pathLst>
              </a:custGeom>
              <a:solidFill>
                <a:srgbClr val="FFBCE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1785084" y="3274575"/>
                <a:ext cx="1492250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492250" h="362585">
                    <a:moveTo>
                      <a:pt x="0" y="181069"/>
                    </a:moveTo>
                    <a:lnTo>
                      <a:pt x="746103" y="0"/>
                    </a:lnTo>
                    <a:lnTo>
                      <a:pt x="1492206" y="181069"/>
                    </a:lnTo>
                    <a:lnTo>
                      <a:pt x="746103" y="362139"/>
                    </a:lnTo>
                    <a:lnTo>
                      <a:pt x="0" y="181069"/>
                    </a:lnTo>
                    <a:close/>
                  </a:path>
                </a:pathLst>
              </a:custGeom>
              <a:ln w="18860">
                <a:solidFill>
                  <a:srgbClr val="58003F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2487463" y="2914166"/>
                <a:ext cx="8763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87630" h="360679">
                    <a:moveTo>
                      <a:pt x="10504" y="274380"/>
                    </a:moveTo>
                    <a:lnTo>
                      <a:pt x="1517" y="279629"/>
                    </a:lnTo>
                    <a:lnTo>
                      <a:pt x="0" y="285404"/>
                    </a:lnTo>
                    <a:lnTo>
                      <a:pt x="43723" y="360453"/>
                    </a:lnTo>
                    <a:lnTo>
                      <a:pt x="54628" y="341736"/>
                    </a:lnTo>
                    <a:lnTo>
                      <a:pt x="34305" y="341736"/>
                    </a:lnTo>
                    <a:lnTo>
                      <a:pt x="34304" y="306851"/>
                    </a:lnTo>
                    <a:lnTo>
                      <a:pt x="16271" y="275899"/>
                    </a:lnTo>
                    <a:lnTo>
                      <a:pt x="10504" y="274380"/>
                    </a:lnTo>
                    <a:close/>
                  </a:path>
                  <a:path w="87630" h="360679">
                    <a:moveTo>
                      <a:pt x="34305" y="306852"/>
                    </a:moveTo>
                    <a:lnTo>
                      <a:pt x="34305" y="341736"/>
                    </a:lnTo>
                    <a:lnTo>
                      <a:pt x="53143" y="341736"/>
                    </a:lnTo>
                    <a:lnTo>
                      <a:pt x="53143" y="336984"/>
                    </a:lnTo>
                    <a:lnTo>
                      <a:pt x="35587" y="336984"/>
                    </a:lnTo>
                    <a:lnTo>
                      <a:pt x="43724" y="323019"/>
                    </a:lnTo>
                    <a:lnTo>
                      <a:pt x="34305" y="306852"/>
                    </a:lnTo>
                    <a:close/>
                  </a:path>
                  <a:path w="87630" h="360679">
                    <a:moveTo>
                      <a:pt x="76944" y="274380"/>
                    </a:moveTo>
                    <a:lnTo>
                      <a:pt x="71175" y="275899"/>
                    </a:lnTo>
                    <a:lnTo>
                      <a:pt x="53143" y="306851"/>
                    </a:lnTo>
                    <a:lnTo>
                      <a:pt x="53143" y="341736"/>
                    </a:lnTo>
                    <a:lnTo>
                      <a:pt x="54628" y="341736"/>
                    </a:lnTo>
                    <a:lnTo>
                      <a:pt x="87448" y="285404"/>
                    </a:lnTo>
                    <a:lnTo>
                      <a:pt x="85930" y="279629"/>
                    </a:lnTo>
                    <a:lnTo>
                      <a:pt x="76944" y="274380"/>
                    </a:lnTo>
                    <a:close/>
                  </a:path>
                  <a:path w="87630" h="360679">
                    <a:moveTo>
                      <a:pt x="43724" y="323019"/>
                    </a:moveTo>
                    <a:lnTo>
                      <a:pt x="35587" y="336984"/>
                    </a:lnTo>
                    <a:lnTo>
                      <a:pt x="51860" y="336984"/>
                    </a:lnTo>
                    <a:lnTo>
                      <a:pt x="43724" y="323019"/>
                    </a:lnTo>
                    <a:close/>
                  </a:path>
                  <a:path w="87630" h="360679">
                    <a:moveTo>
                      <a:pt x="53143" y="306851"/>
                    </a:moveTo>
                    <a:lnTo>
                      <a:pt x="43724" y="323019"/>
                    </a:lnTo>
                    <a:lnTo>
                      <a:pt x="51860" y="336984"/>
                    </a:lnTo>
                    <a:lnTo>
                      <a:pt x="53143" y="336984"/>
                    </a:lnTo>
                    <a:lnTo>
                      <a:pt x="53143" y="306851"/>
                    </a:lnTo>
                    <a:close/>
                  </a:path>
                  <a:path w="87630" h="360679">
                    <a:moveTo>
                      <a:pt x="53143" y="0"/>
                    </a:moveTo>
                    <a:lnTo>
                      <a:pt x="34303" y="0"/>
                    </a:lnTo>
                    <a:lnTo>
                      <a:pt x="34305" y="306852"/>
                    </a:lnTo>
                    <a:lnTo>
                      <a:pt x="43724" y="323019"/>
                    </a:lnTo>
                    <a:lnTo>
                      <a:pt x="53142" y="306852"/>
                    </a:lnTo>
                    <a:lnTo>
                      <a:pt x="53143" y="0"/>
                    </a:lnTo>
                    <a:close/>
                  </a:path>
                </a:pathLst>
              </a:custGeom>
              <a:solidFill>
                <a:srgbClr val="5D5555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627749" y="4030537"/>
                <a:ext cx="692150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692150" h="353695">
                    <a:moveTo>
                      <a:pt x="515547" y="0"/>
                    </a:moveTo>
                    <a:lnTo>
                      <a:pt x="176542" y="0"/>
                    </a:lnTo>
                    <a:lnTo>
                      <a:pt x="129610" y="6314"/>
                    </a:lnTo>
                    <a:lnTo>
                      <a:pt x="87438" y="24133"/>
                    </a:lnTo>
                    <a:lnTo>
                      <a:pt x="51708" y="51772"/>
                    </a:lnTo>
                    <a:lnTo>
                      <a:pt x="24103" y="87546"/>
                    </a:lnTo>
                    <a:lnTo>
                      <a:pt x="6306" y="129771"/>
                    </a:lnTo>
                    <a:lnTo>
                      <a:pt x="0" y="176762"/>
                    </a:lnTo>
                    <a:lnTo>
                      <a:pt x="6306" y="223753"/>
                    </a:lnTo>
                    <a:lnTo>
                      <a:pt x="24103" y="265978"/>
                    </a:lnTo>
                    <a:lnTo>
                      <a:pt x="51708" y="301753"/>
                    </a:lnTo>
                    <a:lnTo>
                      <a:pt x="87438" y="329392"/>
                    </a:lnTo>
                    <a:lnTo>
                      <a:pt x="129610" y="347211"/>
                    </a:lnTo>
                    <a:lnTo>
                      <a:pt x="176542" y="353526"/>
                    </a:lnTo>
                    <a:lnTo>
                      <a:pt x="515547" y="353526"/>
                    </a:lnTo>
                    <a:lnTo>
                      <a:pt x="562479" y="347211"/>
                    </a:lnTo>
                    <a:lnTo>
                      <a:pt x="604652" y="329392"/>
                    </a:lnTo>
                    <a:lnTo>
                      <a:pt x="640382" y="301753"/>
                    </a:lnTo>
                    <a:lnTo>
                      <a:pt x="667987" y="265978"/>
                    </a:lnTo>
                    <a:lnTo>
                      <a:pt x="685784" y="223753"/>
                    </a:lnTo>
                    <a:lnTo>
                      <a:pt x="692090" y="176762"/>
                    </a:lnTo>
                    <a:lnTo>
                      <a:pt x="685784" y="129771"/>
                    </a:lnTo>
                    <a:lnTo>
                      <a:pt x="667987" y="87546"/>
                    </a:lnTo>
                    <a:lnTo>
                      <a:pt x="640382" y="51772"/>
                    </a:lnTo>
                    <a:lnTo>
                      <a:pt x="604652" y="24133"/>
                    </a:lnTo>
                    <a:lnTo>
                      <a:pt x="562479" y="6314"/>
                    </a:lnTo>
                    <a:lnTo>
                      <a:pt x="515547" y="0"/>
                    </a:lnTo>
                    <a:close/>
                  </a:path>
                </a:pathLst>
              </a:custGeom>
              <a:solidFill>
                <a:srgbClr val="85BD05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627749" y="4030537"/>
                <a:ext cx="692150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692150" h="353695">
                    <a:moveTo>
                      <a:pt x="0" y="176763"/>
                    </a:moveTo>
                    <a:lnTo>
                      <a:pt x="6306" y="129772"/>
                    </a:lnTo>
                    <a:lnTo>
                      <a:pt x="24103" y="87547"/>
                    </a:lnTo>
                    <a:lnTo>
                      <a:pt x="51708" y="51772"/>
                    </a:lnTo>
                    <a:lnTo>
                      <a:pt x="87438" y="24133"/>
                    </a:lnTo>
                    <a:lnTo>
                      <a:pt x="129610" y="6314"/>
                    </a:lnTo>
                    <a:lnTo>
                      <a:pt x="176542" y="0"/>
                    </a:lnTo>
                    <a:lnTo>
                      <a:pt x="515547" y="0"/>
                    </a:lnTo>
                    <a:lnTo>
                      <a:pt x="562479" y="6314"/>
                    </a:lnTo>
                    <a:lnTo>
                      <a:pt x="604652" y="24133"/>
                    </a:lnTo>
                    <a:lnTo>
                      <a:pt x="640382" y="51772"/>
                    </a:lnTo>
                    <a:lnTo>
                      <a:pt x="667987" y="87547"/>
                    </a:lnTo>
                    <a:lnTo>
                      <a:pt x="685784" y="129772"/>
                    </a:lnTo>
                    <a:lnTo>
                      <a:pt x="692090" y="176763"/>
                    </a:lnTo>
                    <a:lnTo>
                      <a:pt x="685784" y="223754"/>
                    </a:lnTo>
                    <a:lnTo>
                      <a:pt x="667987" y="265979"/>
                    </a:lnTo>
                    <a:lnTo>
                      <a:pt x="640382" y="301753"/>
                    </a:lnTo>
                    <a:lnTo>
                      <a:pt x="604652" y="329393"/>
                    </a:lnTo>
                    <a:lnTo>
                      <a:pt x="562479" y="347212"/>
                    </a:lnTo>
                    <a:lnTo>
                      <a:pt x="515547" y="353526"/>
                    </a:lnTo>
                    <a:lnTo>
                      <a:pt x="176542" y="353526"/>
                    </a:lnTo>
                    <a:lnTo>
                      <a:pt x="129610" y="347212"/>
                    </a:lnTo>
                    <a:lnTo>
                      <a:pt x="87438" y="329393"/>
                    </a:lnTo>
                    <a:lnTo>
                      <a:pt x="51708" y="301753"/>
                    </a:lnTo>
                    <a:lnTo>
                      <a:pt x="24103" y="265979"/>
                    </a:lnTo>
                    <a:lnTo>
                      <a:pt x="6306" y="223754"/>
                    </a:lnTo>
                    <a:lnTo>
                      <a:pt x="0" y="176763"/>
                    </a:lnTo>
                    <a:close/>
                  </a:path>
                </a:pathLst>
              </a:custGeom>
              <a:ln w="18856">
                <a:solidFill>
                  <a:srgbClr val="648E04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0" name="object 10"/>
            <p:cNvSpPr txBox="1"/>
            <p:nvPr/>
          </p:nvSpPr>
          <p:spPr>
            <a:xfrm>
              <a:off x="868718" y="3615299"/>
              <a:ext cx="250451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4" dirty="0">
                  <a:solidFill>
                    <a:srgbClr val="FFFFFF"/>
                  </a:solidFill>
                  <a:latin typeface="Calibri"/>
                  <a:cs typeface="Calibri"/>
                </a:rPr>
                <a:t>S</a:t>
              </a:r>
              <a:r>
                <a:rPr sz="1059" spc="-18" dirty="0">
                  <a:solidFill>
                    <a:srgbClr val="FFFFFF"/>
                  </a:solidFill>
                  <a:latin typeface="Calibri"/>
                  <a:cs typeface="Calibri"/>
                </a:rPr>
                <a:t>a</a:t>
              </a:r>
              <a:r>
                <a:rPr sz="1059" spc="-31" dirty="0">
                  <a:solidFill>
                    <a:srgbClr val="FFFFFF"/>
                  </a:solidFill>
                  <a:latin typeface="Calibri"/>
                  <a:cs typeface="Calibri"/>
                </a:rPr>
                <a:t>f</a:t>
              </a:r>
              <a:r>
                <a:rPr sz="1059" dirty="0">
                  <a:solidFill>
                    <a:srgbClr val="FFFFFF"/>
                  </a:solidFill>
                  <a:latin typeface="Calibri"/>
                  <a:cs typeface="Calibri"/>
                </a:rPr>
                <a:t>e</a:t>
              </a:r>
              <a:endParaRPr sz="1059">
                <a:latin typeface="Calibri"/>
                <a:cs typeface="Calibri"/>
              </a:endParaRPr>
            </a:p>
          </p:txBody>
        </p:sp>
        <p:grpSp>
          <p:nvGrpSpPr>
            <p:cNvPr id="11" name="object 11"/>
            <p:cNvGrpSpPr/>
            <p:nvPr/>
          </p:nvGrpSpPr>
          <p:grpSpPr>
            <a:xfrm>
              <a:off x="955122" y="3040778"/>
              <a:ext cx="4142254" cy="718296"/>
              <a:chOff x="930071" y="3446214"/>
              <a:chExt cx="4694555" cy="814069"/>
            </a:xfrm>
          </p:grpSpPr>
          <p:sp>
            <p:nvSpPr>
              <p:cNvPr id="12" name="object 12"/>
              <p:cNvSpPr/>
              <p:nvPr/>
            </p:nvSpPr>
            <p:spPr>
              <a:xfrm>
                <a:off x="930071" y="3446214"/>
                <a:ext cx="855344" cy="584835"/>
              </a:xfrm>
              <a:custGeom>
                <a:avLst/>
                <a:gdLst/>
                <a:ahLst/>
                <a:cxnLst/>
                <a:rect l="l" t="t" r="r" b="b"/>
                <a:pathLst>
                  <a:path w="855344" h="584835">
                    <a:moveTo>
                      <a:pt x="10504" y="498293"/>
                    </a:moveTo>
                    <a:lnTo>
                      <a:pt x="1517" y="503542"/>
                    </a:lnTo>
                    <a:lnTo>
                      <a:pt x="0" y="509316"/>
                    </a:lnTo>
                    <a:lnTo>
                      <a:pt x="43724" y="584366"/>
                    </a:lnTo>
                    <a:lnTo>
                      <a:pt x="54628" y="565650"/>
                    </a:lnTo>
                    <a:lnTo>
                      <a:pt x="34305" y="565650"/>
                    </a:lnTo>
                    <a:lnTo>
                      <a:pt x="34305" y="530765"/>
                    </a:lnTo>
                    <a:lnTo>
                      <a:pt x="16272" y="499812"/>
                    </a:lnTo>
                    <a:lnTo>
                      <a:pt x="10504" y="498293"/>
                    </a:lnTo>
                    <a:close/>
                  </a:path>
                  <a:path w="855344" h="584835">
                    <a:moveTo>
                      <a:pt x="34305" y="530765"/>
                    </a:moveTo>
                    <a:lnTo>
                      <a:pt x="34305" y="565650"/>
                    </a:lnTo>
                    <a:lnTo>
                      <a:pt x="53143" y="565650"/>
                    </a:lnTo>
                    <a:lnTo>
                      <a:pt x="53143" y="560898"/>
                    </a:lnTo>
                    <a:lnTo>
                      <a:pt x="35588" y="560898"/>
                    </a:lnTo>
                    <a:lnTo>
                      <a:pt x="43724" y="546932"/>
                    </a:lnTo>
                    <a:lnTo>
                      <a:pt x="34305" y="530765"/>
                    </a:lnTo>
                    <a:close/>
                  </a:path>
                  <a:path w="855344" h="584835">
                    <a:moveTo>
                      <a:pt x="76943" y="498293"/>
                    </a:moveTo>
                    <a:lnTo>
                      <a:pt x="71176" y="499812"/>
                    </a:lnTo>
                    <a:lnTo>
                      <a:pt x="53143" y="530765"/>
                    </a:lnTo>
                    <a:lnTo>
                      <a:pt x="53143" y="565650"/>
                    </a:lnTo>
                    <a:lnTo>
                      <a:pt x="54628" y="565650"/>
                    </a:lnTo>
                    <a:lnTo>
                      <a:pt x="87448" y="509316"/>
                    </a:lnTo>
                    <a:lnTo>
                      <a:pt x="85930" y="503542"/>
                    </a:lnTo>
                    <a:lnTo>
                      <a:pt x="76943" y="498293"/>
                    </a:lnTo>
                    <a:close/>
                  </a:path>
                  <a:path w="855344" h="584835">
                    <a:moveTo>
                      <a:pt x="43724" y="546932"/>
                    </a:moveTo>
                    <a:lnTo>
                      <a:pt x="35588" y="560898"/>
                    </a:lnTo>
                    <a:lnTo>
                      <a:pt x="51860" y="560898"/>
                    </a:lnTo>
                    <a:lnTo>
                      <a:pt x="43724" y="546932"/>
                    </a:lnTo>
                    <a:close/>
                  </a:path>
                  <a:path w="855344" h="584835">
                    <a:moveTo>
                      <a:pt x="53143" y="530765"/>
                    </a:moveTo>
                    <a:lnTo>
                      <a:pt x="43724" y="546932"/>
                    </a:lnTo>
                    <a:lnTo>
                      <a:pt x="51860" y="560898"/>
                    </a:lnTo>
                    <a:lnTo>
                      <a:pt x="53143" y="560898"/>
                    </a:lnTo>
                    <a:lnTo>
                      <a:pt x="53143" y="530765"/>
                    </a:lnTo>
                    <a:close/>
                  </a:path>
                  <a:path w="855344" h="584835">
                    <a:moveTo>
                      <a:pt x="855014" y="0"/>
                    </a:moveTo>
                    <a:lnTo>
                      <a:pt x="38522" y="0"/>
                    </a:lnTo>
                    <a:lnTo>
                      <a:pt x="34305" y="4222"/>
                    </a:lnTo>
                    <a:lnTo>
                      <a:pt x="34305" y="530765"/>
                    </a:lnTo>
                    <a:lnTo>
                      <a:pt x="43724" y="546932"/>
                    </a:lnTo>
                    <a:lnTo>
                      <a:pt x="53143" y="530765"/>
                    </a:lnTo>
                    <a:lnTo>
                      <a:pt x="53143" y="18862"/>
                    </a:lnTo>
                    <a:lnTo>
                      <a:pt x="43724" y="18862"/>
                    </a:lnTo>
                    <a:lnTo>
                      <a:pt x="53143" y="9431"/>
                    </a:lnTo>
                    <a:lnTo>
                      <a:pt x="855014" y="9431"/>
                    </a:lnTo>
                    <a:lnTo>
                      <a:pt x="855014" y="0"/>
                    </a:lnTo>
                    <a:close/>
                  </a:path>
                  <a:path w="855344" h="584835">
                    <a:moveTo>
                      <a:pt x="53143" y="9431"/>
                    </a:moveTo>
                    <a:lnTo>
                      <a:pt x="43724" y="18862"/>
                    </a:lnTo>
                    <a:lnTo>
                      <a:pt x="53143" y="18862"/>
                    </a:lnTo>
                    <a:lnTo>
                      <a:pt x="53143" y="9431"/>
                    </a:lnTo>
                    <a:close/>
                  </a:path>
                  <a:path w="855344" h="584835">
                    <a:moveTo>
                      <a:pt x="855014" y="9431"/>
                    </a:moveTo>
                    <a:lnTo>
                      <a:pt x="53143" y="9431"/>
                    </a:lnTo>
                    <a:lnTo>
                      <a:pt x="53143" y="18862"/>
                    </a:lnTo>
                    <a:lnTo>
                      <a:pt x="855014" y="18862"/>
                    </a:lnTo>
                    <a:lnTo>
                      <a:pt x="855014" y="9431"/>
                    </a:lnTo>
                    <a:close/>
                  </a:path>
                </a:pathLst>
              </a:custGeom>
              <a:solidFill>
                <a:srgbClr val="5D5555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4208099" y="3888122"/>
                <a:ext cx="1406525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406525" h="362585">
                    <a:moveTo>
                      <a:pt x="703238" y="0"/>
                    </a:moveTo>
                    <a:lnTo>
                      <a:pt x="0" y="181070"/>
                    </a:lnTo>
                    <a:lnTo>
                      <a:pt x="703238" y="362139"/>
                    </a:lnTo>
                    <a:lnTo>
                      <a:pt x="1406475" y="181070"/>
                    </a:lnTo>
                    <a:lnTo>
                      <a:pt x="703238" y="0"/>
                    </a:lnTo>
                    <a:close/>
                  </a:path>
                </a:pathLst>
              </a:custGeom>
              <a:solidFill>
                <a:srgbClr val="FFBCE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4208099" y="3888122"/>
                <a:ext cx="1406525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406525" h="362585">
                    <a:moveTo>
                      <a:pt x="0" y="181069"/>
                    </a:moveTo>
                    <a:lnTo>
                      <a:pt x="703237" y="0"/>
                    </a:lnTo>
                    <a:lnTo>
                      <a:pt x="1406475" y="181069"/>
                    </a:lnTo>
                    <a:lnTo>
                      <a:pt x="703237" y="362139"/>
                    </a:lnTo>
                    <a:lnTo>
                      <a:pt x="0" y="181069"/>
                    </a:lnTo>
                    <a:close/>
                  </a:path>
                </a:pathLst>
              </a:custGeom>
              <a:ln w="18860">
                <a:solidFill>
                  <a:srgbClr val="58003F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5" name="object 15"/>
            <p:cNvSpPr txBox="1"/>
            <p:nvPr/>
          </p:nvSpPr>
          <p:spPr>
            <a:xfrm>
              <a:off x="1042335" y="2816543"/>
              <a:ext cx="516031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b="1" spc="-18" dirty="0">
                  <a:latin typeface="Calibri"/>
                  <a:cs typeface="Calibri"/>
                </a:rPr>
                <a:t>excellent</a:t>
              </a:r>
              <a:endParaRPr sz="1059">
                <a:latin typeface="Calibri"/>
                <a:cs typeface="Calibri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4254694" y="3514026"/>
              <a:ext cx="424703" cy="14705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882" spc="4" dirty="0">
                  <a:solidFill>
                    <a:srgbClr val="2B2728"/>
                  </a:solidFill>
                  <a:latin typeface="Calibri"/>
                  <a:cs typeface="Calibri"/>
                </a:rPr>
                <a:t>I</a:t>
              </a:r>
              <a:r>
                <a:rPr sz="882" spc="18" dirty="0">
                  <a:solidFill>
                    <a:srgbClr val="2B2728"/>
                  </a:solidFill>
                  <a:latin typeface="Calibri"/>
                  <a:cs typeface="Calibri"/>
                </a:rPr>
                <a:t>n</a:t>
              </a:r>
              <a:r>
                <a:rPr sz="882" dirty="0">
                  <a:solidFill>
                    <a:srgbClr val="2B2728"/>
                  </a:solidFill>
                  <a:latin typeface="Calibri"/>
                  <a:cs typeface="Calibri"/>
                </a:rPr>
                <a:t>c</a:t>
              </a:r>
              <a:r>
                <a:rPr sz="882" spc="13" dirty="0">
                  <a:solidFill>
                    <a:srgbClr val="2B2728"/>
                  </a:solidFill>
                  <a:latin typeface="Calibri"/>
                  <a:cs typeface="Calibri"/>
                </a:rPr>
                <a:t>o</a:t>
              </a:r>
              <a:r>
                <a:rPr sz="882" spc="22" dirty="0">
                  <a:solidFill>
                    <a:srgbClr val="2B2728"/>
                  </a:solidFill>
                  <a:latin typeface="Calibri"/>
                  <a:cs typeface="Calibri"/>
                </a:rPr>
                <a:t>m</a:t>
              </a:r>
              <a:r>
                <a:rPr sz="882" spc="18" dirty="0">
                  <a:solidFill>
                    <a:srgbClr val="2B2728"/>
                  </a:solidFill>
                  <a:latin typeface="Calibri"/>
                  <a:cs typeface="Calibri"/>
                </a:rPr>
                <a:t>e</a:t>
              </a:r>
              <a:r>
                <a:rPr sz="882" dirty="0">
                  <a:solidFill>
                    <a:srgbClr val="2B2728"/>
                  </a:solidFill>
                  <a:latin typeface="Calibri"/>
                  <a:cs typeface="Calibri"/>
                </a:rPr>
                <a:t>?</a:t>
              </a:r>
              <a:endParaRPr sz="882">
                <a:latin typeface="Calibri"/>
                <a:cs typeface="Calibri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026199" y="3040777"/>
              <a:ext cx="1480857" cy="389964"/>
            </a:xfrm>
            <a:custGeom>
              <a:avLst/>
              <a:gdLst/>
              <a:ahLst/>
              <a:cxnLst/>
              <a:rect l="l" t="t" r="r" b="b"/>
              <a:pathLst>
                <a:path w="1678304" h="441960">
                  <a:moveTo>
                    <a:pt x="1600827" y="355879"/>
                  </a:moveTo>
                  <a:lnTo>
                    <a:pt x="1591839" y="361128"/>
                  </a:lnTo>
                  <a:lnTo>
                    <a:pt x="1590321" y="366902"/>
                  </a:lnTo>
                  <a:lnTo>
                    <a:pt x="1634046" y="441952"/>
                  </a:lnTo>
                  <a:lnTo>
                    <a:pt x="1644951" y="423235"/>
                  </a:lnTo>
                  <a:lnTo>
                    <a:pt x="1624627" y="423235"/>
                  </a:lnTo>
                  <a:lnTo>
                    <a:pt x="1624627" y="388350"/>
                  </a:lnTo>
                  <a:lnTo>
                    <a:pt x="1606594" y="357398"/>
                  </a:lnTo>
                  <a:lnTo>
                    <a:pt x="1600827" y="355879"/>
                  </a:lnTo>
                  <a:close/>
                </a:path>
                <a:path w="1678304" h="441960">
                  <a:moveTo>
                    <a:pt x="1624627" y="388350"/>
                  </a:moveTo>
                  <a:lnTo>
                    <a:pt x="1624627" y="423235"/>
                  </a:lnTo>
                  <a:lnTo>
                    <a:pt x="1643465" y="423235"/>
                  </a:lnTo>
                  <a:lnTo>
                    <a:pt x="1643465" y="418482"/>
                  </a:lnTo>
                  <a:lnTo>
                    <a:pt x="1625909" y="418482"/>
                  </a:lnTo>
                  <a:lnTo>
                    <a:pt x="1634046" y="404517"/>
                  </a:lnTo>
                  <a:lnTo>
                    <a:pt x="1624627" y="388350"/>
                  </a:lnTo>
                  <a:close/>
                </a:path>
                <a:path w="1678304" h="441960">
                  <a:moveTo>
                    <a:pt x="1667266" y="355879"/>
                  </a:moveTo>
                  <a:lnTo>
                    <a:pt x="1661499" y="357398"/>
                  </a:lnTo>
                  <a:lnTo>
                    <a:pt x="1643465" y="388350"/>
                  </a:lnTo>
                  <a:lnTo>
                    <a:pt x="1643465" y="423235"/>
                  </a:lnTo>
                  <a:lnTo>
                    <a:pt x="1644951" y="423235"/>
                  </a:lnTo>
                  <a:lnTo>
                    <a:pt x="1677770" y="366902"/>
                  </a:lnTo>
                  <a:lnTo>
                    <a:pt x="1676252" y="361128"/>
                  </a:lnTo>
                  <a:lnTo>
                    <a:pt x="1667266" y="355879"/>
                  </a:lnTo>
                  <a:close/>
                </a:path>
                <a:path w="1678304" h="441960">
                  <a:moveTo>
                    <a:pt x="1634046" y="404517"/>
                  </a:moveTo>
                  <a:lnTo>
                    <a:pt x="1625909" y="418482"/>
                  </a:lnTo>
                  <a:lnTo>
                    <a:pt x="1642182" y="418482"/>
                  </a:lnTo>
                  <a:lnTo>
                    <a:pt x="1634046" y="404517"/>
                  </a:lnTo>
                  <a:close/>
                </a:path>
                <a:path w="1678304" h="441960">
                  <a:moveTo>
                    <a:pt x="1643465" y="388351"/>
                  </a:moveTo>
                  <a:lnTo>
                    <a:pt x="1634046" y="404517"/>
                  </a:lnTo>
                  <a:lnTo>
                    <a:pt x="1642182" y="418482"/>
                  </a:lnTo>
                  <a:lnTo>
                    <a:pt x="1643465" y="418482"/>
                  </a:lnTo>
                  <a:lnTo>
                    <a:pt x="1643465" y="388351"/>
                  </a:lnTo>
                  <a:close/>
                </a:path>
                <a:path w="1678304" h="441960">
                  <a:moveTo>
                    <a:pt x="1624627" y="9431"/>
                  </a:moveTo>
                  <a:lnTo>
                    <a:pt x="1624627" y="388351"/>
                  </a:lnTo>
                  <a:lnTo>
                    <a:pt x="1634046" y="404517"/>
                  </a:lnTo>
                  <a:lnTo>
                    <a:pt x="1643465" y="388351"/>
                  </a:lnTo>
                  <a:lnTo>
                    <a:pt x="1643465" y="18862"/>
                  </a:lnTo>
                  <a:lnTo>
                    <a:pt x="1634046" y="18862"/>
                  </a:lnTo>
                  <a:lnTo>
                    <a:pt x="1624627" y="9431"/>
                  </a:lnTo>
                  <a:close/>
                </a:path>
                <a:path w="1678304" h="441960">
                  <a:moveTo>
                    <a:pt x="1639248" y="0"/>
                  </a:moveTo>
                  <a:lnTo>
                    <a:pt x="0" y="0"/>
                  </a:lnTo>
                  <a:lnTo>
                    <a:pt x="0" y="18862"/>
                  </a:lnTo>
                  <a:lnTo>
                    <a:pt x="1624627" y="18862"/>
                  </a:lnTo>
                  <a:lnTo>
                    <a:pt x="1624627" y="9431"/>
                  </a:lnTo>
                  <a:lnTo>
                    <a:pt x="1643465" y="9431"/>
                  </a:lnTo>
                  <a:lnTo>
                    <a:pt x="1643465" y="4222"/>
                  </a:lnTo>
                  <a:lnTo>
                    <a:pt x="1639248" y="0"/>
                  </a:lnTo>
                  <a:close/>
                </a:path>
                <a:path w="1678304" h="441960">
                  <a:moveTo>
                    <a:pt x="1643465" y="9431"/>
                  </a:moveTo>
                  <a:lnTo>
                    <a:pt x="1624627" y="9431"/>
                  </a:lnTo>
                  <a:lnTo>
                    <a:pt x="1634046" y="18862"/>
                  </a:lnTo>
                  <a:lnTo>
                    <a:pt x="1643465" y="18862"/>
                  </a:lnTo>
                  <a:lnTo>
                    <a:pt x="1643465" y="9431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3412117" y="2848816"/>
              <a:ext cx="285750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b="1" spc="-4" dirty="0">
                  <a:latin typeface="Calibri"/>
                  <a:cs typeface="Calibri"/>
                </a:rPr>
                <a:t>p</a:t>
              </a:r>
              <a:r>
                <a:rPr sz="1059" b="1" spc="-9" dirty="0">
                  <a:latin typeface="Calibri"/>
                  <a:cs typeface="Calibri"/>
                </a:rPr>
                <a:t>oo</a:t>
              </a:r>
              <a:r>
                <a:rPr sz="1059" b="1" dirty="0">
                  <a:latin typeface="Calibri"/>
                  <a:cs typeface="Calibri"/>
                </a:rPr>
                <a:t>r</a:t>
              </a:r>
              <a:endParaRPr sz="1059">
                <a:latin typeface="Calibri"/>
                <a:cs typeface="Calibri"/>
              </a:endParaRPr>
            </a:p>
          </p:txBody>
        </p:sp>
        <p:grpSp>
          <p:nvGrpSpPr>
            <p:cNvPr id="19" name="object 19"/>
            <p:cNvGrpSpPr/>
            <p:nvPr/>
          </p:nvGrpSpPr>
          <p:grpSpPr>
            <a:xfrm>
              <a:off x="1817784" y="3523268"/>
              <a:ext cx="1100418" cy="336737"/>
              <a:chOff x="1907755" y="3993037"/>
              <a:chExt cx="1247140" cy="381635"/>
            </a:xfrm>
          </p:grpSpPr>
          <p:sp>
            <p:nvSpPr>
              <p:cNvPr id="20" name="object 20"/>
              <p:cNvSpPr/>
              <p:nvPr/>
            </p:nvSpPr>
            <p:spPr>
              <a:xfrm>
                <a:off x="1917280" y="4002562"/>
                <a:ext cx="1228090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228089" h="362585">
                    <a:moveTo>
                      <a:pt x="613906" y="0"/>
                    </a:moveTo>
                    <a:lnTo>
                      <a:pt x="0" y="181068"/>
                    </a:lnTo>
                    <a:lnTo>
                      <a:pt x="613906" y="362139"/>
                    </a:lnTo>
                    <a:lnTo>
                      <a:pt x="1227811" y="181068"/>
                    </a:lnTo>
                    <a:lnTo>
                      <a:pt x="613906" y="0"/>
                    </a:lnTo>
                    <a:close/>
                  </a:path>
                </a:pathLst>
              </a:custGeom>
              <a:solidFill>
                <a:srgbClr val="FFBCE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1917280" y="4002562"/>
                <a:ext cx="1228090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228089" h="362585">
                    <a:moveTo>
                      <a:pt x="0" y="181069"/>
                    </a:moveTo>
                    <a:lnTo>
                      <a:pt x="613906" y="0"/>
                    </a:lnTo>
                    <a:lnTo>
                      <a:pt x="1227812" y="181069"/>
                    </a:lnTo>
                    <a:lnTo>
                      <a:pt x="613906" y="362139"/>
                    </a:lnTo>
                    <a:lnTo>
                      <a:pt x="0" y="181069"/>
                    </a:lnTo>
                    <a:close/>
                  </a:path>
                </a:pathLst>
              </a:custGeom>
              <a:ln w="18859">
                <a:solidFill>
                  <a:srgbClr val="58003F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22" name="object 22"/>
            <p:cNvSpPr txBox="1"/>
            <p:nvPr/>
          </p:nvSpPr>
          <p:spPr>
            <a:xfrm>
              <a:off x="2190112" y="3593783"/>
              <a:ext cx="35690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106" dirty="0">
                  <a:solidFill>
                    <a:srgbClr val="2B2728"/>
                  </a:solidFill>
                  <a:latin typeface="Calibri"/>
                  <a:cs typeface="Calibri"/>
                </a:rPr>
                <a:t>T</a:t>
              </a:r>
              <a:r>
                <a:rPr sz="1059" spc="-4" dirty="0">
                  <a:solidFill>
                    <a:srgbClr val="2B2728"/>
                  </a:solidFill>
                  <a:latin typeface="Calibri"/>
                  <a:cs typeface="Calibri"/>
                </a:rPr>
                <a:t>er</a:t>
              </a:r>
              <a:r>
                <a:rPr sz="1059" spc="-13" dirty="0">
                  <a:solidFill>
                    <a:srgbClr val="2B2728"/>
                  </a:solidFill>
                  <a:latin typeface="Calibri"/>
                  <a:cs typeface="Calibri"/>
                </a:rPr>
                <a:t>m</a:t>
              </a:r>
              <a:r>
                <a:rPr sz="1059" dirty="0">
                  <a:solidFill>
                    <a:srgbClr val="2B2728"/>
                  </a:solidFill>
                  <a:latin typeface="Calibri"/>
                  <a:cs typeface="Calibri"/>
                </a:rPr>
                <a:t>?</a:t>
              </a:r>
              <a:endParaRPr sz="1059">
                <a:latin typeface="Calibri"/>
                <a:cs typeface="Calibri"/>
              </a:endParaRPr>
            </a:p>
          </p:txBody>
        </p:sp>
        <p:grpSp>
          <p:nvGrpSpPr>
            <p:cNvPr id="23" name="object 23"/>
            <p:cNvGrpSpPr/>
            <p:nvPr/>
          </p:nvGrpSpPr>
          <p:grpSpPr>
            <a:xfrm>
              <a:off x="1726085" y="3845656"/>
              <a:ext cx="648260" cy="718296"/>
              <a:chOff x="1803829" y="4358409"/>
              <a:chExt cx="734695" cy="814069"/>
            </a:xfrm>
          </p:grpSpPr>
          <p:sp>
            <p:nvSpPr>
              <p:cNvPr id="24" name="object 24"/>
              <p:cNvSpPr/>
              <p:nvPr/>
            </p:nvSpPr>
            <p:spPr>
              <a:xfrm>
                <a:off x="2133539" y="4358409"/>
                <a:ext cx="405130" cy="451484"/>
              </a:xfrm>
              <a:custGeom>
                <a:avLst/>
                <a:gdLst/>
                <a:ahLst/>
                <a:cxnLst/>
                <a:rect l="l" t="t" r="r" b="b"/>
                <a:pathLst>
                  <a:path w="405130" h="451485">
                    <a:moveTo>
                      <a:pt x="22409" y="362496"/>
                    </a:moveTo>
                    <a:lnTo>
                      <a:pt x="17432" y="365784"/>
                    </a:lnTo>
                    <a:lnTo>
                      <a:pt x="0" y="450898"/>
                    </a:lnTo>
                    <a:lnTo>
                      <a:pt x="23662" y="443246"/>
                    </a:lnTo>
                    <a:lnTo>
                      <a:pt x="19488" y="443246"/>
                    </a:lnTo>
                    <a:lnTo>
                      <a:pt x="5454" y="430663"/>
                    </a:lnTo>
                    <a:lnTo>
                      <a:pt x="28696" y="404676"/>
                    </a:lnTo>
                    <a:lnTo>
                      <a:pt x="35886" y="369572"/>
                    </a:lnTo>
                    <a:lnTo>
                      <a:pt x="32602" y="364589"/>
                    </a:lnTo>
                    <a:lnTo>
                      <a:pt x="22409" y="362496"/>
                    </a:lnTo>
                    <a:close/>
                  </a:path>
                  <a:path w="405130" h="451485">
                    <a:moveTo>
                      <a:pt x="28696" y="404676"/>
                    </a:moveTo>
                    <a:lnTo>
                      <a:pt x="5454" y="430663"/>
                    </a:lnTo>
                    <a:lnTo>
                      <a:pt x="19488" y="443246"/>
                    </a:lnTo>
                    <a:lnTo>
                      <a:pt x="23420" y="438849"/>
                    </a:lnTo>
                    <a:lnTo>
                      <a:pt x="21697" y="438849"/>
                    </a:lnTo>
                    <a:lnTo>
                      <a:pt x="9575" y="427981"/>
                    </a:lnTo>
                    <a:lnTo>
                      <a:pt x="24941" y="423012"/>
                    </a:lnTo>
                    <a:lnTo>
                      <a:pt x="28696" y="404676"/>
                    </a:lnTo>
                    <a:close/>
                  </a:path>
                  <a:path w="405130" h="451485">
                    <a:moveTo>
                      <a:pt x="76788" y="406246"/>
                    </a:moveTo>
                    <a:lnTo>
                      <a:pt x="42730" y="417259"/>
                    </a:lnTo>
                    <a:lnTo>
                      <a:pt x="19488" y="443246"/>
                    </a:lnTo>
                    <a:lnTo>
                      <a:pt x="23662" y="443246"/>
                    </a:lnTo>
                    <a:lnTo>
                      <a:pt x="82576" y="424195"/>
                    </a:lnTo>
                    <a:lnTo>
                      <a:pt x="85294" y="418879"/>
                    </a:lnTo>
                    <a:lnTo>
                      <a:pt x="82096" y="408966"/>
                    </a:lnTo>
                    <a:lnTo>
                      <a:pt x="76788" y="406246"/>
                    </a:lnTo>
                    <a:close/>
                  </a:path>
                  <a:path w="405130" h="451485">
                    <a:moveTo>
                      <a:pt x="24941" y="423012"/>
                    </a:moveTo>
                    <a:lnTo>
                      <a:pt x="9575" y="427981"/>
                    </a:lnTo>
                    <a:lnTo>
                      <a:pt x="21697" y="438849"/>
                    </a:lnTo>
                    <a:lnTo>
                      <a:pt x="24941" y="423012"/>
                    </a:lnTo>
                    <a:close/>
                  </a:path>
                  <a:path w="405130" h="451485">
                    <a:moveTo>
                      <a:pt x="42730" y="417259"/>
                    </a:moveTo>
                    <a:lnTo>
                      <a:pt x="24941" y="423012"/>
                    </a:lnTo>
                    <a:lnTo>
                      <a:pt x="21697" y="438849"/>
                    </a:lnTo>
                    <a:lnTo>
                      <a:pt x="23420" y="438849"/>
                    </a:lnTo>
                    <a:lnTo>
                      <a:pt x="42730" y="417259"/>
                    </a:lnTo>
                    <a:close/>
                  </a:path>
                  <a:path w="405130" h="451485">
                    <a:moveTo>
                      <a:pt x="390631" y="0"/>
                    </a:moveTo>
                    <a:lnTo>
                      <a:pt x="28696" y="404676"/>
                    </a:lnTo>
                    <a:lnTo>
                      <a:pt x="24941" y="423012"/>
                    </a:lnTo>
                    <a:lnTo>
                      <a:pt x="42730" y="417259"/>
                    </a:lnTo>
                    <a:lnTo>
                      <a:pt x="404665" y="12583"/>
                    </a:lnTo>
                    <a:lnTo>
                      <a:pt x="390631" y="0"/>
                    </a:lnTo>
                    <a:close/>
                  </a:path>
                </a:pathLst>
              </a:custGeom>
              <a:solidFill>
                <a:srgbClr val="5D5555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1813354" y="4809275"/>
                <a:ext cx="640715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640714" h="353695">
                    <a:moveTo>
                      <a:pt x="463885" y="0"/>
                    </a:moveTo>
                    <a:lnTo>
                      <a:pt x="176542" y="0"/>
                    </a:lnTo>
                    <a:lnTo>
                      <a:pt x="129610" y="6314"/>
                    </a:lnTo>
                    <a:lnTo>
                      <a:pt x="87438" y="24133"/>
                    </a:lnTo>
                    <a:lnTo>
                      <a:pt x="51708" y="51772"/>
                    </a:lnTo>
                    <a:lnTo>
                      <a:pt x="24103" y="87547"/>
                    </a:lnTo>
                    <a:lnTo>
                      <a:pt x="6306" y="129772"/>
                    </a:lnTo>
                    <a:lnTo>
                      <a:pt x="0" y="176763"/>
                    </a:lnTo>
                    <a:lnTo>
                      <a:pt x="6306" y="223754"/>
                    </a:lnTo>
                    <a:lnTo>
                      <a:pt x="24103" y="265979"/>
                    </a:lnTo>
                    <a:lnTo>
                      <a:pt x="51708" y="301754"/>
                    </a:lnTo>
                    <a:lnTo>
                      <a:pt x="87438" y="329393"/>
                    </a:lnTo>
                    <a:lnTo>
                      <a:pt x="129610" y="347213"/>
                    </a:lnTo>
                    <a:lnTo>
                      <a:pt x="176542" y="353527"/>
                    </a:lnTo>
                    <a:lnTo>
                      <a:pt x="463885" y="353527"/>
                    </a:lnTo>
                    <a:lnTo>
                      <a:pt x="510817" y="347213"/>
                    </a:lnTo>
                    <a:lnTo>
                      <a:pt x="552989" y="329393"/>
                    </a:lnTo>
                    <a:lnTo>
                      <a:pt x="588719" y="301754"/>
                    </a:lnTo>
                    <a:lnTo>
                      <a:pt x="616324" y="265979"/>
                    </a:lnTo>
                    <a:lnTo>
                      <a:pt x="634121" y="223754"/>
                    </a:lnTo>
                    <a:lnTo>
                      <a:pt x="640427" y="176763"/>
                    </a:lnTo>
                    <a:lnTo>
                      <a:pt x="634121" y="129772"/>
                    </a:lnTo>
                    <a:lnTo>
                      <a:pt x="616324" y="87547"/>
                    </a:lnTo>
                    <a:lnTo>
                      <a:pt x="588719" y="51772"/>
                    </a:lnTo>
                    <a:lnTo>
                      <a:pt x="552989" y="24133"/>
                    </a:lnTo>
                    <a:lnTo>
                      <a:pt x="510817" y="6314"/>
                    </a:lnTo>
                    <a:lnTo>
                      <a:pt x="463885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1813354" y="4809275"/>
                <a:ext cx="640715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640714" h="353695">
                    <a:moveTo>
                      <a:pt x="0" y="176763"/>
                    </a:moveTo>
                    <a:lnTo>
                      <a:pt x="6306" y="129772"/>
                    </a:lnTo>
                    <a:lnTo>
                      <a:pt x="24103" y="87547"/>
                    </a:lnTo>
                    <a:lnTo>
                      <a:pt x="51708" y="51772"/>
                    </a:lnTo>
                    <a:lnTo>
                      <a:pt x="87438" y="24133"/>
                    </a:lnTo>
                    <a:lnTo>
                      <a:pt x="129610" y="6314"/>
                    </a:lnTo>
                    <a:lnTo>
                      <a:pt x="176542" y="0"/>
                    </a:lnTo>
                    <a:lnTo>
                      <a:pt x="463884" y="0"/>
                    </a:lnTo>
                    <a:lnTo>
                      <a:pt x="510816" y="6314"/>
                    </a:lnTo>
                    <a:lnTo>
                      <a:pt x="552989" y="24133"/>
                    </a:lnTo>
                    <a:lnTo>
                      <a:pt x="588719" y="51772"/>
                    </a:lnTo>
                    <a:lnTo>
                      <a:pt x="616324" y="87547"/>
                    </a:lnTo>
                    <a:lnTo>
                      <a:pt x="634121" y="129772"/>
                    </a:lnTo>
                    <a:lnTo>
                      <a:pt x="640427" y="176763"/>
                    </a:lnTo>
                    <a:lnTo>
                      <a:pt x="634121" y="223754"/>
                    </a:lnTo>
                    <a:lnTo>
                      <a:pt x="616324" y="265979"/>
                    </a:lnTo>
                    <a:lnTo>
                      <a:pt x="588719" y="301753"/>
                    </a:lnTo>
                    <a:lnTo>
                      <a:pt x="552989" y="329393"/>
                    </a:lnTo>
                    <a:lnTo>
                      <a:pt x="510816" y="347212"/>
                    </a:lnTo>
                    <a:lnTo>
                      <a:pt x="463884" y="353526"/>
                    </a:lnTo>
                    <a:lnTo>
                      <a:pt x="176542" y="353526"/>
                    </a:lnTo>
                    <a:lnTo>
                      <a:pt x="129610" y="347212"/>
                    </a:lnTo>
                    <a:lnTo>
                      <a:pt x="87438" y="329393"/>
                    </a:lnTo>
                    <a:lnTo>
                      <a:pt x="51708" y="301753"/>
                    </a:lnTo>
                    <a:lnTo>
                      <a:pt x="24103" y="265979"/>
                    </a:lnTo>
                    <a:lnTo>
                      <a:pt x="6306" y="223754"/>
                    </a:lnTo>
                    <a:lnTo>
                      <a:pt x="0" y="176763"/>
                    </a:lnTo>
                    <a:close/>
                  </a:path>
                </a:pathLst>
              </a:custGeom>
              <a:ln w="18856">
                <a:solidFill>
                  <a:srgbClr val="C03F02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27" name="object 27"/>
            <p:cNvSpPr txBox="1"/>
            <p:nvPr/>
          </p:nvSpPr>
          <p:spPr>
            <a:xfrm>
              <a:off x="1868174" y="4301099"/>
              <a:ext cx="29863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4" dirty="0">
                  <a:solidFill>
                    <a:srgbClr val="FFFFFF"/>
                  </a:solidFill>
                  <a:latin typeface="Calibri"/>
                  <a:cs typeface="Calibri"/>
                </a:rPr>
                <a:t>R</a:t>
              </a:r>
              <a:r>
                <a:rPr sz="1059" spc="-9" dirty="0">
                  <a:solidFill>
                    <a:srgbClr val="FFFFFF"/>
                  </a:solidFill>
                  <a:latin typeface="Calibri"/>
                  <a:cs typeface="Calibri"/>
                </a:rPr>
                <a:t>isk</a:t>
              </a:r>
              <a:r>
                <a:rPr sz="1059" dirty="0">
                  <a:solidFill>
                    <a:srgbClr val="FFFFFF"/>
                  </a:solidFill>
                  <a:latin typeface="Calibri"/>
                  <a:cs typeface="Calibri"/>
                </a:rPr>
                <a:t>y</a:t>
              </a:r>
              <a:endParaRPr sz="1059">
                <a:latin typeface="Calibri"/>
                <a:cs typeface="Calibri"/>
              </a:endParaRPr>
            </a:p>
          </p:txBody>
        </p:sp>
        <p:grpSp>
          <p:nvGrpSpPr>
            <p:cNvPr id="28" name="object 28"/>
            <p:cNvGrpSpPr/>
            <p:nvPr/>
          </p:nvGrpSpPr>
          <p:grpSpPr>
            <a:xfrm>
              <a:off x="2449671" y="4216109"/>
              <a:ext cx="584947" cy="328893"/>
              <a:chOff x="2623894" y="4778256"/>
              <a:chExt cx="662940" cy="372745"/>
            </a:xfrm>
          </p:grpSpPr>
          <p:sp>
            <p:nvSpPr>
              <p:cNvPr id="29" name="object 29"/>
              <p:cNvSpPr/>
              <p:nvPr/>
            </p:nvSpPr>
            <p:spPr>
              <a:xfrm>
                <a:off x="2633419" y="4787781"/>
                <a:ext cx="643890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643889" h="353695">
                    <a:moveTo>
                      <a:pt x="467326" y="0"/>
                    </a:moveTo>
                    <a:lnTo>
                      <a:pt x="176542" y="0"/>
                    </a:lnTo>
                    <a:lnTo>
                      <a:pt x="129610" y="6314"/>
                    </a:lnTo>
                    <a:lnTo>
                      <a:pt x="87438" y="24133"/>
                    </a:lnTo>
                    <a:lnTo>
                      <a:pt x="51708" y="51772"/>
                    </a:lnTo>
                    <a:lnTo>
                      <a:pt x="24103" y="87547"/>
                    </a:lnTo>
                    <a:lnTo>
                      <a:pt x="6306" y="129772"/>
                    </a:lnTo>
                    <a:lnTo>
                      <a:pt x="0" y="176762"/>
                    </a:lnTo>
                    <a:lnTo>
                      <a:pt x="6306" y="223753"/>
                    </a:lnTo>
                    <a:lnTo>
                      <a:pt x="24103" y="265978"/>
                    </a:lnTo>
                    <a:lnTo>
                      <a:pt x="51708" y="301753"/>
                    </a:lnTo>
                    <a:lnTo>
                      <a:pt x="87438" y="329392"/>
                    </a:lnTo>
                    <a:lnTo>
                      <a:pt x="129610" y="347211"/>
                    </a:lnTo>
                    <a:lnTo>
                      <a:pt x="176542" y="353526"/>
                    </a:lnTo>
                    <a:lnTo>
                      <a:pt x="467326" y="353527"/>
                    </a:lnTo>
                    <a:lnTo>
                      <a:pt x="514258" y="347213"/>
                    </a:lnTo>
                    <a:lnTo>
                      <a:pt x="556431" y="329393"/>
                    </a:lnTo>
                    <a:lnTo>
                      <a:pt x="592161" y="301754"/>
                    </a:lnTo>
                    <a:lnTo>
                      <a:pt x="619766" y="265979"/>
                    </a:lnTo>
                    <a:lnTo>
                      <a:pt x="637563" y="223754"/>
                    </a:lnTo>
                    <a:lnTo>
                      <a:pt x="643870" y="176763"/>
                    </a:lnTo>
                    <a:lnTo>
                      <a:pt x="637564" y="129772"/>
                    </a:lnTo>
                    <a:lnTo>
                      <a:pt x="619767" y="87547"/>
                    </a:lnTo>
                    <a:lnTo>
                      <a:pt x="592162" y="51772"/>
                    </a:lnTo>
                    <a:lnTo>
                      <a:pt x="556432" y="24133"/>
                    </a:lnTo>
                    <a:lnTo>
                      <a:pt x="514259" y="6314"/>
                    </a:lnTo>
                    <a:lnTo>
                      <a:pt x="467326" y="0"/>
                    </a:lnTo>
                    <a:close/>
                  </a:path>
                </a:pathLst>
              </a:custGeom>
              <a:solidFill>
                <a:srgbClr val="85BD05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2633419" y="4787781"/>
                <a:ext cx="643890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643889" h="353695">
                    <a:moveTo>
                      <a:pt x="0" y="176763"/>
                    </a:moveTo>
                    <a:lnTo>
                      <a:pt x="6306" y="129772"/>
                    </a:lnTo>
                    <a:lnTo>
                      <a:pt x="24103" y="87547"/>
                    </a:lnTo>
                    <a:lnTo>
                      <a:pt x="51708" y="51772"/>
                    </a:lnTo>
                    <a:lnTo>
                      <a:pt x="87438" y="24133"/>
                    </a:lnTo>
                    <a:lnTo>
                      <a:pt x="129610" y="6314"/>
                    </a:lnTo>
                    <a:lnTo>
                      <a:pt x="176543" y="0"/>
                    </a:lnTo>
                    <a:lnTo>
                      <a:pt x="467327" y="0"/>
                    </a:lnTo>
                    <a:lnTo>
                      <a:pt x="514259" y="6314"/>
                    </a:lnTo>
                    <a:lnTo>
                      <a:pt x="556432" y="24133"/>
                    </a:lnTo>
                    <a:lnTo>
                      <a:pt x="592162" y="51772"/>
                    </a:lnTo>
                    <a:lnTo>
                      <a:pt x="619767" y="87547"/>
                    </a:lnTo>
                    <a:lnTo>
                      <a:pt x="637564" y="129772"/>
                    </a:lnTo>
                    <a:lnTo>
                      <a:pt x="643870" y="176763"/>
                    </a:lnTo>
                    <a:lnTo>
                      <a:pt x="637563" y="223754"/>
                    </a:lnTo>
                    <a:lnTo>
                      <a:pt x="619766" y="265979"/>
                    </a:lnTo>
                    <a:lnTo>
                      <a:pt x="592161" y="301754"/>
                    </a:lnTo>
                    <a:lnTo>
                      <a:pt x="556431" y="329394"/>
                    </a:lnTo>
                    <a:lnTo>
                      <a:pt x="514258" y="347213"/>
                    </a:lnTo>
                    <a:lnTo>
                      <a:pt x="467326" y="353527"/>
                    </a:lnTo>
                    <a:lnTo>
                      <a:pt x="176543" y="353526"/>
                    </a:lnTo>
                    <a:lnTo>
                      <a:pt x="129610" y="347212"/>
                    </a:lnTo>
                    <a:lnTo>
                      <a:pt x="87438" y="329393"/>
                    </a:lnTo>
                    <a:lnTo>
                      <a:pt x="51708" y="301753"/>
                    </a:lnTo>
                    <a:lnTo>
                      <a:pt x="24103" y="265979"/>
                    </a:lnTo>
                    <a:lnTo>
                      <a:pt x="6306" y="223753"/>
                    </a:lnTo>
                    <a:lnTo>
                      <a:pt x="0" y="176763"/>
                    </a:lnTo>
                    <a:close/>
                  </a:path>
                </a:pathLst>
              </a:custGeom>
              <a:ln w="18856">
                <a:solidFill>
                  <a:srgbClr val="648E04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31" name="object 31"/>
            <p:cNvSpPr txBox="1"/>
            <p:nvPr/>
          </p:nvSpPr>
          <p:spPr>
            <a:xfrm>
              <a:off x="2617153" y="4282273"/>
              <a:ext cx="250451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4" dirty="0">
                  <a:solidFill>
                    <a:srgbClr val="FFFFFF"/>
                  </a:solidFill>
                  <a:latin typeface="Calibri"/>
                  <a:cs typeface="Calibri"/>
                </a:rPr>
                <a:t>S</a:t>
              </a:r>
              <a:r>
                <a:rPr sz="1059" spc="-18" dirty="0">
                  <a:solidFill>
                    <a:srgbClr val="FFFFFF"/>
                  </a:solidFill>
                  <a:latin typeface="Calibri"/>
                  <a:cs typeface="Calibri"/>
                </a:rPr>
                <a:t>a</a:t>
              </a:r>
              <a:r>
                <a:rPr sz="1059" spc="-31" dirty="0">
                  <a:solidFill>
                    <a:srgbClr val="FFFFFF"/>
                  </a:solidFill>
                  <a:latin typeface="Calibri"/>
                  <a:cs typeface="Calibri"/>
                </a:rPr>
                <a:t>f</a:t>
              </a:r>
              <a:r>
                <a:rPr sz="1059" dirty="0">
                  <a:solidFill>
                    <a:srgbClr val="FFFFFF"/>
                  </a:solidFill>
                  <a:latin typeface="Calibri"/>
                  <a:cs typeface="Calibri"/>
                </a:rPr>
                <a:t>e</a:t>
              </a:r>
              <a:endParaRPr sz="1059">
                <a:latin typeface="Calibri"/>
                <a:cs typeface="Calibri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2329289" y="3208872"/>
              <a:ext cx="412937" cy="1015813"/>
            </a:xfrm>
            <a:custGeom>
              <a:avLst/>
              <a:gdLst/>
              <a:ahLst/>
              <a:cxnLst/>
              <a:rect l="l" t="t" r="r" b="b"/>
              <a:pathLst>
                <a:path w="467994" h="1151254">
                  <a:moveTo>
                    <a:pt x="87452" y="290842"/>
                  </a:moveTo>
                  <a:lnTo>
                    <a:pt x="85928" y="285064"/>
                  </a:lnTo>
                  <a:lnTo>
                    <a:pt x="76936" y="279819"/>
                  </a:lnTo>
                  <a:lnTo>
                    <a:pt x="71170" y="281330"/>
                  </a:lnTo>
                  <a:lnTo>
                    <a:pt x="53136" y="312293"/>
                  </a:lnTo>
                  <a:lnTo>
                    <a:pt x="53136" y="0"/>
                  </a:lnTo>
                  <a:lnTo>
                    <a:pt x="34302" y="0"/>
                  </a:lnTo>
                  <a:lnTo>
                    <a:pt x="34302" y="312293"/>
                  </a:lnTo>
                  <a:lnTo>
                    <a:pt x="16268" y="281330"/>
                  </a:lnTo>
                  <a:lnTo>
                    <a:pt x="10502" y="279819"/>
                  </a:lnTo>
                  <a:lnTo>
                    <a:pt x="1511" y="285064"/>
                  </a:lnTo>
                  <a:lnTo>
                    <a:pt x="0" y="290842"/>
                  </a:lnTo>
                  <a:lnTo>
                    <a:pt x="43726" y="365887"/>
                  </a:lnTo>
                  <a:lnTo>
                    <a:pt x="54622" y="347167"/>
                  </a:lnTo>
                  <a:lnTo>
                    <a:pt x="87452" y="290842"/>
                  </a:lnTo>
                  <a:close/>
                </a:path>
                <a:path w="467994" h="1151254">
                  <a:moveTo>
                    <a:pt x="467918" y="1151102"/>
                  </a:moveTo>
                  <a:lnTo>
                    <a:pt x="466191" y="1144562"/>
                  </a:lnTo>
                  <a:lnTo>
                    <a:pt x="445681" y="1067117"/>
                  </a:lnTo>
                  <a:lnTo>
                    <a:pt x="440524" y="1064120"/>
                  </a:lnTo>
                  <a:lnTo>
                    <a:pt x="430466" y="1066787"/>
                  </a:lnTo>
                  <a:lnTo>
                    <a:pt x="427469" y="1071943"/>
                  </a:lnTo>
                  <a:lnTo>
                    <a:pt x="436638" y="1106589"/>
                  </a:lnTo>
                  <a:lnTo>
                    <a:pt x="50368" y="721309"/>
                  </a:lnTo>
                  <a:lnTo>
                    <a:pt x="37071" y="734669"/>
                  </a:lnTo>
                  <a:lnTo>
                    <a:pt x="423341" y="1119949"/>
                  </a:lnTo>
                  <a:lnTo>
                    <a:pt x="388721" y="1110894"/>
                  </a:lnTo>
                  <a:lnTo>
                    <a:pt x="383578" y="1113917"/>
                  </a:lnTo>
                  <a:lnTo>
                    <a:pt x="380949" y="1123988"/>
                  </a:lnTo>
                  <a:lnTo>
                    <a:pt x="383959" y="1129144"/>
                  </a:lnTo>
                  <a:lnTo>
                    <a:pt x="467918" y="1151102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2162747" y="2951014"/>
              <a:ext cx="462243" cy="465542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R="54912" algn="r">
                <a:spcBef>
                  <a:spcPts val="88"/>
                </a:spcBef>
              </a:pPr>
              <a:r>
                <a:rPr sz="1059" spc="-9" dirty="0">
                  <a:solidFill>
                    <a:srgbClr val="2B2728"/>
                  </a:solidFill>
                  <a:latin typeface="Calibri"/>
                  <a:cs typeface="Calibri"/>
                </a:rPr>
                <a:t>C</a:t>
              </a:r>
              <a:r>
                <a:rPr sz="1059" spc="-18" dirty="0">
                  <a:solidFill>
                    <a:srgbClr val="2B2728"/>
                  </a:solidFill>
                  <a:latin typeface="Calibri"/>
                  <a:cs typeface="Calibri"/>
                </a:rPr>
                <a:t>r</a:t>
              </a:r>
              <a:r>
                <a:rPr sz="1059" spc="-4" dirty="0">
                  <a:solidFill>
                    <a:srgbClr val="2B2728"/>
                  </a:solidFill>
                  <a:latin typeface="Calibri"/>
                  <a:cs typeface="Calibri"/>
                </a:rPr>
                <a:t>e</a:t>
              </a:r>
              <a:r>
                <a:rPr sz="1059" spc="-9" dirty="0">
                  <a:solidFill>
                    <a:srgbClr val="2B2728"/>
                  </a:solidFill>
                  <a:latin typeface="Calibri"/>
                  <a:cs typeface="Calibri"/>
                </a:rPr>
                <a:t>di</a:t>
              </a:r>
              <a:r>
                <a:rPr sz="1059" spc="-4" dirty="0">
                  <a:solidFill>
                    <a:srgbClr val="2B2728"/>
                  </a:solidFill>
                  <a:latin typeface="Calibri"/>
                  <a:cs typeface="Calibri"/>
                </a:rPr>
                <a:t>t</a:t>
              </a:r>
              <a:r>
                <a:rPr sz="1059" dirty="0">
                  <a:solidFill>
                    <a:srgbClr val="2B2728"/>
                  </a:solidFill>
                  <a:latin typeface="Calibri"/>
                  <a:cs typeface="Calibri"/>
                </a:rPr>
                <a:t>?</a:t>
              </a:r>
              <a:endParaRPr sz="1059" dirty="0">
                <a:latin typeface="Calibri"/>
                <a:cs typeface="Calibri"/>
              </a:endParaRPr>
            </a:p>
            <a:p>
              <a:pPr marR="4483" algn="r">
                <a:spcBef>
                  <a:spcPts val="975"/>
                </a:spcBef>
              </a:pPr>
              <a:r>
                <a:rPr sz="1059" b="1" spc="-9" dirty="0">
                  <a:latin typeface="Calibri"/>
                  <a:cs typeface="Calibri"/>
                </a:rPr>
                <a:t>fair</a:t>
              </a:r>
              <a:endParaRPr sz="1059" dirty="0">
                <a:latin typeface="Calibri"/>
                <a:cs typeface="Calibri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2613798" y="3903066"/>
              <a:ext cx="41405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b="1" dirty="0">
                  <a:latin typeface="Calibri"/>
                  <a:cs typeface="Calibri"/>
                </a:rPr>
                <a:t>5</a:t>
              </a:r>
              <a:r>
                <a:rPr sz="1059" b="1" spc="-9" dirty="0">
                  <a:latin typeface="Calibri"/>
                  <a:cs typeface="Calibri"/>
                </a:rPr>
                <a:t> </a:t>
              </a:r>
              <a:r>
                <a:rPr sz="1059" b="1" spc="-18" dirty="0">
                  <a:latin typeface="Calibri"/>
                  <a:cs typeface="Calibri"/>
                </a:rPr>
                <a:t>y</a:t>
              </a:r>
              <a:r>
                <a:rPr sz="1059" b="1" spc="-13" dirty="0">
                  <a:latin typeface="Calibri"/>
                  <a:cs typeface="Calibri"/>
                </a:rPr>
                <a:t>e</a:t>
              </a:r>
              <a:r>
                <a:rPr sz="1059" b="1" spc="-9" dirty="0">
                  <a:latin typeface="Calibri"/>
                  <a:cs typeface="Calibri"/>
                </a:rPr>
                <a:t>a</a:t>
              </a:r>
              <a:r>
                <a:rPr sz="1059" b="1" spc="-13" dirty="0">
                  <a:latin typeface="Calibri"/>
                  <a:cs typeface="Calibri"/>
                </a:rPr>
                <a:t>r</a:t>
              </a:r>
              <a:r>
                <a:rPr sz="1059" b="1" dirty="0">
                  <a:latin typeface="Calibri"/>
                  <a:cs typeface="Calibri"/>
                </a:rPr>
                <a:t>s</a:t>
              </a:r>
              <a:endParaRPr sz="1059">
                <a:latin typeface="Calibri"/>
                <a:cs typeface="Calibri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1640834" y="3881550"/>
              <a:ext cx="41405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b="1" dirty="0">
                  <a:latin typeface="Calibri"/>
                  <a:cs typeface="Calibri"/>
                </a:rPr>
                <a:t>3</a:t>
              </a:r>
              <a:r>
                <a:rPr sz="1059" b="1" spc="-9" dirty="0">
                  <a:latin typeface="Calibri"/>
                  <a:cs typeface="Calibri"/>
                </a:rPr>
                <a:t> </a:t>
              </a:r>
              <a:r>
                <a:rPr sz="1059" b="1" spc="-18" dirty="0">
                  <a:latin typeface="Calibri"/>
                  <a:cs typeface="Calibri"/>
                </a:rPr>
                <a:t>y</a:t>
              </a:r>
              <a:r>
                <a:rPr sz="1059" b="1" spc="-13" dirty="0">
                  <a:latin typeface="Calibri"/>
                  <a:cs typeface="Calibri"/>
                </a:rPr>
                <a:t>e</a:t>
              </a:r>
              <a:r>
                <a:rPr sz="1059" b="1" spc="-9" dirty="0">
                  <a:latin typeface="Calibri"/>
                  <a:cs typeface="Calibri"/>
                </a:rPr>
                <a:t>a</a:t>
              </a:r>
              <a:r>
                <a:rPr sz="1059" b="1" spc="-13" dirty="0">
                  <a:latin typeface="Calibri"/>
                  <a:cs typeface="Calibri"/>
                </a:rPr>
                <a:t>r</a:t>
              </a:r>
              <a:r>
                <a:rPr sz="1059" b="1" dirty="0">
                  <a:latin typeface="Calibri"/>
                  <a:cs typeface="Calibri"/>
                </a:rPr>
                <a:t>s</a:t>
              </a:r>
              <a:endParaRPr sz="1059">
                <a:latin typeface="Calibri"/>
                <a:cs typeface="Calibri"/>
              </a:endParaRPr>
            </a:p>
          </p:txBody>
        </p:sp>
        <p:grpSp>
          <p:nvGrpSpPr>
            <p:cNvPr id="36" name="object 36"/>
            <p:cNvGrpSpPr/>
            <p:nvPr/>
          </p:nvGrpSpPr>
          <p:grpSpPr>
            <a:xfrm>
              <a:off x="4463595" y="3743177"/>
              <a:ext cx="1097056" cy="820831"/>
              <a:chOff x="4906341" y="4242267"/>
              <a:chExt cx="1243330" cy="930275"/>
            </a:xfrm>
          </p:grpSpPr>
          <p:sp>
            <p:nvSpPr>
              <p:cNvPr id="37" name="object 37"/>
              <p:cNvSpPr/>
              <p:nvPr/>
            </p:nvSpPr>
            <p:spPr>
              <a:xfrm>
                <a:off x="4906341" y="4242267"/>
                <a:ext cx="897890" cy="567055"/>
              </a:xfrm>
              <a:custGeom>
                <a:avLst/>
                <a:gdLst/>
                <a:ahLst/>
                <a:cxnLst/>
                <a:rect l="l" t="t" r="r" b="b"/>
                <a:pathLst>
                  <a:path w="897889" h="567054">
                    <a:moveTo>
                      <a:pt x="811176" y="545482"/>
                    </a:moveTo>
                    <a:lnTo>
                      <a:pt x="806832" y="549572"/>
                    </a:lnTo>
                    <a:lnTo>
                      <a:pt x="806508" y="559984"/>
                    </a:lnTo>
                    <a:lnTo>
                      <a:pt x="810592" y="564335"/>
                    </a:lnTo>
                    <a:lnTo>
                      <a:pt x="897328" y="567032"/>
                    </a:lnTo>
                    <a:lnTo>
                      <a:pt x="896314" y="565097"/>
                    </a:lnTo>
                    <a:lnTo>
                      <a:pt x="876482" y="565097"/>
                    </a:lnTo>
                    <a:lnTo>
                      <a:pt x="846948" y="546594"/>
                    </a:lnTo>
                    <a:lnTo>
                      <a:pt x="811176" y="545482"/>
                    </a:lnTo>
                    <a:close/>
                  </a:path>
                  <a:path w="897889" h="567054">
                    <a:moveTo>
                      <a:pt x="846948" y="546594"/>
                    </a:moveTo>
                    <a:lnTo>
                      <a:pt x="876482" y="565097"/>
                    </a:lnTo>
                    <a:lnTo>
                      <a:pt x="878738" y="561488"/>
                    </a:lnTo>
                    <a:lnTo>
                      <a:pt x="873141" y="561488"/>
                    </a:lnTo>
                    <a:lnTo>
                      <a:pt x="865633" y="547175"/>
                    </a:lnTo>
                    <a:lnTo>
                      <a:pt x="846948" y="546594"/>
                    </a:lnTo>
                    <a:close/>
                  </a:path>
                  <a:path w="897889" h="567054">
                    <a:moveTo>
                      <a:pt x="851283" y="488335"/>
                    </a:moveTo>
                    <a:lnTo>
                      <a:pt x="842073" y="493179"/>
                    </a:lnTo>
                    <a:lnTo>
                      <a:pt x="840300" y="498881"/>
                    </a:lnTo>
                    <a:lnTo>
                      <a:pt x="856941" y="530605"/>
                    </a:lnTo>
                    <a:lnTo>
                      <a:pt x="886476" y="549108"/>
                    </a:lnTo>
                    <a:lnTo>
                      <a:pt x="876482" y="565097"/>
                    </a:lnTo>
                    <a:lnTo>
                      <a:pt x="896314" y="565097"/>
                    </a:lnTo>
                    <a:lnTo>
                      <a:pt x="856978" y="490110"/>
                    </a:lnTo>
                    <a:lnTo>
                      <a:pt x="851283" y="488335"/>
                    </a:lnTo>
                    <a:close/>
                  </a:path>
                  <a:path w="897889" h="567054">
                    <a:moveTo>
                      <a:pt x="865633" y="547175"/>
                    </a:moveTo>
                    <a:lnTo>
                      <a:pt x="873141" y="561488"/>
                    </a:lnTo>
                    <a:lnTo>
                      <a:pt x="881773" y="547677"/>
                    </a:lnTo>
                    <a:lnTo>
                      <a:pt x="865633" y="547175"/>
                    </a:lnTo>
                    <a:close/>
                  </a:path>
                  <a:path w="897889" h="567054">
                    <a:moveTo>
                      <a:pt x="856941" y="530605"/>
                    </a:moveTo>
                    <a:lnTo>
                      <a:pt x="865633" y="547175"/>
                    </a:lnTo>
                    <a:lnTo>
                      <a:pt x="881773" y="547677"/>
                    </a:lnTo>
                    <a:lnTo>
                      <a:pt x="873141" y="561488"/>
                    </a:lnTo>
                    <a:lnTo>
                      <a:pt x="878738" y="561488"/>
                    </a:lnTo>
                    <a:lnTo>
                      <a:pt x="886476" y="549108"/>
                    </a:lnTo>
                    <a:lnTo>
                      <a:pt x="856941" y="530605"/>
                    </a:lnTo>
                    <a:close/>
                  </a:path>
                  <a:path w="897889" h="567054">
                    <a:moveTo>
                      <a:pt x="9992" y="0"/>
                    </a:moveTo>
                    <a:lnTo>
                      <a:pt x="0" y="15990"/>
                    </a:lnTo>
                    <a:lnTo>
                      <a:pt x="846948" y="546594"/>
                    </a:lnTo>
                    <a:lnTo>
                      <a:pt x="865633" y="547175"/>
                    </a:lnTo>
                    <a:lnTo>
                      <a:pt x="856941" y="530605"/>
                    </a:lnTo>
                    <a:lnTo>
                      <a:pt x="9992" y="0"/>
                    </a:lnTo>
                    <a:close/>
                  </a:path>
                </a:pathLst>
              </a:custGeom>
              <a:solidFill>
                <a:srgbClr val="5D5555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8" name="object 38"/>
              <p:cNvSpPr/>
              <p:nvPr/>
            </p:nvSpPr>
            <p:spPr>
              <a:xfrm>
                <a:off x="5467557" y="4809275"/>
                <a:ext cx="672465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672464" h="353695">
                    <a:moveTo>
                      <a:pt x="495607" y="0"/>
                    </a:moveTo>
                    <a:lnTo>
                      <a:pt x="176543" y="0"/>
                    </a:lnTo>
                    <a:lnTo>
                      <a:pt x="129611" y="6314"/>
                    </a:lnTo>
                    <a:lnTo>
                      <a:pt x="87438" y="24133"/>
                    </a:lnTo>
                    <a:lnTo>
                      <a:pt x="51708" y="51772"/>
                    </a:lnTo>
                    <a:lnTo>
                      <a:pt x="24103" y="87547"/>
                    </a:lnTo>
                    <a:lnTo>
                      <a:pt x="6306" y="129772"/>
                    </a:lnTo>
                    <a:lnTo>
                      <a:pt x="0" y="176763"/>
                    </a:lnTo>
                    <a:lnTo>
                      <a:pt x="6306" y="223754"/>
                    </a:lnTo>
                    <a:lnTo>
                      <a:pt x="24103" y="265979"/>
                    </a:lnTo>
                    <a:lnTo>
                      <a:pt x="51708" y="301754"/>
                    </a:lnTo>
                    <a:lnTo>
                      <a:pt x="87438" y="329393"/>
                    </a:lnTo>
                    <a:lnTo>
                      <a:pt x="129611" y="347213"/>
                    </a:lnTo>
                    <a:lnTo>
                      <a:pt x="176543" y="353527"/>
                    </a:lnTo>
                    <a:lnTo>
                      <a:pt x="495607" y="353527"/>
                    </a:lnTo>
                    <a:lnTo>
                      <a:pt x="542539" y="347213"/>
                    </a:lnTo>
                    <a:lnTo>
                      <a:pt x="584711" y="329393"/>
                    </a:lnTo>
                    <a:lnTo>
                      <a:pt x="620441" y="301754"/>
                    </a:lnTo>
                    <a:lnTo>
                      <a:pt x="648046" y="265979"/>
                    </a:lnTo>
                    <a:lnTo>
                      <a:pt x="665843" y="223754"/>
                    </a:lnTo>
                    <a:lnTo>
                      <a:pt x="672150" y="176763"/>
                    </a:lnTo>
                    <a:lnTo>
                      <a:pt x="665843" y="129772"/>
                    </a:lnTo>
                    <a:lnTo>
                      <a:pt x="648046" y="87547"/>
                    </a:lnTo>
                    <a:lnTo>
                      <a:pt x="620441" y="51772"/>
                    </a:lnTo>
                    <a:lnTo>
                      <a:pt x="584711" y="24133"/>
                    </a:lnTo>
                    <a:lnTo>
                      <a:pt x="542539" y="6314"/>
                    </a:lnTo>
                    <a:lnTo>
                      <a:pt x="495607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9" name="object 39"/>
              <p:cNvSpPr/>
              <p:nvPr/>
            </p:nvSpPr>
            <p:spPr>
              <a:xfrm>
                <a:off x="5467557" y="4809275"/>
                <a:ext cx="672465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672464" h="353695">
                    <a:moveTo>
                      <a:pt x="0" y="176763"/>
                    </a:moveTo>
                    <a:lnTo>
                      <a:pt x="6306" y="129772"/>
                    </a:lnTo>
                    <a:lnTo>
                      <a:pt x="24103" y="87547"/>
                    </a:lnTo>
                    <a:lnTo>
                      <a:pt x="51708" y="51772"/>
                    </a:lnTo>
                    <a:lnTo>
                      <a:pt x="87438" y="24133"/>
                    </a:lnTo>
                    <a:lnTo>
                      <a:pt x="129610" y="6314"/>
                    </a:lnTo>
                    <a:lnTo>
                      <a:pt x="176542" y="0"/>
                    </a:lnTo>
                    <a:lnTo>
                      <a:pt x="495606" y="0"/>
                    </a:lnTo>
                    <a:lnTo>
                      <a:pt x="542538" y="6314"/>
                    </a:lnTo>
                    <a:lnTo>
                      <a:pt x="584711" y="24133"/>
                    </a:lnTo>
                    <a:lnTo>
                      <a:pt x="620441" y="51772"/>
                    </a:lnTo>
                    <a:lnTo>
                      <a:pt x="648046" y="87547"/>
                    </a:lnTo>
                    <a:lnTo>
                      <a:pt x="665843" y="129772"/>
                    </a:lnTo>
                    <a:lnTo>
                      <a:pt x="672149" y="176763"/>
                    </a:lnTo>
                    <a:lnTo>
                      <a:pt x="665843" y="223754"/>
                    </a:lnTo>
                    <a:lnTo>
                      <a:pt x="648046" y="265979"/>
                    </a:lnTo>
                    <a:lnTo>
                      <a:pt x="620441" y="301753"/>
                    </a:lnTo>
                    <a:lnTo>
                      <a:pt x="584711" y="329393"/>
                    </a:lnTo>
                    <a:lnTo>
                      <a:pt x="542538" y="347212"/>
                    </a:lnTo>
                    <a:lnTo>
                      <a:pt x="495606" y="353526"/>
                    </a:lnTo>
                    <a:lnTo>
                      <a:pt x="176542" y="353526"/>
                    </a:lnTo>
                    <a:lnTo>
                      <a:pt x="129610" y="347212"/>
                    </a:lnTo>
                    <a:lnTo>
                      <a:pt x="87438" y="329393"/>
                    </a:lnTo>
                    <a:lnTo>
                      <a:pt x="51708" y="301753"/>
                    </a:lnTo>
                    <a:lnTo>
                      <a:pt x="24103" y="265979"/>
                    </a:lnTo>
                    <a:lnTo>
                      <a:pt x="6306" y="223754"/>
                    </a:lnTo>
                    <a:lnTo>
                      <a:pt x="0" y="176763"/>
                    </a:lnTo>
                    <a:close/>
                  </a:path>
                </a:pathLst>
              </a:custGeom>
              <a:ln w="18856">
                <a:solidFill>
                  <a:srgbClr val="C03F02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40" name="object 40"/>
            <p:cNvSpPr txBox="1"/>
            <p:nvPr/>
          </p:nvSpPr>
          <p:spPr>
            <a:xfrm>
              <a:off x="5106465" y="4301099"/>
              <a:ext cx="29863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4" dirty="0">
                  <a:solidFill>
                    <a:srgbClr val="FFFFFF"/>
                  </a:solidFill>
                  <a:latin typeface="Calibri"/>
                  <a:cs typeface="Calibri"/>
                </a:rPr>
                <a:t>R</a:t>
              </a:r>
              <a:r>
                <a:rPr sz="1059" spc="-9" dirty="0">
                  <a:solidFill>
                    <a:srgbClr val="FFFFFF"/>
                  </a:solidFill>
                  <a:latin typeface="Calibri"/>
                  <a:cs typeface="Calibri"/>
                </a:rPr>
                <a:t>isk</a:t>
              </a:r>
              <a:r>
                <a:rPr sz="1059" dirty="0">
                  <a:solidFill>
                    <a:srgbClr val="FFFFFF"/>
                  </a:solidFill>
                  <a:latin typeface="Calibri"/>
                  <a:cs typeface="Calibri"/>
                </a:rPr>
                <a:t>y</a:t>
              </a:r>
              <a:endParaRPr sz="1059">
                <a:latin typeface="Calibri"/>
                <a:cs typeface="Calibri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4858520" y="3771284"/>
              <a:ext cx="250451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b="1" spc="-9" dirty="0">
                  <a:latin typeface="Calibri"/>
                  <a:cs typeface="Calibri"/>
                </a:rPr>
                <a:t>Lo</a:t>
              </a:r>
              <a:r>
                <a:rPr sz="1059" b="1" dirty="0">
                  <a:latin typeface="Calibri"/>
                  <a:cs typeface="Calibri"/>
                </a:rPr>
                <a:t>w</a:t>
              </a:r>
              <a:endParaRPr sz="1059">
                <a:latin typeface="Calibri"/>
                <a:cs typeface="Calibri"/>
              </a:endParaRPr>
            </a:p>
          </p:txBody>
        </p:sp>
        <p:grpSp>
          <p:nvGrpSpPr>
            <p:cNvPr id="42" name="object 42"/>
            <p:cNvGrpSpPr/>
            <p:nvPr/>
          </p:nvGrpSpPr>
          <p:grpSpPr>
            <a:xfrm>
              <a:off x="3157420" y="4207866"/>
              <a:ext cx="1167653" cy="336737"/>
              <a:chOff x="3426009" y="4768914"/>
              <a:chExt cx="1323340" cy="381635"/>
            </a:xfrm>
          </p:grpSpPr>
          <p:sp>
            <p:nvSpPr>
              <p:cNvPr id="43" name="object 43"/>
              <p:cNvSpPr/>
              <p:nvPr/>
            </p:nvSpPr>
            <p:spPr>
              <a:xfrm>
                <a:off x="3435534" y="4778439"/>
                <a:ext cx="1304290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304289" h="362585">
                    <a:moveTo>
                      <a:pt x="651929" y="0"/>
                    </a:moveTo>
                    <a:lnTo>
                      <a:pt x="0" y="181070"/>
                    </a:lnTo>
                    <a:lnTo>
                      <a:pt x="651929" y="362139"/>
                    </a:lnTo>
                    <a:lnTo>
                      <a:pt x="1303856" y="181070"/>
                    </a:lnTo>
                    <a:lnTo>
                      <a:pt x="651929" y="0"/>
                    </a:lnTo>
                    <a:close/>
                  </a:path>
                </a:pathLst>
              </a:custGeom>
              <a:solidFill>
                <a:srgbClr val="FFBCE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4" name="object 44"/>
              <p:cNvSpPr/>
              <p:nvPr/>
            </p:nvSpPr>
            <p:spPr>
              <a:xfrm>
                <a:off x="3435534" y="4778439"/>
                <a:ext cx="1304290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304289" h="362585">
                    <a:moveTo>
                      <a:pt x="0" y="181069"/>
                    </a:moveTo>
                    <a:lnTo>
                      <a:pt x="651928" y="0"/>
                    </a:lnTo>
                    <a:lnTo>
                      <a:pt x="1303857" y="181069"/>
                    </a:lnTo>
                    <a:lnTo>
                      <a:pt x="651928" y="362139"/>
                    </a:lnTo>
                    <a:lnTo>
                      <a:pt x="0" y="181069"/>
                    </a:lnTo>
                    <a:close/>
                  </a:path>
                </a:pathLst>
              </a:custGeom>
              <a:ln w="18860">
                <a:solidFill>
                  <a:srgbClr val="58003F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45" name="object 45"/>
            <p:cNvSpPr txBox="1"/>
            <p:nvPr/>
          </p:nvSpPr>
          <p:spPr>
            <a:xfrm>
              <a:off x="3563297" y="4279583"/>
              <a:ext cx="35690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106" dirty="0">
                  <a:solidFill>
                    <a:srgbClr val="2B2728"/>
                  </a:solidFill>
                  <a:latin typeface="Calibri"/>
                  <a:cs typeface="Calibri"/>
                </a:rPr>
                <a:t>T</a:t>
              </a:r>
              <a:r>
                <a:rPr sz="1059" spc="-4" dirty="0">
                  <a:solidFill>
                    <a:srgbClr val="2B2728"/>
                  </a:solidFill>
                  <a:latin typeface="Calibri"/>
                  <a:cs typeface="Calibri"/>
                </a:rPr>
                <a:t>er</a:t>
              </a:r>
              <a:r>
                <a:rPr sz="1059" spc="-13" dirty="0">
                  <a:solidFill>
                    <a:srgbClr val="2B2728"/>
                  </a:solidFill>
                  <a:latin typeface="Calibri"/>
                  <a:cs typeface="Calibri"/>
                </a:rPr>
                <a:t>m</a:t>
              </a:r>
              <a:r>
                <a:rPr sz="1059" dirty="0">
                  <a:solidFill>
                    <a:srgbClr val="2B2728"/>
                  </a:solidFill>
                  <a:latin typeface="Calibri"/>
                  <a:cs typeface="Calibri"/>
                </a:rPr>
                <a:t>?</a:t>
              </a:r>
              <a:endParaRPr sz="1059" dirty="0">
                <a:latin typeface="Calibri"/>
                <a:cs typeface="Calibri"/>
              </a:endParaRPr>
            </a:p>
          </p:txBody>
        </p:sp>
        <p:grpSp>
          <p:nvGrpSpPr>
            <p:cNvPr id="46" name="object 46"/>
            <p:cNvGrpSpPr/>
            <p:nvPr/>
          </p:nvGrpSpPr>
          <p:grpSpPr>
            <a:xfrm>
              <a:off x="3017792" y="4530861"/>
              <a:ext cx="730063" cy="849965"/>
              <a:chOff x="3267764" y="5134976"/>
              <a:chExt cx="827405" cy="963294"/>
            </a:xfrm>
          </p:grpSpPr>
          <p:sp>
            <p:nvSpPr>
              <p:cNvPr id="47" name="object 47"/>
              <p:cNvSpPr/>
              <p:nvPr/>
            </p:nvSpPr>
            <p:spPr>
              <a:xfrm>
                <a:off x="3649299" y="5134976"/>
                <a:ext cx="445770" cy="600075"/>
              </a:xfrm>
              <a:custGeom>
                <a:avLst/>
                <a:gdLst/>
                <a:ahLst/>
                <a:cxnLst/>
                <a:rect l="l" t="t" r="r" b="b"/>
                <a:pathLst>
                  <a:path w="445770" h="600075">
                    <a:moveTo>
                      <a:pt x="13994" y="509672"/>
                    </a:moveTo>
                    <a:lnTo>
                      <a:pt x="9347" y="513415"/>
                    </a:lnTo>
                    <a:lnTo>
                      <a:pt x="0" y="599795"/>
                    </a:lnTo>
                    <a:lnTo>
                      <a:pt x="21928" y="590337"/>
                    </a:lnTo>
                    <a:lnTo>
                      <a:pt x="18682" y="590337"/>
                    </a:lnTo>
                    <a:lnTo>
                      <a:pt x="3528" y="579133"/>
                    </a:lnTo>
                    <a:lnTo>
                      <a:pt x="24221" y="551071"/>
                    </a:lnTo>
                    <a:lnTo>
                      <a:pt x="28075" y="515447"/>
                    </a:lnTo>
                    <a:lnTo>
                      <a:pt x="24337" y="510794"/>
                    </a:lnTo>
                    <a:lnTo>
                      <a:pt x="13994" y="509672"/>
                    </a:lnTo>
                    <a:close/>
                  </a:path>
                  <a:path w="445770" h="600075">
                    <a:moveTo>
                      <a:pt x="24221" y="551071"/>
                    </a:moveTo>
                    <a:lnTo>
                      <a:pt x="3528" y="579133"/>
                    </a:lnTo>
                    <a:lnTo>
                      <a:pt x="18682" y="590337"/>
                    </a:lnTo>
                    <a:lnTo>
                      <a:pt x="22063" y="585753"/>
                    </a:lnTo>
                    <a:lnTo>
                      <a:pt x="20468" y="585753"/>
                    </a:lnTo>
                    <a:lnTo>
                      <a:pt x="7377" y="576075"/>
                    </a:lnTo>
                    <a:lnTo>
                      <a:pt x="22207" y="569679"/>
                    </a:lnTo>
                    <a:lnTo>
                      <a:pt x="24221" y="551071"/>
                    </a:lnTo>
                    <a:close/>
                  </a:path>
                  <a:path w="445770" h="600075">
                    <a:moveTo>
                      <a:pt x="72245" y="548098"/>
                    </a:moveTo>
                    <a:lnTo>
                      <a:pt x="39376" y="562274"/>
                    </a:lnTo>
                    <a:lnTo>
                      <a:pt x="18682" y="590337"/>
                    </a:lnTo>
                    <a:lnTo>
                      <a:pt x="21928" y="590337"/>
                    </a:lnTo>
                    <a:lnTo>
                      <a:pt x="79697" y="565423"/>
                    </a:lnTo>
                    <a:lnTo>
                      <a:pt x="81902" y="559874"/>
                    </a:lnTo>
                    <a:lnTo>
                      <a:pt x="77786" y="550307"/>
                    </a:lnTo>
                    <a:lnTo>
                      <a:pt x="72245" y="548098"/>
                    </a:lnTo>
                    <a:close/>
                  </a:path>
                  <a:path w="445770" h="600075">
                    <a:moveTo>
                      <a:pt x="22207" y="569679"/>
                    </a:moveTo>
                    <a:lnTo>
                      <a:pt x="7377" y="576075"/>
                    </a:lnTo>
                    <a:lnTo>
                      <a:pt x="20468" y="585753"/>
                    </a:lnTo>
                    <a:lnTo>
                      <a:pt x="22207" y="569679"/>
                    </a:lnTo>
                    <a:close/>
                  </a:path>
                  <a:path w="445770" h="600075">
                    <a:moveTo>
                      <a:pt x="39376" y="562274"/>
                    </a:moveTo>
                    <a:lnTo>
                      <a:pt x="22207" y="569679"/>
                    </a:lnTo>
                    <a:lnTo>
                      <a:pt x="20468" y="585753"/>
                    </a:lnTo>
                    <a:lnTo>
                      <a:pt x="22063" y="585753"/>
                    </a:lnTo>
                    <a:lnTo>
                      <a:pt x="39376" y="562274"/>
                    </a:lnTo>
                    <a:close/>
                  </a:path>
                  <a:path w="445770" h="600075">
                    <a:moveTo>
                      <a:pt x="430585" y="0"/>
                    </a:moveTo>
                    <a:lnTo>
                      <a:pt x="24221" y="551071"/>
                    </a:lnTo>
                    <a:lnTo>
                      <a:pt x="22207" y="569679"/>
                    </a:lnTo>
                    <a:lnTo>
                      <a:pt x="39376" y="562274"/>
                    </a:lnTo>
                    <a:lnTo>
                      <a:pt x="445740" y="11203"/>
                    </a:lnTo>
                    <a:lnTo>
                      <a:pt x="430585" y="0"/>
                    </a:lnTo>
                    <a:close/>
                  </a:path>
                </a:pathLst>
              </a:custGeom>
              <a:solidFill>
                <a:srgbClr val="5D5555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8" name="object 48"/>
              <p:cNvSpPr/>
              <p:nvPr/>
            </p:nvSpPr>
            <p:spPr>
              <a:xfrm>
                <a:off x="3277289" y="5734736"/>
                <a:ext cx="744220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744220" h="353695">
                    <a:moveTo>
                      <a:pt x="567528" y="0"/>
                    </a:moveTo>
                    <a:lnTo>
                      <a:pt x="176542" y="0"/>
                    </a:lnTo>
                    <a:lnTo>
                      <a:pt x="129610" y="6314"/>
                    </a:lnTo>
                    <a:lnTo>
                      <a:pt x="87438" y="24133"/>
                    </a:lnTo>
                    <a:lnTo>
                      <a:pt x="51708" y="51772"/>
                    </a:lnTo>
                    <a:lnTo>
                      <a:pt x="24103" y="87547"/>
                    </a:lnTo>
                    <a:lnTo>
                      <a:pt x="6306" y="129772"/>
                    </a:lnTo>
                    <a:lnTo>
                      <a:pt x="0" y="176763"/>
                    </a:lnTo>
                    <a:lnTo>
                      <a:pt x="6306" y="223754"/>
                    </a:lnTo>
                    <a:lnTo>
                      <a:pt x="24103" y="265979"/>
                    </a:lnTo>
                    <a:lnTo>
                      <a:pt x="51708" y="301754"/>
                    </a:lnTo>
                    <a:lnTo>
                      <a:pt x="87438" y="329393"/>
                    </a:lnTo>
                    <a:lnTo>
                      <a:pt x="129610" y="347213"/>
                    </a:lnTo>
                    <a:lnTo>
                      <a:pt x="176542" y="353527"/>
                    </a:lnTo>
                    <a:lnTo>
                      <a:pt x="567528" y="353527"/>
                    </a:lnTo>
                    <a:lnTo>
                      <a:pt x="614460" y="347213"/>
                    </a:lnTo>
                    <a:lnTo>
                      <a:pt x="656633" y="329393"/>
                    </a:lnTo>
                    <a:lnTo>
                      <a:pt x="692363" y="301754"/>
                    </a:lnTo>
                    <a:lnTo>
                      <a:pt x="719968" y="265979"/>
                    </a:lnTo>
                    <a:lnTo>
                      <a:pt x="737765" y="223754"/>
                    </a:lnTo>
                    <a:lnTo>
                      <a:pt x="744071" y="176763"/>
                    </a:lnTo>
                    <a:lnTo>
                      <a:pt x="737765" y="129772"/>
                    </a:lnTo>
                    <a:lnTo>
                      <a:pt x="719968" y="87547"/>
                    </a:lnTo>
                    <a:lnTo>
                      <a:pt x="692363" y="51772"/>
                    </a:lnTo>
                    <a:lnTo>
                      <a:pt x="656633" y="24133"/>
                    </a:lnTo>
                    <a:lnTo>
                      <a:pt x="614460" y="6314"/>
                    </a:lnTo>
                    <a:lnTo>
                      <a:pt x="567528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3277289" y="5734736"/>
                <a:ext cx="744220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744220" h="353695">
                    <a:moveTo>
                      <a:pt x="0" y="176763"/>
                    </a:moveTo>
                    <a:lnTo>
                      <a:pt x="6306" y="129772"/>
                    </a:lnTo>
                    <a:lnTo>
                      <a:pt x="24103" y="87547"/>
                    </a:lnTo>
                    <a:lnTo>
                      <a:pt x="51708" y="51772"/>
                    </a:lnTo>
                    <a:lnTo>
                      <a:pt x="87438" y="24133"/>
                    </a:lnTo>
                    <a:lnTo>
                      <a:pt x="129610" y="6314"/>
                    </a:lnTo>
                    <a:lnTo>
                      <a:pt x="176542" y="0"/>
                    </a:lnTo>
                    <a:lnTo>
                      <a:pt x="567528" y="0"/>
                    </a:lnTo>
                    <a:lnTo>
                      <a:pt x="614460" y="6314"/>
                    </a:lnTo>
                    <a:lnTo>
                      <a:pt x="656632" y="24133"/>
                    </a:lnTo>
                    <a:lnTo>
                      <a:pt x="692362" y="51772"/>
                    </a:lnTo>
                    <a:lnTo>
                      <a:pt x="719967" y="87547"/>
                    </a:lnTo>
                    <a:lnTo>
                      <a:pt x="737764" y="129772"/>
                    </a:lnTo>
                    <a:lnTo>
                      <a:pt x="744071" y="176763"/>
                    </a:lnTo>
                    <a:lnTo>
                      <a:pt x="737764" y="223754"/>
                    </a:lnTo>
                    <a:lnTo>
                      <a:pt x="719967" y="265979"/>
                    </a:lnTo>
                    <a:lnTo>
                      <a:pt x="692362" y="301753"/>
                    </a:lnTo>
                    <a:lnTo>
                      <a:pt x="656632" y="329393"/>
                    </a:lnTo>
                    <a:lnTo>
                      <a:pt x="614460" y="347212"/>
                    </a:lnTo>
                    <a:lnTo>
                      <a:pt x="567528" y="353526"/>
                    </a:lnTo>
                    <a:lnTo>
                      <a:pt x="176542" y="353526"/>
                    </a:lnTo>
                    <a:lnTo>
                      <a:pt x="129610" y="347212"/>
                    </a:lnTo>
                    <a:lnTo>
                      <a:pt x="87438" y="329393"/>
                    </a:lnTo>
                    <a:lnTo>
                      <a:pt x="51708" y="301753"/>
                    </a:lnTo>
                    <a:lnTo>
                      <a:pt x="24103" y="265979"/>
                    </a:lnTo>
                    <a:lnTo>
                      <a:pt x="6306" y="223754"/>
                    </a:lnTo>
                    <a:lnTo>
                      <a:pt x="0" y="176763"/>
                    </a:lnTo>
                    <a:close/>
                  </a:path>
                </a:pathLst>
              </a:custGeom>
              <a:ln w="18857">
                <a:solidFill>
                  <a:srgbClr val="B93C03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50" name="object 50"/>
            <p:cNvSpPr txBox="1"/>
            <p:nvPr/>
          </p:nvSpPr>
          <p:spPr>
            <a:xfrm>
              <a:off x="3205606" y="5118680"/>
              <a:ext cx="29863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4" dirty="0">
                  <a:solidFill>
                    <a:srgbClr val="FFFFFF"/>
                  </a:solidFill>
                  <a:latin typeface="Calibri"/>
                  <a:cs typeface="Calibri"/>
                </a:rPr>
                <a:t>R</a:t>
              </a:r>
              <a:r>
                <a:rPr sz="1059" spc="-9" dirty="0">
                  <a:solidFill>
                    <a:srgbClr val="FFFFFF"/>
                  </a:solidFill>
                  <a:latin typeface="Calibri"/>
                  <a:cs typeface="Calibri"/>
                </a:rPr>
                <a:t>isk</a:t>
              </a:r>
              <a:r>
                <a:rPr sz="1059" dirty="0">
                  <a:solidFill>
                    <a:srgbClr val="FFFFFF"/>
                  </a:solidFill>
                  <a:latin typeface="Calibri"/>
                  <a:cs typeface="Calibri"/>
                </a:rPr>
                <a:t>y</a:t>
              </a:r>
              <a:endParaRPr sz="1059">
                <a:latin typeface="Calibri"/>
                <a:cs typeface="Calibri"/>
              </a:endParaRPr>
            </a:p>
          </p:txBody>
        </p:sp>
        <p:grpSp>
          <p:nvGrpSpPr>
            <p:cNvPr id="51" name="object 51"/>
            <p:cNvGrpSpPr/>
            <p:nvPr/>
          </p:nvGrpSpPr>
          <p:grpSpPr>
            <a:xfrm>
              <a:off x="3778524" y="5032302"/>
              <a:ext cx="650501" cy="328893"/>
              <a:chOff x="4129926" y="5703275"/>
              <a:chExt cx="737235" cy="372745"/>
            </a:xfrm>
          </p:grpSpPr>
          <p:sp>
            <p:nvSpPr>
              <p:cNvPr id="52" name="object 52"/>
              <p:cNvSpPr/>
              <p:nvPr/>
            </p:nvSpPr>
            <p:spPr>
              <a:xfrm>
                <a:off x="4139451" y="5712800"/>
                <a:ext cx="718185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718185" h="353695">
                    <a:moveTo>
                      <a:pt x="541312" y="0"/>
                    </a:moveTo>
                    <a:lnTo>
                      <a:pt x="176542" y="0"/>
                    </a:lnTo>
                    <a:lnTo>
                      <a:pt x="129610" y="6314"/>
                    </a:lnTo>
                    <a:lnTo>
                      <a:pt x="87438" y="24133"/>
                    </a:lnTo>
                    <a:lnTo>
                      <a:pt x="51708" y="51772"/>
                    </a:lnTo>
                    <a:lnTo>
                      <a:pt x="24103" y="87547"/>
                    </a:lnTo>
                    <a:lnTo>
                      <a:pt x="6306" y="129772"/>
                    </a:lnTo>
                    <a:lnTo>
                      <a:pt x="0" y="176762"/>
                    </a:lnTo>
                    <a:lnTo>
                      <a:pt x="6306" y="223753"/>
                    </a:lnTo>
                    <a:lnTo>
                      <a:pt x="24103" y="265978"/>
                    </a:lnTo>
                    <a:lnTo>
                      <a:pt x="51708" y="301753"/>
                    </a:lnTo>
                    <a:lnTo>
                      <a:pt x="87438" y="329392"/>
                    </a:lnTo>
                    <a:lnTo>
                      <a:pt x="129610" y="347211"/>
                    </a:lnTo>
                    <a:lnTo>
                      <a:pt x="176542" y="353526"/>
                    </a:lnTo>
                    <a:lnTo>
                      <a:pt x="541310" y="353527"/>
                    </a:lnTo>
                    <a:lnTo>
                      <a:pt x="588243" y="347213"/>
                    </a:lnTo>
                    <a:lnTo>
                      <a:pt x="630416" y="329393"/>
                    </a:lnTo>
                    <a:lnTo>
                      <a:pt x="666146" y="301754"/>
                    </a:lnTo>
                    <a:lnTo>
                      <a:pt x="693751" y="265979"/>
                    </a:lnTo>
                    <a:lnTo>
                      <a:pt x="711548" y="223754"/>
                    </a:lnTo>
                    <a:lnTo>
                      <a:pt x="717856" y="176763"/>
                    </a:lnTo>
                    <a:lnTo>
                      <a:pt x="711549" y="129772"/>
                    </a:lnTo>
                    <a:lnTo>
                      <a:pt x="693752" y="87547"/>
                    </a:lnTo>
                    <a:lnTo>
                      <a:pt x="666147" y="51772"/>
                    </a:lnTo>
                    <a:lnTo>
                      <a:pt x="630416" y="24133"/>
                    </a:lnTo>
                    <a:lnTo>
                      <a:pt x="588244" y="6314"/>
                    </a:lnTo>
                    <a:lnTo>
                      <a:pt x="541312" y="0"/>
                    </a:lnTo>
                    <a:close/>
                  </a:path>
                </a:pathLst>
              </a:custGeom>
              <a:solidFill>
                <a:srgbClr val="85BD05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3" name="object 53"/>
              <p:cNvSpPr/>
              <p:nvPr/>
            </p:nvSpPr>
            <p:spPr>
              <a:xfrm>
                <a:off x="4139451" y="5712800"/>
                <a:ext cx="718185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718185" h="353695">
                    <a:moveTo>
                      <a:pt x="0" y="176763"/>
                    </a:moveTo>
                    <a:lnTo>
                      <a:pt x="6306" y="129772"/>
                    </a:lnTo>
                    <a:lnTo>
                      <a:pt x="24103" y="87547"/>
                    </a:lnTo>
                    <a:lnTo>
                      <a:pt x="51708" y="51772"/>
                    </a:lnTo>
                    <a:lnTo>
                      <a:pt x="87438" y="24133"/>
                    </a:lnTo>
                    <a:lnTo>
                      <a:pt x="129611" y="6314"/>
                    </a:lnTo>
                    <a:lnTo>
                      <a:pt x="176543" y="0"/>
                    </a:lnTo>
                    <a:lnTo>
                      <a:pt x="541312" y="0"/>
                    </a:lnTo>
                    <a:lnTo>
                      <a:pt x="588244" y="6314"/>
                    </a:lnTo>
                    <a:lnTo>
                      <a:pt x="630416" y="24133"/>
                    </a:lnTo>
                    <a:lnTo>
                      <a:pt x="666147" y="51772"/>
                    </a:lnTo>
                    <a:lnTo>
                      <a:pt x="693752" y="87547"/>
                    </a:lnTo>
                    <a:lnTo>
                      <a:pt x="711549" y="129772"/>
                    </a:lnTo>
                    <a:lnTo>
                      <a:pt x="717855" y="176763"/>
                    </a:lnTo>
                    <a:lnTo>
                      <a:pt x="711548" y="223754"/>
                    </a:lnTo>
                    <a:lnTo>
                      <a:pt x="693751" y="265979"/>
                    </a:lnTo>
                    <a:lnTo>
                      <a:pt x="666146" y="301754"/>
                    </a:lnTo>
                    <a:lnTo>
                      <a:pt x="630416" y="329394"/>
                    </a:lnTo>
                    <a:lnTo>
                      <a:pt x="588243" y="347213"/>
                    </a:lnTo>
                    <a:lnTo>
                      <a:pt x="541311" y="353527"/>
                    </a:lnTo>
                    <a:lnTo>
                      <a:pt x="176543" y="353526"/>
                    </a:lnTo>
                    <a:lnTo>
                      <a:pt x="129611" y="347212"/>
                    </a:lnTo>
                    <a:lnTo>
                      <a:pt x="87438" y="329393"/>
                    </a:lnTo>
                    <a:lnTo>
                      <a:pt x="51708" y="301753"/>
                    </a:lnTo>
                    <a:lnTo>
                      <a:pt x="24103" y="265979"/>
                    </a:lnTo>
                    <a:lnTo>
                      <a:pt x="6306" y="223753"/>
                    </a:lnTo>
                    <a:lnTo>
                      <a:pt x="0" y="176763"/>
                    </a:lnTo>
                    <a:close/>
                  </a:path>
                </a:pathLst>
              </a:custGeom>
              <a:ln w="18857">
                <a:solidFill>
                  <a:srgbClr val="608A03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54" name="object 54"/>
            <p:cNvSpPr txBox="1"/>
            <p:nvPr/>
          </p:nvSpPr>
          <p:spPr>
            <a:xfrm>
              <a:off x="3978646" y="5099854"/>
              <a:ext cx="250451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4" dirty="0">
                  <a:solidFill>
                    <a:srgbClr val="FFFFFF"/>
                  </a:solidFill>
                  <a:latin typeface="Calibri"/>
                  <a:cs typeface="Calibri"/>
                </a:rPr>
                <a:t>S</a:t>
              </a:r>
              <a:r>
                <a:rPr sz="1059" spc="-18" dirty="0">
                  <a:solidFill>
                    <a:srgbClr val="FFFFFF"/>
                  </a:solidFill>
                  <a:latin typeface="Calibri"/>
                  <a:cs typeface="Calibri"/>
                </a:rPr>
                <a:t>a</a:t>
              </a:r>
              <a:r>
                <a:rPr sz="1059" spc="-31" dirty="0">
                  <a:solidFill>
                    <a:srgbClr val="FFFFFF"/>
                  </a:solidFill>
                  <a:latin typeface="Calibri"/>
                  <a:cs typeface="Calibri"/>
                </a:rPr>
                <a:t>f</a:t>
              </a:r>
              <a:r>
                <a:rPr sz="1059" dirty="0">
                  <a:solidFill>
                    <a:srgbClr val="FFFFFF"/>
                  </a:solidFill>
                  <a:latin typeface="Calibri"/>
                  <a:cs typeface="Calibri"/>
                </a:rPr>
                <a:t>e</a:t>
              </a:r>
              <a:endParaRPr sz="1059">
                <a:latin typeface="Calibri"/>
                <a:cs typeface="Calibri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3734304" y="3743224"/>
              <a:ext cx="738468" cy="1297641"/>
            </a:xfrm>
            <a:custGeom>
              <a:avLst/>
              <a:gdLst/>
              <a:ahLst/>
              <a:cxnLst/>
              <a:rect l="l" t="t" r="r" b="b"/>
              <a:pathLst>
                <a:path w="836929" h="1470660">
                  <a:moveTo>
                    <a:pt x="418592" y="1470520"/>
                  </a:moveTo>
                  <a:lnTo>
                    <a:pt x="417664" y="1460830"/>
                  </a:lnTo>
                  <a:lnTo>
                    <a:pt x="410337" y="1384033"/>
                  </a:lnTo>
                  <a:lnTo>
                    <a:pt x="405726" y="1380223"/>
                  </a:lnTo>
                  <a:lnTo>
                    <a:pt x="395376" y="1381213"/>
                  </a:lnTo>
                  <a:lnTo>
                    <a:pt x="391579" y="1385824"/>
                  </a:lnTo>
                  <a:lnTo>
                    <a:pt x="394982" y="1421498"/>
                  </a:lnTo>
                  <a:lnTo>
                    <a:pt x="15290" y="892759"/>
                  </a:lnTo>
                  <a:lnTo>
                    <a:pt x="0" y="903770"/>
                  </a:lnTo>
                  <a:lnTo>
                    <a:pt x="379691" y="1432509"/>
                  </a:lnTo>
                  <a:lnTo>
                    <a:pt x="347002" y="1417916"/>
                  </a:lnTo>
                  <a:lnTo>
                    <a:pt x="341426" y="1420050"/>
                  </a:lnTo>
                  <a:lnTo>
                    <a:pt x="337197" y="1429562"/>
                  </a:lnTo>
                  <a:lnTo>
                    <a:pt x="339331" y="1435138"/>
                  </a:lnTo>
                  <a:lnTo>
                    <a:pt x="418592" y="1470520"/>
                  </a:lnTo>
                  <a:close/>
                </a:path>
                <a:path w="836929" h="1470660">
                  <a:moveTo>
                    <a:pt x="836599" y="15887"/>
                  </a:moveTo>
                  <a:lnTo>
                    <a:pt x="826439" y="0"/>
                  </a:lnTo>
                  <a:lnTo>
                    <a:pt x="47612" y="499300"/>
                  </a:lnTo>
                  <a:lnTo>
                    <a:pt x="63919" y="467410"/>
                  </a:lnTo>
                  <a:lnTo>
                    <a:pt x="62090" y="461721"/>
                  </a:lnTo>
                  <a:lnTo>
                    <a:pt x="52832" y="456971"/>
                  </a:lnTo>
                  <a:lnTo>
                    <a:pt x="47155" y="458812"/>
                  </a:lnTo>
                  <a:lnTo>
                    <a:pt x="7607" y="536143"/>
                  </a:lnTo>
                  <a:lnTo>
                    <a:pt x="59372" y="533996"/>
                  </a:lnTo>
                  <a:lnTo>
                    <a:pt x="94310" y="532549"/>
                  </a:lnTo>
                  <a:lnTo>
                    <a:pt x="98348" y="528154"/>
                  </a:lnTo>
                  <a:lnTo>
                    <a:pt x="97917" y="517740"/>
                  </a:lnTo>
                  <a:lnTo>
                    <a:pt x="93535" y="513702"/>
                  </a:lnTo>
                  <a:lnTo>
                    <a:pt x="57772" y="515188"/>
                  </a:lnTo>
                  <a:lnTo>
                    <a:pt x="836599" y="15887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 txBox="1"/>
            <p:nvPr/>
          </p:nvSpPr>
          <p:spPr>
            <a:xfrm>
              <a:off x="3686163" y="3768595"/>
              <a:ext cx="262218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b="1" spc="-4" dirty="0">
                  <a:latin typeface="Calibri"/>
                  <a:cs typeface="Calibri"/>
                </a:rPr>
                <a:t>h</a:t>
              </a:r>
              <a:r>
                <a:rPr sz="1059" b="1" spc="-9" dirty="0">
                  <a:latin typeface="Calibri"/>
                  <a:cs typeface="Calibri"/>
                </a:rPr>
                <a:t>i</a:t>
              </a:r>
              <a:r>
                <a:rPr sz="1059" b="1" spc="-4" dirty="0">
                  <a:latin typeface="Calibri"/>
                  <a:cs typeface="Calibri"/>
                </a:rPr>
                <a:t>g</a:t>
              </a:r>
              <a:r>
                <a:rPr sz="1059" b="1" dirty="0">
                  <a:latin typeface="Calibri"/>
                  <a:cs typeface="Calibri"/>
                </a:rPr>
                <a:t>h</a:t>
              </a:r>
              <a:endParaRPr sz="1059">
                <a:latin typeface="Calibri"/>
                <a:cs typeface="Calibri"/>
              </a:endParaRPr>
            </a:p>
          </p:txBody>
        </p:sp>
        <p:sp>
          <p:nvSpPr>
            <p:cNvPr id="57" name="object 57"/>
            <p:cNvSpPr txBox="1"/>
            <p:nvPr/>
          </p:nvSpPr>
          <p:spPr>
            <a:xfrm>
              <a:off x="3934003" y="4629207"/>
              <a:ext cx="41405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b="1" dirty="0">
                  <a:latin typeface="Calibri"/>
                  <a:cs typeface="Calibri"/>
                </a:rPr>
                <a:t>5</a:t>
              </a:r>
              <a:r>
                <a:rPr sz="1059" b="1" spc="-9" dirty="0">
                  <a:latin typeface="Calibri"/>
                  <a:cs typeface="Calibri"/>
                </a:rPr>
                <a:t> </a:t>
              </a:r>
              <a:r>
                <a:rPr sz="1059" b="1" spc="-18" dirty="0">
                  <a:latin typeface="Calibri"/>
                  <a:cs typeface="Calibri"/>
                </a:rPr>
                <a:t>y</a:t>
              </a:r>
              <a:r>
                <a:rPr sz="1059" b="1" spc="-13" dirty="0">
                  <a:latin typeface="Calibri"/>
                  <a:cs typeface="Calibri"/>
                </a:rPr>
                <a:t>e</a:t>
              </a:r>
              <a:r>
                <a:rPr sz="1059" b="1" spc="-9" dirty="0">
                  <a:latin typeface="Calibri"/>
                  <a:cs typeface="Calibri"/>
                </a:rPr>
                <a:t>a</a:t>
              </a:r>
              <a:r>
                <a:rPr sz="1059" b="1" spc="-13" dirty="0">
                  <a:latin typeface="Calibri"/>
                  <a:cs typeface="Calibri"/>
                </a:rPr>
                <a:t>r</a:t>
              </a:r>
              <a:r>
                <a:rPr sz="1059" b="1" dirty="0">
                  <a:latin typeface="Calibri"/>
                  <a:cs typeface="Calibri"/>
                </a:rPr>
                <a:t>s</a:t>
              </a:r>
              <a:endParaRPr sz="1059">
                <a:latin typeface="Calibri"/>
                <a:cs typeface="Calibri"/>
              </a:endParaRPr>
            </a:p>
          </p:txBody>
        </p:sp>
        <p:sp>
          <p:nvSpPr>
            <p:cNvPr id="58" name="object 58"/>
            <p:cNvSpPr txBox="1"/>
            <p:nvPr/>
          </p:nvSpPr>
          <p:spPr>
            <a:xfrm>
              <a:off x="3111852" y="4629207"/>
              <a:ext cx="41405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b="1" dirty="0">
                  <a:latin typeface="Calibri"/>
                  <a:cs typeface="Calibri"/>
                </a:rPr>
                <a:t>3</a:t>
              </a:r>
              <a:r>
                <a:rPr sz="1059" b="1" spc="-9" dirty="0">
                  <a:latin typeface="Calibri"/>
                  <a:cs typeface="Calibri"/>
                </a:rPr>
                <a:t> </a:t>
              </a:r>
              <a:r>
                <a:rPr sz="1059" b="1" spc="-18" dirty="0">
                  <a:latin typeface="Calibri"/>
                  <a:cs typeface="Calibri"/>
                </a:rPr>
                <a:t>y</a:t>
              </a:r>
              <a:r>
                <a:rPr sz="1059" b="1" spc="-13" dirty="0">
                  <a:latin typeface="Calibri"/>
                  <a:cs typeface="Calibri"/>
                </a:rPr>
                <a:t>e</a:t>
              </a:r>
              <a:r>
                <a:rPr sz="1059" b="1" spc="-9" dirty="0">
                  <a:latin typeface="Calibri"/>
                  <a:cs typeface="Calibri"/>
                </a:rPr>
                <a:t>a</a:t>
              </a:r>
              <a:r>
                <a:rPr sz="1059" b="1" spc="-13" dirty="0">
                  <a:latin typeface="Calibri"/>
                  <a:cs typeface="Calibri"/>
                </a:rPr>
                <a:t>r</a:t>
              </a:r>
              <a:r>
                <a:rPr sz="1059" b="1" dirty="0">
                  <a:latin typeface="Calibri"/>
                  <a:cs typeface="Calibri"/>
                </a:rPr>
                <a:t>s</a:t>
              </a:r>
              <a:endParaRPr sz="1059">
                <a:latin typeface="Calibri"/>
                <a:cs typeface="Calibri"/>
              </a:endParaRPr>
            </a:p>
          </p:txBody>
        </p:sp>
      </p:grpSp>
      <p:sp>
        <p:nvSpPr>
          <p:cNvPr id="63" name="object 3">
            <a:extLst>
              <a:ext uri="{FF2B5EF4-FFF2-40B4-BE49-F238E27FC236}">
                <a16:creationId xmlns:a16="http://schemas.microsoft.com/office/drawing/2014/main" id="{04432018-0C90-485F-9A9A-30456D02F4C0}"/>
              </a:ext>
            </a:extLst>
          </p:cNvPr>
          <p:cNvSpPr txBox="1"/>
          <p:nvPr/>
        </p:nvSpPr>
        <p:spPr>
          <a:xfrm>
            <a:off x="1106459" y="1509876"/>
            <a:ext cx="6723200" cy="330407"/>
          </a:xfrm>
          <a:prstGeom prst="rect">
            <a:avLst/>
          </a:prstGeom>
          <a:ln w="21219">
            <a:solidFill>
              <a:srgbClr val="B0007E"/>
            </a:solidFill>
          </a:ln>
        </p:spPr>
        <p:txBody>
          <a:bodyPr vert="horz" wrap="square" lIns="0" tIns="22412" rIns="0" bIns="0" rtlCol="0">
            <a:spAutoFit/>
          </a:bodyPr>
          <a:lstStyle/>
          <a:p>
            <a:pPr marL="562005">
              <a:spcBef>
                <a:spcPts val="176"/>
              </a:spcBef>
            </a:pPr>
            <a:r>
              <a:rPr sz="2000" spc="-9" dirty="0">
                <a:latin typeface="Calibri"/>
                <a:cs typeface="Calibri"/>
              </a:rPr>
              <a:t>x</a:t>
            </a:r>
            <a:r>
              <a:rPr sz="2000" spc="-13" baseline="-13888" dirty="0">
                <a:solidFill>
                  <a:srgbClr val="2B2728"/>
                </a:solidFill>
                <a:latin typeface="Calibri"/>
                <a:cs typeface="Calibri"/>
              </a:rPr>
              <a:t>i</a:t>
            </a:r>
            <a:r>
              <a:rPr sz="2000" spc="152" baseline="-1388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3" dirty="0">
                <a:latin typeface="Calibri"/>
                <a:cs typeface="Calibri"/>
              </a:rPr>
              <a:t> (</a:t>
            </a:r>
            <a:r>
              <a:rPr sz="2000" spc="-13" dirty="0">
                <a:solidFill>
                  <a:srgbClr val="2B2728"/>
                </a:solidFill>
                <a:latin typeface="Calibri"/>
                <a:cs typeface="Calibri"/>
              </a:rPr>
              <a:t>Credit</a:t>
            </a:r>
            <a:r>
              <a:rPr lang="en-US" sz="2000" spc="-13" dirty="0">
                <a:solidFill>
                  <a:srgbClr val="2B2728"/>
                </a:solidFill>
                <a:latin typeface="Calibri"/>
                <a:cs typeface="Calibri"/>
              </a:rPr>
              <a:t> History</a:t>
            </a:r>
            <a:r>
              <a:rPr sz="2000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B2728"/>
                </a:solidFill>
                <a:latin typeface="Calibri"/>
                <a:cs typeface="Calibri"/>
              </a:rPr>
              <a:t>=</a:t>
            </a:r>
            <a:r>
              <a:rPr sz="2000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2B2728"/>
                </a:solidFill>
                <a:latin typeface="Calibri"/>
                <a:cs typeface="Calibri"/>
              </a:rPr>
              <a:t>poor,</a:t>
            </a:r>
            <a:r>
              <a:rPr sz="2000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spc="-13" dirty="0">
                <a:solidFill>
                  <a:srgbClr val="2B2728"/>
                </a:solidFill>
                <a:latin typeface="Calibri"/>
                <a:cs typeface="Calibri"/>
              </a:rPr>
              <a:t>Income </a:t>
            </a:r>
            <a:r>
              <a:rPr sz="2000" dirty="0">
                <a:solidFill>
                  <a:srgbClr val="2B2728"/>
                </a:solidFill>
                <a:latin typeface="Calibri"/>
                <a:cs typeface="Calibri"/>
              </a:rPr>
              <a:t>=</a:t>
            </a:r>
            <a:r>
              <a:rPr sz="2000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2B2728"/>
                </a:solidFill>
                <a:latin typeface="Calibri"/>
                <a:cs typeface="Calibri"/>
              </a:rPr>
              <a:t>high,</a:t>
            </a:r>
            <a:r>
              <a:rPr sz="2000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spc="-44" dirty="0">
                <a:solidFill>
                  <a:srgbClr val="2B2728"/>
                </a:solidFill>
                <a:latin typeface="Calibri"/>
                <a:cs typeface="Calibri"/>
              </a:rPr>
              <a:t>Term</a:t>
            </a:r>
            <a:r>
              <a:rPr sz="2000" spc="-31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B2728"/>
                </a:solidFill>
                <a:latin typeface="Calibri"/>
                <a:cs typeface="Calibri"/>
              </a:rPr>
              <a:t>=</a:t>
            </a:r>
            <a:r>
              <a:rPr sz="2000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2000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spc="-18" dirty="0">
                <a:solidFill>
                  <a:srgbClr val="2B2728"/>
                </a:solidFill>
                <a:latin typeface="Calibri"/>
                <a:cs typeface="Calibri"/>
              </a:rPr>
              <a:t>years)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9" name="Date Placeholder 58">
            <a:extLst>
              <a:ext uri="{FF2B5EF4-FFF2-40B4-BE49-F238E27FC236}">
                <a16:creationId xmlns:a16="http://schemas.microsoft.com/office/drawing/2014/main" id="{21C819D1-F328-439B-BA60-0E9668735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8CCF6-4751-43D8-804D-FC5D353017B5}" type="datetime1">
              <a:rPr lang="en-US" smtClean="0"/>
              <a:t>3/30/2022</a:t>
            </a:fld>
            <a:endParaRPr lang="en-US"/>
          </a:p>
        </p:txBody>
      </p:sp>
      <p:sp>
        <p:nvSpPr>
          <p:cNvPr id="60" name="Footer Placeholder 59">
            <a:extLst>
              <a:ext uri="{FF2B5EF4-FFF2-40B4-BE49-F238E27FC236}">
                <a16:creationId xmlns:a16="http://schemas.microsoft.com/office/drawing/2014/main" id="{748F00F2-E001-45CB-B6C8-8AA0ABAEE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28B1D8AD-E9F0-46D4-8363-29A92DED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3FEBA2-70BC-454B-9AF1-D70B15D95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solidFill>
                  <a:srgbClr val="00B0F0"/>
                </a:solidFill>
                <a:latin typeface="Times New Roman" panose="02020603050405020304" pitchFamily="18" charset="0"/>
              </a:rPr>
              <a:t>Decision tree (DT) </a:t>
            </a:r>
            <a:r>
              <a:rPr lang="en-US" b="0" i="0" u="none" strike="noStrike" baseline="0" dirty="0">
                <a:latin typeface="Times New Roman" panose="02020603050405020304" pitchFamily="18" charset="0"/>
              </a:rPr>
              <a:t>is a machine learning algorithm.</a:t>
            </a:r>
          </a:p>
          <a:p>
            <a:pPr algn="l"/>
            <a:r>
              <a:rPr lang="en-US" dirty="0">
                <a:latin typeface="Times New Roman" panose="02020603050405020304" pitchFamily="18" charset="0"/>
              </a:rPr>
              <a:t>Its learning function is represented by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decision tree</a:t>
            </a:r>
            <a:r>
              <a:rPr lang="en-US" dirty="0">
                <a:latin typeface="Times New Roman" panose="02020603050405020304" pitchFamily="18" charset="0"/>
              </a:rPr>
              <a:t>.</a:t>
            </a:r>
          </a:p>
          <a:p>
            <a:pPr algn="l"/>
            <a:r>
              <a:rPr lang="en-US" dirty="0">
                <a:latin typeface="Times New Roman" panose="02020603050405020304" pitchFamily="18" charset="0"/>
              </a:rPr>
              <a:t>DT  can also be represented as sets of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if-then rules.</a:t>
            </a:r>
          </a:p>
          <a:p>
            <a:pPr algn="l"/>
            <a:r>
              <a:rPr lang="en-US" dirty="0">
                <a:latin typeface="Times New Roman" panose="02020603050405020304" pitchFamily="18" charset="0"/>
              </a:rPr>
              <a:t>Among the most popular of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inductive inference algorithms</a:t>
            </a:r>
          </a:p>
          <a:p>
            <a:pPr algn="l"/>
            <a:r>
              <a:rPr lang="en-US" dirty="0">
                <a:latin typeface="Times New Roman" panose="02020603050405020304" pitchFamily="18" charset="0"/>
              </a:rPr>
              <a:t>Applied to a broad range of tasks: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</a:rPr>
              <a:t>Medical diagnosis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latin typeface="Times New Roman" panose="02020603050405020304" pitchFamily="18" charset="0"/>
              </a:rPr>
              <a:t>Credit risk analysis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latin typeface="Times New Roman" panose="02020603050405020304" pitchFamily="18" charset="0"/>
              </a:rPr>
              <a:t>Object classification</a:t>
            </a:r>
            <a:endParaRPr lang="en-US" sz="2800" dirty="0">
              <a:latin typeface="Times New Roman" panose="02020603050405020304" pitchFamily="18" charset="0"/>
            </a:endParaRPr>
          </a:p>
          <a:p>
            <a:pPr algn="l"/>
            <a:endParaRPr lang="en-US" b="0" i="0" u="none" strike="noStrike" baseline="0" dirty="0">
              <a:latin typeface="Times New Roman" panose="02020603050405020304" pitchFamily="18" charset="0"/>
            </a:endParaRPr>
          </a:p>
          <a:p>
            <a:endParaRPr lang="en-US" sz="40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94FD01-CE41-4578-B7CD-510EAB5BA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3" dirty="0"/>
              <a:t>Decision</a:t>
            </a:r>
            <a:r>
              <a:rPr lang="en-US" spc="-40" dirty="0"/>
              <a:t> </a:t>
            </a:r>
            <a:r>
              <a:rPr lang="en-US" spc="-22" dirty="0"/>
              <a:t>Trees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DDADA5-AE06-4E9F-99A3-4DF24464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4EE8E-50B6-488B-8D0E-8B1279D477A8}" type="datetime1">
              <a:rPr lang="en-US" smtClean="0"/>
              <a:t>3/30/2022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B499BC-7936-48C6-83DC-46B675775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E37070-02DE-4228-BFA8-5B4B6A01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72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7D1060C-4B8A-4F5C-8E5A-BB18DA21F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3" dirty="0"/>
              <a:t>Decision</a:t>
            </a:r>
            <a:r>
              <a:rPr lang="en-US" spc="-40" dirty="0"/>
              <a:t> </a:t>
            </a:r>
            <a:r>
              <a:rPr lang="en-US" spc="-22" dirty="0"/>
              <a:t>Trees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719CB4-81F0-4A36-93D9-DF1934141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6" name="Picture 4" descr="Classification and Regression Trees (CART)-Classifier • Geo-IT • Department  of Earth Sciences">
            <a:extLst>
              <a:ext uri="{FF2B5EF4-FFF2-40B4-BE49-F238E27FC236}">
                <a16:creationId xmlns:a16="http://schemas.microsoft.com/office/drawing/2014/main" id="{FCA7263C-A703-4C5C-8E68-FA0604CBF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1932"/>
            <a:ext cx="9144000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6E5B41-B797-4139-B7EB-0A5C44EE6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E2F6-C9C6-4075-911B-02DD9B9091C3}" type="datetime1">
              <a:rPr lang="en-US" smtClean="0"/>
              <a:t>3/30/2022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F204D-C8DB-454A-8655-B34F1A59D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66EEDB-FFE3-4411-A426-F5C728DAB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714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A12CB1-679A-480D-870D-EC9C48E6E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65100" indent="-165100">
              <a:lnSpc>
                <a:spcPct val="90000"/>
              </a:lnSpc>
              <a:spcAft>
                <a:spcPts val="1800"/>
              </a:spcAft>
              <a:buFont typeface="Arial" pitchFamily="34" charset="0"/>
              <a:buChar char="•"/>
            </a:pPr>
            <a:r>
              <a:rPr lang="en-US" sz="2400" dirty="0"/>
              <a:t>How do we organize the tree to </a:t>
            </a:r>
            <a:r>
              <a:rPr lang="en-US" sz="2400" dirty="0">
                <a:solidFill>
                  <a:srgbClr val="FF0000"/>
                </a:solidFill>
              </a:rPr>
              <a:t>produce the lowest classification error</a:t>
            </a:r>
            <a:r>
              <a:rPr lang="en-US" sz="2400" dirty="0"/>
              <a:t>?</a:t>
            </a:r>
          </a:p>
          <a:p>
            <a:pPr marL="165100" indent="-165100">
              <a:lnSpc>
                <a:spcPct val="90000"/>
              </a:lnSpc>
              <a:spcAft>
                <a:spcPts val="1800"/>
              </a:spcAft>
              <a:buFont typeface="Arial" pitchFamily="34" charset="0"/>
              <a:buChar char="•"/>
            </a:pPr>
            <a:r>
              <a:rPr lang="en-US" sz="2400" dirty="0"/>
              <a:t>Any decision tree will successively </a:t>
            </a:r>
            <a:r>
              <a:rPr lang="en-US" sz="2400" dirty="0">
                <a:solidFill>
                  <a:srgbClr val="00B050"/>
                </a:solidFill>
              </a:rPr>
              <a:t>split the data into smaller and smaller subsets</a:t>
            </a:r>
            <a:r>
              <a:rPr lang="en-US" sz="2400" dirty="0"/>
              <a:t>. </a:t>
            </a:r>
          </a:p>
          <a:p>
            <a:pPr marL="565150" lvl="1" indent="-165100">
              <a:lnSpc>
                <a:spcPct val="90000"/>
              </a:lnSpc>
              <a:spcAft>
                <a:spcPts val="1800"/>
              </a:spcAft>
              <a:buFont typeface="Arial" pitchFamily="34" charset="0"/>
              <a:buChar char="•"/>
            </a:pPr>
            <a:r>
              <a:rPr lang="en-US" sz="2000" dirty="0"/>
              <a:t>It would be ideal if all the samples associated with a leaf node were from </a:t>
            </a:r>
            <a:r>
              <a:rPr lang="en-US" sz="2000"/>
              <a:t>the same </a:t>
            </a:r>
            <a:r>
              <a:rPr lang="en-US" sz="2000" dirty="0"/>
              <a:t>class. </a:t>
            </a:r>
          </a:p>
          <a:p>
            <a:pPr marL="565150" lvl="1" indent="-165100">
              <a:lnSpc>
                <a:spcPct val="90000"/>
              </a:lnSpc>
              <a:spcAft>
                <a:spcPts val="1800"/>
              </a:spcAft>
              <a:buFont typeface="Arial" pitchFamily="34" charset="0"/>
              <a:buChar char="•"/>
            </a:pPr>
            <a:r>
              <a:rPr lang="en-US" sz="2000" dirty="0"/>
              <a:t>Such a subset, or node, is considered </a:t>
            </a:r>
            <a:r>
              <a:rPr lang="en-US" sz="2000" i="1" dirty="0">
                <a:solidFill>
                  <a:srgbClr val="FF0000"/>
                </a:solidFill>
              </a:rPr>
              <a:t>pure</a:t>
            </a:r>
            <a:r>
              <a:rPr lang="en-US" sz="2000" dirty="0"/>
              <a:t> in this case.</a:t>
            </a:r>
          </a:p>
          <a:p>
            <a:pPr marL="165100" indent="-165100">
              <a:lnSpc>
                <a:spcPct val="90000"/>
              </a:lnSpc>
              <a:spcAft>
                <a:spcPts val="1800"/>
              </a:spcAft>
              <a:buFont typeface="Arial" pitchFamily="34" charset="0"/>
              <a:buChar char="•"/>
            </a:pPr>
            <a:r>
              <a:rPr lang="en-US" sz="2400" dirty="0"/>
              <a:t>A generic tree-growing methodology, known as CART, successively splits nodes until they are pure.</a:t>
            </a:r>
          </a:p>
          <a:p>
            <a:pPr marL="565150" lvl="1" indent="-165100">
              <a:lnSpc>
                <a:spcPct val="90000"/>
              </a:lnSpc>
              <a:spcAft>
                <a:spcPts val="18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Classification and Regression Tree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562BFEB-2306-4B53-81F2-82889A9E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Classification and Regression Trees (CART)</a:t>
            </a:r>
            <a:endParaRPr lang="en-US" sz="28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8A71F8-6811-4F95-A4C0-29D241B8C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D67C6-0282-42E5-96C1-1343179579CF}" type="datetime1">
              <a:rPr lang="en-US" smtClean="0"/>
              <a:t>3/30/2022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E080E-6C2F-4279-91AF-5572C7B1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2F1EF3-CD1E-40D2-BCDD-944E2938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61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07835" y="1981200"/>
            <a:ext cx="8728329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165100" indent="-165100">
              <a:lnSpc>
                <a:spcPct val="90000"/>
              </a:lnSpc>
              <a:spcAft>
                <a:spcPts val="1800"/>
              </a:spcAft>
              <a:buFont typeface="Arial" pitchFamily="34" charset="0"/>
              <a:buChar char="•"/>
            </a:pPr>
            <a:r>
              <a:rPr lang="en-US" sz="2000" dirty="0"/>
              <a:t>Six key questions:</a:t>
            </a:r>
          </a:p>
          <a:p>
            <a:pPr marL="465138" lvl="1" indent="-300038">
              <a:lnSpc>
                <a:spcPct val="90000"/>
              </a:lnSpc>
              <a:spcAft>
                <a:spcPts val="1800"/>
              </a:spcAft>
              <a:buFont typeface="+mj-lt"/>
              <a:buAutoNum type="arabicParenR"/>
            </a:pPr>
            <a:r>
              <a:rPr lang="en-US" sz="2000" dirty="0"/>
              <a:t>Should the questions be binary (e.g., is gender male or female) or numeric (e.g., is height &gt;= 5’4”) or multi-valued (e.g., race)?</a:t>
            </a:r>
          </a:p>
          <a:p>
            <a:pPr marL="465138" lvl="1" indent="-300038">
              <a:lnSpc>
                <a:spcPct val="90000"/>
              </a:lnSpc>
              <a:spcAft>
                <a:spcPts val="1800"/>
              </a:spcAft>
              <a:buFont typeface="+mj-lt"/>
              <a:buAutoNum type="arabicParenR"/>
            </a:pPr>
            <a:r>
              <a:rPr lang="en-US" sz="2000" dirty="0">
                <a:solidFill>
                  <a:srgbClr val="FF0000"/>
                </a:solidFill>
              </a:rPr>
              <a:t>Which feature should be tested at each node?</a:t>
            </a:r>
          </a:p>
          <a:p>
            <a:pPr marL="465138" lvl="1" indent="-300038">
              <a:lnSpc>
                <a:spcPct val="90000"/>
              </a:lnSpc>
              <a:spcAft>
                <a:spcPts val="1800"/>
              </a:spcAft>
              <a:buFont typeface="+mj-lt"/>
              <a:buAutoNum type="arabicParenR"/>
            </a:pPr>
            <a:r>
              <a:rPr lang="en-US" sz="2000" dirty="0"/>
              <a:t>When should a node be declared a leaf?</a:t>
            </a:r>
          </a:p>
          <a:p>
            <a:pPr marL="465138" lvl="1" indent="-300038">
              <a:lnSpc>
                <a:spcPct val="90000"/>
              </a:lnSpc>
              <a:spcAft>
                <a:spcPts val="1800"/>
              </a:spcAft>
              <a:buFont typeface="+mj-lt"/>
              <a:buAutoNum type="arabicParenR"/>
            </a:pPr>
            <a:r>
              <a:rPr lang="en-US" sz="2000" dirty="0"/>
              <a:t>If the tree becomes too large, how can it be pruned?</a:t>
            </a:r>
          </a:p>
          <a:p>
            <a:pPr marL="465138" lvl="1" indent="-300038">
              <a:lnSpc>
                <a:spcPct val="90000"/>
              </a:lnSpc>
              <a:spcAft>
                <a:spcPts val="1800"/>
              </a:spcAft>
              <a:buFont typeface="+mj-lt"/>
              <a:buAutoNum type="arabicParenR"/>
            </a:pPr>
            <a:r>
              <a:rPr lang="en-US" sz="2000" dirty="0"/>
              <a:t>If the leaf node is impure, what category should be assigned to it?</a:t>
            </a:r>
          </a:p>
          <a:p>
            <a:pPr marL="465138" lvl="1" indent="-300038">
              <a:lnSpc>
                <a:spcPct val="90000"/>
              </a:lnSpc>
              <a:spcAft>
                <a:spcPts val="1800"/>
              </a:spcAft>
              <a:buFont typeface="+mj-lt"/>
              <a:buAutoNum type="arabicParenR"/>
            </a:pPr>
            <a:r>
              <a:rPr lang="en-US" sz="2000" dirty="0"/>
              <a:t>How should missing data be handled?</a:t>
            </a: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D5CC6789-DB45-4B2A-91B5-A9E4554F8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1"/>
            <a:ext cx="8229600" cy="838200"/>
          </a:xfrm>
        </p:spPr>
        <p:txBody>
          <a:bodyPr/>
          <a:lstStyle/>
          <a:p>
            <a:r>
              <a:rPr lang="en-US" sz="2800" b="1" dirty="0"/>
              <a:t>Classification and Regression Trees (CART)</a:t>
            </a:r>
            <a:endParaRPr lang="en-US" sz="28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B0F9BC7-A270-4A94-A348-2706498D0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D85C-4A6D-4D5D-A2A3-A8732D6DA83A}" type="datetime1">
              <a:rPr lang="en-US" smtClean="0"/>
              <a:t>3/30/2022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6890C67-6F94-4355-82BC-B8290BD2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1C3C6-D701-406C-9C38-3AC00046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854868" y="762000"/>
            <a:ext cx="7793038" cy="7620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ID3 Algorithm</a:t>
            </a:r>
          </a:p>
        </p:txBody>
      </p:sp>
      <p:sp>
        <p:nvSpPr>
          <p:cNvPr id="16388" name="Text Box 3"/>
          <p:cNvSpPr txBox="1">
            <a:spLocks noChangeArrowheads="1"/>
          </p:cNvSpPr>
          <p:nvPr/>
        </p:nvSpPr>
        <p:spPr bwMode="auto">
          <a:xfrm>
            <a:off x="533400" y="1905000"/>
            <a:ext cx="8283575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b="1" dirty="0"/>
              <a:t>Iterative </a:t>
            </a:r>
            <a:r>
              <a:rPr lang="en-US" b="1" dirty="0" err="1"/>
              <a:t>Dichotomiser</a:t>
            </a:r>
            <a:endParaRPr lang="en-US" altLang="en-US" dirty="0"/>
          </a:p>
          <a:p>
            <a:pPr eaLnBrk="1" hangingPunct="1">
              <a:buFontTx/>
              <a:buAutoNum type="arabicPeriod"/>
            </a:pPr>
            <a:r>
              <a:rPr lang="en-US" altLang="en-US" dirty="0"/>
              <a:t>A </a:t>
            </a:r>
            <a:r>
              <a:rPr lang="en-US" altLang="en-US" dirty="0">
                <a:sym typeface="Symbol" panose="05050102010706020507" pitchFamily="18" charset="2"/>
              </a:rPr>
              <a:t> select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the “best” decision attribute </a:t>
            </a:r>
            <a:r>
              <a:rPr lang="en-US" altLang="en-US" dirty="0">
                <a:sym typeface="Symbol" panose="05050102010706020507" pitchFamily="18" charset="2"/>
              </a:rPr>
              <a:t>to split the examples</a:t>
            </a:r>
            <a:endParaRPr lang="en-US" altLang="en-US" i="1" dirty="0">
              <a:sym typeface="Symbol" panose="05050102010706020507" pitchFamily="18" charset="2"/>
            </a:endParaRPr>
          </a:p>
          <a:p>
            <a:pPr eaLnBrk="1" hangingPunct="1">
              <a:buFontTx/>
              <a:buAutoNum type="arabicPeriod"/>
            </a:pPr>
            <a:r>
              <a:rPr lang="en-US" altLang="en-US" dirty="0"/>
              <a:t>For each value of A create </a:t>
            </a:r>
            <a:r>
              <a:rPr lang="en-US" altLang="en-US" dirty="0">
                <a:solidFill>
                  <a:srgbClr val="00B0F0"/>
                </a:solidFill>
              </a:rPr>
              <a:t>new child nodes </a:t>
            </a:r>
            <a:endParaRPr lang="en-US" altLang="en-US" i="1" dirty="0">
              <a:solidFill>
                <a:srgbClr val="00B0F0"/>
              </a:solidFill>
            </a:endParaRPr>
          </a:p>
          <a:p>
            <a:pPr eaLnBrk="1" hangingPunct="1">
              <a:buFontTx/>
              <a:buAutoNum type="arabicPeriod"/>
            </a:pPr>
            <a:r>
              <a:rPr lang="en-US" altLang="en-US" dirty="0"/>
              <a:t>Split training examples according to the </a:t>
            </a:r>
            <a:r>
              <a:rPr lang="en-US" altLang="en-US" dirty="0">
                <a:solidFill>
                  <a:srgbClr val="00B0F0"/>
                </a:solidFill>
              </a:rPr>
              <a:t>attribute value </a:t>
            </a:r>
            <a:r>
              <a:rPr lang="en-US" altLang="en-US" dirty="0"/>
              <a:t>(Sunny, Overcast, Rain)</a:t>
            </a:r>
          </a:p>
          <a:p>
            <a:pPr eaLnBrk="1" hangingPunct="1">
              <a:buFontTx/>
              <a:buAutoNum type="arabicPeriod"/>
            </a:pPr>
            <a:r>
              <a:rPr lang="en-US" altLang="en-US" dirty="0"/>
              <a:t>If all training examples are </a:t>
            </a:r>
            <a:r>
              <a:rPr lang="en-US" altLang="en-US" dirty="0">
                <a:solidFill>
                  <a:srgbClr val="FF0000"/>
                </a:solidFill>
              </a:rPr>
              <a:t>perfectly classified stop, else iterate over new</a:t>
            </a:r>
            <a:r>
              <a:rPr lang="sv-SE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leaf nodes</a:t>
            </a:r>
            <a:r>
              <a:rPr lang="en-US" alt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90E84-D316-4844-AD91-C427E634C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B8E7-F6D8-4829-BCEF-409E465513FF}" type="datetime1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C59D2-20D0-492F-B354-2DA29F87A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4578C-2F12-4A07-9B96-F2340E914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03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123" y="1202505"/>
            <a:ext cx="3133165" cy="1349046"/>
          </a:xfrm>
          <a:prstGeom prst="rect">
            <a:avLst/>
          </a:prstGeom>
        </p:spPr>
        <p:txBody>
          <a:bodyPr vert="horz" wrap="square" lIns="0" tIns="17929" rIns="0" bIns="0" rtlCol="0" anchor="ctr">
            <a:spAutoFit/>
          </a:bodyPr>
          <a:lstStyle/>
          <a:p>
            <a:pPr marL="11206" marR="4483">
              <a:lnSpc>
                <a:spcPct val="98500"/>
              </a:lnSpc>
              <a:spcBef>
                <a:spcPts val="141"/>
              </a:spcBef>
            </a:pPr>
            <a:r>
              <a:rPr spc="-13" dirty="0"/>
              <a:t>Choice</a:t>
            </a:r>
            <a:r>
              <a:rPr spc="-44" dirty="0"/>
              <a:t> </a:t>
            </a:r>
            <a:r>
              <a:rPr dirty="0"/>
              <a:t>1</a:t>
            </a:r>
            <a:r>
              <a:rPr spc="-40" dirty="0"/>
              <a:t> </a:t>
            </a:r>
            <a:r>
              <a:rPr spc="-18" dirty="0"/>
              <a:t>vs</a:t>
            </a:r>
            <a:r>
              <a:rPr spc="-40" dirty="0"/>
              <a:t> </a:t>
            </a:r>
            <a:r>
              <a:rPr spc="-13" dirty="0"/>
              <a:t>Choice</a:t>
            </a:r>
            <a:r>
              <a:rPr spc="-40" dirty="0"/>
              <a:t> </a:t>
            </a:r>
            <a:r>
              <a:rPr spc="-13" dirty="0"/>
              <a:t>2: </a:t>
            </a:r>
            <a:r>
              <a:rPr spc="-644" dirty="0"/>
              <a:t> </a:t>
            </a:r>
            <a:r>
              <a:rPr spc="-18" dirty="0"/>
              <a:t>Comparing </a:t>
            </a:r>
            <a:r>
              <a:rPr spc="-13" dirty="0"/>
              <a:t>split </a:t>
            </a:r>
            <a:r>
              <a:rPr spc="-18" dirty="0"/>
              <a:t>on </a:t>
            </a:r>
            <a:r>
              <a:rPr spc="-13" dirty="0"/>
              <a:t> </a:t>
            </a:r>
            <a:r>
              <a:rPr spc="-22" dirty="0">
                <a:solidFill>
                  <a:srgbClr val="B0007E"/>
                </a:solidFill>
              </a:rPr>
              <a:t>Credit</a:t>
            </a:r>
            <a:r>
              <a:rPr spc="-13" dirty="0">
                <a:solidFill>
                  <a:srgbClr val="B0007E"/>
                </a:solidFill>
              </a:rPr>
              <a:t> </a:t>
            </a:r>
            <a:r>
              <a:rPr spc="-18" dirty="0"/>
              <a:t>vs</a:t>
            </a:r>
            <a:r>
              <a:rPr spc="-22" dirty="0"/>
              <a:t> </a:t>
            </a:r>
            <a:r>
              <a:rPr spc="-79" dirty="0">
                <a:solidFill>
                  <a:srgbClr val="B0007E"/>
                </a:solidFill>
              </a:rPr>
              <a:t>Term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02771" y="3602651"/>
            <a:ext cx="710453" cy="473449"/>
            <a:chOff x="2570740" y="4083004"/>
            <a:chExt cx="805180" cy="536575"/>
          </a:xfrm>
        </p:grpSpPr>
        <p:sp>
          <p:nvSpPr>
            <p:cNvPr id="4" name="object 4"/>
            <p:cNvSpPr/>
            <p:nvPr/>
          </p:nvSpPr>
          <p:spPr>
            <a:xfrm>
              <a:off x="2580265" y="4092529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785821" y="0"/>
                  </a:moveTo>
                  <a:lnTo>
                    <a:pt x="0" y="0"/>
                  </a:lnTo>
                  <a:lnTo>
                    <a:pt x="0" y="517208"/>
                  </a:lnTo>
                  <a:lnTo>
                    <a:pt x="785821" y="517208"/>
                  </a:lnTo>
                  <a:lnTo>
                    <a:pt x="785821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580265" y="4092529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0" y="0"/>
                  </a:moveTo>
                  <a:lnTo>
                    <a:pt x="785821" y="0"/>
                  </a:lnTo>
                  <a:lnTo>
                    <a:pt x="785821" y="517208"/>
                  </a:lnTo>
                  <a:lnTo>
                    <a:pt x="0" y="517208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419493" y="3619373"/>
            <a:ext cx="676835" cy="217918"/>
          </a:xfrm>
          <a:prstGeom prst="rect">
            <a:avLst/>
          </a:prstGeom>
          <a:solidFill>
            <a:srgbClr val="DFDCDC"/>
          </a:solidFill>
        </p:spPr>
        <p:txBody>
          <a:bodyPr vert="horz" wrap="square" lIns="0" tIns="14007" rIns="0" bIns="0" rtlCol="0">
            <a:spAutoFit/>
          </a:bodyPr>
          <a:lstStyle/>
          <a:p>
            <a:pPr marL="179304">
              <a:spcBef>
                <a:spcPts val="110"/>
              </a:spcBef>
            </a:pP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19493" y="3839435"/>
            <a:ext cx="676835" cy="192360"/>
          </a:xfrm>
          <a:prstGeom prst="rect">
            <a:avLst/>
          </a:prstGeom>
          <a:solidFill>
            <a:srgbClr val="DFDCDC"/>
          </a:solidFill>
        </p:spPr>
        <p:txBody>
          <a:bodyPr vert="horz" wrap="square" lIns="0" tIns="0" rIns="0" bIns="0" rtlCol="0">
            <a:spAutoFit/>
          </a:bodyPr>
          <a:lstStyle/>
          <a:p>
            <a:pPr marL="132236">
              <a:lnSpc>
                <a:spcPts val="1468"/>
              </a:lnSpc>
            </a:pPr>
            <a:r>
              <a:rPr sz="1324" spc="-4" dirty="0">
                <a:solidFill>
                  <a:srgbClr val="648E04"/>
                </a:solidFill>
                <a:latin typeface="Calibri"/>
                <a:cs typeface="Calibri"/>
              </a:rPr>
              <a:t>22</a:t>
            </a:r>
            <a:r>
              <a:rPr sz="1324" spc="229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30924" y="4688990"/>
            <a:ext cx="2891678" cy="583826"/>
            <a:chOff x="1129313" y="5314188"/>
            <a:chExt cx="3277235" cy="66167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77792" y="5314188"/>
              <a:ext cx="228600" cy="6614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38838" y="5420972"/>
              <a:ext cx="969010" cy="515620"/>
            </a:xfrm>
            <a:custGeom>
              <a:avLst/>
              <a:gdLst/>
              <a:ahLst/>
              <a:cxnLst/>
              <a:rect l="l" t="t" r="r" b="b"/>
              <a:pathLst>
                <a:path w="969010" h="515620">
                  <a:moveTo>
                    <a:pt x="968472" y="0"/>
                  </a:moveTo>
                  <a:lnTo>
                    <a:pt x="0" y="0"/>
                  </a:lnTo>
                  <a:lnTo>
                    <a:pt x="0" y="515421"/>
                  </a:lnTo>
                  <a:lnTo>
                    <a:pt x="968472" y="515421"/>
                  </a:lnTo>
                  <a:lnTo>
                    <a:pt x="968472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8838" y="5420972"/>
              <a:ext cx="969010" cy="515620"/>
            </a:xfrm>
            <a:custGeom>
              <a:avLst/>
              <a:gdLst/>
              <a:ahLst/>
              <a:cxnLst/>
              <a:rect l="l" t="t" r="r" b="b"/>
              <a:pathLst>
                <a:path w="969010" h="515620">
                  <a:moveTo>
                    <a:pt x="0" y="0"/>
                  </a:moveTo>
                  <a:lnTo>
                    <a:pt x="968472" y="0"/>
                  </a:lnTo>
                  <a:lnTo>
                    <a:pt x="968472" y="515421"/>
                  </a:lnTo>
                  <a:lnTo>
                    <a:pt x="0" y="515421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53346" y="4797252"/>
            <a:ext cx="62696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26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324" spc="-40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324" spc="-4" dirty="0">
                <a:solidFill>
                  <a:srgbClr val="2B2728"/>
                </a:solidFill>
                <a:latin typeface="Calibri"/>
                <a:cs typeface="Calibri"/>
              </a:rPr>
              <a:t>celle</a:t>
            </a:r>
            <a:r>
              <a:rPr sz="1324" spc="-22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96420" y="4988201"/>
            <a:ext cx="34177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244862" algn="l"/>
              </a:tabLst>
            </a:pP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68831" y="4761994"/>
            <a:ext cx="769844" cy="481293"/>
            <a:chOff x="2532275" y="5396926"/>
            <a:chExt cx="872490" cy="545465"/>
          </a:xfrm>
        </p:grpSpPr>
        <p:sp>
          <p:nvSpPr>
            <p:cNvPr id="15" name="object 15"/>
            <p:cNvSpPr/>
            <p:nvPr/>
          </p:nvSpPr>
          <p:spPr>
            <a:xfrm>
              <a:off x="2541800" y="5406451"/>
              <a:ext cx="853440" cy="526415"/>
            </a:xfrm>
            <a:custGeom>
              <a:avLst/>
              <a:gdLst/>
              <a:ahLst/>
              <a:cxnLst/>
              <a:rect l="l" t="t" r="r" b="b"/>
              <a:pathLst>
                <a:path w="853439" h="526414">
                  <a:moveTo>
                    <a:pt x="853042" y="0"/>
                  </a:moveTo>
                  <a:lnTo>
                    <a:pt x="0" y="0"/>
                  </a:lnTo>
                  <a:lnTo>
                    <a:pt x="0" y="526340"/>
                  </a:lnTo>
                  <a:lnTo>
                    <a:pt x="853042" y="526340"/>
                  </a:lnTo>
                  <a:lnTo>
                    <a:pt x="853042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2541800" y="5406451"/>
              <a:ext cx="853440" cy="526415"/>
            </a:xfrm>
            <a:custGeom>
              <a:avLst/>
              <a:gdLst/>
              <a:ahLst/>
              <a:cxnLst/>
              <a:rect l="l" t="t" r="r" b="b"/>
              <a:pathLst>
                <a:path w="853439" h="526414">
                  <a:moveTo>
                    <a:pt x="0" y="0"/>
                  </a:moveTo>
                  <a:lnTo>
                    <a:pt x="853042" y="0"/>
                  </a:lnTo>
                  <a:lnTo>
                    <a:pt x="853042" y="526340"/>
                  </a:lnTo>
                  <a:lnTo>
                    <a:pt x="0" y="526340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13144" y="4803064"/>
            <a:ext cx="281828" cy="392641"/>
          </a:xfrm>
          <a:prstGeom prst="rect">
            <a:avLst/>
          </a:prstGeom>
        </p:spPr>
        <p:txBody>
          <a:bodyPr vert="horz" wrap="square" lIns="0" tIns="7844" rIns="0" bIns="0" rtlCol="0">
            <a:spAutoFit/>
          </a:bodyPr>
          <a:lstStyle/>
          <a:p>
            <a:pPr indent="28016">
              <a:lnSpc>
                <a:spcPts val="1500"/>
              </a:lnSpc>
              <a:spcBef>
                <a:spcPts val="62"/>
              </a:spcBef>
            </a:pPr>
            <a:r>
              <a:rPr sz="1324" spc="-13" dirty="0">
                <a:solidFill>
                  <a:srgbClr val="2B2728"/>
                </a:solidFill>
                <a:latin typeface="Calibri"/>
                <a:cs typeface="Calibri"/>
              </a:rPr>
              <a:t>fair </a:t>
            </a:r>
            <a:r>
              <a:rPr sz="1324" spc="-287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8</a:t>
            </a:r>
            <a:r>
              <a:rPr sz="1324" spc="185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25668" y="4768221"/>
            <a:ext cx="675715" cy="472888"/>
            <a:chOff x="3843357" y="5403984"/>
            <a:chExt cx="765810" cy="535940"/>
          </a:xfrm>
        </p:grpSpPr>
        <p:sp>
          <p:nvSpPr>
            <p:cNvPr id="19" name="object 19"/>
            <p:cNvSpPr/>
            <p:nvPr/>
          </p:nvSpPr>
          <p:spPr>
            <a:xfrm>
              <a:off x="3852882" y="5413509"/>
              <a:ext cx="746760" cy="516890"/>
            </a:xfrm>
            <a:custGeom>
              <a:avLst/>
              <a:gdLst/>
              <a:ahLst/>
              <a:cxnLst/>
              <a:rect l="l" t="t" r="r" b="b"/>
              <a:pathLst>
                <a:path w="746760" h="516889">
                  <a:moveTo>
                    <a:pt x="746648" y="0"/>
                  </a:moveTo>
                  <a:lnTo>
                    <a:pt x="0" y="0"/>
                  </a:lnTo>
                  <a:lnTo>
                    <a:pt x="0" y="516314"/>
                  </a:lnTo>
                  <a:lnTo>
                    <a:pt x="746648" y="516314"/>
                  </a:lnTo>
                  <a:lnTo>
                    <a:pt x="746648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3852882" y="5413509"/>
              <a:ext cx="746760" cy="516890"/>
            </a:xfrm>
            <a:custGeom>
              <a:avLst/>
              <a:gdLst/>
              <a:ahLst/>
              <a:cxnLst/>
              <a:rect l="l" t="t" r="r" b="b"/>
              <a:pathLst>
                <a:path w="746760" h="516889">
                  <a:moveTo>
                    <a:pt x="0" y="0"/>
                  </a:moveTo>
                  <a:lnTo>
                    <a:pt x="746648" y="0"/>
                  </a:lnTo>
                  <a:lnTo>
                    <a:pt x="746648" y="516314"/>
                  </a:lnTo>
                  <a:lnTo>
                    <a:pt x="0" y="516314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573478" y="4789184"/>
            <a:ext cx="61128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29995">
              <a:spcBef>
                <a:spcPts val="88"/>
              </a:spcBef>
            </a:pPr>
            <a:r>
              <a:rPr sz="1324" spc="-9" dirty="0">
                <a:solidFill>
                  <a:srgbClr val="2B2728"/>
                </a:solidFill>
                <a:latin typeface="Calibri"/>
                <a:cs typeface="Calibri"/>
              </a:rPr>
              <a:t>poor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73478" y="4980132"/>
            <a:ext cx="61128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7582">
              <a:spcBef>
                <a:spcPts val="88"/>
              </a:spcBef>
            </a:pP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324" spc="216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51321" y="3516203"/>
            <a:ext cx="3567952" cy="1804707"/>
          </a:xfrm>
          <a:custGeom>
            <a:avLst/>
            <a:gdLst/>
            <a:ahLst/>
            <a:cxnLst/>
            <a:rect l="l" t="t" r="r" b="b"/>
            <a:pathLst>
              <a:path w="4043679" h="2045335">
                <a:moveTo>
                  <a:pt x="0" y="0"/>
                </a:moveTo>
                <a:lnTo>
                  <a:pt x="4043572" y="0"/>
                </a:lnTo>
                <a:lnTo>
                  <a:pt x="4043572" y="2044814"/>
                </a:lnTo>
                <a:lnTo>
                  <a:pt x="0" y="2044814"/>
                </a:lnTo>
                <a:lnTo>
                  <a:pt x="0" y="0"/>
                </a:lnTo>
                <a:close/>
              </a:path>
            </a:pathLst>
          </a:custGeom>
          <a:ln w="18857">
            <a:solidFill>
              <a:srgbClr val="B0007E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 txBox="1"/>
          <p:nvPr/>
        </p:nvSpPr>
        <p:spPr>
          <a:xfrm>
            <a:off x="1056203" y="3573570"/>
            <a:ext cx="851087" cy="396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544"/>
              </a:lnSpc>
              <a:spcBef>
                <a:spcPts val="88"/>
              </a:spcBef>
            </a:pPr>
            <a:r>
              <a:rPr sz="1324" b="1" spc="-4" dirty="0">
                <a:solidFill>
                  <a:srgbClr val="2B2728"/>
                </a:solidFill>
                <a:latin typeface="Calibri"/>
                <a:cs typeface="Calibri"/>
              </a:rPr>
              <a:t>L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oa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b="1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b="1" spc="-22" dirty="0">
                <a:solidFill>
                  <a:srgbClr val="2B2728"/>
                </a:solidFill>
                <a:latin typeface="Calibri"/>
                <a:cs typeface="Calibri"/>
              </a:rPr>
              <a:t>sta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tus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:</a:t>
            </a:r>
            <a:endParaRPr sz="1324">
              <a:latin typeface="Calibri"/>
              <a:cs typeface="Calibri"/>
            </a:endParaRPr>
          </a:p>
          <a:p>
            <a:pPr marL="11206">
              <a:lnSpc>
                <a:spcPts val="1544"/>
              </a:lnSpc>
            </a:pPr>
            <a:r>
              <a:rPr sz="1324" spc="-18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324" spc="23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244621" y="3558712"/>
            <a:ext cx="710453" cy="473449"/>
            <a:chOff x="6924837" y="4033207"/>
            <a:chExt cx="805180" cy="536575"/>
          </a:xfrm>
        </p:grpSpPr>
        <p:sp>
          <p:nvSpPr>
            <p:cNvPr id="26" name="object 26"/>
            <p:cNvSpPr/>
            <p:nvPr/>
          </p:nvSpPr>
          <p:spPr>
            <a:xfrm>
              <a:off x="6934362" y="4042732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785821" y="0"/>
                  </a:moveTo>
                  <a:lnTo>
                    <a:pt x="0" y="0"/>
                  </a:lnTo>
                  <a:lnTo>
                    <a:pt x="0" y="517207"/>
                  </a:lnTo>
                  <a:lnTo>
                    <a:pt x="785821" y="517207"/>
                  </a:lnTo>
                  <a:lnTo>
                    <a:pt x="785821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6934362" y="4042732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0" y="0"/>
                  </a:moveTo>
                  <a:lnTo>
                    <a:pt x="785821" y="0"/>
                  </a:lnTo>
                  <a:lnTo>
                    <a:pt x="785821" y="517208"/>
                  </a:lnTo>
                  <a:lnTo>
                    <a:pt x="0" y="517208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261344" y="3575436"/>
            <a:ext cx="676835" cy="218484"/>
          </a:xfrm>
          <a:prstGeom prst="rect">
            <a:avLst/>
          </a:prstGeom>
          <a:solidFill>
            <a:srgbClr val="DFDCDC"/>
          </a:solidFill>
        </p:spPr>
        <p:txBody>
          <a:bodyPr vert="horz" wrap="square" lIns="0" tIns="14568" rIns="0" bIns="0" rtlCol="0">
            <a:spAutoFit/>
          </a:bodyPr>
          <a:lstStyle/>
          <a:p>
            <a:pPr marL="179304">
              <a:spcBef>
                <a:spcPts val="115"/>
              </a:spcBef>
            </a:pP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61344" y="3796404"/>
            <a:ext cx="676835" cy="192360"/>
          </a:xfrm>
          <a:prstGeom prst="rect">
            <a:avLst/>
          </a:prstGeom>
          <a:solidFill>
            <a:srgbClr val="DFDCDC"/>
          </a:solidFill>
        </p:spPr>
        <p:txBody>
          <a:bodyPr vert="horz" wrap="square" lIns="0" tIns="0" rIns="0" bIns="0" rtlCol="0">
            <a:spAutoFit/>
          </a:bodyPr>
          <a:lstStyle/>
          <a:p>
            <a:pPr marL="132236">
              <a:lnSpc>
                <a:spcPts val="1468"/>
              </a:lnSpc>
            </a:pPr>
            <a:r>
              <a:rPr sz="1324" spc="-4" dirty="0">
                <a:solidFill>
                  <a:srgbClr val="648E04"/>
                </a:solidFill>
                <a:latin typeface="Calibri"/>
                <a:cs typeface="Calibri"/>
              </a:rPr>
              <a:t>22</a:t>
            </a:r>
            <a:r>
              <a:rPr sz="1324" spc="229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11463" y="4779370"/>
            <a:ext cx="805142" cy="406220"/>
          </a:xfrm>
          <a:prstGeom prst="rect">
            <a:avLst/>
          </a:prstGeom>
          <a:solidFill>
            <a:srgbClr val="C8EBFA"/>
          </a:solidFill>
          <a:ln w="18856">
            <a:solidFill>
              <a:srgbClr val="0D6993"/>
            </a:solidFill>
          </a:ln>
        </p:spPr>
        <p:txBody>
          <a:bodyPr vert="horz" wrap="square" lIns="0" tIns="21291" rIns="0" bIns="0" rtlCol="0">
            <a:spAutoFit/>
          </a:bodyPr>
          <a:lstStyle/>
          <a:p>
            <a:pPr marL="163054">
              <a:lnSpc>
                <a:spcPts val="1544"/>
              </a:lnSpc>
              <a:spcBef>
                <a:spcPts val="168"/>
              </a:spcBef>
            </a:pP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324" spc="-4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324">
              <a:latin typeface="Calibri"/>
              <a:cs typeface="Calibri"/>
            </a:endParaRPr>
          </a:p>
          <a:p>
            <a:pPr marL="219647">
              <a:lnSpc>
                <a:spcPts val="1544"/>
              </a:lnSpc>
            </a:pPr>
            <a:r>
              <a:rPr sz="1324" spc="-4" dirty="0">
                <a:solidFill>
                  <a:srgbClr val="648E04"/>
                </a:solidFill>
                <a:latin typeface="Calibri"/>
                <a:cs typeface="Calibri"/>
              </a:rPr>
              <a:t>16</a:t>
            </a:r>
            <a:r>
              <a:rPr sz="1324" spc="221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946670" y="4775317"/>
            <a:ext cx="1045928" cy="461682"/>
            <a:chOff x="7974332" y="5412026"/>
            <a:chExt cx="931544" cy="523240"/>
          </a:xfrm>
        </p:grpSpPr>
        <p:sp>
          <p:nvSpPr>
            <p:cNvPr id="32" name="object 32"/>
            <p:cNvSpPr/>
            <p:nvPr/>
          </p:nvSpPr>
          <p:spPr>
            <a:xfrm>
              <a:off x="7983857" y="5421551"/>
              <a:ext cx="912494" cy="504190"/>
            </a:xfrm>
            <a:custGeom>
              <a:avLst/>
              <a:gdLst/>
              <a:ahLst/>
              <a:cxnLst/>
              <a:rect l="l" t="t" r="r" b="b"/>
              <a:pathLst>
                <a:path w="912495" h="504189">
                  <a:moveTo>
                    <a:pt x="911940" y="0"/>
                  </a:moveTo>
                  <a:lnTo>
                    <a:pt x="0" y="0"/>
                  </a:lnTo>
                  <a:lnTo>
                    <a:pt x="0" y="503675"/>
                  </a:lnTo>
                  <a:lnTo>
                    <a:pt x="911940" y="503675"/>
                  </a:lnTo>
                  <a:lnTo>
                    <a:pt x="911940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7983857" y="5421551"/>
              <a:ext cx="912494" cy="504190"/>
            </a:xfrm>
            <a:custGeom>
              <a:avLst/>
              <a:gdLst/>
              <a:ahLst/>
              <a:cxnLst/>
              <a:rect l="l" t="t" r="r" b="b"/>
              <a:pathLst>
                <a:path w="912495" h="504189">
                  <a:moveTo>
                    <a:pt x="0" y="0"/>
                  </a:moveTo>
                  <a:lnTo>
                    <a:pt x="911939" y="0"/>
                  </a:lnTo>
                  <a:lnTo>
                    <a:pt x="911939" y="503675"/>
                  </a:lnTo>
                  <a:lnTo>
                    <a:pt x="0" y="503675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149234" y="4800271"/>
            <a:ext cx="788333" cy="224707"/>
          </a:xfrm>
          <a:prstGeom prst="rect">
            <a:avLst/>
          </a:prstGeom>
          <a:solidFill>
            <a:srgbClr val="C8EBFA"/>
          </a:solidFill>
        </p:spPr>
        <p:txBody>
          <a:bodyPr vert="horz" wrap="square" lIns="0" tIns="20731" rIns="0" bIns="0" rtlCol="0">
            <a:spAutoFit/>
          </a:bodyPr>
          <a:lstStyle/>
          <a:p>
            <a:pPr marL="154649">
              <a:spcBef>
                <a:spcPts val="163"/>
              </a:spcBef>
            </a:pP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324" spc="-4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324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86600" y="5029200"/>
            <a:ext cx="788333" cy="192360"/>
          </a:xfrm>
          <a:prstGeom prst="rect">
            <a:avLst/>
          </a:prstGeom>
          <a:solidFill>
            <a:srgbClr val="C8EBFA"/>
          </a:solidFill>
        </p:spPr>
        <p:txBody>
          <a:bodyPr vert="horz" wrap="square" lIns="0" tIns="0" rIns="0" bIns="0" rtlCol="0">
            <a:spAutoFit/>
          </a:bodyPr>
          <a:lstStyle/>
          <a:p>
            <a:pPr marL="192751">
              <a:lnSpc>
                <a:spcPts val="1468"/>
              </a:lnSpc>
              <a:tabLst>
                <a:tab pos="426406" algn="l"/>
              </a:tabLst>
            </a:pP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6	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324" dirty="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888065" y="3525895"/>
            <a:ext cx="3304614" cy="1848971"/>
          </a:xfrm>
          <a:custGeom>
            <a:avLst/>
            <a:gdLst/>
            <a:ahLst/>
            <a:cxnLst/>
            <a:rect l="l" t="t" r="r" b="b"/>
            <a:pathLst>
              <a:path w="3745229" h="2095500">
                <a:moveTo>
                  <a:pt x="0" y="0"/>
                </a:moveTo>
                <a:lnTo>
                  <a:pt x="3744854" y="0"/>
                </a:lnTo>
                <a:lnTo>
                  <a:pt x="3744854" y="2094876"/>
                </a:lnTo>
                <a:lnTo>
                  <a:pt x="0" y="2094876"/>
                </a:lnTo>
                <a:lnTo>
                  <a:pt x="0" y="0"/>
                </a:lnTo>
                <a:close/>
              </a:path>
            </a:pathLst>
          </a:custGeom>
          <a:ln w="18856">
            <a:solidFill>
              <a:srgbClr val="B0007E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7" name="object 37"/>
          <p:cNvSpPr txBox="1"/>
          <p:nvPr/>
        </p:nvSpPr>
        <p:spPr>
          <a:xfrm>
            <a:off x="4962127" y="3546676"/>
            <a:ext cx="851087" cy="396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544"/>
              </a:lnSpc>
              <a:spcBef>
                <a:spcPts val="88"/>
              </a:spcBef>
            </a:pPr>
            <a:r>
              <a:rPr sz="1324" b="1" spc="-4" dirty="0">
                <a:solidFill>
                  <a:srgbClr val="2B2728"/>
                </a:solidFill>
                <a:latin typeface="Calibri"/>
                <a:cs typeface="Calibri"/>
              </a:rPr>
              <a:t>L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oa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b="1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b="1" spc="-22" dirty="0">
                <a:solidFill>
                  <a:srgbClr val="2B2728"/>
                </a:solidFill>
                <a:latin typeface="Calibri"/>
                <a:cs typeface="Calibri"/>
              </a:rPr>
              <a:t>sta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tus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:</a:t>
            </a:r>
            <a:endParaRPr sz="1324">
              <a:latin typeface="Calibri"/>
              <a:cs typeface="Calibri"/>
            </a:endParaRPr>
          </a:p>
          <a:p>
            <a:pPr marL="11206">
              <a:lnSpc>
                <a:spcPts val="1544"/>
              </a:lnSpc>
            </a:pPr>
            <a:r>
              <a:rPr sz="1324" spc="-18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324" spc="23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234927" y="4067736"/>
            <a:ext cx="941294" cy="626969"/>
            <a:chOff x="4647184" y="4610100"/>
            <a:chExt cx="1066800" cy="710565"/>
          </a:xfrm>
        </p:grpSpPr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7184" y="4610100"/>
              <a:ext cx="1066800" cy="710183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698560" y="4643968"/>
              <a:ext cx="964565" cy="607060"/>
            </a:xfrm>
            <a:custGeom>
              <a:avLst/>
              <a:gdLst/>
              <a:ahLst/>
              <a:cxnLst/>
              <a:rect l="l" t="t" r="r" b="b"/>
              <a:pathLst>
                <a:path w="964564" h="607060">
                  <a:moveTo>
                    <a:pt x="8281" y="0"/>
                  </a:moveTo>
                  <a:lnTo>
                    <a:pt x="0" y="593335"/>
                  </a:lnTo>
                  <a:lnTo>
                    <a:pt x="956221" y="606715"/>
                  </a:lnTo>
                  <a:lnTo>
                    <a:pt x="964504" y="13380"/>
                  </a:lnTo>
                  <a:lnTo>
                    <a:pt x="82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4706842" y="4643968"/>
              <a:ext cx="956310" cy="593725"/>
            </a:xfrm>
            <a:custGeom>
              <a:avLst/>
              <a:gdLst/>
              <a:ahLst/>
              <a:cxnLst/>
              <a:rect l="l" t="t" r="r" b="b"/>
              <a:pathLst>
                <a:path w="956310" h="593725">
                  <a:moveTo>
                    <a:pt x="0" y="0"/>
                  </a:moveTo>
                  <a:lnTo>
                    <a:pt x="956222" y="0"/>
                  </a:lnTo>
                  <a:lnTo>
                    <a:pt x="956222" y="593335"/>
                  </a:lnTo>
                  <a:lnTo>
                    <a:pt x="0" y="593335"/>
                  </a:lnTo>
                  <a:lnTo>
                    <a:pt x="0" y="0"/>
                  </a:lnTo>
                  <a:close/>
                </a:path>
              </a:pathLst>
            </a:custGeom>
            <a:ln w="42420">
              <a:solidFill>
                <a:srgbClr val="AE3C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356664" y="3989799"/>
            <a:ext cx="690843" cy="622946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3971" spc="101" dirty="0">
                <a:solidFill>
                  <a:srgbClr val="C0504D"/>
                </a:solidFill>
                <a:latin typeface="Trebuchet MS"/>
                <a:cs typeface="Trebuchet MS"/>
              </a:rPr>
              <a:t>OR</a:t>
            </a:r>
            <a:endParaRPr sz="3971">
              <a:latin typeface="Trebuchet MS"/>
              <a:cs typeface="Trebuchet MS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095980" y="4272232"/>
            <a:ext cx="1316691" cy="368674"/>
            <a:chOff x="2223044" y="4841863"/>
            <a:chExt cx="1492250" cy="417830"/>
          </a:xfrm>
        </p:grpSpPr>
        <p:sp>
          <p:nvSpPr>
            <p:cNvPr id="44" name="object 44"/>
            <p:cNvSpPr/>
            <p:nvPr/>
          </p:nvSpPr>
          <p:spPr>
            <a:xfrm>
              <a:off x="2232569" y="4851388"/>
              <a:ext cx="1473200" cy="398780"/>
            </a:xfrm>
            <a:custGeom>
              <a:avLst/>
              <a:gdLst/>
              <a:ahLst/>
              <a:cxnLst/>
              <a:rect l="l" t="t" r="r" b="b"/>
              <a:pathLst>
                <a:path w="1473200" h="398779">
                  <a:moveTo>
                    <a:pt x="736479" y="0"/>
                  </a:moveTo>
                  <a:lnTo>
                    <a:pt x="0" y="199092"/>
                  </a:lnTo>
                  <a:lnTo>
                    <a:pt x="736479" y="398184"/>
                  </a:lnTo>
                  <a:lnTo>
                    <a:pt x="1472959" y="199092"/>
                  </a:lnTo>
                  <a:lnTo>
                    <a:pt x="736479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2232569" y="4851388"/>
              <a:ext cx="1473200" cy="398780"/>
            </a:xfrm>
            <a:custGeom>
              <a:avLst/>
              <a:gdLst/>
              <a:ahLst/>
              <a:cxnLst/>
              <a:rect l="l" t="t" r="r" b="b"/>
              <a:pathLst>
                <a:path w="1473200" h="398779">
                  <a:moveTo>
                    <a:pt x="0" y="199092"/>
                  </a:moveTo>
                  <a:lnTo>
                    <a:pt x="736480" y="0"/>
                  </a:lnTo>
                  <a:lnTo>
                    <a:pt x="1472960" y="199092"/>
                  </a:lnTo>
                  <a:lnTo>
                    <a:pt x="736480" y="398184"/>
                  </a:lnTo>
                  <a:lnTo>
                    <a:pt x="0" y="199092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524269" y="4349046"/>
            <a:ext cx="45776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4" dirty="0">
                <a:solidFill>
                  <a:srgbClr val="2B2728"/>
                </a:solidFill>
                <a:latin typeface="Calibri"/>
                <a:cs typeface="Calibri"/>
              </a:rPr>
              <a:t>Credit?</a:t>
            </a:r>
            <a:endParaRPr sz="1147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558192" y="4067274"/>
            <a:ext cx="5629275" cy="724460"/>
            <a:chOff x="1613550" y="4609576"/>
            <a:chExt cx="6379845" cy="821055"/>
          </a:xfrm>
        </p:grpSpPr>
        <p:sp>
          <p:nvSpPr>
            <p:cNvPr id="48" name="object 48"/>
            <p:cNvSpPr/>
            <p:nvPr/>
          </p:nvSpPr>
          <p:spPr>
            <a:xfrm>
              <a:off x="1623075" y="5050481"/>
              <a:ext cx="609600" cy="370840"/>
            </a:xfrm>
            <a:custGeom>
              <a:avLst/>
              <a:gdLst/>
              <a:ahLst/>
              <a:cxnLst/>
              <a:rect l="l" t="t" r="r" b="b"/>
              <a:pathLst>
                <a:path w="609600" h="370839">
                  <a:moveTo>
                    <a:pt x="609494" y="0"/>
                  </a:moveTo>
                  <a:lnTo>
                    <a:pt x="0" y="0"/>
                  </a:lnTo>
                  <a:lnTo>
                    <a:pt x="0" y="370491"/>
                  </a:lnTo>
                </a:path>
              </a:pathLst>
            </a:custGeom>
            <a:ln w="18855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3705529" y="5050481"/>
              <a:ext cx="520700" cy="363220"/>
            </a:xfrm>
            <a:custGeom>
              <a:avLst/>
              <a:gdLst/>
              <a:ahLst/>
              <a:cxnLst/>
              <a:rect l="l" t="t" r="r" b="b"/>
              <a:pathLst>
                <a:path w="520700" h="363220">
                  <a:moveTo>
                    <a:pt x="0" y="0"/>
                  </a:moveTo>
                  <a:lnTo>
                    <a:pt x="520677" y="0"/>
                  </a:lnTo>
                  <a:lnTo>
                    <a:pt x="520677" y="363028"/>
                  </a:lnTo>
                </a:path>
              </a:pathLst>
            </a:custGeom>
            <a:ln w="18854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0" name="object 50"/>
            <p:cNvSpPr/>
            <p:nvPr/>
          </p:nvSpPr>
          <p:spPr>
            <a:xfrm>
              <a:off x="2968321" y="5249572"/>
              <a:ext cx="1270" cy="157480"/>
            </a:xfrm>
            <a:custGeom>
              <a:avLst/>
              <a:gdLst/>
              <a:ahLst/>
              <a:cxnLst/>
              <a:rect l="l" t="t" r="r" b="b"/>
              <a:pathLst>
                <a:path w="1269" h="157479">
                  <a:moveTo>
                    <a:pt x="363" y="-9419"/>
                  </a:moveTo>
                  <a:lnTo>
                    <a:pt x="363" y="166297"/>
                  </a:lnTo>
                </a:path>
              </a:pathLst>
            </a:custGeom>
            <a:ln w="19565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6612" y="4609576"/>
              <a:ext cx="87435" cy="24185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670688" y="4851388"/>
              <a:ext cx="1313180" cy="398780"/>
            </a:xfrm>
            <a:custGeom>
              <a:avLst/>
              <a:gdLst/>
              <a:ahLst/>
              <a:cxnLst/>
              <a:rect l="l" t="t" r="r" b="b"/>
              <a:pathLst>
                <a:path w="1313179" h="398779">
                  <a:moveTo>
                    <a:pt x="656583" y="0"/>
                  </a:moveTo>
                  <a:lnTo>
                    <a:pt x="0" y="199092"/>
                  </a:lnTo>
                  <a:lnTo>
                    <a:pt x="656583" y="398184"/>
                  </a:lnTo>
                  <a:lnTo>
                    <a:pt x="1313168" y="199092"/>
                  </a:lnTo>
                  <a:lnTo>
                    <a:pt x="656583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6670688" y="4851388"/>
              <a:ext cx="1313180" cy="398780"/>
            </a:xfrm>
            <a:custGeom>
              <a:avLst/>
              <a:gdLst/>
              <a:ahLst/>
              <a:cxnLst/>
              <a:rect l="l" t="t" r="r" b="b"/>
              <a:pathLst>
                <a:path w="1313179" h="398779">
                  <a:moveTo>
                    <a:pt x="0" y="199092"/>
                  </a:moveTo>
                  <a:lnTo>
                    <a:pt x="656584" y="0"/>
                  </a:lnTo>
                  <a:lnTo>
                    <a:pt x="1313168" y="199092"/>
                  </a:lnTo>
                  <a:lnTo>
                    <a:pt x="656584" y="398184"/>
                  </a:lnTo>
                  <a:lnTo>
                    <a:pt x="0" y="199092"/>
                  </a:lnTo>
                  <a:close/>
                </a:path>
              </a:pathLst>
            </a:custGeom>
            <a:ln w="18859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400884" y="4349046"/>
            <a:ext cx="395567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93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147" spc="18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147" spc="9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147" spc="22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1147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147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862866" y="4023476"/>
            <a:ext cx="5711751" cy="2091452"/>
            <a:chOff x="1958848" y="4559941"/>
            <a:chExt cx="6473319" cy="1848479"/>
          </a:xfrm>
        </p:grpSpPr>
        <p:sp>
          <p:nvSpPr>
            <p:cNvPr id="56" name="object 56"/>
            <p:cNvSpPr/>
            <p:nvPr/>
          </p:nvSpPr>
          <p:spPr>
            <a:xfrm>
              <a:off x="6323228" y="4952816"/>
              <a:ext cx="347980" cy="361315"/>
            </a:xfrm>
            <a:custGeom>
              <a:avLst/>
              <a:gdLst/>
              <a:ahLst/>
              <a:cxnLst/>
              <a:rect l="l" t="t" r="r" b="b"/>
              <a:pathLst>
                <a:path w="347979" h="361314">
                  <a:moveTo>
                    <a:pt x="0" y="361207"/>
                  </a:moveTo>
                  <a:lnTo>
                    <a:pt x="0" y="0"/>
                  </a:lnTo>
                  <a:lnTo>
                    <a:pt x="347460" y="0"/>
                  </a:lnTo>
                </a:path>
              </a:pathLst>
            </a:custGeom>
            <a:ln w="18850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7983858" y="4942656"/>
              <a:ext cx="448309" cy="205483"/>
            </a:xfrm>
            <a:custGeom>
              <a:avLst/>
              <a:gdLst/>
              <a:ahLst/>
              <a:cxnLst/>
              <a:rect l="l" t="t" r="r" b="b"/>
              <a:pathLst>
                <a:path w="456565" h="371475">
                  <a:moveTo>
                    <a:pt x="455969" y="371069"/>
                  </a:moveTo>
                  <a:lnTo>
                    <a:pt x="455969" y="0"/>
                  </a:lnTo>
                  <a:lnTo>
                    <a:pt x="0" y="0"/>
                  </a:lnTo>
                </a:path>
              </a:pathLst>
            </a:custGeom>
            <a:ln w="18847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7283549" y="4559941"/>
              <a:ext cx="87630" cy="292100"/>
            </a:xfrm>
            <a:custGeom>
              <a:avLst/>
              <a:gdLst/>
              <a:ahLst/>
              <a:cxnLst/>
              <a:rect l="l" t="t" r="r" b="b"/>
              <a:pathLst>
                <a:path w="87629" h="292100">
                  <a:moveTo>
                    <a:pt x="10505" y="205418"/>
                  </a:moveTo>
                  <a:lnTo>
                    <a:pt x="1517" y="210667"/>
                  </a:lnTo>
                  <a:lnTo>
                    <a:pt x="0" y="216442"/>
                  </a:lnTo>
                  <a:lnTo>
                    <a:pt x="43724" y="291491"/>
                  </a:lnTo>
                  <a:lnTo>
                    <a:pt x="54629" y="272774"/>
                  </a:lnTo>
                  <a:lnTo>
                    <a:pt x="34305" y="272774"/>
                  </a:lnTo>
                  <a:lnTo>
                    <a:pt x="34305" y="237889"/>
                  </a:lnTo>
                  <a:lnTo>
                    <a:pt x="16272" y="206937"/>
                  </a:lnTo>
                  <a:lnTo>
                    <a:pt x="10505" y="205418"/>
                  </a:lnTo>
                  <a:close/>
                </a:path>
                <a:path w="87629" h="292100">
                  <a:moveTo>
                    <a:pt x="34305" y="237889"/>
                  </a:moveTo>
                  <a:lnTo>
                    <a:pt x="34305" y="272774"/>
                  </a:lnTo>
                  <a:lnTo>
                    <a:pt x="53144" y="272774"/>
                  </a:lnTo>
                  <a:lnTo>
                    <a:pt x="53144" y="268022"/>
                  </a:lnTo>
                  <a:lnTo>
                    <a:pt x="35589" y="268022"/>
                  </a:lnTo>
                  <a:lnTo>
                    <a:pt x="43724" y="254057"/>
                  </a:lnTo>
                  <a:lnTo>
                    <a:pt x="34305" y="237889"/>
                  </a:lnTo>
                  <a:close/>
                </a:path>
                <a:path w="87629" h="292100">
                  <a:moveTo>
                    <a:pt x="76944" y="205418"/>
                  </a:moveTo>
                  <a:lnTo>
                    <a:pt x="71177" y="206937"/>
                  </a:lnTo>
                  <a:lnTo>
                    <a:pt x="53144" y="237889"/>
                  </a:lnTo>
                  <a:lnTo>
                    <a:pt x="53144" y="272774"/>
                  </a:lnTo>
                  <a:lnTo>
                    <a:pt x="54629" y="272774"/>
                  </a:lnTo>
                  <a:lnTo>
                    <a:pt x="87449" y="216442"/>
                  </a:lnTo>
                  <a:lnTo>
                    <a:pt x="85930" y="210667"/>
                  </a:lnTo>
                  <a:lnTo>
                    <a:pt x="76944" y="205418"/>
                  </a:lnTo>
                  <a:close/>
                </a:path>
                <a:path w="87629" h="292100">
                  <a:moveTo>
                    <a:pt x="43724" y="254057"/>
                  </a:moveTo>
                  <a:lnTo>
                    <a:pt x="35589" y="268022"/>
                  </a:lnTo>
                  <a:lnTo>
                    <a:pt x="51860" y="268022"/>
                  </a:lnTo>
                  <a:lnTo>
                    <a:pt x="43724" y="254057"/>
                  </a:lnTo>
                  <a:close/>
                </a:path>
                <a:path w="87629" h="292100">
                  <a:moveTo>
                    <a:pt x="53144" y="237889"/>
                  </a:moveTo>
                  <a:lnTo>
                    <a:pt x="43724" y="254057"/>
                  </a:lnTo>
                  <a:lnTo>
                    <a:pt x="51860" y="268022"/>
                  </a:lnTo>
                  <a:lnTo>
                    <a:pt x="53144" y="268022"/>
                  </a:lnTo>
                  <a:lnTo>
                    <a:pt x="53144" y="237889"/>
                  </a:lnTo>
                  <a:close/>
                </a:path>
                <a:path w="87629" h="292100">
                  <a:moveTo>
                    <a:pt x="53143" y="0"/>
                  </a:moveTo>
                  <a:lnTo>
                    <a:pt x="34305" y="0"/>
                  </a:lnTo>
                  <a:lnTo>
                    <a:pt x="34305" y="237889"/>
                  </a:lnTo>
                  <a:lnTo>
                    <a:pt x="43724" y="254057"/>
                  </a:lnTo>
                  <a:lnTo>
                    <a:pt x="53144" y="237889"/>
                  </a:lnTo>
                  <a:lnTo>
                    <a:pt x="5314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8848" y="5494020"/>
              <a:ext cx="1981200" cy="9144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2011692" y="5942912"/>
              <a:ext cx="1876425" cy="397611"/>
            </a:xfrm>
            <a:custGeom>
              <a:avLst/>
              <a:gdLst/>
              <a:ahLst/>
              <a:cxnLst/>
              <a:rect l="l" t="t" r="r" b="b"/>
              <a:pathLst>
                <a:path w="1876425" h="810260">
                  <a:moveTo>
                    <a:pt x="1876295" y="0"/>
                  </a:moveTo>
                  <a:lnTo>
                    <a:pt x="0" y="0"/>
                  </a:lnTo>
                  <a:lnTo>
                    <a:pt x="0" y="809884"/>
                  </a:lnTo>
                  <a:lnTo>
                    <a:pt x="1876295" y="809884"/>
                  </a:lnTo>
                  <a:lnTo>
                    <a:pt x="18762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2011692" y="5841045"/>
              <a:ext cx="1876425" cy="499476"/>
            </a:xfrm>
            <a:custGeom>
              <a:avLst/>
              <a:gdLst/>
              <a:ahLst/>
              <a:cxnLst/>
              <a:rect l="l" t="t" r="r" b="b"/>
              <a:pathLst>
                <a:path w="1876425" h="810260">
                  <a:moveTo>
                    <a:pt x="0" y="0"/>
                  </a:moveTo>
                  <a:lnTo>
                    <a:pt x="1876295" y="0"/>
                  </a:lnTo>
                  <a:lnTo>
                    <a:pt x="1876295" y="809883"/>
                  </a:lnTo>
                  <a:lnTo>
                    <a:pt x="0" y="809883"/>
                  </a:lnTo>
                  <a:lnTo>
                    <a:pt x="0" y="0"/>
                  </a:lnTo>
                  <a:close/>
                </a:path>
              </a:pathLst>
            </a:custGeom>
            <a:ln w="42430">
              <a:solidFill>
                <a:srgbClr val="648E0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aphicFrame>
        <p:nvGraphicFramePr>
          <p:cNvPr id="62" name="object 62"/>
          <p:cNvGraphicFramePr>
            <a:graphicFrameLocks noGrp="1"/>
          </p:cNvGraphicFramePr>
          <p:nvPr/>
        </p:nvGraphicFramePr>
        <p:xfrm>
          <a:off x="4988103" y="1330936"/>
          <a:ext cx="3344956" cy="14548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1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3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226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Tree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1291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603885" marR="215900" indent="-379095">
                        <a:lnSpc>
                          <a:spcPts val="2090"/>
                        </a:lnSpc>
                        <a:spcBef>
                          <a:spcPts val="32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Cla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ss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  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error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5859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57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5" dirty="0">
                          <a:latin typeface="Calibri"/>
                          <a:cs typeface="Calibri"/>
                        </a:rPr>
                        <a:t>(root)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5" dirty="0">
                          <a:latin typeface="Calibri"/>
                          <a:cs typeface="Calibri"/>
                        </a:rPr>
                        <a:t>0.45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57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split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credit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1851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0.2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1851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57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split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loan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term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00" spc="-15" dirty="0">
                          <a:latin typeface="Calibri"/>
                          <a:cs typeface="Calibri"/>
                        </a:rPr>
                        <a:t>0.25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" name="object 63"/>
          <p:cNvSpPr txBox="1"/>
          <p:nvPr/>
        </p:nvSpPr>
        <p:spPr>
          <a:xfrm>
            <a:off x="2019467" y="5490351"/>
            <a:ext cx="1434913" cy="460017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4368" spc="-19" baseline="1683" dirty="0">
                <a:solidFill>
                  <a:srgbClr val="648E04"/>
                </a:solidFill>
                <a:latin typeface="Cambria"/>
                <a:cs typeface="Cambria"/>
              </a:rPr>
              <a:t>WI</a:t>
            </a:r>
            <a:r>
              <a:rPr sz="2912" spc="-13" dirty="0">
                <a:solidFill>
                  <a:srgbClr val="648E04"/>
                </a:solidFill>
                <a:latin typeface="Cambria"/>
                <a:cs typeface="Cambria"/>
              </a:rPr>
              <a:t>NNER</a:t>
            </a:r>
            <a:endParaRPr sz="2912" dirty="0">
              <a:latin typeface="Cambria"/>
              <a:cs typeface="Cambri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507511" y="3194280"/>
            <a:ext cx="2186828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13" dirty="0">
                <a:solidFill>
                  <a:srgbClr val="B0007E"/>
                </a:solidFill>
                <a:latin typeface="Calibri"/>
                <a:cs typeface="Calibri"/>
              </a:rPr>
              <a:t>Choice</a:t>
            </a:r>
            <a:r>
              <a:rPr sz="1853" spc="-31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spc="-4" dirty="0">
                <a:solidFill>
                  <a:srgbClr val="B0007E"/>
                </a:solidFill>
                <a:latin typeface="Calibri"/>
                <a:cs typeface="Calibri"/>
              </a:rPr>
              <a:t>2:</a:t>
            </a:r>
            <a:r>
              <a:rPr sz="1853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r>
              <a:rPr sz="1853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2B2728"/>
                </a:solidFill>
                <a:latin typeface="Calibri"/>
                <a:cs typeface="Calibri"/>
              </a:rPr>
              <a:t>on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spc="-53" dirty="0">
                <a:solidFill>
                  <a:srgbClr val="2B2728"/>
                </a:solidFill>
                <a:latin typeface="Calibri"/>
                <a:cs typeface="Calibri"/>
              </a:rPr>
              <a:t>Term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617893" y="3196969"/>
            <a:ext cx="2281518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13" dirty="0">
                <a:solidFill>
                  <a:srgbClr val="B0007E"/>
                </a:solidFill>
                <a:latin typeface="Calibri"/>
                <a:cs typeface="Calibri"/>
              </a:rPr>
              <a:t>Choice</a:t>
            </a:r>
            <a:r>
              <a:rPr sz="1853" spc="-26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spc="-4" dirty="0">
                <a:solidFill>
                  <a:srgbClr val="B0007E"/>
                </a:solidFill>
                <a:latin typeface="Calibri"/>
                <a:cs typeface="Calibri"/>
              </a:rPr>
              <a:t>1:</a:t>
            </a:r>
            <a:r>
              <a:rPr sz="1853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r>
              <a:rPr sz="1853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2B2728"/>
                </a:solidFill>
                <a:latin typeface="Calibri"/>
                <a:cs typeface="Calibri"/>
              </a:rPr>
              <a:t>on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spc="-18" dirty="0">
                <a:solidFill>
                  <a:srgbClr val="2B2728"/>
                </a:solidFill>
                <a:latin typeface="Calibri"/>
                <a:cs typeface="Calibri"/>
              </a:rPr>
              <a:t>Credit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69" name="Date Placeholder 68">
            <a:extLst>
              <a:ext uri="{FF2B5EF4-FFF2-40B4-BE49-F238E27FC236}">
                <a16:creationId xmlns:a16="http://schemas.microsoft.com/office/drawing/2014/main" id="{20910689-F2FF-4EAE-9038-38D172604764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1206">
              <a:spcBef>
                <a:spcPts val="49"/>
              </a:spcBef>
            </a:pPr>
            <a:fld id="{1C9852C5-299B-45B2-A70D-83E2780AA491}" type="datetime1">
              <a:rPr lang="en-US" spc="-9" smtClean="0"/>
              <a:t>3/30/2022</a:t>
            </a:fld>
            <a:endParaRPr lang="en-US" spc="-9" dirty="0"/>
          </a:p>
        </p:txBody>
      </p:sp>
      <p:sp>
        <p:nvSpPr>
          <p:cNvPr id="70" name="Footer Placeholder 69">
            <a:extLst>
              <a:ext uri="{FF2B5EF4-FFF2-40B4-BE49-F238E27FC236}">
                <a16:creationId xmlns:a16="http://schemas.microsoft.com/office/drawing/2014/main" id="{CA49C675-E028-4115-A5A3-13D1D035879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1206">
              <a:spcBef>
                <a:spcPts val="49"/>
              </a:spcBef>
            </a:pPr>
            <a:r>
              <a:rPr lang="en-US" spc="-9"/>
              <a:t>Presented by    Dr. AKHTAR JAMIL </a:t>
            </a:r>
            <a:endParaRPr lang="en-US" spc="-9" dirty="0"/>
          </a:p>
        </p:txBody>
      </p:sp>
      <p:sp>
        <p:nvSpPr>
          <p:cNvPr id="71" name="Slide Number Placeholder 70">
            <a:extLst>
              <a:ext uri="{FF2B5EF4-FFF2-40B4-BE49-F238E27FC236}">
                <a16:creationId xmlns:a16="http://schemas.microsoft.com/office/drawing/2014/main" id="{E15DC16A-0B30-409B-B222-8D97118AAC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3619">
              <a:spcBef>
                <a:spcPts val="40"/>
              </a:spcBef>
            </a:pPr>
            <a:fld id="{81D60167-4931-47E6-BA6A-407CBD079E47}" type="slidenum">
              <a:rPr lang="en-PK" smtClean="0"/>
              <a:pPr marL="33619">
                <a:spcBef>
                  <a:spcPts val="40"/>
                </a:spcBef>
              </a:pPr>
              <a:t>10</a:t>
            </a:fld>
            <a:endParaRPr lang="en-PK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7C7D40-EB40-4C02-BA05-0E44B25DE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838200"/>
          </a:xfrm>
        </p:spPr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6C6E59-3A51-4BE8-B0E2-64472CAD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70758-4D33-4C98-A2AC-11D845539278}" type="datetime1">
              <a:rPr lang="en-US" smtClean="0"/>
              <a:t>3/30/2022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BF317B0-BB84-419A-9545-DCD9FB11B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6FE2E83-9A52-41E0-8534-F57C705EA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07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3809" y="984948"/>
            <a:ext cx="5421406" cy="1119877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3" dirty="0"/>
              <a:t>Simple</a:t>
            </a:r>
            <a:r>
              <a:rPr spc="-35" dirty="0"/>
              <a:t> </a:t>
            </a:r>
            <a:r>
              <a:rPr spc="-22" dirty="0"/>
              <a:t>greedy</a:t>
            </a:r>
            <a:r>
              <a:rPr spc="-35" dirty="0"/>
              <a:t> </a:t>
            </a:r>
            <a:r>
              <a:rPr spc="-13" dirty="0"/>
              <a:t>decision</a:t>
            </a:r>
            <a:r>
              <a:rPr spc="-31" dirty="0"/>
              <a:t> </a:t>
            </a:r>
            <a:r>
              <a:rPr spc="-22" dirty="0"/>
              <a:t>tree</a:t>
            </a:r>
            <a:r>
              <a:rPr spc="-35" dirty="0"/>
              <a:t> </a:t>
            </a:r>
            <a:r>
              <a:rPr spc="-13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75176" y="2225118"/>
            <a:ext cx="6439460" cy="2486025"/>
            <a:chOff x="952799" y="2521800"/>
            <a:chExt cx="7298055" cy="2817495"/>
          </a:xfrm>
        </p:grpSpPr>
        <p:sp>
          <p:nvSpPr>
            <p:cNvPr id="4" name="object 4"/>
            <p:cNvSpPr/>
            <p:nvPr/>
          </p:nvSpPr>
          <p:spPr>
            <a:xfrm>
              <a:off x="952799" y="2521800"/>
              <a:ext cx="6203315" cy="845185"/>
            </a:xfrm>
            <a:custGeom>
              <a:avLst/>
              <a:gdLst/>
              <a:ahLst/>
              <a:cxnLst/>
              <a:rect l="l" t="t" r="r" b="b"/>
              <a:pathLst>
                <a:path w="6203315" h="845185">
                  <a:moveTo>
                    <a:pt x="6118680" y="0"/>
                  </a:moveTo>
                  <a:lnTo>
                    <a:pt x="84410" y="0"/>
                  </a:lnTo>
                  <a:lnTo>
                    <a:pt x="51554" y="6641"/>
                  </a:lnTo>
                  <a:lnTo>
                    <a:pt x="24723" y="24754"/>
                  </a:lnTo>
                  <a:lnTo>
                    <a:pt x="6633" y="51618"/>
                  </a:lnTo>
                  <a:lnTo>
                    <a:pt x="0" y="84515"/>
                  </a:lnTo>
                  <a:lnTo>
                    <a:pt x="0" y="760632"/>
                  </a:lnTo>
                  <a:lnTo>
                    <a:pt x="6633" y="793529"/>
                  </a:lnTo>
                  <a:lnTo>
                    <a:pt x="24723" y="820393"/>
                  </a:lnTo>
                  <a:lnTo>
                    <a:pt x="51554" y="838506"/>
                  </a:lnTo>
                  <a:lnTo>
                    <a:pt x="84410" y="845148"/>
                  </a:lnTo>
                  <a:lnTo>
                    <a:pt x="6118680" y="845148"/>
                  </a:lnTo>
                  <a:lnTo>
                    <a:pt x="6151537" y="838506"/>
                  </a:lnTo>
                  <a:lnTo>
                    <a:pt x="6178367" y="820393"/>
                  </a:lnTo>
                  <a:lnTo>
                    <a:pt x="6196457" y="793529"/>
                  </a:lnTo>
                  <a:lnTo>
                    <a:pt x="6203091" y="760632"/>
                  </a:lnTo>
                  <a:lnTo>
                    <a:pt x="6203091" y="84515"/>
                  </a:lnTo>
                  <a:lnTo>
                    <a:pt x="6196457" y="51618"/>
                  </a:lnTo>
                  <a:lnTo>
                    <a:pt x="6178367" y="24754"/>
                  </a:lnTo>
                  <a:lnTo>
                    <a:pt x="6151537" y="6641"/>
                  </a:lnTo>
                  <a:lnTo>
                    <a:pt x="6118680" y="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1500131" y="3507807"/>
              <a:ext cx="6203315" cy="845185"/>
            </a:xfrm>
            <a:custGeom>
              <a:avLst/>
              <a:gdLst/>
              <a:ahLst/>
              <a:cxnLst/>
              <a:rect l="l" t="t" r="r" b="b"/>
              <a:pathLst>
                <a:path w="6203315" h="845185">
                  <a:moveTo>
                    <a:pt x="6118680" y="0"/>
                  </a:moveTo>
                  <a:lnTo>
                    <a:pt x="84410" y="0"/>
                  </a:lnTo>
                  <a:lnTo>
                    <a:pt x="51553" y="6641"/>
                  </a:lnTo>
                  <a:lnTo>
                    <a:pt x="24723" y="24754"/>
                  </a:lnTo>
                  <a:lnTo>
                    <a:pt x="6633" y="51618"/>
                  </a:lnTo>
                  <a:lnTo>
                    <a:pt x="0" y="84515"/>
                  </a:lnTo>
                  <a:lnTo>
                    <a:pt x="0" y="760632"/>
                  </a:lnTo>
                  <a:lnTo>
                    <a:pt x="6633" y="793529"/>
                  </a:lnTo>
                  <a:lnTo>
                    <a:pt x="24723" y="820393"/>
                  </a:lnTo>
                  <a:lnTo>
                    <a:pt x="51553" y="838506"/>
                  </a:lnTo>
                  <a:lnTo>
                    <a:pt x="84410" y="845148"/>
                  </a:lnTo>
                  <a:lnTo>
                    <a:pt x="6118680" y="845148"/>
                  </a:lnTo>
                  <a:lnTo>
                    <a:pt x="6151537" y="838506"/>
                  </a:lnTo>
                  <a:lnTo>
                    <a:pt x="6178367" y="820393"/>
                  </a:lnTo>
                  <a:lnTo>
                    <a:pt x="6196457" y="793529"/>
                  </a:lnTo>
                  <a:lnTo>
                    <a:pt x="6203091" y="760632"/>
                  </a:lnTo>
                  <a:lnTo>
                    <a:pt x="6203091" y="84515"/>
                  </a:lnTo>
                  <a:lnTo>
                    <a:pt x="6196457" y="51618"/>
                  </a:lnTo>
                  <a:lnTo>
                    <a:pt x="6178367" y="24754"/>
                  </a:lnTo>
                  <a:lnTo>
                    <a:pt x="6151537" y="6641"/>
                  </a:lnTo>
                  <a:lnTo>
                    <a:pt x="611868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047462" y="4493813"/>
              <a:ext cx="6203315" cy="845185"/>
            </a:xfrm>
            <a:custGeom>
              <a:avLst/>
              <a:gdLst/>
              <a:ahLst/>
              <a:cxnLst/>
              <a:rect l="l" t="t" r="r" b="b"/>
              <a:pathLst>
                <a:path w="6203315" h="845185">
                  <a:moveTo>
                    <a:pt x="6118680" y="0"/>
                  </a:moveTo>
                  <a:lnTo>
                    <a:pt x="84410" y="0"/>
                  </a:lnTo>
                  <a:lnTo>
                    <a:pt x="51554" y="6641"/>
                  </a:lnTo>
                  <a:lnTo>
                    <a:pt x="24723" y="24753"/>
                  </a:lnTo>
                  <a:lnTo>
                    <a:pt x="6633" y="51618"/>
                  </a:lnTo>
                  <a:lnTo>
                    <a:pt x="0" y="84515"/>
                  </a:lnTo>
                  <a:lnTo>
                    <a:pt x="0" y="760630"/>
                  </a:lnTo>
                  <a:lnTo>
                    <a:pt x="6633" y="793528"/>
                  </a:lnTo>
                  <a:lnTo>
                    <a:pt x="24723" y="820393"/>
                  </a:lnTo>
                  <a:lnTo>
                    <a:pt x="51554" y="838505"/>
                  </a:lnTo>
                  <a:lnTo>
                    <a:pt x="84410" y="845146"/>
                  </a:lnTo>
                  <a:lnTo>
                    <a:pt x="6118680" y="845146"/>
                  </a:lnTo>
                  <a:lnTo>
                    <a:pt x="6151537" y="838505"/>
                  </a:lnTo>
                  <a:lnTo>
                    <a:pt x="6178368" y="820393"/>
                  </a:lnTo>
                  <a:lnTo>
                    <a:pt x="6196458" y="793528"/>
                  </a:lnTo>
                  <a:lnTo>
                    <a:pt x="6203091" y="760630"/>
                  </a:lnTo>
                  <a:lnTo>
                    <a:pt x="6203091" y="84515"/>
                  </a:lnTo>
                  <a:lnTo>
                    <a:pt x="6196458" y="51618"/>
                  </a:lnTo>
                  <a:lnTo>
                    <a:pt x="6178368" y="24753"/>
                  </a:lnTo>
                  <a:lnTo>
                    <a:pt x="6151537" y="6641"/>
                  </a:lnTo>
                  <a:lnTo>
                    <a:pt x="611868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65570" y="2399517"/>
            <a:ext cx="5272928" cy="207553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9" dirty="0">
                <a:solidFill>
                  <a:srgbClr val="FFFFFF"/>
                </a:solidFill>
                <a:latin typeface="Calibri"/>
                <a:cs typeface="Calibri"/>
              </a:rPr>
              <a:t>Pick</a:t>
            </a:r>
            <a:r>
              <a:rPr sz="2118" spc="-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18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2118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26" dirty="0">
                <a:solidFill>
                  <a:srgbClr val="FFFFFF"/>
                </a:solidFill>
                <a:latin typeface="Calibri"/>
                <a:cs typeface="Calibri"/>
              </a:rPr>
              <a:t>feature </a:t>
            </a:r>
            <a:r>
              <a:rPr sz="2118" spc="-18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118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9" dirty="0">
                <a:solidFill>
                  <a:srgbClr val="FFFFFF"/>
                </a:solidFill>
                <a:latin typeface="Calibri"/>
                <a:cs typeface="Calibri"/>
              </a:rPr>
              <a:t>split</a:t>
            </a:r>
            <a:r>
              <a:rPr sz="2118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9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2118" dirty="0">
              <a:latin typeface="Calibri"/>
              <a:cs typeface="Calibri"/>
            </a:endParaRPr>
          </a:p>
          <a:p>
            <a:pPr>
              <a:spcBef>
                <a:spcPts val="13"/>
              </a:spcBef>
            </a:pPr>
            <a:endParaRPr sz="3530" dirty="0">
              <a:latin typeface="Calibri"/>
              <a:cs typeface="Calibri"/>
            </a:endParaRPr>
          </a:p>
          <a:p>
            <a:pPr marL="493645"/>
            <a:r>
              <a:rPr sz="2118" spc="-13" dirty="0">
                <a:solidFill>
                  <a:srgbClr val="FFFFFF"/>
                </a:solidFill>
                <a:latin typeface="Calibri"/>
                <a:cs typeface="Calibri"/>
              </a:rPr>
              <a:t>Learn</a:t>
            </a:r>
            <a:r>
              <a:rPr sz="2118" spc="-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13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r>
              <a:rPr sz="2118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9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118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9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118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9" dirty="0">
                <a:solidFill>
                  <a:srgbClr val="FFFFFF"/>
                </a:solidFill>
                <a:latin typeface="Calibri"/>
                <a:cs typeface="Calibri"/>
              </a:rPr>
              <a:t>split</a:t>
            </a:r>
            <a:endParaRPr sz="2118" dirty="0">
              <a:latin typeface="Calibri"/>
              <a:cs typeface="Calibri"/>
            </a:endParaRPr>
          </a:p>
          <a:p>
            <a:pPr>
              <a:spcBef>
                <a:spcPts val="9"/>
              </a:spcBef>
            </a:pPr>
            <a:endParaRPr sz="3530" dirty="0">
              <a:latin typeface="Calibri"/>
              <a:cs typeface="Calibri"/>
            </a:endParaRPr>
          </a:p>
          <a:p>
            <a:pPr marL="976645">
              <a:spcBef>
                <a:spcPts val="4"/>
              </a:spcBef>
            </a:pPr>
            <a:r>
              <a:rPr sz="2118" spc="-18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2118" spc="-13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118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13" dirty="0">
                <a:solidFill>
                  <a:srgbClr val="FFFFFF"/>
                </a:solidFill>
                <a:latin typeface="Calibri"/>
                <a:cs typeface="Calibri"/>
              </a:rPr>
              <a:t>leaf </a:t>
            </a:r>
            <a:r>
              <a:rPr sz="2118" spc="-9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118" spc="-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13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r>
              <a:rPr lang="en-US" sz="2118" spc="-13" dirty="0">
                <a:solidFill>
                  <a:srgbClr val="FFFFFF"/>
                </a:solidFill>
                <a:latin typeface="Calibri"/>
                <a:cs typeface="Calibri"/>
              </a:rPr>
              <a:t> do </a:t>
            </a:r>
            <a:r>
              <a:rPr sz="2118" spc="-22" dirty="0">
                <a:solidFill>
                  <a:srgbClr val="FFFFFF"/>
                </a:solidFill>
                <a:latin typeface="Calibri"/>
                <a:cs typeface="Calibri"/>
              </a:rPr>
              <a:t>recurs</a:t>
            </a:r>
            <a:r>
              <a:rPr lang="en-US" sz="2118" spc="-22" dirty="0">
                <a:solidFill>
                  <a:srgbClr val="FFFFFF"/>
                </a:solidFill>
                <a:latin typeface="Calibri"/>
                <a:cs typeface="Calibri"/>
              </a:rPr>
              <a:t>ion</a:t>
            </a:r>
            <a:endParaRPr sz="2118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299" y="2698824"/>
            <a:ext cx="6050616" cy="2904565"/>
            <a:chOff x="855472" y="3058667"/>
            <a:chExt cx="6857365" cy="3291840"/>
          </a:xfrm>
        </p:grpSpPr>
        <p:sp>
          <p:nvSpPr>
            <p:cNvPr id="9" name="object 9"/>
            <p:cNvSpPr/>
            <p:nvPr/>
          </p:nvSpPr>
          <p:spPr>
            <a:xfrm>
              <a:off x="6607229" y="3162705"/>
              <a:ext cx="549275" cy="549910"/>
            </a:xfrm>
            <a:custGeom>
              <a:avLst/>
              <a:gdLst/>
              <a:ahLst/>
              <a:cxnLst/>
              <a:rect l="l" t="t" r="r" b="b"/>
              <a:pathLst>
                <a:path w="549275" h="549910">
                  <a:moveTo>
                    <a:pt x="425212" y="0"/>
                  </a:moveTo>
                  <a:lnTo>
                    <a:pt x="123449" y="0"/>
                  </a:lnTo>
                  <a:lnTo>
                    <a:pt x="123449" y="302139"/>
                  </a:lnTo>
                  <a:lnTo>
                    <a:pt x="0" y="302139"/>
                  </a:lnTo>
                  <a:lnTo>
                    <a:pt x="274331" y="549346"/>
                  </a:lnTo>
                  <a:lnTo>
                    <a:pt x="548661" y="302139"/>
                  </a:lnTo>
                  <a:lnTo>
                    <a:pt x="425212" y="302139"/>
                  </a:lnTo>
                  <a:lnTo>
                    <a:pt x="425212" y="0"/>
                  </a:lnTo>
                  <a:close/>
                </a:path>
              </a:pathLst>
            </a:custGeom>
            <a:solidFill>
              <a:srgbClr val="CCDBEA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6607229" y="3162705"/>
              <a:ext cx="549275" cy="549910"/>
            </a:xfrm>
            <a:custGeom>
              <a:avLst/>
              <a:gdLst/>
              <a:ahLst/>
              <a:cxnLst/>
              <a:rect l="l" t="t" r="r" b="b"/>
              <a:pathLst>
                <a:path w="549275" h="549910">
                  <a:moveTo>
                    <a:pt x="0" y="302140"/>
                  </a:moveTo>
                  <a:lnTo>
                    <a:pt x="123448" y="302140"/>
                  </a:lnTo>
                  <a:lnTo>
                    <a:pt x="123448" y="0"/>
                  </a:lnTo>
                  <a:lnTo>
                    <a:pt x="425212" y="0"/>
                  </a:lnTo>
                  <a:lnTo>
                    <a:pt x="425212" y="302140"/>
                  </a:lnTo>
                  <a:lnTo>
                    <a:pt x="548661" y="302140"/>
                  </a:lnTo>
                  <a:lnTo>
                    <a:pt x="274330" y="549346"/>
                  </a:lnTo>
                  <a:lnTo>
                    <a:pt x="0" y="302140"/>
                  </a:lnTo>
                  <a:close/>
                </a:path>
              </a:pathLst>
            </a:custGeom>
            <a:ln w="18850">
              <a:solidFill>
                <a:srgbClr val="CCDBE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7154561" y="4143076"/>
              <a:ext cx="549275" cy="549910"/>
            </a:xfrm>
            <a:custGeom>
              <a:avLst/>
              <a:gdLst/>
              <a:ahLst/>
              <a:cxnLst/>
              <a:rect l="l" t="t" r="r" b="b"/>
              <a:pathLst>
                <a:path w="549275" h="549910">
                  <a:moveTo>
                    <a:pt x="425212" y="0"/>
                  </a:moveTo>
                  <a:lnTo>
                    <a:pt x="123449" y="0"/>
                  </a:lnTo>
                  <a:lnTo>
                    <a:pt x="123449" y="302140"/>
                  </a:lnTo>
                  <a:lnTo>
                    <a:pt x="0" y="302140"/>
                  </a:lnTo>
                  <a:lnTo>
                    <a:pt x="274330" y="549346"/>
                  </a:lnTo>
                  <a:lnTo>
                    <a:pt x="548661" y="302140"/>
                  </a:lnTo>
                  <a:lnTo>
                    <a:pt x="425212" y="302140"/>
                  </a:lnTo>
                  <a:lnTo>
                    <a:pt x="425212" y="0"/>
                  </a:lnTo>
                  <a:close/>
                </a:path>
              </a:pathLst>
            </a:custGeom>
            <a:solidFill>
              <a:srgbClr val="D9E8CC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7154561" y="4143076"/>
              <a:ext cx="549275" cy="549910"/>
            </a:xfrm>
            <a:custGeom>
              <a:avLst/>
              <a:gdLst/>
              <a:ahLst/>
              <a:cxnLst/>
              <a:rect l="l" t="t" r="r" b="b"/>
              <a:pathLst>
                <a:path w="549275" h="549910">
                  <a:moveTo>
                    <a:pt x="0" y="302140"/>
                  </a:moveTo>
                  <a:lnTo>
                    <a:pt x="123448" y="302140"/>
                  </a:lnTo>
                  <a:lnTo>
                    <a:pt x="123448" y="0"/>
                  </a:lnTo>
                  <a:lnTo>
                    <a:pt x="425212" y="0"/>
                  </a:lnTo>
                  <a:lnTo>
                    <a:pt x="425212" y="302140"/>
                  </a:lnTo>
                  <a:lnTo>
                    <a:pt x="548661" y="302140"/>
                  </a:lnTo>
                  <a:lnTo>
                    <a:pt x="274330" y="549346"/>
                  </a:lnTo>
                  <a:lnTo>
                    <a:pt x="0" y="302140"/>
                  </a:lnTo>
                  <a:close/>
                </a:path>
              </a:pathLst>
            </a:custGeom>
            <a:ln w="18850">
              <a:solidFill>
                <a:srgbClr val="D9E8C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472" y="3058667"/>
              <a:ext cx="3468624" cy="329184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94707" y="3324456"/>
              <a:ext cx="3292475" cy="2978785"/>
            </a:xfrm>
            <a:custGeom>
              <a:avLst/>
              <a:gdLst/>
              <a:ahLst/>
              <a:cxnLst/>
              <a:rect l="l" t="t" r="r" b="b"/>
              <a:pathLst>
                <a:path w="3292475" h="2978785">
                  <a:moveTo>
                    <a:pt x="135335" y="111952"/>
                  </a:moveTo>
                  <a:lnTo>
                    <a:pt x="94967" y="170167"/>
                  </a:lnTo>
                  <a:lnTo>
                    <a:pt x="89120" y="207688"/>
                  </a:lnTo>
                  <a:lnTo>
                    <a:pt x="78169" y="277321"/>
                  </a:lnTo>
                  <a:lnTo>
                    <a:pt x="66466" y="352780"/>
                  </a:lnTo>
                  <a:lnTo>
                    <a:pt x="60476" y="392398"/>
                  </a:lnTo>
                  <a:lnTo>
                    <a:pt x="48558" y="474473"/>
                  </a:lnTo>
                  <a:lnTo>
                    <a:pt x="37109" y="559528"/>
                  </a:lnTo>
                  <a:lnTo>
                    <a:pt x="26616" y="646441"/>
                  </a:lnTo>
                  <a:lnTo>
                    <a:pt x="17570" y="734094"/>
                  </a:lnTo>
                  <a:lnTo>
                    <a:pt x="10462" y="821382"/>
                  </a:lnTo>
                  <a:lnTo>
                    <a:pt x="5789" y="907211"/>
                  </a:lnTo>
                  <a:lnTo>
                    <a:pt x="4050" y="990177"/>
                  </a:lnTo>
                  <a:lnTo>
                    <a:pt x="4439" y="1030503"/>
                  </a:lnTo>
                  <a:lnTo>
                    <a:pt x="5757" y="1069799"/>
                  </a:lnTo>
                  <a:lnTo>
                    <a:pt x="8075" y="1107939"/>
                  </a:lnTo>
                  <a:lnTo>
                    <a:pt x="20332" y="1216449"/>
                  </a:lnTo>
                  <a:lnTo>
                    <a:pt x="31441" y="1289417"/>
                  </a:lnTo>
                  <a:lnTo>
                    <a:pt x="44673" y="1363287"/>
                  </a:lnTo>
                  <a:lnTo>
                    <a:pt x="59926" y="1437746"/>
                  </a:lnTo>
                  <a:lnTo>
                    <a:pt x="77097" y="1512478"/>
                  </a:lnTo>
                  <a:lnTo>
                    <a:pt x="96086" y="1587167"/>
                  </a:lnTo>
                  <a:lnTo>
                    <a:pt x="116791" y="1661496"/>
                  </a:lnTo>
                  <a:lnTo>
                    <a:pt x="139113" y="1735148"/>
                  </a:lnTo>
                  <a:lnTo>
                    <a:pt x="162952" y="1807808"/>
                  </a:lnTo>
                  <a:lnTo>
                    <a:pt x="188210" y="1879158"/>
                  </a:lnTo>
                  <a:lnTo>
                    <a:pt x="214789" y="1948881"/>
                  </a:lnTo>
                  <a:lnTo>
                    <a:pt x="242594" y="2016664"/>
                  </a:lnTo>
                  <a:lnTo>
                    <a:pt x="271531" y="2082191"/>
                  </a:lnTo>
                  <a:lnTo>
                    <a:pt x="301510" y="2145151"/>
                  </a:lnTo>
                  <a:lnTo>
                    <a:pt x="332442" y="2205233"/>
                  </a:lnTo>
                  <a:lnTo>
                    <a:pt x="364082" y="2261852"/>
                  </a:lnTo>
                  <a:lnTo>
                    <a:pt x="396169" y="2315817"/>
                  </a:lnTo>
                  <a:lnTo>
                    <a:pt x="428814" y="2368370"/>
                  </a:lnTo>
                  <a:lnTo>
                    <a:pt x="462192" y="2419428"/>
                  </a:lnTo>
                  <a:lnTo>
                    <a:pt x="496483" y="2468899"/>
                  </a:lnTo>
                  <a:lnTo>
                    <a:pt x="531869" y="2516694"/>
                  </a:lnTo>
                  <a:lnTo>
                    <a:pt x="568526" y="2562719"/>
                  </a:lnTo>
                  <a:lnTo>
                    <a:pt x="606636" y="2606875"/>
                  </a:lnTo>
                  <a:lnTo>
                    <a:pt x="646372" y="2649065"/>
                  </a:lnTo>
                  <a:lnTo>
                    <a:pt x="687909" y="2689184"/>
                  </a:lnTo>
                  <a:lnTo>
                    <a:pt x="731414" y="2727124"/>
                  </a:lnTo>
                  <a:lnTo>
                    <a:pt x="777050" y="2762778"/>
                  </a:lnTo>
                  <a:lnTo>
                    <a:pt x="824976" y="2796038"/>
                  </a:lnTo>
                  <a:lnTo>
                    <a:pt x="875343" y="2826799"/>
                  </a:lnTo>
                  <a:lnTo>
                    <a:pt x="928299" y="2854957"/>
                  </a:lnTo>
                  <a:lnTo>
                    <a:pt x="983990" y="2880414"/>
                  </a:lnTo>
                  <a:lnTo>
                    <a:pt x="1042315" y="2902999"/>
                  </a:lnTo>
                  <a:lnTo>
                    <a:pt x="1105458" y="2922628"/>
                  </a:lnTo>
                  <a:lnTo>
                    <a:pt x="1173641" y="2938913"/>
                  </a:lnTo>
                  <a:lnTo>
                    <a:pt x="1245510" y="2951975"/>
                  </a:lnTo>
                  <a:lnTo>
                    <a:pt x="1320869" y="2962161"/>
                  </a:lnTo>
                  <a:lnTo>
                    <a:pt x="1399092" y="2969707"/>
                  </a:lnTo>
                  <a:lnTo>
                    <a:pt x="1479547" y="2974828"/>
                  </a:lnTo>
                  <a:lnTo>
                    <a:pt x="1561590" y="2977744"/>
                  </a:lnTo>
                  <a:lnTo>
                    <a:pt x="1644579" y="2978665"/>
                  </a:lnTo>
                  <a:lnTo>
                    <a:pt x="1727862" y="2977802"/>
                  </a:lnTo>
                  <a:lnTo>
                    <a:pt x="1810788" y="2975362"/>
                  </a:lnTo>
                  <a:lnTo>
                    <a:pt x="1892702" y="2971552"/>
                  </a:lnTo>
                  <a:lnTo>
                    <a:pt x="1972948" y="2966577"/>
                  </a:lnTo>
                  <a:lnTo>
                    <a:pt x="2050869" y="2960646"/>
                  </a:lnTo>
                  <a:lnTo>
                    <a:pt x="2125808" y="2953961"/>
                  </a:lnTo>
                  <a:lnTo>
                    <a:pt x="2231106" y="2942981"/>
                  </a:lnTo>
                  <a:lnTo>
                    <a:pt x="2389031" y="2922083"/>
                  </a:lnTo>
                  <a:lnTo>
                    <a:pt x="1643998" y="2922083"/>
                  </a:lnTo>
                  <a:lnTo>
                    <a:pt x="1562221" y="2921162"/>
                  </a:lnTo>
                  <a:lnTo>
                    <a:pt x="1481557" y="2918278"/>
                  </a:lnTo>
                  <a:lnTo>
                    <a:pt x="1402686" y="2913235"/>
                  </a:lnTo>
                  <a:lnTo>
                    <a:pt x="1326298" y="2905838"/>
                  </a:lnTo>
                  <a:lnTo>
                    <a:pt x="1253088" y="2895899"/>
                  </a:lnTo>
                  <a:lnTo>
                    <a:pt x="1183756" y="2883241"/>
                  </a:lnTo>
                  <a:lnTo>
                    <a:pt x="1119440" y="2867800"/>
                  </a:lnTo>
                  <a:lnTo>
                    <a:pt x="1060109" y="2849291"/>
                  </a:lnTo>
                  <a:lnTo>
                    <a:pt x="1004404" y="2827649"/>
                  </a:lnTo>
                  <a:lnTo>
                    <a:pt x="951812" y="2803502"/>
                  </a:lnTo>
                  <a:lnTo>
                    <a:pt x="901891" y="2776846"/>
                  </a:lnTo>
                  <a:lnTo>
                    <a:pt x="854446" y="2747755"/>
                  </a:lnTo>
                  <a:lnTo>
                    <a:pt x="809284" y="2716298"/>
                  </a:lnTo>
                  <a:lnTo>
                    <a:pt x="766216" y="2682539"/>
                  </a:lnTo>
                  <a:lnTo>
                    <a:pt x="725059" y="2646540"/>
                  </a:lnTo>
                  <a:lnTo>
                    <a:pt x="685636" y="2608365"/>
                  </a:lnTo>
                  <a:lnTo>
                    <a:pt x="647773" y="2568075"/>
                  </a:lnTo>
                  <a:lnTo>
                    <a:pt x="611305" y="2525740"/>
                  </a:lnTo>
                  <a:lnTo>
                    <a:pt x="576066" y="2481428"/>
                  </a:lnTo>
                  <a:lnTo>
                    <a:pt x="541894" y="2435214"/>
                  </a:lnTo>
                  <a:lnTo>
                    <a:pt x="508627" y="2387174"/>
                  </a:lnTo>
                  <a:lnTo>
                    <a:pt x="476105" y="2337389"/>
                  </a:lnTo>
                  <a:lnTo>
                    <a:pt x="444164" y="2285939"/>
                  </a:lnTo>
                  <a:lnTo>
                    <a:pt x="412645" y="2232910"/>
                  </a:lnTo>
                  <a:lnTo>
                    <a:pt x="381766" y="2177611"/>
                  </a:lnTo>
                  <a:lnTo>
                    <a:pt x="351750" y="2119237"/>
                  </a:lnTo>
                  <a:lnTo>
                    <a:pt x="322550" y="2057850"/>
                  </a:lnTo>
                  <a:lnTo>
                    <a:pt x="294285" y="1993789"/>
                  </a:lnTo>
                  <a:lnTo>
                    <a:pt x="267069" y="1927390"/>
                  </a:lnTo>
                  <a:lnTo>
                    <a:pt x="241012" y="1858986"/>
                  </a:lnTo>
                  <a:lnTo>
                    <a:pt x="216222" y="1788910"/>
                  </a:lnTo>
                  <a:lnTo>
                    <a:pt x="192807" y="1717494"/>
                  </a:lnTo>
                  <a:lnTo>
                    <a:pt x="170873" y="1645070"/>
                  </a:lnTo>
                  <a:lnTo>
                    <a:pt x="150525" y="1571970"/>
                  </a:lnTo>
                  <a:lnTo>
                    <a:pt x="131867" y="1498525"/>
                  </a:lnTo>
                  <a:lnTo>
                    <a:pt x="115003" y="1425065"/>
                  </a:lnTo>
                  <a:lnTo>
                    <a:pt x="100037" y="1351925"/>
                  </a:lnTo>
                  <a:lnTo>
                    <a:pt x="87069" y="1279434"/>
                  </a:lnTo>
                  <a:lnTo>
                    <a:pt x="76203" y="1207930"/>
                  </a:lnTo>
                  <a:lnTo>
                    <a:pt x="67539" y="1137746"/>
                  </a:lnTo>
                  <a:lnTo>
                    <a:pt x="62169" y="1066383"/>
                  </a:lnTo>
                  <a:lnTo>
                    <a:pt x="60563" y="989642"/>
                  </a:lnTo>
                  <a:lnTo>
                    <a:pt x="62291" y="908408"/>
                  </a:lnTo>
                  <a:lnTo>
                    <a:pt x="66893" y="824472"/>
                  </a:lnTo>
                  <a:lnTo>
                    <a:pt x="73898" y="738699"/>
                  </a:lnTo>
                  <a:lnTo>
                    <a:pt x="82832" y="652261"/>
                  </a:lnTo>
                  <a:lnTo>
                    <a:pt x="93215" y="566322"/>
                  </a:lnTo>
                  <a:lnTo>
                    <a:pt x="104566" y="482033"/>
                  </a:lnTo>
                  <a:lnTo>
                    <a:pt x="116403" y="400541"/>
                  </a:lnTo>
                  <a:lnTo>
                    <a:pt x="122345" y="361250"/>
                  </a:lnTo>
                  <a:lnTo>
                    <a:pt x="128235" y="323023"/>
                  </a:lnTo>
                  <a:lnTo>
                    <a:pt x="144947" y="216491"/>
                  </a:lnTo>
                  <a:lnTo>
                    <a:pt x="149997" y="184162"/>
                  </a:lnTo>
                  <a:lnTo>
                    <a:pt x="154859" y="152496"/>
                  </a:lnTo>
                  <a:lnTo>
                    <a:pt x="135335" y="111952"/>
                  </a:lnTo>
                  <a:close/>
                </a:path>
                <a:path w="3292475" h="2978785">
                  <a:moveTo>
                    <a:pt x="3288956" y="2002048"/>
                  </a:moveTo>
                  <a:lnTo>
                    <a:pt x="3232464" y="2003675"/>
                  </a:lnTo>
                  <a:lnTo>
                    <a:pt x="3235031" y="2093015"/>
                  </a:lnTo>
                  <a:lnTo>
                    <a:pt x="3235543" y="2180687"/>
                  </a:lnTo>
                  <a:lnTo>
                    <a:pt x="3234407" y="2223230"/>
                  </a:lnTo>
                  <a:lnTo>
                    <a:pt x="3232021" y="2265192"/>
                  </a:lnTo>
                  <a:lnTo>
                    <a:pt x="3228146" y="2306186"/>
                  </a:lnTo>
                  <a:lnTo>
                    <a:pt x="3222549" y="2346076"/>
                  </a:lnTo>
                  <a:lnTo>
                    <a:pt x="3215009" y="2384724"/>
                  </a:lnTo>
                  <a:lnTo>
                    <a:pt x="3205307" y="2422001"/>
                  </a:lnTo>
                  <a:lnTo>
                    <a:pt x="3178571" y="2491994"/>
                  </a:lnTo>
                  <a:lnTo>
                    <a:pt x="3140629" y="2555341"/>
                  </a:lnTo>
                  <a:lnTo>
                    <a:pt x="3089521" y="2611653"/>
                  </a:lnTo>
                  <a:lnTo>
                    <a:pt x="3058247" y="2637496"/>
                  </a:lnTo>
                  <a:lnTo>
                    <a:pt x="3022982" y="2662304"/>
                  </a:lnTo>
                  <a:lnTo>
                    <a:pt x="2984012" y="2685959"/>
                  </a:lnTo>
                  <a:lnTo>
                    <a:pt x="2941582" y="2708419"/>
                  </a:lnTo>
                  <a:lnTo>
                    <a:pt x="2895950" y="2729657"/>
                  </a:lnTo>
                  <a:lnTo>
                    <a:pt x="2847376" y="2749659"/>
                  </a:lnTo>
                  <a:lnTo>
                    <a:pt x="2796123" y="2768418"/>
                  </a:lnTo>
                  <a:lnTo>
                    <a:pt x="2742451" y="2785935"/>
                  </a:lnTo>
                  <a:lnTo>
                    <a:pt x="2686623" y="2802219"/>
                  </a:lnTo>
                  <a:lnTo>
                    <a:pt x="2628898" y="2817281"/>
                  </a:lnTo>
                  <a:lnTo>
                    <a:pt x="2569533" y="2831139"/>
                  </a:lnTo>
                  <a:lnTo>
                    <a:pt x="2508785" y="2843808"/>
                  </a:lnTo>
                  <a:lnTo>
                    <a:pt x="2446910" y="2855307"/>
                  </a:lnTo>
                  <a:lnTo>
                    <a:pt x="2384159" y="2865661"/>
                  </a:lnTo>
                  <a:lnTo>
                    <a:pt x="2256803" y="2883043"/>
                  </a:lnTo>
                  <a:lnTo>
                    <a:pt x="2120112" y="2897665"/>
                  </a:lnTo>
                  <a:lnTo>
                    <a:pt x="2045856" y="2904284"/>
                  </a:lnTo>
                  <a:lnTo>
                    <a:pt x="1968666" y="2910155"/>
                  </a:lnTo>
                  <a:lnTo>
                    <a:pt x="1889212" y="2915074"/>
                  </a:lnTo>
                  <a:lnTo>
                    <a:pt x="1808168" y="2918837"/>
                  </a:lnTo>
                  <a:lnTo>
                    <a:pt x="1726205" y="2921241"/>
                  </a:lnTo>
                  <a:lnTo>
                    <a:pt x="1643998" y="2922083"/>
                  </a:lnTo>
                  <a:lnTo>
                    <a:pt x="2389031" y="2922083"/>
                  </a:lnTo>
                  <a:lnTo>
                    <a:pt x="2457230" y="2910942"/>
                  </a:lnTo>
                  <a:lnTo>
                    <a:pt x="2520316" y="2899202"/>
                  </a:lnTo>
                  <a:lnTo>
                    <a:pt x="2582373" y="2886245"/>
                  </a:lnTo>
                  <a:lnTo>
                    <a:pt x="2643161" y="2872036"/>
                  </a:lnTo>
                  <a:lnTo>
                    <a:pt x="2702444" y="2856542"/>
                  </a:lnTo>
                  <a:lnTo>
                    <a:pt x="2759984" y="2839728"/>
                  </a:lnTo>
                  <a:lnTo>
                    <a:pt x="2815547" y="2821556"/>
                  </a:lnTo>
                  <a:lnTo>
                    <a:pt x="2868900" y="2801980"/>
                  </a:lnTo>
                  <a:lnTo>
                    <a:pt x="2919811" y="2780953"/>
                  </a:lnTo>
                  <a:lnTo>
                    <a:pt x="2968048" y="2758417"/>
                  </a:lnTo>
                  <a:lnTo>
                    <a:pt x="3013378" y="2734304"/>
                  </a:lnTo>
                  <a:lnTo>
                    <a:pt x="3055563" y="2708539"/>
                  </a:lnTo>
                  <a:lnTo>
                    <a:pt x="3094356" y="2681027"/>
                  </a:lnTo>
                  <a:lnTo>
                    <a:pt x="3129549" y="2651598"/>
                  </a:lnTo>
                  <a:lnTo>
                    <a:pt x="3160711" y="2620091"/>
                  </a:lnTo>
                  <a:lnTo>
                    <a:pt x="3187779" y="2586537"/>
                  </a:lnTo>
                  <a:lnTo>
                    <a:pt x="3210977" y="2551163"/>
                  </a:lnTo>
                  <a:lnTo>
                    <a:pt x="3230558" y="2514185"/>
                  </a:lnTo>
                  <a:lnTo>
                    <a:pt x="3246806" y="2475804"/>
                  </a:lnTo>
                  <a:lnTo>
                    <a:pt x="3260014" y="2436196"/>
                  </a:lnTo>
                  <a:lnTo>
                    <a:pt x="3270487" y="2395517"/>
                  </a:lnTo>
                  <a:lnTo>
                    <a:pt x="3278521" y="2353906"/>
                  </a:lnTo>
                  <a:lnTo>
                    <a:pt x="3284411" y="2311492"/>
                  </a:lnTo>
                  <a:lnTo>
                    <a:pt x="3288446" y="2268391"/>
                  </a:lnTo>
                  <a:lnTo>
                    <a:pt x="3290903" y="2224721"/>
                  </a:lnTo>
                  <a:lnTo>
                    <a:pt x="3292048" y="2180687"/>
                  </a:lnTo>
                  <a:lnTo>
                    <a:pt x="3291523" y="2091389"/>
                  </a:lnTo>
                  <a:lnTo>
                    <a:pt x="3288956" y="2002048"/>
                  </a:lnTo>
                  <a:close/>
                </a:path>
                <a:path w="3292475" h="2978785">
                  <a:moveTo>
                    <a:pt x="169486" y="52581"/>
                  </a:moveTo>
                  <a:lnTo>
                    <a:pt x="111697" y="52581"/>
                  </a:lnTo>
                  <a:lnTo>
                    <a:pt x="167804" y="59369"/>
                  </a:lnTo>
                  <a:lnTo>
                    <a:pt x="165996" y="74331"/>
                  </a:lnTo>
                  <a:lnTo>
                    <a:pt x="162745" y="98609"/>
                  </a:lnTo>
                  <a:lnTo>
                    <a:pt x="158955" y="125089"/>
                  </a:lnTo>
                  <a:lnTo>
                    <a:pt x="154859" y="152496"/>
                  </a:lnTo>
                  <a:lnTo>
                    <a:pt x="199543" y="245290"/>
                  </a:lnTo>
                  <a:lnTo>
                    <a:pt x="206320" y="254244"/>
                  </a:lnTo>
                  <a:lnTo>
                    <a:pt x="215676" y="259711"/>
                  </a:lnTo>
                  <a:lnTo>
                    <a:pt x="226397" y="261267"/>
                  </a:lnTo>
                  <a:lnTo>
                    <a:pt x="237269" y="258488"/>
                  </a:lnTo>
                  <a:lnTo>
                    <a:pt x="246212" y="251702"/>
                  </a:lnTo>
                  <a:lnTo>
                    <a:pt x="251673" y="242334"/>
                  </a:lnTo>
                  <a:lnTo>
                    <a:pt x="253227" y="231600"/>
                  </a:lnTo>
                  <a:lnTo>
                    <a:pt x="250450" y="220714"/>
                  </a:lnTo>
                  <a:lnTo>
                    <a:pt x="169486" y="52581"/>
                  </a:lnTo>
                  <a:close/>
                </a:path>
                <a:path w="3292475" h="2978785">
                  <a:moveTo>
                    <a:pt x="144166" y="0"/>
                  </a:moveTo>
                  <a:lnTo>
                    <a:pt x="4596" y="201274"/>
                  </a:lnTo>
                  <a:lnTo>
                    <a:pt x="148" y="211588"/>
                  </a:lnTo>
                  <a:lnTo>
                    <a:pt x="0" y="222433"/>
                  </a:lnTo>
                  <a:lnTo>
                    <a:pt x="3924" y="232543"/>
                  </a:lnTo>
                  <a:lnTo>
                    <a:pt x="11692" y="240651"/>
                  </a:lnTo>
                  <a:lnTo>
                    <a:pt x="21994" y="245105"/>
                  </a:lnTo>
                  <a:lnTo>
                    <a:pt x="32826" y="245253"/>
                  </a:lnTo>
                  <a:lnTo>
                    <a:pt x="42923" y="241323"/>
                  </a:lnTo>
                  <a:lnTo>
                    <a:pt x="94967" y="170167"/>
                  </a:lnTo>
                  <a:lnTo>
                    <a:pt x="103063" y="116714"/>
                  </a:lnTo>
                  <a:lnTo>
                    <a:pt x="109982" y="66814"/>
                  </a:lnTo>
                  <a:lnTo>
                    <a:pt x="111697" y="52581"/>
                  </a:lnTo>
                  <a:lnTo>
                    <a:pt x="169486" y="52581"/>
                  </a:lnTo>
                  <a:lnTo>
                    <a:pt x="144166" y="0"/>
                  </a:lnTo>
                  <a:close/>
                </a:path>
                <a:path w="3292475" h="2978785">
                  <a:moveTo>
                    <a:pt x="111697" y="52581"/>
                  </a:moveTo>
                  <a:lnTo>
                    <a:pt x="106801" y="90584"/>
                  </a:lnTo>
                  <a:lnTo>
                    <a:pt x="98828" y="145044"/>
                  </a:lnTo>
                  <a:lnTo>
                    <a:pt x="94967" y="170167"/>
                  </a:lnTo>
                  <a:lnTo>
                    <a:pt x="135335" y="111952"/>
                  </a:lnTo>
                  <a:lnTo>
                    <a:pt x="114297" y="68263"/>
                  </a:lnTo>
                  <a:lnTo>
                    <a:pt x="166729" y="68263"/>
                  </a:lnTo>
                  <a:lnTo>
                    <a:pt x="167804" y="59369"/>
                  </a:lnTo>
                  <a:lnTo>
                    <a:pt x="111697" y="52581"/>
                  </a:lnTo>
                  <a:close/>
                </a:path>
                <a:path w="3292475" h="2978785">
                  <a:moveTo>
                    <a:pt x="166729" y="68263"/>
                  </a:moveTo>
                  <a:lnTo>
                    <a:pt x="114297" y="68263"/>
                  </a:lnTo>
                  <a:lnTo>
                    <a:pt x="162962" y="72111"/>
                  </a:lnTo>
                  <a:lnTo>
                    <a:pt x="135335" y="111952"/>
                  </a:lnTo>
                  <a:lnTo>
                    <a:pt x="154859" y="152496"/>
                  </a:lnTo>
                  <a:lnTo>
                    <a:pt x="158955" y="125089"/>
                  </a:lnTo>
                  <a:lnTo>
                    <a:pt x="162745" y="98609"/>
                  </a:lnTo>
                  <a:lnTo>
                    <a:pt x="165996" y="74331"/>
                  </a:lnTo>
                  <a:lnTo>
                    <a:pt x="166729" y="68263"/>
                  </a:lnTo>
                  <a:close/>
                </a:path>
                <a:path w="3292475" h="2978785">
                  <a:moveTo>
                    <a:pt x="114297" y="68263"/>
                  </a:moveTo>
                  <a:lnTo>
                    <a:pt x="135335" y="111952"/>
                  </a:lnTo>
                  <a:lnTo>
                    <a:pt x="162962" y="72111"/>
                  </a:lnTo>
                  <a:lnTo>
                    <a:pt x="114297" y="68263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855796" y="5131397"/>
            <a:ext cx="2293284" cy="5454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2532"/>
              </a:lnSpc>
            </a:pPr>
            <a:r>
              <a:rPr sz="2118" spc="-13" dirty="0">
                <a:latin typeface="Calibri"/>
                <a:cs typeface="Calibri"/>
              </a:rPr>
              <a:t>When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spc="-4" dirty="0">
                <a:latin typeface="Calibri"/>
                <a:cs typeface="Calibri"/>
              </a:rPr>
              <a:t>do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we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stop???</a:t>
            </a:r>
            <a:endParaRPr sz="2118">
              <a:latin typeface="Calibri"/>
              <a:cs typeface="Calibri"/>
            </a:endParaRPr>
          </a:p>
          <a:p>
            <a:pPr marL="250465">
              <a:spcBef>
                <a:spcPts val="772"/>
              </a:spcBef>
            </a:pPr>
            <a:r>
              <a:rPr sz="794" spc="-4" dirty="0">
                <a:solidFill>
                  <a:srgbClr val="898989"/>
                </a:solidFill>
                <a:latin typeface="Calibri"/>
                <a:cs typeface="Calibri"/>
              </a:rPr>
              <a:t>©2021</a:t>
            </a:r>
            <a:r>
              <a:rPr sz="794" spc="-18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794" spc="-9" dirty="0">
                <a:solidFill>
                  <a:srgbClr val="898989"/>
                </a:solidFill>
                <a:latin typeface="Calibri"/>
                <a:cs typeface="Calibri"/>
              </a:rPr>
              <a:t>Carlos</a:t>
            </a:r>
            <a:r>
              <a:rPr sz="794" spc="-13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794" spc="-9" dirty="0">
                <a:solidFill>
                  <a:srgbClr val="898989"/>
                </a:solidFill>
                <a:latin typeface="Calibri"/>
                <a:cs typeface="Calibri"/>
              </a:rPr>
              <a:t>Guestrin</a:t>
            </a:r>
            <a:endParaRPr sz="794">
              <a:latin typeface="Calibri"/>
              <a:cs typeface="Calibri"/>
            </a:endParaRP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E144818-E2F6-43FF-8092-479D555FD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8BA0-5020-4864-9120-049487667050}" type="datetime1">
              <a:rPr lang="en-US" smtClean="0"/>
              <a:t>3/30/2022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C0C2FC3D-11D2-41FD-814D-971A668E4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B6DD1DE-3E82-476B-88CB-7366C19E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483" y="870848"/>
            <a:ext cx="8402036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8" dirty="0"/>
              <a:t>Stopping</a:t>
            </a:r>
            <a:r>
              <a:rPr spc="-22" dirty="0"/>
              <a:t> </a:t>
            </a:r>
            <a:r>
              <a:rPr spc="-18" dirty="0"/>
              <a:t>condition</a:t>
            </a:r>
            <a:r>
              <a:rPr spc="-26" dirty="0"/>
              <a:t> </a:t>
            </a:r>
            <a:r>
              <a:rPr spc="-18" dirty="0"/>
              <a:t>1:</a:t>
            </a:r>
            <a:r>
              <a:rPr spc="-13" dirty="0"/>
              <a:t> </a:t>
            </a:r>
            <a:r>
              <a:rPr spc="-9" dirty="0"/>
              <a:t>All</a:t>
            </a:r>
            <a:r>
              <a:rPr spc="-13" dirty="0"/>
              <a:t> </a:t>
            </a:r>
            <a:r>
              <a:rPr spc="-31" dirty="0"/>
              <a:t>data</a:t>
            </a:r>
            <a:r>
              <a:rPr spc="-18" dirty="0"/>
              <a:t> </a:t>
            </a:r>
            <a:r>
              <a:rPr spc="-22" dirty="0"/>
              <a:t>agrees</a:t>
            </a:r>
            <a:r>
              <a:rPr spc="-18" dirty="0"/>
              <a:t> </a:t>
            </a:r>
            <a:r>
              <a:rPr spc="-9" dirty="0"/>
              <a:t>on</a:t>
            </a:r>
            <a:r>
              <a:rPr spc="-22" dirty="0"/>
              <a:t> </a:t>
            </a:r>
            <a:r>
              <a:rPr dirty="0"/>
              <a:t>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40835" y="2124641"/>
            <a:ext cx="621366" cy="406213"/>
            <a:chOff x="2840546" y="2407926"/>
            <a:chExt cx="704215" cy="460375"/>
          </a:xfrm>
        </p:grpSpPr>
        <p:sp>
          <p:nvSpPr>
            <p:cNvPr id="4" name="object 4"/>
            <p:cNvSpPr/>
            <p:nvPr/>
          </p:nvSpPr>
          <p:spPr>
            <a:xfrm>
              <a:off x="2850071" y="2417451"/>
              <a:ext cx="685165" cy="441325"/>
            </a:xfrm>
            <a:custGeom>
              <a:avLst/>
              <a:gdLst/>
              <a:ahLst/>
              <a:cxnLst/>
              <a:rect l="l" t="t" r="r" b="b"/>
              <a:pathLst>
                <a:path w="685164" h="441325">
                  <a:moveTo>
                    <a:pt x="684966" y="0"/>
                  </a:moveTo>
                  <a:lnTo>
                    <a:pt x="0" y="0"/>
                  </a:lnTo>
                  <a:lnTo>
                    <a:pt x="0" y="441177"/>
                  </a:lnTo>
                  <a:lnTo>
                    <a:pt x="684966" y="441177"/>
                  </a:lnTo>
                  <a:lnTo>
                    <a:pt x="684966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850071" y="2417451"/>
              <a:ext cx="685165" cy="441325"/>
            </a:xfrm>
            <a:custGeom>
              <a:avLst/>
              <a:gdLst/>
              <a:ahLst/>
              <a:cxnLst/>
              <a:rect l="l" t="t" r="r" b="b"/>
              <a:pathLst>
                <a:path w="685164" h="441325">
                  <a:moveTo>
                    <a:pt x="0" y="0"/>
                  </a:moveTo>
                  <a:lnTo>
                    <a:pt x="684967" y="0"/>
                  </a:lnTo>
                  <a:lnTo>
                    <a:pt x="684967" y="441177"/>
                  </a:lnTo>
                  <a:lnTo>
                    <a:pt x="0" y="441177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44915" y="2144191"/>
            <a:ext cx="413497" cy="31909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75644">
              <a:lnSpc>
                <a:spcPts val="1249"/>
              </a:lnSpc>
              <a:spcBef>
                <a:spcPts val="88"/>
              </a:spcBef>
            </a:pPr>
            <a:r>
              <a:rPr sz="1059" b="1" spc="-13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059">
              <a:latin typeface="Calibri"/>
              <a:cs typeface="Calibri"/>
            </a:endParaRPr>
          </a:p>
          <a:p>
            <a:pPr marL="11206">
              <a:lnSpc>
                <a:spcPts val="1249"/>
              </a:lnSpc>
              <a:tabLst>
                <a:tab pos="266714" algn="l"/>
              </a:tabLst>
            </a:pPr>
            <a:r>
              <a:rPr sz="1059" spc="-9" dirty="0">
                <a:solidFill>
                  <a:srgbClr val="648E04"/>
                </a:solidFill>
                <a:latin typeface="Calibri"/>
                <a:cs typeface="Calibri"/>
              </a:rPr>
              <a:t>2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2	</a:t>
            </a:r>
            <a:r>
              <a:rPr sz="1059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33902" y="3044029"/>
            <a:ext cx="779929" cy="396688"/>
            <a:chOff x="906022" y="3449899"/>
            <a:chExt cx="883919" cy="449580"/>
          </a:xfrm>
        </p:grpSpPr>
        <p:sp>
          <p:nvSpPr>
            <p:cNvPr id="8" name="object 8"/>
            <p:cNvSpPr/>
            <p:nvPr/>
          </p:nvSpPr>
          <p:spPr>
            <a:xfrm>
              <a:off x="915547" y="3459424"/>
              <a:ext cx="864869" cy="430530"/>
            </a:xfrm>
            <a:custGeom>
              <a:avLst/>
              <a:gdLst/>
              <a:ahLst/>
              <a:cxnLst/>
              <a:rect l="l" t="t" r="r" b="b"/>
              <a:pathLst>
                <a:path w="864869" h="430529">
                  <a:moveTo>
                    <a:pt x="864854" y="0"/>
                  </a:moveTo>
                  <a:lnTo>
                    <a:pt x="0" y="0"/>
                  </a:lnTo>
                  <a:lnTo>
                    <a:pt x="0" y="430349"/>
                  </a:lnTo>
                  <a:lnTo>
                    <a:pt x="864854" y="430349"/>
                  </a:lnTo>
                  <a:lnTo>
                    <a:pt x="864854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915547" y="3459424"/>
              <a:ext cx="864869" cy="430530"/>
            </a:xfrm>
            <a:custGeom>
              <a:avLst/>
              <a:gdLst/>
              <a:ahLst/>
              <a:cxnLst/>
              <a:rect l="l" t="t" r="r" b="b"/>
              <a:pathLst>
                <a:path w="864869" h="430529">
                  <a:moveTo>
                    <a:pt x="0" y="0"/>
                  </a:moveTo>
                  <a:lnTo>
                    <a:pt x="864853" y="0"/>
                  </a:lnTo>
                  <a:lnTo>
                    <a:pt x="864853" y="430350"/>
                  </a:lnTo>
                  <a:lnTo>
                    <a:pt x="0" y="430350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83358" y="3081618"/>
            <a:ext cx="481853" cy="311171"/>
          </a:xfrm>
          <a:prstGeom prst="rect">
            <a:avLst/>
          </a:prstGeom>
        </p:spPr>
        <p:txBody>
          <a:bodyPr vert="horz" wrap="square" lIns="0" tIns="3362" rIns="0" bIns="0" rtlCol="0">
            <a:spAutoFit/>
          </a:bodyPr>
          <a:lstStyle/>
          <a:p>
            <a:pPr marL="97495" indent="-98057">
              <a:lnSpc>
                <a:spcPts val="1227"/>
              </a:lnSpc>
              <a:spcBef>
                <a:spcPts val="26"/>
              </a:spcBef>
              <a:tabLst>
                <a:tab pos="315462" algn="l"/>
              </a:tabLst>
            </a:pP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35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ll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t 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86608" y="3120048"/>
            <a:ext cx="530038" cy="381000"/>
            <a:chOff x="2892422" y="3536054"/>
            <a:chExt cx="600710" cy="431800"/>
          </a:xfrm>
        </p:grpSpPr>
        <p:sp>
          <p:nvSpPr>
            <p:cNvPr id="12" name="object 12"/>
            <p:cNvSpPr/>
            <p:nvPr/>
          </p:nvSpPr>
          <p:spPr>
            <a:xfrm>
              <a:off x="2901947" y="3545579"/>
              <a:ext cx="581660" cy="412750"/>
            </a:xfrm>
            <a:custGeom>
              <a:avLst/>
              <a:gdLst/>
              <a:ahLst/>
              <a:cxnLst/>
              <a:rect l="l" t="t" r="r" b="b"/>
              <a:pathLst>
                <a:path w="581660" h="412750">
                  <a:moveTo>
                    <a:pt x="581215" y="0"/>
                  </a:moveTo>
                  <a:lnTo>
                    <a:pt x="0" y="0"/>
                  </a:lnTo>
                  <a:lnTo>
                    <a:pt x="0" y="412549"/>
                  </a:lnTo>
                  <a:lnTo>
                    <a:pt x="581215" y="412549"/>
                  </a:lnTo>
                  <a:lnTo>
                    <a:pt x="581215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2901947" y="3545579"/>
              <a:ext cx="581660" cy="412750"/>
            </a:xfrm>
            <a:custGeom>
              <a:avLst/>
              <a:gdLst/>
              <a:ahLst/>
              <a:cxnLst/>
              <a:rect l="l" t="t" r="r" b="b"/>
              <a:pathLst>
                <a:path w="581660" h="412750">
                  <a:moveTo>
                    <a:pt x="0" y="0"/>
                  </a:moveTo>
                  <a:lnTo>
                    <a:pt x="581215" y="0"/>
                  </a:lnTo>
                  <a:lnTo>
                    <a:pt x="581215" y="412550"/>
                  </a:lnTo>
                  <a:lnTo>
                    <a:pt x="0" y="412550"/>
                  </a:lnTo>
                  <a:lnTo>
                    <a:pt x="0" y="0"/>
                  </a:lnTo>
                  <a:close/>
                </a:path>
              </a:pathLst>
            </a:custGeom>
            <a:ln w="18853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41009" y="3139273"/>
            <a:ext cx="220756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35" dirty="0">
                <a:solidFill>
                  <a:srgbClr val="2B2728"/>
                </a:solidFill>
                <a:latin typeface="Calibri"/>
                <a:cs typeface="Calibri"/>
              </a:rPr>
              <a:t>F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ai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97127" y="3295259"/>
            <a:ext cx="309282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229173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86690" y="2169828"/>
            <a:ext cx="743509" cy="340659"/>
          </a:xfrm>
          <a:custGeom>
            <a:avLst/>
            <a:gdLst/>
            <a:ahLst/>
            <a:cxnLst/>
            <a:rect l="l" t="t" r="r" b="b"/>
            <a:pathLst>
              <a:path w="842645" h="386080">
                <a:moveTo>
                  <a:pt x="842347" y="0"/>
                </a:moveTo>
                <a:lnTo>
                  <a:pt x="0" y="0"/>
                </a:lnTo>
                <a:lnTo>
                  <a:pt x="0" y="385456"/>
                </a:lnTo>
                <a:lnTo>
                  <a:pt x="842347" y="385456"/>
                </a:lnTo>
                <a:lnTo>
                  <a:pt x="842347" y="0"/>
                </a:lnTo>
                <a:close/>
              </a:path>
            </a:pathLst>
          </a:custGeom>
          <a:solidFill>
            <a:srgbClr val="C8EBF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 txBox="1"/>
          <p:nvPr/>
        </p:nvSpPr>
        <p:spPr>
          <a:xfrm>
            <a:off x="4586690" y="2169829"/>
            <a:ext cx="743509" cy="349655"/>
          </a:xfrm>
          <a:prstGeom prst="rect">
            <a:avLst/>
          </a:prstGeom>
          <a:ln w="18857">
            <a:solidFill>
              <a:srgbClr val="0D6993"/>
            </a:solidFill>
          </a:ln>
        </p:spPr>
        <p:txBody>
          <a:bodyPr vert="horz" wrap="square" lIns="0" tIns="21851" rIns="0" bIns="0" rtlCol="0">
            <a:spAutoFit/>
          </a:bodyPr>
          <a:lstStyle/>
          <a:p>
            <a:pPr marL="194992" marR="188269" indent="47628">
              <a:lnSpc>
                <a:spcPts val="1253"/>
              </a:lnSpc>
              <a:spcBef>
                <a:spcPts val="172"/>
              </a:spcBef>
              <a:tabLst>
                <a:tab pos="412959" algn="l"/>
              </a:tabLst>
            </a:pP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poor 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4	</a:t>
            </a:r>
            <a:r>
              <a:rPr sz="1059" spc="-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2145" y="2210546"/>
            <a:ext cx="909918" cy="4353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8"/>
              </a:lnSpc>
            </a:pPr>
            <a:r>
              <a:rPr sz="1412" b="1" spc="9" dirty="0">
                <a:solidFill>
                  <a:srgbClr val="2B2728"/>
                </a:solidFill>
                <a:latin typeface="Calibri"/>
                <a:cs typeface="Calibri"/>
              </a:rPr>
              <a:t>Loan</a:t>
            </a:r>
            <a:r>
              <a:rPr sz="1412" b="1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b="1" dirty="0">
                <a:solidFill>
                  <a:srgbClr val="2B2728"/>
                </a:solidFill>
                <a:latin typeface="Calibri"/>
                <a:cs typeface="Calibri"/>
              </a:rPr>
              <a:t>status:</a:t>
            </a:r>
            <a:endParaRPr sz="1412">
              <a:latin typeface="Calibri"/>
              <a:cs typeface="Calibri"/>
            </a:endParaRPr>
          </a:p>
          <a:p>
            <a:pPr>
              <a:spcBef>
                <a:spcPts val="84"/>
              </a:spcBef>
            </a:pPr>
            <a:r>
              <a:rPr sz="1412" spc="-4" dirty="0">
                <a:solidFill>
                  <a:srgbClr val="648E04"/>
                </a:solidFill>
                <a:latin typeface="Calibri"/>
                <a:cs typeface="Calibri"/>
              </a:rPr>
              <a:t>Safe </a:t>
            </a:r>
            <a:r>
              <a:rPr sz="1412" spc="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412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315455" y="2011636"/>
            <a:ext cx="3651437" cy="1125631"/>
            <a:chOff x="1338449" y="2279854"/>
            <a:chExt cx="4138295" cy="127571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9017" y="2858612"/>
              <a:ext cx="87448" cy="17915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347974" y="3218789"/>
              <a:ext cx="1010919" cy="240665"/>
            </a:xfrm>
            <a:custGeom>
              <a:avLst/>
              <a:gdLst/>
              <a:ahLst/>
              <a:cxnLst/>
              <a:rect l="l" t="t" r="r" b="b"/>
              <a:pathLst>
                <a:path w="1010919" h="240664">
                  <a:moveTo>
                    <a:pt x="1010884" y="0"/>
                  </a:moveTo>
                  <a:lnTo>
                    <a:pt x="0" y="0"/>
                  </a:lnTo>
                  <a:lnTo>
                    <a:pt x="0" y="240633"/>
                  </a:lnTo>
                </a:path>
              </a:pathLst>
            </a:custGeom>
            <a:ln w="18860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3192554" y="3399859"/>
              <a:ext cx="635" cy="146050"/>
            </a:xfrm>
            <a:custGeom>
              <a:avLst/>
              <a:gdLst/>
              <a:ahLst/>
              <a:cxnLst/>
              <a:rect l="l" t="t" r="r" b="b"/>
              <a:pathLst>
                <a:path w="635" h="146050">
                  <a:moveTo>
                    <a:pt x="160" y="-9419"/>
                  </a:moveTo>
                  <a:lnTo>
                    <a:pt x="160" y="155138"/>
                  </a:lnTo>
                </a:path>
              </a:pathLst>
            </a:custGeom>
            <a:ln w="19158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026891" y="2289379"/>
              <a:ext cx="1440180" cy="929640"/>
            </a:xfrm>
            <a:custGeom>
              <a:avLst/>
              <a:gdLst/>
              <a:ahLst/>
              <a:cxnLst/>
              <a:rect l="l" t="t" r="r" b="b"/>
              <a:pathLst>
                <a:path w="1440179" h="929639">
                  <a:moveTo>
                    <a:pt x="0" y="929410"/>
                  </a:moveTo>
                  <a:lnTo>
                    <a:pt x="509474" y="929410"/>
                  </a:lnTo>
                  <a:lnTo>
                    <a:pt x="509474" y="0"/>
                  </a:lnTo>
                  <a:lnTo>
                    <a:pt x="1440131" y="0"/>
                  </a:lnTo>
                  <a:lnTo>
                    <a:pt x="1440131" y="169759"/>
                  </a:lnTo>
                </a:path>
              </a:pathLst>
            </a:custGeom>
            <a:ln w="18854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2358859" y="3037720"/>
              <a:ext cx="1668145" cy="362585"/>
            </a:xfrm>
            <a:custGeom>
              <a:avLst/>
              <a:gdLst/>
              <a:ahLst/>
              <a:cxnLst/>
              <a:rect l="l" t="t" r="r" b="b"/>
              <a:pathLst>
                <a:path w="1668145" h="362585">
                  <a:moveTo>
                    <a:pt x="834015" y="0"/>
                  </a:moveTo>
                  <a:lnTo>
                    <a:pt x="0" y="181068"/>
                  </a:lnTo>
                  <a:lnTo>
                    <a:pt x="834015" y="362139"/>
                  </a:lnTo>
                  <a:lnTo>
                    <a:pt x="1668031" y="181068"/>
                  </a:lnTo>
                  <a:lnTo>
                    <a:pt x="834015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2358859" y="3037720"/>
              <a:ext cx="1668145" cy="362585"/>
            </a:xfrm>
            <a:custGeom>
              <a:avLst/>
              <a:gdLst/>
              <a:ahLst/>
              <a:cxnLst/>
              <a:rect l="l" t="t" r="r" b="b"/>
              <a:pathLst>
                <a:path w="1668145" h="362585">
                  <a:moveTo>
                    <a:pt x="0" y="181069"/>
                  </a:moveTo>
                  <a:lnTo>
                    <a:pt x="834016" y="0"/>
                  </a:lnTo>
                  <a:lnTo>
                    <a:pt x="1668032" y="181069"/>
                  </a:lnTo>
                  <a:lnTo>
                    <a:pt x="834016" y="362139"/>
                  </a:lnTo>
                  <a:lnTo>
                    <a:pt x="0" y="181069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746591" y="2741240"/>
            <a:ext cx="411256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di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12299" y="3432074"/>
            <a:ext cx="627529" cy="547407"/>
            <a:chOff x="994872" y="3889683"/>
            <a:chExt cx="711200" cy="620395"/>
          </a:xfrm>
        </p:grpSpPr>
        <p:sp>
          <p:nvSpPr>
            <p:cNvPr id="28" name="object 28"/>
            <p:cNvSpPr/>
            <p:nvPr/>
          </p:nvSpPr>
          <p:spPr>
            <a:xfrm>
              <a:off x="1305999" y="3889683"/>
              <a:ext cx="87630" cy="257175"/>
            </a:xfrm>
            <a:custGeom>
              <a:avLst/>
              <a:gdLst/>
              <a:ahLst/>
              <a:cxnLst/>
              <a:rect l="l" t="t" r="r" b="b"/>
              <a:pathLst>
                <a:path w="87630" h="257175">
                  <a:moveTo>
                    <a:pt x="10398" y="171203"/>
                  </a:moveTo>
                  <a:lnTo>
                    <a:pt x="1463" y="176538"/>
                  </a:lnTo>
                  <a:lnTo>
                    <a:pt x="0" y="182327"/>
                  </a:lnTo>
                  <a:lnTo>
                    <a:pt x="44443" y="256952"/>
                  </a:lnTo>
                  <a:lnTo>
                    <a:pt x="55056" y="238326"/>
                  </a:lnTo>
                  <a:lnTo>
                    <a:pt x="34844" y="238326"/>
                  </a:lnTo>
                  <a:lnTo>
                    <a:pt x="34509" y="203444"/>
                  </a:lnTo>
                  <a:lnTo>
                    <a:pt x="16179" y="172667"/>
                  </a:lnTo>
                  <a:lnTo>
                    <a:pt x="10398" y="171203"/>
                  </a:lnTo>
                  <a:close/>
                </a:path>
                <a:path w="87630" h="257175">
                  <a:moveTo>
                    <a:pt x="34509" y="203444"/>
                  </a:moveTo>
                  <a:lnTo>
                    <a:pt x="34844" y="238326"/>
                  </a:lnTo>
                  <a:lnTo>
                    <a:pt x="53682" y="238145"/>
                  </a:lnTo>
                  <a:lnTo>
                    <a:pt x="53638" y="233563"/>
                  </a:lnTo>
                  <a:lnTo>
                    <a:pt x="36081" y="233563"/>
                  </a:lnTo>
                  <a:lnTo>
                    <a:pt x="44083" y="219520"/>
                  </a:lnTo>
                  <a:lnTo>
                    <a:pt x="34509" y="203444"/>
                  </a:lnTo>
                  <a:close/>
                </a:path>
                <a:path w="87630" h="257175">
                  <a:moveTo>
                    <a:pt x="76835" y="170563"/>
                  </a:moveTo>
                  <a:lnTo>
                    <a:pt x="71081" y="172138"/>
                  </a:lnTo>
                  <a:lnTo>
                    <a:pt x="53347" y="203261"/>
                  </a:lnTo>
                  <a:lnTo>
                    <a:pt x="53682" y="238145"/>
                  </a:lnTo>
                  <a:lnTo>
                    <a:pt x="34844" y="238326"/>
                  </a:lnTo>
                  <a:lnTo>
                    <a:pt x="55056" y="238326"/>
                  </a:lnTo>
                  <a:lnTo>
                    <a:pt x="87444" y="181485"/>
                  </a:lnTo>
                  <a:lnTo>
                    <a:pt x="85871" y="175726"/>
                  </a:lnTo>
                  <a:lnTo>
                    <a:pt x="76835" y="170563"/>
                  </a:lnTo>
                  <a:close/>
                </a:path>
                <a:path w="87630" h="257175">
                  <a:moveTo>
                    <a:pt x="44083" y="219520"/>
                  </a:moveTo>
                  <a:lnTo>
                    <a:pt x="36081" y="233563"/>
                  </a:lnTo>
                  <a:lnTo>
                    <a:pt x="52354" y="233406"/>
                  </a:lnTo>
                  <a:lnTo>
                    <a:pt x="44083" y="219520"/>
                  </a:lnTo>
                  <a:close/>
                </a:path>
                <a:path w="87630" h="257175">
                  <a:moveTo>
                    <a:pt x="53347" y="203261"/>
                  </a:moveTo>
                  <a:lnTo>
                    <a:pt x="44083" y="219520"/>
                  </a:lnTo>
                  <a:lnTo>
                    <a:pt x="52354" y="233406"/>
                  </a:lnTo>
                  <a:lnTo>
                    <a:pt x="36081" y="233563"/>
                  </a:lnTo>
                  <a:lnTo>
                    <a:pt x="53638" y="233563"/>
                  </a:lnTo>
                  <a:lnTo>
                    <a:pt x="53347" y="203261"/>
                  </a:lnTo>
                  <a:close/>
                </a:path>
                <a:path w="87630" h="257175">
                  <a:moveTo>
                    <a:pt x="51394" y="0"/>
                  </a:moveTo>
                  <a:lnTo>
                    <a:pt x="32556" y="181"/>
                  </a:lnTo>
                  <a:lnTo>
                    <a:pt x="34509" y="203444"/>
                  </a:lnTo>
                  <a:lnTo>
                    <a:pt x="44083" y="219520"/>
                  </a:lnTo>
                  <a:lnTo>
                    <a:pt x="53347" y="203261"/>
                  </a:lnTo>
                  <a:lnTo>
                    <a:pt x="51394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1004397" y="4146593"/>
              <a:ext cx="692150" cy="353695"/>
            </a:xfrm>
            <a:custGeom>
              <a:avLst/>
              <a:gdLst/>
              <a:ahLst/>
              <a:cxnLst/>
              <a:rect l="l" t="t" r="r" b="b"/>
              <a:pathLst>
                <a:path w="692150" h="353695">
                  <a:moveTo>
                    <a:pt x="515547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3"/>
                  </a:lnTo>
                  <a:lnTo>
                    <a:pt x="87438" y="329392"/>
                  </a:lnTo>
                  <a:lnTo>
                    <a:pt x="129610" y="347211"/>
                  </a:lnTo>
                  <a:lnTo>
                    <a:pt x="176542" y="353526"/>
                  </a:lnTo>
                  <a:lnTo>
                    <a:pt x="515547" y="353526"/>
                  </a:lnTo>
                  <a:lnTo>
                    <a:pt x="562479" y="347211"/>
                  </a:lnTo>
                  <a:lnTo>
                    <a:pt x="604652" y="329392"/>
                  </a:lnTo>
                  <a:lnTo>
                    <a:pt x="640382" y="301753"/>
                  </a:lnTo>
                  <a:lnTo>
                    <a:pt x="667987" y="265979"/>
                  </a:lnTo>
                  <a:lnTo>
                    <a:pt x="685785" y="223754"/>
                  </a:lnTo>
                  <a:lnTo>
                    <a:pt x="692091" y="176763"/>
                  </a:lnTo>
                  <a:lnTo>
                    <a:pt x="685785" y="129772"/>
                  </a:lnTo>
                  <a:lnTo>
                    <a:pt x="667987" y="87547"/>
                  </a:lnTo>
                  <a:lnTo>
                    <a:pt x="640382" y="51772"/>
                  </a:lnTo>
                  <a:lnTo>
                    <a:pt x="604652" y="24133"/>
                  </a:lnTo>
                  <a:lnTo>
                    <a:pt x="562479" y="6314"/>
                  </a:lnTo>
                  <a:lnTo>
                    <a:pt x="515547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1004397" y="4146593"/>
              <a:ext cx="692150" cy="353695"/>
            </a:xfrm>
            <a:custGeom>
              <a:avLst/>
              <a:gdLst/>
              <a:ahLst/>
              <a:cxnLst/>
              <a:rect l="l" t="t" r="r" b="b"/>
              <a:pathLst>
                <a:path w="692150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515547" y="0"/>
                  </a:lnTo>
                  <a:lnTo>
                    <a:pt x="562479" y="6314"/>
                  </a:lnTo>
                  <a:lnTo>
                    <a:pt x="604652" y="24133"/>
                  </a:lnTo>
                  <a:lnTo>
                    <a:pt x="640382" y="51772"/>
                  </a:lnTo>
                  <a:lnTo>
                    <a:pt x="667987" y="87547"/>
                  </a:lnTo>
                  <a:lnTo>
                    <a:pt x="685784" y="129772"/>
                  </a:lnTo>
                  <a:lnTo>
                    <a:pt x="692090" y="176763"/>
                  </a:lnTo>
                  <a:lnTo>
                    <a:pt x="685784" y="223754"/>
                  </a:lnTo>
                  <a:lnTo>
                    <a:pt x="667987" y="265979"/>
                  </a:lnTo>
                  <a:lnTo>
                    <a:pt x="640382" y="301753"/>
                  </a:lnTo>
                  <a:lnTo>
                    <a:pt x="604652" y="329393"/>
                  </a:lnTo>
                  <a:lnTo>
                    <a:pt x="562479" y="347212"/>
                  </a:lnTo>
                  <a:lnTo>
                    <a:pt x="515547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648E0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201054" y="3717496"/>
            <a:ext cx="250451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059" spc="-1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9" spc="-3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075889" y="4127427"/>
            <a:ext cx="582706" cy="366432"/>
            <a:chOff x="3333608" y="4677750"/>
            <a:chExt cx="660400" cy="415290"/>
          </a:xfrm>
        </p:grpSpPr>
        <p:sp>
          <p:nvSpPr>
            <p:cNvPr id="33" name="object 33"/>
            <p:cNvSpPr/>
            <p:nvPr/>
          </p:nvSpPr>
          <p:spPr>
            <a:xfrm>
              <a:off x="3343133" y="4687275"/>
              <a:ext cx="641350" cy="396240"/>
            </a:xfrm>
            <a:custGeom>
              <a:avLst/>
              <a:gdLst/>
              <a:ahLst/>
              <a:cxnLst/>
              <a:rect l="l" t="t" r="r" b="b"/>
              <a:pathLst>
                <a:path w="641350" h="396239">
                  <a:moveTo>
                    <a:pt x="640829" y="0"/>
                  </a:moveTo>
                  <a:lnTo>
                    <a:pt x="0" y="0"/>
                  </a:lnTo>
                  <a:lnTo>
                    <a:pt x="0" y="396029"/>
                  </a:lnTo>
                  <a:lnTo>
                    <a:pt x="640829" y="396029"/>
                  </a:lnTo>
                  <a:lnTo>
                    <a:pt x="640829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3343133" y="4687275"/>
              <a:ext cx="641350" cy="396240"/>
            </a:xfrm>
            <a:custGeom>
              <a:avLst/>
              <a:gdLst/>
              <a:ahLst/>
              <a:cxnLst/>
              <a:rect l="l" t="t" r="r" b="b"/>
              <a:pathLst>
                <a:path w="641350" h="396239">
                  <a:moveTo>
                    <a:pt x="0" y="0"/>
                  </a:moveTo>
                  <a:lnTo>
                    <a:pt x="640828" y="0"/>
                  </a:lnTo>
                  <a:lnTo>
                    <a:pt x="640828" y="396029"/>
                  </a:lnTo>
                  <a:lnTo>
                    <a:pt x="0" y="396029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175734" y="4165450"/>
            <a:ext cx="383241" cy="468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9"/>
              </a:lnSpc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y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a</a:t>
            </a: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s</a:t>
            </a:r>
            <a:endParaRPr sz="1059">
              <a:latin typeface="Calibri"/>
              <a:cs typeface="Calibri"/>
            </a:endParaRPr>
          </a:p>
          <a:p>
            <a:pPr marL="48188">
              <a:lnSpc>
                <a:spcPts val="1262"/>
              </a:lnSpc>
              <a:tabLst>
                <a:tab pos="266154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207413" y="4139146"/>
            <a:ext cx="583826" cy="361949"/>
            <a:chOff x="2349334" y="4691031"/>
            <a:chExt cx="661670" cy="410209"/>
          </a:xfrm>
        </p:grpSpPr>
        <p:sp>
          <p:nvSpPr>
            <p:cNvPr id="37" name="object 37"/>
            <p:cNvSpPr/>
            <p:nvPr/>
          </p:nvSpPr>
          <p:spPr>
            <a:xfrm>
              <a:off x="2358859" y="4700556"/>
              <a:ext cx="642620" cy="391160"/>
            </a:xfrm>
            <a:custGeom>
              <a:avLst/>
              <a:gdLst/>
              <a:ahLst/>
              <a:cxnLst/>
              <a:rect l="l" t="t" r="r" b="b"/>
              <a:pathLst>
                <a:path w="642619" h="391160">
                  <a:moveTo>
                    <a:pt x="642614" y="0"/>
                  </a:moveTo>
                  <a:lnTo>
                    <a:pt x="0" y="0"/>
                  </a:lnTo>
                  <a:lnTo>
                    <a:pt x="0" y="390824"/>
                  </a:lnTo>
                  <a:lnTo>
                    <a:pt x="642614" y="390824"/>
                  </a:lnTo>
                  <a:lnTo>
                    <a:pt x="642614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2358859" y="4700556"/>
              <a:ext cx="642620" cy="391160"/>
            </a:xfrm>
            <a:custGeom>
              <a:avLst/>
              <a:gdLst/>
              <a:ahLst/>
              <a:cxnLst/>
              <a:rect l="l" t="t" r="r" b="b"/>
              <a:pathLst>
                <a:path w="642619" h="391160">
                  <a:moveTo>
                    <a:pt x="0" y="0"/>
                  </a:moveTo>
                  <a:lnTo>
                    <a:pt x="642614" y="0"/>
                  </a:lnTo>
                  <a:lnTo>
                    <a:pt x="642614" y="390824"/>
                  </a:lnTo>
                  <a:lnTo>
                    <a:pt x="0" y="390824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308045" y="4178898"/>
            <a:ext cx="383241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y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a</a:t>
            </a: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s</a:t>
            </a:r>
            <a:endParaRPr sz="1059">
              <a:latin typeface="Calibri"/>
              <a:cs typeface="Calibri"/>
            </a:endParaRPr>
          </a:p>
          <a:p>
            <a:pPr marL="48188">
              <a:lnSpc>
                <a:spcPts val="1249"/>
              </a:lnSpc>
              <a:tabLst>
                <a:tab pos="266154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396269" y="3646555"/>
            <a:ext cx="1100418" cy="336737"/>
            <a:chOff x="2563372" y="4132762"/>
            <a:chExt cx="1247140" cy="381635"/>
          </a:xfrm>
        </p:grpSpPr>
        <p:sp>
          <p:nvSpPr>
            <p:cNvPr id="41" name="object 41"/>
            <p:cNvSpPr/>
            <p:nvPr/>
          </p:nvSpPr>
          <p:spPr>
            <a:xfrm>
              <a:off x="2572897" y="4142287"/>
              <a:ext cx="1228090" cy="362585"/>
            </a:xfrm>
            <a:custGeom>
              <a:avLst/>
              <a:gdLst/>
              <a:ahLst/>
              <a:cxnLst/>
              <a:rect l="l" t="t" r="r" b="b"/>
              <a:pathLst>
                <a:path w="1228089" h="362585">
                  <a:moveTo>
                    <a:pt x="613905" y="0"/>
                  </a:moveTo>
                  <a:lnTo>
                    <a:pt x="0" y="181068"/>
                  </a:lnTo>
                  <a:lnTo>
                    <a:pt x="613905" y="362139"/>
                  </a:lnTo>
                  <a:lnTo>
                    <a:pt x="1227811" y="181068"/>
                  </a:lnTo>
                  <a:lnTo>
                    <a:pt x="613905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2572897" y="4142287"/>
              <a:ext cx="1228090" cy="362585"/>
            </a:xfrm>
            <a:custGeom>
              <a:avLst/>
              <a:gdLst/>
              <a:ahLst/>
              <a:cxnLst/>
              <a:rect l="l" t="t" r="r" b="b"/>
              <a:pathLst>
                <a:path w="1228089" h="362585">
                  <a:moveTo>
                    <a:pt x="0" y="181069"/>
                  </a:moveTo>
                  <a:lnTo>
                    <a:pt x="613906" y="0"/>
                  </a:lnTo>
                  <a:lnTo>
                    <a:pt x="1227812" y="181069"/>
                  </a:lnTo>
                  <a:lnTo>
                    <a:pt x="613906" y="362139"/>
                  </a:lnTo>
                  <a:lnTo>
                    <a:pt x="0" y="181069"/>
                  </a:lnTo>
                  <a:close/>
                </a:path>
              </a:pathLst>
            </a:custGeom>
            <a:ln w="18859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768597" y="3717496"/>
            <a:ext cx="356907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106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er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204930" y="2509937"/>
            <a:ext cx="2792506" cy="2568388"/>
            <a:chOff x="2346521" y="2844595"/>
            <a:chExt cx="3164840" cy="2910840"/>
          </a:xfrm>
        </p:grpSpPr>
        <p:sp>
          <p:nvSpPr>
            <p:cNvPr id="45" name="object 45"/>
            <p:cNvSpPr/>
            <p:nvPr/>
          </p:nvSpPr>
          <p:spPr>
            <a:xfrm>
              <a:off x="3186804" y="4504427"/>
              <a:ext cx="506730" cy="196215"/>
            </a:xfrm>
            <a:custGeom>
              <a:avLst/>
              <a:gdLst/>
              <a:ahLst/>
              <a:cxnLst/>
              <a:rect l="l" t="t" r="r" b="b"/>
              <a:pathLst>
                <a:path w="506729" h="196214">
                  <a:moveTo>
                    <a:pt x="0" y="0"/>
                  </a:moveTo>
                  <a:lnTo>
                    <a:pt x="476744" y="182849"/>
                  </a:lnTo>
                </a:path>
                <a:path w="506729" h="196214">
                  <a:moveTo>
                    <a:pt x="0" y="0"/>
                  </a:moveTo>
                  <a:lnTo>
                    <a:pt x="506636" y="196130"/>
                  </a:lnTo>
                </a:path>
              </a:pathLst>
            </a:custGeom>
            <a:ln w="18850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5442" y="3957834"/>
              <a:ext cx="87406" cy="18449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633510" y="2844596"/>
              <a:ext cx="2877820" cy="2547620"/>
            </a:xfrm>
            <a:custGeom>
              <a:avLst/>
              <a:gdLst/>
              <a:ahLst/>
              <a:cxnLst/>
              <a:rect l="l" t="t" r="r" b="b"/>
              <a:pathLst>
                <a:path w="2877820" h="2547620">
                  <a:moveTo>
                    <a:pt x="87439" y="2473007"/>
                  </a:moveTo>
                  <a:lnTo>
                    <a:pt x="85991" y="2467216"/>
                  </a:lnTo>
                  <a:lnTo>
                    <a:pt x="77076" y="2461857"/>
                  </a:lnTo>
                  <a:lnTo>
                    <a:pt x="71297" y="2463292"/>
                  </a:lnTo>
                  <a:lnTo>
                    <a:pt x="52857" y="2494013"/>
                  </a:lnTo>
                  <a:lnTo>
                    <a:pt x="56070" y="2246909"/>
                  </a:lnTo>
                  <a:lnTo>
                    <a:pt x="37236" y="2246668"/>
                  </a:lnTo>
                  <a:lnTo>
                    <a:pt x="34023" y="2493772"/>
                  </a:lnTo>
                  <a:lnTo>
                    <a:pt x="16395" y="2462580"/>
                  </a:lnTo>
                  <a:lnTo>
                    <a:pt x="10642" y="2460993"/>
                  </a:lnTo>
                  <a:lnTo>
                    <a:pt x="1587" y="2466124"/>
                  </a:lnTo>
                  <a:lnTo>
                    <a:pt x="0" y="2471877"/>
                  </a:lnTo>
                  <a:lnTo>
                    <a:pt x="42748" y="2547480"/>
                  </a:lnTo>
                  <a:lnTo>
                    <a:pt x="53898" y="2528887"/>
                  </a:lnTo>
                  <a:lnTo>
                    <a:pt x="87439" y="2473007"/>
                  </a:lnTo>
                  <a:close/>
                </a:path>
                <a:path w="2877820" h="2547620">
                  <a:moveTo>
                    <a:pt x="2877235" y="180251"/>
                  </a:moveTo>
                  <a:lnTo>
                    <a:pt x="2875711" y="174472"/>
                  </a:lnTo>
                  <a:lnTo>
                    <a:pt x="2866720" y="169227"/>
                  </a:lnTo>
                  <a:lnTo>
                    <a:pt x="2860954" y="170738"/>
                  </a:lnTo>
                  <a:lnTo>
                    <a:pt x="2842920" y="201688"/>
                  </a:lnTo>
                  <a:lnTo>
                    <a:pt x="2842920" y="0"/>
                  </a:lnTo>
                  <a:lnTo>
                    <a:pt x="2824086" y="0"/>
                  </a:lnTo>
                  <a:lnTo>
                    <a:pt x="2824086" y="201688"/>
                  </a:lnTo>
                  <a:lnTo>
                    <a:pt x="2806052" y="170738"/>
                  </a:lnTo>
                  <a:lnTo>
                    <a:pt x="2800286" y="169227"/>
                  </a:lnTo>
                  <a:lnTo>
                    <a:pt x="2791295" y="174472"/>
                  </a:lnTo>
                  <a:lnTo>
                    <a:pt x="2789783" y="180251"/>
                  </a:lnTo>
                  <a:lnTo>
                    <a:pt x="2833509" y="255295"/>
                  </a:lnTo>
                  <a:lnTo>
                    <a:pt x="2844406" y="236575"/>
                  </a:lnTo>
                  <a:lnTo>
                    <a:pt x="2877235" y="180251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2356046" y="5392033"/>
              <a:ext cx="640715" cy="353695"/>
            </a:xfrm>
            <a:custGeom>
              <a:avLst/>
              <a:gdLst/>
              <a:ahLst/>
              <a:cxnLst/>
              <a:rect l="l" t="t" r="r" b="b"/>
              <a:pathLst>
                <a:path w="640714" h="353695">
                  <a:moveTo>
                    <a:pt x="463884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3"/>
                  </a:lnTo>
                  <a:lnTo>
                    <a:pt x="87438" y="329392"/>
                  </a:lnTo>
                  <a:lnTo>
                    <a:pt x="129610" y="347211"/>
                  </a:lnTo>
                  <a:lnTo>
                    <a:pt x="176542" y="353526"/>
                  </a:lnTo>
                  <a:lnTo>
                    <a:pt x="463884" y="353526"/>
                  </a:lnTo>
                  <a:lnTo>
                    <a:pt x="510816" y="347211"/>
                  </a:lnTo>
                  <a:lnTo>
                    <a:pt x="552988" y="329392"/>
                  </a:lnTo>
                  <a:lnTo>
                    <a:pt x="588718" y="301753"/>
                  </a:lnTo>
                  <a:lnTo>
                    <a:pt x="616323" y="265979"/>
                  </a:lnTo>
                  <a:lnTo>
                    <a:pt x="634120" y="223754"/>
                  </a:lnTo>
                  <a:lnTo>
                    <a:pt x="640426" y="176763"/>
                  </a:lnTo>
                  <a:lnTo>
                    <a:pt x="634120" y="129772"/>
                  </a:lnTo>
                  <a:lnTo>
                    <a:pt x="616323" y="87547"/>
                  </a:lnTo>
                  <a:lnTo>
                    <a:pt x="588718" y="51772"/>
                  </a:lnTo>
                  <a:lnTo>
                    <a:pt x="552988" y="24133"/>
                  </a:lnTo>
                  <a:lnTo>
                    <a:pt x="510816" y="6314"/>
                  </a:lnTo>
                  <a:lnTo>
                    <a:pt x="463884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2356046" y="5392033"/>
              <a:ext cx="640715" cy="353695"/>
            </a:xfrm>
            <a:custGeom>
              <a:avLst/>
              <a:gdLst/>
              <a:ahLst/>
              <a:cxnLst/>
              <a:rect l="l" t="t" r="r" b="b"/>
              <a:pathLst>
                <a:path w="640714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463884" y="0"/>
                  </a:lnTo>
                  <a:lnTo>
                    <a:pt x="510816" y="6314"/>
                  </a:lnTo>
                  <a:lnTo>
                    <a:pt x="552989" y="24133"/>
                  </a:lnTo>
                  <a:lnTo>
                    <a:pt x="588719" y="51772"/>
                  </a:lnTo>
                  <a:lnTo>
                    <a:pt x="616324" y="87547"/>
                  </a:lnTo>
                  <a:lnTo>
                    <a:pt x="634121" y="129772"/>
                  </a:lnTo>
                  <a:lnTo>
                    <a:pt x="640427" y="176763"/>
                  </a:lnTo>
                  <a:lnTo>
                    <a:pt x="634121" y="223754"/>
                  </a:lnTo>
                  <a:lnTo>
                    <a:pt x="616324" y="265979"/>
                  </a:lnTo>
                  <a:lnTo>
                    <a:pt x="588719" y="301753"/>
                  </a:lnTo>
                  <a:lnTo>
                    <a:pt x="552989" y="329393"/>
                  </a:lnTo>
                  <a:lnTo>
                    <a:pt x="510816" y="347212"/>
                  </a:lnTo>
                  <a:lnTo>
                    <a:pt x="463884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B93C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347019" y="4817466"/>
            <a:ext cx="298637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059" spc="-9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071733" y="4751288"/>
            <a:ext cx="584947" cy="328893"/>
            <a:chOff x="3328897" y="5384793"/>
            <a:chExt cx="662940" cy="372745"/>
          </a:xfrm>
        </p:grpSpPr>
        <p:sp>
          <p:nvSpPr>
            <p:cNvPr id="52" name="object 52"/>
            <p:cNvSpPr/>
            <p:nvPr/>
          </p:nvSpPr>
          <p:spPr>
            <a:xfrm>
              <a:off x="3338422" y="5394318"/>
              <a:ext cx="643890" cy="353695"/>
            </a:xfrm>
            <a:custGeom>
              <a:avLst/>
              <a:gdLst/>
              <a:ahLst/>
              <a:cxnLst/>
              <a:rect l="l" t="t" r="r" b="b"/>
              <a:pathLst>
                <a:path w="643889" h="353695">
                  <a:moveTo>
                    <a:pt x="467326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4"/>
                  </a:lnTo>
                  <a:lnTo>
                    <a:pt x="87438" y="329393"/>
                  </a:lnTo>
                  <a:lnTo>
                    <a:pt x="129610" y="347213"/>
                  </a:lnTo>
                  <a:lnTo>
                    <a:pt x="176542" y="353527"/>
                  </a:lnTo>
                  <a:lnTo>
                    <a:pt x="467326" y="353528"/>
                  </a:lnTo>
                  <a:lnTo>
                    <a:pt x="514258" y="347214"/>
                  </a:lnTo>
                  <a:lnTo>
                    <a:pt x="556431" y="329395"/>
                  </a:lnTo>
                  <a:lnTo>
                    <a:pt x="592161" y="301755"/>
                  </a:lnTo>
                  <a:lnTo>
                    <a:pt x="619766" y="265980"/>
                  </a:lnTo>
                  <a:lnTo>
                    <a:pt x="637563" y="223754"/>
                  </a:lnTo>
                  <a:lnTo>
                    <a:pt x="643870" y="176763"/>
                  </a:lnTo>
                  <a:lnTo>
                    <a:pt x="637564" y="129772"/>
                  </a:lnTo>
                  <a:lnTo>
                    <a:pt x="619767" y="87547"/>
                  </a:lnTo>
                  <a:lnTo>
                    <a:pt x="592162" y="51772"/>
                  </a:lnTo>
                  <a:lnTo>
                    <a:pt x="556432" y="24133"/>
                  </a:lnTo>
                  <a:lnTo>
                    <a:pt x="514259" y="6314"/>
                  </a:lnTo>
                  <a:lnTo>
                    <a:pt x="467326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3338422" y="5394318"/>
              <a:ext cx="643890" cy="353695"/>
            </a:xfrm>
            <a:custGeom>
              <a:avLst/>
              <a:gdLst/>
              <a:ahLst/>
              <a:cxnLst/>
              <a:rect l="l" t="t" r="r" b="b"/>
              <a:pathLst>
                <a:path w="643889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3" y="0"/>
                  </a:lnTo>
                  <a:lnTo>
                    <a:pt x="467327" y="0"/>
                  </a:lnTo>
                  <a:lnTo>
                    <a:pt x="514259" y="6314"/>
                  </a:lnTo>
                  <a:lnTo>
                    <a:pt x="556432" y="24133"/>
                  </a:lnTo>
                  <a:lnTo>
                    <a:pt x="592162" y="51772"/>
                  </a:lnTo>
                  <a:lnTo>
                    <a:pt x="619767" y="87547"/>
                  </a:lnTo>
                  <a:lnTo>
                    <a:pt x="637564" y="129772"/>
                  </a:lnTo>
                  <a:lnTo>
                    <a:pt x="643870" y="176763"/>
                  </a:lnTo>
                  <a:lnTo>
                    <a:pt x="637563" y="223754"/>
                  </a:lnTo>
                  <a:lnTo>
                    <a:pt x="619766" y="265979"/>
                  </a:lnTo>
                  <a:lnTo>
                    <a:pt x="592161" y="301754"/>
                  </a:lnTo>
                  <a:lnTo>
                    <a:pt x="556431" y="329394"/>
                  </a:lnTo>
                  <a:lnTo>
                    <a:pt x="514258" y="347213"/>
                  </a:lnTo>
                  <a:lnTo>
                    <a:pt x="467326" y="353527"/>
                  </a:lnTo>
                  <a:lnTo>
                    <a:pt x="176543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3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608A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239214" y="4820155"/>
            <a:ext cx="250451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059" spc="-1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9" spc="-3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326298" y="4485183"/>
            <a:ext cx="77321" cy="274544"/>
          </a:xfrm>
          <a:custGeom>
            <a:avLst/>
            <a:gdLst/>
            <a:ahLst/>
            <a:cxnLst/>
            <a:rect l="l" t="t" r="r" b="b"/>
            <a:pathLst>
              <a:path w="87629" h="311150">
                <a:moveTo>
                  <a:pt x="10617" y="224744"/>
                </a:moveTo>
                <a:lnTo>
                  <a:pt x="1576" y="229900"/>
                </a:lnTo>
                <a:lnTo>
                  <a:pt x="0" y="235659"/>
                </a:lnTo>
                <a:lnTo>
                  <a:pt x="42951" y="311155"/>
                </a:lnTo>
                <a:lnTo>
                  <a:pt x="54056" y="292535"/>
                </a:lnTo>
                <a:lnTo>
                  <a:pt x="52562" y="292535"/>
                </a:lnTo>
                <a:lnTo>
                  <a:pt x="33724" y="292342"/>
                </a:lnTo>
                <a:lnTo>
                  <a:pt x="34082" y="257459"/>
                </a:lnTo>
                <a:lnTo>
                  <a:pt x="16367" y="226324"/>
                </a:lnTo>
                <a:lnTo>
                  <a:pt x="10617" y="224744"/>
                </a:lnTo>
                <a:close/>
              </a:path>
              <a:path w="87629" h="311150">
                <a:moveTo>
                  <a:pt x="34082" y="257459"/>
                </a:moveTo>
                <a:lnTo>
                  <a:pt x="33724" y="292342"/>
                </a:lnTo>
                <a:lnTo>
                  <a:pt x="52562" y="292535"/>
                </a:lnTo>
                <a:lnTo>
                  <a:pt x="52611" y="287770"/>
                </a:lnTo>
                <a:lnTo>
                  <a:pt x="35057" y="287604"/>
                </a:lnTo>
                <a:lnTo>
                  <a:pt x="43336" y="273723"/>
                </a:lnTo>
                <a:lnTo>
                  <a:pt x="34082" y="257459"/>
                </a:lnTo>
                <a:close/>
              </a:path>
              <a:path w="87629" h="311150">
                <a:moveTo>
                  <a:pt x="77052" y="225427"/>
                </a:moveTo>
                <a:lnTo>
                  <a:pt x="71269" y="226888"/>
                </a:lnTo>
                <a:lnTo>
                  <a:pt x="52920" y="257653"/>
                </a:lnTo>
                <a:lnTo>
                  <a:pt x="52562" y="292535"/>
                </a:lnTo>
                <a:lnTo>
                  <a:pt x="54056" y="292535"/>
                </a:lnTo>
                <a:lnTo>
                  <a:pt x="87443" y="236559"/>
                </a:lnTo>
                <a:lnTo>
                  <a:pt x="85985" y="230769"/>
                </a:lnTo>
                <a:lnTo>
                  <a:pt x="77052" y="225427"/>
                </a:lnTo>
                <a:close/>
              </a:path>
              <a:path w="87629" h="311150">
                <a:moveTo>
                  <a:pt x="43336" y="273723"/>
                </a:moveTo>
                <a:lnTo>
                  <a:pt x="35057" y="287604"/>
                </a:lnTo>
                <a:lnTo>
                  <a:pt x="51328" y="287770"/>
                </a:lnTo>
                <a:lnTo>
                  <a:pt x="43336" y="273723"/>
                </a:lnTo>
                <a:close/>
              </a:path>
              <a:path w="87629" h="311150">
                <a:moveTo>
                  <a:pt x="52920" y="257653"/>
                </a:moveTo>
                <a:lnTo>
                  <a:pt x="43336" y="273723"/>
                </a:lnTo>
                <a:lnTo>
                  <a:pt x="51328" y="287770"/>
                </a:lnTo>
                <a:lnTo>
                  <a:pt x="52611" y="287770"/>
                </a:lnTo>
                <a:lnTo>
                  <a:pt x="52920" y="257653"/>
                </a:lnTo>
                <a:close/>
              </a:path>
              <a:path w="87629" h="311150">
                <a:moveTo>
                  <a:pt x="36724" y="0"/>
                </a:moveTo>
                <a:lnTo>
                  <a:pt x="34306" y="235659"/>
                </a:lnTo>
                <a:lnTo>
                  <a:pt x="34192" y="257653"/>
                </a:lnTo>
                <a:lnTo>
                  <a:pt x="43336" y="273723"/>
                </a:lnTo>
                <a:lnTo>
                  <a:pt x="52920" y="257653"/>
                </a:lnTo>
                <a:lnTo>
                  <a:pt x="55562" y="194"/>
                </a:lnTo>
                <a:lnTo>
                  <a:pt x="36724" y="0"/>
                </a:lnTo>
                <a:close/>
              </a:path>
            </a:pathLst>
          </a:custGeom>
          <a:solidFill>
            <a:srgbClr val="5D5555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6" name="object 56"/>
          <p:cNvSpPr txBox="1"/>
          <p:nvPr/>
        </p:nvSpPr>
        <p:spPr>
          <a:xfrm>
            <a:off x="5214620" y="3267187"/>
            <a:ext cx="226359" cy="328156"/>
          </a:xfrm>
          <a:prstGeom prst="rect">
            <a:avLst/>
          </a:prstGeom>
        </p:spPr>
        <p:txBody>
          <a:bodyPr vert="horz" wrap="square" lIns="0" tIns="560" rIns="0" bIns="0" rtlCol="0">
            <a:spAutoFit/>
          </a:bodyPr>
          <a:lstStyle/>
          <a:p>
            <a:pPr indent="14568">
              <a:lnSpc>
                <a:spcPts val="1253"/>
              </a:lnSpc>
              <a:spcBef>
                <a:spcPts val="4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low </a:t>
            </a:r>
            <a:r>
              <a:rPr sz="1059" spc="-22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</a:t>
            </a:r>
            <a:r>
              <a:rPr sz="1059" spc="141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9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226746" y="3234136"/>
            <a:ext cx="598954" cy="361949"/>
            <a:chOff x="4637911" y="3665354"/>
            <a:chExt cx="678815" cy="410209"/>
          </a:xfrm>
        </p:grpSpPr>
        <p:sp>
          <p:nvSpPr>
            <p:cNvPr id="58" name="object 58"/>
            <p:cNvSpPr/>
            <p:nvPr/>
          </p:nvSpPr>
          <p:spPr>
            <a:xfrm>
              <a:off x="4647436" y="3674879"/>
              <a:ext cx="659765" cy="391160"/>
            </a:xfrm>
            <a:custGeom>
              <a:avLst/>
              <a:gdLst/>
              <a:ahLst/>
              <a:cxnLst/>
              <a:rect l="l" t="t" r="r" b="b"/>
              <a:pathLst>
                <a:path w="659764" h="391160">
                  <a:moveTo>
                    <a:pt x="659640" y="0"/>
                  </a:moveTo>
                  <a:lnTo>
                    <a:pt x="0" y="0"/>
                  </a:lnTo>
                  <a:lnTo>
                    <a:pt x="0" y="390824"/>
                  </a:lnTo>
                  <a:lnTo>
                    <a:pt x="659640" y="390824"/>
                  </a:lnTo>
                  <a:lnTo>
                    <a:pt x="659640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9" name="object 59"/>
            <p:cNvSpPr/>
            <p:nvPr/>
          </p:nvSpPr>
          <p:spPr>
            <a:xfrm>
              <a:off x="4647436" y="3674879"/>
              <a:ext cx="659765" cy="391160"/>
            </a:xfrm>
            <a:custGeom>
              <a:avLst/>
              <a:gdLst/>
              <a:ahLst/>
              <a:cxnLst/>
              <a:rect l="l" t="t" r="r" b="b"/>
              <a:pathLst>
                <a:path w="659764" h="391160">
                  <a:moveTo>
                    <a:pt x="0" y="0"/>
                  </a:moveTo>
                  <a:lnTo>
                    <a:pt x="659640" y="0"/>
                  </a:lnTo>
                  <a:lnTo>
                    <a:pt x="659640" y="390824"/>
                  </a:lnTo>
                  <a:lnTo>
                    <a:pt x="0" y="390824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399127" y="3254917"/>
            <a:ext cx="254374" cy="329275"/>
          </a:xfrm>
          <a:prstGeom prst="rect">
            <a:avLst/>
          </a:prstGeom>
        </p:spPr>
        <p:txBody>
          <a:bodyPr vert="horz" wrap="square" lIns="0" tIns="21291" rIns="0" bIns="0" rtlCol="0">
            <a:spAutoFit/>
          </a:bodyPr>
          <a:lstStyle/>
          <a:p>
            <a:pPr marL="14008" marR="4483" indent="-3362">
              <a:lnSpc>
                <a:spcPts val="1227"/>
              </a:lnSpc>
              <a:spcBef>
                <a:spcPts val="168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high 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059" spc="146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5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4146669" y="2726751"/>
            <a:ext cx="1623732" cy="336737"/>
            <a:chOff x="4547158" y="3090317"/>
            <a:chExt cx="1840230" cy="381635"/>
          </a:xfrm>
        </p:grpSpPr>
        <p:sp>
          <p:nvSpPr>
            <p:cNvPr id="62" name="object 62"/>
            <p:cNvSpPr/>
            <p:nvPr/>
          </p:nvSpPr>
          <p:spPr>
            <a:xfrm>
              <a:off x="4556683" y="3099842"/>
              <a:ext cx="1821180" cy="362585"/>
            </a:xfrm>
            <a:custGeom>
              <a:avLst/>
              <a:gdLst/>
              <a:ahLst/>
              <a:cxnLst/>
              <a:rect l="l" t="t" r="r" b="b"/>
              <a:pathLst>
                <a:path w="1821179" h="362585">
                  <a:moveTo>
                    <a:pt x="910338" y="0"/>
                  </a:moveTo>
                  <a:lnTo>
                    <a:pt x="0" y="181068"/>
                  </a:lnTo>
                  <a:lnTo>
                    <a:pt x="910338" y="362139"/>
                  </a:lnTo>
                  <a:lnTo>
                    <a:pt x="1820675" y="181068"/>
                  </a:lnTo>
                  <a:lnTo>
                    <a:pt x="910338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4556683" y="3099842"/>
              <a:ext cx="1821180" cy="362585"/>
            </a:xfrm>
            <a:custGeom>
              <a:avLst/>
              <a:gdLst/>
              <a:ahLst/>
              <a:cxnLst/>
              <a:rect l="l" t="t" r="r" b="b"/>
              <a:pathLst>
                <a:path w="1821179" h="362585">
                  <a:moveTo>
                    <a:pt x="0" y="181069"/>
                  </a:moveTo>
                  <a:lnTo>
                    <a:pt x="910337" y="0"/>
                  </a:lnTo>
                  <a:lnTo>
                    <a:pt x="1820675" y="181069"/>
                  </a:lnTo>
                  <a:lnTo>
                    <a:pt x="910337" y="362139"/>
                  </a:lnTo>
                  <a:lnTo>
                    <a:pt x="0" y="181069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4715999" y="2795028"/>
            <a:ext cx="485775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In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o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491494" y="3046285"/>
            <a:ext cx="844362" cy="806263"/>
            <a:chOff x="4937960" y="3452456"/>
            <a:chExt cx="956944" cy="913765"/>
          </a:xfrm>
        </p:grpSpPr>
        <p:sp>
          <p:nvSpPr>
            <p:cNvPr id="66" name="object 66"/>
            <p:cNvSpPr/>
            <p:nvPr/>
          </p:nvSpPr>
          <p:spPr>
            <a:xfrm>
              <a:off x="5467022" y="3461981"/>
              <a:ext cx="490220" cy="213360"/>
            </a:xfrm>
            <a:custGeom>
              <a:avLst/>
              <a:gdLst/>
              <a:ahLst/>
              <a:cxnLst/>
              <a:rect l="l" t="t" r="r" b="b"/>
              <a:pathLst>
                <a:path w="490220" h="213360">
                  <a:moveTo>
                    <a:pt x="0" y="0"/>
                  </a:moveTo>
                  <a:lnTo>
                    <a:pt x="418228" y="209014"/>
                  </a:lnTo>
                </a:path>
                <a:path w="490220" h="213360">
                  <a:moveTo>
                    <a:pt x="0" y="0"/>
                  </a:moveTo>
                  <a:lnTo>
                    <a:pt x="489764" y="212897"/>
                  </a:lnTo>
                </a:path>
              </a:pathLst>
            </a:custGeom>
            <a:ln w="18850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7" name="object 67"/>
            <p:cNvSpPr/>
            <p:nvPr/>
          </p:nvSpPr>
          <p:spPr>
            <a:xfrm>
              <a:off x="4937960" y="4065518"/>
              <a:ext cx="87630" cy="300355"/>
            </a:xfrm>
            <a:custGeom>
              <a:avLst/>
              <a:gdLst/>
              <a:ahLst/>
              <a:cxnLst/>
              <a:rect l="l" t="t" r="r" b="b"/>
              <a:pathLst>
                <a:path w="87629" h="300354">
                  <a:moveTo>
                    <a:pt x="10287" y="214829"/>
                  </a:moveTo>
                  <a:lnTo>
                    <a:pt x="1404" y="220253"/>
                  </a:lnTo>
                  <a:lnTo>
                    <a:pt x="0" y="226057"/>
                  </a:lnTo>
                  <a:lnTo>
                    <a:pt x="45190" y="300231"/>
                  </a:lnTo>
                  <a:lnTo>
                    <a:pt x="55502" y="281703"/>
                  </a:lnTo>
                  <a:lnTo>
                    <a:pt x="35405" y="281703"/>
                  </a:lnTo>
                  <a:lnTo>
                    <a:pt x="34720" y="246825"/>
                  </a:lnTo>
                  <a:lnTo>
                    <a:pt x="16083" y="216235"/>
                  </a:lnTo>
                  <a:lnTo>
                    <a:pt x="10287" y="214829"/>
                  </a:lnTo>
                  <a:close/>
                </a:path>
                <a:path w="87629" h="300354">
                  <a:moveTo>
                    <a:pt x="34720" y="246825"/>
                  </a:moveTo>
                  <a:lnTo>
                    <a:pt x="35405" y="281703"/>
                  </a:lnTo>
                  <a:lnTo>
                    <a:pt x="54239" y="281332"/>
                  </a:lnTo>
                  <a:lnTo>
                    <a:pt x="54152" y="276927"/>
                  </a:lnTo>
                  <a:lnTo>
                    <a:pt x="36595" y="276927"/>
                  </a:lnTo>
                  <a:lnTo>
                    <a:pt x="44455" y="262805"/>
                  </a:lnTo>
                  <a:lnTo>
                    <a:pt x="34720" y="246825"/>
                  </a:lnTo>
                  <a:close/>
                </a:path>
                <a:path w="87629" h="300354">
                  <a:moveTo>
                    <a:pt x="76713" y="213521"/>
                  </a:moveTo>
                  <a:lnTo>
                    <a:pt x="70976" y="215154"/>
                  </a:lnTo>
                  <a:lnTo>
                    <a:pt x="53554" y="246456"/>
                  </a:lnTo>
                  <a:lnTo>
                    <a:pt x="54239" y="281332"/>
                  </a:lnTo>
                  <a:lnTo>
                    <a:pt x="35405" y="281703"/>
                  </a:lnTo>
                  <a:lnTo>
                    <a:pt x="55502" y="281703"/>
                  </a:lnTo>
                  <a:lnTo>
                    <a:pt x="87431" y="224335"/>
                  </a:lnTo>
                  <a:lnTo>
                    <a:pt x="85801" y="218592"/>
                  </a:lnTo>
                  <a:lnTo>
                    <a:pt x="76713" y="213521"/>
                  </a:lnTo>
                  <a:close/>
                </a:path>
                <a:path w="87629" h="300354">
                  <a:moveTo>
                    <a:pt x="44455" y="262805"/>
                  </a:moveTo>
                  <a:lnTo>
                    <a:pt x="36595" y="276927"/>
                  </a:lnTo>
                  <a:lnTo>
                    <a:pt x="52863" y="276607"/>
                  </a:lnTo>
                  <a:lnTo>
                    <a:pt x="44455" y="262805"/>
                  </a:lnTo>
                  <a:close/>
                </a:path>
                <a:path w="87629" h="300354">
                  <a:moveTo>
                    <a:pt x="53554" y="246456"/>
                  </a:moveTo>
                  <a:lnTo>
                    <a:pt x="44455" y="262805"/>
                  </a:lnTo>
                  <a:lnTo>
                    <a:pt x="52863" y="276607"/>
                  </a:lnTo>
                  <a:lnTo>
                    <a:pt x="36595" y="276927"/>
                  </a:lnTo>
                  <a:lnTo>
                    <a:pt x="54152" y="276927"/>
                  </a:lnTo>
                  <a:lnTo>
                    <a:pt x="53554" y="246456"/>
                  </a:lnTo>
                  <a:close/>
                </a:path>
                <a:path w="87629" h="300354">
                  <a:moveTo>
                    <a:pt x="48714" y="0"/>
                  </a:moveTo>
                  <a:lnTo>
                    <a:pt x="29879" y="370"/>
                  </a:lnTo>
                  <a:lnTo>
                    <a:pt x="34720" y="246825"/>
                  </a:lnTo>
                  <a:lnTo>
                    <a:pt x="44455" y="262805"/>
                  </a:lnTo>
                  <a:lnTo>
                    <a:pt x="53554" y="246456"/>
                  </a:lnTo>
                  <a:lnTo>
                    <a:pt x="48714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4580306" y="4472127"/>
            <a:ext cx="645459" cy="350786"/>
          </a:xfrm>
          <a:prstGeom prst="rect">
            <a:avLst/>
          </a:prstGeom>
          <a:solidFill>
            <a:srgbClr val="C8EBFA"/>
          </a:solidFill>
          <a:ln w="18856">
            <a:solidFill>
              <a:srgbClr val="0D6993"/>
            </a:solidFill>
          </a:ln>
        </p:spPr>
        <p:txBody>
          <a:bodyPr vert="horz" wrap="square" lIns="0" tIns="22971" rIns="0" bIns="0" rtlCol="0">
            <a:spAutoFit/>
          </a:bodyPr>
          <a:lstStyle/>
          <a:p>
            <a:pPr marL="131116">
              <a:lnSpc>
                <a:spcPts val="1262"/>
              </a:lnSpc>
              <a:spcBef>
                <a:spcPts val="180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>
              <a:latin typeface="Calibri"/>
              <a:cs typeface="Calibri"/>
            </a:endParaRPr>
          </a:p>
          <a:p>
            <a:pPr marL="209561">
              <a:lnSpc>
                <a:spcPts val="1262"/>
              </a:lnSpc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059" spc="16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3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926522" y="3843689"/>
            <a:ext cx="1210235" cy="336737"/>
            <a:chOff x="4297658" y="4356181"/>
            <a:chExt cx="1371600" cy="381635"/>
          </a:xfrm>
        </p:grpSpPr>
        <p:sp>
          <p:nvSpPr>
            <p:cNvPr id="70" name="object 70"/>
            <p:cNvSpPr/>
            <p:nvPr/>
          </p:nvSpPr>
          <p:spPr>
            <a:xfrm>
              <a:off x="4307183" y="4365706"/>
              <a:ext cx="1352550" cy="362585"/>
            </a:xfrm>
            <a:custGeom>
              <a:avLst/>
              <a:gdLst/>
              <a:ahLst/>
              <a:cxnLst/>
              <a:rect l="l" t="t" r="r" b="b"/>
              <a:pathLst>
                <a:path w="1352550" h="362585">
                  <a:moveTo>
                    <a:pt x="675966" y="0"/>
                  </a:moveTo>
                  <a:lnTo>
                    <a:pt x="0" y="181070"/>
                  </a:lnTo>
                  <a:lnTo>
                    <a:pt x="675966" y="362139"/>
                  </a:lnTo>
                  <a:lnTo>
                    <a:pt x="1351932" y="181070"/>
                  </a:lnTo>
                  <a:lnTo>
                    <a:pt x="675966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1" name="object 71"/>
            <p:cNvSpPr/>
            <p:nvPr/>
          </p:nvSpPr>
          <p:spPr>
            <a:xfrm>
              <a:off x="4307183" y="4365706"/>
              <a:ext cx="1352550" cy="362585"/>
            </a:xfrm>
            <a:custGeom>
              <a:avLst/>
              <a:gdLst/>
              <a:ahLst/>
              <a:cxnLst/>
              <a:rect l="l" t="t" r="r" b="b"/>
              <a:pathLst>
                <a:path w="1352550" h="362585">
                  <a:moveTo>
                    <a:pt x="0" y="181069"/>
                  </a:moveTo>
                  <a:lnTo>
                    <a:pt x="675966" y="0"/>
                  </a:lnTo>
                  <a:lnTo>
                    <a:pt x="1351932" y="181069"/>
                  </a:lnTo>
                  <a:lnTo>
                    <a:pt x="675966" y="362139"/>
                  </a:lnTo>
                  <a:lnTo>
                    <a:pt x="0" y="181069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4374177" y="3936263"/>
            <a:ext cx="312644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62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882" spc="18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882" spc="9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882" spc="22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882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882">
              <a:latin typeface="Calibri"/>
              <a:cs typeface="Calibri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3838008" y="3582407"/>
            <a:ext cx="2091018" cy="1921809"/>
            <a:chOff x="4197343" y="4060061"/>
            <a:chExt cx="2369820" cy="2178050"/>
          </a:xfrm>
        </p:grpSpPr>
        <p:sp>
          <p:nvSpPr>
            <p:cNvPr id="74" name="object 74"/>
            <p:cNvSpPr/>
            <p:nvPr/>
          </p:nvSpPr>
          <p:spPr>
            <a:xfrm>
              <a:off x="4983149" y="4727845"/>
              <a:ext cx="421005" cy="340995"/>
            </a:xfrm>
            <a:custGeom>
              <a:avLst/>
              <a:gdLst/>
              <a:ahLst/>
              <a:cxnLst/>
              <a:rect l="l" t="t" r="r" b="b"/>
              <a:pathLst>
                <a:path w="421004" h="340995">
                  <a:moveTo>
                    <a:pt x="0" y="0"/>
                  </a:moveTo>
                  <a:lnTo>
                    <a:pt x="420981" y="340563"/>
                  </a:lnTo>
                </a:path>
              </a:pathLst>
            </a:custGeom>
            <a:ln w="18852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5" name="object 75"/>
            <p:cNvSpPr/>
            <p:nvPr/>
          </p:nvSpPr>
          <p:spPr>
            <a:xfrm>
              <a:off x="5878898" y="4060061"/>
              <a:ext cx="342900" cy="314325"/>
            </a:xfrm>
            <a:custGeom>
              <a:avLst/>
              <a:gdLst/>
              <a:ahLst/>
              <a:cxnLst/>
              <a:rect l="l" t="t" r="r" b="b"/>
              <a:pathLst>
                <a:path w="342900" h="314325">
                  <a:moveTo>
                    <a:pt x="261589" y="277566"/>
                  </a:moveTo>
                  <a:lnTo>
                    <a:pt x="256579" y="280804"/>
                  </a:lnTo>
                  <a:lnTo>
                    <a:pt x="254389" y="290988"/>
                  </a:lnTo>
                  <a:lnTo>
                    <a:pt x="257625" y="296005"/>
                  </a:lnTo>
                  <a:lnTo>
                    <a:pt x="342459" y="314286"/>
                  </a:lnTo>
                  <a:lnTo>
                    <a:pt x="340694" y="308629"/>
                  </a:lnTo>
                  <a:lnTo>
                    <a:pt x="322304" y="308629"/>
                  </a:lnTo>
                  <a:lnTo>
                    <a:pt x="296577" y="285105"/>
                  </a:lnTo>
                  <a:lnTo>
                    <a:pt x="261589" y="277566"/>
                  </a:lnTo>
                  <a:close/>
                </a:path>
                <a:path w="342900" h="314325">
                  <a:moveTo>
                    <a:pt x="296577" y="285105"/>
                  </a:moveTo>
                  <a:lnTo>
                    <a:pt x="322304" y="308629"/>
                  </a:lnTo>
                  <a:lnTo>
                    <a:pt x="326091" y="304476"/>
                  </a:lnTo>
                  <a:lnTo>
                    <a:pt x="319665" y="304476"/>
                  </a:lnTo>
                  <a:lnTo>
                    <a:pt x="314852" y="289043"/>
                  </a:lnTo>
                  <a:lnTo>
                    <a:pt x="296577" y="285105"/>
                  </a:lnTo>
                  <a:close/>
                </a:path>
                <a:path w="342900" h="314325">
                  <a:moveTo>
                    <a:pt x="311313" y="228578"/>
                  </a:moveTo>
                  <a:lnTo>
                    <a:pt x="301382" y="231683"/>
                  </a:lnTo>
                  <a:lnTo>
                    <a:pt x="298613" y="236973"/>
                  </a:lnTo>
                  <a:lnTo>
                    <a:pt x="309281" y="271178"/>
                  </a:lnTo>
                  <a:lnTo>
                    <a:pt x="335006" y="294700"/>
                  </a:lnTo>
                  <a:lnTo>
                    <a:pt x="322304" y="308629"/>
                  </a:lnTo>
                  <a:lnTo>
                    <a:pt x="340694" y="308629"/>
                  </a:lnTo>
                  <a:lnTo>
                    <a:pt x="316595" y="231350"/>
                  </a:lnTo>
                  <a:lnTo>
                    <a:pt x="311313" y="228578"/>
                  </a:lnTo>
                  <a:close/>
                </a:path>
                <a:path w="342900" h="314325">
                  <a:moveTo>
                    <a:pt x="314852" y="289043"/>
                  </a:moveTo>
                  <a:lnTo>
                    <a:pt x="319665" y="304476"/>
                  </a:lnTo>
                  <a:lnTo>
                    <a:pt x="330638" y="292445"/>
                  </a:lnTo>
                  <a:lnTo>
                    <a:pt x="314852" y="289043"/>
                  </a:lnTo>
                  <a:close/>
                </a:path>
                <a:path w="342900" h="314325">
                  <a:moveTo>
                    <a:pt x="309281" y="271178"/>
                  </a:moveTo>
                  <a:lnTo>
                    <a:pt x="314852" y="289043"/>
                  </a:lnTo>
                  <a:lnTo>
                    <a:pt x="330638" y="292445"/>
                  </a:lnTo>
                  <a:lnTo>
                    <a:pt x="319665" y="304476"/>
                  </a:lnTo>
                  <a:lnTo>
                    <a:pt x="326091" y="304476"/>
                  </a:lnTo>
                  <a:lnTo>
                    <a:pt x="335006" y="294700"/>
                  </a:lnTo>
                  <a:lnTo>
                    <a:pt x="309281" y="271178"/>
                  </a:lnTo>
                  <a:close/>
                </a:path>
                <a:path w="342900" h="314325">
                  <a:moveTo>
                    <a:pt x="12703" y="0"/>
                  </a:moveTo>
                  <a:lnTo>
                    <a:pt x="0" y="13928"/>
                  </a:lnTo>
                  <a:lnTo>
                    <a:pt x="296577" y="285105"/>
                  </a:lnTo>
                  <a:lnTo>
                    <a:pt x="314852" y="289043"/>
                  </a:lnTo>
                  <a:lnTo>
                    <a:pt x="309281" y="271178"/>
                  </a:lnTo>
                  <a:lnTo>
                    <a:pt x="1270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6" name="object 76"/>
            <p:cNvSpPr/>
            <p:nvPr/>
          </p:nvSpPr>
          <p:spPr>
            <a:xfrm>
              <a:off x="4572974" y="4727845"/>
              <a:ext cx="410209" cy="347980"/>
            </a:xfrm>
            <a:custGeom>
              <a:avLst/>
              <a:gdLst/>
              <a:ahLst/>
              <a:cxnLst/>
              <a:rect l="l" t="t" r="r" b="b"/>
              <a:pathLst>
                <a:path w="410210" h="347979">
                  <a:moveTo>
                    <a:pt x="410175" y="0"/>
                  </a:moveTo>
                  <a:lnTo>
                    <a:pt x="0" y="347756"/>
                  </a:lnTo>
                </a:path>
              </a:pathLst>
            </a:custGeom>
            <a:ln w="18852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7" name="object 77"/>
            <p:cNvSpPr/>
            <p:nvPr/>
          </p:nvSpPr>
          <p:spPr>
            <a:xfrm>
              <a:off x="4534052" y="5466284"/>
              <a:ext cx="87630" cy="393065"/>
            </a:xfrm>
            <a:custGeom>
              <a:avLst/>
              <a:gdLst/>
              <a:ahLst/>
              <a:cxnLst/>
              <a:rect l="l" t="t" r="r" b="b"/>
              <a:pathLst>
                <a:path w="87629" h="393064">
                  <a:moveTo>
                    <a:pt x="10336" y="307378"/>
                  </a:moveTo>
                  <a:lnTo>
                    <a:pt x="1430" y="312761"/>
                  </a:lnTo>
                  <a:lnTo>
                    <a:pt x="0" y="318559"/>
                  </a:lnTo>
                  <a:lnTo>
                    <a:pt x="44852" y="392937"/>
                  </a:lnTo>
                  <a:lnTo>
                    <a:pt x="55300" y="374365"/>
                  </a:lnTo>
                  <a:lnTo>
                    <a:pt x="35151" y="374365"/>
                  </a:lnTo>
                  <a:lnTo>
                    <a:pt x="34624" y="339485"/>
                  </a:lnTo>
                  <a:lnTo>
                    <a:pt x="16126" y="308809"/>
                  </a:lnTo>
                  <a:lnTo>
                    <a:pt x="10336" y="307378"/>
                  </a:lnTo>
                  <a:close/>
                </a:path>
                <a:path w="87629" h="393064">
                  <a:moveTo>
                    <a:pt x="34624" y="339485"/>
                  </a:moveTo>
                  <a:lnTo>
                    <a:pt x="35151" y="374365"/>
                  </a:lnTo>
                  <a:lnTo>
                    <a:pt x="53987" y="374081"/>
                  </a:lnTo>
                  <a:lnTo>
                    <a:pt x="53919" y="369595"/>
                  </a:lnTo>
                  <a:lnTo>
                    <a:pt x="36362" y="369595"/>
                  </a:lnTo>
                  <a:lnTo>
                    <a:pt x="44286" y="355508"/>
                  </a:lnTo>
                  <a:lnTo>
                    <a:pt x="34624" y="339485"/>
                  </a:lnTo>
                  <a:close/>
                </a:path>
                <a:path w="87629" h="393064">
                  <a:moveTo>
                    <a:pt x="76768" y="306372"/>
                  </a:moveTo>
                  <a:lnTo>
                    <a:pt x="71024" y="307978"/>
                  </a:lnTo>
                  <a:lnTo>
                    <a:pt x="53461" y="339200"/>
                  </a:lnTo>
                  <a:lnTo>
                    <a:pt x="53987" y="374081"/>
                  </a:lnTo>
                  <a:lnTo>
                    <a:pt x="35151" y="374365"/>
                  </a:lnTo>
                  <a:lnTo>
                    <a:pt x="55300" y="374365"/>
                  </a:lnTo>
                  <a:lnTo>
                    <a:pt x="87438" y="317235"/>
                  </a:lnTo>
                  <a:lnTo>
                    <a:pt x="85834" y="311485"/>
                  </a:lnTo>
                  <a:lnTo>
                    <a:pt x="76768" y="306372"/>
                  </a:lnTo>
                  <a:close/>
                </a:path>
                <a:path w="87629" h="393064">
                  <a:moveTo>
                    <a:pt x="44286" y="355508"/>
                  </a:moveTo>
                  <a:lnTo>
                    <a:pt x="36362" y="369595"/>
                  </a:lnTo>
                  <a:lnTo>
                    <a:pt x="52632" y="369349"/>
                  </a:lnTo>
                  <a:lnTo>
                    <a:pt x="44286" y="355508"/>
                  </a:lnTo>
                  <a:close/>
                </a:path>
                <a:path w="87629" h="393064">
                  <a:moveTo>
                    <a:pt x="53461" y="339200"/>
                  </a:moveTo>
                  <a:lnTo>
                    <a:pt x="44286" y="355508"/>
                  </a:lnTo>
                  <a:lnTo>
                    <a:pt x="52632" y="369349"/>
                  </a:lnTo>
                  <a:lnTo>
                    <a:pt x="36362" y="369595"/>
                  </a:lnTo>
                  <a:lnTo>
                    <a:pt x="53919" y="369595"/>
                  </a:lnTo>
                  <a:lnTo>
                    <a:pt x="53461" y="339200"/>
                  </a:lnTo>
                  <a:close/>
                </a:path>
                <a:path w="87629" h="393064">
                  <a:moveTo>
                    <a:pt x="48340" y="0"/>
                  </a:moveTo>
                  <a:lnTo>
                    <a:pt x="29504" y="285"/>
                  </a:lnTo>
                  <a:lnTo>
                    <a:pt x="34624" y="339485"/>
                  </a:lnTo>
                  <a:lnTo>
                    <a:pt x="44286" y="355508"/>
                  </a:lnTo>
                  <a:lnTo>
                    <a:pt x="53461" y="339200"/>
                  </a:lnTo>
                  <a:lnTo>
                    <a:pt x="4834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8" name="object 78"/>
            <p:cNvSpPr/>
            <p:nvPr/>
          </p:nvSpPr>
          <p:spPr>
            <a:xfrm>
              <a:off x="4206868" y="5859179"/>
              <a:ext cx="744220" cy="353695"/>
            </a:xfrm>
            <a:custGeom>
              <a:avLst/>
              <a:gdLst/>
              <a:ahLst/>
              <a:cxnLst/>
              <a:rect l="l" t="t" r="r" b="b"/>
              <a:pathLst>
                <a:path w="744220" h="353695">
                  <a:moveTo>
                    <a:pt x="567527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7" y="24133"/>
                  </a:lnTo>
                  <a:lnTo>
                    <a:pt x="51707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7" y="301754"/>
                  </a:lnTo>
                  <a:lnTo>
                    <a:pt x="87437" y="329393"/>
                  </a:lnTo>
                  <a:lnTo>
                    <a:pt x="129610" y="347213"/>
                  </a:lnTo>
                  <a:lnTo>
                    <a:pt x="176542" y="353527"/>
                  </a:lnTo>
                  <a:lnTo>
                    <a:pt x="567527" y="353527"/>
                  </a:lnTo>
                  <a:lnTo>
                    <a:pt x="614459" y="347213"/>
                  </a:lnTo>
                  <a:lnTo>
                    <a:pt x="656631" y="329393"/>
                  </a:lnTo>
                  <a:lnTo>
                    <a:pt x="692361" y="301754"/>
                  </a:lnTo>
                  <a:lnTo>
                    <a:pt x="719966" y="265979"/>
                  </a:lnTo>
                  <a:lnTo>
                    <a:pt x="737763" y="223754"/>
                  </a:lnTo>
                  <a:lnTo>
                    <a:pt x="744070" y="176763"/>
                  </a:lnTo>
                  <a:lnTo>
                    <a:pt x="737763" y="129772"/>
                  </a:lnTo>
                  <a:lnTo>
                    <a:pt x="719966" y="87547"/>
                  </a:lnTo>
                  <a:lnTo>
                    <a:pt x="692361" y="51772"/>
                  </a:lnTo>
                  <a:lnTo>
                    <a:pt x="656631" y="24133"/>
                  </a:lnTo>
                  <a:lnTo>
                    <a:pt x="614459" y="6314"/>
                  </a:lnTo>
                  <a:lnTo>
                    <a:pt x="567527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9" name="object 79"/>
            <p:cNvSpPr/>
            <p:nvPr/>
          </p:nvSpPr>
          <p:spPr>
            <a:xfrm>
              <a:off x="4206868" y="5859179"/>
              <a:ext cx="744220" cy="353695"/>
            </a:xfrm>
            <a:custGeom>
              <a:avLst/>
              <a:gdLst/>
              <a:ahLst/>
              <a:cxnLst/>
              <a:rect l="l" t="t" r="r" b="b"/>
              <a:pathLst>
                <a:path w="744220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567528" y="0"/>
                  </a:lnTo>
                  <a:lnTo>
                    <a:pt x="614460" y="6314"/>
                  </a:lnTo>
                  <a:lnTo>
                    <a:pt x="656632" y="24133"/>
                  </a:lnTo>
                  <a:lnTo>
                    <a:pt x="692362" y="51772"/>
                  </a:lnTo>
                  <a:lnTo>
                    <a:pt x="719967" y="87547"/>
                  </a:lnTo>
                  <a:lnTo>
                    <a:pt x="737764" y="129772"/>
                  </a:lnTo>
                  <a:lnTo>
                    <a:pt x="744071" y="176763"/>
                  </a:lnTo>
                  <a:lnTo>
                    <a:pt x="737764" y="223754"/>
                  </a:lnTo>
                  <a:lnTo>
                    <a:pt x="719967" y="265979"/>
                  </a:lnTo>
                  <a:lnTo>
                    <a:pt x="692362" y="301753"/>
                  </a:lnTo>
                  <a:lnTo>
                    <a:pt x="656632" y="329393"/>
                  </a:lnTo>
                  <a:lnTo>
                    <a:pt x="614460" y="347212"/>
                  </a:lnTo>
                  <a:lnTo>
                    <a:pt x="567528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7">
              <a:solidFill>
                <a:srgbClr val="B93C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0" name="object 80"/>
            <p:cNvSpPr/>
            <p:nvPr/>
          </p:nvSpPr>
          <p:spPr>
            <a:xfrm>
              <a:off x="5051796" y="5874762"/>
              <a:ext cx="718185" cy="353695"/>
            </a:xfrm>
            <a:custGeom>
              <a:avLst/>
              <a:gdLst/>
              <a:ahLst/>
              <a:cxnLst/>
              <a:rect l="l" t="t" r="r" b="b"/>
              <a:pathLst>
                <a:path w="718185" h="353695">
                  <a:moveTo>
                    <a:pt x="541312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80"/>
                  </a:lnTo>
                  <a:lnTo>
                    <a:pt x="51708" y="301754"/>
                  </a:lnTo>
                  <a:lnTo>
                    <a:pt x="87438" y="329394"/>
                  </a:lnTo>
                  <a:lnTo>
                    <a:pt x="129611" y="347213"/>
                  </a:lnTo>
                  <a:lnTo>
                    <a:pt x="176542" y="353527"/>
                  </a:lnTo>
                  <a:lnTo>
                    <a:pt x="541310" y="353527"/>
                  </a:lnTo>
                  <a:lnTo>
                    <a:pt x="588243" y="347213"/>
                  </a:lnTo>
                  <a:lnTo>
                    <a:pt x="630416" y="329393"/>
                  </a:lnTo>
                  <a:lnTo>
                    <a:pt x="666146" y="301754"/>
                  </a:lnTo>
                  <a:lnTo>
                    <a:pt x="693751" y="265979"/>
                  </a:lnTo>
                  <a:lnTo>
                    <a:pt x="711548" y="223754"/>
                  </a:lnTo>
                  <a:lnTo>
                    <a:pt x="717854" y="176763"/>
                  </a:lnTo>
                  <a:lnTo>
                    <a:pt x="711548" y="129772"/>
                  </a:lnTo>
                  <a:lnTo>
                    <a:pt x="693751" y="87547"/>
                  </a:lnTo>
                  <a:lnTo>
                    <a:pt x="666146" y="51772"/>
                  </a:lnTo>
                  <a:lnTo>
                    <a:pt x="630416" y="24133"/>
                  </a:lnTo>
                  <a:lnTo>
                    <a:pt x="588244" y="6314"/>
                  </a:lnTo>
                  <a:lnTo>
                    <a:pt x="541312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1" name="object 81"/>
            <p:cNvSpPr/>
            <p:nvPr/>
          </p:nvSpPr>
          <p:spPr>
            <a:xfrm>
              <a:off x="5051796" y="5874762"/>
              <a:ext cx="718185" cy="353695"/>
            </a:xfrm>
            <a:custGeom>
              <a:avLst/>
              <a:gdLst/>
              <a:ahLst/>
              <a:cxnLst/>
              <a:rect l="l" t="t" r="r" b="b"/>
              <a:pathLst>
                <a:path w="718185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1" y="6314"/>
                  </a:lnTo>
                  <a:lnTo>
                    <a:pt x="176543" y="0"/>
                  </a:lnTo>
                  <a:lnTo>
                    <a:pt x="541312" y="0"/>
                  </a:lnTo>
                  <a:lnTo>
                    <a:pt x="588244" y="6314"/>
                  </a:lnTo>
                  <a:lnTo>
                    <a:pt x="630416" y="24133"/>
                  </a:lnTo>
                  <a:lnTo>
                    <a:pt x="666147" y="51772"/>
                  </a:lnTo>
                  <a:lnTo>
                    <a:pt x="693752" y="87547"/>
                  </a:lnTo>
                  <a:lnTo>
                    <a:pt x="711549" y="129772"/>
                  </a:lnTo>
                  <a:lnTo>
                    <a:pt x="717855" y="176763"/>
                  </a:lnTo>
                  <a:lnTo>
                    <a:pt x="711548" y="223754"/>
                  </a:lnTo>
                  <a:lnTo>
                    <a:pt x="693751" y="265979"/>
                  </a:lnTo>
                  <a:lnTo>
                    <a:pt x="666146" y="301754"/>
                  </a:lnTo>
                  <a:lnTo>
                    <a:pt x="630416" y="329394"/>
                  </a:lnTo>
                  <a:lnTo>
                    <a:pt x="588243" y="347213"/>
                  </a:lnTo>
                  <a:lnTo>
                    <a:pt x="541311" y="353527"/>
                  </a:lnTo>
                  <a:lnTo>
                    <a:pt x="176543" y="353526"/>
                  </a:lnTo>
                  <a:lnTo>
                    <a:pt x="129611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3"/>
                  </a:lnTo>
                  <a:lnTo>
                    <a:pt x="0" y="176763"/>
                  </a:lnTo>
                  <a:close/>
                </a:path>
              </a:pathLst>
            </a:custGeom>
            <a:ln w="18857">
              <a:solidFill>
                <a:srgbClr val="608A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2" name="object 82"/>
            <p:cNvSpPr/>
            <p:nvPr/>
          </p:nvSpPr>
          <p:spPr>
            <a:xfrm>
              <a:off x="5365799" y="5464286"/>
              <a:ext cx="87630" cy="410845"/>
            </a:xfrm>
            <a:custGeom>
              <a:avLst/>
              <a:gdLst/>
              <a:ahLst/>
              <a:cxnLst/>
              <a:rect l="l" t="t" r="r" b="b"/>
              <a:pathLst>
                <a:path w="87629" h="410845">
                  <a:moveTo>
                    <a:pt x="10326" y="324991"/>
                  </a:moveTo>
                  <a:lnTo>
                    <a:pt x="1424" y="330385"/>
                  </a:lnTo>
                  <a:lnTo>
                    <a:pt x="0" y="336182"/>
                  </a:lnTo>
                  <a:lnTo>
                    <a:pt x="44923" y="410519"/>
                  </a:lnTo>
                  <a:lnTo>
                    <a:pt x="55342" y="391956"/>
                  </a:lnTo>
                  <a:lnTo>
                    <a:pt x="35205" y="391956"/>
                  </a:lnTo>
                  <a:lnTo>
                    <a:pt x="34645" y="357076"/>
                  </a:lnTo>
                  <a:lnTo>
                    <a:pt x="16117" y="326419"/>
                  </a:lnTo>
                  <a:lnTo>
                    <a:pt x="10326" y="324991"/>
                  </a:lnTo>
                  <a:close/>
                </a:path>
                <a:path w="87629" h="410845">
                  <a:moveTo>
                    <a:pt x="34645" y="357076"/>
                  </a:moveTo>
                  <a:lnTo>
                    <a:pt x="35205" y="391956"/>
                  </a:lnTo>
                  <a:lnTo>
                    <a:pt x="54041" y="391652"/>
                  </a:lnTo>
                  <a:lnTo>
                    <a:pt x="53969" y="387184"/>
                  </a:lnTo>
                  <a:lnTo>
                    <a:pt x="36412" y="387184"/>
                  </a:lnTo>
                  <a:lnTo>
                    <a:pt x="44323" y="373090"/>
                  </a:lnTo>
                  <a:lnTo>
                    <a:pt x="34645" y="357076"/>
                  </a:lnTo>
                  <a:close/>
                </a:path>
                <a:path w="87629" h="410845">
                  <a:moveTo>
                    <a:pt x="76756" y="323922"/>
                  </a:moveTo>
                  <a:lnTo>
                    <a:pt x="71014" y="325535"/>
                  </a:lnTo>
                  <a:lnTo>
                    <a:pt x="53480" y="356774"/>
                  </a:lnTo>
                  <a:lnTo>
                    <a:pt x="54041" y="391652"/>
                  </a:lnTo>
                  <a:lnTo>
                    <a:pt x="35205" y="391956"/>
                  </a:lnTo>
                  <a:lnTo>
                    <a:pt x="55342" y="391956"/>
                  </a:lnTo>
                  <a:lnTo>
                    <a:pt x="87436" y="334775"/>
                  </a:lnTo>
                  <a:lnTo>
                    <a:pt x="85826" y="329026"/>
                  </a:lnTo>
                  <a:lnTo>
                    <a:pt x="76756" y="323922"/>
                  </a:lnTo>
                  <a:close/>
                </a:path>
                <a:path w="87629" h="410845">
                  <a:moveTo>
                    <a:pt x="44323" y="373090"/>
                  </a:moveTo>
                  <a:lnTo>
                    <a:pt x="36412" y="387184"/>
                  </a:lnTo>
                  <a:lnTo>
                    <a:pt x="52682" y="386922"/>
                  </a:lnTo>
                  <a:lnTo>
                    <a:pt x="44323" y="373090"/>
                  </a:lnTo>
                  <a:close/>
                </a:path>
                <a:path w="87629" h="410845">
                  <a:moveTo>
                    <a:pt x="53480" y="356774"/>
                  </a:moveTo>
                  <a:lnTo>
                    <a:pt x="44323" y="373090"/>
                  </a:lnTo>
                  <a:lnTo>
                    <a:pt x="52682" y="386922"/>
                  </a:lnTo>
                  <a:lnTo>
                    <a:pt x="36412" y="387184"/>
                  </a:lnTo>
                  <a:lnTo>
                    <a:pt x="53969" y="387184"/>
                  </a:lnTo>
                  <a:lnTo>
                    <a:pt x="53480" y="356774"/>
                  </a:lnTo>
                  <a:close/>
                </a:path>
                <a:path w="87629" h="410845">
                  <a:moveTo>
                    <a:pt x="47749" y="0"/>
                  </a:moveTo>
                  <a:lnTo>
                    <a:pt x="28914" y="303"/>
                  </a:lnTo>
                  <a:lnTo>
                    <a:pt x="34645" y="357076"/>
                  </a:lnTo>
                  <a:lnTo>
                    <a:pt x="44323" y="373090"/>
                  </a:lnTo>
                  <a:lnTo>
                    <a:pt x="53480" y="356774"/>
                  </a:lnTo>
                  <a:lnTo>
                    <a:pt x="47749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3" name="object 83"/>
            <p:cNvSpPr/>
            <p:nvPr/>
          </p:nvSpPr>
          <p:spPr>
            <a:xfrm>
              <a:off x="5885251" y="4374319"/>
              <a:ext cx="672465" cy="353695"/>
            </a:xfrm>
            <a:custGeom>
              <a:avLst/>
              <a:gdLst/>
              <a:ahLst/>
              <a:cxnLst/>
              <a:rect l="l" t="t" r="r" b="b"/>
              <a:pathLst>
                <a:path w="672465" h="353695">
                  <a:moveTo>
                    <a:pt x="495606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3"/>
                  </a:lnTo>
                  <a:lnTo>
                    <a:pt x="87438" y="329392"/>
                  </a:lnTo>
                  <a:lnTo>
                    <a:pt x="129610" y="347211"/>
                  </a:lnTo>
                  <a:lnTo>
                    <a:pt x="176542" y="353526"/>
                  </a:lnTo>
                  <a:lnTo>
                    <a:pt x="495606" y="353526"/>
                  </a:lnTo>
                  <a:lnTo>
                    <a:pt x="542538" y="347211"/>
                  </a:lnTo>
                  <a:lnTo>
                    <a:pt x="584710" y="329392"/>
                  </a:lnTo>
                  <a:lnTo>
                    <a:pt x="620440" y="301753"/>
                  </a:lnTo>
                  <a:lnTo>
                    <a:pt x="648045" y="265979"/>
                  </a:lnTo>
                  <a:lnTo>
                    <a:pt x="665842" y="223754"/>
                  </a:lnTo>
                  <a:lnTo>
                    <a:pt x="672148" y="176763"/>
                  </a:lnTo>
                  <a:lnTo>
                    <a:pt x="665842" y="129772"/>
                  </a:lnTo>
                  <a:lnTo>
                    <a:pt x="648045" y="87547"/>
                  </a:lnTo>
                  <a:lnTo>
                    <a:pt x="620440" y="51772"/>
                  </a:lnTo>
                  <a:lnTo>
                    <a:pt x="584710" y="24133"/>
                  </a:lnTo>
                  <a:lnTo>
                    <a:pt x="542538" y="6314"/>
                  </a:lnTo>
                  <a:lnTo>
                    <a:pt x="495606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4" name="object 84"/>
            <p:cNvSpPr/>
            <p:nvPr/>
          </p:nvSpPr>
          <p:spPr>
            <a:xfrm>
              <a:off x="5885251" y="4374319"/>
              <a:ext cx="672465" cy="353695"/>
            </a:xfrm>
            <a:custGeom>
              <a:avLst/>
              <a:gdLst/>
              <a:ahLst/>
              <a:cxnLst/>
              <a:rect l="l" t="t" r="r" b="b"/>
              <a:pathLst>
                <a:path w="672465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495606" y="0"/>
                  </a:lnTo>
                  <a:lnTo>
                    <a:pt x="542538" y="6314"/>
                  </a:lnTo>
                  <a:lnTo>
                    <a:pt x="584711" y="24133"/>
                  </a:lnTo>
                  <a:lnTo>
                    <a:pt x="620441" y="51772"/>
                  </a:lnTo>
                  <a:lnTo>
                    <a:pt x="648046" y="87547"/>
                  </a:lnTo>
                  <a:lnTo>
                    <a:pt x="665843" y="129772"/>
                  </a:lnTo>
                  <a:lnTo>
                    <a:pt x="672149" y="176763"/>
                  </a:lnTo>
                  <a:lnTo>
                    <a:pt x="665843" y="223754"/>
                  </a:lnTo>
                  <a:lnTo>
                    <a:pt x="648046" y="265979"/>
                  </a:lnTo>
                  <a:lnTo>
                    <a:pt x="620441" y="301753"/>
                  </a:lnTo>
                  <a:lnTo>
                    <a:pt x="584711" y="329393"/>
                  </a:lnTo>
                  <a:lnTo>
                    <a:pt x="542538" y="347212"/>
                  </a:lnTo>
                  <a:lnTo>
                    <a:pt x="495606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5475018" y="3919202"/>
            <a:ext cx="298637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059" spc="-9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3829149" y="4476717"/>
            <a:ext cx="672913" cy="345141"/>
          </a:xfrm>
          <a:custGeom>
            <a:avLst/>
            <a:gdLst/>
            <a:ahLst/>
            <a:cxnLst/>
            <a:rect l="l" t="t" r="r" b="b"/>
            <a:pathLst>
              <a:path w="762635" h="391160">
                <a:moveTo>
                  <a:pt x="0" y="0"/>
                </a:moveTo>
                <a:lnTo>
                  <a:pt x="762022" y="0"/>
                </a:lnTo>
                <a:lnTo>
                  <a:pt x="762022" y="390824"/>
                </a:lnTo>
                <a:lnTo>
                  <a:pt x="0" y="390824"/>
                </a:lnTo>
                <a:lnTo>
                  <a:pt x="0" y="0"/>
                </a:lnTo>
                <a:close/>
              </a:path>
            </a:pathLst>
          </a:custGeom>
          <a:ln w="18856">
            <a:solidFill>
              <a:srgbClr val="0D6993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7" name="object 87"/>
          <p:cNvSpPr txBox="1"/>
          <p:nvPr/>
        </p:nvSpPr>
        <p:spPr>
          <a:xfrm>
            <a:off x="3974056" y="4507006"/>
            <a:ext cx="383241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y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a</a:t>
            </a: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s</a:t>
            </a:r>
            <a:endParaRPr sz="1059">
              <a:latin typeface="Calibri"/>
              <a:cs typeface="Calibri"/>
            </a:endParaRPr>
          </a:p>
          <a:p>
            <a:pPr marL="63317">
              <a:lnSpc>
                <a:spcPts val="1249"/>
              </a:lnSpc>
              <a:tabLst>
                <a:tab pos="251025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2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3756212" y="4401222"/>
            <a:ext cx="825874" cy="497541"/>
            <a:chOff x="4104640" y="4988052"/>
            <a:chExt cx="935990" cy="563880"/>
          </a:xfrm>
        </p:grpSpPr>
        <p:pic>
          <p:nvPicPr>
            <p:cNvPr id="89" name="object 8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4640" y="4988052"/>
              <a:ext cx="935736" cy="563880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4191964" y="5075602"/>
              <a:ext cx="762635" cy="391160"/>
            </a:xfrm>
            <a:custGeom>
              <a:avLst/>
              <a:gdLst/>
              <a:ahLst/>
              <a:cxnLst/>
              <a:rect l="l" t="t" r="r" b="b"/>
              <a:pathLst>
                <a:path w="762635" h="391160">
                  <a:moveTo>
                    <a:pt x="762021" y="0"/>
                  </a:moveTo>
                  <a:lnTo>
                    <a:pt x="0" y="0"/>
                  </a:lnTo>
                  <a:lnTo>
                    <a:pt x="0" y="390824"/>
                  </a:lnTo>
                  <a:lnTo>
                    <a:pt x="762021" y="390824"/>
                  </a:lnTo>
                  <a:lnTo>
                    <a:pt x="762021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1" name="object 91"/>
            <p:cNvSpPr/>
            <p:nvPr/>
          </p:nvSpPr>
          <p:spPr>
            <a:xfrm>
              <a:off x="4191964" y="5075602"/>
              <a:ext cx="762635" cy="391160"/>
            </a:xfrm>
            <a:custGeom>
              <a:avLst/>
              <a:gdLst/>
              <a:ahLst/>
              <a:cxnLst/>
              <a:rect l="l" t="t" r="r" b="b"/>
              <a:pathLst>
                <a:path w="762635" h="391160">
                  <a:moveTo>
                    <a:pt x="0" y="0"/>
                  </a:moveTo>
                  <a:lnTo>
                    <a:pt x="762022" y="0"/>
                  </a:lnTo>
                  <a:lnTo>
                    <a:pt x="762022" y="390824"/>
                  </a:lnTo>
                  <a:lnTo>
                    <a:pt x="0" y="390824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3841582" y="4492047"/>
            <a:ext cx="651622" cy="31909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36159">
              <a:lnSpc>
                <a:spcPts val="1249"/>
              </a:lnSpc>
              <a:spcBef>
                <a:spcPts val="88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>
              <a:latin typeface="Calibri"/>
              <a:cs typeface="Calibri"/>
            </a:endParaRPr>
          </a:p>
          <a:p>
            <a:pPr marL="200036">
              <a:lnSpc>
                <a:spcPts val="1249"/>
              </a:lnSpc>
              <a:tabLst>
                <a:tab pos="387744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2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617888" y="1698265"/>
            <a:ext cx="1886510" cy="1045509"/>
            <a:chOff x="547872" y="1924700"/>
            <a:chExt cx="2138045" cy="1184910"/>
          </a:xfrm>
        </p:grpSpPr>
        <p:sp>
          <p:nvSpPr>
            <p:cNvPr id="94" name="object 94"/>
            <p:cNvSpPr/>
            <p:nvPr/>
          </p:nvSpPr>
          <p:spPr>
            <a:xfrm>
              <a:off x="557397" y="1934225"/>
              <a:ext cx="2118995" cy="1165860"/>
            </a:xfrm>
            <a:custGeom>
              <a:avLst/>
              <a:gdLst/>
              <a:ahLst/>
              <a:cxnLst/>
              <a:rect l="l" t="t" r="r" b="b"/>
              <a:pathLst>
                <a:path w="2118995" h="1165860">
                  <a:moveTo>
                    <a:pt x="2118863" y="0"/>
                  </a:moveTo>
                  <a:lnTo>
                    <a:pt x="0" y="0"/>
                  </a:lnTo>
                  <a:lnTo>
                    <a:pt x="0" y="1165617"/>
                  </a:lnTo>
                  <a:lnTo>
                    <a:pt x="2118863" y="1165617"/>
                  </a:lnTo>
                  <a:lnTo>
                    <a:pt x="2118863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5" name="object 95"/>
            <p:cNvSpPr/>
            <p:nvPr/>
          </p:nvSpPr>
          <p:spPr>
            <a:xfrm>
              <a:off x="557397" y="1934225"/>
              <a:ext cx="2118995" cy="1165860"/>
            </a:xfrm>
            <a:custGeom>
              <a:avLst/>
              <a:gdLst/>
              <a:ahLst/>
              <a:cxnLst/>
              <a:rect l="l" t="t" r="r" b="b"/>
              <a:pathLst>
                <a:path w="2118995" h="1165860">
                  <a:moveTo>
                    <a:pt x="0" y="0"/>
                  </a:moveTo>
                  <a:lnTo>
                    <a:pt x="2118863" y="0"/>
                  </a:lnTo>
                  <a:lnTo>
                    <a:pt x="2118863" y="1165617"/>
                  </a:lnTo>
                  <a:lnTo>
                    <a:pt x="0" y="1165617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80005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850235" y="1716489"/>
            <a:ext cx="1422026" cy="965747"/>
          </a:xfrm>
          <a:prstGeom prst="rect">
            <a:avLst/>
          </a:prstGeom>
        </p:spPr>
        <p:txBody>
          <a:bodyPr vert="horz" wrap="square" lIns="0" tIns="17369" rIns="0" bIns="0" rtlCol="0">
            <a:spAutoFit/>
          </a:bodyPr>
          <a:lstStyle/>
          <a:p>
            <a:pPr marL="10646" marR="4483" indent="1121" algn="ctr">
              <a:lnSpc>
                <a:spcPct val="97400"/>
              </a:lnSpc>
              <a:spcBef>
                <a:spcPts val="137"/>
              </a:spcBef>
            </a:pPr>
            <a:r>
              <a:rPr sz="1588" spc="-9" dirty="0">
                <a:solidFill>
                  <a:srgbClr val="FFFFFF"/>
                </a:solidFill>
                <a:latin typeface="Calibri"/>
                <a:cs typeface="Calibri"/>
              </a:rPr>
              <a:t>All </a:t>
            </a:r>
            <a:r>
              <a:rPr sz="1588" spc="-18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588" spc="-4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1588" spc="-9" dirty="0">
                <a:solidFill>
                  <a:srgbClr val="FFFFFF"/>
                </a:solidFill>
                <a:latin typeface="Calibri"/>
                <a:cs typeface="Calibri"/>
              </a:rPr>
              <a:t>these </a:t>
            </a:r>
            <a:r>
              <a:rPr sz="1588" spc="-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FFFFFF"/>
                </a:solidFill>
                <a:latin typeface="Calibri"/>
                <a:cs typeface="Calibri"/>
              </a:rPr>
              <a:t>nodes</a:t>
            </a:r>
            <a:r>
              <a:rPr sz="1588" spc="-5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1588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FFFFFF"/>
                </a:solidFill>
                <a:latin typeface="Calibri"/>
                <a:cs typeface="Calibri"/>
              </a:rPr>
              <a:t>same </a:t>
            </a:r>
            <a:r>
              <a:rPr sz="1588" spc="-34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588" spc="-13" dirty="0">
                <a:solidFill>
                  <a:srgbClr val="FFFFFF"/>
                </a:solidFill>
                <a:latin typeface="Calibri"/>
                <a:cs typeface="Calibri"/>
              </a:rPr>
              <a:t>value </a:t>
            </a:r>
            <a:r>
              <a:rPr sz="1588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588" spc="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88" spc="-9" dirty="0">
                <a:solidFill>
                  <a:srgbClr val="FFFFFF"/>
                </a:solidFill>
                <a:latin typeface="Calibri"/>
                <a:cs typeface="Calibri"/>
              </a:rPr>
              <a:t>Nothing</a:t>
            </a:r>
            <a:r>
              <a:rPr sz="1588" spc="-3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588" spc="-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4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862404" y="2190525"/>
            <a:ext cx="4329953" cy="2445124"/>
            <a:chOff x="824991" y="2482595"/>
            <a:chExt cx="4907280" cy="2771140"/>
          </a:xfrm>
        </p:grpSpPr>
        <p:pic>
          <p:nvPicPr>
            <p:cNvPr id="98" name="object 9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7703" y="3073907"/>
              <a:ext cx="478535" cy="560832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1347974" y="3087126"/>
              <a:ext cx="286385" cy="372745"/>
            </a:xfrm>
            <a:custGeom>
              <a:avLst/>
              <a:gdLst/>
              <a:ahLst/>
              <a:cxnLst/>
              <a:rect l="l" t="t" r="r" b="b"/>
              <a:pathLst>
                <a:path w="286385" h="372745">
                  <a:moveTo>
                    <a:pt x="25308" y="232225"/>
                  </a:moveTo>
                  <a:lnTo>
                    <a:pt x="0" y="372297"/>
                  </a:lnTo>
                  <a:lnTo>
                    <a:pt x="127102" y="308526"/>
                  </a:lnTo>
                  <a:lnTo>
                    <a:pt x="115833" y="300079"/>
                  </a:lnTo>
                  <a:lnTo>
                    <a:pt x="80471" y="300079"/>
                  </a:lnTo>
                  <a:lnTo>
                    <a:pt x="46539" y="274646"/>
                  </a:lnTo>
                  <a:lnTo>
                    <a:pt x="59240" y="257659"/>
                  </a:lnTo>
                  <a:lnTo>
                    <a:pt x="25308" y="232225"/>
                  </a:lnTo>
                  <a:close/>
                </a:path>
                <a:path w="286385" h="372745">
                  <a:moveTo>
                    <a:pt x="59240" y="257659"/>
                  </a:moveTo>
                  <a:lnTo>
                    <a:pt x="46539" y="274646"/>
                  </a:lnTo>
                  <a:lnTo>
                    <a:pt x="80471" y="300079"/>
                  </a:lnTo>
                  <a:lnTo>
                    <a:pt x="93171" y="283092"/>
                  </a:lnTo>
                  <a:lnTo>
                    <a:pt x="59240" y="257659"/>
                  </a:lnTo>
                  <a:close/>
                </a:path>
                <a:path w="286385" h="372745">
                  <a:moveTo>
                    <a:pt x="93171" y="283092"/>
                  </a:moveTo>
                  <a:lnTo>
                    <a:pt x="80471" y="300079"/>
                  </a:lnTo>
                  <a:lnTo>
                    <a:pt x="115833" y="300079"/>
                  </a:lnTo>
                  <a:lnTo>
                    <a:pt x="93171" y="283092"/>
                  </a:lnTo>
                  <a:close/>
                </a:path>
                <a:path w="286385" h="372745">
                  <a:moveTo>
                    <a:pt x="251889" y="0"/>
                  </a:moveTo>
                  <a:lnTo>
                    <a:pt x="59240" y="257659"/>
                  </a:lnTo>
                  <a:lnTo>
                    <a:pt x="93171" y="283092"/>
                  </a:lnTo>
                  <a:lnTo>
                    <a:pt x="285819" y="25433"/>
                  </a:lnTo>
                  <a:lnTo>
                    <a:pt x="251889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0" name="object 10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68704" y="3073907"/>
              <a:ext cx="1271016" cy="1804416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1599182" y="3088091"/>
              <a:ext cx="1081405" cy="1612900"/>
            </a:xfrm>
            <a:custGeom>
              <a:avLst/>
              <a:gdLst/>
              <a:ahLst/>
              <a:cxnLst/>
              <a:rect l="l" t="t" r="r" b="b"/>
              <a:pathLst>
                <a:path w="1081405" h="1612900">
                  <a:moveTo>
                    <a:pt x="992916" y="1518207"/>
                  </a:moveTo>
                  <a:lnTo>
                    <a:pt x="957624" y="1541710"/>
                  </a:lnTo>
                  <a:lnTo>
                    <a:pt x="1080984" y="1612465"/>
                  </a:lnTo>
                  <a:lnTo>
                    <a:pt x="1071505" y="1535875"/>
                  </a:lnTo>
                  <a:lnTo>
                    <a:pt x="1004653" y="1535875"/>
                  </a:lnTo>
                  <a:lnTo>
                    <a:pt x="992916" y="1518207"/>
                  </a:lnTo>
                  <a:close/>
                </a:path>
                <a:path w="1081405" h="1612900">
                  <a:moveTo>
                    <a:pt x="1028209" y="1494703"/>
                  </a:moveTo>
                  <a:lnTo>
                    <a:pt x="992916" y="1518207"/>
                  </a:lnTo>
                  <a:lnTo>
                    <a:pt x="1004653" y="1535875"/>
                  </a:lnTo>
                  <a:lnTo>
                    <a:pt x="1039947" y="1512373"/>
                  </a:lnTo>
                  <a:lnTo>
                    <a:pt x="1028209" y="1494703"/>
                  </a:lnTo>
                  <a:close/>
                </a:path>
                <a:path w="1081405" h="1612900">
                  <a:moveTo>
                    <a:pt x="1063501" y="1471201"/>
                  </a:moveTo>
                  <a:lnTo>
                    <a:pt x="1028209" y="1494703"/>
                  </a:lnTo>
                  <a:lnTo>
                    <a:pt x="1039947" y="1512373"/>
                  </a:lnTo>
                  <a:lnTo>
                    <a:pt x="1004653" y="1535875"/>
                  </a:lnTo>
                  <a:lnTo>
                    <a:pt x="1071505" y="1535875"/>
                  </a:lnTo>
                  <a:lnTo>
                    <a:pt x="1063501" y="1471201"/>
                  </a:lnTo>
                  <a:close/>
                </a:path>
                <a:path w="1081405" h="1612900">
                  <a:moveTo>
                    <a:pt x="35292" y="0"/>
                  </a:moveTo>
                  <a:lnTo>
                    <a:pt x="0" y="23502"/>
                  </a:lnTo>
                  <a:lnTo>
                    <a:pt x="992916" y="1518207"/>
                  </a:lnTo>
                  <a:lnTo>
                    <a:pt x="1028209" y="1494703"/>
                  </a:lnTo>
                  <a:lnTo>
                    <a:pt x="35292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2" name="object 10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1751" y="3067811"/>
              <a:ext cx="2249424" cy="1795272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1603849" y="3083067"/>
              <a:ext cx="2059939" cy="1604645"/>
            </a:xfrm>
            <a:custGeom>
              <a:avLst/>
              <a:gdLst/>
              <a:ahLst/>
              <a:cxnLst/>
              <a:rect l="l" t="t" r="r" b="b"/>
              <a:pathLst>
                <a:path w="2059939" h="1604645">
                  <a:moveTo>
                    <a:pt x="1946194" y="1543016"/>
                  </a:moveTo>
                  <a:lnTo>
                    <a:pt x="1920237" y="1576566"/>
                  </a:lnTo>
                  <a:lnTo>
                    <a:pt x="2059698" y="1604208"/>
                  </a:lnTo>
                  <a:lnTo>
                    <a:pt x="2036560" y="1556011"/>
                  </a:lnTo>
                  <a:lnTo>
                    <a:pt x="1962950" y="1556011"/>
                  </a:lnTo>
                  <a:lnTo>
                    <a:pt x="1946194" y="1543016"/>
                  </a:lnTo>
                  <a:close/>
                </a:path>
                <a:path w="2059939" h="1604645">
                  <a:moveTo>
                    <a:pt x="1972151" y="1509465"/>
                  </a:moveTo>
                  <a:lnTo>
                    <a:pt x="1946194" y="1543016"/>
                  </a:lnTo>
                  <a:lnTo>
                    <a:pt x="1962950" y="1556011"/>
                  </a:lnTo>
                  <a:lnTo>
                    <a:pt x="1988906" y="1522460"/>
                  </a:lnTo>
                  <a:lnTo>
                    <a:pt x="1972151" y="1509465"/>
                  </a:lnTo>
                  <a:close/>
                </a:path>
                <a:path w="2059939" h="1604645">
                  <a:moveTo>
                    <a:pt x="1998108" y="1475915"/>
                  </a:moveTo>
                  <a:lnTo>
                    <a:pt x="1972151" y="1509465"/>
                  </a:lnTo>
                  <a:lnTo>
                    <a:pt x="1988906" y="1522460"/>
                  </a:lnTo>
                  <a:lnTo>
                    <a:pt x="1962950" y="1556011"/>
                  </a:lnTo>
                  <a:lnTo>
                    <a:pt x="2036560" y="1556011"/>
                  </a:lnTo>
                  <a:lnTo>
                    <a:pt x="1998108" y="1475915"/>
                  </a:lnTo>
                  <a:close/>
                </a:path>
                <a:path w="2059939" h="1604645">
                  <a:moveTo>
                    <a:pt x="25957" y="0"/>
                  </a:moveTo>
                  <a:lnTo>
                    <a:pt x="0" y="33550"/>
                  </a:lnTo>
                  <a:lnTo>
                    <a:pt x="1946194" y="1543016"/>
                  </a:lnTo>
                  <a:lnTo>
                    <a:pt x="1972151" y="1509465"/>
                  </a:lnTo>
                  <a:lnTo>
                    <a:pt x="25957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4" name="object 10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29408" y="2491739"/>
              <a:ext cx="2103120" cy="2761488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2659242" y="2504386"/>
              <a:ext cx="1913889" cy="2571750"/>
            </a:xfrm>
            <a:custGeom>
              <a:avLst/>
              <a:gdLst/>
              <a:ahLst/>
              <a:cxnLst/>
              <a:rect l="l" t="t" r="r" b="b"/>
              <a:pathLst>
                <a:path w="1913889" h="2571750">
                  <a:moveTo>
                    <a:pt x="1820926" y="2481629"/>
                  </a:moveTo>
                  <a:lnTo>
                    <a:pt x="1786891" y="2506922"/>
                  </a:lnTo>
                  <a:lnTo>
                    <a:pt x="1913732" y="2571215"/>
                  </a:lnTo>
                  <a:lnTo>
                    <a:pt x="1900929" y="2498661"/>
                  </a:lnTo>
                  <a:lnTo>
                    <a:pt x="1833552" y="2498661"/>
                  </a:lnTo>
                  <a:lnTo>
                    <a:pt x="1820926" y="2481629"/>
                  </a:lnTo>
                  <a:close/>
                </a:path>
                <a:path w="1913889" h="2571750">
                  <a:moveTo>
                    <a:pt x="1854962" y="2456334"/>
                  </a:moveTo>
                  <a:lnTo>
                    <a:pt x="1820926" y="2481629"/>
                  </a:lnTo>
                  <a:lnTo>
                    <a:pt x="1833552" y="2498661"/>
                  </a:lnTo>
                  <a:lnTo>
                    <a:pt x="1867588" y="2473366"/>
                  </a:lnTo>
                  <a:lnTo>
                    <a:pt x="1854962" y="2456334"/>
                  </a:lnTo>
                  <a:close/>
                </a:path>
                <a:path w="1913889" h="2571750">
                  <a:moveTo>
                    <a:pt x="1888996" y="2431041"/>
                  </a:moveTo>
                  <a:lnTo>
                    <a:pt x="1854962" y="2456334"/>
                  </a:lnTo>
                  <a:lnTo>
                    <a:pt x="1867588" y="2473366"/>
                  </a:lnTo>
                  <a:lnTo>
                    <a:pt x="1833552" y="2498661"/>
                  </a:lnTo>
                  <a:lnTo>
                    <a:pt x="1900929" y="2498661"/>
                  </a:lnTo>
                  <a:lnTo>
                    <a:pt x="1888996" y="2431041"/>
                  </a:lnTo>
                  <a:close/>
                </a:path>
                <a:path w="1913889" h="2571750">
                  <a:moveTo>
                    <a:pt x="34034" y="0"/>
                  </a:moveTo>
                  <a:lnTo>
                    <a:pt x="0" y="25294"/>
                  </a:lnTo>
                  <a:lnTo>
                    <a:pt x="1820926" y="2481629"/>
                  </a:lnTo>
                  <a:lnTo>
                    <a:pt x="1854962" y="2456334"/>
                  </a:lnTo>
                  <a:lnTo>
                    <a:pt x="34034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6" name="object 10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35503" y="2482595"/>
              <a:ext cx="3096768" cy="1563624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2667304" y="2497801"/>
              <a:ext cx="2905125" cy="1375410"/>
            </a:xfrm>
            <a:custGeom>
              <a:avLst/>
              <a:gdLst/>
              <a:ahLst/>
              <a:cxnLst/>
              <a:rect l="l" t="t" r="r" b="b"/>
              <a:pathLst>
                <a:path w="2905125" h="1375410">
                  <a:moveTo>
                    <a:pt x="2780841" y="1336640"/>
                  </a:moveTo>
                  <a:lnTo>
                    <a:pt x="2762930" y="1375103"/>
                  </a:lnTo>
                  <a:lnTo>
                    <a:pt x="2905044" y="1371208"/>
                  </a:lnTo>
                  <a:lnTo>
                    <a:pt x="2884751" y="1345608"/>
                  </a:lnTo>
                  <a:lnTo>
                    <a:pt x="2800051" y="1345608"/>
                  </a:lnTo>
                  <a:lnTo>
                    <a:pt x="2780841" y="1336640"/>
                  </a:lnTo>
                  <a:close/>
                </a:path>
                <a:path w="2905125" h="1375410">
                  <a:moveTo>
                    <a:pt x="2798753" y="1298176"/>
                  </a:moveTo>
                  <a:lnTo>
                    <a:pt x="2780841" y="1336640"/>
                  </a:lnTo>
                  <a:lnTo>
                    <a:pt x="2800051" y="1345608"/>
                  </a:lnTo>
                  <a:lnTo>
                    <a:pt x="2817962" y="1307143"/>
                  </a:lnTo>
                  <a:lnTo>
                    <a:pt x="2798753" y="1298176"/>
                  </a:lnTo>
                  <a:close/>
                </a:path>
                <a:path w="2905125" h="1375410">
                  <a:moveTo>
                    <a:pt x="2816664" y="1259713"/>
                  </a:moveTo>
                  <a:lnTo>
                    <a:pt x="2798753" y="1298176"/>
                  </a:lnTo>
                  <a:lnTo>
                    <a:pt x="2817962" y="1307143"/>
                  </a:lnTo>
                  <a:lnTo>
                    <a:pt x="2800051" y="1345608"/>
                  </a:lnTo>
                  <a:lnTo>
                    <a:pt x="2884751" y="1345608"/>
                  </a:lnTo>
                  <a:lnTo>
                    <a:pt x="2816664" y="1259713"/>
                  </a:lnTo>
                  <a:close/>
                </a:path>
                <a:path w="2905125" h="1375410">
                  <a:moveTo>
                    <a:pt x="17910" y="0"/>
                  </a:moveTo>
                  <a:lnTo>
                    <a:pt x="0" y="38464"/>
                  </a:lnTo>
                  <a:lnTo>
                    <a:pt x="2780841" y="1336640"/>
                  </a:lnTo>
                  <a:lnTo>
                    <a:pt x="2798753" y="1298176"/>
                  </a:lnTo>
                  <a:lnTo>
                    <a:pt x="17910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8" name="object 10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4991" y="3369563"/>
              <a:ext cx="1039368" cy="603503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912355" y="3456171"/>
              <a:ext cx="864869" cy="430530"/>
            </a:xfrm>
            <a:custGeom>
              <a:avLst/>
              <a:gdLst/>
              <a:ahLst/>
              <a:cxnLst/>
              <a:rect l="l" t="t" r="r" b="b"/>
              <a:pathLst>
                <a:path w="864869" h="430529">
                  <a:moveTo>
                    <a:pt x="864854" y="0"/>
                  </a:moveTo>
                  <a:lnTo>
                    <a:pt x="0" y="0"/>
                  </a:lnTo>
                  <a:lnTo>
                    <a:pt x="0" y="430350"/>
                  </a:lnTo>
                  <a:lnTo>
                    <a:pt x="864854" y="430350"/>
                  </a:lnTo>
                  <a:lnTo>
                    <a:pt x="864854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0" name="object 110"/>
            <p:cNvSpPr/>
            <p:nvPr/>
          </p:nvSpPr>
          <p:spPr>
            <a:xfrm>
              <a:off x="912355" y="3456171"/>
              <a:ext cx="864869" cy="430530"/>
            </a:xfrm>
            <a:custGeom>
              <a:avLst/>
              <a:gdLst/>
              <a:ahLst/>
              <a:cxnLst/>
              <a:rect l="l" t="t" r="r" b="b"/>
              <a:pathLst>
                <a:path w="864869" h="430529">
                  <a:moveTo>
                    <a:pt x="0" y="0"/>
                  </a:moveTo>
                  <a:lnTo>
                    <a:pt x="864853" y="0"/>
                  </a:lnTo>
                  <a:lnTo>
                    <a:pt x="864853" y="430350"/>
                  </a:lnTo>
                  <a:lnTo>
                    <a:pt x="0" y="430350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950625" y="3061280"/>
            <a:ext cx="744071" cy="329275"/>
          </a:xfrm>
          <a:prstGeom prst="rect">
            <a:avLst/>
          </a:prstGeom>
        </p:spPr>
        <p:txBody>
          <a:bodyPr vert="horz" wrap="square" lIns="0" tIns="21291" rIns="0" bIns="0" rtlCol="0">
            <a:spAutoFit/>
          </a:bodyPr>
          <a:lstStyle/>
          <a:p>
            <a:pPr marL="227492" marR="125513" indent="-98057">
              <a:lnSpc>
                <a:spcPts val="1227"/>
              </a:lnSpc>
              <a:spcBef>
                <a:spcPts val="168"/>
              </a:spcBef>
              <a:tabLst>
                <a:tab pos="445458" algn="l"/>
              </a:tabLst>
            </a:pP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35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ll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t 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3005866" y="4056978"/>
            <a:ext cx="718296" cy="503144"/>
            <a:chOff x="3254247" y="4597908"/>
            <a:chExt cx="814069" cy="570230"/>
          </a:xfrm>
        </p:grpSpPr>
        <p:pic>
          <p:nvPicPr>
            <p:cNvPr id="113" name="object 1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54247" y="4597908"/>
              <a:ext cx="813815" cy="569976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3339942" y="4684024"/>
              <a:ext cx="641350" cy="396240"/>
            </a:xfrm>
            <a:custGeom>
              <a:avLst/>
              <a:gdLst/>
              <a:ahLst/>
              <a:cxnLst/>
              <a:rect l="l" t="t" r="r" b="b"/>
              <a:pathLst>
                <a:path w="641350" h="396239">
                  <a:moveTo>
                    <a:pt x="640829" y="0"/>
                  </a:moveTo>
                  <a:lnTo>
                    <a:pt x="0" y="0"/>
                  </a:lnTo>
                  <a:lnTo>
                    <a:pt x="0" y="396029"/>
                  </a:lnTo>
                  <a:lnTo>
                    <a:pt x="640829" y="396029"/>
                  </a:lnTo>
                  <a:lnTo>
                    <a:pt x="640829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339942" y="4684024"/>
              <a:ext cx="641350" cy="396240"/>
            </a:xfrm>
            <a:custGeom>
              <a:avLst/>
              <a:gdLst/>
              <a:ahLst/>
              <a:cxnLst/>
              <a:rect l="l" t="t" r="r" b="b"/>
              <a:pathLst>
                <a:path w="641350" h="396239">
                  <a:moveTo>
                    <a:pt x="0" y="0"/>
                  </a:moveTo>
                  <a:lnTo>
                    <a:pt x="640828" y="0"/>
                  </a:lnTo>
                  <a:lnTo>
                    <a:pt x="640828" y="396029"/>
                  </a:lnTo>
                  <a:lnTo>
                    <a:pt x="0" y="396029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3089797" y="4145113"/>
            <a:ext cx="54908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82928">
              <a:spcBef>
                <a:spcPts val="88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3089797" y="4322930"/>
            <a:ext cx="549088" cy="153888"/>
          </a:xfrm>
          <a:prstGeom prst="rect">
            <a:avLst/>
          </a:prstGeom>
          <a:solidFill>
            <a:srgbClr val="C8EBFA"/>
          </a:solidFill>
        </p:spPr>
        <p:txBody>
          <a:bodyPr vert="horz" wrap="square" lIns="0" tIns="0" rIns="0" bIns="0" rtlCol="0">
            <a:spAutoFit/>
          </a:bodyPr>
          <a:lstStyle/>
          <a:p>
            <a:pPr marL="131116">
              <a:lnSpc>
                <a:spcPts val="1187"/>
              </a:lnSpc>
              <a:tabLst>
                <a:tab pos="349642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118" name="object 118"/>
          <p:cNvGrpSpPr/>
          <p:nvPr/>
        </p:nvGrpSpPr>
        <p:grpSpPr>
          <a:xfrm>
            <a:off x="2137186" y="4067735"/>
            <a:ext cx="718296" cy="497541"/>
            <a:chOff x="2269744" y="4610100"/>
            <a:chExt cx="814069" cy="563880"/>
          </a:xfrm>
        </p:grpSpPr>
        <p:pic>
          <p:nvPicPr>
            <p:cNvPr id="119" name="object 1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69744" y="4610100"/>
              <a:ext cx="813816" cy="563880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2355668" y="4697305"/>
              <a:ext cx="642620" cy="391160"/>
            </a:xfrm>
            <a:custGeom>
              <a:avLst/>
              <a:gdLst/>
              <a:ahLst/>
              <a:cxnLst/>
              <a:rect l="l" t="t" r="r" b="b"/>
              <a:pathLst>
                <a:path w="642619" h="391160">
                  <a:moveTo>
                    <a:pt x="642614" y="0"/>
                  </a:moveTo>
                  <a:lnTo>
                    <a:pt x="0" y="0"/>
                  </a:lnTo>
                  <a:lnTo>
                    <a:pt x="0" y="390824"/>
                  </a:lnTo>
                  <a:lnTo>
                    <a:pt x="642614" y="390824"/>
                  </a:lnTo>
                  <a:lnTo>
                    <a:pt x="642614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355668" y="4697305"/>
              <a:ext cx="642620" cy="391160"/>
            </a:xfrm>
            <a:custGeom>
              <a:avLst/>
              <a:gdLst/>
              <a:ahLst/>
              <a:cxnLst/>
              <a:rect l="l" t="t" r="r" b="b"/>
              <a:pathLst>
                <a:path w="642619" h="391160">
                  <a:moveTo>
                    <a:pt x="0" y="0"/>
                  </a:moveTo>
                  <a:lnTo>
                    <a:pt x="642614" y="0"/>
                  </a:lnTo>
                  <a:lnTo>
                    <a:pt x="642614" y="390824"/>
                  </a:lnTo>
                  <a:lnTo>
                    <a:pt x="0" y="390824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2224135" y="4155870"/>
            <a:ext cx="54796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80687">
              <a:spcBef>
                <a:spcPts val="88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224135" y="4314546"/>
            <a:ext cx="54796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29435">
              <a:spcBef>
                <a:spcPts val="88"/>
              </a:spcBef>
              <a:tabLst>
                <a:tab pos="347401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4971825" y="3158714"/>
            <a:ext cx="704850" cy="503144"/>
            <a:chOff x="5482335" y="3579876"/>
            <a:chExt cx="798830" cy="570230"/>
          </a:xfrm>
        </p:grpSpPr>
        <p:pic>
          <p:nvPicPr>
            <p:cNvPr id="125" name="object 1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82335" y="3579876"/>
              <a:ext cx="798576" cy="569976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5569158" y="3667744"/>
              <a:ext cx="626110" cy="396240"/>
            </a:xfrm>
            <a:custGeom>
              <a:avLst/>
              <a:gdLst/>
              <a:ahLst/>
              <a:cxnLst/>
              <a:rect l="l" t="t" r="r" b="b"/>
              <a:pathLst>
                <a:path w="626110" h="396239">
                  <a:moveTo>
                    <a:pt x="625802" y="0"/>
                  </a:moveTo>
                  <a:lnTo>
                    <a:pt x="0" y="0"/>
                  </a:lnTo>
                  <a:lnTo>
                    <a:pt x="0" y="396029"/>
                  </a:lnTo>
                  <a:lnTo>
                    <a:pt x="625802" y="396029"/>
                  </a:lnTo>
                  <a:lnTo>
                    <a:pt x="625802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5049842" y="3237680"/>
            <a:ext cx="552450" cy="355312"/>
          </a:xfrm>
          <a:prstGeom prst="rect">
            <a:avLst/>
          </a:prstGeom>
          <a:ln w="22046">
            <a:solidFill>
              <a:srgbClr val="0D6993"/>
            </a:solidFill>
          </a:ln>
        </p:spPr>
        <p:txBody>
          <a:bodyPr vert="horz" wrap="square" lIns="0" tIns="27454" rIns="0" bIns="0" rtlCol="0">
            <a:spAutoFit/>
          </a:bodyPr>
          <a:lstStyle/>
          <a:p>
            <a:pPr marL="161934" marR="156891" indent="14568">
              <a:lnSpc>
                <a:spcPts val="1253"/>
              </a:lnSpc>
              <a:spcBef>
                <a:spcPts val="216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low </a:t>
            </a:r>
            <a:r>
              <a:rPr sz="1059" spc="-22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</a:t>
            </a:r>
            <a:r>
              <a:rPr sz="1059" spc="141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9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4025822" y="5235388"/>
            <a:ext cx="298637" cy="168086"/>
          </a:xfrm>
          <a:prstGeom prst="rect">
            <a:avLst/>
          </a:prstGeom>
        </p:spPr>
        <p:txBody>
          <a:bodyPr vert="horz" wrap="square" lIns="0" tIns="5043" rIns="0" bIns="0" rtlCol="0">
            <a:spAutoFit/>
          </a:bodyPr>
          <a:lstStyle/>
          <a:p>
            <a:pPr marL="11206">
              <a:spcBef>
                <a:spcPts val="40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059" spc="-9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4783653" y="5248836"/>
            <a:ext cx="250451" cy="168086"/>
          </a:xfrm>
          <a:prstGeom prst="rect">
            <a:avLst/>
          </a:prstGeom>
        </p:spPr>
        <p:txBody>
          <a:bodyPr vert="horz" wrap="square" lIns="0" tIns="5043" rIns="0" bIns="0" rtlCol="0">
            <a:spAutoFit/>
          </a:bodyPr>
          <a:lstStyle/>
          <a:p>
            <a:pPr marL="11206">
              <a:spcBef>
                <a:spcPts val="40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059" spc="-1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9" spc="-3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33" name="Date Placeholder 132">
            <a:extLst>
              <a:ext uri="{FF2B5EF4-FFF2-40B4-BE49-F238E27FC236}">
                <a16:creationId xmlns:a16="http://schemas.microsoft.com/office/drawing/2014/main" id="{45454DBD-8A8D-43A6-B7AF-10BFA9B71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91F1F-3D6C-445D-85E8-FDAF493E0CBA}" type="datetime1">
              <a:rPr lang="en-US" smtClean="0"/>
              <a:t>3/30/2022</a:t>
            </a:fld>
            <a:endParaRPr lang="en-US"/>
          </a:p>
        </p:txBody>
      </p:sp>
      <p:sp>
        <p:nvSpPr>
          <p:cNvPr id="134" name="Footer Placeholder 133">
            <a:extLst>
              <a:ext uri="{FF2B5EF4-FFF2-40B4-BE49-F238E27FC236}">
                <a16:creationId xmlns:a16="http://schemas.microsoft.com/office/drawing/2014/main" id="{DD087A97-07C6-4A8D-B38A-500FC0C1D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135" name="Slide Number Placeholder 134">
            <a:extLst>
              <a:ext uri="{FF2B5EF4-FFF2-40B4-BE49-F238E27FC236}">
                <a16:creationId xmlns:a16="http://schemas.microsoft.com/office/drawing/2014/main" id="{1309D893-9847-4794-9ADD-DF7AA902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4925" y="845099"/>
            <a:ext cx="7318001" cy="1119877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8" dirty="0"/>
              <a:t>Stopping condition</a:t>
            </a:r>
            <a:r>
              <a:rPr spc="-22" dirty="0"/>
              <a:t> </a:t>
            </a:r>
            <a:r>
              <a:rPr spc="-18" dirty="0"/>
              <a:t>2:</a:t>
            </a:r>
            <a:r>
              <a:rPr spc="-13" dirty="0"/>
              <a:t> </a:t>
            </a:r>
            <a:r>
              <a:rPr spc="-18" dirty="0"/>
              <a:t>Already</a:t>
            </a:r>
            <a:r>
              <a:rPr spc="-22" dirty="0"/>
              <a:t> </a:t>
            </a:r>
            <a:r>
              <a:rPr spc="-9" dirty="0"/>
              <a:t>split</a:t>
            </a:r>
            <a:r>
              <a:rPr spc="-18" dirty="0"/>
              <a:t> </a:t>
            </a:r>
            <a:r>
              <a:rPr spc="-9" dirty="0"/>
              <a:t>on</a:t>
            </a:r>
            <a:r>
              <a:rPr spc="-22" dirty="0"/>
              <a:t> </a:t>
            </a:r>
            <a:r>
              <a:rPr spc="-9" dirty="0"/>
              <a:t>all </a:t>
            </a:r>
            <a:r>
              <a:rPr spc="-35" dirty="0"/>
              <a:t>features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40835" y="2124641"/>
            <a:ext cx="621366" cy="406213"/>
            <a:chOff x="2840546" y="2407926"/>
            <a:chExt cx="704215" cy="460375"/>
          </a:xfrm>
        </p:grpSpPr>
        <p:sp>
          <p:nvSpPr>
            <p:cNvPr id="4" name="object 4"/>
            <p:cNvSpPr/>
            <p:nvPr/>
          </p:nvSpPr>
          <p:spPr>
            <a:xfrm>
              <a:off x="2850071" y="2417451"/>
              <a:ext cx="685165" cy="441325"/>
            </a:xfrm>
            <a:custGeom>
              <a:avLst/>
              <a:gdLst/>
              <a:ahLst/>
              <a:cxnLst/>
              <a:rect l="l" t="t" r="r" b="b"/>
              <a:pathLst>
                <a:path w="685164" h="441325">
                  <a:moveTo>
                    <a:pt x="684966" y="0"/>
                  </a:moveTo>
                  <a:lnTo>
                    <a:pt x="0" y="0"/>
                  </a:lnTo>
                  <a:lnTo>
                    <a:pt x="0" y="441177"/>
                  </a:lnTo>
                  <a:lnTo>
                    <a:pt x="684966" y="441177"/>
                  </a:lnTo>
                  <a:lnTo>
                    <a:pt x="684966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850071" y="2417451"/>
              <a:ext cx="685165" cy="441325"/>
            </a:xfrm>
            <a:custGeom>
              <a:avLst/>
              <a:gdLst/>
              <a:ahLst/>
              <a:cxnLst/>
              <a:rect l="l" t="t" r="r" b="b"/>
              <a:pathLst>
                <a:path w="685164" h="441325">
                  <a:moveTo>
                    <a:pt x="0" y="0"/>
                  </a:moveTo>
                  <a:lnTo>
                    <a:pt x="684967" y="0"/>
                  </a:lnTo>
                  <a:lnTo>
                    <a:pt x="684967" y="441177"/>
                  </a:lnTo>
                  <a:lnTo>
                    <a:pt x="0" y="441177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657558" y="2144191"/>
            <a:ext cx="587749" cy="31909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63054">
              <a:lnSpc>
                <a:spcPts val="1249"/>
              </a:lnSpc>
              <a:spcBef>
                <a:spcPts val="88"/>
              </a:spcBef>
            </a:pPr>
            <a:r>
              <a:rPr sz="1059" b="1" spc="-13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059">
              <a:latin typeface="Calibri"/>
              <a:cs typeface="Calibri"/>
            </a:endParaRPr>
          </a:p>
          <a:p>
            <a:pPr marL="98057">
              <a:lnSpc>
                <a:spcPts val="1249"/>
              </a:lnSpc>
              <a:tabLst>
                <a:tab pos="353564" algn="l"/>
              </a:tabLst>
            </a:pPr>
            <a:r>
              <a:rPr sz="1059" spc="-4" dirty="0">
                <a:solidFill>
                  <a:srgbClr val="648E04"/>
                </a:solidFill>
                <a:latin typeface="Calibri"/>
                <a:cs typeface="Calibri"/>
              </a:rPr>
              <a:t>22	</a:t>
            </a:r>
            <a:r>
              <a:rPr sz="1059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2306" y="3052433"/>
            <a:ext cx="763120" cy="340591"/>
          </a:xfrm>
          <a:prstGeom prst="rect">
            <a:avLst/>
          </a:prstGeom>
          <a:solidFill>
            <a:srgbClr val="C8EBFA"/>
          </a:solidFill>
          <a:ln w="18857">
            <a:solidFill>
              <a:srgbClr val="0D6993"/>
            </a:solidFill>
          </a:ln>
        </p:spPr>
        <p:txBody>
          <a:bodyPr vert="horz" wrap="square" lIns="0" tIns="32497" rIns="0" bIns="0" rtlCol="0">
            <a:spAutoFit/>
          </a:bodyPr>
          <a:lstStyle/>
          <a:p>
            <a:pPr marL="238698" marR="133357" indent="-98057">
              <a:lnSpc>
                <a:spcPts val="1227"/>
              </a:lnSpc>
              <a:spcBef>
                <a:spcPts val="256"/>
              </a:spcBef>
              <a:tabLst>
                <a:tab pos="456664" algn="l"/>
              </a:tabLst>
            </a:pP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35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ll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t 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059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86608" y="3120048"/>
            <a:ext cx="530038" cy="381000"/>
            <a:chOff x="2892422" y="3536054"/>
            <a:chExt cx="600710" cy="431800"/>
          </a:xfrm>
        </p:grpSpPr>
        <p:sp>
          <p:nvSpPr>
            <p:cNvPr id="9" name="object 9"/>
            <p:cNvSpPr/>
            <p:nvPr/>
          </p:nvSpPr>
          <p:spPr>
            <a:xfrm>
              <a:off x="2901947" y="3545579"/>
              <a:ext cx="581660" cy="412750"/>
            </a:xfrm>
            <a:custGeom>
              <a:avLst/>
              <a:gdLst/>
              <a:ahLst/>
              <a:cxnLst/>
              <a:rect l="l" t="t" r="r" b="b"/>
              <a:pathLst>
                <a:path w="581660" h="412750">
                  <a:moveTo>
                    <a:pt x="581215" y="0"/>
                  </a:moveTo>
                  <a:lnTo>
                    <a:pt x="0" y="0"/>
                  </a:lnTo>
                  <a:lnTo>
                    <a:pt x="0" y="412549"/>
                  </a:lnTo>
                  <a:lnTo>
                    <a:pt x="581215" y="412549"/>
                  </a:lnTo>
                  <a:lnTo>
                    <a:pt x="581215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901947" y="3545579"/>
              <a:ext cx="581660" cy="412750"/>
            </a:xfrm>
            <a:custGeom>
              <a:avLst/>
              <a:gdLst/>
              <a:ahLst/>
              <a:cxnLst/>
              <a:rect l="l" t="t" r="r" b="b"/>
              <a:pathLst>
                <a:path w="581660" h="412750">
                  <a:moveTo>
                    <a:pt x="0" y="0"/>
                  </a:moveTo>
                  <a:lnTo>
                    <a:pt x="581215" y="0"/>
                  </a:lnTo>
                  <a:lnTo>
                    <a:pt x="581215" y="412550"/>
                  </a:lnTo>
                  <a:lnTo>
                    <a:pt x="0" y="412550"/>
                  </a:lnTo>
                  <a:lnTo>
                    <a:pt x="0" y="0"/>
                  </a:lnTo>
                  <a:close/>
                </a:path>
              </a:pathLst>
            </a:custGeom>
            <a:ln w="18853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41009" y="3139273"/>
            <a:ext cx="220756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35" dirty="0">
                <a:solidFill>
                  <a:srgbClr val="2B2728"/>
                </a:solidFill>
                <a:latin typeface="Calibri"/>
                <a:cs typeface="Calibri"/>
              </a:rPr>
              <a:t>F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ai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7127" y="3295259"/>
            <a:ext cx="309282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229173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86690" y="2169828"/>
            <a:ext cx="743509" cy="340659"/>
          </a:xfrm>
          <a:custGeom>
            <a:avLst/>
            <a:gdLst/>
            <a:ahLst/>
            <a:cxnLst/>
            <a:rect l="l" t="t" r="r" b="b"/>
            <a:pathLst>
              <a:path w="842645" h="386080">
                <a:moveTo>
                  <a:pt x="842347" y="0"/>
                </a:moveTo>
                <a:lnTo>
                  <a:pt x="0" y="0"/>
                </a:lnTo>
                <a:lnTo>
                  <a:pt x="0" y="385456"/>
                </a:lnTo>
                <a:lnTo>
                  <a:pt x="842347" y="385456"/>
                </a:lnTo>
                <a:lnTo>
                  <a:pt x="842347" y="0"/>
                </a:lnTo>
                <a:close/>
              </a:path>
            </a:pathLst>
          </a:custGeom>
          <a:solidFill>
            <a:srgbClr val="C8EBF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 txBox="1"/>
          <p:nvPr/>
        </p:nvSpPr>
        <p:spPr>
          <a:xfrm>
            <a:off x="4586690" y="2169829"/>
            <a:ext cx="743509" cy="349655"/>
          </a:xfrm>
          <a:prstGeom prst="rect">
            <a:avLst/>
          </a:prstGeom>
          <a:ln w="18857">
            <a:solidFill>
              <a:srgbClr val="0D6993"/>
            </a:solidFill>
          </a:ln>
        </p:spPr>
        <p:txBody>
          <a:bodyPr vert="horz" wrap="square" lIns="0" tIns="21851" rIns="0" bIns="0" rtlCol="0">
            <a:spAutoFit/>
          </a:bodyPr>
          <a:lstStyle/>
          <a:p>
            <a:pPr marL="194992" marR="188269" indent="47628">
              <a:lnSpc>
                <a:spcPts val="1253"/>
              </a:lnSpc>
              <a:spcBef>
                <a:spcPts val="172"/>
              </a:spcBef>
              <a:tabLst>
                <a:tab pos="412959" algn="l"/>
              </a:tabLst>
            </a:pP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poor 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4	</a:t>
            </a:r>
            <a:r>
              <a:rPr sz="1059" spc="-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2145" y="2210546"/>
            <a:ext cx="909918" cy="4353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8"/>
              </a:lnSpc>
            </a:pPr>
            <a:r>
              <a:rPr sz="1412" b="1" spc="9" dirty="0">
                <a:solidFill>
                  <a:srgbClr val="2B2728"/>
                </a:solidFill>
                <a:latin typeface="Calibri"/>
                <a:cs typeface="Calibri"/>
              </a:rPr>
              <a:t>Loan</a:t>
            </a:r>
            <a:r>
              <a:rPr sz="1412" b="1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b="1" dirty="0">
                <a:solidFill>
                  <a:srgbClr val="2B2728"/>
                </a:solidFill>
                <a:latin typeface="Calibri"/>
                <a:cs typeface="Calibri"/>
              </a:rPr>
              <a:t>status:</a:t>
            </a:r>
            <a:endParaRPr sz="1412">
              <a:latin typeface="Calibri"/>
              <a:cs typeface="Calibri"/>
            </a:endParaRPr>
          </a:p>
          <a:p>
            <a:pPr>
              <a:spcBef>
                <a:spcPts val="84"/>
              </a:spcBef>
            </a:pPr>
            <a:r>
              <a:rPr sz="1412" spc="-4" dirty="0">
                <a:solidFill>
                  <a:srgbClr val="648E04"/>
                </a:solidFill>
                <a:latin typeface="Calibri"/>
                <a:cs typeface="Calibri"/>
              </a:rPr>
              <a:t>Safe </a:t>
            </a:r>
            <a:r>
              <a:rPr sz="1412" spc="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412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15455" y="2011636"/>
            <a:ext cx="3651437" cy="1125631"/>
            <a:chOff x="1338449" y="2279854"/>
            <a:chExt cx="4138295" cy="127571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9017" y="2858612"/>
              <a:ext cx="87448" cy="17915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92554" y="3399859"/>
              <a:ext cx="635" cy="146050"/>
            </a:xfrm>
            <a:custGeom>
              <a:avLst/>
              <a:gdLst/>
              <a:ahLst/>
              <a:cxnLst/>
              <a:rect l="l" t="t" r="r" b="b"/>
              <a:pathLst>
                <a:path w="635" h="146050">
                  <a:moveTo>
                    <a:pt x="160" y="-9419"/>
                  </a:moveTo>
                  <a:lnTo>
                    <a:pt x="160" y="155138"/>
                  </a:lnTo>
                </a:path>
              </a:pathLst>
            </a:custGeom>
            <a:ln w="19158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4026891" y="2289379"/>
              <a:ext cx="1440180" cy="929640"/>
            </a:xfrm>
            <a:custGeom>
              <a:avLst/>
              <a:gdLst/>
              <a:ahLst/>
              <a:cxnLst/>
              <a:rect l="l" t="t" r="r" b="b"/>
              <a:pathLst>
                <a:path w="1440179" h="929639">
                  <a:moveTo>
                    <a:pt x="0" y="929410"/>
                  </a:moveTo>
                  <a:lnTo>
                    <a:pt x="509474" y="929410"/>
                  </a:lnTo>
                  <a:lnTo>
                    <a:pt x="509474" y="0"/>
                  </a:lnTo>
                  <a:lnTo>
                    <a:pt x="1440131" y="0"/>
                  </a:lnTo>
                  <a:lnTo>
                    <a:pt x="1440131" y="169759"/>
                  </a:lnTo>
                </a:path>
              </a:pathLst>
            </a:custGeom>
            <a:ln w="18854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1347974" y="3218789"/>
              <a:ext cx="1010919" cy="240665"/>
            </a:xfrm>
            <a:custGeom>
              <a:avLst/>
              <a:gdLst/>
              <a:ahLst/>
              <a:cxnLst/>
              <a:rect l="l" t="t" r="r" b="b"/>
              <a:pathLst>
                <a:path w="1010919" h="240664">
                  <a:moveTo>
                    <a:pt x="1010884" y="0"/>
                  </a:moveTo>
                  <a:lnTo>
                    <a:pt x="0" y="0"/>
                  </a:lnTo>
                  <a:lnTo>
                    <a:pt x="0" y="240633"/>
                  </a:lnTo>
                </a:path>
              </a:pathLst>
            </a:custGeom>
            <a:ln w="18860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2358859" y="3037720"/>
              <a:ext cx="1668145" cy="362585"/>
            </a:xfrm>
            <a:custGeom>
              <a:avLst/>
              <a:gdLst/>
              <a:ahLst/>
              <a:cxnLst/>
              <a:rect l="l" t="t" r="r" b="b"/>
              <a:pathLst>
                <a:path w="1668145" h="362585">
                  <a:moveTo>
                    <a:pt x="834015" y="0"/>
                  </a:moveTo>
                  <a:lnTo>
                    <a:pt x="0" y="181068"/>
                  </a:lnTo>
                  <a:lnTo>
                    <a:pt x="834015" y="362139"/>
                  </a:lnTo>
                  <a:lnTo>
                    <a:pt x="1668031" y="181068"/>
                  </a:lnTo>
                  <a:lnTo>
                    <a:pt x="834015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2358859" y="3037720"/>
              <a:ext cx="1668145" cy="362585"/>
            </a:xfrm>
            <a:custGeom>
              <a:avLst/>
              <a:gdLst/>
              <a:ahLst/>
              <a:cxnLst/>
              <a:rect l="l" t="t" r="r" b="b"/>
              <a:pathLst>
                <a:path w="1668145" h="362585">
                  <a:moveTo>
                    <a:pt x="0" y="181069"/>
                  </a:moveTo>
                  <a:lnTo>
                    <a:pt x="834016" y="0"/>
                  </a:lnTo>
                  <a:lnTo>
                    <a:pt x="1668032" y="181069"/>
                  </a:lnTo>
                  <a:lnTo>
                    <a:pt x="834016" y="362139"/>
                  </a:lnTo>
                  <a:lnTo>
                    <a:pt x="0" y="181069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746591" y="2741240"/>
            <a:ext cx="411256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di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12299" y="3432074"/>
            <a:ext cx="627529" cy="547407"/>
            <a:chOff x="994872" y="3889683"/>
            <a:chExt cx="711200" cy="620395"/>
          </a:xfrm>
        </p:grpSpPr>
        <p:sp>
          <p:nvSpPr>
            <p:cNvPr id="25" name="object 25"/>
            <p:cNvSpPr/>
            <p:nvPr/>
          </p:nvSpPr>
          <p:spPr>
            <a:xfrm>
              <a:off x="1305999" y="3889683"/>
              <a:ext cx="87630" cy="257175"/>
            </a:xfrm>
            <a:custGeom>
              <a:avLst/>
              <a:gdLst/>
              <a:ahLst/>
              <a:cxnLst/>
              <a:rect l="l" t="t" r="r" b="b"/>
              <a:pathLst>
                <a:path w="87630" h="257175">
                  <a:moveTo>
                    <a:pt x="10398" y="171203"/>
                  </a:moveTo>
                  <a:lnTo>
                    <a:pt x="1463" y="176538"/>
                  </a:lnTo>
                  <a:lnTo>
                    <a:pt x="0" y="182327"/>
                  </a:lnTo>
                  <a:lnTo>
                    <a:pt x="44443" y="256952"/>
                  </a:lnTo>
                  <a:lnTo>
                    <a:pt x="55056" y="238326"/>
                  </a:lnTo>
                  <a:lnTo>
                    <a:pt x="34844" y="238326"/>
                  </a:lnTo>
                  <a:lnTo>
                    <a:pt x="34509" y="203444"/>
                  </a:lnTo>
                  <a:lnTo>
                    <a:pt x="16179" y="172667"/>
                  </a:lnTo>
                  <a:lnTo>
                    <a:pt x="10398" y="171203"/>
                  </a:lnTo>
                  <a:close/>
                </a:path>
                <a:path w="87630" h="257175">
                  <a:moveTo>
                    <a:pt x="34509" y="203444"/>
                  </a:moveTo>
                  <a:lnTo>
                    <a:pt x="34844" y="238326"/>
                  </a:lnTo>
                  <a:lnTo>
                    <a:pt x="53682" y="238145"/>
                  </a:lnTo>
                  <a:lnTo>
                    <a:pt x="53638" y="233563"/>
                  </a:lnTo>
                  <a:lnTo>
                    <a:pt x="36081" y="233563"/>
                  </a:lnTo>
                  <a:lnTo>
                    <a:pt x="44083" y="219520"/>
                  </a:lnTo>
                  <a:lnTo>
                    <a:pt x="34509" y="203444"/>
                  </a:lnTo>
                  <a:close/>
                </a:path>
                <a:path w="87630" h="257175">
                  <a:moveTo>
                    <a:pt x="76835" y="170563"/>
                  </a:moveTo>
                  <a:lnTo>
                    <a:pt x="71081" y="172138"/>
                  </a:lnTo>
                  <a:lnTo>
                    <a:pt x="53347" y="203261"/>
                  </a:lnTo>
                  <a:lnTo>
                    <a:pt x="53682" y="238145"/>
                  </a:lnTo>
                  <a:lnTo>
                    <a:pt x="34844" y="238326"/>
                  </a:lnTo>
                  <a:lnTo>
                    <a:pt x="55056" y="238326"/>
                  </a:lnTo>
                  <a:lnTo>
                    <a:pt x="87444" y="181485"/>
                  </a:lnTo>
                  <a:lnTo>
                    <a:pt x="85871" y="175726"/>
                  </a:lnTo>
                  <a:lnTo>
                    <a:pt x="76835" y="170563"/>
                  </a:lnTo>
                  <a:close/>
                </a:path>
                <a:path w="87630" h="257175">
                  <a:moveTo>
                    <a:pt x="44083" y="219520"/>
                  </a:moveTo>
                  <a:lnTo>
                    <a:pt x="36081" y="233563"/>
                  </a:lnTo>
                  <a:lnTo>
                    <a:pt x="52354" y="233406"/>
                  </a:lnTo>
                  <a:lnTo>
                    <a:pt x="44083" y="219520"/>
                  </a:lnTo>
                  <a:close/>
                </a:path>
                <a:path w="87630" h="257175">
                  <a:moveTo>
                    <a:pt x="53347" y="203261"/>
                  </a:moveTo>
                  <a:lnTo>
                    <a:pt x="44083" y="219520"/>
                  </a:lnTo>
                  <a:lnTo>
                    <a:pt x="52354" y="233406"/>
                  </a:lnTo>
                  <a:lnTo>
                    <a:pt x="36081" y="233563"/>
                  </a:lnTo>
                  <a:lnTo>
                    <a:pt x="53638" y="233563"/>
                  </a:lnTo>
                  <a:lnTo>
                    <a:pt x="53347" y="203261"/>
                  </a:lnTo>
                  <a:close/>
                </a:path>
                <a:path w="87630" h="257175">
                  <a:moveTo>
                    <a:pt x="51394" y="0"/>
                  </a:moveTo>
                  <a:lnTo>
                    <a:pt x="32556" y="181"/>
                  </a:lnTo>
                  <a:lnTo>
                    <a:pt x="34509" y="203444"/>
                  </a:lnTo>
                  <a:lnTo>
                    <a:pt x="44083" y="219520"/>
                  </a:lnTo>
                  <a:lnTo>
                    <a:pt x="53347" y="203261"/>
                  </a:lnTo>
                  <a:lnTo>
                    <a:pt x="51394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1004397" y="4146593"/>
              <a:ext cx="692150" cy="353695"/>
            </a:xfrm>
            <a:custGeom>
              <a:avLst/>
              <a:gdLst/>
              <a:ahLst/>
              <a:cxnLst/>
              <a:rect l="l" t="t" r="r" b="b"/>
              <a:pathLst>
                <a:path w="692150" h="353695">
                  <a:moveTo>
                    <a:pt x="515547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3"/>
                  </a:lnTo>
                  <a:lnTo>
                    <a:pt x="87438" y="329392"/>
                  </a:lnTo>
                  <a:lnTo>
                    <a:pt x="129610" y="347211"/>
                  </a:lnTo>
                  <a:lnTo>
                    <a:pt x="176542" y="353526"/>
                  </a:lnTo>
                  <a:lnTo>
                    <a:pt x="515547" y="353526"/>
                  </a:lnTo>
                  <a:lnTo>
                    <a:pt x="562479" y="347211"/>
                  </a:lnTo>
                  <a:lnTo>
                    <a:pt x="604652" y="329392"/>
                  </a:lnTo>
                  <a:lnTo>
                    <a:pt x="640382" y="301753"/>
                  </a:lnTo>
                  <a:lnTo>
                    <a:pt x="667987" y="265979"/>
                  </a:lnTo>
                  <a:lnTo>
                    <a:pt x="685785" y="223754"/>
                  </a:lnTo>
                  <a:lnTo>
                    <a:pt x="692091" y="176763"/>
                  </a:lnTo>
                  <a:lnTo>
                    <a:pt x="685785" y="129772"/>
                  </a:lnTo>
                  <a:lnTo>
                    <a:pt x="667987" y="87547"/>
                  </a:lnTo>
                  <a:lnTo>
                    <a:pt x="640382" y="51772"/>
                  </a:lnTo>
                  <a:lnTo>
                    <a:pt x="604652" y="24133"/>
                  </a:lnTo>
                  <a:lnTo>
                    <a:pt x="562479" y="6314"/>
                  </a:lnTo>
                  <a:lnTo>
                    <a:pt x="515547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1004397" y="4146593"/>
              <a:ext cx="692150" cy="353695"/>
            </a:xfrm>
            <a:custGeom>
              <a:avLst/>
              <a:gdLst/>
              <a:ahLst/>
              <a:cxnLst/>
              <a:rect l="l" t="t" r="r" b="b"/>
              <a:pathLst>
                <a:path w="692150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515547" y="0"/>
                  </a:lnTo>
                  <a:lnTo>
                    <a:pt x="562479" y="6314"/>
                  </a:lnTo>
                  <a:lnTo>
                    <a:pt x="604652" y="24133"/>
                  </a:lnTo>
                  <a:lnTo>
                    <a:pt x="640382" y="51772"/>
                  </a:lnTo>
                  <a:lnTo>
                    <a:pt x="667987" y="87547"/>
                  </a:lnTo>
                  <a:lnTo>
                    <a:pt x="685784" y="129772"/>
                  </a:lnTo>
                  <a:lnTo>
                    <a:pt x="692090" y="176763"/>
                  </a:lnTo>
                  <a:lnTo>
                    <a:pt x="685784" y="223754"/>
                  </a:lnTo>
                  <a:lnTo>
                    <a:pt x="667987" y="265979"/>
                  </a:lnTo>
                  <a:lnTo>
                    <a:pt x="640382" y="301753"/>
                  </a:lnTo>
                  <a:lnTo>
                    <a:pt x="604652" y="329393"/>
                  </a:lnTo>
                  <a:lnTo>
                    <a:pt x="562479" y="347212"/>
                  </a:lnTo>
                  <a:lnTo>
                    <a:pt x="515547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648E0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01054" y="3717496"/>
            <a:ext cx="250451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059" spc="-1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9" spc="-3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075889" y="4127427"/>
            <a:ext cx="582706" cy="366432"/>
            <a:chOff x="3333608" y="4677750"/>
            <a:chExt cx="660400" cy="415290"/>
          </a:xfrm>
        </p:grpSpPr>
        <p:sp>
          <p:nvSpPr>
            <p:cNvPr id="30" name="object 30"/>
            <p:cNvSpPr/>
            <p:nvPr/>
          </p:nvSpPr>
          <p:spPr>
            <a:xfrm>
              <a:off x="3343133" y="4687275"/>
              <a:ext cx="641350" cy="396240"/>
            </a:xfrm>
            <a:custGeom>
              <a:avLst/>
              <a:gdLst/>
              <a:ahLst/>
              <a:cxnLst/>
              <a:rect l="l" t="t" r="r" b="b"/>
              <a:pathLst>
                <a:path w="641350" h="396239">
                  <a:moveTo>
                    <a:pt x="640829" y="0"/>
                  </a:moveTo>
                  <a:lnTo>
                    <a:pt x="0" y="0"/>
                  </a:lnTo>
                  <a:lnTo>
                    <a:pt x="0" y="396029"/>
                  </a:lnTo>
                  <a:lnTo>
                    <a:pt x="640829" y="396029"/>
                  </a:lnTo>
                  <a:lnTo>
                    <a:pt x="640829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3343133" y="4687275"/>
              <a:ext cx="641350" cy="396240"/>
            </a:xfrm>
            <a:custGeom>
              <a:avLst/>
              <a:gdLst/>
              <a:ahLst/>
              <a:cxnLst/>
              <a:rect l="l" t="t" r="r" b="b"/>
              <a:pathLst>
                <a:path w="641350" h="396239">
                  <a:moveTo>
                    <a:pt x="0" y="0"/>
                  </a:moveTo>
                  <a:lnTo>
                    <a:pt x="640828" y="0"/>
                  </a:lnTo>
                  <a:lnTo>
                    <a:pt x="640828" y="396029"/>
                  </a:lnTo>
                  <a:lnTo>
                    <a:pt x="0" y="396029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164528" y="4147802"/>
            <a:ext cx="405653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y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a</a:t>
            </a: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s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12982" y="4306477"/>
            <a:ext cx="309282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229173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207413" y="4139146"/>
            <a:ext cx="583826" cy="361949"/>
            <a:chOff x="2349334" y="4691031"/>
            <a:chExt cx="661670" cy="410209"/>
          </a:xfrm>
        </p:grpSpPr>
        <p:sp>
          <p:nvSpPr>
            <p:cNvPr id="35" name="object 35"/>
            <p:cNvSpPr/>
            <p:nvPr/>
          </p:nvSpPr>
          <p:spPr>
            <a:xfrm>
              <a:off x="2358859" y="4700556"/>
              <a:ext cx="642620" cy="391160"/>
            </a:xfrm>
            <a:custGeom>
              <a:avLst/>
              <a:gdLst/>
              <a:ahLst/>
              <a:cxnLst/>
              <a:rect l="l" t="t" r="r" b="b"/>
              <a:pathLst>
                <a:path w="642619" h="391160">
                  <a:moveTo>
                    <a:pt x="642614" y="0"/>
                  </a:moveTo>
                  <a:lnTo>
                    <a:pt x="0" y="0"/>
                  </a:lnTo>
                  <a:lnTo>
                    <a:pt x="0" y="390824"/>
                  </a:lnTo>
                  <a:lnTo>
                    <a:pt x="642614" y="390824"/>
                  </a:lnTo>
                  <a:lnTo>
                    <a:pt x="642614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2358859" y="4700556"/>
              <a:ext cx="642620" cy="391160"/>
            </a:xfrm>
            <a:custGeom>
              <a:avLst/>
              <a:gdLst/>
              <a:ahLst/>
              <a:cxnLst/>
              <a:rect l="l" t="t" r="r" b="b"/>
              <a:pathLst>
                <a:path w="642619" h="391160">
                  <a:moveTo>
                    <a:pt x="0" y="0"/>
                  </a:moveTo>
                  <a:lnTo>
                    <a:pt x="642614" y="0"/>
                  </a:lnTo>
                  <a:lnTo>
                    <a:pt x="642614" y="390824"/>
                  </a:lnTo>
                  <a:lnTo>
                    <a:pt x="0" y="390824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224136" y="4161249"/>
            <a:ext cx="550769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83488">
              <a:spcBef>
                <a:spcPts val="88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24136" y="4317235"/>
            <a:ext cx="550769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32236">
              <a:spcBef>
                <a:spcPts val="88"/>
              </a:spcBef>
              <a:tabLst>
                <a:tab pos="350203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396269" y="3646555"/>
            <a:ext cx="1100418" cy="336737"/>
            <a:chOff x="2563372" y="4132762"/>
            <a:chExt cx="1247140" cy="381635"/>
          </a:xfrm>
        </p:grpSpPr>
        <p:sp>
          <p:nvSpPr>
            <p:cNvPr id="40" name="object 40"/>
            <p:cNvSpPr/>
            <p:nvPr/>
          </p:nvSpPr>
          <p:spPr>
            <a:xfrm>
              <a:off x="2572897" y="4142287"/>
              <a:ext cx="1228090" cy="362585"/>
            </a:xfrm>
            <a:custGeom>
              <a:avLst/>
              <a:gdLst/>
              <a:ahLst/>
              <a:cxnLst/>
              <a:rect l="l" t="t" r="r" b="b"/>
              <a:pathLst>
                <a:path w="1228089" h="362585">
                  <a:moveTo>
                    <a:pt x="613905" y="0"/>
                  </a:moveTo>
                  <a:lnTo>
                    <a:pt x="0" y="181068"/>
                  </a:lnTo>
                  <a:lnTo>
                    <a:pt x="613905" y="362139"/>
                  </a:lnTo>
                  <a:lnTo>
                    <a:pt x="1227811" y="181068"/>
                  </a:lnTo>
                  <a:lnTo>
                    <a:pt x="613905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2572897" y="4142287"/>
              <a:ext cx="1228090" cy="362585"/>
            </a:xfrm>
            <a:custGeom>
              <a:avLst/>
              <a:gdLst/>
              <a:ahLst/>
              <a:cxnLst/>
              <a:rect l="l" t="t" r="r" b="b"/>
              <a:pathLst>
                <a:path w="1228089" h="362585">
                  <a:moveTo>
                    <a:pt x="0" y="181069"/>
                  </a:moveTo>
                  <a:lnTo>
                    <a:pt x="613906" y="0"/>
                  </a:lnTo>
                  <a:lnTo>
                    <a:pt x="1227812" y="181069"/>
                  </a:lnTo>
                  <a:lnTo>
                    <a:pt x="613906" y="362139"/>
                  </a:lnTo>
                  <a:lnTo>
                    <a:pt x="0" y="181069"/>
                  </a:lnTo>
                  <a:close/>
                </a:path>
              </a:pathLst>
            </a:custGeom>
            <a:ln w="18859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768597" y="3717496"/>
            <a:ext cx="356907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106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er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204930" y="2509937"/>
            <a:ext cx="2792506" cy="2568388"/>
            <a:chOff x="2346521" y="2844595"/>
            <a:chExt cx="3164840" cy="2910840"/>
          </a:xfrm>
        </p:grpSpPr>
        <p:sp>
          <p:nvSpPr>
            <p:cNvPr id="44" name="object 44"/>
            <p:cNvSpPr/>
            <p:nvPr/>
          </p:nvSpPr>
          <p:spPr>
            <a:xfrm>
              <a:off x="3186804" y="4504427"/>
              <a:ext cx="506730" cy="196215"/>
            </a:xfrm>
            <a:custGeom>
              <a:avLst/>
              <a:gdLst/>
              <a:ahLst/>
              <a:cxnLst/>
              <a:rect l="l" t="t" r="r" b="b"/>
              <a:pathLst>
                <a:path w="506729" h="196214">
                  <a:moveTo>
                    <a:pt x="0" y="0"/>
                  </a:moveTo>
                  <a:lnTo>
                    <a:pt x="476744" y="182849"/>
                  </a:lnTo>
                </a:path>
                <a:path w="506729" h="196214">
                  <a:moveTo>
                    <a:pt x="0" y="0"/>
                  </a:moveTo>
                  <a:lnTo>
                    <a:pt x="506636" y="196130"/>
                  </a:lnTo>
                </a:path>
              </a:pathLst>
            </a:custGeom>
            <a:ln w="18850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5442" y="3957834"/>
              <a:ext cx="87406" cy="18449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633510" y="2844596"/>
              <a:ext cx="2877820" cy="2547620"/>
            </a:xfrm>
            <a:custGeom>
              <a:avLst/>
              <a:gdLst/>
              <a:ahLst/>
              <a:cxnLst/>
              <a:rect l="l" t="t" r="r" b="b"/>
              <a:pathLst>
                <a:path w="2877820" h="2547620">
                  <a:moveTo>
                    <a:pt x="87439" y="2473007"/>
                  </a:moveTo>
                  <a:lnTo>
                    <a:pt x="85991" y="2467216"/>
                  </a:lnTo>
                  <a:lnTo>
                    <a:pt x="77076" y="2461857"/>
                  </a:lnTo>
                  <a:lnTo>
                    <a:pt x="71297" y="2463292"/>
                  </a:lnTo>
                  <a:lnTo>
                    <a:pt x="52857" y="2494013"/>
                  </a:lnTo>
                  <a:lnTo>
                    <a:pt x="56070" y="2246909"/>
                  </a:lnTo>
                  <a:lnTo>
                    <a:pt x="37236" y="2246668"/>
                  </a:lnTo>
                  <a:lnTo>
                    <a:pt x="34023" y="2493772"/>
                  </a:lnTo>
                  <a:lnTo>
                    <a:pt x="16395" y="2462580"/>
                  </a:lnTo>
                  <a:lnTo>
                    <a:pt x="10642" y="2460993"/>
                  </a:lnTo>
                  <a:lnTo>
                    <a:pt x="1587" y="2466124"/>
                  </a:lnTo>
                  <a:lnTo>
                    <a:pt x="0" y="2471877"/>
                  </a:lnTo>
                  <a:lnTo>
                    <a:pt x="42748" y="2547480"/>
                  </a:lnTo>
                  <a:lnTo>
                    <a:pt x="53898" y="2528887"/>
                  </a:lnTo>
                  <a:lnTo>
                    <a:pt x="87439" y="2473007"/>
                  </a:lnTo>
                  <a:close/>
                </a:path>
                <a:path w="2877820" h="2547620">
                  <a:moveTo>
                    <a:pt x="2877235" y="180251"/>
                  </a:moveTo>
                  <a:lnTo>
                    <a:pt x="2875711" y="174472"/>
                  </a:lnTo>
                  <a:lnTo>
                    <a:pt x="2866720" y="169227"/>
                  </a:lnTo>
                  <a:lnTo>
                    <a:pt x="2860954" y="170738"/>
                  </a:lnTo>
                  <a:lnTo>
                    <a:pt x="2842920" y="201688"/>
                  </a:lnTo>
                  <a:lnTo>
                    <a:pt x="2842920" y="0"/>
                  </a:lnTo>
                  <a:lnTo>
                    <a:pt x="2824086" y="0"/>
                  </a:lnTo>
                  <a:lnTo>
                    <a:pt x="2824086" y="201688"/>
                  </a:lnTo>
                  <a:lnTo>
                    <a:pt x="2806052" y="170738"/>
                  </a:lnTo>
                  <a:lnTo>
                    <a:pt x="2800286" y="169227"/>
                  </a:lnTo>
                  <a:lnTo>
                    <a:pt x="2791295" y="174472"/>
                  </a:lnTo>
                  <a:lnTo>
                    <a:pt x="2789783" y="180251"/>
                  </a:lnTo>
                  <a:lnTo>
                    <a:pt x="2833509" y="255295"/>
                  </a:lnTo>
                  <a:lnTo>
                    <a:pt x="2844406" y="236575"/>
                  </a:lnTo>
                  <a:lnTo>
                    <a:pt x="2877235" y="180251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2356046" y="5392033"/>
              <a:ext cx="640715" cy="353695"/>
            </a:xfrm>
            <a:custGeom>
              <a:avLst/>
              <a:gdLst/>
              <a:ahLst/>
              <a:cxnLst/>
              <a:rect l="l" t="t" r="r" b="b"/>
              <a:pathLst>
                <a:path w="640714" h="353695">
                  <a:moveTo>
                    <a:pt x="463884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3"/>
                  </a:lnTo>
                  <a:lnTo>
                    <a:pt x="87438" y="329392"/>
                  </a:lnTo>
                  <a:lnTo>
                    <a:pt x="129610" y="347211"/>
                  </a:lnTo>
                  <a:lnTo>
                    <a:pt x="176542" y="353526"/>
                  </a:lnTo>
                  <a:lnTo>
                    <a:pt x="463884" y="353526"/>
                  </a:lnTo>
                  <a:lnTo>
                    <a:pt x="510816" y="347211"/>
                  </a:lnTo>
                  <a:lnTo>
                    <a:pt x="552988" y="329392"/>
                  </a:lnTo>
                  <a:lnTo>
                    <a:pt x="588718" y="301753"/>
                  </a:lnTo>
                  <a:lnTo>
                    <a:pt x="616323" y="265979"/>
                  </a:lnTo>
                  <a:lnTo>
                    <a:pt x="634120" y="223754"/>
                  </a:lnTo>
                  <a:lnTo>
                    <a:pt x="640426" y="176763"/>
                  </a:lnTo>
                  <a:lnTo>
                    <a:pt x="634120" y="129772"/>
                  </a:lnTo>
                  <a:lnTo>
                    <a:pt x="616323" y="87547"/>
                  </a:lnTo>
                  <a:lnTo>
                    <a:pt x="588718" y="51772"/>
                  </a:lnTo>
                  <a:lnTo>
                    <a:pt x="552988" y="24133"/>
                  </a:lnTo>
                  <a:lnTo>
                    <a:pt x="510816" y="6314"/>
                  </a:lnTo>
                  <a:lnTo>
                    <a:pt x="463884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2356046" y="5392033"/>
              <a:ext cx="640715" cy="353695"/>
            </a:xfrm>
            <a:custGeom>
              <a:avLst/>
              <a:gdLst/>
              <a:ahLst/>
              <a:cxnLst/>
              <a:rect l="l" t="t" r="r" b="b"/>
              <a:pathLst>
                <a:path w="640714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463884" y="0"/>
                  </a:lnTo>
                  <a:lnTo>
                    <a:pt x="510816" y="6314"/>
                  </a:lnTo>
                  <a:lnTo>
                    <a:pt x="552989" y="24133"/>
                  </a:lnTo>
                  <a:lnTo>
                    <a:pt x="588719" y="51772"/>
                  </a:lnTo>
                  <a:lnTo>
                    <a:pt x="616324" y="87547"/>
                  </a:lnTo>
                  <a:lnTo>
                    <a:pt x="634121" y="129772"/>
                  </a:lnTo>
                  <a:lnTo>
                    <a:pt x="640427" y="176763"/>
                  </a:lnTo>
                  <a:lnTo>
                    <a:pt x="634121" y="223754"/>
                  </a:lnTo>
                  <a:lnTo>
                    <a:pt x="616324" y="265979"/>
                  </a:lnTo>
                  <a:lnTo>
                    <a:pt x="588719" y="301753"/>
                  </a:lnTo>
                  <a:lnTo>
                    <a:pt x="552989" y="329393"/>
                  </a:lnTo>
                  <a:lnTo>
                    <a:pt x="510816" y="347212"/>
                  </a:lnTo>
                  <a:lnTo>
                    <a:pt x="463884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B93C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347019" y="4817466"/>
            <a:ext cx="298637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059" spc="-9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071733" y="4751288"/>
            <a:ext cx="584947" cy="328893"/>
            <a:chOff x="3328897" y="5384793"/>
            <a:chExt cx="662940" cy="372745"/>
          </a:xfrm>
        </p:grpSpPr>
        <p:sp>
          <p:nvSpPr>
            <p:cNvPr id="51" name="object 51"/>
            <p:cNvSpPr/>
            <p:nvPr/>
          </p:nvSpPr>
          <p:spPr>
            <a:xfrm>
              <a:off x="3338422" y="5394318"/>
              <a:ext cx="643890" cy="353695"/>
            </a:xfrm>
            <a:custGeom>
              <a:avLst/>
              <a:gdLst/>
              <a:ahLst/>
              <a:cxnLst/>
              <a:rect l="l" t="t" r="r" b="b"/>
              <a:pathLst>
                <a:path w="643889" h="353695">
                  <a:moveTo>
                    <a:pt x="467326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4"/>
                  </a:lnTo>
                  <a:lnTo>
                    <a:pt x="87438" y="329393"/>
                  </a:lnTo>
                  <a:lnTo>
                    <a:pt x="129610" y="347213"/>
                  </a:lnTo>
                  <a:lnTo>
                    <a:pt x="176542" y="353527"/>
                  </a:lnTo>
                  <a:lnTo>
                    <a:pt x="467326" y="353528"/>
                  </a:lnTo>
                  <a:lnTo>
                    <a:pt x="514258" y="347214"/>
                  </a:lnTo>
                  <a:lnTo>
                    <a:pt x="556431" y="329395"/>
                  </a:lnTo>
                  <a:lnTo>
                    <a:pt x="592161" y="301755"/>
                  </a:lnTo>
                  <a:lnTo>
                    <a:pt x="619766" y="265980"/>
                  </a:lnTo>
                  <a:lnTo>
                    <a:pt x="637563" y="223754"/>
                  </a:lnTo>
                  <a:lnTo>
                    <a:pt x="643870" y="176763"/>
                  </a:lnTo>
                  <a:lnTo>
                    <a:pt x="637564" y="129772"/>
                  </a:lnTo>
                  <a:lnTo>
                    <a:pt x="619767" y="87547"/>
                  </a:lnTo>
                  <a:lnTo>
                    <a:pt x="592162" y="51772"/>
                  </a:lnTo>
                  <a:lnTo>
                    <a:pt x="556432" y="24133"/>
                  </a:lnTo>
                  <a:lnTo>
                    <a:pt x="514259" y="6314"/>
                  </a:lnTo>
                  <a:lnTo>
                    <a:pt x="467326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3338422" y="5394318"/>
              <a:ext cx="643890" cy="353695"/>
            </a:xfrm>
            <a:custGeom>
              <a:avLst/>
              <a:gdLst/>
              <a:ahLst/>
              <a:cxnLst/>
              <a:rect l="l" t="t" r="r" b="b"/>
              <a:pathLst>
                <a:path w="643889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3" y="0"/>
                  </a:lnTo>
                  <a:lnTo>
                    <a:pt x="467327" y="0"/>
                  </a:lnTo>
                  <a:lnTo>
                    <a:pt x="514259" y="6314"/>
                  </a:lnTo>
                  <a:lnTo>
                    <a:pt x="556432" y="24133"/>
                  </a:lnTo>
                  <a:lnTo>
                    <a:pt x="592162" y="51772"/>
                  </a:lnTo>
                  <a:lnTo>
                    <a:pt x="619767" y="87547"/>
                  </a:lnTo>
                  <a:lnTo>
                    <a:pt x="637564" y="129772"/>
                  </a:lnTo>
                  <a:lnTo>
                    <a:pt x="643870" y="176763"/>
                  </a:lnTo>
                  <a:lnTo>
                    <a:pt x="637563" y="223754"/>
                  </a:lnTo>
                  <a:lnTo>
                    <a:pt x="619766" y="265979"/>
                  </a:lnTo>
                  <a:lnTo>
                    <a:pt x="592161" y="301754"/>
                  </a:lnTo>
                  <a:lnTo>
                    <a:pt x="556431" y="329394"/>
                  </a:lnTo>
                  <a:lnTo>
                    <a:pt x="514258" y="347213"/>
                  </a:lnTo>
                  <a:lnTo>
                    <a:pt x="467326" y="353527"/>
                  </a:lnTo>
                  <a:lnTo>
                    <a:pt x="176543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3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608A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3239214" y="4820155"/>
            <a:ext cx="250451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059" spc="-1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9" spc="-3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326298" y="4485183"/>
            <a:ext cx="77321" cy="274544"/>
          </a:xfrm>
          <a:custGeom>
            <a:avLst/>
            <a:gdLst/>
            <a:ahLst/>
            <a:cxnLst/>
            <a:rect l="l" t="t" r="r" b="b"/>
            <a:pathLst>
              <a:path w="87629" h="311150">
                <a:moveTo>
                  <a:pt x="10617" y="224744"/>
                </a:moveTo>
                <a:lnTo>
                  <a:pt x="1576" y="229900"/>
                </a:lnTo>
                <a:lnTo>
                  <a:pt x="0" y="235659"/>
                </a:lnTo>
                <a:lnTo>
                  <a:pt x="42951" y="311155"/>
                </a:lnTo>
                <a:lnTo>
                  <a:pt x="54056" y="292535"/>
                </a:lnTo>
                <a:lnTo>
                  <a:pt x="52562" y="292535"/>
                </a:lnTo>
                <a:lnTo>
                  <a:pt x="33724" y="292342"/>
                </a:lnTo>
                <a:lnTo>
                  <a:pt x="34082" y="257459"/>
                </a:lnTo>
                <a:lnTo>
                  <a:pt x="16367" y="226324"/>
                </a:lnTo>
                <a:lnTo>
                  <a:pt x="10617" y="224744"/>
                </a:lnTo>
                <a:close/>
              </a:path>
              <a:path w="87629" h="311150">
                <a:moveTo>
                  <a:pt x="34082" y="257459"/>
                </a:moveTo>
                <a:lnTo>
                  <a:pt x="33724" y="292342"/>
                </a:lnTo>
                <a:lnTo>
                  <a:pt x="52562" y="292535"/>
                </a:lnTo>
                <a:lnTo>
                  <a:pt x="52611" y="287770"/>
                </a:lnTo>
                <a:lnTo>
                  <a:pt x="35057" y="287604"/>
                </a:lnTo>
                <a:lnTo>
                  <a:pt x="43336" y="273723"/>
                </a:lnTo>
                <a:lnTo>
                  <a:pt x="34082" y="257459"/>
                </a:lnTo>
                <a:close/>
              </a:path>
              <a:path w="87629" h="311150">
                <a:moveTo>
                  <a:pt x="77052" y="225427"/>
                </a:moveTo>
                <a:lnTo>
                  <a:pt x="71269" y="226888"/>
                </a:lnTo>
                <a:lnTo>
                  <a:pt x="52920" y="257653"/>
                </a:lnTo>
                <a:lnTo>
                  <a:pt x="52562" y="292535"/>
                </a:lnTo>
                <a:lnTo>
                  <a:pt x="54056" y="292535"/>
                </a:lnTo>
                <a:lnTo>
                  <a:pt x="87443" y="236559"/>
                </a:lnTo>
                <a:lnTo>
                  <a:pt x="85985" y="230769"/>
                </a:lnTo>
                <a:lnTo>
                  <a:pt x="77052" y="225427"/>
                </a:lnTo>
                <a:close/>
              </a:path>
              <a:path w="87629" h="311150">
                <a:moveTo>
                  <a:pt x="43336" y="273723"/>
                </a:moveTo>
                <a:lnTo>
                  <a:pt x="35057" y="287604"/>
                </a:lnTo>
                <a:lnTo>
                  <a:pt x="51328" y="287770"/>
                </a:lnTo>
                <a:lnTo>
                  <a:pt x="43336" y="273723"/>
                </a:lnTo>
                <a:close/>
              </a:path>
              <a:path w="87629" h="311150">
                <a:moveTo>
                  <a:pt x="52920" y="257653"/>
                </a:moveTo>
                <a:lnTo>
                  <a:pt x="43336" y="273723"/>
                </a:lnTo>
                <a:lnTo>
                  <a:pt x="51328" y="287770"/>
                </a:lnTo>
                <a:lnTo>
                  <a:pt x="52611" y="287770"/>
                </a:lnTo>
                <a:lnTo>
                  <a:pt x="52920" y="257653"/>
                </a:lnTo>
                <a:close/>
              </a:path>
              <a:path w="87629" h="311150">
                <a:moveTo>
                  <a:pt x="36724" y="0"/>
                </a:moveTo>
                <a:lnTo>
                  <a:pt x="34306" y="235659"/>
                </a:lnTo>
                <a:lnTo>
                  <a:pt x="34192" y="257653"/>
                </a:lnTo>
                <a:lnTo>
                  <a:pt x="43336" y="273723"/>
                </a:lnTo>
                <a:lnTo>
                  <a:pt x="52920" y="257653"/>
                </a:lnTo>
                <a:lnTo>
                  <a:pt x="55562" y="194"/>
                </a:lnTo>
                <a:lnTo>
                  <a:pt x="36724" y="0"/>
                </a:lnTo>
                <a:close/>
              </a:path>
            </a:pathLst>
          </a:custGeom>
          <a:solidFill>
            <a:srgbClr val="5D5555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5" name="object 55"/>
          <p:cNvSpPr txBox="1"/>
          <p:nvPr/>
        </p:nvSpPr>
        <p:spPr>
          <a:xfrm>
            <a:off x="5051249" y="3239114"/>
            <a:ext cx="552450" cy="356443"/>
          </a:xfrm>
          <a:prstGeom prst="rect">
            <a:avLst/>
          </a:prstGeom>
          <a:solidFill>
            <a:srgbClr val="C8EBFA"/>
          </a:solidFill>
          <a:ln w="18855">
            <a:solidFill>
              <a:srgbClr val="0D6993"/>
            </a:solidFill>
          </a:ln>
        </p:spPr>
        <p:txBody>
          <a:bodyPr vert="horz" wrap="square" lIns="0" tIns="28574" rIns="0" bIns="0" rtlCol="0">
            <a:spAutoFit/>
          </a:bodyPr>
          <a:lstStyle/>
          <a:p>
            <a:pPr marL="163054" marR="155770" indent="14568">
              <a:lnSpc>
                <a:spcPts val="1253"/>
              </a:lnSpc>
              <a:spcBef>
                <a:spcPts val="224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low </a:t>
            </a:r>
            <a:r>
              <a:rPr sz="1059" spc="-22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</a:t>
            </a:r>
            <a:r>
              <a:rPr sz="1059" spc="141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9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226746" y="3234136"/>
            <a:ext cx="598954" cy="361949"/>
            <a:chOff x="4637911" y="3665354"/>
            <a:chExt cx="678815" cy="410209"/>
          </a:xfrm>
        </p:grpSpPr>
        <p:sp>
          <p:nvSpPr>
            <p:cNvPr id="57" name="object 57"/>
            <p:cNvSpPr/>
            <p:nvPr/>
          </p:nvSpPr>
          <p:spPr>
            <a:xfrm>
              <a:off x="4647436" y="3674879"/>
              <a:ext cx="659765" cy="391160"/>
            </a:xfrm>
            <a:custGeom>
              <a:avLst/>
              <a:gdLst/>
              <a:ahLst/>
              <a:cxnLst/>
              <a:rect l="l" t="t" r="r" b="b"/>
              <a:pathLst>
                <a:path w="659764" h="391160">
                  <a:moveTo>
                    <a:pt x="659640" y="0"/>
                  </a:moveTo>
                  <a:lnTo>
                    <a:pt x="0" y="0"/>
                  </a:lnTo>
                  <a:lnTo>
                    <a:pt x="0" y="390824"/>
                  </a:lnTo>
                  <a:lnTo>
                    <a:pt x="659640" y="390824"/>
                  </a:lnTo>
                  <a:lnTo>
                    <a:pt x="659640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4647436" y="3674879"/>
              <a:ext cx="659765" cy="391160"/>
            </a:xfrm>
            <a:custGeom>
              <a:avLst/>
              <a:gdLst/>
              <a:ahLst/>
              <a:cxnLst/>
              <a:rect l="l" t="t" r="r" b="b"/>
              <a:pathLst>
                <a:path w="659764" h="391160">
                  <a:moveTo>
                    <a:pt x="0" y="0"/>
                  </a:moveTo>
                  <a:lnTo>
                    <a:pt x="659640" y="0"/>
                  </a:lnTo>
                  <a:lnTo>
                    <a:pt x="659640" y="390824"/>
                  </a:lnTo>
                  <a:lnTo>
                    <a:pt x="0" y="390824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399127" y="3254917"/>
            <a:ext cx="254374" cy="329275"/>
          </a:xfrm>
          <a:prstGeom prst="rect">
            <a:avLst/>
          </a:prstGeom>
        </p:spPr>
        <p:txBody>
          <a:bodyPr vert="horz" wrap="square" lIns="0" tIns="21291" rIns="0" bIns="0" rtlCol="0">
            <a:spAutoFit/>
          </a:bodyPr>
          <a:lstStyle/>
          <a:p>
            <a:pPr marL="14008" marR="4483" indent="-3362">
              <a:lnSpc>
                <a:spcPts val="1227"/>
              </a:lnSpc>
              <a:spcBef>
                <a:spcPts val="168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high 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059" spc="146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5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146669" y="2726751"/>
            <a:ext cx="1623732" cy="336737"/>
            <a:chOff x="4547158" y="3090317"/>
            <a:chExt cx="1840230" cy="381635"/>
          </a:xfrm>
        </p:grpSpPr>
        <p:sp>
          <p:nvSpPr>
            <p:cNvPr id="61" name="object 61"/>
            <p:cNvSpPr/>
            <p:nvPr/>
          </p:nvSpPr>
          <p:spPr>
            <a:xfrm>
              <a:off x="4556683" y="3099842"/>
              <a:ext cx="1821180" cy="362585"/>
            </a:xfrm>
            <a:custGeom>
              <a:avLst/>
              <a:gdLst/>
              <a:ahLst/>
              <a:cxnLst/>
              <a:rect l="l" t="t" r="r" b="b"/>
              <a:pathLst>
                <a:path w="1821179" h="362585">
                  <a:moveTo>
                    <a:pt x="910338" y="0"/>
                  </a:moveTo>
                  <a:lnTo>
                    <a:pt x="0" y="181068"/>
                  </a:lnTo>
                  <a:lnTo>
                    <a:pt x="910338" y="362139"/>
                  </a:lnTo>
                  <a:lnTo>
                    <a:pt x="1820675" y="181068"/>
                  </a:lnTo>
                  <a:lnTo>
                    <a:pt x="910338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4556683" y="3099842"/>
              <a:ext cx="1821180" cy="362585"/>
            </a:xfrm>
            <a:custGeom>
              <a:avLst/>
              <a:gdLst/>
              <a:ahLst/>
              <a:cxnLst/>
              <a:rect l="l" t="t" r="r" b="b"/>
              <a:pathLst>
                <a:path w="1821179" h="362585">
                  <a:moveTo>
                    <a:pt x="0" y="181069"/>
                  </a:moveTo>
                  <a:lnTo>
                    <a:pt x="910337" y="0"/>
                  </a:lnTo>
                  <a:lnTo>
                    <a:pt x="1820675" y="181069"/>
                  </a:lnTo>
                  <a:lnTo>
                    <a:pt x="910337" y="362139"/>
                  </a:lnTo>
                  <a:lnTo>
                    <a:pt x="0" y="181069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715999" y="2795028"/>
            <a:ext cx="485775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In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o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491494" y="3046285"/>
            <a:ext cx="844362" cy="1783976"/>
            <a:chOff x="4937960" y="3452456"/>
            <a:chExt cx="956944" cy="2021839"/>
          </a:xfrm>
        </p:grpSpPr>
        <p:sp>
          <p:nvSpPr>
            <p:cNvPr id="65" name="object 65"/>
            <p:cNvSpPr/>
            <p:nvPr/>
          </p:nvSpPr>
          <p:spPr>
            <a:xfrm>
              <a:off x="5467022" y="3461981"/>
              <a:ext cx="490220" cy="213360"/>
            </a:xfrm>
            <a:custGeom>
              <a:avLst/>
              <a:gdLst/>
              <a:ahLst/>
              <a:cxnLst/>
              <a:rect l="l" t="t" r="r" b="b"/>
              <a:pathLst>
                <a:path w="490220" h="213360">
                  <a:moveTo>
                    <a:pt x="0" y="0"/>
                  </a:moveTo>
                  <a:lnTo>
                    <a:pt x="418228" y="209014"/>
                  </a:lnTo>
                </a:path>
                <a:path w="490220" h="213360">
                  <a:moveTo>
                    <a:pt x="0" y="0"/>
                  </a:moveTo>
                  <a:lnTo>
                    <a:pt x="489764" y="212897"/>
                  </a:lnTo>
                </a:path>
              </a:pathLst>
            </a:custGeom>
            <a:ln w="18850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4937960" y="4065518"/>
              <a:ext cx="87630" cy="300355"/>
            </a:xfrm>
            <a:custGeom>
              <a:avLst/>
              <a:gdLst/>
              <a:ahLst/>
              <a:cxnLst/>
              <a:rect l="l" t="t" r="r" b="b"/>
              <a:pathLst>
                <a:path w="87629" h="300354">
                  <a:moveTo>
                    <a:pt x="10287" y="214829"/>
                  </a:moveTo>
                  <a:lnTo>
                    <a:pt x="1404" y="220253"/>
                  </a:lnTo>
                  <a:lnTo>
                    <a:pt x="0" y="226057"/>
                  </a:lnTo>
                  <a:lnTo>
                    <a:pt x="45190" y="300231"/>
                  </a:lnTo>
                  <a:lnTo>
                    <a:pt x="55502" y="281703"/>
                  </a:lnTo>
                  <a:lnTo>
                    <a:pt x="35405" y="281703"/>
                  </a:lnTo>
                  <a:lnTo>
                    <a:pt x="34720" y="246825"/>
                  </a:lnTo>
                  <a:lnTo>
                    <a:pt x="16083" y="216235"/>
                  </a:lnTo>
                  <a:lnTo>
                    <a:pt x="10287" y="214829"/>
                  </a:lnTo>
                  <a:close/>
                </a:path>
                <a:path w="87629" h="300354">
                  <a:moveTo>
                    <a:pt x="34720" y="246825"/>
                  </a:moveTo>
                  <a:lnTo>
                    <a:pt x="35405" y="281703"/>
                  </a:lnTo>
                  <a:lnTo>
                    <a:pt x="54239" y="281332"/>
                  </a:lnTo>
                  <a:lnTo>
                    <a:pt x="54152" y="276927"/>
                  </a:lnTo>
                  <a:lnTo>
                    <a:pt x="36595" y="276927"/>
                  </a:lnTo>
                  <a:lnTo>
                    <a:pt x="44455" y="262805"/>
                  </a:lnTo>
                  <a:lnTo>
                    <a:pt x="34720" y="246825"/>
                  </a:lnTo>
                  <a:close/>
                </a:path>
                <a:path w="87629" h="300354">
                  <a:moveTo>
                    <a:pt x="76713" y="213521"/>
                  </a:moveTo>
                  <a:lnTo>
                    <a:pt x="70976" y="215154"/>
                  </a:lnTo>
                  <a:lnTo>
                    <a:pt x="53554" y="246456"/>
                  </a:lnTo>
                  <a:lnTo>
                    <a:pt x="54239" y="281332"/>
                  </a:lnTo>
                  <a:lnTo>
                    <a:pt x="35405" y="281703"/>
                  </a:lnTo>
                  <a:lnTo>
                    <a:pt x="55502" y="281703"/>
                  </a:lnTo>
                  <a:lnTo>
                    <a:pt x="87431" y="224335"/>
                  </a:lnTo>
                  <a:lnTo>
                    <a:pt x="85801" y="218592"/>
                  </a:lnTo>
                  <a:lnTo>
                    <a:pt x="76713" y="213521"/>
                  </a:lnTo>
                  <a:close/>
                </a:path>
                <a:path w="87629" h="300354">
                  <a:moveTo>
                    <a:pt x="44455" y="262805"/>
                  </a:moveTo>
                  <a:lnTo>
                    <a:pt x="36595" y="276927"/>
                  </a:lnTo>
                  <a:lnTo>
                    <a:pt x="52863" y="276607"/>
                  </a:lnTo>
                  <a:lnTo>
                    <a:pt x="44455" y="262805"/>
                  </a:lnTo>
                  <a:close/>
                </a:path>
                <a:path w="87629" h="300354">
                  <a:moveTo>
                    <a:pt x="53554" y="246456"/>
                  </a:moveTo>
                  <a:lnTo>
                    <a:pt x="44455" y="262805"/>
                  </a:lnTo>
                  <a:lnTo>
                    <a:pt x="52863" y="276607"/>
                  </a:lnTo>
                  <a:lnTo>
                    <a:pt x="36595" y="276927"/>
                  </a:lnTo>
                  <a:lnTo>
                    <a:pt x="54152" y="276927"/>
                  </a:lnTo>
                  <a:lnTo>
                    <a:pt x="53554" y="246456"/>
                  </a:lnTo>
                  <a:close/>
                </a:path>
                <a:path w="87629" h="300354">
                  <a:moveTo>
                    <a:pt x="48714" y="0"/>
                  </a:moveTo>
                  <a:lnTo>
                    <a:pt x="29879" y="370"/>
                  </a:lnTo>
                  <a:lnTo>
                    <a:pt x="34720" y="246825"/>
                  </a:lnTo>
                  <a:lnTo>
                    <a:pt x="44455" y="262805"/>
                  </a:lnTo>
                  <a:lnTo>
                    <a:pt x="53554" y="246456"/>
                  </a:lnTo>
                  <a:lnTo>
                    <a:pt x="48714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7" name="object 67"/>
            <p:cNvSpPr/>
            <p:nvPr/>
          </p:nvSpPr>
          <p:spPr>
            <a:xfrm>
              <a:off x="5038613" y="5068409"/>
              <a:ext cx="731520" cy="396240"/>
            </a:xfrm>
            <a:custGeom>
              <a:avLst/>
              <a:gdLst/>
              <a:ahLst/>
              <a:cxnLst/>
              <a:rect l="l" t="t" r="r" b="b"/>
              <a:pathLst>
                <a:path w="731520" h="396239">
                  <a:moveTo>
                    <a:pt x="0" y="0"/>
                  </a:moveTo>
                  <a:lnTo>
                    <a:pt x="731037" y="0"/>
                  </a:lnTo>
                  <a:lnTo>
                    <a:pt x="731037" y="396029"/>
                  </a:lnTo>
                  <a:lnTo>
                    <a:pt x="0" y="396029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4711543" y="4501627"/>
            <a:ext cx="383241" cy="468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9"/>
              </a:lnSpc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y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a</a:t>
            </a: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s</a:t>
            </a:r>
            <a:endParaRPr sz="1059">
              <a:latin typeface="Calibri"/>
              <a:cs typeface="Calibri"/>
            </a:endParaRPr>
          </a:p>
          <a:p>
            <a:pPr marL="78445">
              <a:lnSpc>
                <a:spcPts val="1262"/>
              </a:lnSpc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059" spc="16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3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926522" y="3843689"/>
            <a:ext cx="1210235" cy="336737"/>
            <a:chOff x="4297658" y="4356181"/>
            <a:chExt cx="1371600" cy="381635"/>
          </a:xfrm>
        </p:grpSpPr>
        <p:sp>
          <p:nvSpPr>
            <p:cNvPr id="70" name="object 70"/>
            <p:cNvSpPr/>
            <p:nvPr/>
          </p:nvSpPr>
          <p:spPr>
            <a:xfrm>
              <a:off x="4307183" y="4365706"/>
              <a:ext cx="1352550" cy="362585"/>
            </a:xfrm>
            <a:custGeom>
              <a:avLst/>
              <a:gdLst/>
              <a:ahLst/>
              <a:cxnLst/>
              <a:rect l="l" t="t" r="r" b="b"/>
              <a:pathLst>
                <a:path w="1352550" h="362585">
                  <a:moveTo>
                    <a:pt x="675966" y="0"/>
                  </a:moveTo>
                  <a:lnTo>
                    <a:pt x="0" y="181070"/>
                  </a:lnTo>
                  <a:lnTo>
                    <a:pt x="675966" y="362139"/>
                  </a:lnTo>
                  <a:lnTo>
                    <a:pt x="1351932" y="181070"/>
                  </a:lnTo>
                  <a:lnTo>
                    <a:pt x="675966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1" name="object 71"/>
            <p:cNvSpPr/>
            <p:nvPr/>
          </p:nvSpPr>
          <p:spPr>
            <a:xfrm>
              <a:off x="4307183" y="4365706"/>
              <a:ext cx="1352550" cy="362585"/>
            </a:xfrm>
            <a:custGeom>
              <a:avLst/>
              <a:gdLst/>
              <a:ahLst/>
              <a:cxnLst/>
              <a:rect l="l" t="t" r="r" b="b"/>
              <a:pathLst>
                <a:path w="1352550" h="362585">
                  <a:moveTo>
                    <a:pt x="0" y="181069"/>
                  </a:moveTo>
                  <a:lnTo>
                    <a:pt x="675966" y="0"/>
                  </a:lnTo>
                  <a:lnTo>
                    <a:pt x="1351932" y="181069"/>
                  </a:lnTo>
                  <a:lnTo>
                    <a:pt x="675966" y="362139"/>
                  </a:lnTo>
                  <a:lnTo>
                    <a:pt x="0" y="181069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4374177" y="3936263"/>
            <a:ext cx="312644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62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882" spc="18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882" spc="9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882" spc="22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882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882">
              <a:latin typeface="Calibri"/>
              <a:cs typeface="Calibri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3838008" y="3582407"/>
            <a:ext cx="2091018" cy="1921809"/>
            <a:chOff x="4197343" y="4060061"/>
            <a:chExt cx="2369820" cy="2178050"/>
          </a:xfrm>
        </p:grpSpPr>
        <p:sp>
          <p:nvSpPr>
            <p:cNvPr id="74" name="object 74"/>
            <p:cNvSpPr/>
            <p:nvPr/>
          </p:nvSpPr>
          <p:spPr>
            <a:xfrm>
              <a:off x="4983149" y="4727845"/>
              <a:ext cx="421005" cy="340995"/>
            </a:xfrm>
            <a:custGeom>
              <a:avLst/>
              <a:gdLst/>
              <a:ahLst/>
              <a:cxnLst/>
              <a:rect l="l" t="t" r="r" b="b"/>
              <a:pathLst>
                <a:path w="421004" h="340995">
                  <a:moveTo>
                    <a:pt x="0" y="0"/>
                  </a:moveTo>
                  <a:lnTo>
                    <a:pt x="420981" y="340563"/>
                  </a:lnTo>
                </a:path>
              </a:pathLst>
            </a:custGeom>
            <a:ln w="18852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5" name="object 75"/>
            <p:cNvSpPr/>
            <p:nvPr/>
          </p:nvSpPr>
          <p:spPr>
            <a:xfrm>
              <a:off x="5878898" y="4060061"/>
              <a:ext cx="342900" cy="314325"/>
            </a:xfrm>
            <a:custGeom>
              <a:avLst/>
              <a:gdLst/>
              <a:ahLst/>
              <a:cxnLst/>
              <a:rect l="l" t="t" r="r" b="b"/>
              <a:pathLst>
                <a:path w="342900" h="314325">
                  <a:moveTo>
                    <a:pt x="261589" y="277566"/>
                  </a:moveTo>
                  <a:lnTo>
                    <a:pt x="256579" y="280804"/>
                  </a:lnTo>
                  <a:lnTo>
                    <a:pt x="254389" y="290988"/>
                  </a:lnTo>
                  <a:lnTo>
                    <a:pt x="257625" y="296005"/>
                  </a:lnTo>
                  <a:lnTo>
                    <a:pt x="342459" y="314286"/>
                  </a:lnTo>
                  <a:lnTo>
                    <a:pt x="340694" y="308629"/>
                  </a:lnTo>
                  <a:lnTo>
                    <a:pt x="322304" y="308629"/>
                  </a:lnTo>
                  <a:lnTo>
                    <a:pt x="296577" y="285105"/>
                  </a:lnTo>
                  <a:lnTo>
                    <a:pt x="261589" y="277566"/>
                  </a:lnTo>
                  <a:close/>
                </a:path>
                <a:path w="342900" h="314325">
                  <a:moveTo>
                    <a:pt x="296577" y="285105"/>
                  </a:moveTo>
                  <a:lnTo>
                    <a:pt x="322304" y="308629"/>
                  </a:lnTo>
                  <a:lnTo>
                    <a:pt x="326091" y="304476"/>
                  </a:lnTo>
                  <a:lnTo>
                    <a:pt x="319665" y="304476"/>
                  </a:lnTo>
                  <a:lnTo>
                    <a:pt x="314852" y="289043"/>
                  </a:lnTo>
                  <a:lnTo>
                    <a:pt x="296577" y="285105"/>
                  </a:lnTo>
                  <a:close/>
                </a:path>
                <a:path w="342900" h="314325">
                  <a:moveTo>
                    <a:pt x="311313" y="228578"/>
                  </a:moveTo>
                  <a:lnTo>
                    <a:pt x="301382" y="231683"/>
                  </a:lnTo>
                  <a:lnTo>
                    <a:pt x="298613" y="236973"/>
                  </a:lnTo>
                  <a:lnTo>
                    <a:pt x="309281" y="271178"/>
                  </a:lnTo>
                  <a:lnTo>
                    <a:pt x="335006" y="294700"/>
                  </a:lnTo>
                  <a:lnTo>
                    <a:pt x="322304" y="308629"/>
                  </a:lnTo>
                  <a:lnTo>
                    <a:pt x="340694" y="308629"/>
                  </a:lnTo>
                  <a:lnTo>
                    <a:pt x="316595" y="231350"/>
                  </a:lnTo>
                  <a:lnTo>
                    <a:pt x="311313" y="228578"/>
                  </a:lnTo>
                  <a:close/>
                </a:path>
                <a:path w="342900" h="314325">
                  <a:moveTo>
                    <a:pt x="314852" y="289043"/>
                  </a:moveTo>
                  <a:lnTo>
                    <a:pt x="319665" y="304476"/>
                  </a:lnTo>
                  <a:lnTo>
                    <a:pt x="330638" y="292445"/>
                  </a:lnTo>
                  <a:lnTo>
                    <a:pt x="314852" y="289043"/>
                  </a:lnTo>
                  <a:close/>
                </a:path>
                <a:path w="342900" h="314325">
                  <a:moveTo>
                    <a:pt x="309281" y="271178"/>
                  </a:moveTo>
                  <a:lnTo>
                    <a:pt x="314852" y="289043"/>
                  </a:lnTo>
                  <a:lnTo>
                    <a:pt x="330638" y="292445"/>
                  </a:lnTo>
                  <a:lnTo>
                    <a:pt x="319665" y="304476"/>
                  </a:lnTo>
                  <a:lnTo>
                    <a:pt x="326091" y="304476"/>
                  </a:lnTo>
                  <a:lnTo>
                    <a:pt x="335006" y="294700"/>
                  </a:lnTo>
                  <a:lnTo>
                    <a:pt x="309281" y="271178"/>
                  </a:lnTo>
                  <a:close/>
                </a:path>
                <a:path w="342900" h="314325">
                  <a:moveTo>
                    <a:pt x="12703" y="0"/>
                  </a:moveTo>
                  <a:lnTo>
                    <a:pt x="0" y="13928"/>
                  </a:lnTo>
                  <a:lnTo>
                    <a:pt x="296577" y="285105"/>
                  </a:lnTo>
                  <a:lnTo>
                    <a:pt x="314852" y="289043"/>
                  </a:lnTo>
                  <a:lnTo>
                    <a:pt x="309281" y="271178"/>
                  </a:lnTo>
                  <a:lnTo>
                    <a:pt x="1270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6" name="object 76"/>
            <p:cNvSpPr/>
            <p:nvPr/>
          </p:nvSpPr>
          <p:spPr>
            <a:xfrm>
              <a:off x="4572974" y="4727845"/>
              <a:ext cx="410209" cy="347980"/>
            </a:xfrm>
            <a:custGeom>
              <a:avLst/>
              <a:gdLst/>
              <a:ahLst/>
              <a:cxnLst/>
              <a:rect l="l" t="t" r="r" b="b"/>
              <a:pathLst>
                <a:path w="410210" h="347979">
                  <a:moveTo>
                    <a:pt x="410175" y="0"/>
                  </a:moveTo>
                  <a:lnTo>
                    <a:pt x="0" y="347756"/>
                  </a:lnTo>
                </a:path>
              </a:pathLst>
            </a:custGeom>
            <a:ln w="18852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7" name="object 77"/>
            <p:cNvSpPr/>
            <p:nvPr/>
          </p:nvSpPr>
          <p:spPr>
            <a:xfrm>
              <a:off x="4534052" y="5466284"/>
              <a:ext cx="87630" cy="393065"/>
            </a:xfrm>
            <a:custGeom>
              <a:avLst/>
              <a:gdLst/>
              <a:ahLst/>
              <a:cxnLst/>
              <a:rect l="l" t="t" r="r" b="b"/>
              <a:pathLst>
                <a:path w="87629" h="393064">
                  <a:moveTo>
                    <a:pt x="10336" y="307378"/>
                  </a:moveTo>
                  <a:lnTo>
                    <a:pt x="1430" y="312761"/>
                  </a:lnTo>
                  <a:lnTo>
                    <a:pt x="0" y="318559"/>
                  </a:lnTo>
                  <a:lnTo>
                    <a:pt x="44852" y="392937"/>
                  </a:lnTo>
                  <a:lnTo>
                    <a:pt x="55300" y="374365"/>
                  </a:lnTo>
                  <a:lnTo>
                    <a:pt x="35151" y="374365"/>
                  </a:lnTo>
                  <a:lnTo>
                    <a:pt x="34624" y="339485"/>
                  </a:lnTo>
                  <a:lnTo>
                    <a:pt x="16126" y="308809"/>
                  </a:lnTo>
                  <a:lnTo>
                    <a:pt x="10336" y="307378"/>
                  </a:lnTo>
                  <a:close/>
                </a:path>
                <a:path w="87629" h="393064">
                  <a:moveTo>
                    <a:pt x="34624" y="339485"/>
                  </a:moveTo>
                  <a:lnTo>
                    <a:pt x="35151" y="374365"/>
                  </a:lnTo>
                  <a:lnTo>
                    <a:pt x="53987" y="374081"/>
                  </a:lnTo>
                  <a:lnTo>
                    <a:pt x="53919" y="369595"/>
                  </a:lnTo>
                  <a:lnTo>
                    <a:pt x="36362" y="369595"/>
                  </a:lnTo>
                  <a:lnTo>
                    <a:pt x="44286" y="355508"/>
                  </a:lnTo>
                  <a:lnTo>
                    <a:pt x="34624" y="339485"/>
                  </a:lnTo>
                  <a:close/>
                </a:path>
                <a:path w="87629" h="393064">
                  <a:moveTo>
                    <a:pt x="76768" y="306372"/>
                  </a:moveTo>
                  <a:lnTo>
                    <a:pt x="71024" y="307978"/>
                  </a:lnTo>
                  <a:lnTo>
                    <a:pt x="53461" y="339200"/>
                  </a:lnTo>
                  <a:lnTo>
                    <a:pt x="53987" y="374081"/>
                  </a:lnTo>
                  <a:lnTo>
                    <a:pt x="35151" y="374365"/>
                  </a:lnTo>
                  <a:lnTo>
                    <a:pt x="55300" y="374365"/>
                  </a:lnTo>
                  <a:lnTo>
                    <a:pt x="87438" y="317235"/>
                  </a:lnTo>
                  <a:lnTo>
                    <a:pt x="85834" y="311485"/>
                  </a:lnTo>
                  <a:lnTo>
                    <a:pt x="76768" y="306372"/>
                  </a:lnTo>
                  <a:close/>
                </a:path>
                <a:path w="87629" h="393064">
                  <a:moveTo>
                    <a:pt x="44286" y="355508"/>
                  </a:moveTo>
                  <a:lnTo>
                    <a:pt x="36362" y="369595"/>
                  </a:lnTo>
                  <a:lnTo>
                    <a:pt x="52632" y="369349"/>
                  </a:lnTo>
                  <a:lnTo>
                    <a:pt x="44286" y="355508"/>
                  </a:lnTo>
                  <a:close/>
                </a:path>
                <a:path w="87629" h="393064">
                  <a:moveTo>
                    <a:pt x="53461" y="339200"/>
                  </a:moveTo>
                  <a:lnTo>
                    <a:pt x="44286" y="355508"/>
                  </a:lnTo>
                  <a:lnTo>
                    <a:pt x="52632" y="369349"/>
                  </a:lnTo>
                  <a:lnTo>
                    <a:pt x="36362" y="369595"/>
                  </a:lnTo>
                  <a:lnTo>
                    <a:pt x="53919" y="369595"/>
                  </a:lnTo>
                  <a:lnTo>
                    <a:pt x="53461" y="339200"/>
                  </a:lnTo>
                  <a:close/>
                </a:path>
                <a:path w="87629" h="393064">
                  <a:moveTo>
                    <a:pt x="48340" y="0"/>
                  </a:moveTo>
                  <a:lnTo>
                    <a:pt x="29504" y="285"/>
                  </a:lnTo>
                  <a:lnTo>
                    <a:pt x="34624" y="339485"/>
                  </a:lnTo>
                  <a:lnTo>
                    <a:pt x="44286" y="355508"/>
                  </a:lnTo>
                  <a:lnTo>
                    <a:pt x="53461" y="339200"/>
                  </a:lnTo>
                  <a:lnTo>
                    <a:pt x="4834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8" name="object 78"/>
            <p:cNvSpPr/>
            <p:nvPr/>
          </p:nvSpPr>
          <p:spPr>
            <a:xfrm>
              <a:off x="4206868" y="5859179"/>
              <a:ext cx="744220" cy="353695"/>
            </a:xfrm>
            <a:custGeom>
              <a:avLst/>
              <a:gdLst/>
              <a:ahLst/>
              <a:cxnLst/>
              <a:rect l="l" t="t" r="r" b="b"/>
              <a:pathLst>
                <a:path w="744220" h="353695">
                  <a:moveTo>
                    <a:pt x="567527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7" y="24133"/>
                  </a:lnTo>
                  <a:lnTo>
                    <a:pt x="51707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7" y="301754"/>
                  </a:lnTo>
                  <a:lnTo>
                    <a:pt x="87437" y="329393"/>
                  </a:lnTo>
                  <a:lnTo>
                    <a:pt x="129610" y="347213"/>
                  </a:lnTo>
                  <a:lnTo>
                    <a:pt x="176542" y="353527"/>
                  </a:lnTo>
                  <a:lnTo>
                    <a:pt x="567527" y="353527"/>
                  </a:lnTo>
                  <a:lnTo>
                    <a:pt x="614459" y="347213"/>
                  </a:lnTo>
                  <a:lnTo>
                    <a:pt x="656631" y="329393"/>
                  </a:lnTo>
                  <a:lnTo>
                    <a:pt x="692361" y="301754"/>
                  </a:lnTo>
                  <a:lnTo>
                    <a:pt x="719966" y="265979"/>
                  </a:lnTo>
                  <a:lnTo>
                    <a:pt x="737763" y="223754"/>
                  </a:lnTo>
                  <a:lnTo>
                    <a:pt x="744070" y="176763"/>
                  </a:lnTo>
                  <a:lnTo>
                    <a:pt x="737763" y="129772"/>
                  </a:lnTo>
                  <a:lnTo>
                    <a:pt x="719966" y="87547"/>
                  </a:lnTo>
                  <a:lnTo>
                    <a:pt x="692361" y="51772"/>
                  </a:lnTo>
                  <a:lnTo>
                    <a:pt x="656631" y="24133"/>
                  </a:lnTo>
                  <a:lnTo>
                    <a:pt x="614459" y="6314"/>
                  </a:lnTo>
                  <a:lnTo>
                    <a:pt x="567527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9" name="object 79"/>
            <p:cNvSpPr/>
            <p:nvPr/>
          </p:nvSpPr>
          <p:spPr>
            <a:xfrm>
              <a:off x="4206868" y="5859179"/>
              <a:ext cx="744220" cy="353695"/>
            </a:xfrm>
            <a:custGeom>
              <a:avLst/>
              <a:gdLst/>
              <a:ahLst/>
              <a:cxnLst/>
              <a:rect l="l" t="t" r="r" b="b"/>
              <a:pathLst>
                <a:path w="744220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567528" y="0"/>
                  </a:lnTo>
                  <a:lnTo>
                    <a:pt x="614460" y="6314"/>
                  </a:lnTo>
                  <a:lnTo>
                    <a:pt x="656632" y="24133"/>
                  </a:lnTo>
                  <a:lnTo>
                    <a:pt x="692362" y="51772"/>
                  </a:lnTo>
                  <a:lnTo>
                    <a:pt x="719967" y="87547"/>
                  </a:lnTo>
                  <a:lnTo>
                    <a:pt x="737764" y="129772"/>
                  </a:lnTo>
                  <a:lnTo>
                    <a:pt x="744071" y="176763"/>
                  </a:lnTo>
                  <a:lnTo>
                    <a:pt x="737764" y="223754"/>
                  </a:lnTo>
                  <a:lnTo>
                    <a:pt x="719967" y="265979"/>
                  </a:lnTo>
                  <a:lnTo>
                    <a:pt x="692362" y="301753"/>
                  </a:lnTo>
                  <a:lnTo>
                    <a:pt x="656632" y="329393"/>
                  </a:lnTo>
                  <a:lnTo>
                    <a:pt x="614460" y="347212"/>
                  </a:lnTo>
                  <a:lnTo>
                    <a:pt x="567528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7">
              <a:solidFill>
                <a:srgbClr val="B93C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0" name="object 80"/>
            <p:cNvSpPr/>
            <p:nvPr/>
          </p:nvSpPr>
          <p:spPr>
            <a:xfrm>
              <a:off x="5051796" y="5874762"/>
              <a:ext cx="718185" cy="353695"/>
            </a:xfrm>
            <a:custGeom>
              <a:avLst/>
              <a:gdLst/>
              <a:ahLst/>
              <a:cxnLst/>
              <a:rect l="l" t="t" r="r" b="b"/>
              <a:pathLst>
                <a:path w="718185" h="353695">
                  <a:moveTo>
                    <a:pt x="541312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80"/>
                  </a:lnTo>
                  <a:lnTo>
                    <a:pt x="51708" y="301754"/>
                  </a:lnTo>
                  <a:lnTo>
                    <a:pt x="87438" y="329394"/>
                  </a:lnTo>
                  <a:lnTo>
                    <a:pt x="129611" y="347213"/>
                  </a:lnTo>
                  <a:lnTo>
                    <a:pt x="176542" y="353527"/>
                  </a:lnTo>
                  <a:lnTo>
                    <a:pt x="541310" y="353527"/>
                  </a:lnTo>
                  <a:lnTo>
                    <a:pt x="588243" y="347213"/>
                  </a:lnTo>
                  <a:lnTo>
                    <a:pt x="630416" y="329393"/>
                  </a:lnTo>
                  <a:lnTo>
                    <a:pt x="666146" y="301754"/>
                  </a:lnTo>
                  <a:lnTo>
                    <a:pt x="693751" y="265979"/>
                  </a:lnTo>
                  <a:lnTo>
                    <a:pt x="711548" y="223754"/>
                  </a:lnTo>
                  <a:lnTo>
                    <a:pt x="717854" y="176763"/>
                  </a:lnTo>
                  <a:lnTo>
                    <a:pt x="711548" y="129772"/>
                  </a:lnTo>
                  <a:lnTo>
                    <a:pt x="693751" y="87547"/>
                  </a:lnTo>
                  <a:lnTo>
                    <a:pt x="666146" y="51772"/>
                  </a:lnTo>
                  <a:lnTo>
                    <a:pt x="630416" y="24133"/>
                  </a:lnTo>
                  <a:lnTo>
                    <a:pt x="588244" y="6314"/>
                  </a:lnTo>
                  <a:lnTo>
                    <a:pt x="541312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1" name="object 81"/>
            <p:cNvSpPr/>
            <p:nvPr/>
          </p:nvSpPr>
          <p:spPr>
            <a:xfrm>
              <a:off x="5051796" y="5874762"/>
              <a:ext cx="718185" cy="353695"/>
            </a:xfrm>
            <a:custGeom>
              <a:avLst/>
              <a:gdLst/>
              <a:ahLst/>
              <a:cxnLst/>
              <a:rect l="l" t="t" r="r" b="b"/>
              <a:pathLst>
                <a:path w="718185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1" y="6314"/>
                  </a:lnTo>
                  <a:lnTo>
                    <a:pt x="176543" y="0"/>
                  </a:lnTo>
                  <a:lnTo>
                    <a:pt x="541312" y="0"/>
                  </a:lnTo>
                  <a:lnTo>
                    <a:pt x="588244" y="6314"/>
                  </a:lnTo>
                  <a:lnTo>
                    <a:pt x="630416" y="24133"/>
                  </a:lnTo>
                  <a:lnTo>
                    <a:pt x="666147" y="51772"/>
                  </a:lnTo>
                  <a:lnTo>
                    <a:pt x="693752" y="87547"/>
                  </a:lnTo>
                  <a:lnTo>
                    <a:pt x="711549" y="129772"/>
                  </a:lnTo>
                  <a:lnTo>
                    <a:pt x="717855" y="176763"/>
                  </a:lnTo>
                  <a:lnTo>
                    <a:pt x="711548" y="223754"/>
                  </a:lnTo>
                  <a:lnTo>
                    <a:pt x="693751" y="265979"/>
                  </a:lnTo>
                  <a:lnTo>
                    <a:pt x="666146" y="301754"/>
                  </a:lnTo>
                  <a:lnTo>
                    <a:pt x="630416" y="329394"/>
                  </a:lnTo>
                  <a:lnTo>
                    <a:pt x="588243" y="347213"/>
                  </a:lnTo>
                  <a:lnTo>
                    <a:pt x="541311" y="353527"/>
                  </a:lnTo>
                  <a:lnTo>
                    <a:pt x="176543" y="353526"/>
                  </a:lnTo>
                  <a:lnTo>
                    <a:pt x="129611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3"/>
                  </a:lnTo>
                  <a:lnTo>
                    <a:pt x="0" y="176763"/>
                  </a:lnTo>
                  <a:close/>
                </a:path>
              </a:pathLst>
            </a:custGeom>
            <a:ln w="18857">
              <a:solidFill>
                <a:srgbClr val="608A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2" name="object 82"/>
            <p:cNvSpPr/>
            <p:nvPr/>
          </p:nvSpPr>
          <p:spPr>
            <a:xfrm>
              <a:off x="5365799" y="5464286"/>
              <a:ext cx="87630" cy="410845"/>
            </a:xfrm>
            <a:custGeom>
              <a:avLst/>
              <a:gdLst/>
              <a:ahLst/>
              <a:cxnLst/>
              <a:rect l="l" t="t" r="r" b="b"/>
              <a:pathLst>
                <a:path w="87629" h="410845">
                  <a:moveTo>
                    <a:pt x="10326" y="324991"/>
                  </a:moveTo>
                  <a:lnTo>
                    <a:pt x="1424" y="330385"/>
                  </a:lnTo>
                  <a:lnTo>
                    <a:pt x="0" y="336182"/>
                  </a:lnTo>
                  <a:lnTo>
                    <a:pt x="44923" y="410519"/>
                  </a:lnTo>
                  <a:lnTo>
                    <a:pt x="55342" y="391956"/>
                  </a:lnTo>
                  <a:lnTo>
                    <a:pt x="35205" y="391956"/>
                  </a:lnTo>
                  <a:lnTo>
                    <a:pt x="34645" y="357076"/>
                  </a:lnTo>
                  <a:lnTo>
                    <a:pt x="16117" y="326419"/>
                  </a:lnTo>
                  <a:lnTo>
                    <a:pt x="10326" y="324991"/>
                  </a:lnTo>
                  <a:close/>
                </a:path>
                <a:path w="87629" h="410845">
                  <a:moveTo>
                    <a:pt x="34645" y="357076"/>
                  </a:moveTo>
                  <a:lnTo>
                    <a:pt x="35205" y="391956"/>
                  </a:lnTo>
                  <a:lnTo>
                    <a:pt x="54041" y="391652"/>
                  </a:lnTo>
                  <a:lnTo>
                    <a:pt x="53969" y="387184"/>
                  </a:lnTo>
                  <a:lnTo>
                    <a:pt x="36412" y="387184"/>
                  </a:lnTo>
                  <a:lnTo>
                    <a:pt x="44323" y="373090"/>
                  </a:lnTo>
                  <a:lnTo>
                    <a:pt x="34645" y="357076"/>
                  </a:lnTo>
                  <a:close/>
                </a:path>
                <a:path w="87629" h="410845">
                  <a:moveTo>
                    <a:pt x="76756" y="323922"/>
                  </a:moveTo>
                  <a:lnTo>
                    <a:pt x="71014" y="325535"/>
                  </a:lnTo>
                  <a:lnTo>
                    <a:pt x="53480" y="356774"/>
                  </a:lnTo>
                  <a:lnTo>
                    <a:pt x="54041" y="391652"/>
                  </a:lnTo>
                  <a:lnTo>
                    <a:pt x="35205" y="391956"/>
                  </a:lnTo>
                  <a:lnTo>
                    <a:pt x="55342" y="391956"/>
                  </a:lnTo>
                  <a:lnTo>
                    <a:pt x="87436" y="334775"/>
                  </a:lnTo>
                  <a:lnTo>
                    <a:pt x="85826" y="329026"/>
                  </a:lnTo>
                  <a:lnTo>
                    <a:pt x="76756" y="323922"/>
                  </a:lnTo>
                  <a:close/>
                </a:path>
                <a:path w="87629" h="410845">
                  <a:moveTo>
                    <a:pt x="44323" y="373090"/>
                  </a:moveTo>
                  <a:lnTo>
                    <a:pt x="36412" y="387184"/>
                  </a:lnTo>
                  <a:lnTo>
                    <a:pt x="52682" y="386922"/>
                  </a:lnTo>
                  <a:lnTo>
                    <a:pt x="44323" y="373090"/>
                  </a:lnTo>
                  <a:close/>
                </a:path>
                <a:path w="87629" h="410845">
                  <a:moveTo>
                    <a:pt x="53480" y="356774"/>
                  </a:moveTo>
                  <a:lnTo>
                    <a:pt x="44323" y="373090"/>
                  </a:lnTo>
                  <a:lnTo>
                    <a:pt x="52682" y="386922"/>
                  </a:lnTo>
                  <a:lnTo>
                    <a:pt x="36412" y="387184"/>
                  </a:lnTo>
                  <a:lnTo>
                    <a:pt x="53969" y="387184"/>
                  </a:lnTo>
                  <a:lnTo>
                    <a:pt x="53480" y="356774"/>
                  </a:lnTo>
                  <a:close/>
                </a:path>
                <a:path w="87629" h="410845">
                  <a:moveTo>
                    <a:pt x="47749" y="0"/>
                  </a:moveTo>
                  <a:lnTo>
                    <a:pt x="28914" y="303"/>
                  </a:lnTo>
                  <a:lnTo>
                    <a:pt x="34645" y="357076"/>
                  </a:lnTo>
                  <a:lnTo>
                    <a:pt x="44323" y="373090"/>
                  </a:lnTo>
                  <a:lnTo>
                    <a:pt x="53480" y="356774"/>
                  </a:lnTo>
                  <a:lnTo>
                    <a:pt x="47749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3" name="object 83"/>
            <p:cNvSpPr/>
            <p:nvPr/>
          </p:nvSpPr>
          <p:spPr>
            <a:xfrm>
              <a:off x="5885251" y="4374319"/>
              <a:ext cx="672465" cy="353695"/>
            </a:xfrm>
            <a:custGeom>
              <a:avLst/>
              <a:gdLst/>
              <a:ahLst/>
              <a:cxnLst/>
              <a:rect l="l" t="t" r="r" b="b"/>
              <a:pathLst>
                <a:path w="672465" h="353695">
                  <a:moveTo>
                    <a:pt x="495606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3"/>
                  </a:lnTo>
                  <a:lnTo>
                    <a:pt x="87438" y="329392"/>
                  </a:lnTo>
                  <a:lnTo>
                    <a:pt x="129610" y="347211"/>
                  </a:lnTo>
                  <a:lnTo>
                    <a:pt x="176542" y="353526"/>
                  </a:lnTo>
                  <a:lnTo>
                    <a:pt x="495606" y="353526"/>
                  </a:lnTo>
                  <a:lnTo>
                    <a:pt x="542538" y="347211"/>
                  </a:lnTo>
                  <a:lnTo>
                    <a:pt x="584710" y="329392"/>
                  </a:lnTo>
                  <a:lnTo>
                    <a:pt x="620440" y="301753"/>
                  </a:lnTo>
                  <a:lnTo>
                    <a:pt x="648045" y="265979"/>
                  </a:lnTo>
                  <a:lnTo>
                    <a:pt x="665842" y="223754"/>
                  </a:lnTo>
                  <a:lnTo>
                    <a:pt x="672148" y="176763"/>
                  </a:lnTo>
                  <a:lnTo>
                    <a:pt x="665842" y="129772"/>
                  </a:lnTo>
                  <a:lnTo>
                    <a:pt x="648045" y="87547"/>
                  </a:lnTo>
                  <a:lnTo>
                    <a:pt x="620440" y="51772"/>
                  </a:lnTo>
                  <a:lnTo>
                    <a:pt x="584710" y="24133"/>
                  </a:lnTo>
                  <a:lnTo>
                    <a:pt x="542538" y="6314"/>
                  </a:lnTo>
                  <a:lnTo>
                    <a:pt x="495606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4" name="object 84"/>
            <p:cNvSpPr/>
            <p:nvPr/>
          </p:nvSpPr>
          <p:spPr>
            <a:xfrm>
              <a:off x="5885251" y="4374319"/>
              <a:ext cx="672465" cy="353695"/>
            </a:xfrm>
            <a:custGeom>
              <a:avLst/>
              <a:gdLst/>
              <a:ahLst/>
              <a:cxnLst/>
              <a:rect l="l" t="t" r="r" b="b"/>
              <a:pathLst>
                <a:path w="672465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495606" y="0"/>
                  </a:lnTo>
                  <a:lnTo>
                    <a:pt x="542538" y="6314"/>
                  </a:lnTo>
                  <a:lnTo>
                    <a:pt x="584711" y="24133"/>
                  </a:lnTo>
                  <a:lnTo>
                    <a:pt x="620441" y="51772"/>
                  </a:lnTo>
                  <a:lnTo>
                    <a:pt x="648046" y="87547"/>
                  </a:lnTo>
                  <a:lnTo>
                    <a:pt x="665843" y="129772"/>
                  </a:lnTo>
                  <a:lnTo>
                    <a:pt x="672149" y="176763"/>
                  </a:lnTo>
                  <a:lnTo>
                    <a:pt x="665843" y="223754"/>
                  </a:lnTo>
                  <a:lnTo>
                    <a:pt x="648046" y="265979"/>
                  </a:lnTo>
                  <a:lnTo>
                    <a:pt x="620441" y="301753"/>
                  </a:lnTo>
                  <a:lnTo>
                    <a:pt x="584711" y="329393"/>
                  </a:lnTo>
                  <a:lnTo>
                    <a:pt x="542538" y="347212"/>
                  </a:lnTo>
                  <a:lnTo>
                    <a:pt x="495606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5475018" y="3919202"/>
            <a:ext cx="298637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059" spc="-9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4169448" y="4171628"/>
            <a:ext cx="361949" cy="307041"/>
          </a:xfrm>
          <a:custGeom>
            <a:avLst/>
            <a:gdLst/>
            <a:ahLst/>
            <a:cxnLst/>
            <a:rect l="l" t="t" r="r" b="b"/>
            <a:pathLst>
              <a:path w="410210" h="347979">
                <a:moveTo>
                  <a:pt x="410175" y="0"/>
                </a:moveTo>
                <a:lnTo>
                  <a:pt x="0" y="347756"/>
                </a:lnTo>
              </a:path>
            </a:pathLst>
          </a:custGeom>
          <a:ln w="18852">
            <a:solidFill>
              <a:srgbClr val="5D5555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7" name="object 87"/>
          <p:cNvSpPr txBox="1"/>
          <p:nvPr/>
        </p:nvSpPr>
        <p:spPr>
          <a:xfrm>
            <a:off x="3829149" y="4476718"/>
            <a:ext cx="672913" cy="332105"/>
          </a:xfrm>
          <a:prstGeom prst="rect">
            <a:avLst/>
          </a:prstGeom>
          <a:solidFill>
            <a:srgbClr val="C8EBFA"/>
          </a:solidFill>
          <a:ln w="18856">
            <a:solidFill>
              <a:srgbClr val="0D6993"/>
            </a:solidFill>
          </a:ln>
        </p:spPr>
        <p:txBody>
          <a:bodyPr vert="horz" wrap="square" lIns="0" tIns="24093" rIns="0" bIns="0" rtlCol="0">
            <a:spAutoFit/>
          </a:bodyPr>
          <a:lstStyle/>
          <a:p>
            <a:pPr marL="144564">
              <a:lnSpc>
                <a:spcPts val="1249"/>
              </a:lnSpc>
              <a:spcBef>
                <a:spcPts val="190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>
              <a:latin typeface="Calibri"/>
              <a:cs typeface="Calibri"/>
            </a:endParaRPr>
          </a:p>
          <a:p>
            <a:pPr marL="207880">
              <a:lnSpc>
                <a:spcPts val="1249"/>
              </a:lnSpc>
              <a:tabLst>
                <a:tab pos="396149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2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26292" y="1706669"/>
            <a:ext cx="1869701" cy="739445"/>
          </a:xfrm>
          <a:prstGeom prst="rect">
            <a:avLst/>
          </a:prstGeom>
          <a:solidFill>
            <a:srgbClr val="B0007E"/>
          </a:solidFill>
          <a:ln w="18856">
            <a:solidFill>
              <a:srgbClr val="80005B"/>
            </a:solidFill>
          </a:ln>
        </p:spPr>
        <p:txBody>
          <a:bodyPr vert="horz" wrap="square" lIns="0" tIns="28015" rIns="0" bIns="0" rtlCol="0">
            <a:spAutoFit/>
          </a:bodyPr>
          <a:lstStyle/>
          <a:p>
            <a:pPr marL="119349" marR="110384" indent="-1121" algn="ctr">
              <a:lnSpc>
                <a:spcPct val="97200"/>
              </a:lnSpc>
              <a:spcBef>
                <a:spcPts val="221"/>
              </a:spcBef>
            </a:pPr>
            <a:r>
              <a:rPr sz="1588" spc="-13" dirty="0">
                <a:solidFill>
                  <a:srgbClr val="FFFFFF"/>
                </a:solidFill>
                <a:latin typeface="Calibri"/>
                <a:cs typeface="Calibri"/>
              </a:rPr>
              <a:t>Already </a:t>
            </a:r>
            <a:r>
              <a:rPr sz="1588" spc="-9" dirty="0">
                <a:solidFill>
                  <a:srgbClr val="FFFFFF"/>
                </a:solidFill>
                <a:latin typeface="Calibri"/>
                <a:cs typeface="Calibri"/>
              </a:rPr>
              <a:t>split on </a:t>
            </a:r>
            <a:r>
              <a:rPr sz="1588" spc="-4" dirty="0">
                <a:solidFill>
                  <a:srgbClr val="FFFFFF"/>
                </a:solidFill>
                <a:latin typeface="Calibri"/>
                <a:cs typeface="Calibri"/>
              </a:rPr>
              <a:t>all </a:t>
            </a:r>
            <a:r>
              <a:rPr sz="158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FFFFFF"/>
                </a:solidFill>
                <a:latin typeface="Calibri"/>
                <a:cs typeface="Calibri"/>
              </a:rPr>
              <a:t>possible</a:t>
            </a:r>
            <a:r>
              <a:rPr sz="1588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r>
              <a:rPr sz="1588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588" spc="-38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88" spc="-9" dirty="0">
                <a:solidFill>
                  <a:srgbClr val="FFFFFF"/>
                </a:solidFill>
                <a:latin typeface="Calibri"/>
                <a:cs typeface="Calibri"/>
              </a:rPr>
              <a:t>Nothing</a:t>
            </a:r>
            <a:r>
              <a:rPr sz="1588" spc="-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588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4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2459916" y="2271208"/>
            <a:ext cx="2584637" cy="2356037"/>
            <a:chOff x="2635504" y="2574035"/>
            <a:chExt cx="2929255" cy="2670175"/>
          </a:xfrm>
        </p:grpSpPr>
        <p:pic>
          <p:nvPicPr>
            <p:cNvPr id="90" name="object 9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35504" y="2574035"/>
              <a:ext cx="2929127" cy="2670048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2665954" y="2586931"/>
              <a:ext cx="2738755" cy="2481580"/>
            </a:xfrm>
            <a:custGeom>
              <a:avLst/>
              <a:gdLst/>
              <a:ahLst/>
              <a:cxnLst/>
              <a:rect l="l" t="t" r="r" b="b"/>
              <a:pathLst>
                <a:path w="2738754" h="2481579">
                  <a:moveTo>
                    <a:pt x="2629639" y="2411835"/>
                  </a:moveTo>
                  <a:lnTo>
                    <a:pt x="2601214" y="2443316"/>
                  </a:lnTo>
                  <a:lnTo>
                    <a:pt x="2738177" y="2481478"/>
                  </a:lnTo>
                  <a:lnTo>
                    <a:pt x="2716579" y="2426067"/>
                  </a:lnTo>
                  <a:lnTo>
                    <a:pt x="2645361" y="2426067"/>
                  </a:lnTo>
                  <a:lnTo>
                    <a:pt x="2629639" y="2411835"/>
                  </a:lnTo>
                  <a:close/>
                </a:path>
                <a:path w="2738754" h="2481579">
                  <a:moveTo>
                    <a:pt x="2658064" y="2380354"/>
                  </a:moveTo>
                  <a:lnTo>
                    <a:pt x="2629639" y="2411835"/>
                  </a:lnTo>
                  <a:lnTo>
                    <a:pt x="2645361" y="2426067"/>
                  </a:lnTo>
                  <a:lnTo>
                    <a:pt x="2673786" y="2394586"/>
                  </a:lnTo>
                  <a:lnTo>
                    <a:pt x="2658064" y="2380354"/>
                  </a:lnTo>
                  <a:close/>
                </a:path>
                <a:path w="2738754" h="2481579">
                  <a:moveTo>
                    <a:pt x="2686490" y="2348872"/>
                  </a:moveTo>
                  <a:lnTo>
                    <a:pt x="2658064" y="2380354"/>
                  </a:lnTo>
                  <a:lnTo>
                    <a:pt x="2673786" y="2394586"/>
                  </a:lnTo>
                  <a:lnTo>
                    <a:pt x="2645361" y="2426067"/>
                  </a:lnTo>
                  <a:lnTo>
                    <a:pt x="2716579" y="2426067"/>
                  </a:lnTo>
                  <a:lnTo>
                    <a:pt x="2686490" y="2348872"/>
                  </a:lnTo>
                  <a:close/>
                </a:path>
                <a:path w="2738754" h="2481579">
                  <a:moveTo>
                    <a:pt x="28425" y="0"/>
                  </a:moveTo>
                  <a:lnTo>
                    <a:pt x="0" y="31480"/>
                  </a:lnTo>
                  <a:lnTo>
                    <a:pt x="2629639" y="2411835"/>
                  </a:lnTo>
                  <a:lnTo>
                    <a:pt x="2658064" y="2380354"/>
                  </a:lnTo>
                  <a:lnTo>
                    <a:pt x="28425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92" name="object 92"/>
          <p:cNvGrpSpPr/>
          <p:nvPr/>
        </p:nvGrpSpPr>
        <p:grpSpPr>
          <a:xfrm>
            <a:off x="4501178" y="4395843"/>
            <a:ext cx="796178" cy="503144"/>
            <a:chOff x="4948935" y="4981955"/>
            <a:chExt cx="902335" cy="570230"/>
          </a:xfrm>
        </p:grpSpPr>
        <p:pic>
          <p:nvPicPr>
            <p:cNvPr id="93" name="object 9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48935" y="4981955"/>
              <a:ext cx="902208" cy="569976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5035035" y="5068409"/>
              <a:ext cx="731520" cy="396240"/>
            </a:xfrm>
            <a:custGeom>
              <a:avLst/>
              <a:gdLst/>
              <a:ahLst/>
              <a:cxnLst/>
              <a:rect l="l" t="t" r="r" b="b"/>
              <a:pathLst>
                <a:path w="731520" h="396239">
                  <a:moveTo>
                    <a:pt x="731037" y="0"/>
                  </a:moveTo>
                  <a:lnTo>
                    <a:pt x="0" y="0"/>
                  </a:lnTo>
                  <a:lnTo>
                    <a:pt x="0" y="396027"/>
                  </a:lnTo>
                  <a:lnTo>
                    <a:pt x="731037" y="396027"/>
                  </a:lnTo>
                  <a:lnTo>
                    <a:pt x="731037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5" name="object 95"/>
            <p:cNvSpPr/>
            <p:nvPr/>
          </p:nvSpPr>
          <p:spPr>
            <a:xfrm>
              <a:off x="5035035" y="5068409"/>
              <a:ext cx="731520" cy="396240"/>
            </a:xfrm>
            <a:custGeom>
              <a:avLst/>
              <a:gdLst/>
              <a:ahLst/>
              <a:cxnLst/>
              <a:rect l="l" t="t" r="r" b="b"/>
              <a:pathLst>
                <a:path w="731520" h="396239">
                  <a:moveTo>
                    <a:pt x="0" y="0"/>
                  </a:moveTo>
                  <a:lnTo>
                    <a:pt x="731037" y="0"/>
                  </a:lnTo>
                  <a:lnTo>
                    <a:pt x="731037" y="396029"/>
                  </a:lnTo>
                  <a:lnTo>
                    <a:pt x="0" y="396029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4588625" y="4483978"/>
            <a:ext cx="625288" cy="33890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9349">
              <a:lnSpc>
                <a:spcPts val="1262"/>
              </a:lnSpc>
              <a:spcBef>
                <a:spcPts val="88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 dirty="0">
              <a:latin typeface="Calibri"/>
              <a:cs typeface="Calibri"/>
            </a:endParaRPr>
          </a:p>
          <a:p>
            <a:pPr marL="197793">
              <a:lnSpc>
                <a:spcPts val="1262"/>
              </a:lnSpc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059" spc="16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3</a:t>
            </a:r>
            <a:endParaRPr sz="1059" dirty="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4025822" y="5235388"/>
            <a:ext cx="298637" cy="168086"/>
          </a:xfrm>
          <a:prstGeom prst="rect">
            <a:avLst/>
          </a:prstGeom>
        </p:spPr>
        <p:txBody>
          <a:bodyPr vert="horz" wrap="square" lIns="0" tIns="5043" rIns="0" bIns="0" rtlCol="0">
            <a:spAutoFit/>
          </a:bodyPr>
          <a:lstStyle/>
          <a:p>
            <a:pPr marL="11206">
              <a:spcBef>
                <a:spcPts val="40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059" spc="-9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783653" y="5248836"/>
            <a:ext cx="250451" cy="168086"/>
          </a:xfrm>
          <a:prstGeom prst="rect">
            <a:avLst/>
          </a:prstGeom>
        </p:spPr>
        <p:txBody>
          <a:bodyPr vert="horz" wrap="square" lIns="0" tIns="5043" rIns="0" bIns="0" rtlCol="0">
            <a:spAutoFit/>
          </a:bodyPr>
          <a:lstStyle/>
          <a:p>
            <a:pPr marL="11206">
              <a:spcBef>
                <a:spcPts val="40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059" spc="-1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9" spc="-3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02" name="Date Placeholder 101">
            <a:extLst>
              <a:ext uri="{FF2B5EF4-FFF2-40B4-BE49-F238E27FC236}">
                <a16:creationId xmlns:a16="http://schemas.microsoft.com/office/drawing/2014/main" id="{4598FE86-F6CD-4AC8-ADBF-8EAA6D43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56EC-403C-4B13-9323-61779177BC9D}" type="datetime1">
              <a:rPr lang="en-US" smtClean="0"/>
              <a:t>3/30/2022</a:t>
            </a:fld>
            <a:endParaRPr lang="en-US"/>
          </a:p>
        </p:txBody>
      </p:sp>
      <p:sp>
        <p:nvSpPr>
          <p:cNvPr id="103" name="Footer Placeholder 102">
            <a:extLst>
              <a:ext uri="{FF2B5EF4-FFF2-40B4-BE49-F238E27FC236}">
                <a16:creationId xmlns:a16="http://schemas.microsoft.com/office/drawing/2014/main" id="{C0F784BD-2B97-4D11-8200-4951CAC9B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104" name="Slide Number Placeholder 103">
            <a:extLst>
              <a:ext uri="{FF2B5EF4-FFF2-40B4-BE49-F238E27FC236}">
                <a16:creationId xmlns:a16="http://schemas.microsoft.com/office/drawing/2014/main" id="{FC38DC66-34D4-459F-AB85-98B39AB09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24891" y="4066016"/>
            <a:ext cx="7520828" cy="879101"/>
            <a:chOff x="895809" y="4608151"/>
            <a:chExt cx="8523605" cy="996315"/>
          </a:xfrm>
        </p:grpSpPr>
        <p:sp>
          <p:nvSpPr>
            <p:cNvPr id="3" name="object 3"/>
            <p:cNvSpPr/>
            <p:nvPr/>
          </p:nvSpPr>
          <p:spPr>
            <a:xfrm>
              <a:off x="905334" y="4617676"/>
              <a:ext cx="4849495" cy="628650"/>
            </a:xfrm>
            <a:custGeom>
              <a:avLst/>
              <a:gdLst/>
              <a:ahLst/>
              <a:cxnLst/>
              <a:rect l="l" t="t" r="r" b="b"/>
              <a:pathLst>
                <a:path w="4849495" h="628650">
                  <a:moveTo>
                    <a:pt x="0" y="0"/>
                  </a:moveTo>
                  <a:lnTo>
                    <a:pt x="4849256" y="0"/>
                  </a:lnTo>
                  <a:lnTo>
                    <a:pt x="4849256" y="628394"/>
                  </a:lnTo>
                  <a:lnTo>
                    <a:pt x="0" y="628394"/>
                  </a:lnTo>
                  <a:lnTo>
                    <a:pt x="0" y="0"/>
                  </a:lnTo>
                  <a:close/>
                </a:path>
              </a:pathLst>
            </a:custGeom>
            <a:ln w="18861">
              <a:solidFill>
                <a:srgbClr val="FC550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7784" y="4832603"/>
              <a:ext cx="1548384" cy="6065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54589" y="4917145"/>
              <a:ext cx="1400810" cy="473075"/>
            </a:xfrm>
            <a:custGeom>
              <a:avLst/>
              <a:gdLst/>
              <a:ahLst/>
              <a:cxnLst/>
              <a:rect l="l" t="t" r="r" b="b"/>
              <a:pathLst>
                <a:path w="1400809" h="473075">
                  <a:moveTo>
                    <a:pt x="85069" y="26963"/>
                  </a:moveTo>
                  <a:lnTo>
                    <a:pt x="76508" y="53925"/>
                  </a:lnTo>
                  <a:lnTo>
                    <a:pt x="1392060" y="472662"/>
                  </a:lnTo>
                  <a:lnTo>
                    <a:pt x="1400620" y="445698"/>
                  </a:lnTo>
                  <a:lnTo>
                    <a:pt x="85069" y="26963"/>
                  </a:lnTo>
                  <a:close/>
                </a:path>
                <a:path w="1400809" h="473075">
                  <a:moveTo>
                    <a:pt x="93630" y="0"/>
                  </a:moveTo>
                  <a:lnTo>
                    <a:pt x="0" y="14729"/>
                  </a:lnTo>
                  <a:lnTo>
                    <a:pt x="67947" y="80888"/>
                  </a:lnTo>
                  <a:lnTo>
                    <a:pt x="76508" y="53925"/>
                  </a:lnTo>
                  <a:lnTo>
                    <a:pt x="63042" y="49639"/>
                  </a:lnTo>
                  <a:lnTo>
                    <a:pt x="71603" y="22677"/>
                  </a:lnTo>
                  <a:lnTo>
                    <a:pt x="86430" y="22677"/>
                  </a:lnTo>
                  <a:lnTo>
                    <a:pt x="93630" y="0"/>
                  </a:lnTo>
                  <a:close/>
                </a:path>
                <a:path w="1400809" h="473075">
                  <a:moveTo>
                    <a:pt x="71603" y="22677"/>
                  </a:moveTo>
                  <a:lnTo>
                    <a:pt x="63042" y="49639"/>
                  </a:lnTo>
                  <a:lnTo>
                    <a:pt x="76508" y="53925"/>
                  </a:lnTo>
                  <a:lnTo>
                    <a:pt x="85069" y="26963"/>
                  </a:lnTo>
                  <a:lnTo>
                    <a:pt x="71603" y="22677"/>
                  </a:lnTo>
                  <a:close/>
                </a:path>
                <a:path w="1400809" h="473075">
                  <a:moveTo>
                    <a:pt x="86430" y="22677"/>
                  </a:moveTo>
                  <a:lnTo>
                    <a:pt x="71603" y="22677"/>
                  </a:lnTo>
                  <a:lnTo>
                    <a:pt x="85069" y="26963"/>
                  </a:lnTo>
                  <a:lnTo>
                    <a:pt x="86430" y="22677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7150929" y="5261307"/>
              <a:ext cx="2268220" cy="342900"/>
            </a:xfrm>
            <a:custGeom>
              <a:avLst/>
              <a:gdLst/>
              <a:ahLst/>
              <a:cxnLst/>
              <a:rect l="l" t="t" r="r" b="b"/>
              <a:pathLst>
                <a:path w="2268220" h="342900">
                  <a:moveTo>
                    <a:pt x="2268220" y="0"/>
                  </a:moveTo>
                  <a:lnTo>
                    <a:pt x="0" y="0"/>
                  </a:lnTo>
                  <a:lnTo>
                    <a:pt x="0" y="342828"/>
                  </a:lnTo>
                  <a:lnTo>
                    <a:pt x="2268220" y="342828"/>
                  </a:lnTo>
                  <a:lnTo>
                    <a:pt x="2268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92748" y="4656017"/>
            <a:ext cx="8169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Recursion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35570" y="3450139"/>
            <a:ext cx="5540188" cy="676835"/>
            <a:chOff x="907912" y="3910157"/>
            <a:chExt cx="6278880" cy="767080"/>
          </a:xfrm>
        </p:grpSpPr>
        <p:sp>
          <p:nvSpPr>
            <p:cNvPr id="9" name="object 9"/>
            <p:cNvSpPr/>
            <p:nvPr/>
          </p:nvSpPr>
          <p:spPr>
            <a:xfrm>
              <a:off x="917437" y="3919682"/>
              <a:ext cx="4849495" cy="593725"/>
            </a:xfrm>
            <a:custGeom>
              <a:avLst/>
              <a:gdLst/>
              <a:ahLst/>
              <a:cxnLst/>
              <a:rect l="l" t="t" r="r" b="b"/>
              <a:pathLst>
                <a:path w="4849495" h="593725">
                  <a:moveTo>
                    <a:pt x="0" y="0"/>
                  </a:moveTo>
                  <a:lnTo>
                    <a:pt x="4849256" y="0"/>
                  </a:lnTo>
                  <a:lnTo>
                    <a:pt x="4849256" y="593199"/>
                  </a:lnTo>
                  <a:lnTo>
                    <a:pt x="0" y="593199"/>
                  </a:lnTo>
                  <a:lnTo>
                    <a:pt x="0" y="0"/>
                  </a:lnTo>
                  <a:close/>
                </a:path>
              </a:pathLst>
            </a:custGeom>
            <a:ln w="18861">
              <a:solidFill>
                <a:srgbClr val="118CC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49976" y="4116324"/>
              <a:ext cx="1536192" cy="56083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766694" y="4199034"/>
              <a:ext cx="1388745" cy="431165"/>
            </a:xfrm>
            <a:custGeom>
              <a:avLst/>
              <a:gdLst/>
              <a:ahLst/>
              <a:cxnLst/>
              <a:rect l="l" t="t" r="r" b="b"/>
              <a:pathLst>
                <a:path w="1388745" h="431164">
                  <a:moveTo>
                    <a:pt x="85366" y="27184"/>
                  </a:moveTo>
                  <a:lnTo>
                    <a:pt x="77533" y="54368"/>
                  </a:lnTo>
                  <a:lnTo>
                    <a:pt x="1380319" y="430682"/>
                  </a:lnTo>
                  <a:lnTo>
                    <a:pt x="1388153" y="403498"/>
                  </a:lnTo>
                  <a:lnTo>
                    <a:pt x="85366" y="27184"/>
                  </a:lnTo>
                  <a:close/>
                </a:path>
                <a:path w="1388745" h="431164">
                  <a:moveTo>
                    <a:pt x="93198" y="0"/>
                  </a:moveTo>
                  <a:lnTo>
                    <a:pt x="0" y="17249"/>
                  </a:lnTo>
                  <a:lnTo>
                    <a:pt x="69701" y="81553"/>
                  </a:lnTo>
                  <a:lnTo>
                    <a:pt x="77533" y="54368"/>
                  </a:lnTo>
                  <a:lnTo>
                    <a:pt x="63957" y="50446"/>
                  </a:lnTo>
                  <a:lnTo>
                    <a:pt x="71790" y="23262"/>
                  </a:lnTo>
                  <a:lnTo>
                    <a:pt x="86496" y="23262"/>
                  </a:lnTo>
                  <a:lnTo>
                    <a:pt x="93198" y="0"/>
                  </a:lnTo>
                  <a:close/>
                </a:path>
                <a:path w="1388745" h="431164">
                  <a:moveTo>
                    <a:pt x="71790" y="23262"/>
                  </a:moveTo>
                  <a:lnTo>
                    <a:pt x="63957" y="50446"/>
                  </a:lnTo>
                  <a:lnTo>
                    <a:pt x="77533" y="54368"/>
                  </a:lnTo>
                  <a:lnTo>
                    <a:pt x="85366" y="27184"/>
                  </a:lnTo>
                  <a:lnTo>
                    <a:pt x="71790" y="23262"/>
                  </a:lnTo>
                  <a:close/>
                </a:path>
                <a:path w="1388745" h="431164">
                  <a:moveTo>
                    <a:pt x="86496" y="23262"/>
                  </a:moveTo>
                  <a:lnTo>
                    <a:pt x="71790" y="23262"/>
                  </a:lnTo>
                  <a:lnTo>
                    <a:pt x="85366" y="27184"/>
                  </a:lnTo>
                  <a:lnTo>
                    <a:pt x="86496" y="23262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451217" y="3923775"/>
            <a:ext cx="1932454" cy="522957"/>
          </a:xfrm>
          <a:prstGeom prst="rect">
            <a:avLst/>
          </a:prstGeom>
          <a:solidFill>
            <a:srgbClr val="118CC4"/>
          </a:solidFill>
          <a:ln w="18860">
            <a:solidFill>
              <a:srgbClr val="09658F"/>
            </a:solidFill>
          </a:ln>
        </p:spPr>
        <p:txBody>
          <a:bodyPr vert="horz" wrap="square" lIns="0" tIns="35299" rIns="0" bIns="0" rtlCol="0">
            <a:spAutoFit/>
          </a:bodyPr>
          <a:lstStyle/>
          <a:p>
            <a:pPr marL="59394" marR="262232">
              <a:lnSpc>
                <a:spcPts val="1862"/>
              </a:lnSpc>
              <a:spcBef>
                <a:spcPts val="278"/>
              </a:spcBef>
            </a:pPr>
            <a:r>
              <a:rPr sz="1588" spc="-13" dirty="0">
                <a:solidFill>
                  <a:srgbClr val="FFFFFF"/>
                </a:solidFill>
                <a:latin typeface="Calibri"/>
                <a:cs typeface="Calibri"/>
              </a:rPr>
              <a:t>Stopping</a:t>
            </a:r>
            <a:r>
              <a:rPr sz="1588" spc="-5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FFFFFF"/>
                </a:solidFill>
                <a:latin typeface="Calibri"/>
                <a:cs typeface="Calibri"/>
              </a:rPr>
              <a:t>conditions </a:t>
            </a:r>
            <a:r>
              <a:rPr sz="1588" spc="-34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588" spc="-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588" spc="-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922225" y="1473553"/>
            <a:ext cx="4393826" cy="460017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22" dirty="0"/>
              <a:t>Greedy</a:t>
            </a:r>
            <a:r>
              <a:rPr spc="-40" dirty="0"/>
              <a:t> </a:t>
            </a:r>
            <a:r>
              <a:rPr spc="-13" dirty="0"/>
              <a:t>decision</a:t>
            </a:r>
            <a:r>
              <a:rPr spc="-35" dirty="0"/>
              <a:t> </a:t>
            </a:r>
            <a:r>
              <a:rPr spc="-22" dirty="0"/>
              <a:t>tree</a:t>
            </a:r>
            <a:r>
              <a:rPr spc="-40" dirty="0"/>
              <a:t> </a:t>
            </a:r>
            <a:r>
              <a:rPr spc="-13" dirty="0"/>
              <a:t>learning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81929" y="2262742"/>
            <a:ext cx="3227854" cy="2295919"/>
          </a:xfrm>
          <a:prstGeom prst="rect">
            <a:avLst/>
          </a:prstGeom>
        </p:spPr>
        <p:txBody>
          <a:bodyPr vert="horz" wrap="square" lIns="0" tIns="150719" rIns="0" bIns="0" rtlCol="0">
            <a:spAutoFit/>
          </a:bodyPr>
          <a:lstStyle/>
          <a:p>
            <a:pPr marL="235336" indent="-224690">
              <a:spcBef>
                <a:spcPts val="1187"/>
              </a:spcBef>
              <a:buClr>
                <a:srgbClr val="5D5555"/>
              </a:buClr>
              <a:buFont typeface="Arial MT"/>
              <a:buChar char="•"/>
              <a:tabLst>
                <a:tab pos="235336" algn="l"/>
                <a:tab pos="235896" algn="l"/>
              </a:tabLst>
            </a:pPr>
            <a:r>
              <a:rPr sz="1588" spc="-13" dirty="0">
                <a:solidFill>
                  <a:srgbClr val="B0007E"/>
                </a:solidFill>
                <a:latin typeface="Calibri"/>
                <a:cs typeface="Calibri"/>
              </a:rPr>
              <a:t>Step</a:t>
            </a:r>
            <a:r>
              <a:rPr sz="1588" spc="-26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B0007E"/>
                </a:solidFill>
                <a:latin typeface="Calibri"/>
                <a:cs typeface="Calibri"/>
              </a:rPr>
              <a:t>1:</a:t>
            </a:r>
            <a:r>
              <a:rPr sz="1588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Start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with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4" dirty="0">
                <a:solidFill>
                  <a:srgbClr val="2B2728"/>
                </a:solidFill>
                <a:latin typeface="Calibri"/>
                <a:cs typeface="Calibri"/>
              </a:rPr>
              <a:t>an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empty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tree</a:t>
            </a:r>
            <a:endParaRPr sz="1588">
              <a:latin typeface="Calibri"/>
              <a:cs typeface="Calibri"/>
            </a:endParaRPr>
          </a:p>
          <a:p>
            <a:pPr marL="235336" indent="-224690">
              <a:spcBef>
                <a:spcPts val="1103"/>
              </a:spcBef>
              <a:buClr>
                <a:srgbClr val="5D5555"/>
              </a:buClr>
              <a:buFont typeface="Arial MT"/>
              <a:buChar char="•"/>
              <a:tabLst>
                <a:tab pos="235336" algn="l"/>
                <a:tab pos="235896" algn="l"/>
              </a:tabLst>
            </a:pPr>
            <a:r>
              <a:rPr sz="1588" spc="-13" dirty="0">
                <a:solidFill>
                  <a:srgbClr val="B0007E"/>
                </a:solidFill>
                <a:latin typeface="Calibri"/>
                <a:cs typeface="Calibri"/>
              </a:rPr>
              <a:t>Step</a:t>
            </a:r>
            <a:r>
              <a:rPr sz="1588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B0007E"/>
                </a:solidFill>
                <a:latin typeface="Calibri"/>
                <a:cs typeface="Calibri"/>
              </a:rPr>
              <a:t>2:</a:t>
            </a:r>
            <a:r>
              <a:rPr sz="1588" spc="-18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Select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2B2728"/>
                </a:solidFill>
                <a:latin typeface="Calibri"/>
                <a:cs typeface="Calibri"/>
              </a:rPr>
              <a:t>a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feature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to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data</a:t>
            </a:r>
            <a:endParaRPr sz="1588">
              <a:latin typeface="Calibri"/>
              <a:cs typeface="Calibri"/>
            </a:endParaRPr>
          </a:p>
          <a:p>
            <a:pPr marL="235336" indent="-224690">
              <a:spcBef>
                <a:spcPts val="1015"/>
              </a:spcBef>
              <a:buClr>
                <a:srgbClr val="5D5555"/>
              </a:buClr>
              <a:buFont typeface="Arial MT"/>
              <a:buChar char="•"/>
              <a:tabLst>
                <a:tab pos="235336" algn="l"/>
                <a:tab pos="235896" algn="l"/>
              </a:tabLst>
            </a:pP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For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each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of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the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tree:</a:t>
            </a:r>
            <a:endParaRPr sz="1588">
              <a:latin typeface="Calibri"/>
              <a:cs typeface="Calibri"/>
            </a:endParaRPr>
          </a:p>
          <a:p>
            <a:pPr marL="534549" marR="310980" lvl="1" indent="-224690">
              <a:lnSpc>
                <a:spcPts val="1844"/>
              </a:lnSpc>
              <a:spcBef>
                <a:spcPts val="410"/>
              </a:spcBef>
              <a:buClr>
                <a:srgbClr val="5D5555"/>
              </a:buClr>
              <a:buFont typeface="Arial MT"/>
              <a:buChar char="•"/>
              <a:tabLst>
                <a:tab pos="534549" algn="l"/>
                <a:tab pos="535109" algn="l"/>
              </a:tabLst>
            </a:pPr>
            <a:r>
              <a:rPr sz="1588" spc="-13" dirty="0">
                <a:solidFill>
                  <a:srgbClr val="B0007E"/>
                </a:solidFill>
                <a:latin typeface="Calibri"/>
                <a:cs typeface="Calibri"/>
              </a:rPr>
              <a:t>Step</a:t>
            </a:r>
            <a:r>
              <a:rPr sz="1588" spc="-31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B0007E"/>
                </a:solidFill>
                <a:latin typeface="Calibri"/>
                <a:cs typeface="Calibri"/>
              </a:rPr>
              <a:t>3:</a:t>
            </a:r>
            <a:r>
              <a:rPr sz="1588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spc="-4" dirty="0">
                <a:solidFill>
                  <a:srgbClr val="2B2728"/>
                </a:solidFill>
                <a:latin typeface="Calibri"/>
                <a:cs typeface="Calibri"/>
              </a:rPr>
              <a:t>If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nothing</a:t>
            </a:r>
            <a:r>
              <a:rPr sz="1588" spc="-31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more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to</a:t>
            </a:r>
            <a:r>
              <a:rPr sz="1588" spc="-31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do, </a:t>
            </a:r>
            <a:r>
              <a:rPr sz="1588" spc="-34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make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predictions</a:t>
            </a:r>
            <a:endParaRPr sz="1588">
              <a:latin typeface="Calibri"/>
              <a:cs typeface="Calibri"/>
            </a:endParaRPr>
          </a:p>
          <a:p>
            <a:pPr marL="534549" marR="4483" lvl="1" indent="-224690">
              <a:lnSpc>
                <a:spcPts val="1862"/>
              </a:lnSpc>
              <a:spcBef>
                <a:spcPts val="1147"/>
              </a:spcBef>
              <a:buClr>
                <a:srgbClr val="5D5555"/>
              </a:buClr>
              <a:buFont typeface="Arial MT"/>
              <a:buChar char="•"/>
              <a:tabLst>
                <a:tab pos="534549" algn="l"/>
                <a:tab pos="535109" algn="l"/>
              </a:tabLst>
            </a:pPr>
            <a:r>
              <a:rPr sz="1588" spc="-13" dirty="0">
                <a:solidFill>
                  <a:srgbClr val="B0007E"/>
                </a:solidFill>
                <a:latin typeface="Calibri"/>
                <a:cs typeface="Calibri"/>
              </a:rPr>
              <a:t>Step</a:t>
            </a:r>
            <a:r>
              <a:rPr sz="1588" spc="-26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B0007E"/>
                </a:solidFill>
                <a:latin typeface="Calibri"/>
                <a:cs typeface="Calibri"/>
              </a:rPr>
              <a:t>4:</a:t>
            </a:r>
            <a:r>
              <a:rPr sz="1588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Otherwise,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go</a:t>
            </a:r>
            <a:r>
              <a:rPr sz="1588" spc="-31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to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B0007E"/>
                </a:solidFill>
                <a:latin typeface="Calibri"/>
                <a:cs typeface="Calibri"/>
              </a:rPr>
              <a:t>Step</a:t>
            </a:r>
            <a:r>
              <a:rPr sz="1588" spc="-26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B0007E"/>
                </a:solidFill>
                <a:latin typeface="Calibri"/>
                <a:cs typeface="Calibri"/>
              </a:rPr>
              <a:t>2</a:t>
            </a:r>
            <a:r>
              <a:rPr sz="1588" spc="-26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2B2728"/>
                </a:solidFill>
                <a:latin typeface="Calibri"/>
                <a:cs typeface="Calibri"/>
              </a:rPr>
              <a:t>&amp; </a:t>
            </a:r>
            <a:r>
              <a:rPr sz="1588" spc="-34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continue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(recurse)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on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this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24973" y="2799540"/>
            <a:ext cx="7383556" cy="972110"/>
            <a:chOff x="895903" y="3172811"/>
            <a:chExt cx="8368030" cy="1101725"/>
          </a:xfrm>
        </p:grpSpPr>
        <p:sp>
          <p:nvSpPr>
            <p:cNvPr id="16" name="object 16"/>
            <p:cNvSpPr/>
            <p:nvPr/>
          </p:nvSpPr>
          <p:spPr>
            <a:xfrm>
              <a:off x="905334" y="3182242"/>
              <a:ext cx="4849495" cy="339725"/>
            </a:xfrm>
            <a:custGeom>
              <a:avLst/>
              <a:gdLst/>
              <a:ahLst/>
              <a:cxnLst/>
              <a:rect l="l" t="t" r="r" b="b"/>
              <a:pathLst>
                <a:path w="4849495" h="339725">
                  <a:moveTo>
                    <a:pt x="0" y="0"/>
                  </a:moveTo>
                  <a:lnTo>
                    <a:pt x="4849257" y="0"/>
                  </a:lnTo>
                  <a:lnTo>
                    <a:pt x="4849257" y="339168"/>
                  </a:lnTo>
                  <a:lnTo>
                    <a:pt x="0" y="339168"/>
                  </a:lnTo>
                  <a:lnTo>
                    <a:pt x="0" y="0"/>
                  </a:lnTo>
                  <a:close/>
                </a:path>
              </a:pathLst>
            </a:custGeom>
            <a:ln w="18861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7784" y="3253740"/>
              <a:ext cx="1548384" cy="64922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754592" y="3339743"/>
              <a:ext cx="1401445" cy="513715"/>
            </a:xfrm>
            <a:custGeom>
              <a:avLst/>
              <a:gdLst/>
              <a:ahLst/>
              <a:cxnLst/>
              <a:rect l="l" t="t" r="r" b="b"/>
              <a:pathLst>
                <a:path w="1401445" h="513714">
                  <a:moveTo>
                    <a:pt x="84690" y="26711"/>
                  </a:moveTo>
                  <a:lnTo>
                    <a:pt x="75374" y="53422"/>
                  </a:lnTo>
                  <a:lnTo>
                    <a:pt x="1391679" y="513651"/>
                  </a:lnTo>
                  <a:lnTo>
                    <a:pt x="1400996" y="486940"/>
                  </a:lnTo>
                  <a:lnTo>
                    <a:pt x="84690" y="26711"/>
                  </a:lnTo>
                  <a:close/>
                </a:path>
                <a:path w="1401445" h="513714">
                  <a:moveTo>
                    <a:pt x="94006" y="0"/>
                  </a:moveTo>
                  <a:lnTo>
                    <a:pt x="0" y="12084"/>
                  </a:lnTo>
                  <a:lnTo>
                    <a:pt x="66059" y="80133"/>
                  </a:lnTo>
                  <a:lnTo>
                    <a:pt x="75374" y="53422"/>
                  </a:lnTo>
                  <a:lnTo>
                    <a:pt x="62035" y="48759"/>
                  </a:lnTo>
                  <a:lnTo>
                    <a:pt x="71351" y="22047"/>
                  </a:lnTo>
                  <a:lnTo>
                    <a:pt x="86317" y="22047"/>
                  </a:lnTo>
                  <a:lnTo>
                    <a:pt x="94006" y="0"/>
                  </a:lnTo>
                  <a:close/>
                </a:path>
                <a:path w="1401445" h="513714">
                  <a:moveTo>
                    <a:pt x="71351" y="22047"/>
                  </a:moveTo>
                  <a:lnTo>
                    <a:pt x="62035" y="48759"/>
                  </a:lnTo>
                  <a:lnTo>
                    <a:pt x="75374" y="53422"/>
                  </a:lnTo>
                  <a:lnTo>
                    <a:pt x="84690" y="26711"/>
                  </a:lnTo>
                  <a:lnTo>
                    <a:pt x="71351" y="22047"/>
                  </a:lnTo>
                  <a:close/>
                </a:path>
                <a:path w="1401445" h="513714">
                  <a:moveTo>
                    <a:pt x="86317" y="22047"/>
                  </a:moveTo>
                  <a:lnTo>
                    <a:pt x="71351" y="22047"/>
                  </a:lnTo>
                  <a:lnTo>
                    <a:pt x="84690" y="26711"/>
                  </a:lnTo>
                  <a:lnTo>
                    <a:pt x="86317" y="22047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7150929" y="3382573"/>
              <a:ext cx="2113280" cy="891540"/>
            </a:xfrm>
            <a:custGeom>
              <a:avLst/>
              <a:gdLst/>
              <a:ahLst/>
              <a:cxnLst/>
              <a:rect l="l" t="t" r="r" b="b"/>
              <a:pathLst>
                <a:path w="2113279" h="891539">
                  <a:moveTo>
                    <a:pt x="2112839" y="0"/>
                  </a:moveTo>
                  <a:lnTo>
                    <a:pt x="0" y="0"/>
                  </a:lnTo>
                  <a:lnTo>
                    <a:pt x="0" y="891354"/>
                  </a:lnTo>
                  <a:lnTo>
                    <a:pt x="2112839" y="891354"/>
                  </a:lnTo>
                  <a:lnTo>
                    <a:pt x="21128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92748" y="2996650"/>
            <a:ext cx="1510553" cy="729261"/>
          </a:xfrm>
          <a:prstGeom prst="rect">
            <a:avLst/>
          </a:prstGeom>
        </p:spPr>
        <p:txBody>
          <a:bodyPr vert="horz" wrap="square" lIns="0" tIns="17929" rIns="0" bIns="0" rtlCol="0">
            <a:spAutoFit/>
          </a:bodyPr>
          <a:lstStyle/>
          <a:p>
            <a:pPr marL="11206" marR="4483" algn="just">
              <a:lnSpc>
                <a:spcPct val="97200"/>
              </a:lnSpc>
              <a:spcBef>
                <a:spcPts val="141"/>
              </a:spcBef>
            </a:pP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Pick 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feature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split </a:t>
            </a:r>
            <a:r>
              <a:rPr sz="1588" spc="-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leading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to 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lowest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 classification</a:t>
            </a:r>
            <a:r>
              <a:rPr sz="1588" spc="-57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error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B78A2C0E-4604-4121-B2CA-0994A169059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1206">
              <a:spcBef>
                <a:spcPts val="49"/>
              </a:spcBef>
            </a:pPr>
            <a:fld id="{3B677C41-C81A-4404-AA8A-7B091B8A2B5C}" type="datetime1">
              <a:rPr lang="en-US" spc="-9" smtClean="0"/>
              <a:t>3/30/2022</a:t>
            </a:fld>
            <a:endParaRPr lang="en-US" spc="-9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D992A528-27F3-4C16-AED7-AB6FF02D63F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1206">
              <a:spcBef>
                <a:spcPts val="49"/>
              </a:spcBef>
            </a:pPr>
            <a:r>
              <a:rPr lang="en-US" spc="-9"/>
              <a:t>Presented by    Dr. AKHTAR JAMIL </a:t>
            </a:r>
            <a:endParaRPr lang="en-US" spc="-9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A13D5A47-BE0A-407B-B637-48AE3588BA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3619">
              <a:spcBef>
                <a:spcPts val="40"/>
              </a:spcBef>
            </a:pPr>
            <a:fld id="{81D60167-4931-47E6-BA6A-407CBD079E47}" type="slidenum">
              <a:rPr lang="en-PK" smtClean="0"/>
              <a:pPr marL="33619">
                <a:spcBef>
                  <a:spcPts val="40"/>
                </a:spcBef>
              </a:pPr>
              <a:t>15</a:t>
            </a:fld>
            <a:endParaRPr lang="en-PK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2123" y="1470199"/>
            <a:ext cx="2863663" cy="460017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2912" spc="-4" dirty="0">
                <a:latin typeface="Calibri"/>
                <a:cs typeface="Calibri"/>
              </a:rPr>
              <a:t>Is</a:t>
            </a:r>
            <a:r>
              <a:rPr sz="2912" spc="-35" dirty="0">
                <a:latin typeface="Calibri"/>
                <a:cs typeface="Calibri"/>
              </a:rPr>
              <a:t> </a:t>
            </a:r>
            <a:r>
              <a:rPr sz="2912" spc="-9" dirty="0">
                <a:latin typeface="Calibri"/>
                <a:cs typeface="Calibri"/>
              </a:rPr>
              <a:t>this</a:t>
            </a:r>
            <a:r>
              <a:rPr sz="2912" spc="-31" dirty="0">
                <a:latin typeface="Calibri"/>
                <a:cs typeface="Calibri"/>
              </a:rPr>
              <a:t> </a:t>
            </a:r>
            <a:r>
              <a:rPr sz="2912" dirty="0">
                <a:latin typeface="Calibri"/>
                <a:cs typeface="Calibri"/>
              </a:rPr>
              <a:t>a</a:t>
            </a:r>
            <a:r>
              <a:rPr sz="2912" spc="-35" dirty="0">
                <a:latin typeface="Calibri"/>
                <a:cs typeface="Calibri"/>
              </a:rPr>
              <a:t> </a:t>
            </a:r>
            <a:r>
              <a:rPr sz="2912" spc="-18" dirty="0">
                <a:latin typeface="Calibri"/>
                <a:cs typeface="Calibri"/>
              </a:rPr>
              <a:t>good</a:t>
            </a:r>
            <a:r>
              <a:rPr sz="2912" spc="-40" dirty="0">
                <a:latin typeface="Calibri"/>
                <a:cs typeface="Calibri"/>
              </a:rPr>
              <a:t> </a:t>
            </a:r>
            <a:r>
              <a:rPr sz="2912" spc="-13" dirty="0">
                <a:latin typeface="Calibri"/>
                <a:cs typeface="Calibri"/>
              </a:rPr>
              <a:t>idea?</a:t>
            </a:r>
            <a:endParaRPr sz="2912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75044" y="2227455"/>
            <a:ext cx="4923865" cy="2880472"/>
            <a:chOff x="612650" y="2524449"/>
            <a:chExt cx="5580380" cy="3264535"/>
          </a:xfrm>
        </p:grpSpPr>
        <p:sp>
          <p:nvSpPr>
            <p:cNvPr id="4" name="object 4"/>
            <p:cNvSpPr/>
            <p:nvPr/>
          </p:nvSpPr>
          <p:spPr>
            <a:xfrm>
              <a:off x="631506" y="2543305"/>
              <a:ext cx="5542915" cy="3227070"/>
            </a:xfrm>
            <a:custGeom>
              <a:avLst/>
              <a:gdLst/>
              <a:ahLst/>
              <a:cxnLst/>
              <a:rect l="l" t="t" r="r" b="b"/>
              <a:pathLst>
                <a:path w="5542915" h="3227070">
                  <a:moveTo>
                    <a:pt x="3393346" y="0"/>
                  </a:moveTo>
                  <a:lnTo>
                    <a:pt x="3345239" y="918"/>
                  </a:lnTo>
                  <a:lnTo>
                    <a:pt x="3297621" y="5092"/>
                  </a:lnTo>
                  <a:lnTo>
                    <a:pt x="3250756" y="12451"/>
                  </a:lnTo>
                  <a:lnTo>
                    <a:pt x="3204908" y="22925"/>
                  </a:lnTo>
                  <a:lnTo>
                    <a:pt x="3160344" y="36442"/>
                  </a:lnTo>
                  <a:lnTo>
                    <a:pt x="3117327" y="52934"/>
                  </a:lnTo>
                  <a:lnTo>
                    <a:pt x="3076122" y="72329"/>
                  </a:lnTo>
                  <a:lnTo>
                    <a:pt x="3036994" y="94558"/>
                  </a:lnTo>
                  <a:lnTo>
                    <a:pt x="3000208" y="119550"/>
                  </a:lnTo>
                  <a:lnTo>
                    <a:pt x="2966029" y="147235"/>
                  </a:lnTo>
                  <a:lnTo>
                    <a:pt x="2934722" y="177542"/>
                  </a:lnTo>
                  <a:lnTo>
                    <a:pt x="2906551" y="210402"/>
                  </a:lnTo>
                  <a:lnTo>
                    <a:pt x="2881782" y="245744"/>
                  </a:lnTo>
                  <a:lnTo>
                    <a:pt x="2845324" y="219242"/>
                  </a:lnTo>
                  <a:lnTo>
                    <a:pt x="2806600" y="194933"/>
                  </a:lnTo>
                  <a:lnTo>
                    <a:pt x="2765767" y="172907"/>
                  </a:lnTo>
                  <a:lnTo>
                    <a:pt x="2722981" y="153255"/>
                  </a:lnTo>
                  <a:lnTo>
                    <a:pt x="2677063" y="135574"/>
                  </a:lnTo>
                  <a:lnTo>
                    <a:pt x="2630327" y="120839"/>
                  </a:lnTo>
                  <a:lnTo>
                    <a:pt x="2582951" y="109007"/>
                  </a:lnTo>
                  <a:lnTo>
                    <a:pt x="2535115" y="100034"/>
                  </a:lnTo>
                  <a:lnTo>
                    <a:pt x="2486997" y="93876"/>
                  </a:lnTo>
                  <a:lnTo>
                    <a:pt x="2438775" y="90490"/>
                  </a:lnTo>
                  <a:lnTo>
                    <a:pt x="2390628" y="89834"/>
                  </a:lnTo>
                  <a:lnTo>
                    <a:pt x="2342735" y="91862"/>
                  </a:lnTo>
                  <a:lnTo>
                    <a:pt x="2295274" y="96532"/>
                  </a:lnTo>
                  <a:lnTo>
                    <a:pt x="2248425" y="103801"/>
                  </a:lnTo>
                  <a:lnTo>
                    <a:pt x="2202365" y="113624"/>
                  </a:lnTo>
                  <a:lnTo>
                    <a:pt x="2157274" y="125960"/>
                  </a:lnTo>
                  <a:lnTo>
                    <a:pt x="2113330" y="140763"/>
                  </a:lnTo>
                  <a:lnTo>
                    <a:pt x="2070712" y="157991"/>
                  </a:lnTo>
                  <a:lnTo>
                    <a:pt x="2029599" y="177600"/>
                  </a:lnTo>
                  <a:lnTo>
                    <a:pt x="1990169" y="199547"/>
                  </a:lnTo>
                  <a:lnTo>
                    <a:pt x="1952600" y="223788"/>
                  </a:lnTo>
                  <a:lnTo>
                    <a:pt x="1917072" y="250280"/>
                  </a:lnTo>
                  <a:lnTo>
                    <a:pt x="1883764" y="278980"/>
                  </a:lnTo>
                  <a:lnTo>
                    <a:pt x="1852853" y="309844"/>
                  </a:lnTo>
                  <a:lnTo>
                    <a:pt x="1824519" y="342828"/>
                  </a:lnTo>
                  <a:lnTo>
                    <a:pt x="1798940" y="377890"/>
                  </a:lnTo>
                  <a:lnTo>
                    <a:pt x="1752702" y="357882"/>
                  </a:lnTo>
                  <a:lnTo>
                    <a:pt x="1705216" y="340211"/>
                  </a:lnTo>
                  <a:lnTo>
                    <a:pt x="1656622" y="324899"/>
                  </a:lnTo>
                  <a:lnTo>
                    <a:pt x="1607062" y="311969"/>
                  </a:lnTo>
                  <a:lnTo>
                    <a:pt x="1556676" y="301444"/>
                  </a:lnTo>
                  <a:lnTo>
                    <a:pt x="1505605" y="293344"/>
                  </a:lnTo>
                  <a:lnTo>
                    <a:pt x="1453989" y="287694"/>
                  </a:lnTo>
                  <a:lnTo>
                    <a:pt x="1401970" y="284515"/>
                  </a:lnTo>
                  <a:lnTo>
                    <a:pt x="1349688" y="283829"/>
                  </a:lnTo>
                  <a:lnTo>
                    <a:pt x="1297283" y="285658"/>
                  </a:lnTo>
                  <a:lnTo>
                    <a:pt x="1244896" y="290026"/>
                  </a:lnTo>
                  <a:lnTo>
                    <a:pt x="1190903" y="297212"/>
                  </a:lnTo>
                  <a:lnTo>
                    <a:pt x="1138256" y="306924"/>
                  </a:lnTo>
                  <a:lnTo>
                    <a:pt x="1087041" y="319070"/>
                  </a:lnTo>
                  <a:lnTo>
                    <a:pt x="1037346" y="333561"/>
                  </a:lnTo>
                  <a:lnTo>
                    <a:pt x="989258" y="350305"/>
                  </a:lnTo>
                  <a:lnTo>
                    <a:pt x="942862" y="369213"/>
                  </a:lnTo>
                  <a:lnTo>
                    <a:pt x="898247" y="390195"/>
                  </a:lnTo>
                  <a:lnTo>
                    <a:pt x="855498" y="413158"/>
                  </a:lnTo>
                  <a:lnTo>
                    <a:pt x="814702" y="438014"/>
                  </a:lnTo>
                  <a:lnTo>
                    <a:pt x="775946" y="464671"/>
                  </a:lnTo>
                  <a:lnTo>
                    <a:pt x="739318" y="493039"/>
                  </a:lnTo>
                  <a:lnTo>
                    <a:pt x="704903" y="523028"/>
                  </a:lnTo>
                  <a:lnTo>
                    <a:pt x="672789" y="554547"/>
                  </a:lnTo>
                  <a:lnTo>
                    <a:pt x="643062" y="587506"/>
                  </a:lnTo>
                  <a:lnTo>
                    <a:pt x="615809" y="621814"/>
                  </a:lnTo>
                  <a:lnTo>
                    <a:pt x="591117" y="657381"/>
                  </a:lnTo>
                  <a:lnTo>
                    <a:pt x="569073" y="694116"/>
                  </a:lnTo>
                  <a:lnTo>
                    <a:pt x="549762" y="731928"/>
                  </a:lnTo>
                  <a:lnTo>
                    <a:pt x="533274" y="770728"/>
                  </a:lnTo>
                  <a:lnTo>
                    <a:pt x="519693" y="810425"/>
                  </a:lnTo>
                  <a:lnTo>
                    <a:pt x="509106" y="850928"/>
                  </a:lnTo>
                  <a:lnTo>
                    <a:pt x="501601" y="892147"/>
                  </a:lnTo>
                  <a:lnTo>
                    <a:pt x="497265" y="933992"/>
                  </a:lnTo>
                  <a:lnTo>
                    <a:pt x="496183" y="976371"/>
                  </a:lnTo>
                  <a:lnTo>
                    <a:pt x="498444" y="1019195"/>
                  </a:lnTo>
                  <a:lnTo>
                    <a:pt x="504132" y="1062373"/>
                  </a:lnTo>
                  <a:lnTo>
                    <a:pt x="499470" y="1072419"/>
                  </a:lnTo>
                  <a:lnTo>
                    <a:pt x="447159" y="1078730"/>
                  </a:lnTo>
                  <a:lnTo>
                    <a:pt x="396292" y="1088863"/>
                  </a:lnTo>
                  <a:lnTo>
                    <a:pt x="347159" y="1102669"/>
                  </a:lnTo>
                  <a:lnTo>
                    <a:pt x="300051" y="1119998"/>
                  </a:lnTo>
                  <a:lnTo>
                    <a:pt x="255256" y="1140702"/>
                  </a:lnTo>
                  <a:lnTo>
                    <a:pt x="213066" y="1164632"/>
                  </a:lnTo>
                  <a:lnTo>
                    <a:pt x="173771" y="1191639"/>
                  </a:lnTo>
                  <a:lnTo>
                    <a:pt x="137660" y="1221574"/>
                  </a:lnTo>
                  <a:lnTo>
                    <a:pt x="105023" y="1254288"/>
                  </a:lnTo>
                  <a:lnTo>
                    <a:pt x="76151" y="1289633"/>
                  </a:lnTo>
                  <a:lnTo>
                    <a:pt x="51255" y="1327546"/>
                  </a:lnTo>
                  <a:lnTo>
                    <a:pt x="31352" y="1366459"/>
                  </a:lnTo>
                  <a:lnTo>
                    <a:pt x="16358" y="1406115"/>
                  </a:lnTo>
                  <a:lnTo>
                    <a:pt x="6190" y="1446262"/>
                  </a:lnTo>
                  <a:lnTo>
                    <a:pt x="765" y="1486643"/>
                  </a:lnTo>
                  <a:lnTo>
                    <a:pt x="0" y="1527006"/>
                  </a:lnTo>
                  <a:lnTo>
                    <a:pt x="3810" y="1567095"/>
                  </a:lnTo>
                  <a:lnTo>
                    <a:pt x="12112" y="1606656"/>
                  </a:lnTo>
                  <a:lnTo>
                    <a:pt x="24824" y="1645434"/>
                  </a:lnTo>
                  <a:lnTo>
                    <a:pt x="41861" y="1683175"/>
                  </a:lnTo>
                  <a:lnTo>
                    <a:pt x="63140" y="1719625"/>
                  </a:lnTo>
                  <a:lnTo>
                    <a:pt x="88577" y="1754528"/>
                  </a:lnTo>
                  <a:lnTo>
                    <a:pt x="118091" y="1787631"/>
                  </a:lnTo>
                  <a:lnTo>
                    <a:pt x="151595" y="1818678"/>
                  </a:lnTo>
                  <a:lnTo>
                    <a:pt x="189009" y="1847416"/>
                  </a:lnTo>
                  <a:lnTo>
                    <a:pt x="230247" y="1873590"/>
                  </a:lnTo>
                  <a:lnTo>
                    <a:pt x="275227" y="1896945"/>
                  </a:lnTo>
                  <a:lnTo>
                    <a:pt x="235858" y="1934097"/>
                  </a:lnTo>
                  <a:lnTo>
                    <a:pt x="202153" y="1974064"/>
                  </a:lnTo>
                  <a:lnTo>
                    <a:pt x="174278" y="2016444"/>
                  </a:lnTo>
                  <a:lnTo>
                    <a:pt x="152402" y="2060831"/>
                  </a:lnTo>
                  <a:lnTo>
                    <a:pt x="136692" y="2106823"/>
                  </a:lnTo>
                  <a:lnTo>
                    <a:pt x="127317" y="2154015"/>
                  </a:lnTo>
                  <a:lnTo>
                    <a:pt x="124444" y="2202003"/>
                  </a:lnTo>
                  <a:lnTo>
                    <a:pt x="128242" y="2250384"/>
                  </a:lnTo>
                  <a:lnTo>
                    <a:pt x="137054" y="2292411"/>
                  </a:lnTo>
                  <a:lnTo>
                    <a:pt x="150622" y="2332843"/>
                  </a:lnTo>
                  <a:lnTo>
                    <a:pt x="168686" y="2371520"/>
                  </a:lnTo>
                  <a:lnTo>
                    <a:pt x="190987" y="2408278"/>
                  </a:lnTo>
                  <a:lnTo>
                    <a:pt x="217265" y="2442955"/>
                  </a:lnTo>
                  <a:lnTo>
                    <a:pt x="247260" y="2475390"/>
                  </a:lnTo>
                  <a:lnTo>
                    <a:pt x="280712" y="2505419"/>
                  </a:lnTo>
                  <a:lnTo>
                    <a:pt x="317362" y="2532880"/>
                  </a:lnTo>
                  <a:lnTo>
                    <a:pt x="356949" y="2557612"/>
                  </a:lnTo>
                  <a:lnTo>
                    <a:pt x="399213" y="2579451"/>
                  </a:lnTo>
                  <a:lnTo>
                    <a:pt x="443896" y="2598236"/>
                  </a:lnTo>
                  <a:lnTo>
                    <a:pt x="490737" y="2613803"/>
                  </a:lnTo>
                  <a:lnTo>
                    <a:pt x="539476" y="2625992"/>
                  </a:lnTo>
                  <a:lnTo>
                    <a:pt x="589854" y="2634639"/>
                  </a:lnTo>
                  <a:lnTo>
                    <a:pt x="641610" y="2639582"/>
                  </a:lnTo>
                  <a:lnTo>
                    <a:pt x="694485" y="2640659"/>
                  </a:lnTo>
                  <a:lnTo>
                    <a:pt x="748220" y="2637708"/>
                  </a:lnTo>
                  <a:lnTo>
                    <a:pt x="758676" y="2651882"/>
                  </a:lnTo>
                  <a:lnTo>
                    <a:pt x="786004" y="2686071"/>
                  </a:lnTo>
                  <a:lnTo>
                    <a:pt x="815160" y="2718766"/>
                  </a:lnTo>
                  <a:lnTo>
                    <a:pt x="846056" y="2749950"/>
                  </a:lnTo>
                  <a:lnTo>
                    <a:pt x="878609" y="2779606"/>
                  </a:lnTo>
                  <a:lnTo>
                    <a:pt x="912732" y="2807717"/>
                  </a:lnTo>
                  <a:lnTo>
                    <a:pt x="948340" y="2834266"/>
                  </a:lnTo>
                  <a:lnTo>
                    <a:pt x="985349" y="2859237"/>
                  </a:lnTo>
                  <a:lnTo>
                    <a:pt x="1023672" y="2882612"/>
                  </a:lnTo>
                  <a:lnTo>
                    <a:pt x="1063225" y="2904375"/>
                  </a:lnTo>
                  <a:lnTo>
                    <a:pt x="1103922" y="2924508"/>
                  </a:lnTo>
                  <a:lnTo>
                    <a:pt x="1145678" y="2942995"/>
                  </a:lnTo>
                  <a:lnTo>
                    <a:pt x="1188408" y="2959818"/>
                  </a:lnTo>
                  <a:lnTo>
                    <a:pt x="1232026" y="2974962"/>
                  </a:lnTo>
                  <a:lnTo>
                    <a:pt x="1276447" y="2988409"/>
                  </a:lnTo>
                  <a:lnTo>
                    <a:pt x="1321586" y="3000141"/>
                  </a:lnTo>
                  <a:lnTo>
                    <a:pt x="1367357" y="3010143"/>
                  </a:lnTo>
                  <a:lnTo>
                    <a:pt x="1413675" y="3018397"/>
                  </a:lnTo>
                  <a:lnTo>
                    <a:pt x="1460456" y="3024886"/>
                  </a:lnTo>
                  <a:lnTo>
                    <a:pt x="1507612" y="3029594"/>
                  </a:lnTo>
                  <a:lnTo>
                    <a:pt x="1555061" y="3032504"/>
                  </a:lnTo>
                  <a:lnTo>
                    <a:pt x="1602715" y="3033598"/>
                  </a:lnTo>
                  <a:lnTo>
                    <a:pt x="1650490" y="3032859"/>
                  </a:lnTo>
                  <a:lnTo>
                    <a:pt x="1698300" y="3030272"/>
                  </a:lnTo>
                  <a:lnTo>
                    <a:pt x="1746060" y="3025818"/>
                  </a:lnTo>
                  <a:lnTo>
                    <a:pt x="1793686" y="3019482"/>
                  </a:lnTo>
                  <a:lnTo>
                    <a:pt x="1841090" y="3011245"/>
                  </a:lnTo>
                  <a:lnTo>
                    <a:pt x="1888189" y="3001092"/>
                  </a:lnTo>
                  <a:lnTo>
                    <a:pt x="1934898" y="2989005"/>
                  </a:lnTo>
                  <a:lnTo>
                    <a:pt x="1981129" y="2974967"/>
                  </a:lnTo>
                  <a:lnTo>
                    <a:pt x="2026799" y="2958962"/>
                  </a:lnTo>
                  <a:lnTo>
                    <a:pt x="2071823" y="2940972"/>
                  </a:lnTo>
                  <a:lnTo>
                    <a:pt x="2116114" y="2920981"/>
                  </a:lnTo>
                  <a:lnTo>
                    <a:pt x="2147790" y="2956211"/>
                  </a:lnTo>
                  <a:lnTo>
                    <a:pt x="2182032" y="2989640"/>
                  </a:lnTo>
                  <a:lnTo>
                    <a:pt x="2218713" y="3021194"/>
                  </a:lnTo>
                  <a:lnTo>
                    <a:pt x="2257704" y="3050797"/>
                  </a:lnTo>
                  <a:lnTo>
                    <a:pt x="2298878" y="3078374"/>
                  </a:lnTo>
                  <a:lnTo>
                    <a:pt x="2342109" y="3103851"/>
                  </a:lnTo>
                  <a:lnTo>
                    <a:pt x="2387269" y="3127152"/>
                  </a:lnTo>
                  <a:lnTo>
                    <a:pt x="2434230" y="3148202"/>
                  </a:lnTo>
                  <a:lnTo>
                    <a:pt x="2482866" y="3166927"/>
                  </a:lnTo>
                  <a:lnTo>
                    <a:pt x="2533048" y="3183251"/>
                  </a:lnTo>
                  <a:lnTo>
                    <a:pt x="2584651" y="3197100"/>
                  </a:lnTo>
                  <a:lnTo>
                    <a:pt x="2635550" y="3208043"/>
                  </a:lnTo>
                  <a:lnTo>
                    <a:pt x="2686548" y="3216436"/>
                  </a:lnTo>
                  <a:lnTo>
                    <a:pt x="2737531" y="3222328"/>
                  </a:lnTo>
                  <a:lnTo>
                    <a:pt x="2788387" y="3225765"/>
                  </a:lnTo>
                  <a:lnTo>
                    <a:pt x="2839002" y="3226797"/>
                  </a:lnTo>
                  <a:lnTo>
                    <a:pt x="2889265" y="3225470"/>
                  </a:lnTo>
                  <a:lnTo>
                    <a:pt x="2939061" y="3221834"/>
                  </a:lnTo>
                  <a:lnTo>
                    <a:pt x="2988280" y="3215936"/>
                  </a:lnTo>
                  <a:lnTo>
                    <a:pt x="3036806" y="3207825"/>
                  </a:lnTo>
                  <a:lnTo>
                    <a:pt x="3084528" y="3197547"/>
                  </a:lnTo>
                  <a:lnTo>
                    <a:pt x="3131333" y="3185152"/>
                  </a:lnTo>
                  <a:lnTo>
                    <a:pt x="3177108" y="3170687"/>
                  </a:lnTo>
                  <a:lnTo>
                    <a:pt x="3221740" y="3154200"/>
                  </a:lnTo>
                  <a:lnTo>
                    <a:pt x="3265116" y="3135739"/>
                  </a:lnTo>
                  <a:lnTo>
                    <a:pt x="3307124" y="3115353"/>
                  </a:lnTo>
                  <a:lnTo>
                    <a:pt x="3347650" y="3093089"/>
                  </a:lnTo>
                  <a:lnTo>
                    <a:pt x="3386583" y="3068996"/>
                  </a:lnTo>
                  <a:lnTo>
                    <a:pt x="3423808" y="3043121"/>
                  </a:lnTo>
                  <a:lnTo>
                    <a:pt x="3459213" y="3015512"/>
                  </a:lnTo>
                  <a:lnTo>
                    <a:pt x="3492685" y="2986218"/>
                  </a:lnTo>
                  <a:lnTo>
                    <a:pt x="3524112" y="2955286"/>
                  </a:lnTo>
                  <a:lnTo>
                    <a:pt x="3553380" y="2922764"/>
                  </a:lnTo>
                  <a:lnTo>
                    <a:pt x="3580378" y="2888702"/>
                  </a:lnTo>
                  <a:lnTo>
                    <a:pt x="3604991" y="2853145"/>
                  </a:lnTo>
                  <a:lnTo>
                    <a:pt x="3627107" y="2816144"/>
                  </a:lnTo>
                  <a:lnTo>
                    <a:pt x="3646613" y="2777744"/>
                  </a:lnTo>
                  <a:lnTo>
                    <a:pt x="3663397" y="2737996"/>
                  </a:lnTo>
                  <a:lnTo>
                    <a:pt x="3707709" y="2758267"/>
                  </a:lnTo>
                  <a:lnTo>
                    <a:pt x="3753515" y="2776008"/>
                  </a:lnTo>
                  <a:lnTo>
                    <a:pt x="3800641" y="2791180"/>
                  </a:lnTo>
                  <a:lnTo>
                    <a:pt x="3848913" y="2803742"/>
                  </a:lnTo>
                  <a:lnTo>
                    <a:pt x="3898157" y="2813655"/>
                  </a:lnTo>
                  <a:lnTo>
                    <a:pt x="3948201" y="2820878"/>
                  </a:lnTo>
                  <a:lnTo>
                    <a:pt x="3998870" y="2825372"/>
                  </a:lnTo>
                  <a:lnTo>
                    <a:pt x="4049991" y="2827096"/>
                  </a:lnTo>
                  <a:lnTo>
                    <a:pt x="4102942" y="2825958"/>
                  </a:lnTo>
                  <a:lnTo>
                    <a:pt x="4154917" y="2821931"/>
                  </a:lnTo>
                  <a:lnTo>
                    <a:pt x="4205790" y="2815112"/>
                  </a:lnTo>
                  <a:lnTo>
                    <a:pt x="4255435" y="2805601"/>
                  </a:lnTo>
                  <a:lnTo>
                    <a:pt x="4303725" y="2793496"/>
                  </a:lnTo>
                  <a:lnTo>
                    <a:pt x="4350535" y="2778896"/>
                  </a:lnTo>
                  <a:lnTo>
                    <a:pt x="4395736" y="2761900"/>
                  </a:lnTo>
                  <a:lnTo>
                    <a:pt x="4439204" y="2742605"/>
                  </a:lnTo>
                  <a:lnTo>
                    <a:pt x="4480811" y="2721112"/>
                  </a:lnTo>
                  <a:lnTo>
                    <a:pt x="4520432" y="2697517"/>
                  </a:lnTo>
                  <a:lnTo>
                    <a:pt x="4557939" y="2671920"/>
                  </a:lnTo>
                  <a:lnTo>
                    <a:pt x="4593206" y="2644420"/>
                  </a:lnTo>
                  <a:lnTo>
                    <a:pt x="4626108" y="2615114"/>
                  </a:lnTo>
                  <a:lnTo>
                    <a:pt x="4656517" y="2584103"/>
                  </a:lnTo>
                  <a:lnTo>
                    <a:pt x="4684306" y="2551483"/>
                  </a:lnTo>
                  <a:lnTo>
                    <a:pt x="4709350" y="2517354"/>
                  </a:lnTo>
                  <a:lnTo>
                    <a:pt x="4731523" y="2481814"/>
                  </a:lnTo>
                  <a:lnTo>
                    <a:pt x="4750697" y="2444963"/>
                  </a:lnTo>
                  <a:lnTo>
                    <a:pt x="4766746" y="2406897"/>
                  </a:lnTo>
                  <a:lnTo>
                    <a:pt x="4779544" y="2367717"/>
                  </a:lnTo>
                  <a:lnTo>
                    <a:pt x="4788964" y="2327521"/>
                  </a:lnTo>
                  <a:lnTo>
                    <a:pt x="4794881" y="2286407"/>
                  </a:lnTo>
                  <a:lnTo>
                    <a:pt x="4797166" y="2244474"/>
                  </a:lnTo>
                  <a:lnTo>
                    <a:pt x="4846101" y="2237788"/>
                  </a:lnTo>
                  <a:lnTo>
                    <a:pt x="4894336" y="2228922"/>
                  </a:lnTo>
                  <a:lnTo>
                    <a:pt x="4941761" y="2217915"/>
                  </a:lnTo>
                  <a:lnTo>
                    <a:pt x="4988264" y="2204802"/>
                  </a:lnTo>
                  <a:lnTo>
                    <a:pt x="5033735" y="2189622"/>
                  </a:lnTo>
                  <a:lnTo>
                    <a:pt x="5078062" y="2172411"/>
                  </a:lnTo>
                  <a:lnTo>
                    <a:pt x="5121135" y="2153205"/>
                  </a:lnTo>
                  <a:lnTo>
                    <a:pt x="5162841" y="2132044"/>
                  </a:lnTo>
                  <a:lnTo>
                    <a:pt x="5203071" y="2108962"/>
                  </a:lnTo>
                  <a:lnTo>
                    <a:pt x="5245571" y="2081371"/>
                  </a:lnTo>
                  <a:lnTo>
                    <a:pt x="5285311" y="2052112"/>
                  </a:lnTo>
                  <a:lnTo>
                    <a:pt x="5322274" y="2021299"/>
                  </a:lnTo>
                  <a:lnTo>
                    <a:pt x="5356441" y="1989045"/>
                  </a:lnTo>
                  <a:lnTo>
                    <a:pt x="5387792" y="1955464"/>
                  </a:lnTo>
                  <a:lnTo>
                    <a:pt x="5416310" y="1920667"/>
                  </a:lnTo>
                  <a:lnTo>
                    <a:pt x="5441975" y="1884769"/>
                  </a:lnTo>
                  <a:lnTo>
                    <a:pt x="5464769" y="1847881"/>
                  </a:lnTo>
                  <a:lnTo>
                    <a:pt x="5484673" y="1810118"/>
                  </a:lnTo>
                  <a:lnTo>
                    <a:pt x="5501668" y="1771593"/>
                  </a:lnTo>
                  <a:lnTo>
                    <a:pt x="5515736" y="1732418"/>
                  </a:lnTo>
                  <a:lnTo>
                    <a:pt x="5526858" y="1692706"/>
                  </a:lnTo>
                  <a:lnTo>
                    <a:pt x="5535015" y="1652571"/>
                  </a:lnTo>
                  <a:lnTo>
                    <a:pt x="5540188" y="1612126"/>
                  </a:lnTo>
                  <a:lnTo>
                    <a:pt x="5542360" y="1571483"/>
                  </a:lnTo>
                  <a:lnTo>
                    <a:pt x="5541510" y="1530756"/>
                  </a:lnTo>
                  <a:lnTo>
                    <a:pt x="5537621" y="1490059"/>
                  </a:lnTo>
                  <a:lnTo>
                    <a:pt x="5530674" y="1449503"/>
                  </a:lnTo>
                  <a:lnTo>
                    <a:pt x="5520650" y="1409201"/>
                  </a:lnTo>
                  <a:lnTo>
                    <a:pt x="5507530" y="1369269"/>
                  </a:lnTo>
                  <a:lnTo>
                    <a:pt x="5491296" y="1329817"/>
                  </a:lnTo>
                  <a:lnTo>
                    <a:pt x="5471928" y="1290959"/>
                  </a:lnTo>
                  <a:lnTo>
                    <a:pt x="5449409" y="1252809"/>
                  </a:lnTo>
                  <a:lnTo>
                    <a:pt x="5423719" y="1215479"/>
                  </a:lnTo>
                  <a:lnTo>
                    <a:pt x="5394840" y="1179082"/>
                  </a:lnTo>
                  <a:lnTo>
                    <a:pt x="5362753" y="1143732"/>
                  </a:lnTo>
                  <a:lnTo>
                    <a:pt x="5371746" y="1126232"/>
                  </a:lnTo>
                  <a:lnTo>
                    <a:pt x="5387402" y="1090549"/>
                  </a:lnTo>
                  <a:lnTo>
                    <a:pt x="5406096" y="1031026"/>
                  </a:lnTo>
                  <a:lnTo>
                    <a:pt x="5413978" y="989676"/>
                  </a:lnTo>
                  <a:lnTo>
                    <a:pt x="5417801" y="948500"/>
                  </a:lnTo>
                  <a:lnTo>
                    <a:pt x="5417672" y="907644"/>
                  </a:lnTo>
                  <a:lnTo>
                    <a:pt x="5413699" y="867258"/>
                  </a:lnTo>
                  <a:lnTo>
                    <a:pt x="5405987" y="827489"/>
                  </a:lnTo>
                  <a:lnTo>
                    <a:pt x="5394644" y="788485"/>
                  </a:lnTo>
                  <a:lnTo>
                    <a:pt x="5379775" y="750396"/>
                  </a:lnTo>
                  <a:lnTo>
                    <a:pt x="5361488" y="713368"/>
                  </a:lnTo>
                  <a:lnTo>
                    <a:pt x="5339890" y="677550"/>
                  </a:lnTo>
                  <a:lnTo>
                    <a:pt x="5315087" y="643091"/>
                  </a:lnTo>
                  <a:lnTo>
                    <a:pt x="5287185" y="610138"/>
                  </a:lnTo>
                  <a:lnTo>
                    <a:pt x="5256292" y="578840"/>
                  </a:lnTo>
                  <a:lnTo>
                    <a:pt x="5222513" y="549345"/>
                  </a:lnTo>
                  <a:lnTo>
                    <a:pt x="5185957" y="521801"/>
                  </a:lnTo>
                  <a:lnTo>
                    <a:pt x="5146729" y="496356"/>
                  </a:lnTo>
                  <a:lnTo>
                    <a:pt x="5104935" y="473159"/>
                  </a:lnTo>
                  <a:lnTo>
                    <a:pt x="5060684" y="452358"/>
                  </a:lnTo>
                  <a:lnTo>
                    <a:pt x="5014081" y="434100"/>
                  </a:lnTo>
                  <a:lnTo>
                    <a:pt x="4965233" y="418535"/>
                  </a:lnTo>
                  <a:lnTo>
                    <a:pt x="4914246" y="405810"/>
                  </a:lnTo>
                  <a:lnTo>
                    <a:pt x="4900329" y="358299"/>
                  </a:lnTo>
                  <a:lnTo>
                    <a:pt x="4880675" y="312387"/>
                  </a:lnTo>
                  <a:lnTo>
                    <a:pt x="4855508" y="268378"/>
                  </a:lnTo>
                  <a:lnTo>
                    <a:pt x="4825051" y="226579"/>
                  </a:lnTo>
                  <a:lnTo>
                    <a:pt x="4789526" y="187294"/>
                  </a:lnTo>
                  <a:lnTo>
                    <a:pt x="4749157" y="150831"/>
                  </a:lnTo>
                  <a:lnTo>
                    <a:pt x="4704166" y="117493"/>
                  </a:lnTo>
                  <a:lnTo>
                    <a:pt x="4663895" y="92627"/>
                  </a:lnTo>
                  <a:lnTo>
                    <a:pt x="4621892" y="70767"/>
                  </a:lnTo>
                  <a:lnTo>
                    <a:pt x="4578384" y="51900"/>
                  </a:lnTo>
                  <a:lnTo>
                    <a:pt x="4533594" y="36011"/>
                  </a:lnTo>
                  <a:lnTo>
                    <a:pt x="4487750" y="23085"/>
                  </a:lnTo>
                  <a:lnTo>
                    <a:pt x="4441077" y="13107"/>
                  </a:lnTo>
                  <a:lnTo>
                    <a:pt x="4393800" y="6062"/>
                  </a:lnTo>
                  <a:lnTo>
                    <a:pt x="4346146" y="1936"/>
                  </a:lnTo>
                  <a:lnTo>
                    <a:pt x="4298340" y="714"/>
                  </a:lnTo>
                  <a:lnTo>
                    <a:pt x="4250608" y="2381"/>
                  </a:lnTo>
                  <a:lnTo>
                    <a:pt x="4203175" y="6923"/>
                  </a:lnTo>
                  <a:lnTo>
                    <a:pt x="4156268" y="14325"/>
                  </a:lnTo>
                  <a:lnTo>
                    <a:pt x="4110112" y="24572"/>
                  </a:lnTo>
                  <a:lnTo>
                    <a:pt x="4064933" y="37650"/>
                  </a:lnTo>
                  <a:lnTo>
                    <a:pt x="4020957" y="53543"/>
                  </a:lnTo>
                  <a:lnTo>
                    <a:pt x="3978409" y="72236"/>
                  </a:lnTo>
                  <a:lnTo>
                    <a:pt x="3937515" y="93717"/>
                  </a:lnTo>
                  <a:lnTo>
                    <a:pt x="3898500" y="117968"/>
                  </a:lnTo>
                  <a:lnTo>
                    <a:pt x="3861592" y="144976"/>
                  </a:lnTo>
                  <a:lnTo>
                    <a:pt x="3827015" y="174727"/>
                  </a:lnTo>
                  <a:lnTo>
                    <a:pt x="3794163" y="143601"/>
                  </a:lnTo>
                  <a:lnTo>
                    <a:pt x="3757983" y="115074"/>
                  </a:lnTo>
                  <a:lnTo>
                    <a:pt x="3718720" y="89305"/>
                  </a:lnTo>
                  <a:lnTo>
                    <a:pt x="3676621" y="66457"/>
                  </a:lnTo>
                  <a:lnTo>
                    <a:pt x="3631931" y="46691"/>
                  </a:lnTo>
                  <a:lnTo>
                    <a:pt x="3585356" y="30280"/>
                  </a:lnTo>
                  <a:lnTo>
                    <a:pt x="3537946" y="17476"/>
                  </a:lnTo>
                  <a:lnTo>
                    <a:pt x="3489964" y="8208"/>
                  </a:lnTo>
                  <a:lnTo>
                    <a:pt x="3441675" y="2406"/>
                  </a:lnTo>
                  <a:lnTo>
                    <a:pt x="3393346" y="0"/>
                  </a:lnTo>
                  <a:close/>
                </a:path>
              </a:pathLst>
            </a:custGeom>
            <a:solidFill>
              <a:srgbClr val="FFBCEC">
                <a:alpha val="3215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631506" y="2543305"/>
              <a:ext cx="5542915" cy="3227070"/>
            </a:xfrm>
            <a:custGeom>
              <a:avLst/>
              <a:gdLst/>
              <a:ahLst/>
              <a:cxnLst/>
              <a:rect l="l" t="t" r="r" b="b"/>
              <a:pathLst>
                <a:path w="5542915" h="3227070">
                  <a:moveTo>
                    <a:pt x="504132" y="1062372"/>
                  </a:moveTo>
                  <a:lnTo>
                    <a:pt x="498444" y="1019195"/>
                  </a:lnTo>
                  <a:lnTo>
                    <a:pt x="496183" y="976371"/>
                  </a:lnTo>
                  <a:lnTo>
                    <a:pt x="497265" y="933991"/>
                  </a:lnTo>
                  <a:lnTo>
                    <a:pt x="501601" y="892147"/>
                  </a:lnTo>
                  <a:lnTo>
                    <a:pt x="509106" y="850928"/>
                  </a:lnTo>
                  <a:lnTo>
                    <a:pt x="519693" y="810425"/>
                  </a:lnTo>
                  <a:lnTo>
                    <a:pt x="533274" y="770728"/>
                  </a:lnTo>
                  <a:lnTo>
                    <a:pt x="549763" y="731928"/>
                  </a:lnTo>
                  <a:lnTo>
                    <a:pt x="569073" y="694115"/>
                  </a:lnTo>
                  <a:lnTo>
                    <a:pt x="591117" y="657380"/>
                  </a:lnTo>
                  <a:lnTo>
                    <a:pt x="615809" y="621814"/>
                  </a:lnTo>
                  <a:lnTo>
                    <a:pt x="643062" y="587506"/>
                  </a:lnTo>
                  <a:lnTo>
                    <a:pt x="672789" y="554547"/>
                  </a:lnTo>
                  <a:lnTo>
                    <a:pt x="704903" y="523028"/>
                  </a:lnTo>
                  <a:lnTo>
                    <a:pt x="739318" y="493039"/>
                  </a:lnTo>
                  <a:lnTo>
                    <a:pt x="775947" y="464671"/>
                  </a:lnTo>
                  <a:lnTo>
                    <a:pt x="814702" y="438014"/>
                  </a:lnTo>
                  <a:lnTo>
                    <a:pt x="855498" y="413158"/>
                  </a:lnTo>
                  <a:lnTo>
                    <a:pt x="898247" y="390194"/>
                  </a:lnTo>
                  <a:lnTo>
                    <a:pt x="942863" y="369213"/>
                  </a:lnTo>
                  <a:lnTo>
                    <a:pt x="989258" y="350305"/>
                  </a:lnTo>
                  <a:lnTo>
                    <a:pt x="1037347" y="333561"/>
                  </a:lnTo>
                  <a:lnTo>
                    <a:pt x="1087042" y="319070"/>
                  </a:lnTo>
                  <a:lnTo>
                    <a:pt x="1138256" y="306924"/>
                  </a:lnTo>
                  <a:lnTo>
                    <a:pt x="1190904" y="297212"/>
                  </a:lnTo>
                  <a:lnTo>
                    <a:pt x="1244897" y="290026"/>
                  </a:lnTo>
                  <a:lnTo>
                    <a:pt x="1297283" y="285658"/>
                  </a:lnTo>
                  <a:lnTo>
                    <a:pt x="1349688" y="283828"/>
                  </a:lnTo>
                  <a:lnTo>
                    <a:pt x="1401970" y="284514"/>
                  </a:lnTo>
                  <a:lnTo>
                    <a:pt x="1453989" y="287694"/>
                  </a:lnTo>
                  <a:lnTo>
                    <a:pt x="1505605" y="293344"/>
                  </a:lnTo>
                  <a:lnTo>
                    <a:pt x="1556676" y="301443"/>
                  </a:lnTo>
                  <a:lnTo>
                    <a:pt x="1607062" y="311969"/>
                  </a:lnTo>
                  <a:lnTo>
                    <a:pt x="1656622" y="324899"/>
                  </a:lnTo>
                  <a:lnTo>
                    <a:pt x="1705215" y="340211"/>
                  </a:lnTo>
                  <a:lnTo>
                    <a:pt x="1752702" y="357882"/>
                  </a:lnTo>
                  <a:lnTo>
                    <a:pt x="1798940" y="377890"/>
                  </a:lnTo>
                  <a:lnTo>
                    <a:pt x="1824519" y="342829"/>
                  </a:lnTo>
                  <a:lnTo>
                    <a:pt x="1852853" y="309844"/>
                  </a:lnTo>
                  <a:lnTo>
                    <a:pt x="1883764" y="278980"/>
                  </a:lnTo>
                  <a:lnTo>
                    <a:pt x="1917072" y="250281"/>
                  </a:lnTo>
                  <a:lnTo>
                    <a:pt x="1952600" y="223788"/>
                  </a:lnTo>
                  <a:lnTo>
                    <a:pt x="1990169" y="199547"/>
                  </a:lnTo>
                  <a:lnTo>
                    <a:pt x="2029599" y="177600"/>
                  </a:lnTo>
                  <a:lnTo>
                    <a:pt x="2070712" y="157991"/>
                  </a:lnTo>
                  <a:lnTo>
                    <a:pt x="2113330" y="140763"/>
                  </a:lnTo>
                  <a:lnTo>
                    <a:pt x="2157274" y="125959"/>
                  </a:lnTo>
                  <a:lnTo>
                    <a:pt x="2202365" y="113624"/>
                  </a:lnTo>
                  <a:lnTo>
                    <a:pt x="2248425" y="103801"/>
                  </a:lnTo>
                  <a:lnTo>
                    <a:pt x="2295274" y="96532"/>
                  </a:lnTo>
                  <a:lnTo>
                    <a:pt x="2342735" y="91862"/>
                  </a:lnTo>
                  <a:lnTo>
                    <a:pt x="2390628" y="89833"/>
                  </a:lnTo>
                  <a:lnTo>
                    <a:pt x="2438775" y="90490"/>
                  </a:lnTo>
                  <a:lnTo>
                    <a:pt x="2486997" y="93876"/>
                  </a:lnTo>
                  <a:lnTo>
                    <a:pt x="2535116" y="100034"/>
                  </a:lnTo>
                  <a:lnTo>
                    <a:pt x="2582952" y="109007"/>
                  </a:lnTo>
                  <a:lnTo>
                    <a:pt x="2630328" y="120840"/>
                  </a:lnTo>
                  <a:lnTo>
                    <a:pt x="2677064" y="135574"/>
                  </a:lnTo>
                  <a:lnTo>
                    <a:pt x="2722981" y="153255"/>
                  </a:lnTo>
                  <a:lnTo>
                    <a:pt x="2765767" y="172907"/>
                  </a:lnTo>
                  <a:lnTo>
                    <a:pt x="2806600" y="194934"/>
                  </a:lnTo>
                  <a:lnTo>
                    <a:pt x="2845323" y="219243"/>
                  </a:lnTo>
                  <a:lnTo>
                    <a:pt x="2881781" y="245744"/>
                  </a:lnTo>
                  <a:lnTo>
                    <a:pt x="2906551" y="210402"/>
                  </a:lnTo>
                  <a:lnTo>
                    <a:pt x="2934722" y="177542"/>
                  </a:lnTo>
                  <a:lnTo>
                    <a:pt x="2966029" y="147235"/>
                  </a:lnTo>
                  <a:lnTo>
                    <a:pt x="3000208" y="119550"/>
                  </a:lnTo>
                  <a:lnTo>
                    <a:pt x="3036994" y="94558"/>
                  </a:lnTo>
                  <a:lnTo>
                    <a:pt x="3076121" y="72329"/>
                  </a:lnTo>
                  <a:lnTo>
                    <a:pt x="3117326" y="52934"/>
                  </a:lnTo>
                  <a:lnTo>
                    <a:pt x="3160344" y="36442"/>
                  </a:lnTo>
                  <a:lnTo>
                    <a:pt x="3204908" y="22925"/>
                  </a:lnTo>
                  <a:lnTo>
                    <a:pt x="3250756" y="12451"/>
                  </a:lnTo>
                  <a:lnTo>
                    <a:pt x="3297621" y="5092"/>
                  </a:lnTo>
                  <a:lnTo>
                    <a:pt x="3345239" y="918"/>
                  </a:lnTo>
                  <a:lnTo>
                    <a:pt x="3393346" y="0"/>
                  </a:lnTo>
                  <a:lnTo>
                    <a:pt x="3441675" y="2406"/>
                  </a:lnTo>
                  <a:lnTo>
                    <a:pt x="3489964" y="8208"/>
                  </a:lnTo>
                  <a:lnTo>
                    <a:pt x="3537946" y="17476"/>
                  </a:lnTo>
                  <a:lnTo>
                    <a:pt x="3585357" y="30280"/>
                  </a:lnTo>
                  <a:lnTo>
                    <a:pt x="3631932" y="46690"/>
                  </a:lnTo>
                  <a:lnTo>
                    <a:pt x="3676621" y="66457"/>
                  </a:lnTo>
                  <a:lnTo>
                    <a:pt x="3718720" y="89305"/>
                  </a:lnTo>
                  <a:lnTo>
                    <a:pt x="3757983" y="115074"/>
                  </a:lnTo>
                  <a:lnTo>
                    <a:pt x="3794163" y="143601"/>
                  </a:lnTo>
                  <a:lnTo>
                    <a:pt x="3827015" y="174726"/>
                  </a:lnTo>
                  <a:lnTo>
                    <a:pt x="3861592" y="144976"/>
                  </a:lnTo>
                  <a:lnTo>
                    <a:pt x="3898500" y="117968"/>
                  </a:lnTo>
                  <a:lnTo>
                    <a:pt x="3937514" y="93716"/>
                  </a:lnTo>
                  <a:lnTo>
                    <a:pt x="3978408" y="72236"/>
                  </a:lnTo>
                  <a:lnTo>
                    <a:pt x="4020956" y="53543"/>
                  </a:lnTo>
                  <a:lnTo>
                    <a:pt x="4064933" y="37650"/>
                  </a:lnTo>
                  <a:lnTo>
                    <a:pt x="4110112" y="24572"/>
                  </a:lnTo>
                  <a:lnTo>
                    <a:pt x="4156268" y="14325"/>
                  </a:lnTo>
                  <a:lnTo>
                    <a:pt x="4203175" y="6924"/>
                  </a:lnTo>
                  <a:lnTo>
                    <a:pt x="4250608" y="2382"/>
                  </a:lnTo>
                  <a:lnTo>
                    <a:pt x="4298340" y="714"/>
                  </a:lnTo>
                  <a:lnTo>
                    <a:pt x="4346146" y="1936"/>
                  </a:lnTo>
                  <a:lnTo>
                    <a:pt x="4393800" y="6062"/>
                  </a:lnTo>
                  <a:lnTo>
                    <a:pt x="4441076" y="13107"/>
                  </a:lnTo>
                  <a:lnTo>
                    <a:pt x="4487750" y="23085"/>
                  </a:lnTo>
                  <a:lnTo>
                    <a:pt x="4533594" y="36011"/>
                  </a:lnTo>
                  <a:lnTo>
                    <a:pt x="4578383" y="51900"/>
                  </a:lnTo>
                  <a:lnTo>
                    <a:pt x="4621892" y="70767"/>
                  </a:lnTo>
                  <a:lnTo>
                    <a:pt x="4663895" y="92627"/>
                  </a:lnTo>
                  <a:lnTo>
                    <a:pt x="4704165" y="117493"/>
                  </a:lnTo>
                  <a:lnTo>
                    <a:pt x="4749157" y="150831"/>
                  </a:lnTo>
                  <a:lnTo>
                    <a:pt x="4789526" y="187294"/>
                  </a:lnTo>
                  <a:lnTo>
                    <a:pt x="4825051" y="226579"/>
                  </a:lnTo>
                  <a:lnTo>
                    <a:pt x="4855508" y="268378"/>
                  </a:lnTo>
                  <a:lnTo>
                    <a:pt x="4880675" y="312387"/>
                  </a:lnTo>
                  <a:lnTo>
                    <a:pt x="4900329" y="358299"/>
                  </a:lnTo>
                  <a:lnTo>
                    <a:pt x="4914247" y="405810"/>
                  </a:lnTo>
                  <a:lnTo>
                    <a:pt x="4965233" y="418535"/>
                  </a:lnTo>
                  <a:lnTo>
                    <a:pt x="5014081" y="434100"/>
                  </a:lnTo>
                  <a:lnTo>
                    <a:pt x="5060684" y="452358"/>
                  </a:lnTo>
                  <a:lnTo>
                    <a:pt x="5104935" y="473159"/>
                  </a:lnTo>
                  <a:lnTo>
                    <a:pt x="5146729" y="496356"/>
                  </a:lnTo>
                  <a:lnTo>
                    <a:pt x="5185957" y="521801"/>
                  </a:lnTo>
                  <a:lnTo>
                    <a:pt x="5222513" y="549345"/>
                  </a:lnTo>
                  <a:lnTo>
                    <a:pt x="5256292" y="578840"/>
                  </a:lnTo>
                  <a:lnTo>
                    <a:pt x="5287185" y="610138"/>
                  </a:lnTo>
                  <a:lnTo>
                    <a:pt x="5315087" y="643090"/>
                  </a:lnTo>
                  <a:lnTo>
                    <a:pt x="5339890" y="677550"/>
                  </a:lnTo>
                  <a:lnTo>
                    <a:pt x="5361488" y="713367"/>
                  </a:lnTo>
                  <a:lnTo>
                    <a:pt x="5379775" y="750395"/>
                  </a:lnTo>
                  <a:lnTo>
                    <a:pt x="5394644" y="788485"/>
                  </a:lnTo>
                  <a:lnTo>
                    <a:pt x="5405987" y="827488"/>
                  </a:lnTo>
                  <a:lnTo>
                    <a:pt x="5413699" y="867257"/>
                  </a:lnTo>
                  <a:lnTo>
                    <a:pt x="5417672" y="907644"/>
                  </a:lnTo>
                  <a:lnTo>
                    <a:pt x="5417801" y="948499"/>
                  </a:lnTo>
                  <a:lnTo>
                    <a:pt x="5413978" y="989676"/>
                  </a:lnTo>
                  <a:lnTo>
                    <a:pt x="5406097" y="1031025"/>
                  </a:lnTo>
                  <a:lnTo>
                    <a:pt x="5394050" y="1072400"/>
                  </a:lnTo>
                  <a:lnTo>
                    <a:pt x="5379965" y="1108499"/>
                  </a:lnTo>
                  <a:lnTo>
                    <a:pt x="5362753" y="1143732"/>
                  </a:lnTo>
                  <a:lnTo>
                    <a:pt x="5394840" y="1179082"/>
                  </a:lnTo>
                  <a:lnTo>
                    <a:pt x="5423719" y="1215479"/>
                  </a:lnTo>
                  <a:lnTo>
                    <a:pt x="5449409" y="1252809"/>
                  </a:lnTo>
                  <a:lnTo>
                    <a:pt x="5471928" y="1290959"/>
                  </a:lnTo>
                  <a:lnTo>
                    <a:pt x="5491296" y="1329817"/>
                  </a:lnTo>
                  <a:lnTo>
                    <a:pt x="5507530" y="1369269"/>
                  </a:lnTo>
                  <a:lnTo>
                    <a:pt x="5520650" y="1409201"/>
                  </a:lnTo>
                  <a:lnTo>
                    <a:pt x="5530674" y="1449502"/>
                  </a:lnTo>
                  <a:lnTo>
                    <a:pt x="5537621" y="1490059"/>
                  </a:lnTo>
                  <a:lnTo>
                    <a:pt x="5541510" y="1530756"/>
                  </a:lnTo>
                  <a:lnTo>
                    <a:pt x="5542360" y="1571483"/>
                  </a:lnTo>
                  <a:lnTo>
                    <a:pt x="5540188" y="1612126"/>
                  </a:lnTo>
                  <a:lnTo>
                    <a:pt x="5535014" y="1652571"/>
                  </a:lnTo>
                  <a:lnTo>
                    <a:pt x="5526857" y="1692706"/>
                  </a:lnTo>
                  <a:lnTo>
                    <a:pt x="5515735" y="1732418"/>
                  </a:lnTo>
                  <a:lnTo>
                    <a:pt x="5501667" y="1771593"/>
                  </a:lnTo>
                  <a:lnTo>
                    <a:pt x="5484672" y="1810118"/>
                  </a:lnTo>
                  <a:lnTo>
                    <a:pt x="5464768" y="1847881"/>
                  </a:lnTo>
                  <a:lnTo>
                    <a:pt x="5441974" y="1884769"/>
                  </a:lnTo>
                  <a:lnTo>
                    <a:pt x="5416309" y="1920667"/>
                  </a:lnTo>
                  <a:lnTo>
                    <a:pt x="5387792" y="1955464"/>
                  </a:lnTo>
                  <a:lnTo>
                    <a:pt x="5356440" y="1989045"/>
                  </a:lnTo>
                  <a:lnTo>
                    <a:pt x="5322274" y="2021299"/>
                  </a:lnTo>
                  <a:lnTo>
                    <a:pt x="5285311" y="2052112"/>
                  </a:lnTo>
                  <a:lnTo>
                    <a:pt x="5245570" y="2081371"/>
                  </a:lnTo>
                  <a:lnTo>
                    <a:pt x="5203071" y="2108962"/>
                  </a:lnTo>
                  <a:lnTo>
                    <a:pt x="5162841" y="2132044"/>
                  </a:lnTo>
                  <a:lnTo>
                    <a:pt x="5121135" y="2153206"/>
                  </a:lnTo>
                  <a:lnTo>
                    <a:pt x="5078062" y="2172411"/>
                  </a:lnTo>
                  <a:lnTo>
                    <a:pt x="5033735" y="2189622"/>
                  </a:lnTo>
                  <a:lnTo>
                    <a:pt x="4988265" y="2204802"/>
                  </a:lnTo>
                  <a:lnTo>
                    <a:pt x="4941761" y="2217915"/>
                  </a:lnTo>
                  <a:lnTo>
                    <a:pt x="4894336" y="2228922"/>
                  </a:lnTo>
                  <a:lnTo>
                    <a:pt x="4846101" y="2237787"/>
                  </a:lnTo>
                  <a:lnTo>
                    <a:pt x="4797166" y="2244473"/>
                  </a:lnTo>
                  <a:lnTo>
                    <a:pt x="4794880" y="2286407"/>
                  </a:lnTo>
                  <a:lnTo>
                    <a:pt x="4788964" y="2327521"/>
                  </a:lnTo>
                  <a:lnTo>
                    <a:pt x="4779544" y="2367717"/>
                  </a:lnTo>
                  <a:lnTo>
                    <a:pt x="4766746" y="2406897"/>
                  </a:lnTo>
                  <a:lnTo>
                    <a:pt x="4750696" y="2444962"/>
                  </a:lnTo>
                  <a:lnTo>
                    <a:pt x="4731522" y="2481814"/>
                  </a:lnTo>
                  <a:lnTo>
                    <a:pt x="4709350" y="2517353"/>
                  </a:lnTo>
                  <a:lnTo>
                    <a:pt x="4684306" y="2551482"/>
                  </a:lnTo>
                  <a:lnTo>
                    <a:pt x="4656516" y="2584102"/>
                  </a:lnTo>
                  <a:lnTo>
                    <a:pt x="4626108" y="2615114"/>
                  </a:lnTo>
                  <a:lnTo>
                    <a:pt x="4593206" y="2644419"/>
                  </a:lnTo>
                  <a:lnTo>
                    <a:pt x="4557939" y="2671920"/>
                  </a:lnTo>
                  <a:lnTo>
                    <a:pt x="4520432" y="2697516"/>
                  </a:lnTo>
                  <a:lnTo>
                    <a:pt x="4480811" y="2721111"/>
                  </a:lnTo>
                  <a:lnTo>
                    <a:pt x="4439204" y="2742605"/>
                  </a:lnTo>
                  <a:lnTo>
                    <a:pt x="4395736" y="2761899"/>
                  </a:lnTo>
                  <a:lnTo>
                    <a:pt x="4350534" y="2778896"/>
                  </a:lnTo>
                  <a:lnTo>
                    <a:pt x="4303725" y="2793496"/>
                  </a:lnTo>
                  <a:lnTo>
                    <a:pt x="4255435" y="2805600"/>
                  </a:lnTo>
                  <a:lnTo>
                    <a:pt x="4205790" y="2815111"/>
                  </a:lnTo>
                  <a:lnTo>
                    <a:pt x="4154916" y="2821930"/>
                  </a:lnTo>
                  <a:lnTo>
                    <a:pt x="4102941" y="2825958"/>
                  </a:lnTo>
                  <a:lnTo>
                    <a:pt x="4049991" y="2827096"/>
                  </a:lnTo>
                  <a:lnTo>
                    <a:pt x="3998870" y="2825372"/>
                  </a:lnTo>
                  <a:lnTo>
                    <a:pt x="3948201" y="2820878"/>
                  </a:lnTo>
                  <a:lnTo>
                    <a:pt x="3898158" y="2813655"/>
                  </a:lnTo>
                  <a:lnTo>
                    <a:pt x="3848913" y="2803742"/>
                  </a:lnTo>
                  <a:lnTo>
                    <a:pt x="3800641" y="2791180"/>
                  </a:lnTo>
                  <a:lnTo>
                    <a:pt x="3753516" y="2776008"/>
                  </a:lnTo>
                  <a:lnTo>
                    <a:pt x="3707710" y="2758267"/>
                  </a:lnTo>
                  <a:lnTo>
                    <a:pt x="3663397" y="2737996"/>
                  </a:lnTo>
                  <a:lnTo>
                    <a:pt x="3646613" y="2777744"/>
                  </a:lnTo>
                  <a:lnTo>
                    <a:pt x="3627107" y="2816144"/>
                  </a:lnTo>
                  <a:lnTo>
                    <a:pt x="3604991" y="2853145"/>
                  </a:lnTo>
                  <a:lnTo>
                    <a:pt x="3580378" y="2888702"/>
                  </a:lnTo>
                  <a:lnTo>
                    <a:pt x="3553381" y="2922764"/>
                  </a:lnTo>
                  <a:lnTo>
                    <a:pt x="3524112" y="2955286"/>
                  </a:lnTo>
                  <a:lnTo>
                    <a:pt x="3492685" y="2986218"/>
                  </a:lnTo>
                  <a:lnTo>
                    <a:pt x="3459213" y="3015512"/>
                  </a:lnTo>
                  <a:lnTo>
                    <a:pt x="3423808" y="3043121"/>
                  </a:lnTo>
                  <a:lnTo>
                    <a:pt x="3386583" y="3068996"/>
                  </a:lnTo>
                  <a:lnTo>
                    <a:pt x="3347650" y="3093089"/>
                  </a:lnTo>
                  <a:lnTo>
                    <a:pt x="3307124" y="3115353"/>
                  </a:lnTo>
                  <a:lnTo>
                    <a:pt x="3265116" y="3135739"/>
                  </a:lnTo>
                  <a:lnTo>
                    <a:pt x="3221740" y="3154200"/>
                  </a:lnTo>
                  <a:lnTo>
                    <a:pt x="3177108" y="3170686"/>
                  </a:lnTo>
                  <a:lnTo>
                    <a:pt x="3131333" y="3185152"/>
                  </a:lnTo>
                  <a:lnTo>
                    <a:pt x="3084528" y="3197547"/>
                  </a:lnTo>
                  <a:lnTo>
                    <a:pt x="3036806" y="3207825"/>
                  </a:lnTo>
                  <a:lnTo>
                    <a:pt x="2988279" y="3215936"/>
                  </a:lnTo>
                  <a:lnTo>
                    <a:pt x="2939061" y="3221834"/>
                  </a:lnTo>
                  <a:lnTo>
                    <a:pt x="2889265" y="3225470"/>
                  </a:lnTo>
                  <a:lnTo>
                    <a:pt x="2839002" y="3226797"/>
                  </a:lnTo>
                  <a:lnTo>
                    <a:pt x="2788386" y="3225765"/>
                  </a:lnTo>
                  <a:lnTo>
                    <a:pt x="2737531" y="3222328"/>
                  </a:lnTo>
                  <a:lnTo>
                    <a:pt x="2686548" y="3216436"/>
                  </a:lnTo>
                  <a:lnTo>
                    <a:pt x="2635550" y="3208043"/>
                  </a:lnTo>
                  <a:lnTo>
                    <a:pt x="2584651" y="3197099"/>
                  </a:lnTo>
                  <a:lnTo>
                    <a:pt x="2533048" y="3183251"/>
                  </a:lnTo>
                  <a:lnTo>
                    <a:pt x="2482866" y="3166927"/>
                  </a:lnTo>
                  <a:lnTo>
                    <a:pt x="2434230" y="3148202"/>
                  </a:lnTo>
                  <a:lnTo>
                    <a:pt x="2387269" y="3127152"/>
                  </a:lnTo>
                  <a:lnTo>
                    <a:pt x="2342109" y="3103851"/>
                  </a:lnTo>
                  <a:lnTo>
                    <a:pt x="2298878" y="3078374"/>
                  </a:lnTo>
                  <a:lnTo>
                    <a:pt x="2257704" y="3050796"/>
                  </a:lnTo>
                  <a:lnTo>
                    <a:pt x="2218713" y="3021193"/>
                  </a:lnTo>
                  <a:lnTo>
                    <a:pt x="2182033" y="2989640"/>
                  </a:lnTo>
                  <a:lnTo>
                    <a:pt x="2147791" y="2956210"/>
                  </a:lnTo>
                  <a:lnTo>
                    <a:pt x="2116114" y="2920980"/>
                  </a:lnTo>
                  <a:lnTo>
                    <a:pt x="2071823" y="2940971"/>
                  </a:lnTo>
                  <a:lnTo>
                    <a:pt x="2026800" y="2958961"/>
                  </a:lnTo>
                  <a:lnTo>
                    <a:pt x="1981129" y="2974966"/>
                  </a:lnTo>
                  <a:lnTo>
                    <a:pt x="1934898" y="2989004"/>
                  </a:lnTo>
                  <a:lnTo>
                    <a:pt x="1888190" y="3001091"/>
                  </a:lnTo>
                  <a:lnTo>
                    <a:pt x="1841090" y="3011245"/>
                  </a:lnTo>
                  <a:lnTo>
                    <a:pt x="1793686" y="3019481"/>
                  </a:lnTo>
                  <a:lnTo>
                    <a:pt x="1746060" y="3025818"/>
                  </a:lnTo>
                  <a:lnTo>
                    <a:pt x="1698300" y="3030271"/>
                  </a:lnTo>
                  <a:lnTo>
                    <a:pt x="1650489" y="3032859"/>
                  </a:lnTo>
                  <a:lnTo>
                    <a:pt x="1602714" y="3033597"/>
                  </a:lnTo>
                  <a:lnTo>
                    <a:pt x="1555060" y="3032503"/>
                  </a:lnTo>
                  <a:lnTo>
                    <a:pt x="1507612" y="3029594"/>
                  </a:lnTo>
                  <a:lnTo>
                    <a:pt x="1460455" y="3024886"/>
                  </a:lnTo>
                  <a:lnTo>
                    <a:pt x="1413675" y="3018397"/>
                  </a:lnTo>
                  <a:lnTo>
                    <a:pt x="1367357" y="3010143"/>
                  </a:lnTo>
                  <a:lnTo>
                    <a:pt x="1321585" y="3000141"/>
                  </a:lnTo>
                  <a:lnTo>
                    <a:pt x="1276447" y="2988408"/>
                  </a:lnTo>
                  <a:lnTo>
                    <a:pt x="1232026" y="2974962"/>
                  </a:lnTo>
                  <a:lnTo>
                    <a:pt x="1188408" y="2959818"/>
                  </a:lnTo>
                  <a:lnTo>
                    <a:pt x="1145678" y="2942994"/>
                  </a:lnTo>
                  <a:lnTo>
                    <a:pt x="1103922" y="2924507"/>
                  </a:lnTo>
                  <a:lnTo>
                    <a:pt x="1063225" y="2904374"/>
                  </a:lnTo>
                  <a:lnTo>
                    <a:pt x="1023672" y="2882612"/>
                  </a:lnTo>
                  <a:lnTo>
                    <a:pt x="985349" y="2859237"/>
                  </a:lnTo>
                  <a:lnTo>
                    <a:pt x="948340" y="2834266"/>
                  </a:lnTo>
                  <a:lnTo>
                    <a:pt x="912731" y="2807717"/>
                  </a:lnTo>
                  <a:lnTo>
                    <a:pt x="878608" y="2779606"/>
                  </a:lnTo>
                  <a:lnTo>
                    <a:pt x="846056" y="2749950"/>
                  </a:lnTo>
                  <a:lnTo>
                    <a:pt x="815159" y="2718766"/>
                  </a:lnTo>
                  <a:lnTo>
                    <a:pt x="786004" y="2686071"/>
                  </a:lnTo>
                  <a:lnTo>
                    <a:pt x="758675" y="2651882"/>
                  </a:lnTo>
                  <a:lnTo>
                    <a:pt x="748219" y="2637707"/>
                  </a:lnTo>
                  <a:lnTo>
                    <a:pt x="694485" y="2640659"/>
                  </a:lnTo>
                  <a:lnTo>
                    <a:pt x="641610" y="2639582"/>
                  </a:lnTo>
                  <a:lnTo>
                    <a:pt x="589853" y="2634638"/>
                  </a:lnTo>
                  <a:lnTo>
                    <a:pt x="539476" y="2625991"/>
                  </a:lnTo>
                  <a:lnTo>
                    <a:pt x="490737" y="2613803"/>
                  </a:lnTo>
                  <a:lnTo>
                    <a:pt x="443896" y="2598235"/>
                  </a:lnTo>
                  <a:lnTo>
                    <a:pt x="399213" y="2579450"/>
                  </a:lnTo>
                  <a:lnTo>
                    <a:pt x="356949" y="2557611"/>
                  </a:lnTo>
                  <a:lnTo>
                    <a:pt x="317362" y="2532880"/>
                  </a:lnTo>
                  <a:lnTo>
                    <a:pt x="280712" y="2505418"/>
                  </a:lnTo>
                  <a:lnTo>
                    <a:pt x="247260" y="2475389"/>
                  </a:lnTo>
                  <a:lnTo>
                    <a:pt x="217265" y="2442955"/>
                  </a:lnTo>
                  <a:lnTo>
                    <a:pt x="190987" y="2408278"/>
                  </a:lnTo>
                  <a:lnTo>
                    <a:pt x="168686" y="2371520"/>
                  </a:lnTo>
                  <a:lnTo>
                    <a:pt x="150622" y="2332843"/>
                  </a:lnTo>
                  <a:lnTo>
                    <a:pt x="137054" y="2292411"/>
                  </a:lnTo>
                  <a:lnTo>
                    <a:pt x="128242" y="2250384"/>
                  </a:lnTo>
                  <a:lnTo>
                    <a:pt x="124444" y="2202003"/>
                  </a:lnTo>
                  <a:lnTo>
                    <a:pt x="127317" y="2154015"/>
                  </a:lnTo>
                  <a:lnTo>
                    <a:pt x="136692" y="2106823"/>
                  </a:lnTo>
                  <a:lnTo>
                    <a:pt x="152402" y="2060831"/>
                  </a:lnTo>
                  <a:lnTo>
                    <a:pt x="174278" y="2016444"/>
                  </a:lnTo>
                  <a:lnTo>
                    <a:pt x="202153" y="1974064"/>
                  </a:lnTo>
                  <a:lnTo>
                    <a:pt x="235858" y="1934096"/>
                  </a:lnTo>
                  <a:lnTo>
                    <a:pt x="275227" y="1896944"/>
                  </a:lnTo>
                  <a:lnTo>
                    <a:pt x="230247" y="1873589"/>
                  </a:lnTo>
                  <a:lnTo>
                    <a:pt x="189009" y="1847415"/>
                  </a:lnTo>
                  <a:lnTo>
                    <a:pt x="151595" y="1818678"/>
                  </a:lnTo>
                  <a:lnTo>
                    <a:pt x="118090" y="1787630"/>
                  </a:lnTo>
                  <a:lnTo>
                    <a:pt x="88577" y="1754528"/>
                  </a:lnTo>
                  <a:lnTo>
                    <a:pt x="63140" y="1719625"/>
                  </a:lnTo>
                  <a:lnTo>
                    <a:pt x="41861" y="1683175"/>
                  </a:lnTo>
                  <a:lnTo>
                    <a:pt x="24824" y="1645434"/>
                  </a:lnTo>
                  <a:lnTo>
                    <a:pt x="12112" y="1606656"/>
                  </a:lnTo>
                  <a:lnTo>
                    <a:pt x="3810" y="1567095"/>
                  </a:lnTo>
                  <a:lnTo>
                    <a:pt x="0" y="1527006"/>
                  </a:lnTo>
                  <a:lnTo>
                    <a:pt x="765" y="1486643"/>
                  </a:lnTo>
                  <a:lnTo>
                    <a:pt x="6190" y="1446262"/>
                  </a:lnTo>
                  <a:lnTo>
                    <a:pt x="16358" y="1406115"/>
                  </a:lnTo>
                  <a:lnTo>
                    <a:pt x="31352" y="1366459"/>
                  </a:lnTo>
                  <a:lnTo>
                    <a:pt x="51255" y="1327546"/>
                  </a:lnTo>
                  <a:lnTo>
                    <a:pt x="76151" y="1289633"/>
                  </a:lnTo>
                  <a:lnTo>
                    <a:pt x="105023" y="1254288"/>
                  </a:lnTo>
                  <a:lnTo>
                    <a:pt x="137660" y="1221574"/>
                  </a:lnTo>
                  <a:lnTo>
                    <a:pt x="173771" y="1191638"/>
                  </a:lnTo>
                  <a:lnTo>
                    <a:pt x="213066" y="1164632"/>
                  </a:lnTo>
                  <a:lnTo>
                    <a:pt x="255256" y="1140702"/>
                  </a:lnTo>
                  <a:lnTo>
                    <a:pt x="300051" y="1119998"/>
                  </a:lnTo>
                  <a:lnTo>
                    <a:pt x="347159" y="1102669"/>
                  </a:lnTo>
                  <a:lnTo>
                    <a:pt x="396292" y="1088863"/>
                  </a:lnTo>
                  <a:lnTo>
                    <a:pt x="447159" y="1078730"/>
                  </a:lnTo>
                  <a:lnTo>
                    <a:pt x="499470" y="1072418"/>
                  </a:lnTo>
                  <a:lnTo>
                    <a:pt x="504132" y="1062372"/>
                  </a:lnTo>
                  <a:close/>
                </a:path>
                <a:path w="5542915" h="3227070">
                  <a:moveTo>
                    <a:pt x="605742" y="1943887"/>
                  </a:moveTo>
                  <a:lnTo>
                    <a:pt x="557242" y="1945207"/>
                  </a:lnTo>
                  <a:lnTo>
                    <a:pt x="509008" y="1943173"/>
                  </a:lnTo>
                  <a:lnTo>
                    <a:pt x="461309" y="1937832"/>
                  </a:lnTo>
                  <a:lnTo>
                    <a:pt x="414408" y="1929234"/>
                  </a:lnTo>
                  <a:lnTo>
                    <a:pt x="368574" y="1917427"/>
                  </a:lnTo>
                  <a:lnTo>
                    <a:pt x="324071" y="1902461"/>
                  </a:lnTo>
                  <a:lnTo>
                    <a:pt x="281165" y="1884383"/>
                  </a:lnTo>
                </a:path>
                <a:path w="5542915" h="3227070">
                  <a:moveTo>
                    <a:pt x="892121" y="2595074"/>
                  </a:moveTo>
                  <a:lnTo>
                    <a:pt x="857566" y="2604956"/>
                  </a:lnTo>
                  <a:lnTo>
                    <a:pt x="822302" y="2613012"/>
                  </a:lnTo>
                  <a:lnTo>
                    <a:pt x="786446" y="2619219"/>
                  </a:lnTo>
                  <a:lnTo>
                    <a:pt x="750112" y="2623553"/>
                  </a:lnTo>
                </a:path>
                <a:path w="5542915" h="3227070">
                  <a:moveTo>
                    <a:pt x="2115797" y="2907976"/>
                  </a:moveTo>
                  <a:lnTo>
                    <a:pt x="2091155" y="2876897"/>
                  </a:lnTo>
                  <a:lnTo>
                    <a:pt x="2068649" y="2844839"/>
                  </a:lnTo>
                  <a:lnTo>
                    <a:pt x="2048326" y="2811872"/>
                  </a:lnTo>
                  <a:lnTo>
                    <a:pt x="2030231" y="2778065"/>
                  </a:lnTo>
                </a:path>
                <a:path w="5542915" h="3227070">
                  <a:moveTo>
                    <a:pt x="3698120" y="2584025"/>
                  </a:moveTo>
                  <a:lnTo>
                    <a:pt x="3693141" y="2620163"/>
                  </a:lnTo>
                  <a:lnTo>
                    <a:pt x="3685776" y="2656016"/>
                  </a:lnTo>
                  <a:lnTo>
                    <a:pt x="3676040" y="2691511"/>
                  </a:lnTo>
                  <a:lnTo>
                    <a:pt x="3663953" y="2726572"/>
                  </a:lnTo>
                </a:path>
                <a:path w="5542915" h="3227070">
                  <a:moveTo>
                    <a:pt x="4377485" y="1703257"/>
                  </a:moveTo>
                  <a:lnTo>
                    <a:pt x="4427567" y="1724499"/>
                  </a:lnTo>
                  <a:lnTo>
                    <a:pt x="4474998" y="1748465"/>
                  </a:lnTo>
                  <a:lnTo>
                    <a:pt x="4519655" y="1774999"/>
                  </a:lnTo>
                  <a:lnTo>
                    <a:pt x="4561414" y="1803941"/>
                  </a:lnTo>
                  <a:lnTo>
                    <a:pt x="4600152" y="1835133"/>
                  </a:lnTo>
                  <a:lnTo>
                    <a:pt x="4635744" y="1868418"/>
                  </a:lnTo>
                  <a:lnTo>
                    <a:pt x="4668066" y="1903636"/>
                  </a:lnTo>
                  <a:lnTo>
                    <a:pt x="4696996" y="1940630"/>
                  </a:lnTo>
                  <a:lnTo>
                    <a:pt x="4722409" y="1979241"/>
                  </a:lnTo>
                  <a:lnTo>
                    <a:pt x="4744181" y="2019310"/>
                  </a:lnTo>
                  <a:lnTo>
                    <a:pt x="4762188" y="2060681"/>
                  </a:lnTo>
                  <a:lnTo>
                    <a:pt x="4776308" y="2103194"/>
                  </a:lnTo>
                  <a:lnTo>
                    <a:pt x="4786416" y="2146691"/>
                  </a:lnTo>
                  <a:lnTo>
                    <a:pt x="4792388" y="2191015"/>
                  </a:lnTo>
                  <a:lnTo>
                    <a:pt x="4794100" y="2236006"/>
                  </a:lnTo>
                </a:path>
                <a:path w="5542915" h="3227070">
                  <a:moveTo>
                    <a:pt x="5360141" y="1135838"/>
                  </a:moveTo>
                  <a:lnTo>
                    <a:pt x="5332597" y="1180999"/>
                  </a:lnTo>
                  <a:lnTo>
                    <a:pt x="5300035" y="1223813"/>
                  </a:lnTo>
                  <a:lnTo>
                    <a:pt x="5262694" y="1264024"/>
                  </a:lnTo>
                  <a:lnTo>
                    <a:pt x="5220813" y="1301374"/>
                  </a:lnTo>
                  <a:lnTo>
                    <a:pt x="5174632" y="1335606"/>
                  </a:lnTo>
                </a:path>
                <a:path w="5542915" h="3227070">
                  <a:moveTo>
                    <a:pt x="4915005" y="394611"/>
                  </a:moveTo>
                  <a:lnTo>
                    <a:pt x="4919606" y="418036"/>
                  </a:lnTo>
                  <a:lnTo>
                    <a:pt x="4922774" y="441597"/>
                  </a:lnTo>
                  <a:lnTo>
                    <a:pt x="4924507" y="465250"/>
                  </a:lnTo>
                  <a:lnTo>
                    <a:pt x="4924799" y="488956"/>
                  </a:lnTo>
                </a:path>
                <a:path w="5542915" h="3227070">
                  <a:moveTo>
                    <a:pt x="3730281" y="284561"/>
                  </a:moveTo>
                  <a:lnTo>
                    <a:pt x="3749863" y="252499"/>
                  </a:lnTo>
                  <a:lnTo>
                    <a:pt x="3772292" y="221680"/>
                  </a:lnTo>
                  <a:lnTo>
                    <a:pt x="3797474" y="192221"/>
                  </a:lnTo>
                  <a:lnTo>
                    <a:pt x="3825315" y="164243"/>
                  </a:lnTo>
                </a:path>
                <a:path w="5542915" h="3227070">
                  <a:moveTo>
                    <a:pt x="2841418" y="341900"/>
                  </a:moveTo>
                  <a:lnTo>
                    <a:pt x="2849859" y="315144"/>
                  </a:lnTo>
                  <a:lnTo>
                    <a:pt x="2860366" y="288881"/>
                  </a:lnTo>
                  <a:lnTo>
                    <a:pt x="2872906" y="263186"/>
                  </a:lnTo>
                  <a:lnTo>
                    <a:pt x="2887447" y="238134"/>
                  </a:lnTo>
                </a:path>
                <a:path w="5542915" h="3227070">
                  <a:moveTo>
                    <a:pt x="1798283" y="377140"/>
                  </a:moveTo>
                  <a:lnTo>
                    <a:pt x="1842755" y="399265"/>
                  </a:lnTo>
                  <a:lnTo>
                    <a:pt x="1885416" y="423465"/>
                  </a:lnTo>
                  <a:lnTo>
                    <a:pt x="1926149" y="449670"/>
                  </a:lnTo>
                  <a:lnTo>
                    <a:pt x="1964839" y="477811"/>
                  </a:lnTo>
                </a:path>
                <a:path w="5542915" h="3227070">
                  <a:moveTo>
                    <a:pt x="533219" y="1168316"/>
                  </a:moveTo>
                  <a:lnTo>
                    <a:pt x="523975" y="1142194"/>
                  </a:lnTo>
                  <a:lnTo>
                    <a:pt x="516043" y="1115813"/>
                  </a:lnTo>
                  <a:lnTo>
                    <a:pt x="509433" y="1089204"/>
                  </a:lnTo>
                  <a:lnTo>
                    <a:pt x="504152" y="1062398"/>
                  </a:lnTo>
                </a:path>
              </a:pathLst>
            </a:custGeom>
            <a:ln w="37700">
              <a:solidFill>
                <a:srgbClr val="80005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42236" y="3053044"/>
            <a:ext cx="3392581" cy="982101"/>
          </a:xfrm>
          <a:prstGeom prst="rect">
            <a:avLst/>
          </a:prstGeom>
        </p:spPr>
        <p:txBody>
          <a:bodyPr vert="horz" wrap="square" lIns="0" tIns="14007" rIns="0" bIns="0" rtlCol="0">
            <a:spAutoFit/>
          </a:bodyPr>
          <a:lstStyle/>
          <a:p>
            <a:pPr marL="10646" marR="4483" algn="ctr">
              <a:lnSpc>
                <a:spcPct val="99200"/>
              </a:lnSpc>
              <a:spcBef>
                <a:spcPts val="110"/>
              </a:spcBef>
            </a:pPr>
            <a:r>
              <a:rPr sz="2118" spc="-18" dirty="0">
                <a:solidFill>
                  <a:srgbClr val="B0007E"/>
                </a:solidFill>
                <a:latin typeface="Calibri"/>
                <a:cs typeface="Calibri"/>
              </a:rPr>
              <a:t>Proposed </a:t>
            </a:r>
            <a:r>
              <a:rPr sz="2118" spc="-13" dirty="0">
                <a:solidFill>
                  <a:srgbClr val="B0007E"/>
                </a:solidFill>
                <a:latin typeface="Calibri"/>
                <a:cs typeface="Calibri"/>
              </a:rPr>
              <a:t>stopping condition </a:t>
            </a:r>
            <a:r>
              <a:rPr sz="2118" spc="-9" dirty="0">
                <a:solidFill>
                  <a:srgbClr val="B0007E"/>
                </a:solidFill>
                <a:latin typeface="Calibri"/>
                <a:cs typeface="Calibri"/>
              </a:rPr>
              <a:t>3: </a:t>
            </a:r>
            <a:r>
              <a:rPr sz="2118" spc="-468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2118" spc="-13" dirty="0">
                <a:latin typeface="Calibri"/>
                <a:cs typeface="Calibri"/>
              </a:rPr>
              <a:t>Stop </a:t>
            </a:r>
            <a:r>
              <a:rPr sz="2118" spc="-4" dirty="0">
                <a:latin typeface="Calibri"/>
                <a:cs typeface="Calibri"/>
              </a:rPr>
              <a:t>if no </a:t>
            </a:r>
            <a:r>
              <a:rPr sz="2118" spc="-9" dirty="0">
                <a:latin typeface="Calibri"/>
                <a:cs typeface="Calibri"/>
              </a:rPr>
              <a:t>split </a:t>
            </a:r>
            <a:r>
              <a:rPr sz="2118" spc="-18" dirty="0">
                <a:latin typeface="Calibri"/>
                <a:cs typeface="Calibri"/>
              </a:rPr>
              <a:t>reduces </a:t>
            </a:r>
            <a:r>
              <a:rPr sz="2118" spc="-9" dirty="0">
                <a:latin typeface="Calibri"/>
                <a:cs typeface="Calibri"/>
              </a:rPr>
              <a:t>the </a:t>
            </a:r>
            <a:r>
              <a:rPr sz="2118" spc="-4" dirty="0">
                <a:latin typeface="Calibri"/>
                <a:cs typeface="Calibri"/>
              </a:rPr>
              <a:t> </a:t>
            </a:r>
            <a:r>
              <a:rPr sz="2118" spc="-13" dirty="0">
                <a:latin typeface="Calibri"/>
                <a:cs typeface="Calibri"/>
              </a:rPr>
              <a:t>classification</a:t>
            </a:r>
            <a:r>
              <a:rPr sz="2118" spc="-18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error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843355A-01E9-442B-81C5-05A596A6C1E7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1206">
              <a:spcBef>
                <a:spcPts val="49"/>
              </a:spcBef>
            </a:pPr>
            <a:fld id="{4BAC8E50-DF62-4FDD-AFE9-2377BC8EF7A9}" type="datetime1">
              <a:rPr lang="en-US" spc="-9" smtClean="0"/>
              <a:t>3/30/2022</a:t>
            </a:fld>
            <a:endParaRPr lang="en-US" spc="-9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A7CDFF1-9BD9-47DB-BF8A-824249F5CAF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1206">
              <a:spcBef>
                <a:spcPts val="49"/>
              </a:spcBef>
            </a:pPr>
            <a:r>
              <a:rPr lang="en-US" spc="-9"/>
              <a:t>Presented by    Dr. AKHTAR JAMIL </a:t>
            </a:r>
            <a:endParaRPr lang="en-US" spc="-9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97D61F0-92E4-48B6-A95A-8BCB5201EA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3619">
              <a:spcBef>
                <a:spcPts val="40"/>
              </a:spcBef>
            </a:pPr>
            <a:fld id="{81D60167-4931-47E6-BA6A-407CBD079E47}" type="slidenum">
              <a:rPr lang="en-PK" smtClean="0"/>
              <a:pPr marL="33619">
                <a:spcBef>
                  <a:spcPts val="40"/>
                </a:spcBef>
              </a:pPr>
              <a:t>16</a:t>
            </a:fld>
            <a:endParaRPr lang="en-PK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:\pedro\part2\image4.jpg">
            <a:extLst>
              <a:ext uri="{FF2B5EF4-FFF2-40B4-BE49-F238E27FC236}">
                <a16:creationId xmlns:a16="http://schemas.microsoft.com/office/drawing/2014/main" id="{29BE869E-115A-4671-B7B5-65A67A575608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78" b="7778"/>
          <a:stretch/>
        </p:blipFill>
        <p:spPr bwMode="auto">
          <a:xfrm>
            <a:off x="0" y="533400"/>
            <a:ext cx="91440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64658C-60E8-4A2D-973B-41DB80270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1950-AAFD-402F-8E98-5D153E758813}" type="datetime1">
              <a:rPr lang="en-US" smtClean="0"/>
              <a:t>3/30/2022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910A63-CC3B-46FC-B5E2-6EF673BFC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32E7B-DA1B-4BBE-B151-AB105C87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E:\pedro\part2\image6.jpg">
            <a:extLst>
              <a:ext uri="{FF2B5EF4-FFF2-40B4-BE49-F238E27FC236}">
                <a16:creationId xmlns:a16="http://schemas.microsoft.com/office/drawing/2014/main" id="{839CCD16-05C3-48B4-81AA-5F12AB36ED3B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1" b="23333"/>
          <a:stretch/>
        </p:blipFill>
        <p:spPr bwMode="auto">
          <a:xfrm>
            <a:off x="0" y="1143000"/>
            <a:ext cx="9144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E99983-E2B2-463B-8221-F572DE496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6653-E2A6-42FA-9D27-056D0D0A05B3}" type="datetime1">
              <a:rPr lang="en-US" smtClean="0"/>
              <a:t>3/30/2022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5B1E1A-1551-45F9-A36C-81D59F8AE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06417-CA69-4DBD-97D2-2445E0CD5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E:\pedro\part2\image7.jpg">
            <a:extLst>
              <a:ext uri="{FF2B5EF4-FFF2-40B4-BE49-F238E27FC236}">
                <a16:creationId xmlns:a16="http://schemas.microsoft.com/office/drawing/2014/main" id="{EF2166F1-8FE5-4975-82AD-2CB7202D4684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453E80-2070-4F17-8357-1E6019239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DD23-A7DD-4D82-98D4-0A778317BE52}" type="datetime1">
              <a:rPr lang="en-US" smtClean="0"/>
              <a:t>3/30/2022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D432DE-67BE-4EF3-B1AF-116D3F693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EFEB1-F1F5-48CA-A844-B9E073BA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:\pedro\part2\image8.jpg">
            <a:extLst>
              <a:ext uri="{FF2B5EF4-FFF2-40B4-BE49-F238E27FC236}">
                <a16:creationId xmlns:a16="http://schemas.microsoft.com/office/drawing/2014/main" id="{C5925A45-ADA6-4885-93B4-7C688A929BF0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79305-ACF7-40C3-A584-33CCE2FDD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C7C6-DC6F-4C6C-B618-38610BBC3457}" type="datetime1">
              <a:rPr lang="en-US" smtClean="0"/>
              <a:t>3/30/2022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F636C0-5EBB-4DB7-9062-0322FC1B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484C0-9612-4D3F-9E42-44A5B3B8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E:\pedro\part2\image9.jpg">
            <a:extLst>
              <a:ext uri="{FF2B5EF4-FFF2-40B4-BE49-F238E27FC236}">
                <a16:creationId xmlns:a16="http://schemas.microsoft.com/office/drawing/2014/main" id="{6813448E-D1BE-4F3A-B6C8-BFF8E8D87C36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9" b="6666"/>
          <a:stretch/>
        </p:blipFill>
        <p:spPr bwMode="auto">
          <a:xfrm>
            <a:off x="0" y="609600"/>
            <a:ext cx="91440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B1F494-EBFF-4720-8BD6-EA7E3CF86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45B1-C885-49D6-80D4-A8A666EE77F7}" type="datetime1">
              <a:rPr lang="en-US" smtClean="0"/>
              <a:t>3/30/2022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EE3B23-791B-4B7E-AF86-F66C5FE4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73848-90F3-4B1E-9CFB-C313043D5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BEB473-004C-45EF-A4C6-2D34383B4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u="none" strike="noStrike" baseline="0" dirty="0">
                <a:latin typeface="CMR10"/>
              </a:rPr>
              <a:t>The fundamental principle for tree creation</a:t>
            </a:r>
          </a:p>
          <a:p>
            <a:pPr lvl="1"/>
            <a:r>
              <a:rPr lang="en-US" sz="2800" dirty="0">
                <a:latin typeface="CMR10"/>
              </a:rPr>
              <a:t>S</a:t>
            </a:r>
            <a:r>
              <a:rPr lang="en-US" sz="2800" b="0" i="0" u="none" strike="noStrike" baseline="0" dirty="0">
                <a:latin typeface="CMR10"/>
              </a:rPr>
              <a:t>imple and compact tree with few nodes. </a:t>
            </a:r>
          </a:p>
          <a:p>
            <a:pPr algn="l"/>
            <a:r>
              <a:rPr lang="en-US" b="0" i="0" u="none" strike="noStrike" baseline="0" dirty="0">
                <a:latin typeface="CMR10"/>
              </a:rPr>
              <a:t>The simplest model that explains data is the one to be preferred</a:t>
            </a:r>
          </a:p>
          <a:p>
            <a:pPr algn="l"/>
            <a:r>
              <a:rPr lang="en-US" b="0" i="0" u="none" strike="noStrike" baseline="0" dirty="0">
                <a:latin typeface="CMR10"/>
              </a:rPr>
              <a:t>Find a condition </a:t>
            </a:r>
            <a:r>
              <a:rPr lang="en-US" b="0" i="1" u="none" strike="noStrike" baseline="0" dirty="0">
                <a:latin typeface="CMMI10"/>
              </a:rPr>
              <a:t>T </a:t>
            </a:r>
            <a:r>
              <a:rPr lang="en-US" b="0" i="0" u="none" strike="noStrike" baseline="0" dirty="0">
                <a:latin typeface="CMR10"/>
              </a:rPr>
              <a:t>at each node </a:t>
            </a:r>
            <a:r>
              <a:rPr lang="en-US" b="0" i="1" u="none" strike="noStrike" baseline="0" dirty="0">
                <a:latin typeface="CMMI10"/>
              </a:rPr>
              <a:t>N </a:t>
            </a:r>
            <a:r>
              <a:rPr lang="en-US" b="0" i="0" u="none" strike="noStrike" baseline="0" dirty="0">
                <a:latin typeface="CMR10"/>
              </a:rPr>
              <a:t>that makes the data reaching the immediate descendent nodes as “pure” as possible. </a:t>
            </a:r>
          </a:p>
          <a:p>
            <a:pPr lvl="1"/>
            <a:r>
              <a:rPr lang="en-US" dirty="0">
                <a:solidFill>
                  <a:srgbClr val="0070C0"/>
                </a:solidFill>
                <a:latin typeface="CMR10"/>
              </a:rPr>
              <a:t>Minimum errors</a:t>
            </a:r>
          </a:p>
          <a:p>
            <a:r>
              <a:rPr lang="en-US" b="0" i="0" u="none" strike="noStrike" baseline="0" dirty="0">
                <a:latin typeface="CMR10"/>
              </a:rPr>
              <a:t>What is </a:t>
            </a:r>
            <a:r>
              <a:rPr lang="en-US" b="0" i="0" u="none" strike="noStrike" baseline="0" dirty="0">
                <a:solidFill>
                  <a:srgbClr val="FF0000"/>
                </a:solidFill>
                <a:latin typeface="CMR10"/>
              </a:rPr>
              <a:t>Pure or 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CMTI10"/>
              </a:rPr>
              <a:t>im</a:t>
            </a:r>
            <a:r>
              <a:rPr lang="en-US" b="0" i="0" u="none" strike="noStrike" baseline="0" dirty="0">
                <a:solidFill>
                  <a:srgbClr val="FF0000"/>
                </a:solidFill>
                <a:latin typeface="CMR10"/>
              </a:rPr>
              <a:t>purity</a:t>
            </a:r>
            <a:r>
              <a:rPr lang="en-US" b="0" i="0" u="none" strike="noStrike" baseline="0" dirty="0">
                <a:latin typeface="CMR10"/>
              </a:rPr>
              <a:t>?</a:t>
            </a:r>
          </a:p>
          <a:p>
            <a:pPr lvl="1"/>
            <a:endParaRPr lang="en-US" b="0" i="0" u="none" strike="noStrike" baseline="0" dirty="0">
              <a:latin typeface="CMR10"/>
            </a:endParaRP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D580134-C639-4AD9-B905-1C560635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Alternate Ways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F18E2D-994C-46CD-AE7A-1F54F57DE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4473348"/>
            <a:ext cx="3629025" cy="18669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3FA989-B0A1-431C-A6F0-3DE55BE89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12BA-1A63-47BC-B63F-19002E1352FB}" type="datetime1">
              <a:rPr lang="en-US" smtClean="0"/>
              <a:t>3/30/2022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3685145-4AE7-4028-8FC4-874A4D68E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5F83369-5A9C-44B3-888A-9F021123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6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C83AEC-FFF5-4569-8258-9602EFCE6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0" i="0" u="none" strike="noStrike" baseline="0" dirty="0">
                <a:latin typeface="CMR10"/>
              </a:rPr>
              <a:t>Different 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CMR10"/>
              </a:rPr>
              <a:t>mathematical measures </a:t>
            </a:r>
            <a:r>
              <a:rPr lang="en-US" sz="3200" b="0" i="0" u="none" strike="noStrike" baseline="0" dirty="0">
                <a:latin typeface="CMR10"/>
              </a:rPr>
              <a:t>of impurity</a:t>
            </a:r>
          </a:p>
          <a:p>
            <a:pPr algn="l"/>
            <a:r>
              <a:rPr lang="en-US" sz="3200" b="0" i="0" u="none" strike="noStrike" baseline="0" dirty="0">
                <a:latin typeface="CMR10"/>
              </a:rPr>
              <a:t>The most popular measure is the </a:t>
            </a:r>
            <a:r>
              <a:rPr lang="en-US" sz="3200" b="0" i="1" u="none" strike="noStrike" baseline="0" dirty="0">
                <a:solidFill>
                  <a:srgbClr val="00B050"/>
                </a:solidFill>
                <a:latin typeface="CMTI10"/>
              </a:rPr>
              <a:t>entropy impurity </a:t>
            </a:r>
            <a:endParaRPr lang="en-US" sz="3200" b="0" i="0" u="none" strike="noStrike" baseline="0" dirty="0">
              <a:solidFill>
                <a:srgbClr val="00B050"/>
              </a:solidFill>
              <a:latin typeface="CMR10"/>
            </a:endParaRPr>
          </a:p>
          <a:p>
            <a:pPr lvl="1"/>
            <a:r>
              <a:rPr lang="en-US" sz="2800" i="1" dirty="0">
                <a:solidFill>
                  <a:srgbClr val="FF0000"/>
                </a:solidFill>
                <a:latin typeface="CMTI10"/>
              </a:rPr>
              <a:t>I</a:t>
            </a:r>
            <a:r>
              <a:rPr lang="en-US" sz="2800" b="0" i="1" u="none" strike="noStrike" baseline="0" dirty="0">
                <a:solidFill>
                  <a:srgbClr val="FF0000"/>
                </a:solidFill>
                <a:latin typeface="CMTI10"/>
              </a:rPr>
              <a:t>nformation impurity</a:t>
            </a:r>
            <a:endParaRPr lang="en-US" sz="2800" b="0" i="0" u="none" strike="noStrike" baseline="0" dirty="0">
              <a:solidFill>
                <a:srgbClr val="FF0000"/>
              </a:solidFill>
              <a:latin typeface="CMR10"/>
            </a:endParaRPr>
          </a:p>
          <a:p>
            <a:pPr algn="l"/>
            <a:r>
              <a:rPr lang="en-US" sz="3200" b="0" i="0" u="none" strike="noStrike" baseline="0" dirty="0">
                <a:latin typeface="CMR10"/>
              </a:rPr>
              <a:t>Let </a:t>
            </a:r>
            <a:r>
              <a:rPr lang="en-US" sz="3200" b="0" i="1" u="none" strike="noStrike" baseline="0" dirty="0" err="1">
                <a:latin typeface="CMMI10"/>
              </a:rPr>
              <a:t>i</a:t>
            </a:r>
            <a:r>
              <a:rPr lang="en-US" sz="3200" b="0" i="0" u="none" strike="noStrike" baseline="0" dirty="0">
                <a:latin typeface="CMR10"/>
              </a:rPr>
              <a:t>(</a:t>
            </a:r>
            <a:r>
              <a:rPr lang="en-US" sz="3200" b="0" i="1" u="none" strike="noStrike" baseline="0" dirty="0">
                <a:latin typeface="CMMI10"/>
              </a:rPr>
              <a:t>N</a:t>
            </a:r>
            <a:r>
              <a:rPr lang="en-US" sz="3200" b="0" i="0" u="none" strike="noStrike" baseline="0" dirty="0">
                <a:latin typeface="CMR10"/>
              </a:rPr>
              <a:t>) be impurity of a node </a:t>
            </a:r>
            <a:r>
              <a:rPr lang="en-US" sz="3200" b="0" i="1" u="none" strike="noStrike" baseline="0" dirty="0">
                <a:latin typeface="CMMI10"/>
              </a:rPr>
              <a:t>N</a:t>
            </a:r>
            <a:r>
              <a:rPr lang="en-US" sz="3200" b="0" i="0" u="none" strike="noStrike" baseline="0" dirty="0">
                <a:latin typeface="CMR10"/>
              </a:rPr>
              <a:t>. </a:t>
            </a:r>
          </a:p>
          <a:p>
            <a:pPr lvl="1"/>
            <a:r>
              <a:rPr lang="en-US" b="0" i="1" u="none" strike="noStrike" baseline="0" dirty="0" err="1">
                <a:latin typeface="CMMI10"/>
              </a:rPr>
              <a:t>i</a:t>
            </a:r>
            <a:r>
              <a:rPr lang="en-US" b="0" i="0" u="none" strike="noStrike" baseline="0" dirty="0">
                <a:latin typeface="CMR10"/>
              </a:rPr>
              <a:t>(</a:t>
            </a:r>
            <a:r>
              <a:rPr lang="en-US" b="0" i="1" u="none" strike="noStrike" baseline="0" dirty="0">
                <a:latin typeface="CMMI10"/>
              </a:rPr>
              <a:t>N</a:t>
            </a:r>
            <a:r>
              <a:rPr lang="en-US" b="0" i="0" u="none" strike="noStrike" baseline="0" dirty="0">
                <a:latin typeface="CMR10"/>
              </a:rPr>
              <a:t>)  = 0 for pure classes. </a:t>
            </a:r>
          </a:p>
          <a:p>
            <a:pPr lvl="1"/>
            <a:r>
              <a:rPr lang="en-US" b="0" i="0" u="none" strike="noStrike" baseline="0" dirty="0" err="1">
                <a:latin typeface="CMR10"/>
              </a:rPr>
              <a:t>i</a:t>
            </a:r>
            <a:r>
              <a:rPr lang="en-US" b="0" i="0" u="none" strike="noStrike" baseline="0" dirty="0">
                <a:latin typeface="CMR10"/>
              </a:rPr>
              <a:t>(N) &gt; 0 </a:t>
            </a:r>
            <a:r>
              <a:rPr lang="en-US" sz="3200" b="0" i="0" u="none" strike="noStrike" baseline="0" dirty="0">
                <a:latin typeface="CMR10"/>
              </a:rPr>
              <a:t>for mix classes.</a:t>
            </a:r>
          </a:p>
          <a:p>
            <a:endParaRPr lang="en-US" sz="4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BB08DA3-AF86-494C-B9B2-D0AA0FC5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9B9072-9CE0-4F59-A9DF-0AB34F224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4E284-62F2-43C6-8A62-412F2331FE7C}" type="datetime1">
              <a:rPr lang="en-US" smtClean="0"/>
              <a:t>3/30/2022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612B8-D6F8-4497-8846-13142C63D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459AA-7723-4AC4-8150-139DE074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43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A041F82-530E-43D1-A341-117CCEBCCC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rgbClr val="00B050"/>
                    </a:solidFill>
                  </a:rPr>
                  <a:t>Entropy</a:t>
                </a:r>
                <a:r>
                  <a:rPr lang="en-US" dirty="0"/>
                  <a:t> can be calculated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sz="24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𝑖</m:t>
                      </m:r>
                      <m:r>
                        <a:rPr lang="en-PK" sz="24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PK" sz="24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𝑁</m:t>
                      </m:r>
                      <m:r>
                        <a:rPr lang="en-PK" sz="24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)=−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PK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PK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PK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 </m:t>
                          </m:r>
                        </m:e>
                      </m:nary>
                      <m:r>
                        <a:rPr lang="en-PK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ctrlPr>
                            <a:rPr lang="en-PK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PK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PK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PK" sz="24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log</m:t>
                          </m:r>
                        </m:e>
                        <m:sub>
                          <m:r>
                            <a:rPr lang="en-PK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PK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⁡</m:t>
                      </m:r>
                      <m:r>
                        <a:rPr lang="en-PK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ctrlPr>
                            <a:rPr lang="en-PK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PK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K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r>
                  <a:rPr lang="en-US" b="0" i="0" u="none" strike="noStrike" baseline="0" dirty="0">
                    <a:latin typeface="CMR10"/>
                  </a:rPr>
                  <a:t>where </a:t>
                </a:r>
                <a:r>
                  <a:rPr lang="en-US" b="0" i="1" u="none" strike="noStrike" baseline="0" dirty="0">
                    <a:solidFill>
                      <a:srgbClr val="00B050"/>
                    </a:solidFill>
                    <a:latin typeface="CMMI10"/>
                  </a:rPr>
                  <a:t>P</a:t>
                </a:r>
                <a:r>
                  <a:rPr lang="en-US" b="0" i="0" u="none" strike="noStrike" baseline="0" dirty="0">
                    <a:solidFill>
                      <a:srgbClr val="00B050"/>
                    </a:solidFill>
                    <a:latin typeface="CMR10"/>
                  </a:rPr>
                  <a:t>(</a:t>
                </a:r>
                <a:r>
                  <a:rPr lang="en-US" b="0" i="1" u="none" strike="noStrike" baseline="0" dirty="0" err="1">
                    <a:solidFill>
                      <a:srgbClr val="00B050"/>
                    </a:solidFill>
                    <a:latin typeface="CMMI10"/>
                  </a:rPr>
                  <a:t>ω</a:t>
                </a:r>
                <a:r>
                  <a:rPr lang="en-US" b="0" i="1" u="none" strike="noStrike" baseline="-25000" dirty="0" err="1">
                    <a:solidFill>
                      <a:srgbClr val="00B050"/>
                    </a:solidFill>
                    <a:latin typeface="CMMI7"/>
                  </a:rPr>
                  <a:t>j</a:t>
                </a:r>
                <a:r>
                  <a:rPr lang="en-US" b="0" i="0" u="none" strike="noStrike" baseline="0" dirty="0">
                    <a:solidFill>
                      <a:srgbClr val="00B050"/>
                    </a:solidFill>
                    <a:latin typeface="CMR10"/>
                  </a:rPr>
                  <a:t>) is the fraction of patterns </a:t>
                </a:r>
                <a:r>
                  <a:rPr lang="en-US" b="0" i="0" u="none" strike="noStrike" baseline="0" dirty="0">
                    <a:latin typeface="CMR10"/>
                  </a:rPr>
                  <a:t>at node </a:t>
                </a:r>
                <a:r>
                  <a:rPr lang="en-US" b="0" i="1" u="none" strike="noStrike" baseline="0" dirty="0">
                    <a:latin typeface="CMMI10"/>
                  </a:rPr>
                  <a:t>N </a:t>
                </a:r>
                <a:r>
                  <a:rPr lang="en-US" b="0" i="0" u="none" strike="noStrike" baseline="0" dirty="0">
                    <a:latin typeface="CMR10"/>
                  </a:rPr>
                  <a:t>that are in category </a:t>
                </a:r>
                <a:r>
                  <a:rPr lang="en-US" b="0" i="1" u="none" strike="noStrike" baseline="0" dirty="0" err="1">
                    <a:latin typeface="CMMI10"/>
                  </a:rPr>
                  <a:t>ω</a:t>
                </a:r>
                <a:r>
                  <a:rPr lang="en-US" b="0" i="1" u="none" strike="noStrike" baseline="-25000" dirty="0" err="1">
                    <a:latin typeface="CMMI7"/>
                  </a:rPr>
                  <a:t>j</a:t>
                </a:r>
                <a:r>
                  <a:rPr lang="en-US" b="0" i="1" u="none" strike="noStrike" baseline="0" dirty="0">
                    <a:latin typeface="CMMI7"/>
                  </a:rPr>
                  <a:t> </a:t>
                </a:r>
                <a:r>
                  <a:rPr lang="en-US" b="0" i="0" u="none" strike="noStrike" baseline="0" dirty="0">
                    <a:latin typeface="CMR10"/>
                  </a:rPr>
                  <a:t>.</a:t>
                </a:r>
              </a:p>
              <a:p>
                <a:pPr lvl="1"/>
                <a:r>
                  <a:rPr lang="en-US" b="0" i="0" u="none" strike="noStrike" baseline="0" dirty="0">
                    <a:latin typeface="CMR10"/>
                  </a:rPr>
                  <a:t>Entropy is 0, if all samples belong to same class</a:t>
                </a:r>
              </a:p>
              <a:p>
                <a:pPr lvl="1"/>
                <a:r>
                  <a:rPr lang="en-US" b="0" i="0" u="none" strike="noStrike" baseline="0" dirty="0">
                    <a:latin typeface="CMR10"/>
                  </a:rPr>
                  <a:t>Otherwise it is positive</a:t>
                </a:r>
              </a:p>
              <a:p>
                <a:pPr algn="l"/>
                <a:r>
                  <a:rPr lang="en-US" b="0" i="0" u="none" strike="noStrike" baseline="0" dirty="0">
                    <a:solidFill>
                      <a:srgbClr val="FF0000"/>
                    </a:solidFill>
                    <a:latin typeface="CMR10"/>
                  </a:rPr>
                  <a:t>Entropy is maximum </a:t>
                </a:r>
                <a:r>
                  <a:rPr lang="en-US" b="0" i="0" u="none" strike="noStrike" baseline="0" dirty="0">
                    <a:latin typeface="CMR10"/>
                  </a:rPr>
                  <a:t>when different </a:t>
                </a:r>
                <a:r>
                  <a:rPr lang="en-US" b="0" i="0" u="none" strike="noStrike" baseline="0" dirty="0">
                    <a:solidFill>
                      <a:srgbClr val="FF0000"/>
                    </a:solidFill>
                    <a:latin typeface="CMR10"/>
                  </a:rPr>
                  <a:t>classes are equally likely</a:t>
                </a:r>
                <a:r>
                  <a:rPr lang="en-US" b="0" i="0" u="none" strike="noStrike" baseline="0" dirty="0">
                    <a:latin typeface="CMR10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A041F82-530E-43D1-A341-117CCEBCCC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482" r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AC7D77-F952-4060-B269-3B812CADA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3/30/2022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D339E-756F-4A9A-B5F3-A12B83DBB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1360E-9803-4980-BDFC-863257E0A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630BAA0-D7CC-47F0-9E63-6EAC74137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</p:spTree>
    <p:extLst>
      <p:ext uri="{BB962C8B-B14F-4D97-AF65-F5344CB8AC3E}">
        <p14:creationId xmlns:p14="http://schemas.microsoft.com/office/powerpoint/2010/main" val="3191956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A78206B-CD3B-4041-AFCB-EEABEBAA66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b="0" i="0" u="none" strike="noStrike" baseline="0" dirty="0">
                    <a:latin typeface="CMR10"/>
                  </a:rPr>
                  <a:t>Another definition of impurity is particularly useful in the two-category case.</a:t>
                </a:r>
              </a:p>
              <a:p>
                <a:pPr algn="l"/>
                <a:r>
                  <a:rPr lang="en-US" b="0" i="0" u="none" strike="noStrike" baseline="0" dirty="0">
                    <a:latin typeface="CMR10"/>
                  </a:rPr>
                  <a:t>It will have </a:t>
                </a:r>
                <a:r>
                  <a:rPr lang="en-US" b="0" i="0" u="none" strike="noStrike" baseline="0" dirty="0">
                    <a:solidFill>
                      <a:srgbClr val="FF0000"/>
                    </a:solidFill>
                    <a:latin typeface="CMR10"/>
                  </a:rPr>
                  <a:t>zero impurity </a:t>
                </a:r>
                <a:r>
                  <a:rPr lang="en-US" b="0" i="0" u="none" strike="noStrike" baseline="0" dirty="0">
                    <a:latin typeface="CMR10"/>
                  </a:rPr>
                  <a:t>when the node represents </a:t>
                </a:r>
                <a:r>
                  <a:rPr lang="en-US" b="0" i="0" u="none" strike="noStrike" baseline="0" dirty="0">
                    <a:solidFill>
                      <a:srgbClr val="FF0000"/>
                    </a:solidFill>
                    <a:latin typeface="CMR10"/>
                  </a:rPr>
                  <a:t>only patterns of a single category</a:t>
                </a:r>
                <a:r>
                  <a:rPr lang="en-US" dirty="0">
                    <a:solidFill>
                      <a:srgbClr val="FF0000"/>
                    </a:solidFill>
                    <a:latin typeface="CMR10"/>
                  </a:rPr>
                  <a:t>.</a:t>
                </a:r>
                <a:endParaRPr lang="en-US" b="0" i="0" u="none" strike="noStrike" baseline="0" dirty="0">
                  <a:latin typeface="CMR10"/>
                </a:endParaRPr>
              </a:p>
              <a:p>
                <a:pPr algn="l"/>
                <a:r>
                  <a:rPr lang="en-US" dirty="0">
                    <a:latin typeface="CMR10"/>
                  </a:rPr>
                  <a:t>This can be written as</a:t>
                </a:r>
              </a:p>
              <a:p>
                <a:pPr algn="l"/>
                <a:endParaRPr lang="en-US" sz="1800" dirty="0">
                  <a:latin typeface="CMR1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PK" i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𝑖</m:t>
                      </m:r>
                      <m:d>
                        <m:dPr>
                          <m:ctrlPr>
                            <a:rPr lang="en-PK" i="1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PK" i="1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𝑁</m:t>
                          </m:r>
                        </m:e>
                      </m:d>
                      <m:r>
                        <a:rPr lang="en-PK" i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PK" i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ctrlPr>
                            <a:rPr lang="en-PK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i="1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i="1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PK" i="1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PK" i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ctrlPr>
                            <a:rPr lang="en-PK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i="1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i="1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PK" i="1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PK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r>
                  <a:rPr lang="en-US" b="0" u="none" strike="noStrike" baseline="0" dirty="0">
                    <a:latin typeface="CMTI10"/>
                  </a:rPr>
                  <a:t>This is called </a:t>
                </a:r>
                <a:r>
                  <a:rPr lang="en-US" b="0" u="none" strike="noStrike" baseline="0" dirty="0">
                    <a:solidFill>
                      <a:srgbClr val="FF0000"/>
                    </a:solidFill>
                    <a:latin typeface="CMTI10"/>
                  </a:rPr>
                  <a:t>variance impurity</a:t>
                </a:r>
              </a:p>
              <a:p>
                <a:pPr algn="l"/>
                <a:endParaRPr lang="en-US" b="0" i="0" u="none" strike="noStrike" baseline="0" dirty="0">
                  <a:latin typeface="CMR10"/>
                </a:endParaRPr>
              </a:p>
              <a:p>
                <a:endParaRPr lang="en-US" sz="4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A78206B-CD3B-4041-AFCB-EEABEBAA66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61827C-F489-4B93-9B88-C734EC219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3/30/2022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80957D-FC05-4CD6-BF04-F55956B1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39F0C-EE8F-41E0-A1A9-9524488BF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5EE8382-7F9F-4DBF-B87A-C0E8E2267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</p:spTree>
    <p:extLst>
      <p:ext uri="{BB962C8B-B14F-4D97-AF65-F5344CB8AC3E}">
        <p14:creationId xmlns:p14="http://schemas.microsoft.com/office/powerpoint/2010/main" val="9522375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1FFC4C8-1681-4F31-AD1F-B248CFB13C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l"/>
                <a:r>
                  <a:rPr lang="en-US" strike="noStrike" baseline="0" dirty="0">
                    <a:latin typeface="CMR10"/>
                  </a:rPr>
                  <a:t>Variance impurity can be generalized to </a:t>
                </a:r>
                <a:r>
                  <a:rPr lang="en-US" strike="noStrike" baseline="0" dirty="0">
                    <a:solidFill>
                      <a:srgbClr val="FF0000"/>
                    </a:solidFill>
                    <a:latin typeface="CMR10"/>
                  </a:rPr>
                  <a:t>two or more categories</a:t>
                </a:r>
                <a:r>
                  <a:rPr lang="en-US" dirty="0">
                    <a:solidFill>
                      <a:srgbClr val="FF0000"/>
                    </a:solidFill>
                    <a:latin typeface="CMR10"/>
                  </a:rPr>
                  <a:t> as</a:t>
                </a:r>
                <a:r>
                  <a:rPr lang="en-US" dirty="0">
                    <a:latin typeface="CMR1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PK" b="0" i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i</m:t>
                      </m:r>
                      <m:r>
                        <a:rPr lang="en-PK" b="0" i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PK" b="0" i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N</m:t>
                      </m:r>
                      <m:r>
                        <a:rPr lang="en-PK" b="0" i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PK" b="0" i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i</m:t>
                          </m:r>
                          <m:r>
                            <a:rPr lang="en-PK" b="0" i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≠</m:t>
                          </m:r>
                          <m:r>
                            <m:rPr>
                              <m:sty m:val="p"/>
                            </m:rPr>
                            <a:rPr lang="en-PK" b="0" i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j</m:t>
                          </m:r>
                        </m:sub>
                        <m:sup/>
                        <m:e>
                          <m:r>
                            <a:rPr lang="en-PK" b="0" i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 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PK" b="0" i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P</m:t>
                      </m:r>
                      <m:d>
                        <m:d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PK" b="0" i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PK" b="0" i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PK" b="0" i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P</m:t>
                      </m:r>
                      <m:d>
                        <m:d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PK" b="0" i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PK" b="0" i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a:rPr lang="en-PK" b="0" i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PK" b="0" i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j</m:t>
                          </m:r>
                        </m:sub>
                        <m:sup/>
                        <m:e>
                          <m:r>
                            <a:rPr lang="en-PK" b="0" i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 </m:t>
                          </m:r>
                        </m:e>
                      </m:nary>
                      <m:sSup>
                        <m:sSup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PK" b="0" i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P</m:t>
                          </m:r>
                        </m:e>
                        <m:sup>
                          <m:r>
                            <a:rPr lang="en-PK" b="0" i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PK" b="0" i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PK" b="0" i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K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US" dirty="0">
                    <a:latin typeface="CMR10"/>
                  </a:rPr>
                  <a:t>This is called </a:t>
                </a:r>
                <a:r>
                  <a:rPr lang="en-US" strike="noStrike" baseline="0" dirty="0">
                    <a:solidFill>
                      <a:srgbClr val="FF0000"/>
                    </a:solidFill>
                    <a:latin typeface="CMTI10"/>
                  </a:rPr>
                  <a:t>Gini impurity</a:t>
                </a:r>
                <a:endParaRPr lang="en-US" strike="noStrike" baseline="0" dirty="0">
                  <a:solidFill>
                    <a:srgbClr val="FF0000"/>
                  </a:solidFill>
                  <a:latin typeface="CMR10"/>
                </a:endParaRPr>
              </a:p>
              <a:p>
                <a:pPr algn="l"/>
                <a:r>
                  <a:rPr lang="en-US" strike="noStrike" baseline="0" dirty="0">
                    <a:latin typeface="CMR10"/>
                  </a:rPr>
                  <a:t>It give </a:t>
                </a:r>
                <a:r>
                  <a:rPr lang="en-US" strike="noStrike" baseline="0" dirty="0">
                    <a:solidFill>
                      <a:srgbClr val="07AE77"/>
                    </a:solidFill>
                    <a:latin typeface="CMR10"/>
                  </a:rPr>
                  <a:t>expected error rate </a:t>
                </a:r>
                <a:r>
                  <a:rPr lang="en-US" strike="noStrike" baseline="0" dirty="0">
                    <a:latin typeface="CMR10"/>
                  </a:rPr>
                  <a:t>at node </a:t>
                </a:r>
                <a:r>
                  <a:rPr lang="en-US" strike="noStrike" baseline="0" dirty="0">
                    <a:latin typeface="CMMI10"/>
                  </a:rPr>
                  <a:t>N for random selection of feature.</a:t>
                </a:r>
              </a:p>
              <a:p>
                <a:r>
                  <a:rPr lang="en-US" dirty="0"/>
                  <a:t>It will be </a:t>
                </a:r>
                <a:r>
                  <a:rPr lang="en-US" dirty="0">
                    <a:solidFill>
                      <a:srgbClr val="00B0F0"/>
                    </a:solidFill>
                  </a:rPr>
                  <a:t>maximum for classes with equal probabilities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1FFC4C8-1681-4F31-AD1F-B248CFB13C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741" b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0570B6-ECFC-425D-8058-2E6E2DFF1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3/30/2022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60CFE-2519-44CC-89E2-8C540DA49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29D53-C2DE-42FB-911E-9B914FA5B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B93F0C-D842-432B-87C3-D1701E252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</p:spTree>
    <p:extLst>
      <p:ext uri="{BB962C8B-B14F-4D97-AF65-F5344CB8AC3E}">
        <p14:creationId xmlns:p14="http://schemas.microsoft.com/office/powerpoint/2010/main" val="166153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A891196-D921-444F-9F41-992B8C9A1E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i="0" u="none" strike="noStrike" baseline="0" dirty="0">
                    <a:latin typeface="CMR10"/>
                  </a:rPr>
                  <a:t>The </a:t>
                </a:r>
                <a:r>
                  <a:rPr lang="en-US" b="0" i="1" u="none" strike="noStrike" baseline="0" dirty="0">
                    <a:solidFill>
                      <a:srgbClr val="00B0F0"/>
                    </a:solidFill>
                    <a:latin typeface="CMTI10"/>
                  </a:rPr>
                  <a:t>misclassification impurity </a:t>
                </a:r>
                <a:r>
                  <a:rPr lang="en-US" b="0" i="0" u="none" strike="noStrike" baseline="0" dirty="0">
                    <a:latin typeface="CMR10"/>
                  </a:rPr>
                  <a:t>can be written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𝑖</m:t>
                      </m:r>
                      <m:r>
                        <a:rPr lang="en-PK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PK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𝑁</m:t>
                      </m:r>
                      <m:r>
                        <a:rPr lang="en-PK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)=1−</m:t>
                      </m:r>
                      <m:limLow>
                        <m:limLow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limLowPr>
                        <m:e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e>
                        <m:lim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𝑗</m:t>
                          </m:r>
                        </m:lim>
                      </m:limLow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 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K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US" b="0" i="0" u="none" strike="noStrike" baseline="0" dirty="0">
                    <a:latin typeface="CMR10"/>
                  </a:rPr>
                  <a:t>It measures the </a:t>
                </a:r>
                <a:r>
                  <a:rPr lang="en-US" b="0" i="0" u="none" strike="noStrike" baseline="0" dirty="0">
                    <a:solidFill>
                      <a:srgbClr val="00B0F0"/>
                    </a:solidFill>
                    <a:latin typeface="CMR10"/>
                  </a:rPr>
                  <a:t>minimum probability </a:t>
                </a:r>
                <a:r>
                  <a:rPr lang="en-US" b="0" i="0" u="none" strike="noStrike" baseline="0" dirty="0">
                    <a:latin typeface="CMR10"/>
                  </a:rPr>
                  <a:t>that a training pattern would be </a:t>
                </a:r>
                <a:r>
                  <a:rPr lang="en-US" b="0" i="0" u="none" strike="noStrike" baseline="0" dirty="0">
                    <a:solidFill>
                      <a:srgbClr val="00B0F0"/>
                    </a:solidFill>
                    <a:latin typeface="CMR10"/>
                  </a:rPr>
                  <a:t>misclassified at </a:t>
                </a:r>
                <a:r>
                  <a:rPr lang="en-US" b="0" i="1" u="none" strike="noStrike" baseline="0" dirty="0">
                    <a:solidFill>
                      <a:srgbClr val="00B0F0"/>
                    </a:solidFill>
                    <a:latin typeface="CMMI10"/>
                  </a:rPr>
                  <a:t>N</a:t>
                </a:r>
                <a:endParaRPr lang="en-US" b="0" i="0" u="none" strike="noStrike" baseline="0" dirty="0">
                  <a:solidFill>
                    <a:srgbClr val="00B0F0"/>
                  </a:solidFill>
                  <a:latin typeface="CMR1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A891196-D921-444F-9F41-992B8C9A1E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8EE5C-7751-4ADE-B820-00803FFA8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3/30/2022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B669B9-4CCB-453B-B5EC-7B0676E6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A7D655-48D6-4A83-B937-A18825F52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3045CAC-B92E-4FE9-B357-E03136BBD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</p:spTree>
    <p:extLst>
      <p:ext uri="{BB962C8B-B14F-4D97-AF65-F5344CB8AC3E}">
        <p14:creationId xmlns:p14="http://schemas.microsoft.com/office/powerpoint/2010/main" val="840208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279EE6A-6777-4889-B602-4173F3CD52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l"/>
                <a:r>
                  <a:rPr lang="en-US" sz="2800" dirty="0">
                    <a:latin typeface="CMR10"/>
                  </a:rPr>
                  <a:t>For </a:t>
                </a:r>
                <a:r>
                  <a:rPr lang="en-US" sz="2800" b="0" i="0" u="none" strike="noStrike" baseline="0" dirty="0">
                    <a:latin typeface="CMR10"/>
                  </a:rPr>
                  <a:t>node </a:t>
                </a:r>
                <a:r>
                  <a:rPr lang="en-US" sz="2800" b="0" i="1" u="none" strike="noStrike" baseline="0" dirty="0">
                    <a:latin typeface="CMMI10"/>
                  </a:rPr>
                  <a:t>N</a:t>
                </a:r>
                <a:r>
                  <a:rPr lang="en-US" sz="2800" b="0" i="0" u="none" strike="noStrike" baseline="0" dirty="0">
                    <a:latin typeface="CMR10"/>
                  </a:rPr>
                  <a:t>, what </a:t>
                </a:r>
                <a:r>
                  <a:rPr lang="en-US" sz="2800" b="0" i="0" u="none" strike="noStrike" baseline="0" dirty="0">
                    <a:solidFill>
                      <a:srgbClr val="FF0000"/>
                    </a:solidFill>
                    <a:latin typeface="CMR10"/>
                  </a:rPr>
                  <a:t>value </a:t>
                </a:r>
                <a:r>
                  <a:rPr lang="en-US" sz="2800" b="0" i="1" u="none" strike="noStrike" baseline="0" dirty="0">
                    <a:solidFill>
                      <a:srgbClr val="FF0000"/>
                    </a:solidFill>
                    <a:latin typeface="CMMI10"/>
                  </a:rPr>
                  <a:t>s </a:t>
                </a:r>
                <a:r>
                  <a:rPr lang="en-US" sz="2800" b="0" i="0" u="none" strike="noStrike" baseline="0" dirty="0">
                    <a:solidFill>
                      <a:srgbClr val="FF0000"/>
                    </a:solidFill>
                    <a:latin typeface="CMR10"/>
                  </a:rPr>
                  <a:t>should we choose for the property test </a:t>
                </a:r>
                <a:r>
                  <a:rPr lang="en-US" sz="2800" b="0" i="1" u="none" strike="noStrike" baseline="0" dirty="0">
                    <a:solidFill>
                      <a:srgbClr val="FF0000"/>
                    </a:solidFill>
                    <a:latin typeface="CMMI10"/>
                  </a:rPr>
                  <a:t>T</a:t>
                </a:r>
                <a:r>
                  <a:rPr lang="en-US" sz="2800" b="0" i="0" u="none" strike="noStrike" baseline="0" dirty="0">
                    <a:latin typeface="CMR10"/>
                  </a:rPr>
                  <a:t>? </a:t>
                </a:r>
              </a:p>
              <a:p>
                <a:pPr algn="l"/>
                <a:r>
                  <a:rPr lang="en-US" sz="2800" b="0" i="0" u="none" strike="noStrike" baseline="0" dirty="0">
                    <a:latin typeface="CMR10"/>
                  </a:rPr>
                  <a:t>Choose the test that </a:t>
                </a:r>
                <a:r>
                  <a:rPr lang="en-US" sz="2800" b="0" i="0" u="none" strike="noStrike" baseline="0" dirty="0">
                    <a:solidFill>
                      <a:srgbClr val="FF0000"/>
                    </a:solidFill>
                    <a:latin typeface="CMR10"/>
                  </a:rPr>
                  <a:t>decreases the impurity</a:t>
                </a:r>
                <a:r>
                  <a:rPr lang="en-US" sz="2800" b="0" i="0" u="none" strike="noStrike" baseline="0" dirty="0">
                    <a:latin typeface="CMR10"/>
                  </a:rPr>
                  <a:t>. </a:t>
                </a:r>
              </a:p>
              <a:p>
                <a:pPr algn="l"/>
                <a:r>
                  <a:rPr lang="en-US" sz="2800" b="0" i="0" u="none" strike="noStrike" baseline="0" dirty="0">
                    <a:latin typeface="CMR10"/>
                  </a:rPr>
                  <a:t>The decrease in impurity is calculated as:</a:t>
                </a:r>
              </a:p>
              <a:p>
                <a:pPr algn="l"/>
                <a:endParaRPr lang="en-US" sz="2800" b="0" i="0" u="none" strike="noStrike" baseline="0" dirty="0">
                  <a:latin typeface="CMR1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PK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Δ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𝑖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𝑁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)=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𝑖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𝑁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)−</m:t>
                      </m:r>
                      <m:sSub>
                        <m:sSub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𝐿</m:t>
                          </m:r>
                        </m:sub>
                      </m:sSub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𝑖</m:t>
                      </m:r>
                      <m:d>
                        <m:d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−</m:t>
                      </m:r>
                      <m:d>
                        <m:d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𝑖</m:t>
                      </m:r>
                      <m:d>
                        <m:d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K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n-US" sz="2400" b="0" i="1" u="none" strike="noStrike" baseline="0" dirty="0">
                  <a:latin typeface="CMMI10"/>
                </a:endParaRPr>
              </a:p>
              <a:p>
                <a:pPr algn="l"/>
                <a:r>
                  <a:rPr lang="en-US" sz="2400" b="0" i="1" u="none" strike="noStrike" baseline="0" dirty="0">
                    <a:latin typeface="CMMI10"/>
                  </a:rPr>
                  <a:t>N</a:t>
                </a:r>
                <a:r>
                  <a:rPr lang="en-US" sz="2400" b="0" i="1" u="none" strike="noStrike" baseline="0" dirty="0">
                    <a:latin typeface="CMMI7"/>
                  </a:rPr>
                  <a:t>L </a:t>
                </a:r>
                <a:r>
                  <a:rPr lang="en-US" sz="2400" b="0" i="0" u="none" strike="noStrike" baseline="0" dirty="0">
                    <a:latin typeface="CMR10"/>
                  </a:rPr>
                  <a:t>and </a:t>
                </a:r>
                <a:r>
                  <a:rPr lang="en-US" sz="2400" b="0" i="1" u="none" strike="noStrike" baseline="0" dirty="0">
                    <a:latin typeface="CMMI10"/>
                  </a:rPr>
                  <a:t>N</a:t>
                </a:r>
                <a:r>
                  <a:rPr lang="en-US" sz="2400" b="0" i="1" u="none" strike="noStrike" baseline="0" dirty="0">
                    <a:latin typeface="CMMI7"/>
                  </a:rPr>
                  <a:t>R </a:t>
                </a:r>
                <a:r>
                  <a:rPr lang="en-US" sz="2400" b="0" i="0" u="none" strike="noStrike" baseline="0" dirty="0">
                    <a:latin typeface="CMR10"/>
                  </a:rPr>
                  <a:t>are the left and right descendent nodes, </a:t>
                </a:r>
              </a:p>
              <a:p>
                <a:pPr algn="l"/>
                <a:r>
                  <a:rPr lang="en-US" sz="2400" b="0" i="1" u="none" strike="noStrike" baseline="0" dirty="0" err="1">
                    <a:latin typeface="CMMI10"/>
                  </a:rPr>
                  <a:t>i</a:t>
                </a:r>
                <a:r>
                  <a:rPr lang="en-US" sz="2400" b="0" i="0" u="none" strike="noStrike" baseline="0" dirty="0">
                    <a:latin typeface="CMR10"/>
                  </a:rPr>
                  <a:t>(</a:t>
                </a:r>
                <a:r>
                  <a:rPr lang="en-US" sz="2400" b="0" i="1" u="none" strike="noStrike" baseline="0" dirty="0">
                    <a:latin typeface="CMMI10"/>
                  </a:rPr>
                  <a:t>N</a:t>
                </a:r>
                <a:r>
                  <a:rPr lang="en-US" sz="2400" b="0" i="1" u="none" strike="noStrike" baseline="-25000" dirty="0">
                    <a:latin typeface="CMMI7"/>
                  </a:rPr>
                  <a:t>L</a:t>
                </a:r>
                <a:r>
                  <a:rPr lang="en-US" sz="2400" b="0" i="0" u="none" strike="noStrike" baseline="0" dirty="0">
                    <a:latin typeface="CMR10"/>
                  </a:rPr>
                  <a:t>) and </a:t>
                </a:r>
                <a:r>
                  <a:rPr lang="en-US" sz="2400" b="0" i="1" u="none" strike="noStrike" baseline="0" dirty="0" err="1">
                    <a:latin typeface="CMMI10"/>
                  </a:rPr>
                  <a:t>i</a:t>
                </a:r>
                <a:r>
                  <a:rPr lang="en-US" sz="2400" b="0" i="0" u="none" strike="noStrike" baseline="0" dirty="0">
                    <a:latin typeface="CMR10"/>
                  </a:rPr>
                  <a:t>(</a:t>
                </a:r>
                <a:r>
                  <a:rPr lang="en-US" sz="2400" b="0" i="1" u="none" strike="noStrike" baseline="0" dirty="0">
                    <a:latin typeface="CMMI10"/>
                  </a:rPr>
                  <a:t>N</a:t>
                </a:r>
                <a:r>
                  <a:rPr lang="en-US" sz="2400" b="0" i="1" u="none" strike="noStrike" baseline="-25000" dirty="0">
                    <a:latin typeface="CMMI7"/>
                  </a:rPr>
                  <a:t>R</a:t>
                </a:r>
                <a:r>
                  <a:rPr lang="en-US" sz="2400" b="0" i="0" u="none" strike="noStrike" baseline="0" dirty="0">
                    <a:latin typeface="CMR10"/>
                  </a:rPr>
                  <a:t>) their impurities</a:t>
                </a:r>
              </a:p>
              <a:p>
                <a:pPr algn="l"/>
                <a:r>
                  <a:rPr lang="en-US" sz="2400" b="0" i="1" u="none" strike="noStrike" baseline="0" dirty="0">
                    <a:latin typeface="CMMI10"/>
                  </a:rPr>
                  <a:t>P</a:t>
                </a:r>
                <a:r>
                  <a:rPr lang="en-US" sz="2400" b="0" i="1" u="none" strike="noStrike" baseline="-25000" dirty="0">
                    <a:latin typeface="CMMI7"/>
                  </a:rPr>
                  <a:t>L</a:t>
                </a:r>
                <a:r>
                  <a:rPr lang="en-US" sz="2400" b="0" i="1" u="none" strike="noStrike" baseline="0" dirty="0">
                    <a:latin typeface="CMMI7"/>
                  </a:rPr>
                  <a:t> </a:t>
                </a:r>
                <a:r>
                  <a:rPr lang="en-US" sz="2400" b="0" i="0" u="none" strike="noStrike" baseline="0" dirty="0">
                    <a:latin typeface="CMR10"/>
                  </a:rPr>
                  <a:t>is the fraction of patterns at node </a:t>
                </a:r>
                <a:r>
                  <a:rPr lang="en-US" sz="2400" b="0" i="1" u="none" strike="noStrike" baseline="0" dirty="0">
                    <a:latin typeface="CMMI10"/>
                  </a:rPr>
                  <a:t>N </a:t>
                </a:r>
                <a:r>
                  <a:rPr lang="en-US" sz="2400" b="0" i="0" u="none" strike="noStrike" baseline="0" dirty="0">
                    <a:latin typeface="CMR10"/>
                  </a:rPr>
                  <a:t>that will go to </a:t>
                </a:r>
                <a:r>
                  <a:rPr lang="en-US" sz="2400" b="0" i="1" u="none" strike="noStrike" baseline="0" dirty="0">
                    <a:latin typeface="CMMI10"/>
                  </a:rPr>
                  <a:t>N</a:t>
                </a:r>
                <a:r>
                  <a:rPr lang="en-US" sz="2400" b="0" i="1" u="none" strike="noStrike" baseline="-25000" dirty="0">
                    <a:latin typeface="CMMI7"/>
                  </a:rPr>
                  <a:t>L</a:t>
                </a:r>
                <a:endParaRPr lang="en-US" sz="2400" b="0" i="0" u="none" strike="noStrike" baseline="-25000" dirty="0">
                  <a:latin typeface="CMMI1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279EE6A-6777-4889-B602-4173F3CD52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DDE29B-0AB7-49E6-A138-059917F65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3/30/2022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138CC9-2A6D-47DE-961F-878315C3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46D87-1018-4CD3-902F-8B749D86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AF5F5AF-C775-4ACA-AF95-9FF06A3AA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</p:spTree>
    <p:extLst>
      <p:ext uri="{BB962C8B-B14F-4D97-AF65-F5344CB8AC3E}">
        <p14:creationId xmlns:p14="http://schemas.microsoft.com/office/powerpoint/2010/main" val="40018078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451F11-1A79-4878-BD6B-B8BF6260D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3, Machine Learning, Tom Mitchell</a:t>
            </a:r>
          </a:p>
          <a:p>
            <a:r>
              <a:rPr lang="en-US" dirty="0">
                <a:hlinkClick r:id="rId2"/>
              </a:rPr>
              <a:t>http://cs229.stanford.edu/notes2021spring</a:t>
            </a:r>
            <a:endParaRPr lang="en-US" dirty="0"/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E980EE-E49A-432C-9A0E-21147F21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B48DCE-46ED-4FCE-A81D-B65C35EF3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CC449-682A-4E74-B776-CD27622066FE}" type="datetime1">
              <a:rPr lang="en-US" smtClean="0"/>
              <a:t>3/30/2022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0F90D-8F13-421E-8B83-A7E30BD03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33FBBB-D9A7-4725-8EA4-AC9CA4F4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41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152" y="2866671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/>
          <p:cNvSpPr/>
          <p:nvPr/>
        </p:nvSpPr>
        <p:spPr>
          <a:xfrm>
            <a:off x="202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1D60B6-C4AB-4FCE-A7D0-FA402B4CC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0F2CA-75F1-453F-B7B2-A16A5B6D932D}" type="datetime1">
              <a:rPr lang="en-US" smtClean="0"/>
              <a:t>3/30/2022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1114CE-420E-4172-B2B3-AF289C1C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F60BAE-FF99-448B-948D-19B928DA5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314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18255</TotalTime>
  <Words>1523</Words>
  <Application>Microsoft Office PowerPoint</Application>
  <PresentationFormat>On-screen Show (4:3)</PresentationFormat>
  <Paragraphs>372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5" baseType="lpstr">
      <vt:lpstr>arial</vt:lpstr>
      <vt:lpstr>arial</vt:lpstr>
      <vt:lpstr>Arial MT</vt:lpstr>
      <vt:lpstr>Calibri</vt:lpstr>
      <vt:lpstr>Cambria</vt:lpstr>
      <vt:lpstr>Cambria Math</vt:lpstr>
      <vt:lpstr>CMMI10</vt:lpstr>
      <vt:lpstr>CMMI7</vt:lpstr>
      <vt:lpstr>CMR10</vt:lpstr>
      <vt:lpstr>CMTI10</vt:lpstr>
      <vt:lpstr>Tahoma</vt:lpstr>
      <vt:lpstr>Times New Roman</vt:lpstr>
      <vt:lpstr>Trebuchet MS</vt:lpstr>
      <vt:lpstr>Wingdings</vt:lpstr>
      <vt:lpstr>Office Theme</vt:lpstr>
      <vt:lpstr>PowerPoint Presentation</vt:lpstr>
      <vt:lpstr>Goals</vt:lpstr>
      <vt:lpstr>Motivation</vt:lpstr>
      <vt:lpstr>Motivation</vt:lpstr>
      <vt:lpstr>Decision Trees</vt:lpstr>
      <vt:lpstr>Decision Trees</vt:lpstr>
      <vt:lpstr>Classification and Regression Trees (CART)</vt:lpstr>
      <vt:lpstr>Classification and Regression Trees (CART)</vt:lpstr>
      <vt:lpstr>ID3 Algorithm</vt:lpstr>
      <vt:lpstr>Choice 1 vs Choice 2:  Comparing split on  Credit vs Term</vt:lpstr>
      <vt:lpstr>Today’s Lecture</vt:lpstr>
      <vt:lpstr>Simple greedy decision tree learning</vt:lpstr>
      <vt:lpstr>Stopping condition 1: All data agrees on y</vt:lpstr>
      <vt:lpstr>Stopping condition 2: Already split on all features</vt:lpstr>
      <vt:lpstr>Greedy decision tree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Alternate Ways</vt:lpstr>
      <vt:lpstr>Decision Trees</vt:lpstr>
      <vt:lpstr>Decision Trees</vt:lpstr>
      <vt:lpstr>Decision Trees</vt:lpstr>
      <vt:lpstr>Decision Trees</vt:lpstr>
      <vt:lpstr>Decision Trees</vt:lpstr>
      <vt:lpstr>Decision Trees</vt:lpstr>
      <vt:lpstr>References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Akhtar JAMIL</cp:lastModifiedBy>
  <cp:revision>1698</cp:revision>
  <dcterms:created xsi:type="dcterms:W3CDTF">2006-08-16T00:00:00Z</dcterms:created>
  <dcterms:modified xsi:type="dcterms:W3CDTF">2022-03-30T13:44:23Z</dcterms:modified>
</cp:coreProperties>
</file>