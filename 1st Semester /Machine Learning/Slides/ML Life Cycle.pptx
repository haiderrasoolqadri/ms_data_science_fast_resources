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73" r:id="rId5"/>
    <p:sldId id="274" r:id="rId6"/>
    <p:sldId id="275" r:id="rId7"/>
    <p:sldId id="276" r:id="rId8"/>
    <p:sldId id="277" r:id="rId9"/>
    <p:sldId id="278" r:id="rId10"/>
    <p:sldId id="279" r:id="rId11"/>
    <p:sldId id="28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69"/>
  </p:normalViewPr>
  <p:slideViewPr>
    <p:cSldViewPr snapToGrid="0">
      <p:cViewPr varScale="1">
        <p:scale>
          <a:sx n="114" d="100"/>
          <a:sy n="114" d="100"/>
        </p:scale>
        <p:origin x="6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1/21/26</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1/21/26</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6DD1-07CA-A29C-338F-579794530EF3}"/>
              </a:ext>
            </a:extLst>
          </p:cNvPr>
          <p:cNvSpPr>
            <a:spLocks noGrp="1"/>
          </p:cNvSpPr>
          <p:nvPr>
            <p:ph type="title"/>
          </p:nvPr>
        </p:nvSpPr>
        <p:spPr/>
        <p:txBody>
          <a:bodyPr/>
          <a:lstStyle/>
          <a:p>
            <a:r>
              <a:rPr lang="en-US" dirty="0">
                <a:solidFill>
                  <a:srgbClr val="00D4D3"/>
                </a:solidFill>
              </a:rPr>
              <a:t>Machine Learning Lifecycle</a:t>
            </a:r>
          </a:p>
        </p:txBody>
      </p:sp>
      <p:pic>
        <p:nvPicPr>
          <p:cNvPr id="5122" name="Picture 2" descr="Lightbox">
            <a:extLst>
              <a:ext uri="{FF2B5EF4-FFF2-40B4-BE49-F238E27FC236}">
                <a16:creationId xmlns:a16="http://schemas.microsoft.com/office/drawing/2014/main" id="{F6274E56-57DB-6DBD-5FA8-67914D224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1412875"/>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1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70178-F979-60AE-DFC5-F97ED5F97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A0B531-52AA-6F95-88B5-E467D1DD8D38}"/>
              </a:ext>
            </a:extLst>
          </p:cNvPr>
          <p:cNvSpPr>
            <a:spLocks noGrp="1"/>
          </p:cNvSpPr>
          <p:nvPr>
            <p:ph type="title"/>
          </p:nvPr>
        </p:nvSpPr>
        <p:spPr/>
        <p:txBody>
          <a:bodyPr/>
          <a:lstStyle/>
          <a:p>
            <a:r>
              <a:rPr lang="en-US" dirty="0">
                <a:solidFill>
                  <a:srgbClr val="00D4D3"/>
                </a:solidFill>
              </a:rPr>
              <a:t>Step 1: Problem Definition</a:t>
            </a:r>
          </a:p>
        </p:txBody>
      </p:sp>
      <p:sp>
        <p:nvSpPr>
          <p:cNvPr id="3" name="Content Placeholder 2">
            <a:extLst>
              <a:ext uri="{FF2B5EF4-FFF2-40B4-BE49-F238E27FC236}">
                <a16:creationId xmlns:a16="http://schemas.microsoft.com/office/drawing/2014/main" id="{FB82DFEF-3C5D-0AA1-5EF5-5D5E71146762}"/>
              </a:ext>
            </a:extLst>
          </p:cNvPr>
          <p:cNvSpPr>
            <a:spLocks noGrp="1"/>
          </p:cNvSpPr>
          <p:nvPr>
            <p:ph idx="1"/>
          </p:nvPr>
        </p:nvSpPr>
        <p:spPr/>
        <p:txBody>
          <a:bodyPr/>
          <a:lstStyle/>
          <a:p>
            <a:r>
              <a:rPr lang="en-US" dirty="0"/>
              <a:t>The first step is identifying and clearly defining the business problem. A well-framed problem provides the foundation for the entire lifecycle. Important things like project objectives, desired outcomes and the scope of the task are carefully designed during this stage.</a:t>
            </a:r>
          </a:p>
          <a:p>
            <a:pPr lvl="1"/>
            <a:r>
              <a:rPr lang="en-US" dirty="0"/>
              <a:t>Collaborate with stakeholders to understand business goals</a:t>
            </a:r>
          </a:p>
          <a:p>
            <a:pPr lvl="1"/>
            <a:r>
              <a:rPr lang="en-US" dirty="0"/>
              <a:t>Define project objectives, scope and success criteria</a:t>
            </a:r>
          </a:p>
          <a:p>
            <a:pPr lvl="1"/>
            <a:r>
              <a:rPr lang="en-US" dirty="0"/>
              <a:t>Ensure clarity in desired outcomes</a:t>
            </a:r>
            <a:endParaRPr lang="en-US" dirty="0">
              <a:solidFill>
                <a:srgbClr val="00D4D3"/>
              </a:solidFill>
            </a:endParaRPr>
          </a:p>
        </p:txBody>
      </p:sp>
    </p:spTree>
    <p:extLst>
      <p:ext uri="{BB962C8B-B14F-4D97-AF65-F5344CB8AC3E}">
        <p14:creationId xmlns:p14="http://schemas.microsoft.com/office/powerpoint/2010/main" val="245236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56D8-A6D5-7491-4C63-F80942701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4AC78-D0CD-1349-37A6-9956CD3C45E3}"/>
              </a:ext>
            </a:extLst>
          </p:cNvPr>
          <p:cNvSpPr>
            <a:spLocks noGrp="1"/>
          </p:cNvSpPr>
          <p:nvPr>
            <p:ph type="title"/>
          </p:nvPr>
        </p:nvSpPr>
        <p:spPr/>
        <p:txBody>
          <a:bodyPr/>
          <a:lstStyle/>
          <a:p>
            <a:r>
              <a:rPr lang="en-US" dirty="0">
                <a:solidFill>
                  <a:srgbClr val="00D4D3"/>
                </a:solidFill>
              </a:rPr>
              <a:t>Step 2: Data Collection</a:t>
            </a:r>
          </a:p>
        </p:txBody>
      </p:sp>
      <p:sp>
        <p:nvSpPr>
          <p:cNvPr id="3" name="Content Placeholder 2">
            <a:extLst>
              <a:ext uri="{FF2B5EF4-FFF2-40B4-BE49-F238E27FC236}">
                <a16:creationId xmlns:a16="http://schemas.microsoft.com/office/drawing/2014/main" id="{F8D0BF5C-BA57-3495-95B2-00C30056DBDA}"/>
              </a:ext>
            </a:extLst>
          </p:cNvPr>
          <p:cNvSpPr>
            <a:spLocks noGrp="1"/>
          </p:cNvSpPr>
          <p:nvPr>
            <p:ph idx="1"/>
          </p:nvPr>
        </p:nvSpPr>
        <p:spPr/>
        <p:txBody>
          <a:bodyPr>
            <a:normAutofit/>
          </a:bodyPr>
          <a:lstStyle/>
          <a:p>
            <a:r>
              <a:rPr lang="en-US" dirty="0"/>
              <a:t>Data Collection phase involves systematic collection of datasets that can be used as raw data to train model. The quality and variety of data directly affect the model’s performance.</a:t>
            </a:r>
          </a:p>
          <a:p>
            <a:r>
              <a:rPr lang="en-US" dirty="0"/>
              <a:t>Here are some basic features of Data Collection:</a:t>
            </a:r>
          </a:p>
          <a:p>
            <a:pPr lvl="1"/>
            <a:r>
              <a:rPr lang="en-US" dirty="0">
                <a:solidFill>
                  <a:srgbClr val="00D4D3"/>
                </a:solidFill>
              </a:rPr>
              <a:t>Relevance: </a:t>
            </a:r>
            <a:r>
              <a:rPr lang="en-US" dirty="0"/>
              <a:t>Collect data should be relevant to the defined problem and include necessary features.</a:t>
            </a:r>
          </a:p>
          <a:p>
            <a:pPr lvl="1"/>
            <a:r>
              <a:rPr lang="en-US" dirty="0">
                <a:solidFill>
                  <a:srgbClr val="00D4D3"/>
                </a:solidFill>
              </a:rPr>
              <a:t>Quality: </a:t>
            </a:r>
            <a:r>
              <a:rPr lang="en-US" dirty="0"/>
              <a:t>Ensure data quality by considering factors like accuracy and ethical use.</a:t>
            </a:r>
          </a:p>
          <a:p>
            <a:pPr lvl="1"/>
            <a:r>
              <a:rPr lang="en-US" dirty="0">
                <a:solidFill>
                  <a:srgbClr val="00D4D3"/>
                </a:solidFill>
              </a:rPr>
              <a:t>Quantity: </a:t>
            </a:r>
            <a:r>
              <a:rPr lang="en-US" dirty="0"/>
              <a:t>Gather sufficient data volume to train a robust model.</a:t>
            </a:r>
          </a:p>
          <a:p>
            <a:pPr lvl="1"/>
            <a:r>
              <a:rPr lang="en-US" dirty="0">
                <a:solidFill>
                  <a:srgbClr val="00D4D3"/>
                </a:solidFill>
              </a:rPr>
              <a:t>Diversity: </a:t>
            </a:r>
            <a:r>
              <a:rPr lang="en-US" dirty="0"/>
              <a:t>Include diverse datasets to capture a broad range of scenarios and patterns.</a:t>
            </a:r>
            <a:endParaRPr lang="en-US" dirty="0">
              <a:solidFill>
                <a:srgbClr val="00D4D3"/>
              </a:solidFill>
            </a:endParaRPr>
          </a:p>
        </p:txBody>
      </p:sp>
    </p:spTree>
    <p:extLst>
      <p:ext uri="{BB962C8B-B14F-4D97-AF65-F5344CB8AC3E}">
        <p14:creationId xmlns:p14="http://schemas.microsoft.com/office/powerpoint/2010/main" val="173617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33076-65FD-4732-F5D8-6F72A7519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A68F4-168B-DA9F-F40F-2A6EADD07A96}"/>
              </a:ext>
            </a:extLst>
          </p:cNvPr>
          <p:cNvSpPr>
            <a:spLocks noGrp="1"/>
          </p:cNvSpPr>
          <p:nvPr>
            <p:ph type="title"/>
          </p:nvPr>
        </p:nvSpPr>
        <p:spPr/>
        <p:txBody>
          <a:bodyPr/>
          <a:lstStyle/>
          <a:p>
            <a:r>
              <a:rPr lang="en-US" dirty="0">
                <a:solidFill>
                  <a:srgbClr val="00D4D3"/>
                </a:solidFill>
              </a:rPr>
              <a:t>Step 3: Data Cleaning and Preprocessing</a:t>
            </a:r>
          </a:p>
        </p:txBody>
      </p:sp>
      <p:sp>
        <p:nvSpPr>
          <p:cNvPr id="3" name="Content Placeholder 2">
            <a:extLst>
              <a:ext uri="{FF2B5EF4-FFF2-40B4-BE49-F238E27FC236}">
                <a16:creationId xmlns:a16="http://schemas.microsoft.com/office/drawing/2014/main" id="{557DC0C9-C39C-4E1C-9398-6111CA5FEE86}"/>
              </a:ext>
            </a:extLst>
          </p:cNvPr>
          <p:cNvSpPr>
            <a:spLocks noGrp="1"/>
          </p:cNvSpPr>
          <p:nvPr>
            <p:ph idx="1"/>
          </p:nvPr>
        </p:nvSpPr>
        <p:spPr/>
        <p:txBody>
          <a:bodyPr>
            <a:normAutofit/>
          </a:bodyPr>
          <a:lstStyle/>
          <a:p>
            <a:r>
              <a:rPr lang="en-US" dirty="0"/>
              <a:t>Raw data is often messy and unstructured and if we use this data directly to train then it can lead to poor accuracy. We need to do data cleaning and preprocessing which often involves:</a:t>
            </a:r>
          </a:p>
          <a:p>
            <a:pPr lvl="1"/>
            <a:r>
              <a:rPr lang="en-US" dirty="0"/>
              <a:t>Data Cleaning: Address issues such as missing values, outliers and inconsistencies in the data.</a:t>
            </a:r>
          </a:p>
          <a:p>
            <a:pPr lvl="1"/>
            <a:r>
              <a:rPr lang="en-US" dirty="0"/>
              <a:t>Data Preprocessing: Standardize formats, scale values and encode categorical variables for consistency.</a:t>
            </a:r>
          </a:p>
          <a:p>
            <a:pPr lvl="1"/>
            <a:r>
              <a:rPr lang="en-US" dirty="0"/>
              <a:t>Data Quality: Ensure that the data is well-organized and prepared for meaningful analysis.</a:t>
            </a:r>
            <a:endParaRPr lang="en-US" dirty="0">
              <a:solidFill>
                <a:srgbClr val="00D4D3"/>
              </a:solidFill>
            </a:endParaRPr>
          </a:p>
        </p:txBody>
      </p:sp>
    </p:spTree>
    <p:extLst>
      <p:ext uri="{BB962C8B-B14F-4D97-AF65-F5344CB8AC3E}">
        <p14:creationId xmlns:p14="http://schemas.microsoft.com/office/powerpoint/2010/main" val="990960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9C108-CE8C-A167-4AB6-033C95690B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E35B3-5C55-0627-EAA8-2F6951556D41}"/>
              </a:ext>
            </a:extLst>
          </p:cNvPr>
          <p:cNvSpPr>
            <a:spLocks noGrp="1"/>
          </p:cNvSpPr>
          <p:nvPr>
            <p:ph type="title"/>
          </p:nvPr>
        </p:nvSpPr>
        <p:spPr/>
        <p:txBody>
          <a:bodyPr/>
          <a:lstStyle/>
          <a:p>
            <a:r>
              <a:rPr lang="en-US" dirty="0">
                <a:solidFill>
                  <a:srgbClr val="00D4D3"/>
                </a:solidFill>
              </a:rPr>
              <a:t>Step 4: Exploratory Data Analysis (EDA)</a:t>
            </a:r>
          </a:p>
        </p:txBody>
      </p:sp>
      <p:sp>
        <p:nvSpPr>
          <p:cNvPr id="3" name="Content Placeholder 2">
            <a:extLst>
              <a:ext uri="{FF2B5EF4-FFF2-40B4-BE49-F238E27FC236}">
                <a16:creationId xmlns:a16="http://schemas.microsoft.com/office/drawing/2014/main" id="{2F8D520F-D96A-28F0-F50E-67C06BD62D4A}"/>
              </a:ext>
            </a:extLst>
          </p:cNvPr>
          <p:cNvSpPr>
            <a:spLocks noGrp="1"/>
          </p:cNvSpPr>
          <p:nvPr>
            <p:ph idx="1"/>
          </p:nvPr>
        </p:nvSpPr>
        <p:spPr/>
        <p:txBody>
          <a:bodyPr>
            <a:normAutofit/>
          </a:bodyPr>
          <a:lstStyle/>
          <a:p>
            <a:r>
              <a:rPr lang="en-US" dirty="0">
                <a:solidFill>
                  <a:srgbClr val="00D4D3"/>
                </a:solidFill>
              </a:rPr>
              <a:t>Exploration: </a:t>
            </a:r>
            <a:r>
              <a:rPr lang="en-US" dirty="0"/>
              <a:t>Use statistical and visual tools to explore patterns in data.</a:t>
            </a:r>
          </a:p>
          <a:p>
            <a:r>
              <a:rPr lang="en-US" dirty="0">
                <a:solidFill>
                  <a:srgbClr val="00D4D3"/>
                </a:solidFill>
              </a:rPr>
              <a:t>Patterns and Trends: </a:t>
            </a:r>
            <a:r>
              <a:rPr lang="en-US" dirty="0"/>
              <a:t>Identify underlying patterns, trends and potential challenges within the dataset.</a:t>
            </a:r>
          </a:p>
          <a:p>
            <a:r>
              <a:rPr lang="en-US" dirty="0">
                <a:solidFill>
                  <a:srgbClr val="00D4D3"/>
                </a:solidFill>
              </a:rPr>
              <a:t>Insights: </a:t>
            </a:r>
            <a:r>
              <a:rPr lang="en-US" dirty="0"/>
              <a:t>Gain valuable insights for informed decisions making in later stages.</a:t>
            </a:r>
          </a:p>
          <a:p>
            <a:r>
              <a:rPr lang="en-US" dirty="0">
                <a:solidFill>
                  <a:srgbClr val="00D4D3"/>
                </a:solidFill>
              </a:rPr>
              <a:t>Decision Making: </a:t>
            </a:r>
            <a:r>
              <a:rPr lang="en-US" dirty="0"/>
              <a:t>Use EDA for feature engineering and model selection.</a:t>
            </a:r>
            <a:endParaRPr lang="en-US" dirty="0">
              <a:solidFill>
                <a:srgbClr val="00D4D3"/>
              </a:solidFill>
            </a:endParaRPr>
          </a:p>
        </p:txBody>
      </p:sp>
    </p:spTree>
    <p:extLst>
      <p:ext uri="{BB962C8B-B14F-4D97-AF65-F5344CB8AC3E}">
        <p14:creationId xmlns:p14="http://schemas.microsoft.com/office/powerpoint/2010/main" val="1767093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E5B35-3956-93E8-164E-0676E6376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E4790E-2424-EC8B-A2C7-F7653A761E48}"/>
              </a:ext>
            </a:extLst>
          </p:cNvPr>
          <p:cNvSpPr>
            <a:spLocks noGrp="1"/>
          </p:cNvSpPr>
          <p:nvPr>
            <p:ph type="title"/>
          </p:nvPr>
        </p:nvSpPr>
        <p:spPr/>
        <p:txBody>
          <a:bodyPr/>
          <a:lstStyle/>
          <a:p>
            <a:r>
              <a:rPr lang="en-US" dirty="0">
                <a:solidFill>
                  <a:srgbClr val="00D4D3"/>
                </a:solidFill>
              </a:rPr>
              <a:t>Step 5: Feature Engineering and Selection</a:t>
            </a:r>
          </a:p>
        </p:txBody>
      </p:sp>
      <p:sp>
        <p:nvSpPr>
          <p:cNvPr id="3" name="Content Placeholder 2">
            <a:extLst>
              <a:ext uri="{FF2B5EF4-FFF2-40B4-BE49-F238E27FC236}">
                <a16:creationId xmlns:a16="http://schemas.microsoft.com/office/drawing/2014/main" id="{DC7E11FC-5E8C-3F0F-4ADA-20B2D102AB86}"/>
              </a:ext>
            </a:extLst>
          </p:cNvPr>
          <p:cNvSpPr>
            <a:spLocks noGrp="1"/>
          </p:cNvSpPr>
          <p:nvPr>
            <p:ph idx="1"/>
          </p:nvPr>
        </p:nvSpPr>
        <p:spPr/>
        <p:txBody>
          <a:bodyPr>
            <a:normAutofit lnSpcReduction="10000"/>
          </a:bodyPr>
          <a:lstStyle/>
          <a:p>
            <a:r>
              <a:rPr lang="en-US" dirty="0"/>
              <a:t>Feature engineering and selection is a transformative process that involve selecting only relevant features to enhance model efficiency and prediction while reducing complexity.</a:t>
            </a:r>
          </a:p>
          <a:p>
            <a:r>
              <a:rPr lang="en-US" dirty="0"/>
              <a:t>Here are the basic features of Feature Engineering and Selection:</a:t>
            </a:r>
          </a:p>
          <a:p>
            <a:pPr lvl="1"/>
            <a:r>
              <a:rPr lang="en-US" dirty="0">
                <a:solidFill>
                  <a:srgbClr val="00D4D3"/>
                </a:solidFill>
              </a:rPr>
              <a:t>Feature Engineering: </a:t>
            </a:r>
            <a:r>
              <a:rPr lang="en-US" dirty="0"/>
              <a:t>Create new features or transform existing ones to capture better patterns and relationships.</a:t>
            </a:r>
          </a:p>
          <a:p>
            <a:pPr lvl="1"/>
            <a:r>
              <a:rPr lang="en-US" dirty="0">
                <a:solidFill>
                  <a:srgbClr val="00D4D3"/>
                </a:solidFill>
              </a:rPr>
              <a:t>Feature Selection: </a:t>
            </a:r>
            <a:r>
              <a:rPr lang="en-US" dirty="0"/>
              <a:t>Identify subset of features that most significantly impact the model's performance.</a:t>
            </a:r>
          </a:p>
          <a:p>
            <a:pPr lvl="1"/>
            <a:r>
              <a:rPr lang="en-US" dirty="0">
                <a:solidFill>
                  <a:srgbClr val="00D4D3"/>
                </a:solidFill>
              </a:rPr>
              <a:t>Domain Expertise: </a:t>
            </a:r>
            <a:r>
              <a:rPr lang="en-US" dirty="0"/>
              <a:t>Use domain knowledge to engineer features that contribute meaningfully for prediction.</a:t>
            </a:r>
          </a:p>
          <a:p>
            <a:pPr lvl="1"/>
            <a:r>
              <a:rPr lang="en-US" dirty="0">
                <a:solidFill>
                  <a:srgbClr val="00D4D3"/>
                </a:solidFill>
              </a:rPr>
              <a:t>Optimization: </a:t>
            </a:r>
            <a:r>
              <a:rPr lang="en-US" dirty="0"/>
              <a:t>Balance set of features for accuracy while minimizing computational complexity.</a:t>
            </a:r>
            <a:endParaRPr lang="en-US" dirty="0">
              <a:solidFill>
                <a:srgbClr val="00D4D3"/>
              </a:solidFill>
            </a:endParaRPr>
          </a:p>
        </p:txBody>
      </p:sp>
    </p:spTree>
    <p:extLst>
      <p:ext uri="{BB962C8B-B14F-4D97-AF65-F5344CB8AC3E}">
        <p14:creationId xmlns:p14="http://schemas.microsoft.com/office/powerpoint/2010/main" val="4272481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A14A-5AD4-80FA-52AA-04F60F324B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3A799-DDB2-BFE6-8BB1-EAF905580293}"/>
              </a:ext>
            </a:extLst>
          </p:cNvPr>
          <p:cNvSpPr>
            <a:spLocks noGrp="1"/>
          </p:cNvSpPr>
          <p:nvPr>
            <p:ph type="title"/>
          </p:nvPr>
        </p:nvSpPr>
        <p:spPr/>
        <p:txBody>
          <a:bodyPr/>
          <a:lstStyle/>
          <a:p>
            <a:r>
              <a:rPr lang="en-US" dirty="0">
                <a:solidFill>
                  <a:srgbClr val="00D4D3"/>
                </a:solidFill>
              </a:rPr>
              <a:t>Step 6: Model Selection</a:t>
            </a:r>
          </a:p>
        </p:txBody>
      </p:sp>
      <p:sp>
        <p:nvSpPr>
          <p:cNvPr id="3" name="Content Placeholder 2">
            <a:extLst>
              <a:ext uri="{FF2B5EF4-FFF2-40B4-BE49-F238E27FC236}">
                <a16:creationId xmlns:a16="http://schemas.microsoft.com/office/drawing/2014/main" id="{60284520-F2F6-F4A8-CB59-0342CDAF845B}"/>
              </a:ext>
            </a:extLst>
          </p:cNvPr>
          <p:cNvSpPr>
            <a:spLocks noGrp="1"/>
          </p:cNvSpPr>
          <p:nvPr>
            <p:ph idx="1"/>
          </p:nvPr>
        </p:nvSpPr>
        <p:spPr/>
        <p:txBody>
          <a:bodyPr>
            <a:normAutofit/>
          </a:bodyPr>
          <a:lstStyle/>
          <a:p>
            <a:r>
              <a:rPr lang="en-US" dirty="0"/>
              <a:t>For a good machine learning model, model selection is a very important part as we need to find model that aligns with our defined problem, nature of the data, complexity of problem and the desired outcomes.</a:t>
            </a:r>
          </a:p>
          <a:p>
            <a:r>
              <a:rPr lang="en-US" dirty="0"/>
              <a:t>Here are the basic features of Model Selection:</a:t>
            </a:r>
          </a:p>
          <a:p>
            <a:pPr lvl="1"/>
            <a:r>
              <a:rPr lang="en-US" dirty="0">
                <a:solidFill>
                  <a:srgbClr val="00D4D3"/>
                </a:solidFill>
              </a:rPr>
              <a:t>Complexity:</a:t>
            </a:r>
            <a:r>
              <a:rPr lang="en-US" dirty="0"/>
              <a:t> Consider the complexity of the problem and the nature of the data when choosing a model.</a:t>
            </a:r>
          </a:p>
          <a:p>
            <a:pPr lvl="1"/>
            <a:r>
              <a:rPr lang="en-US" dirty="0">
                <a:solidFill>
                  <a:srgbClr val="00D4D3"/>
                </a:solidFill>
              </a:rPr>
              <a:t>Decision Factors: </a:t>
            </a:r>
            <a:r>
              <a:rPr lang="en-US" dirty="0"/>
              <a:t>Evaluate factors like performance, interpretability and scalability when selecting a model.</a:t>
            </a:r>
          </a:p>
          <a:p>
            <a:pPr lvl="1"/>
            <a:r>
              <a:rPr lang="en-US" dirty="0">
                <a:solidFill>
                  <a:srgbClr val="00D4D3"/>
                </a:solidFill>
              </a:rPr>
              <a:t>Experimentation: </a:t>
            </a:r>
            <a:r>
              <a:rPr lang="en-US" dirty="0"/>
              <a:t>Experiment with different models to find the best fit for the problem.</a:t>
            </a:r>
            <a:endParaRPr lang="en-US" dirty="0">
              <a:solidFill>
                <a:srgbClr val="00D4D3"/>
              </a:solidFill>
            </a:endParaRPr>
          </a:p>
        </p:txBody>
      </p:sp>
    </p:spTree>
    <p:extLst>
      <p:ext uri="{BB962C8B-B14F-4D97-AF65-F5344CB8AC3E}">
        <p14:creationId xmlns:p14="http://schemas.microsoft.com/office/powerpoint/2010/main" val="231867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93F3C-36F9-E994-A459-B2966D141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071C0-48C1-8464-C735-2B94DC65579A}"/>
              </a:ext>
            </a:extLst>
          </p:cNvPr>
          <p:cNvSpPr>
            <a:spLocks noGrp="1"/>
          </p:cNvSpPr>
          <p:nvPr>
            <p:ph type="title"/>
          </p:nvPr>
        </p:nvSpPr>
        <p:spPr/>
        <p:txBody>
          <a:bodyPr/>
          <a:lstStyle/>
          <a:p>
            <a:r>
              <a:rPr lang="en-US" dirty="0">
                <a:solidFill>
                  <a:srgbClr val="00D4D3"/>
                </a:solidFill>
              </a:rPr>
              <a:t>Step 7: Model Training</a:t>
            </a:r>
          </a:p>
        </p:txBody>
      </p:sp>
      <p:sp>
        <p:nvSpPr>
          <p:cNvPr id="3" name="Content Placeholder 2">
            <a:extLst>
              <a:ext uri="{FF2B5EF4-FFF2-40B4-BE49-F238E27FC236}">
                <a16:creationId xmlns:a16="http://schemas.microsoft.com/office/drawing/2014/main" id="{60935094-AF3B-B4C7-6197-9E1162F8ECD5}"/>
              </a:ext>
            </a:extLst>
          </p:cNvPr>
          <p:cNvSpPr>
            <a:spLocks noGrp="1"/>
          </p:cNvSpPr>
          <p:nvPr>
            <p:ph idx="1"/>
          </p:nvPr>
        </p:nvSpPr>
        <p:spPr/>
        <p:txBody>
          <a:bodyPr>
            <a:normAutofit/>
          </a:bodyPr>
          <a:lstStyle/>
          <a:p>
            <a:r>
              <a:rPr lang="en-US" dirty="0"/>
              <a:t>With the selected model the machine learning lifecycle moves to model training process. This process involves exposing model to historical data allowing it to learn patterns, relationships and dependencies within the dataset.</a:t>
            </a:r>
          </a:p>
          <a:p>
            <a:r>
              <a:rPr lang="en-US" dirty="0"/>
              <a:t>Here are the basic features of Model Training:</a:t>
            </a:r>
          </a:p>
          <a:p>
            <a:pPr lvl="1"/>
            <a:r>
              <a:rPr lang="en-US" dirty="0">
                <a:solidFill>
                  <a:srgbClr val="00D4D3"/>
                </a:solidFill>
              </a:rPr>
              <a:t>Iterative Process: </a:t>
            </a:r>
            <a:r>
              <a:rPr lang="en-US" dirty="0"/>
              <a:t>Train the model iteratively, adjusting parameters to minimize errors and enhance accuracy.</a:t>
            </a:r>
          </a:p>
          <a:p>
            <a:pPr lvl="1"/>
            <a:r>
              <a:rPr lang="en-US" dirty="0">
                <a:solidFill>
                  <a:srgbClr val="00D4D3"/>
                </a:solidFill>
              </a:rPr>
              <a:t>Optimization: </a:t>
            </a:r>
            <a:r>
              <a:rPr lang="en-US" dirty="0"/>
              <a:t>Fine-tune model to optimize its predictive capabilities.</a:t>
            </a:r>
          </a:p>
          <a:p>
            <a:pPr lvl="1"/>
            <a:r>
              <a:rPr lang="en-US" dirty="0">
                <a:solidFill>
                  <a:srgbClr val="00D4D3"/>
                </a:solidFill>
              </a:rPr>
              <a:t>Validation: </a:t>
            </a:r>
            <a:r>
              <a:rPr lang="en-US" dirty="0"/>
              <a:t>Rigorously train model to ensure accuracy to new unseen data.</a:t>
            </a:r>
            <a:endParaRPr lang="en-US" dirty="0">
              <a:solidFill>
                <a:srgbClr val="00D4D3"/>
              </a:solidFill>
            </a:endParaRPr>
          </a:p>
        </p:txBody>
      </p:sp>
    </p:spTree>
    <p:extLst>
      <p:ext uri="{BB962C8B-B14F-4D97-AF65-F5344CB8AC3E}">
        <p14:creationId xmlns:p14="http://schemas.microsoft.com/office/powerpoint/2010/main" val="54629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27F4-929B-3B91-395A-9B5A3495E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437735-6C31-22D2-E691-D9C76BE0108C}"/>
              </a:ext>
            </a:extLst>
          </p:cNvPr>
          <p:cNvSpPr>
            <a:spLocks noGrp="1"/>
          </p:cNvSpPr>
          <p:nvPr>
            <p:ph type="title"/>
          </p:nvPr>
        </p:nvSpPr>
        <p:spPr/>
        <p:txBody>
          <a:bodyPr/>
          <a:lstStyle/>
          <a:p>
            <a:r>
              <a:rPr lang="en-US" dirty="0">
                <a:solidFill>
                  <a:srgbClr val="00D4D3"/>
                </a:solidFill>
              </a:rPr>
              <a:t>Step 8: Model Evaluation and Tuning</a:t>
            </a:r>
          </a:p>
        </p:txBody>
      </p:sp>
      <p:sp>
        <p:nvSpPr>
          <p:cNvPr id="3" name="Content Placeholder 2">
            <a:extLst>
              <a:ext uri="{FF2B5EF4-FFF2-40B4-BE49-F238E27FC236}">
                <a16:creationId xmlns:a16="http://schemas.microsoft.com/office/drawing/2014/main" id="{30FD5631-61DD-C7A6-5A6E-CBF2EBFC79D1}"/>
              </a:ext>
            </a:extLst>
          </p:cNvPr>
          <p:cNvSpPr>
            <a:spLocks noGrp="1"/>
          </p:cNvSpPr>
          <p:nvPr>
            <p:ph idx="1"/>
          </p:nvPr>
        </p:nvSpPr>
        <p:spPr/>
        <p:txBody>
          <a:bodyPr>
            <a:normAutofit/>
          </a:bodyPr>
          <a:lstStyle/>
          <a:p>
            <a:r>
              <a:rPr lang="en-US" dirty="0">
                <a:solidFill>
                  <a:srgbClr val="00D4D3"/>
                </a:solidFill>
              </a:rPr>
              <a:t>Evaluation Metrics: </a:t>
            </a:r>
            <a:r>
              <a:rPr lang="en-US" dirty="0"/>
              <a:t>Use metrics like accuracy, precision, recall and F1 score to evaluate model performance.</a:t>
            </a:r>
          </a:p>
          <a:p>
            <a:r>
              <a:rPr lang="en-US" dirty="0">
                <a:solidFill>
                  <a:srgbClr val="00D4D3"/>
                </a:solidFill>
              </a:rPr>
              <a:t>Strengths and Weaknesses: </a:t>
            </a:r>
            <a:r>
              <a:rPr lang="en-US" dirty="0"/>
              <a:t>Identify the strengths and weaknesses of the model through rigorous testing.</a:t>
            </a:r>
          </a:p>
          <a:p>
            <a:r>
              <a:rPr lang="en-US" dirty="0">
                <a:solidFill>
                  <a:srgbClr val="00D4D3"/>
                </a:solidFill>
              </a:rPr>
              <a:t>Iterative Improvement: </a:t>
            </a:r>
            <a:r>
              <a:rPr lang="en-US" dirty="0"/>
              <a:t>Initiate model tuning to adjust hyperparameters and enhance predictive accuracy.</a:t>
            </a:r>
          </a:p>
          <a:p>
            <a:r>
              <a:rPr lang="en-US" dirty="0">
                <a:solidFill>
                  <a:srgbClr val="00D4D3"/>
                </a:solidFill>
              </a:rPr>
              <a:t>Model Robustness: </a:t>
            </a:r>
            <a:r>
              <a:rPr lang="en-US" dirty="0"/>
              <a:t>Iterative tuning to achieve desired levels of model robustness and reliability.</a:t>
            </a:r>
            <a:endParaRPr lang="en-US" dirty="0">
              <a:solidFill>
                <a:srgbClr val="00D4D3"/>
              </a:solidFill>
            </a:endParaRPr>
          </a:p>
        </p:txBody>
      </p:sp>
    </p:spTree>
    <p:extLst>
      <p:ext uri="{BB962C8B-B14F-4D97-AF65-F5344CB8AC3E}">
        <p14:creationId xmlns:p14="http://schemas.microsoft.com/office/powerpoint/2010/main" val="1748915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25D88-056C-A2AE-A842-8CD997E455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A9808C-85A0-0AE1-F9A5-52B3A2C7F8EE}"/>
              </a:ext>
            </a:extLst>
          </p:cNvPr>
          <p:cNvSpPr>
            <a:spLocks noGrp="1"/>
          </p:cNvSpPr>
          <p:nvPr>
            <p:ph type="title"/>
          </p:nvPr>
        </p:nvSpPr>
        <p:spPr/>
        <p:txBody>
          <a:bodyPr/>
          <a:lstStyle/>
          <a:p>
            <a:r>
              <a:rPr lang="en-US" dirty="0">
                <a:solidFill>
                  <a:srgbClr val="00D4D3"/>
                </a:solidFill>
              </a:rPr>
              <a:t>Step 8: Model Evaluation and Tuning</a:t>
            </a:r>
          </a:p>
        </p:txBody>
      </p:sp>
      <p:sp>
        <p:nvSpPr>
          <p:cNvPr id="3" name="Content Placeholder 2">
            <a:extLst>
              <a:ext uri="{FF2B5EF4-FFF2-40B4-BE49-F238E27FC236}">
                <a16:creationId xmlns:a16="http://schemas.microsoft.com/office/drawing/2014/main" id="{5A8BDDE4-58BD-46F7-624E-95370BBE8C0C}"/>
              </a:ext>
            </a:extLst>
          </p:cNvPr>
          <p:cNvSpPr>
            <a:spLocks noGrp="1"/>
          </p:cNvSpPr>
          <p:nvPr>
            <p:ph idx="1"/>
          </p:nvPr>
        </p:nvSpPr>
        <p:spPr/>
        <p:txBody>
          <a:bodyPr>
            <a:normAutofit/>
          </a:bodyPr>
          <a:lstStyle/>
          <a:p>
            <a:r>
              <a:rPr lang="en-US" dirty="0">
                <a:solidFill>
                  <a:srgbClr val="00D4D3"/>
                </a:solidFill>
              </a:rPr>
              <a:t>Evaluation Metrics: </a:t>
            </a:r>
            <a:r>
              <a:rPr lang="en-US" dirty="0"/>
              <a:t>Use metrics like accuracy, precision, recall and F1 score to evaluate model performance.</a:t>
            </a:r>
          </a:p>
          <a:p>
            <a:r>
              <a:rPr lang="en-US" dirty="0">
                <a:solidFill>
                  <a:srgbClr val="00D4D3"/>
                </a:solidFill>
              </a:rPr>
              <a:t>Strengths and Weaknesses: </a:t>
            </a:r>
            <a:r>
              <a:rPr lang="en-US" dirty="0"/>
              <a:t>Identify the strengths and weaknesses of the model through rigorous testing.</a:t>
            </a:r>
          </a:p>
          <a:p>
            <a:r>
              <a:rPr lang="en-US" dirty="0">
                <a:solidFill>
                  <a:srgbClr val="00D4D3"/>
                </a:solidFill>
              </a:rPr>
              <a:t>Iterative Improvement: </a:t>
            </a:r>
            <a:r>
              <a:rPr lang="en-US" dirty="0"/>
              <a:t>Initiate model tuning to adjust hyperparameters and enhance predictive accuracy.</a:t>
            </a:r>
          </a:p>
          <a:p>
            <a:r>
              <a:rPr lang="en-US" dirty="0">
                <a:solidFill>
                  <a:srgbClr val="00D4D3"/>
                </a:solidFill>
              </a:rPr>
              <a:t>Model Robustness: </a:t>
            </a:r>
            <a:r>
              <a:rPr lang="en-US" dirty="0"/>
              <a:t>Iterative tuning to achieve desired levels of model robustness and reliability.</a:t>
            </a:r>
            <a:endParaRPr lang="en-US" dirty="0">
              <a:solidFill>
                <a:srgbClr val="00D4D3"/>
              </a:solidFill>
            </a:endParaRPr>
          </a:p>
        </p:txBody>
      </p:sp>
    </p:spTree>
    <p:extLst>
      <p:ext uri="{BB962C8B-B14F-4D97-AF65-F5344CB8AC3E}">
        <p14:creationId xmlns:p14="http://schemas.microsoft.com/office/powerpoint/2010/main" val="1228680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773</Words>
  <Application>Microsoft Macintosh PowerPoint</Application>
  <PresentationFormat>Widescreen</PresentationFormat>
  <Paragraphs>53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Machine Learning Lifecycle</vt:lpstr>
      <vt:lpstr>Step 1: Problem Definition</vt:lpstr>
      <vt:lpstr>Step 2: Data Collection</vt:lpstr>
      <vt:lpstr>Step 3: Data Cleaning and Preprocessing</vt:lpstr>
      <vt:lpstr>Step 4: Exploratory Data Analysis (EDA)</vt:lpstr>
      <vt:lpstr>Step 5: Feature Engineering and Selection</vt:lpstr>
      <vt:lpstr>Step 6: Model Selection</vt:lpstr>
      <vt:lpstr>Step 7: Model Training</vt:lpstr>
      <vt:lpstr>Step 8: Model Evaluation and Tuning</vt:lpstr>
      <vt:lpstr>Step 8: Model Evaluation and Tuning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5</cp:revision>
  <dcterms:created xsi:type="dcterms:W3CDTF">2025-09-16T08:21:32Z</dcterms:created>
  <dcterms:modified xsi:type="dcterms:W3CDTF">2026-01-21T17:23:16Z</dcterms:modified>
</cp:coreProperties>
</file>