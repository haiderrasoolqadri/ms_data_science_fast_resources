
<file path=[Content_Types].xml><?xml version="1.0" encoding="utf-8"?>
<Types xmlns="http://schemas.openxmlformats.org/package/2006/content-types">
  <Default Extension="emf" ContentType="image/x-emf"/>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napToGrid="0">
      <p:cViewPr varScale="1">
        <p:scale>
          <a:sx n="121" d="100"/>
          <a:sy n="121" d="100"/>
        </p:scale>
        <p:origin x="42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2EA759-B7D2-4F05-BBDC-97360EA95BB4}" type="datetimeFigureOut">
              <a:rPr lang="en-US" smtClean="0"/>
              <a:t>1/28/26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7D9DB2-3F00-4247-8D43-1B92D7FBE23B}" type="slidenum">
              <a:rPr lang="en-US" smtClean="0"/>
              <a:t>‹#›</a:t>
            </a:fld>
            <a:endParaRPr lang="en-US"/>
          </a:p>
        </p:txBody>
      </p:sp>
    </p:spTree>
    <p:extLst>
      <p:ext uri="{BB962C8B-B14F-4D97-AF65-F5344CB8AC3E}">
        <p14:creationId xmlns:p14="http://schemas.microsoft.com/office/powerpoint/2010/main" val="1703524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2</a:t>
            </a:fld>
            <a:endParaRPr lang="en-US"/>
          </a:p>
        </p:txBody>
      </p:sp>
    </p:spTree>
    <p:extLst>
      <p:ext uri="{BB962C8B-B14F-4D97-AF65-F5344CB8AC3E}">
        <p14:creationId xmlns:p14="http://schemas.microsoft.com/office/powerpoint/2010/main" val="1211806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3</a:t>
            </a:fld>
            <a:endParaRPr lang="en-US"/>
          </a:p>
        </p:txBody>
      </p:sp>
    </p:spTree>
    <p:extLst>
      <p:ext uri="{BB962C8B-B14F-4D97-AF65-F5344CB8AC3E}">
        <p14:creationId xmlns:p14="http://schemas.microsoft.com/office/powerpoint/2010/main" val="1137387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4</a:t>
            </a:fld>
            <a:endParaRPr lang="en-US"/>
          </a:p>
        </p:txBody>
      </p:sp>
    </p:spTree>
    <p:extLst>
      <p:ext uri="{BB962C8B-B14F-4D97-AF65-F5344CB8AC3E}">
        <p14:creationId xmlns:p14="http://schemas.microsoft.com/office/powerpoint/2010/main" val="2378334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5</a:t>
            </a:fld>
            <a:endParaRPr lang="en-US"/>
          </a:p>
        </p:txBody>
      </p:sp>
    </p:spTree>
    <p:extLst>
      <p:ext uri="{BB962C8B-B14F-4D97-AF65-F5344CB8AC3E}">
        <p14:creationId xmlns:p14="http://schemas.microsoft.com/office/powerpoint/2010/main" val="3189189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6</a:t>
            </a:fld>
            <a:endParaRPr lang="en-US"/>
          </a:p>
        </p:txBody>
      </p:sp>
    </p:spTree>
    <p:extLst>
      <p:ext uri="{BB962C8B-B14F-4D97-AF65-F5344CB8AC3E}">
        <p14:creationId xmlns:p14="http://schemas.microsoft.com/office/powerpoint/2010/main" val="2832293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7</a:t>
            </a:fld>
            <a:endParaRPr lang="en-US"/>
          </a:p>
        </p:txBody>
      </p:sp>
    </p:spTree>
    <p:extLst>
      <p:ext uri="{BB962C8B-B14F-4D97-AF65-F5344CB8AC3E}">
        <p14:creationId xmlns:p14="http://schemas.microsoft.com/office/powerpoint/2010/main" val="2429258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8</a:t>
            </a:fld>
            <a:endParaRPr lang="en-US"/>
          </a:p>
        </p:txBody>
      </p:sp>
    </p:spTree>
    <p:extLst>
      <p:ext uri="{BB962C8B-B14F-4D97-AF65-F5344CB8AC3E}">
        <p14:creationId xmlns:p14="http://schemas.microsoft.com/office/powerpoint/2010/main" val="3601158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9</a:t>
            </a:fld>
            <a:endParaRPr lang="en-US"/>
          </a:p>
        </p:txBody>
      </p:sp>
    </p:spTree>
    <p:extLst>
      <p:ext uri="{BB962C8B-B14F-4D97-AF65-F5344CB8AC3E}">
        <p14:creationId xmlns:p14="http://schemas.microsoft.com/office/powerpoint/2010/main" val="768458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10</a:t>
            </a:fld>
            <a:endParaRPr lang="en-US"/>
          </a:p>
        </p:txBody>
      </p:sp>
    </p:spTree>
    <p:extLst>
      <p:ext uri="{BB962C8B-B14F-4D97-AF65-F5344CB8AC3E}">
        <p14:creationId xmlns:p14="http://schemas.microsoft.com/office/powerpoint/2010/main" val="3116423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11</a:t>
            </a:fld>
            <a:endParaRPr lang="en-US"/>
          </a:p>
        </p:txBody>
      </p:sp>
    </p:spTree>
    <p:extLst>
      <p:ext uri="{BB962C8B-B14F-4D97-AF65-F5344CB8AC3E}">
        <p14:creationId xmlns:p14="http://schemas.microsoft.com/office/powerpoint/2010/main" val="3859612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12</a:t>
            </a:fld>
            <a:endParaRPr lang="en-US"/>
          </a:p>
        </p:txBody>
      </p:sp>
    </p:spTree>
    <p:extLst>
      <p:ext uri="{BB962C8B-B14F-4D97-AF65-F5344CB8AC3E}">
        <p14:creationId xmlns:p14="http://schemas.microsoft.com/office/powerpoint/2010/main" val="3928745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13</a:t>
            </a:fld>
            <a:endParaRPr lang="en-US"/>
          </a:p>
        </p:txBody>
      </p:sp>
    </p:spTree>
    <p:extLst>
      <p:ext uri="{BB962C8B-B14F-4D97-AF65-F5344CB8AC3E}">
        <p14:creationId xmlns:p14="http://schemas.microsoft.com/office/powerpoint/2010/main" val="721706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5EC3EFB-F944-411E-A1CC-79A83DACD89E}" type="slidenum">
              <a:rPr lang="en-US" smtClean="0"/>
              <a:t>14</a:t>
            </a:fld>
            <a:endParaRPr lang="en-US"/>
          </a:p>
        </p:txBody>
      </p:sp>
    </p:spTree>
    <p:extLst>
      <p:ext uri="{BB962C8B-B14F-4D97-AF65-F5344CB8AC3E}">
        <p14:creationId xmlns:p14="http://schemas.microsoft.com/office/powerpoint/2010/main" val="2169478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FD3D583-E74C-473E-BA93-AD80AAAFC38D}"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2322499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D3D583-E74C-473E-BA93-AD80AAAFC38D}"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252625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3D583-E74C-473E-BA93-AD80AAAFC38D}"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1807725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FD3D583-E74C-473E-BA93-AD80AAAFC38D}" type="datetimeFigureOut">
              <a:rPr lang="en-US" smtClean="0"/>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2534086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FD3D583-E74C-473E-BA93-AD80AAAFC38D}" type="datetimeFigureOut">
              <a:rPr lang="en-US" smtClean="0"/>
              <a:t>1/28/26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1531428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D3D583-E74C-473E-BA93-AD80AAAFC38D}" type="datetimeFigureOut">
              <a:rPr lang="en-US" smtClean="0"/>
              <a:t>1/28/26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3394159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D3D583-E74C-473E-BA93-AD80AAAFC38D}" type="datetimeFigureOut">
              <a:rPr lang="en-US" smtClean="0"/>
              <a:t>1/28/26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3041067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D3D583-E74C-473E-BA93-AD80AAAFC38D}" type="datetimeFigureOut">
              <a:rPr lang="en-US" smtClean="0"/>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3096599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D3D583-E74C-473E-BA93-AD80AAAFC38D}" type="datetimeFigureOut">
              <a:rPr lang="en-US" smtClean="0"/>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245207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D3D583-E74C-473E-BA93-AD80AAAFC38D}"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123492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D3D583-E74C-473E-BA93-AD80AAAFC38D}" type="datetimeFigureOut">
              <a:rPr lang="en-US" smtClean="0"/>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B0D1B5-09D9-4D3A-88F8-B3C0A27E65AF}" type="slidenum">
              <a:rPr lang="en-US" smtClean="0"/>
              <a:t>‹#›</a:t>
            </a:fld>
            <a:endParaRPr lang="en-US"/>
          </a:p>
        </p:txBody>
      </p:sp>
    </p:spTree>
    <p:extLst>
      <p:ext uri="{BB962C8B-B14F-4D97-AF65-F5344CB8AC3E}">
        <p14:creationId xmlns:p14="http://schemas.microsoft.com/office/powerpoint/2010/main" val="1424778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D3D583-E74C-473E-BA93-AD80AAAFC38D}" type="datetimeFigureOut">
              <a:rPr lang="en-US" smtClean="0"/>
              <a:t>1/28/26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B0D1B5-09D9-4D3A-88F8-B3C0A27E65AF}" type="slidenum">
              <a:rPr lang="en-US" smtClean="0"/>
              <a:t>‹#›</a:t>
            </a:fld>
            <a:endParaRPr lang="en-US"/>
          </a:p>
        </p:txBody>
      </p:sp>
    </p:spTree>
    <p:extLst>
      <p:ext uri="{BB962C8B-B14F-4D97-AF65-F5344CB8AC3E}">
        <p14:creationId xmlns:p14="http://schemas.microsoft.com/office/powerpoint/2010/main" val="171316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811306" y="1343622"/>
            <a:ext cx="10242176" cy="84824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n-US" sz="4800" b="1" dirty="0">
                <a:solidFill>
                  <a:srgbClr val="00B0F0"/>
                </a:solidFill>
              </a:rPr>
              <a:t>Data Preprocessing</a:t>
            </a:r>
          </a:p>
        </p:txBody>
      </p:sp>
      <p:sp>
        <p:nvSpPr>
          <p:cNvPr id="10" name="Subtitle 2"/>
          <p:cNvSpPr txBox="1">
            <a:spLocks/>
          </p:cNvSpPr>
          <p:nvPr/>
        </p:nvSpPr>
        <p:spPr>
          <a:xfrm>
            <a:off x="811305" y="2540825"/>
            <a:ext cx="10242177" cy="67302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US" sz="2000" dirty="0">
                <a:solidFill>
                  <a:srgbClr val="002060"/>
                </a:solidFill>
              </a:rPr>
              <a:t>Data Mining: Concepts and Techniques</a:t>
            </a:r>
            <a:br>
              <a:rPr lang="en-US" sz="2000" dirty="0">
                <a:solidFill>
                  <a:srgbClr val="002060"/>
                </a:solidFill>
              </a:rPr>
            </a:br>
            <a:r>
              <a:rPr lang="en-US" sz="2000" dirty="0">
                <a:solidFill>
                  <a:srgbClr val="002060"/>
                </a:solidFill>
              </a:rPr>
              <a:t>Chapter 3</a:t>
            </a:r>
          </a:p>
        </p:txBody>
      </p:sp>
      <p:sp>
        <p:nvSpPr>
          <p:cNvPr id="12" name="Rectangle 11"/>
          <p:cNvSpPr/>
          <p:nvPr/>
        </p:nvSpPr>
        <p:spPr>
          <a:xfrm>
            <a:off x="11814968" y="5270275"/>
            <a:ext cx="377031" cy="13070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rot="16200000">
            <a:off x="11284801" y="5769920"/>
            <a:ext cx="1437381" cy="307777"/>
          </a:xfrm>
          <a:prstGeom prst="rect">
            <a:avLst/>
          </a:prstGeom>
          <a:noFill/>
        </p:spPr>
        <p:txBody>
          <a:bodyPr wrap="none" rtlCol="0">
            <a:spAutoFit/>
          </a:bodyPr>
          <a:lstStyle/>
          <a:p>
            <a:pPr algn="ctr"/>
            <a:r>
              <a:rPr lang="en-US" sz="1400" b="1" dirty="0">
                <a:solidFill>
                  <a:schemeClr val="bg1"/>
                </a:solidFill>
              </a:rPr>
              <a:t>January 28, 2026</a:t>
            </a:r>
          </a:p>
        </p:txBody>
      </p:sp>
      <p:sp>
        <p:nvSpPr>
          <p:cNvPr id="8" name="Subtitle 2"/>
          <p:cNvSpPr txBox="1">
            <a:spLocks/>
          </p:cNvSpPr>
          <p:nvPr/>
        </p:nvSpPr>
        <p:spPr>
          <a:xfrm>
            <a:off x="811304" y="4696836"/>
            <a:ext cx="10242177" cy="84335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US" sz="2000" dirty="0">
                <a:solidFill>
                  <a:srgbClr val="00B0F0"/>
                </a:solidFill>
              </a:rPr>
              <a:t>Prepared by:</a:t>
            </a:r>
          </a:p>
          <a:p>
            <a:pPr algn="l">
              <a:lnSpc>
                <a:spcPct val="100000"/>
              </a:lnSpc>
            </a:pPr>
            <a:r>
              <a:rPr lang="en-US" sz="2000" dirty="0">
                <a:solidFill>
                  <a:srgbClr val="002060"/>
                </a:solidFill>
              </a:rPr>
              <a:t>Muhammad Atif Saeed</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1086" y="1703425"/>
            <a:ext cx="6820913" cy="3836763"/>
          </a:xfrm>
          <a:prstGeom prst="rect">
            <a:avLst/>
          </a:prstGeom>
        </p:spPr>
      </p:pic>
    </p:spTree>
    <p:extLst>
      <p:ext uri="{BB962C8B-B14F-4D97-AF65-F5344CB8AC3E}">
        <p14:creationId xmlns:p14="http://schemas.microsoft.com/office/powerpoint/2010/main" val="1403465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Table of Content</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02</a:t>
            </a:r>
          </a:p>
        </p:txBody>
      </p:sp>
      <p:sp>
        <p:nvSpPr>
          <p:cNvPr id="45" name="Footer Placeholder 2"/>
          <p:cNvSpPr txBox="1">
            <a:spLocks/>
          </p:cNvSpPr>
          <p:nvPr/>
        </p:nvSpPr>
        <p:spPr>
          <a:xfrm>
            <a:off x="1503829" y="6356350"/>
            <a:ext cx="9184342" cy="34028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rgbClr val="A2A7AB"/>
                </a:solidFill>
              </a:rPr>
              <a:t>Muhammad Atif Saeed  |  MS-DS  |  Air University, Islamabad</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solidFill>
                  <a:srgbClr val="00B0F0"/>
                </a:solidFill>
              </a:rPr>
              <a:t>Data Preprocessing: An Overview</a:t>
            </a:r>
          </a:p>
          <a:p>
            <a:pPr>
              <a:lnSpc>
                <a:spcPct val="100000"/>
              </a:lnSpc>
            </a:pPr>
            <a:r>
              <a:rPr lang="en-US" dirty="0">
                <a:solidFill>
                  <a:srgbClr val="002060"/>
                </a:solidFill>
              </a:rPr>
              <a:t>Data Quality</a:t>
            </a:r>
          </a:p>
          <a:p>
            <a:pPr>
              <a:lnSpc>
                <a:spcPct val="100000"/>
              </a:lnSpc>
            </a:pPr>
            <a:r>
              <a:rPr lang="en-US" dirty="0">
                <a:solidFill>
                  <a:srgbClr val="002060"/>
                </a:solidFill>
              </a:rPr>
              <a:t>Major Tasks in Data Preprocessing</a:t>
            </a:r>
          </a:p>
          <a:p>
            <a:pPr>
              <a:lnSpc>
                <a:spcPct val="100000"/>
              </a:lnSpc>
            </a:pPr>
            <a:r>
              <a:rPr lang="en-US" dirty="0">
                <a:solidFill>
                  <a:srgbClr val="002060"/>
                </a:solidFill>
              </a:rPr>
              <a:t>Data Cleaning</a:t>
            </a:r>
          </a:p>
          <a:p>
            <a:pPr>
              <a:lnSpc>
                <a:spcPct val="100000"/>
              </a:lnSpc>
            </a:pPr>
            <a:r>
              <a:rPr lang="en-US" dirty="0">
                <a:solidFill>
                  <a:srgbClr val="002060"/>
                </a:solidFill>
              </a:rPr>
              <a:t>Data Integration</a:t>
            </a:r>
          </a:p>
          <a:p>
            <a:pPr>
              <a:lnSpc>
                <a:spcPct val="100000"/>
              </a:lnSpc>
            </a:pPr>
            <a:r>
              <a:rPr lang="en-US" dirty="0">
                <a:solidFill>
                  <a:srgbClr val="002060"/>
                </a:solidFill>
              </a:rPr>
              <a:t>Data Reduction</a:t>
            </a:r>
          </a:p>
          <a:p>
            <a:pPr>
              <a:lnSpc>
                <a:spcPct val="100000"/>
              </a:lnSpc>
            </a:pPr>
            <a:r>
              <a:rPr lang="en-US" dirty="0">
                <a:solidFill>
                  <a:srgbClr val="002060"/>
                </a:solidFill>
              </a:rPr>
              <a:t>Data Transformation and Data Discretization</a:t>
            </a:r>
          </a:p>
          <a:p>
            <a:pPr>
              <a:lnSpc>
                <a:spcPct val="100000"/>
              </a:lnSpc>
            </a:pPr>
            <a:r>
              <a:rPr lang="en-US" dirty="0">
                <a:solidFill>
                  <a:srgbClr val="002060"/>
                </a:solidFill>
              </a:rPr>
              <a:t>Summary</a:t>
            </a:r>
          </a:p>
        </p:txBody>
      </p:sp>
    </p:spTree>
    <p:extLst>
      <p:ext uri="{BB962C8B-B14F-4D97-AF65-F5344CB8AC3E}">
        <p14:creationId xmlns:p14="http://schemas.microsoft.com/office/powerpoint/2010/main" val="3586275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Data Preprocessing: An Overview</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03</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Data preprocessing forms the foundation of any successful machine learning project, as it directly impacts the quality and effectiveness of the models we build. </a:t>
            </a:r>
          </a:p>
          <a:p>
            <a:pPr>
              <a:lnSpc>
                <a:spcPct val="100000"/>
              </a:lnSpc>
            </a:pPr>
            <a:r>
              <a:rPr lang="en-US" sz="2400" dirty="0"/>
              <a:t>Preparing our data correctly ensures that the models can extract meaningful patterns and insights, leading to accurate predictions and valuable insights. </a:t>
            </a:r>
          </a:p>
          <a:p>
            <a:pPr>
              <a:lnSpc>
                <a:spcPct val="100000"/>
              </a:lnSpc>
            </a:pPr>
            <a:r>
              <a:rPr lang="en-US" sz="2400" dirty="0"/>
              <a:t>Raw data is often messy, incomplete, and inconsistent. It may contain noise, irrelevant information, and outliers that can negatively impact the performance of machine learning models. Data preprocessing aims to clean, transform, and restructure the data so that it becomes suitable for model training.</a:t>
            </a:r>
          </a:p>
        </p:txBody>
      </p:sp>
    </p:spTree>
    <p:extLst>
      <p:ext uri="{BB962C8B-B14F-4D97-AF65-F5344CB8AC3E}">
        <p14:creationId xmlns:p14="http://schemas.microsoft.com/office/powerpoint/2010/main" val="195064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Data Quality: Why Preprocess the Data?</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04</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t>Measures for data quality: A multidimensional view</a:t>
            </a:r>
          </a:p>
          <a:p>
            <a:pPr>
              <a:lnSpc>
                <a:spcPct val="100000"/>
              </a:lnSpc>
            </a:pPr>
            <a:r>
              <a:rPr lang="en-US" sz="2400" dirty="0"/>
              <a:t>Accuracy: correct or wrong, accurate or not</a:t>
            </a:r>
          </a:p>
          <a:p>
            <a:pPr>
              <a:lnSpc>
                <a:spcPct val="100000"/>
              </a:lnSpc>
            </a:pPr>
            <a:r>
              <a:rPr lang="en-US" sz="2400" dirty="0"/>
              <a:t>Completeness: not recorded, unavailable, …</a:t>
            </a:r>
          </a:p>
          <a:p>
            <a:pPr>
              <a:lnSpc>
                <a:spcPct val="100000"/>
              </a:lnSpc>
            </a:pPr>
            <a:r>
              <a:rPr lang="en-US" sz="2400" dirty="0"/>
              <a:t>Consistency: some modified but some not, dangling, …</a:t>
            </a:r>
          </a:p>
          <a:p>
            <a:pPr>
              <a:lnSpc>
                <a:spcPct val="100000"/>
              </a:lnSpc>
            </a:pPr>
            <a:r>
              <a:rPr lang="en-US" sz="2400" dirty="0"/>
              <a:t>Timeliness: timely update? </a:t>
            </a:r>
          </a:p>
          <a:p>
            <a:pPr>
              <a:lnSpc>
                <a:spcPct val="100000"/>
              </a:lnSpc>
            </a:pPr>
            <a:r>
              <a:rPr lang="en-US" sz="2400" dirty="0"/>
              <a:t>Believability: how trustable the data are correct?</a:t>
            </a:r>
          </a:p>
          <a:p>
            <a:pPr>
              <a:lnSpc>
                <a:spcPct val="100000"/>
              </a:lnSpc>
            </a:pPr>
            <a:r>
              <a:rPr lang="en-US" sz="2400" dirty="0"/>
              <a:t>Interpretability: how easily the data can be understood?</a:t>
            </a:r>
          </a:p>
        </p:txBody>
      </p:sp>
    </p:spTree>
    <p:extLst>
      <p:ext uri="{BB962C8B-B14F-4D97-AF65-F5344CB8AC3E}">
        <p14:creationId xmlns:p14="http://schemas.microsoft.com/office/powerpoint/2010/main" val="3651653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Major Tasks in Data Preprocessing</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05</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solidFill>
                  <a:srgbClr val="00B0F0"/>
                </a:solidFill>
              </a:rPr>
              <a:t>Data cleaning</a:t>
            </a:r>
          </a:p>
          <a:p>
            <a:pPr lvl="1">
              <a:lnSpc>
                <a:spcPct val="100000"/>
              </a:lnSpc>
            </a:pPr>
            <a:r>
              <a:rPr lang="en-US" sz="2000" dirty="0"/>
              <a:t>Fill in missing values, smooth noisy data, identify or remove outliers, and resolve inconsistencies</a:t>
            </a:r>
          </a:p>
          <a:p>
            <a:pPr>
              <a:lnSpc>
                <a:spcPct val="100000"/>
              </a:lnSpc>
            </a:pPr>
            <a:r>
              <a:rPr lang="en-US" sz="2400" dirty="0">
                <a:solidFill>
                  <a:srgbClr val="00B0F0"/>
                </a:solidFill>
              </a:rPr>
              <a:t>Data integration</a:t>
            </a:r>
          </a:p>
          <a:p>
            <a:pPr lvl="1">
              <a:lnSpc>
                <a:spcPct val="100000"/>
              </a:lnSpc>
            </a:pPr>
            <a:r>
              <a:rPr lang="en-US" sz="2000" dirty="0"/>
              <a:t>Integration of multiple databases, data cubes, or files</a:t>
            </a:r>
          </a:p>
          <a:p>
            <a:pPr>
              <a:lnSpc>
                <a:spcPct val="100000"/>
              </a:lnSpc>
            </a:pPr>
            <a:r>
              <a:rPr lang="en-US" sz="2400" dirty="0">
                <a:solidFill>
                  <a:srgbClr val="00B0F0"/>
                </a:solidFill>
              </a:rPr>
              <a:t>Data reduction</a:t>
            </a:r>
          </a:p>
          <a:p>
            <a:pPr lvl="1">
              <a:lnSpc>
                <a:spcPct val="100000"/>
              </a:lnSpc>
            </a:pPr>
            <a:r>
              <a:rPr lang="en-US" sz="2000" dirty="0"/>
              <a:t>Dimensionality reduction</a:t>
            </a:r>
          </a:p>
          <a:p>
            <a:pPr lvl="1">
              <a:lnSpc>
                <a:spcPct val="100000"/>
              </a:lnSpc>
            </a:pPr>
            <a:r>
              <a:rPr lang="en-US" sz="2000" dirty="0" err="1"/>
              <a:t>Numerosity</a:t>
            </a:r>
            <a:r>
              <a:rPr lang="en-US" sz="2000" dirty="0"/>
              <a:t> reduction</a:t>
            </a:r>
          </a:p>
          <a:p>
            <a:pPr lvl="1">
              <a:lnSpc>
                <a:spcPct val="100000"/>
              </a:lnSpc>
            </a:pPr>
            <a:r>
              <a:rPr lang="en-US" sz="2000" dirty="0"/>
              <a:t>Data compression</a:t>
            </a:r>
          </a:p>
          <a:p>
            <a:pPr>
              <a:lnSpc>
                <a:spcPct val="100000"/>
              </a:lnSpc>
            </a:pPr>
            <a:r>
              <a:rPr lang="en-US" sz="2400" dirty="0">
                <a:solidFill>
                  <a:srgbClr val="00B0F0"/>
                </a:solidFill>
              </a:rPr>
              <a:t>Data transformation and data discretization</a:t>
            </a:r>
          </a:p>
          <a:p>
            <a:pPr lvl="1">
              <a:lnSpc>
                <a:spcPct val="100000"/>
              </a:lnSpc>
            </a:pPr>
            <a:r>
              <a:rPr lang="en-US" sz="2000" dirty="0"/>
              <a:t>Normalization </a:t>
            </a:r>
          </a:p>
          <a:p>
            <a:pPr lvl="1">
              <a:lnSpc>
                <a:spcPct val="100000"/>
              </a:lnSpc>
            </a:pPr>
            <a:r>
              <a:rPr lang="en-US" sz="2000" dirty="0"/>
              <a:t>Concept hierarchy generation</a:t>
            </a:r>
          </a:p>
        </p:txBody>
      </p:sp>
    </p:spTree>
    <p:extLst>
      <p:ext uri="{BB962C8B-B14F-4D97-AF65-F5344CB8AC3E}">
        <p14:creationId xmlns:p14="http://schemas.microsoft.com/office/powerpoint/2010/main" val="770670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Data Cleaning</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06</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Data in the Real World Is Dirty: Lots of potentially incorrect data, e.g., instrument faulty, human or computer error, transmission error</a:t>
            </a:r>
          </a:p>
          <a:p>
            <a:pPr lvl="1">
              <a:lnSpc>
                <a:spcPct val="100000"/>
              </a:lnSpc>
            </a:pPr>
            <a:r>
              <a:rPr lang="en-US" sz="2000" dirty="0"/>
              <a:t>incomplete: lacking attribute values, lacking certain attributes of interest, or containing only aggregate data</a:t>
            </a:r>
          </a:p>
          <a:p>
            <a:pPr lvl="2">
              <a:lnSpc>
                <a:spcPct val="100000"/>
              </a:lnSpc>
            </a:pPr>
            <a:r>
              <a:rPr lang="en-US" sz="1600" dirty="0"/>
              <a:t>e.g., Occupation=“ ” (missing data)</a:t>
            </a:r>
          </a:p>
          <a:p>
            <a:pPr lvl="1">
              <a:lnSpc>
                <a:spcPct val="100000"/>
              </a:lnSpc>
            </a:pPr>
            <a:r>
              <a:rPr lang="en-US" sz="2000" dirty="0"/>
              <a:t>noisy: containing noise, errors, or outliers</a:t>
            </a:r>
          </a:p>
          <a:p>
            <a:pPr lvl="2">
              <a:lnSpc>
                <a:spcPct val="100000"/>
              </a:lnSpc>
            </a:pPr>
            <a:r>
              <a:rPr lang="en-US" sz="1600" dirty="0"/>
              <a:t>e.g., Salary=“−10” (an error)</a:t>
            </a:r>
          </a:p>
          <a:p>
            <a:pPr lvl="1">
              <a:lnSpc>
                <a:spcPct val="100000"/>
              </a:lnSpc>
            </a:pPr>
            <a:r>
              <a:rPr lang="en-US" sz="2000" dirty="0"/>
              <a:t>inconsistent: containing discrepancies in codes or names, e.g.,</a:t>
            </a:r>
          </a:p>
          <a:p>
            <a:pPr lvl="2">
              <a:lnSpc>
                <a:spcPct val="100000"/>
              </a:lnSpc>
            </a:pPr>
            <a:r>
              <a:rPr lang="en-US" sz="1600" dirty="0"/>
              <a:t>Age=“42”, Birthday=“03/07/2010”</a:t>
            </a:r>
          </a:p>
          <a:p>
            <a:pPr lvl="2">
              <a:lnSpc>
                <a:spcPct val="100000"/>
              </a:lnSpc>
            </a:pPr>
            <a:r>
              <a:rPr lang="en-US" sz="1600" dirty="0"/>
              <a:t>Was rating “1, 2, 3”, now rating “A, B, C”</a:t>
            </a:r>
          </a:p>
          <a:p>
            <a:pPr lvl="2">
              <a:lnSpc>
                <a:spcPct val="100000"/>
              </a:lnSpc>
            </a:pPr>
            <a:r>
              <a:rPr lang="en-US" sz="1600" dirty="0"/>
              <a:t>discrepancy between duplicate records</a:t>
            </a:r>
          </a:p>
          <a:p>
            <a:pPr lvl="1">
              <a:lnSpc>
                <a:spcPct val="100000"/>
              </a:lnSpc>
            </a:pPr>
            <a:r>
              <a:rPr lang="en-US" sz="2000" dirty="0"/>
              <a:t>Intentional (e.g., disguised missing data)</a:t>
            </a:r>
          </a:p>
          <a:p>
            <a:pPr lvl="2">
              <a:lnSpc>
                <a:spcPct val="100000"/>
              </a:lnSpc>
            </a:pPr>
            <a:r>
              <a:rPr lang="en-US" sz="1600" dirty="0"/>
              <a:t>Jan. 1 as everyone’s birthday?</a:t>
            </a:r>
          </a:p>
        </p:txBody>
      </p:sp>
    </p:spTree>
    <p:extLst>
      <p:ext uri="{BB962C8B-B14F-4D97-AF65-F5344CB8AC3E}">
        <p14:creationId xmlns:p14="http://schemas.microsoft.com/office/powerpoint/2010/main" val="257159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Incomplete (Missing) Data</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07</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Data is not always available</a:t>
            </a:r>
          </a:p>
          <a:p>
            <a:pPr lvl="1">
              <a:lnSpc>
                <a:spcPct val="100000"/>
              </a:lnSpc>
            </a:pPr>
            <a:r>
              <a:rPr lang="en-US" sz="2000" dirty="0"/>
              <a:t>E.g., many tuples have no recorded value for several attributes, such as customer income in sales data</a:t>
            </a:r>
          </a:p>
          <a:p>
            <a:pPr>
              <a:lnSpc>
                <a:spcPct val="100000"/>
              </a:lnSpc>
            </a:pPr>
            <a:r>
              <a:rPr lang="en-US" sz="2400" dirty="0"/>
              <a:t>Missing data may be due to </a:t>
            </a:r>
          </a:p>
          <a:p>
            <a:pPr lvl="1">
              <a:lnSpc>
                <a:spcPct val="100000"/>
              </a:lnSpc>
            </a:pPr>
            <a:r>
              <a:rPr lang="en-US" sz="2000" dirty="0"/>
              <a:t>equipment malfunction</a:t>
            </a:r>
          </a:p>
          <a:p>
            <a:pPr lvl="1">
              <a:lnSpc>
                <a:spcPct val="100000"/>
              </a:lnSpc>
            </a:pPr>
            <a:r>
              <a:rPr lang="en-US" sz="2000" dirty="0"/>
              <a:t>inconsistent with other recorded data and thus deleted</a:t>
            </a:r>
          </a:p>
          <a:p>
            <a:pPr lvl="1">
              <a:lnSpc>
                <a:spcPct val="100000"/>
              </a:lnSpc>
            </a:pPr>
            <a:r>
              <a:rPr lang="en-US" sz="2000" dirty="0"/>
              <a:t>data not entered due to misunderstanding</a:t>
            </a:r>
          </a:p>
          <a:p>
            <a:pPr lvl="1">
              <a:lnSpc>
                <a:spcPct val="100000"/>
              </a:lnSpc>
            </a:pPr>
            <a:r>
              <a:rPr lang="en-US" sz="2000" dirty="0"/>
              <a:t>certain data may not be considered important at the time of entry</a:t>
            </a:r>
          </a:p>
          <a:p>
            <a:pPr lvl="1">
              <a:lnSpc>
                <a:spcPct val="100000"/>
              </a:lnSpc>
            </a:pPr>
            <a:r>
              <a:rPr lang="en-US" sz="2000" dirty="0"/>
              <a:t>not register history or changes of the data</a:t>
            </a:r>
          </a:p>
          <a:p>
            <a:pPr>
              <a:lnSpc>
                <a:spcPct val="100000"/>
              </a:lnSpc>
            </a:pPr>
            <a:r>
              <a:rPr lang="en-US" sz="2400" dirty="0"/>
              <a:t>Missing data may need to be inferred</a:t>
            </a:r>
          </a:p>
        </p:txBody>
      </p:sp>
    </p:spTree>
    <p:extLst>
      <p:ext uri="{BB962C8B-B14F-4D97-AF65-F5344CB8AC3E}">
        <p14:creationId xmlns:p14="http://schemas.microsoft.com/office/powerpoint/2010/main" val="2789043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How to Handle Missing Data?</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08</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Ignore the tuple: usually done when class label is missing (when doing classification)—not effective when the % of missing values per attribute varies considerably</a:t>
            </a:r>
          </a:p>
          <a:p>
            <a:pPr>
              <a:lnSpc>
                <a:spcPct val="100000"/>
              </a:lnSpc>
            </a:pPr>
            <a:r>
              <a:rPr lang="en-US" sz="2400" dirty="0"/>
              <a:t>Fill in the missing value manually: tedious + infeasible?</a:t>
            </a:r>
          </a:p>
          <a:p>
            <a:pPr>
              <a:lnSpc>
                <a:spcPct val="100000"/>
              </a:lnSpc>
            </a:pPr>
            <a:r>
              <a:rPr lang="en-US" sz="2400" dirty="0"/>
              <a:t>Fill in it automatically with</a:t>
            </a:r>
          </a:p>
          <a:p>
            <a:pPr lvl="1">
              <a:lnSpc>
                <a:spcPct val="100000"/>
              </a:lnSpc>
            </a:pPr>
            <a:r>
              <a:rPr lang="en-US" sz="2000" dirty="0"/>
              <a:t>a global constant : e.g., “unknown”, a new class?! </a:t>
            </a:r>
          </a:p>
          <a:p>
            <a:pPr lvl="1">
              <a:lnSpc>
                <a:spcPct val="100000"/>
              </a:lnSpc>
            </a:pPr>
            <a:r>
              <a:rPr lang="en-US" sz="2000" dirty="0"/>
              <a:t>the attribute mean</a:t>
            </a:r>
          </a:p>
          <a:p>
            <a:pPr lvl="1">
              <a:lnSpc>
                <a:spcPct val="100000"/>
              </a:lnSpc>
            </a:pPr>
            <a:r>
              <a:rPr lang="en-US" sz="2000" dirty="0"/>
              <a:t>the attribute mean for all samples belonging to the same class: smarter</a:t>
            </a:r>
          </a:p>
          <a:p>
            <a:pPr lvl="1">
              <a:lnSpc>
                <a:spcPct val="100000"/>
              </a:lnSpc>
            </a:pPr>
            <a:r>
              <a:rPr lang="en-US" sz="2000" dirty="0"/>
              <a:t>the most probable value: inference-based such as Bayesian formula or decision tree</a:t>
            </a:r>
          </a:p>
        </p:txBody>
      </p:sp>
    </p:spTree>
    <p:extLst>
      <p:ext uri="{BB962C8B-B14F-4D97-AF65-F5344CB8AC3E}">
        <p14:creationId xmlns:p14="http://schemas.microsoft.com/office/powerpoint/2010/main" val="1847076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Noisy Data</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09</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Noise: random error or variance in a measured variable</a:t>
            </a:r>
          </a:p>
          <a:p>
            <a:pPr>
              <a:lnSpc>
                <a:spcPct val="100000"/>
              </a:lnSpc>
            </a:pPr>
            <a:r>
              <a:rPr lang="en-US" sz="2400" dirty="0"/>
              <a:t>Incorrect attribute values may be due to</a:t>
            </a:r>
          </a:p>
          <a:p>
            <a:pPr lvl="1">
              <a:lnSpc>
                <a:spcPct val="100000"/>
              </a:lnSpc>
            </a:pPr>
            <a:r>
              <a:rPr lang="en-US" sz="2000" dirty="0"/>
              <a:t>Faulty data collection instruments</a:t>
            </a:r>
          </a:p>
          <a:p>
            <a:pPr lvl="1">
              <a:lnSpc>
                <a:spcPct val="100000"/>
              </a:lnSpc>
            </a:pPr>
            <a:r>
              <a:rPr lang="en-US" sz="2000" dirty="0"/>
              <a:t>Data entry problems</a:t>
            </a:r>
          </a:p>
          <a:p>
            <a:pPr lvl="1">
              <a:lnSpc>
                <a:spcPct val="100000"/>
              </a:lnSpc>
            </a:pPr>
            <a:r>
              <a:rPr lang="en-US" sz="2000" dirty="0"/>
              <a:t>Data transmission problems</a:t>
            </a:r>
          </a:p>
          <a:p>
            <a:pPr lvl="1">
              <a:lnSpc>
                <a:spcPct val="100000"/>
              </a:lnSpc>
            </a:pPr>
            <a:r>
              <a:rPr lang="en-US" sz="2000" dirty="0"/>
              <a:t>Technology limitation</a:t>
            </a:r>
          </a:p>
          <a:p>
            <a:pPr lvl="1">
              <a:lnSpc>
                <a:spcPct val="100000"/>
              </a:lnSpc>
            </a:pPr>
            <a:r>
              <a:rPr lang="en-US" sz="2000" dirty="0"/>
              <a:t>Inconsistency in naming convention </a:t>
            </a:r>
          </a:p>
          <a:p>
            <a:pPr>
              <a:lnSpc>
                <a:spcPct val="100000"/>
              </a:lnSpc>
            </a:pPr>
            <a:r>
              <a:rPr lang="en-US" sz="2400" dirty="0"/>
              <a:t>Other data problems which require data cleaning</a:t>
            </a:r>
          </a:p>
          <a:p>
            <a:pPr lvl="1">
              <a:lnSpc>
                <a:spcPct val="100000"/>
              </a:lnSpc>
            </a:pPr>
            <a:r>
              <a:rPr lang="en-US" sz="2000" dirty="0"/>
              <a:t>Duplicate records</a:t>
            </a:r>
          </a:p>
          <a:p>
            <a:pPr lvl="1">
              <a:lnSpc>
                <a:spcPct val="100000"/>
              </a:lnSpc>
            </a:pPr>
            <a:r>
              <a:rPr lang="en-US" sz="2000" dirty="0"/>
              <a:t>Incomplete data</a:t>
            </a:r>
          </a:p>
          <a:p>
            <a:pPr lvl="1">
              <a:lnSpc>
                <a:spcPct val="100000"/>
              </a:lnSpc>
            </a:pPr>
            <a:r>
              <a:rPr lang="en-US" sz="2000" dirty="0"/>
              <a:t>Inconsistent data</a:t>
            </a:r>
          </a:p>
        </p:txBody>
      </p:sp>
    </p:spTree>
    <p:extLst>
      <p:ext uri="{BB962C8B-B14F-4D97-AF65-F5344CB8AC3E}">
        <p14:creationId xmlns:p14="http://schemas.microsoft.com/office/powerpoint/2010/main" val="415575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How to Handle Noisy Data?</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10</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Binning</a:t>
            </a:r>
          </a:p>
          <a:p>
            <a:pPr lvl="1">
              <a:lnSpc>
                <a:spcPct val="100000"/>
              </a:lnSpc>
            </a:pPr>
            <a:r>
              <a:rPr lang="en-US" sz="2000" dirty="0"/>
              <a:t>First sort data and partition into (equal-frequency) bins</a:t>
            </a:r>
          </a:p>
          <a:p>
            <a:pPr lvl="1">
              <a:lnSpc>
                <a:spcPct val="100000"/>
              </a:lnSpc>
            </a:pPr>
            <a:r>
              <a:rPr lang="en-US" sz="2000" dirty="0"/>
              <a:t>Then one can smooth by bin means,  smooth by bin median, smooth by bin boundaries, etc.</a:t>
            </a:r>
          </a:p>
          <a:p>
            <a:pPr>
              <a:lnSpc>
                <a:spcPct val="100000"/>
              </a:lnSpc>
            </a:pPr>
            <a:r>
              <a:rPr lang="en-US" sz="2400" dirty="0"/>
              <a:t>Regression</a:t>
            </a:r>
          </a:p>
          <a:p>
            <a:pPr lvl="1">
              <a:lnSpc>
                <a:spcPct val="100000"/>
              </a:lnSpc>
            </a:pPr>
            <a:r>
              <a:rPr lang="en-US" sz="2000" dirty="0"/>
              <a:t>Smooth by fitting the data into regression functions</a:t>
            </a:r>
          </a:p>
          <a:p>
            <a:pPr>
              <a:lnSpc>
                <a:spcPct val="100000"/>
              </a:lnSpc>
            </a:pPr>
            <a:r>
              <a:rPr lang="en-US" sz="2400" dirty="0"/>
              <a:t>Clustering</a:t>
            </a:r>
          </a:p>
          <a:p>
            <a:pPr lvl="1">
              <a:lnSpc>
                <a:spcPct val="100000"/>
              </a:lnSpc>
            </a:pPr>
            <a:r>
              <a:rPr lang="en-US" sz="2000" dirty="0"/>
              <a:t>Detect and remove outliers</a:t>
            </a:r>
          </a:p>
          <a:p>
            <a:pPr>
              <a:lnSpc>
                <a:spcPct val="100000"/>
              </a:lnSpc>
            </a:pPr>
            <a:r>
              <a:rPr lang="en-US" sz="2400" dirty="0"/>
              <a:t>Combined computer and human inspection</a:t>
            </a:r>
          </a:p>
          <a:p>
            <a:pPr lvl="1">
              <a:lnSpc>
                <a:spcPct val="100000"/>
              </a:lnSpc>
            </a:pPr>
            <a:r>
              <a:rPr lang="en-US" sz="2000" dirty="0"/>
              <a:t>Detect suspicious values and check by human (e.g., deal with possible outliers)</a:t>
            </a:r>
          </a:p>
        </p:txBody>
      </p:sp>
    </p:spTree>
    <p:extLst>
      <p:ext uri="{BB962C8B-B14F-4D97-AF65-F5344CB8AC3E}">
        <p14:creationId xmlns:p14="http://schemas.microsoft.com/office/powerpoint/2010/main" val="2267914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Data Reduction Strategies</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11</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Data reduction: Obtain a reduced representation of the data set that is much smaller in volume but yet produces the same (or almost the same) analytical results</a:t>
            </a:r>
          </a:p>
          <a:p>
            <a:pPr>
              <a:lnSpc>
                <a:spcPct val="100000"/>
              </a:lnSpc>
            </a:pPr>
            <a:r>
              <a:rPr lang="en-US" sz="2400" dirty="0"/>
              <a:t>Why data reduction? — A database/data warehouse may store terabytes of data.  Complex data analysis may take a very long time to run on the complete data set.</a:t>
            </a:r>
          </a:p>
          <a:p>
            <a:pPr>
              <a:lnSpc>
                <a:spcPct val="100000"/>
              </a:lnSpc>
            </a:pPr>
            <a:r>
              <a:rPr lang="en-US" sz="2400" dirty="0"/>
              <a:t>Data reduction strategies</a:t>
            </a:r>
          </a:p>
          <a:p>
            <a:pPr lvl="1">
              <a:lnSpc>
                <a:spcPct val="100000"/>
              </a:lnSpc>
            </a:pPr>
            <a:r>
              <a:rPr lang="en-US" sz="2000" dirty="0"/>
              <a:t>Dimensionality reduction, e.g., remove unimportant attributes</a:t>
            </a:r>
          </a:p>
          <a:p>
            <a:pPr lvl="1">
              <a:lnSpc>
                <a:spcPct val="100000"/>
              </a:lnSpc>
            </a:pPr>
            <a:r>
              <a:rPr lang="en-US" sz="2000" dirty="0" err="1"/>
              <a:t>Numerosity</a:t>
            </a:r>
            <a:r>
              <a:rPr lang="en-US" sz="2000" dirty="0"/>
              <a:t> reduction (some simply call it: Data Reduction)</a:t>
            </a:r>
          </a:p>
          <a:p>
            <a:pPr lvl="2">
              <a:lnSpc>
                <a:spcPct val="100000"/>
              </a:lnSpc>
            </a:pPr>
            <a:r>
              <a:rPr lang="en-US" sz="1600" dirty="0"/>
              <a:t>Clustering, sampling</a:t>
            </a:r>
          </a:p>
          <a:p>
            <a:pPr>
              <a:lnSpc>
                <a:spcPct val="100000"/>
              </a:lnSpc>
            </a:pPr>
            <a:r>
              <a:rPr lang="en-US" sz="2400" dirty="0"/>
              <a:t>Data compression</a:t>
            </a:r>
          </a:p>
        </p:txBody>
      </p:sp>
    </p:spTree>
    <p:extLst>
      <p:ext uri="{BB962C8B-B14F-4D97-AF65-F5344CB8AC3E}">
        <p14:creationId xmlns:p14="http://schemas.microsoft.com/office/powerpoint/2010/main" val="446494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Data Normalization</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12</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Min-max normalization: to [</a:t>
            </a:r>
            <a:r>
              <a:rPr lang="en-US" sz="2400" dirty="0" err="1"/>
              <a:t>new_minA</a:t>
            </a:r>
            <a:r>
              <a:rPr lang="en-US" sz="2400" dirty="0"/>
              <a:t>, </a:t>
            </a:r>
            <a:r>
              <a:rPr lang="en-US" sz="2400" dirty="0" err="1"/>
              <a:t>new_maxA</a:t>
            </a:r>
            <a:r>
              <a:rPr lang="en-US" sz="2400" dirty="0"/>
              <a:t>]</a:t>
            </a:r>
          </a:p>
          <a:p>
            <a:pPr>
              <a:lnSpc>
                <a:spcPct val="100000"/>
              </a:lnSpc>
            </a:pPr>
            <a:endParaRPr lang="en-US" sz="2400" dirty="0"/>
          </a:p>
          <a:p>
            <a:pPr>
              <a:lnSpc>
                <a:spcPct val="100000"/>
              </a:lnSpc>
            </a:pPr>
            <a:endParaRPr lang="en-US" sz="2400" dirty="0"/>
          </a:p>
          <a:p>
            <a:pPr lvl="1">
              <a:lnSpc>
                <a:spcPct val="100000"/>
              </a:lnSpc>
            </a:pPr>
            <a:r>
              <a:rPr lang="en-US" sz="2000" dirty="0"/>
              <a:t>Ex.  Let income range $12,000 to $98,000 normalized to [0.0, 1.0].  Then $73,000 is mapped to  </a:t>
            </a:r>
          </a:p>
          <a:p>
            <a:pPr>
              <a:lnSpc>
                <a:spcPct val="100000"/>
              </a:lnSpc>
            </a:pPr>
            <a:r>
              <a:rPr lang="en-US" sz="2400" dirty="0"/>
              <a:t>Z-score normalization (μ: mean, σ: standard deviation):</a:t>
            </a:r>
          </a:p>
          <a:p>
            <a:pPr marL="0" indent="0">
              <a:lnSpc>
                <a:spcPct val="100000"/>
              </a:lnSpc>
              <a:buNone/>
            </a:pPr>
            <a:endParaRPr lang="en-US" sz="2400" dirty="0"/>
          </a:p>
          <a:p>
            <a:pPr lvl="1">
              <a:lnSpc>
                <a:spcPct val="100000"/>
              </a:lnSpc>
            </a:pPr>
            <a:r>
              <a:rPr lang="en-US" sz="2000" dirty="0"/>
              <a:t>Ex. Let μ = 54,000, σ = 16,000.  Then </a:t>
            </a:r>
          </a:p>
          <a:p>
            <a:pPr>
              <a:lnSpc>
                <a:spcPct val="100000"/>
              </a:lnSpc>
            </a:pPr>
            <a:r>
              <a:rPr lang="en-US" sz="2400" dirty="0"/>
              <a:t>Normalization by decimal scaling</a:t>
            </a:r>
          </a:p>
        </p:txBody>
      </p:sp>
      <p:pic>
        <p:nvPicPr>
          <p:cNvPr id="3" name="Picture 2"/>
          <p:cNvPicPr>
            <a:picLocks noChangeAspect="1"/>
          </p:cNvPicPr>
          <p:nvPr/>
        </p:nvPicPr>
        <p:blipFill>
          <a:blip r:embed="rId3"/>
          <a:stretch>
            <a:fillRect/>
          </a:stretch>
        </p:blipFill>
        <p:spPr>
          <a:xfrm>
            <a:off x="2701386" y="1985325"/>
            <a:ext cx="5657113" cy="682031"/>
          </a:xfrm>
          <a:prstGeom prst="rect">
            <a:avLst/>
          </a:prstGeom>
        </p:spPr>
      </p:pic>
      <p:pic>
        <p:nvPicPr>
          <p:cNvPr id="5" name="Picture 4"/>
          <p:cNvPicPr>
            <a:picLocks noChangeAspect="1"/>
          </p:cNvPicPr>
          <p:nvPr/>
        </p:nvPicPr>
        <p:blipFill>
          <a:blip r:embed="rId4"/>
          <a:stretch>
            <a:fillRect/>
          </a:stretch>
        </p:blipFill>
        <p:spPr>
          <a:xfrm>
            <a:off x="2855350" y="3227293"/>
            <a:ext cx="2393394" cy="463781"/>
          </a:xfrm>
          <a:prstGeom prst="rect">
            <a:avLst/>
          </a:prstGeom>
        </p:spPr>
      </p:pic>
      <p:pic>
        <p:nvPicPr>
          <p:cNvPr id="6" name="Picture 5"/>
          <p:cNvPicPr>
            <a:picLocks noChangeAspect="1"/>
          </p:cNvPicPr>
          <p:nvPr/>
        </p:nvPicPr>
        <p:blipFill>
          <a:blip r:embed="rId5"/>
          <a:stretch>
            <a:fillRect/>
          </a:stretch>
        </p:blipFill>
        <p:spPr>
          <a:xfrm>
            <a:off x="8358499" y="3459183"/>
            <a:ext cx="1378015" cy="645656"/>
          </a:xfrm>
          <a:prstGeom prst="rect">
            <a:avLst/>
          </a:prstGeom>
        </p:spPr>
      </p:pic>
      <p:pic>
        <p:nvPicPr>
          <p:cNvPr id="7" name="Picture 6"/>
          <p:cNvPicPr>
            <a:picLocks noChangeAspect="1"/>
          </p:cNvPicPr>
          <p:nvPr/>
        </p:nvPicPr>
        <p:blipFill>
          <a:blip r:embed="rId6"/>
          <a:stretch>
            <a:fillRect/>
          </a:stretch>
        </p:blipFill>
        <p:spPr>
          <a:xfrm>
            <a:off x="5541392" y="4478546"/>
            <a:ext cx="1858507" cy="536531"/>
          </a:xfrm>
          <a:prstGeom prst="rect">
            <a:avLst/>
          </a:prstGeom>
        </p:spPr>
      </p:pic>
    </p:spTree>
    <p:extLst>
      <p:ext uri="{BB962C8B-B14F-4D97-AF65-F5344CB8AC3E}">
        <p14:creationId xmlns:p14="http://schemas.microsoft.com/office/powerpoint/2010/main" val="49774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Summary</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13</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800" dirty="0"/>
              <a:t>Data quality: accuracy, completeness, consistency, timeliness, believability, interpretability</a:t>
            </a:r>
          </a:p>
          <a:p>
            <a:pPr>
              <a:lnSpc>
                <a:spcPct val="100000"/>
              </a:lnSpc>
            </a:pPr>
            <a:r>
              <a:rPr lang="en-US" sz="1800" dirty="0"/>
              <a:t>Data cleaning: e.g. missing/noisy values, outliers</a:t>
            </a:r>
          </a:p>
          <a:p>
            <a:pPr>
              <a:lnSpc>
                <a:spcPct val="100000"/>
              </a:lnSpc>
            </a:pPr>
            <a:r>
              <a:rPr lang="en-US" sz="1800" dirty="0"/>
              <a:t>Data integration from multiple sources: </a:t>
            </a:r>
          </a:p>
          <a:p>
            <a:pPr lvl="1">
              <a:lnSpc>
                <a:spcPct val="100000"/>
              </a:lnSpc>
            </a:pPr>
            <a:r>
              <a:rPr lang="en-US" sz="1800" dirty="0"/>
              <a:t>Entity identification problem</a:t>
            </a:r>
          </a:p>
          <a:p>
            <a:pPr lvl="1">
              <a:lnSpc>
                <a:spcPct val="100000"/>
              </a:lnSpc>
            </a:pPr>
            <a:r>
              <a:rPr lang="en-US" sz="1800" dirty="0"/>
              <a:t>Remove redundancies</a:t>
            </a:r>
          </a:p>
          <a:p>
            <a:pPr lvl="1">
              <a:lnSpc>
                <a:spcPct val="100000"/>
              </a:lnSpc>
            </a:pPr>
            <a:r>
              <a:rPr lang="en-US" sz="1800" dirty="0"/>
              <a:t>Detect inconsistencies</a:t>
            </a:r>
          </a:p>
          <a:p>
            <a:pPr>
              <a:lnSpc>
                <a:spcPct val="100000"/>
              </a:lnSpc>
            </a:pPr>
            <a:r>
              <a:rPr lang="en-US" sz="1800" dirty="0"/>
              <a:t>Data reduction</a:t>
            </a:r>
          </a:p>
          <a:p>
            <a:pPr lvl="1">
              <a:lnSpc>
                <a:spcPct val="100000"/>
              </a:lnSpc>
            </a:pPr>
            <a:r>
              <a:rPr lang="en-US" sz="1800" dirty="0"/>
              <a:t>Dimensionality reduction</a:t>
            </a:r>
          </a:p>
          <a:p>
            <a:pPr lvl="1">
              <a:lnSpc>
                <a:spcPct val="100000"/>
              </a:lnSpc>
            </a:pPr>
            <a:r>
              <a:rPr lang="en-US" sz="1800" dirty="0" err="1"/>
              <a:t>Numerosity</a:t>
            </a:r>
            <a:r>
              <a:rPr lang="en-US" sz="1800" dirty="0"/>
              <a:t> reduction</a:t>
            </a:r>
          </a:p>
          <a:p>
            <a:pPr lvl="1">
              <a:lnSpc>
                <a:spcPct val="100000"/>
              </a:lnSpc>
            </a:pPr>
            <a:r>
              <a:rPr lang="en-US" sz="1800" dirty="0"/>
              <a:t>Data compression</a:t>
            </a:r>
          </a:p>
          <a:p>
            <a:pPr>
              <a:lnSpc>
                <a:spcPct val="100000"/>
              </a:lnSpc>
            </a:pPr>
            <a:r>
              <a:rPr lang="en-US" sz="1800" dirty="0"/>
              <a:t>Data transformation and data discretization</a:t>
            </a:r>
          </a:p>
          <a:p>
            <a:pPr lvl="1">
              <a:lnSpc>
                <a:spcPct val="100000"/>
              </a:lnSpc>
            </a:pPr>
            <a:r>
              <a:rPr lang="en-US" sz="1800" dirty="0"/>
              <a:t>Normalization</a:t>
            </a:r>
          </a:p>
          <a:p>
            <a:pPr lvl="1">
              <a:lnSpc>
                <a:spcPct val="100000"/>
              </a:lnSpc>
            </a:pPr>
            <a:r>
              <a:rPr lang="en-US" sz="1800" dirty="0"/>
              <a:t>Concept hierarchy generation</a:t>
            </a:r>
          </a:p>
        </p:txBody>
      </p:sp>
    </p:spTree>
    <p:extLst>
      <p:ext uri="{BB962C8B-B14F-4D97-AF65-F5344CB8AC3E}">
        <p14:creationId xmlns:p14="http://schemas.microsoft.com/office/powerpoint/2010/main" val="431779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30617"/>
            <a:ext cx="11059886" cy="9701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30617"/>
            <a:ext cx="10515600" cy="970189"/>
          </a:xfrm>
        </p:spPr>
        <p:txBody>
          <a:bodyPr/>
          <a:lstStyle/>
          <a:p>
            <a:r>
              <a:rPr lang="en-US" b="1" dirty="0">
                <a:solidFill>
                  <a:schemeClr val="bg1"/>
                </a:solidFill>
              </a:rPr>
              <a:t>References</a:t>
            </a:r>
          </a:p>
        </p:txBody>
      </p:sp>
      <p:sp>
        <p:nvSpPr>
          <p:cNvPr id="42" name="Rectangle 41"/>
          <p:cNvSpPr/>
          <p:nvPr/>
        </p:nvSpPr>
        <p:spPr>
          <a:xfrm>
            <a:off x="11814968" y="5270275"/>
            <a:ext cx="377031" cy="1307066"/>
          </a:xfrm>
          <a:prstGeom prst="rect">
            <a:avLst/>
          </a:prstGeom>
          <a:solidFill>
            <a:srgbClr val="656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rot="16200000">
            <a:off x="11594556" y="5769920"/>
            <a:ext cx="817853" cy="307777"/>
          </a:xfrm>
          <a:prstGeom prst="rect">
            <a:avLst/>
          </a:prstGeom>
          <a:noFill/>
        </p:spPr>
        <p:txBody>
          <a:bodyPr wrap="none" rtlCol="0">
            <a:spAutoFit/>
          </a:bodyPr>
          <a:lstStyle/>
          <a:p>
            <a:pPr algn="ctr"/>
            <a:r>
              <a:rPr lang="en-US" sz="1400" b="1" dirty="0">
                <a:solidFill>
                  <a:schemeClr val="bg1"/>
                </a:solidFill>
              </a:rPr>
              <a:t>SLIDE 14</a:t>
            </a:r>
          </a:p>
        </p:txBody>
      </p:sp>
      <p:sp>
        <p:nvSpPr>
          <p:cNvPr id="44" name="Content Placeholder 2"/>
          <p:cNvSpPr txBox="1">
            <a:spLocks/>
          </p:cNvSpPr>
          <p:nvPr/>
        </p:nvSpPr>
        <p:spPr>
          <a:xfrm>
            <a:off x="838200" y="1425388"/>
            <a:ext cx="10221686" cy="4558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200" dirty="0"/>
              <a:t>D. P. Ballou and G. K. </a:t>
            </a:r>
            <a:r>
              <a:rPr lang="en-US" sz="1200" dirty="0" err="1"/>
              <a:t>Tayi</a:t>
            </a:r>
            <a:r>
              <a:rPr lang="en-US" sz="1200" dirty="0"/>
              <a:t>. Enhancing data quality in data warehouse environments. Comm. of ACM, 42:73-78, 1999</a:t>
            </a:r>
          </a:p>
          <a:p>
            <a:pPr>
              <a:lnSpc>
                <a:spcPct val="100000"/>
              </a:lnSpc>
            </a:pPr>
            <a:r>
              <a:rPr lang="en-US" sz="1200" dirty="0"/>
              <a:t>A. Bruce, D. </a:t>
            </a:r>
            <a:r>
              <a:rPr lang="en-US" sz="1200" dirty="0" err="1"/>
              <a:t>Donoho</a:t>
            </a:r>
            <a:r>
              <a:rPr lang="en-US" sz="1200" dirty="0"/>
              <a:t>, and H.-Y. Gao. Wavelet analysis. IEEE Spectrum, Oct 1996</a:t>
            </a:r>
          </a:p>
          <a:p>
            <a:pPr>
              <a:lnSpc>
                <a:spcPct val="100000"/>
              </a:lnSpc>
            </a:pPr>
            <a:r>
              <a:rPr lang="en-US" sz="1200" dirty="0"/>
              <a:t>T. </a:t>
            </a:r>
            <a:r>
              <a:rPr lang="en-US" sz="1200" dirty="0" err="1"/>
              <a:t>Dasu</a:t>
            </a:r>
            <a:r>
              <a:rPr lang="en-US" sz="1200" dirty="0"/>
              <a:t> and T. Johnson.  Exploratory Data Mining and Data Cleaning. John Wiley, 2003</a:t>
            </a:r>
          </a:p>
          <a:p>
            <a:pPr>
              <a:lnSpc>
                <a:spcPct val="100000"/>
              </a:lnSpc>
            </a:pPr>
            <a:r>
              <a:rPr lang="en-US" sz="1200" dirty="0"/>
              <a:t>J. Devore and R. Peck. Statistics: The Exploration and Analysis of Data. Duxbury Press, 1997.</a:t>
            </a:r>
          </a:p>
          <a:p>
            <a:pPr>
              <a:lnSpc>
                <a:spcPct val="100000"/>
              </a:lnSpc>
            </a:pPr>
            <a:r>
              <a:rPr lang="en-US" sz="1200" dirty="0"/>
              <a:t>H. </a:t>
            </a:r>
            <a:r>
              <a:rPr lang="en-US" sz="1200" dirty="0" err="1"/>
              <a:t>Galhardas</a:t>
            </a:r>
            <a:r>
              <a:rPr lang="en-US" sz="1200" dirty="0"/>
              <a:t>, D. </a:t>
            </a:r>
            <a:r>
              <a:rPr lang="en-US" sz="1200" dirty="0" err="1"/>
              <a:t>Florescu</a:t>
            </a:r>
            <a:r>
              <a:rPr lang="en-US" sz="1200" dirty="0"/>
              <a:t>, D. </a:t>
            </a:r>
            <a:r>
              <a:rPr lang="en-US" sz="1200" dirty="0" err="1"/>
              <a:t>Shasha</a:t>
            </a:r>
            <a:r>
              <a:rPr lang="en-US" sz="1200" dirty="0"/>
              <a:t>, E. Simon, and C.-A. </a:t>
            </a:r>
            <a:r>
              <a:rPr lang="en-US" sz="1200" dirty="0" err="1"/>
              <a:t>Saita</a:t>
            </a:r>
            <a:r>
              <a:rPr lang="en-US" sz="1200" dirty="0"/>
              <a:t>. Declarative data cleaning: Language, model, and algorithms. VLDB'01</a:t>
            </a:r>
          </a:p>
          <a:p>
            <a:pPr>
              <a:lnSpc>
                <a:spcPct val="100000"/>
              </a:lnSpc>
            </a:pPr>
            <a:r>
              <a:rPr lang="en-US" sz="1200" dirty="0"/>
              <a:t>M. Hua and J. Pei. Cleaning disguised missing data: A heuristic approach. KDD'07</a:t>
            </a:r>
          </a:p>
          <a:p>
            <a:pPr>
              <a:lnSpc>
                <a:spcPct val="100000"/>
              </a:lnSpc>
            </a:pPr>
            <a:r>
              <a:rPr lang="en-US" sz="1200" dirty="0"/>
              <a:t>H. V. </a:t>
            </a:r>
            <a:r>
              <a:rPr lang="en-US" sz="1200" dirty="0" err="1"/>
              <a:t>Jagadish</a:t>
            </a:r>
            <a:r>
              <a:rPr lang="en-US" sz="1200" dirty="0"/>
              <a:t>, et al., Special Issue on Data Reduction Techniques.  Bulletin of the Technical Committee on Data Engineering, 20(4), Dec. 1997</a:t>
            </a:r>
          </a:p>
          <a:p>
            <a:pPr>
              <a:lnSpc>
                <a:spcPct val="100000"/>
              </a:lnSpc>
            </a:pPr>
            <a:r>
              <a:rPr lang="en-US" sz="1200" dirty="0"/>
              <a:t>H. Liu and H. </a:t>
            </a:r>
            <a:r>
              <a:rPr lang="en-US" sz="1200" dirty="0" err="1"/>
              <a:t>Motoda</a:t>
            </a:r>
            <a:r>
              <a:rPr lang="en-US" sz="1200" dirty="0"/>
              <a:t> (eds.). Feature Extraction, Construction, and Selection: A Data Mining Perspective. Kluwer Academic, 1998</a:t>
            </a:r>
          </a:p>
          <a:p>
            <a:pPr>
              <a:lnSpc>
                <a:spcPct val="100000"/>
              </a:lnSpc>
            </a:pPr>
            <a:r>
              <a:rPr lang="en-US" sz="1200" dirty="0"/>
              <a:t>J. E. Olson. Data Quality: The Accuracy Dimension.  Morgan Kaufmann, 2003</a:t>
            </a:r>
          </a:p>
          <a:p>
            <a:pPr>
              <a:lnSpc>
                <a:spcPct val="100000"/>
              </a:lnSpc>
            </a:pPr>
            <a:r>
              <a:rPr lang="en-US" sz="1200" dirty="0"/>
              <a:t>D. Pyle. Data Preparation for Data Mining.  Morgan Kaufmann, 1999</a:t>
            </a:r>
          </a:p>
          <a:p>
            <a:pPr>
              <a:lnSpc>
                <a:spcPct val="100000"/>
              </a:lnSpc>
            </a:pPr>
            <a:r>
              <a:rPr lang="en-US" sz="1200" dirty="0"/>
              <a:t>V. Raman and J. </a:t>
            </a:r>
            <a:r>
              <a:rPr lang="en-US" sz="1200" dirty="0" err="1"/>
              <a:t>Hellerstein</a:t>
            </a:r>
            <a:r>
              <a:rPr lang="en-US" sz="1200" dirty="0"/>
              <a:t>. Potters Wheel: An Interactive Framework for Data Cleaning and Transformation, VLDB’2001</a:t>
            </a:r>
          </a:p>
          <a:p>
            <a:pPr>
              <a:lnSpc>
                <a:spcPct val="100000"/>
              </a:lnSpc>
            </a:pPr>
            <a:r>
              <a:rPr lang="en-US" sz="1200" dirty="0"/>
              <a:t>T. Redman. Data Quality: The Field Guide. Digital Press (Elsevier), 2001</a:t>
            </a:r>
          </a:p>
          <a:p>
            <a:pPr>
              <a:lnSpc>
                <a:spcPct val="100000"/>
              </a:lnSpc>
            </a:pPr>
            <a:r>
              <a:rPr lang="en-US" sz="1200" dirty="0"/>
              <a:t>R. Wang, V. </a:t>
            </a:r>
            <a:r>
              <a:rPr lang="en-US" sz="1200" dirty="0" err="1"/>
              <a:t>Storey</a:t>
            </a:r>
            <a:r>
              <a:rPr lang="en-US" sz="1200" dirty="0"/>
              <a:t>, and C. Firth. A framework for analysis of data quality research. IEEE Trans. Knowledge and Data Engineering, 7:623-640, 1995</a:t>
            </a:r>
          </a:p>
        </p:txBody>
      </p:sp>
    </p:spTree>
    <p:extLst>
      <p:ext uri="{BB962C8B-B14F-4D97-AF65-F5344CB8AC3E}">
        <p14:creationId xmlns:p14="http://schemas.microsoft.com/office/powerpoint/2010/main" val="3431360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1284</Words>
  <Application>Microsoft Macintosh PowerPoint</Application>
  <PresentationFormat>Widescreen</PresentationFormat>
  <Paragraphs>162</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Table of Content</vt:lpstr>
      <vt:lpstr>Data Preprocessing: An Overview</vt:lpstr>
      <vt:lpstr>Data Quality: Why Preprocess the Data?</vt:lpstr>
      <vt:lpstr>Major Tasks in Data Preprocessing</vt:lpstr>
      <vt:lpstr>Data Cleaning</vt:lpstr>
      <vt:lpstr>Incomplete (Missing) Data</vt:lpstr>
      <vt:lpstr>How to Handle Missing Data?</vt:lpstr>
      <vt:lpstr>Noisy Data</vt:lpstr>
      <vt:lpstr>How to Handle Noisy Data?</vt:lpstr>
      <vt:lpstr>Data Reduction Strategies</vt:lpstr>
      <vt:lpstr>Data Normalization</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Muhammad Atif Saeed</cp:lastModifiedBy>
  <cp:revision>8</cp:revision>
  <dcterms:created xsi:type="dcterms:W3CDTF">2023-08-22T19:19:23Z</dcterms:created>
  <dcterms:modified xsi:type="dcterms:W3CDTF">2026-01-28T11:43:42Z</dcterms:modified>
</cp:coreProperties>
</file>